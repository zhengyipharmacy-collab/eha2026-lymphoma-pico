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216.xml"/><Relationship Id="rId4" Type="http://schemas.openxmlformats.org/officeDocument/2006/relationships/slide" Target="slide37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6.xml"/><Relationship Id="rId4" Type="http://schemas.openxmlformats.org/officeDocument/2006/relationships/slide" Target="slide184.xml"/><Relationship Id="rId5" Type="http://schemas.openxmlformats.org/officeDocument/2006/relationships/slide" Target="slide152.xml"/><Relationship Id="rId6" Type="http://schemas.openxmlformats.org/officeDocument/2006/relationships/slide" Target="slide188.xml"/><Relationship Id="rId7" Type="http://schemas.openxmlformats.org/officeDocument/2006/relationships/slide" Target="slide214.xml"/><Relationship Id="rId8" Type="http://schemas.openxmlformats.org/officeDocument/2006/relationships/slide" Target="slide17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6.xml"/><Relationship Id="rId4" Type="http://schemas.openxmlformats.org/officeDocument/2006/relationships/slide" Target="slide58.xml"/><Relationship Id="rId5" Type="http://schemas.openxmlformats.org/officeDocument/2006/relationships/slide" Target="slide80.xml"/><Relationship Id="rId6" Type="http://schemas.openxmlformats.org/officeDocument/2006/relationships/slide" Target="slide92.xml"/><Relationship Id="rId7" Type="http://schemas.openxmlformats.org/officeDocument/2006/relationships/slide" Target="slide108.xml"/><Relationship Id="rId8" Type="http://schemas.openxmlformats.org/officeDocument/2006/relationships/slide" Target="slide128.xml"/><Relationship Id="rId9" Type="http://schemas.openxmlformats.org/officeDocument/2006/relationships/slide" Target="slide1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40/liang.wang.cd19.cd22.bispecific.car-t.cell.therapy.for.relapsed.refractory.html?f=menu%3D6%2Abrowseby%3D8%2Asortby%3D6%2Amedia%3D3%2Ace_id%3D2934%2Aot_id%3D115601%2Amarker%3D6765%2Afeatured%3D20138" TargetMode="External"/><Relationship Id="rId3"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40/liang.wang.cd19.cd22.bispecific.car-t.cell.therapy.for.relapsed.refractory.html?f=menu%3D6%2Abrowseby%3D8%2Asortby%3D6%2Amedia%3D3%2Ace_id%3D2934%2Aot_id%3D115601%2Amarker%3D6765%2Afeatured%3D20138" TargetMode="Externa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8/sylvain.lamure.branched-chain.amino.acid.bioavailability.during.cd19.car.html?f=menu%3D6%2Abrowseby%3D8%2Asortby%3D6%2Amedia%3D3%2Ace_id%3D2934%2Aot_id%3D115600%2Amarker%3D6765%2Afeatured%3D20138" TargetMode="Externa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8/sylvain.lamure.branched-chain.amino.acid.bioavailability.during.cd19.car.html?f=menu%3D6%2Abrowseby%3D8%2Asortby%3D6%2Amedia%3D3%2Ace_id%3D2934%2Aot_id%3D115600%2Amarker%3D6765%2Afeatured%3D20138" TargetMode="Externa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0/stephen.schuster.vispa-cel.an.allogeneic.anti-cd19.car-t.cell.therapy.with.a.html?f=menu%3D6%2Abrowseby%3D8%2Asortby%3D6%2Amedia%3D3%2Ace_id%3D2934%2Aot_id%3D115576%2Amarker%3D6765%2Afeatured%3D20138" TargetMode="Externa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0/stephen.schuster.vispa-cel.an.allogeneic.anti-cd19.car-t.cell.therapy.with.a.html?f=menu%3D6%2Abrowseby%3D8%2Asortby%3D6%2Amedia%3D3%2Ace_id%3D2934%2Aot_id%3D115576%2Amarker%3D6765%2Afeatured%3D20138" TargetMode="Externa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89/christopher.p.fox.results.from.epcore.dlbcl-1.randomized.phase.3.study.of.html?f=menu%3D6%2Abrowseby%3D8%2Asortby%3D6%2Amedia%3D3%2Ace_id%3D2934%2Aot_id%3D115576%2Amarker%3D6765%2Afeatured%3D20138" TargetMode="Externa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89/christopher.p.fox.results.from.epcore.dlbcl-1.randomized.phase.3.study.of.html?f=menu%3D6%2Abrowseby%3D8%2Asortby%3D6%2Amedia%3D3%2Ace_id%3D2934%2Aot_id%3D115576%2Amarker%3D6765%2Afeatured%3D20138" TargetMode="Externa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93/liang.wang.maintenance.therapy.with.pd-1.inhibitor.and.selinexor.following.html?f=menu%3D6%2Abrowseby%3D8%2Asortby%3D6%2Amedia%3D3%2Ace_id%3D2934%2Aot_id%3D115601%2Amarker%3D6766%2Afeatured%3D20138" TargetMode="Externa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93/liang.wang.maintenance.therapy.with.pd-1.inhibitor.and.selinexor.following.html?f=menu%3D6%2Abrowseby%3D8%2Asortby%3D6%2Amedia%3D3%2Ace_id%3D2934%2Aot_id%3D115601%2Amarker%3D6766%2Afeatured%3D20138" TargetMode="Externa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6/bo.peng.pd-1ab21-expressing.anti-cd19.car.t.cells.for.patients.with.relapsed.html?f=menu%3D6%2Abrowseby%3D8%2Asortby%3D6%2Amedia%3D3%2Ace_id%3D2934%2Aot_id%3D115601%2Amarker%3D6766%2Afeatured%3D20138" TargetMode="External"/><Relationship Id="rId3"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6/bo.peng.pd-1ab21-expressing.anti-cd19.car.t.cells.for.patients.with.relapsed.html?f=menu%3D6%2Abrowseby%3D8%2Asortby%3D6%2Amedia%3D3%2Ace_id%3D2934%2Aot_id%3D115601%2Amarker%3D6766%2Afeatured%3D20138" TargetMode="External"/><Relationship Id="rId3"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74/ludovic.gabellier.cd4.cd8.balance.in.circulating.car.t-cells.shows.biphasic.html?f=menu%3D6%2Abrowseby%3D8%2Asortby%3D6%2Amedia%3D3%2Ace_id%3D2934%2Aot_id%3D115600%2Amarker%3D6766%2Afeatured%3D20138" TargetMode="External"/><Relationship Id="rId3"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74/ludovic.gabellier.cd4.cd8.balance.in.circulating.car.t-cells.shows.biphasic.html?f=menu%3D6%2Abrowseby%3D8%2Asortby%3D6%2Amedia%3D3%2Ace_id%3D2934%2Aot_id%3D115600%2Amarker%3D6766%2Afeatured%3D20138" TargetMode="External"/><Relationship Id="rId3" Type="http://schemas.openxmlformats.org/officeDocument/2006/relationships/slide" Target="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8/mariana.bastos-oreiro.early.tumor-informed.ctdna.monitoring.improves.risk.html?f=menu%3D6%2Abrowseby%3D8%2Asortby%3D6%2Amedia%3D3%2Ace_id%3D2934%2Aot_id%3D115595%2Amarker%3D6766%2Afeatured%3D20138" TargetMode="External"/><Relationship Id="rId3"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8/mariana.bastos-oreiro.early.tumor-informed.ctdna.monitoring.improves.risk.html?f=menu%3D6%2Abrowseby%3D8%2Asortby%3D6%2Amedia%3D3%2Ace_id%3D2934%2Aot_id%3D115595%2Amarker%3D6766%2Afeatured%3D20138" TargetMode="External"/><Relationship Id="rId3"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3/danielle.decicco.later.cart.infusions.increase.cytokine.release.syndrome.28crs29.html?f=menu%3D6%2Abrowseby%3D8%2Asortby%3D6%2Amedia%3D3%2Ace_id%3D2934%2Aot_id%3D115601%2Amarker%3D6766%2Afeatured%3D20138" TargetMode="External"/><Relationship Id="rId3" Type="http://schemas.openxmlformats.org/officeDocument/2006/relationships/slide" Target="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3/danielle.decicco.later.cart.infusions.increase.cytokine.release.syndrome.28crs29.html?f=menu%3D6%2Abrowseby%3D8%2Asortby%3D6%2Amedia%3D3%2Ace_id%3D2934%2Aot_id%3D115601%2Amarker%3D6766%2Afeatured%3D20138" TargetMode="External"/><Relationship Id="rId3" Type="http://schemas.openxmlformats.org/officeDocument/2006/relationships/slide" Target="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8/gil.fridberg.outcomes.of.second-line.car-t.therapy.in.starglo-eligible.html?f=menu%3D6%2Abrowseby%3D8%2Asortby%3D6%2Amedia%3D3%2Ace_id%3D2934%2Aot_id%3D115576%2Amarker%3D6766%2Afeatured%3D20138" TargetMode="External"/><Relationship Id="rId3" Type="http://schemas.openxmlformats.org/officeDocument/2006/relationships/slide" Target="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8/gil.fridberg.outcomes.of.second-line.car-t.therapy.in.starglo-eligible.html?f=menu%3D6%2Abrowseby%3D8%2Asortby%3D6%2Amedia%3D3%2Ace_id%3D2934%2Aot_id%3D115576%2Amarker%3D6766%2Afeatured%3D20138" TargetMode="External"/><Relationship Id="rId3" Type="http://schemas.openxmlformats.org/officeDocument/2006/relationships/slide" Target="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2/ying.he.single-target.28cd1929.versus.dual-target.28cd19.cd22.or.cd19.cd2029.car.html?f=menu%3D6%2Abrowseby%3D8%2Asortby%3D6%2Amedia%3D3%2Ace_id%3D2934%2Aot_id%3D115576%2Amarker%3D6766%2Afeatured%3D20138" TargetMode="External"/><Relationship Id="rId3" Type="http://schemas.openxmlformats.org/officeDocument/2006/relationships/slide" Target="slide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2/ying.he.single-target.28cd1929.versus.dual-target.28cd19.cd22.or.cd19.cd2029.car.html?f=menu%3D6%2Abrowseby%3D8%2Asortby%3D6%2Amedia%3D3%2Ace_id%3D2934%2Aot_id%3D115576%2Amarker%3D6766%2Afeatured%3D20138" TargetMode="External"/><Relationship Id="rId3" Type="http://schemas.openxmlformats.org/officeDocument/2006/relationships/slide" Target="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3/karan.chohan.a.real-world.comparison.of.cd3xcd20.bispecific.antibody.28bsab29.html?f=menu%3D6%2Abrowseby%3D8%2Asortby%3D6%2Amedia%3D3%2Ace_id%3D2934%2Aot_id%3D115576%2Amarker%3D6766%2Afeatured%3D20138" TargetMode="External"/><Relationship Id="rId3" Type="http://schemas.openxmlformats.org/officeDocument/2006/relationships/slide" Target="slide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3/karan.chohan.a.real-world.comparison.of.cd3xcd20.bispecific.antibody.28bsab29.html?f=menu%3D6%2Abrowseby%3D8%2Asortby%3D6%2Amedia%3D3%2Ace_id%3D2934%2Aot_id%3D115576%2Amarker%3D6766%2Afeatured%3D20138" TargetMode="External"/><Relationship Id="rId3"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9/sairah.ahmed.a.phase.1.study.of.kite-753.in.patients.28pts29.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9/sairah.ahmed.a.phase.1.study.of.kite-753.in.patients.28pts29.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4/celine.liem.feasibility.and.safety.of.rapid.glofitamab.ramp-up.for.the.html?f=menu%3D6%2Abrowseby%3D8%2Asortby%3D6%2Amedia%3D3%2Ace_id%3D2934%2Aot_id%3D115576%2Amarker%3D6766%2Afeatured%3D20138" TargetMode="External"/><Relationship Id="rId3"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4/celine.liem.feasibility.and.safety.of.rapid.glofitamab.ramp-up.for.the.html?f=menu%3D6%2Abrowseby%3D8%2Asortby%3D6%2Amedia%3D3%2Ace_id%3D2934%2Aot_id%3D115576%2Amarker%3D6766%2Afeatured%3D20138" TargetMode="External"/><Relationship Id="rId3" Type="http://schemas.openxmlformats.org/officeDocument/2006/relationships/slide" Target="slide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8/prokop.vodicka.introduction.of.car-t.cell.therapy.dramatically.improved.html?f=menu%3D6%2Abrowseby%3D8%2Asortby%3D6%2Amedia%3D3%2Ace_id%3D2934%2Aot_id%3D115576%2Amarker%3D6766%2Afeatured%3D20138" TargetMode="External"/><Relationship Id="rId3" Type="http://schemas.openxmlformats.org/officeDocument/2006/relationships/slide" Target="slide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8/prokop.vodicka.introduction.of.car-t.cell.therapy.dramatically.improved.html?f=menu%3D6%2Abrowseby%3D8%2Asortby%3D6%2Amedia%3D3%2Ace_id%3D2934%2Aot_id%3D115576%2Amarker%3D6766%2Afeatured%3D20138" TargetMode="External"/><Relationship Id="rId3" Type="http://schemas.openxmlformats.org/officeDocument/2006/relationships/slide" Target="slide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3/peter.vandenberghe.zamtocabtagene.autoleucel.a.tandem.cd20-cd19.directed.car-t.html?f=menu%3D6%2Abrowseby%3D8%2Asortby%3D6%2Amedia%3D3%2Ace_id%3D2934%2Aot_id%3D115576%2Amarker%3D6766%2Afeatured%3D20138" TargetMode="External"/><Relationship Id="rId3" Type="http://schemas.openxmlformats.org/officeDocument/2006/relationships/slide" Target="slide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3/peter.vandenberghe.zamtocabtagene.autoleucel.a.tandem.cd20-cd19.directed.car-t.html?f=menu%3D6%2Abrowseby%3D8%2Asortby%3D6%2Amedia%3D3%2Ace_id%3D2934%2Aot_id%3D115576%2Amarker%3D6766%2Afeatured%3D20138" TargetMode="External"/><Relationship Id="rId3" Type="http://schemas.openxmlformats.org/officeDocument/2006/relationships/slide" Target="slide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7/lixia.sheng.time-defined.pd-1.blockade.during.early.car-t.contraction.of.il-7.html?f=menu%3D6%2Abrowseby%3D8%2Asortby%3D6%2Amedia%3D3%2Ace_id%3D2934%2Aot_id%3D115576%2Amarker%3D6766%2Afeatured%3D20138" TargetMode="External"/><Relationship Id="rId3" Type="http://schemas.openxmlformats.org/officeDocument/2006/relationships/slide" Target="slide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7/lixia.sheng.time-defined.pd-1.blockade.during.early.car-t.contraction.of.il-7.html?f=menu%3D6%2Abrowseby%3D8%2Asortby%3D6%2Amedia%3D3%2Ace_id%3D2934%2Aot_id%3D115576%2Amarker%3D6766%2Afeatured%3D20138" TargetMode="External"/><Relationship Id="rId3" Type="http://schemas.openxmlformats.org/officeDocument/2006/relationships/slide" Target="slid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4/anna.dodero.impact.of.prior.lines.of.therapy.on.progression.risk.and.html?f=menu%3D6%2Abrowseby%3D8%2Asortby%3D6%2Amedia%3D3%2Ace_id%3D2934%2Aot_id%3D115576%2Amarker%3D6766%2Afeatured%3D20138" TargetMode="External"/><Relationship Id="rId3" Type="http://schemas.openxmlformats.org/officeDocument/2006/relationships/slide" Target="slide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4/anna.dodero.impact.of.prior.lines.of.therapy.on.progression.risk.and.html?f=menu%3D6%2Abrowseby%3D8%2Asortby%3D6%2Amedia%3D3%2Ace_id%3D2934%2Aot_id%3D115576%2Amarker%3D6766%2Afeatured%3D20138" TargetMode="External"/><Relationship Id="rId3" Type="http://schemas.openxmlformats.org/officeDocument/2006/relationships/slide" Target="slide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1/krish.patel.five-year.follow-up.of.patients.with.relapsed.refractory.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1/krish.patel.five-year.follow-up.of.patients.with.relapsed.refractory.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8/cme.bommier.epcoritamab.home-based.care.pathways.in.relapsed.refractory.dlbcl.html?f=menu%3D6%2Abrowseby%3D8%2Asortby%3D6%2Amedia%3D3%2Ace_id%3D2934%2Aot_id%3D115611%2Amarker%3D6766%2Afeatured%3D20138" TargetMode="External"/><Relationship Id="rId3" Type="http://schemas.openxmlformats.org/officeDocument/2006/relationships/slide" Target="slide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8/cme.bommier.epcoritamab.home-based.care.pathways.in.relapsed.refractory.dlbcl.html?f=menu%3D6%2Abrowseby%3D8%2Asortby%3D6%2Amedia%3D3%2Ace_id%3D2934%2Aot_id%3D115611%2Amarker%3D6766%2Afeatured%3D20138" TargetMode="External"/><Relationship Id="rId3" Type="http://schemas.openxmlformats.org/officeDocument/2006/relationships/slide" Target="slide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28/jing.ruan.hyper-fractionated.radiotherapy.as.a.bridging.strategy.attenuates.html?f=menu%3D6%2Abrowseby%3D8%2Asortby%3D6%2Amedia%3D3%2Ace_id%3D2934%2Aot_id%3D115601%2Amarker%3D6766%2Afeatured%3D20138" TargetMode="External"/><Relationship Id="rId3" Type="http://schemas.openxmlformats.org/officeDocument/2006/relationships/slide" Target="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28/jing.ruan.hyper-fractionated.radiotherapy.as.a.bridging.strategy.attenuates.html?f=menu%3D6%2Abrowseby%3D8%2Asortby%3D6%2Amedia%3D3%2Ace_id%3D2934%2Aot_id%3D115601%2Amarker%3D6766%2Afeatured%3D20138" TargetMode="External"/><Relationship Id="rId3" Type="http://schemas.openxmlformats.org/officeDocument/2006/relationships/slide" Target="slide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3/alessandro.broccoli.large.b-cell.lymphoma.treatment.with.loncas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3/alessandro.broccoli.large.b-cell.lymphoma.treatment.with.loncas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768/yanli.feng.a.preliminary.study.on.the.safety.and.efficacy.of.intrathecal.html?f=menu%3D6%2Abrowseby%3D8%2Asortby%3D6%2Amedia%3D3%2Ace_id%3D2934%2Aot_id%3D115575%2Amarker%3D6766%2Afeatured%3D20138" TargetMode="External"/><Relationship Id="rId3" Type="http://schemas.openxmlformats.org/officeDocument/2006/relationships/slide" Target="slide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768/yanli.feng.a.preliminary.study.on.the.safety.and.efficacy.of.intrathecal.html?f=menu%3D6%2Abrowseby%3D8%2Asortby%3D6%2Amedia%3D3%2Ace_id%3D2934%2Aot_id%3D115575%2Amarker%3D6766%2Afeatured%3D20138" TargetMode="External"/><Relationship Id="rId3" Type="http://schemas.openxmlformats.org/officeDocument/2006/relationships/slide" Target="slide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89/dok.hyun.yoon.outpatient.treatment.with.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89/dok.hyun.yoon.outpatient.treatment.with.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8/thiago.m.steiner.tumour.microenvironment.archetypes.that.support.anti-tumour.html?f=menu%3D6%2Abrowseby%3D8%2Asortby%3D6%2Amedia%3D3%2Ace_id%3D2934%2Aot_id%3D115595%2Amarker%3D6765%2Afeatured%3D20138" TargetMode="External"/><Relationship Id="rId3" Type="http://schemas.openxmlformats.org/officeDocument/2006/relationships/slide" Target="slide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8/thiago.m.steiner.tumour.microenvironment.archetypes.that.support.anti-tumour.html?f=menu%3D6%2Abrowseby%3D8%2Asortby%3D6%2Amedia%3D3%2Ace_id%3D2934%2Aot_id%3D115595%2Amarker%3D6765%2Afeatured%3D20138" TargetMode="External"/><Relationship Id="rId3" Type="http://schemas.openxmlformats.org/officeDocument/2006/relationships/slide" Target="slide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55/rebecca.wurm-kuczera.longitudinal.patient-reported.outcomes.highlight.improved.html?f=menu%3D6%2Abrowseby%3D8%2Asortby%3D6%2Amedia%3D3%2Ace_id%3D2934%2Aot_id%3D115610%2Amarker%3D6766%2Afeatured%3D20138" TargetMode="External"/><Relationship Id="rId3" Type="http://schemas.openxmlformats.org/officeDocument/2006/relationships/slide" Target="slide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55/rebecca.wurm-kuczera.longitudinal.patient-reported.outcomes.highlight.improved.html?f=menu%3D6%2Abrowseby%3D8%2Asortby%3D6%2Amedia%3D3%2Ace_id%3D2934%2Aot_id%3D115610%2Amarker%3D6766%2Afeatured%3D20138" TargetMode="External"/><Relationship Id="rId3" Type="http://schemas.openxmlformats.org/officeDocument/2006/relationships/slide" Target="slide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1/jiayin.he.glofitamab.in.relapsed.refractory.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1/jiayin.he.glofitamab.in.relapsed.refractory.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8/yuhong.ren.phase.2.trial.of.glofitamab.polatuzumab.vedotin.and.zanubrutinib.in.html?f=menu%3D6%2Abrowseby%3D8%2Asortby%3D6%2Amedia%3D3%2Ace_id%3D2934%2Aot_id%3D115576%2Amarker%3D6766%2Afeatured%3D20138" TargetMode="External"/><Relationship Id="rId3" Type="http://schemas.openxmlformats.org/officeDocument/2006/relationships/slide" Target="slide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8/yuhong.ren.phase.2.trial.of.glofitamab.polatuzumab.vedotin.and.zanubrutinib.in.html?f=menu%3D6%2Abrowseby%3D8%2Asortby%3D6%2Amedia%3D3%2Ace_id%3D2934%2Aot_id%3D115576%2Amarker%3D6766%2Afeatured%3D20138" TargetMode="External"/><Relationship Id="rId3" Type="http://schemas.openxmlformats.org/officeDocument/2006/relationships/slide" Target="slide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8/zachary.hunzeker.identification.of.an.optimal.absolute.lymphocyte.count.before.html?f=menu%3D6%2Abrowseby%3D8%2Asortby%3D6%2Amedia%3D3%2Ace_id%3D2934%2Aot_id%3D115576%2Amarker%3D6766%2Afeatured%3D20138" TargetMode="External"/><Relationship Id="rId3" Type="http://schemas.openxmlformats.org/officeDocument/2006/relationships/slide" Target="slide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8/zachary.hunzeker.identification.of.an.optimal.absolute.lymphocyte.count.before.html?f=menu%3D6%2Abrowseby%3D8%2Asortby%3D6%2Amedia%3D3%2Ace_id%3D2934%2Aot_id%3D115576%2Amarker%3D6766%2Afeatured%3D20138" TargetMode="External"/><Relationship Id="rId3" Type="http://schemas.openxmlformats.org/officeDocument/2006/relationships/slide" Target="slide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3/umberto.vitolo.fixed-duration.epcoritamab.monotherapy.induces.high.response.html?f=menu%3D6%2Abrowseby%3D8%2Asortby%3D6%2Amedia%3D3%2Ace_id%3D2934%2Aot_id%3D115576%2Amarker%3D6766%2Afeatured%3D20138" TargetMode="External"/><Relationship Id="rId3" Type="http://schemas.openxmlformats.org/officeDocument/2006/relationships/slide" Target="slide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3/umberto.vitolo.fixed-duration.epcoritamab.monotherapy.induces.high.response.html?f=menu%3D6%2Abrowseby%3D8%2Asortby%3D6%2Amedia%3D3%2Ace_id%3D2934%2Aot_id%3D115576%2Amarker%3D6766%2Afeatured%3D20138" TargetMode="External"/><Relationship Id="rId3" Type="http://schemas.openxmlformats.org/officeDocument/2006/relationships/slide" Target="slide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4/giuseppe.gritti.durable.remissions.with.glofitamab.plus.polatuzumab.vedotin.in.html?f=menu%3D6%2Abrowseby%3D8%2Asortby%3D6%2Amedia%3D3%2Ace_id%3D2934%2Aot_id%3D115576%2Amarker%3D6766%2Afeatured%3D20138" TargetMode="External"/><Relationship Id="rId3" Type="http://schemas.openxmlformats.org/officeDocument/2006/relationships/slide" Target="slide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4/giuseppe.gritti.durable.remissions.with.glofitamab.plus.polatuzumab.vedotin.in.html?f=menu%3D6%2Abrowseby%3D8%2Asortby%3D6%2Amedia%3D3%2Ace_id%3D2934%2Aot_id%3D115576%2Amarker%3D6766%2Afeatured%3D20138" TargetMode="External"/><Relationship Id="rId3" Type="http://schemas.openxmlformats.org/officeDocument/2006/relationships/slide" Target="slide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7/stefano.luminari.peripheral.proteomic.signatures.associated.with.cytokine.html?f=menu%3D6%2Abrowseby%3D8%2Asortby%3D6%2Amedia%3D3%2Ace_id%3D2934%2Aot_id%3D115595%2Amarker%3D6766%2Afeatured%3D20138" TargetMode="External"/><Relationship Id="rId3" Type="http://schemas.openxmlformats.org/officeDocument/2006/relationships/slide" Target="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7/stefano.luminari.peripheral.proteomic.signatures.associated.with.cytokine.html?f=menu%3D6%2Abrowseby%3D8%2Asortby%3D6%2Amedia%3D3%2Ace_id%3D2934%2Aot_id%3D115595%2Amarker%3D6766%2Afeatured%3D20138" TargetMode="External"/><Relationship Id="rId3" Type="http://schemas.openxmlformats.org/officeDocument/2006/relationships/slide" Target="slide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8/monica.wielgos-bonvallet.reduced.cd20.expression.and.intratumoral.cd32B.t.cells.html?f=menu%3D6%2Abrowseby%3D8%2Asortby%3D6%2Amedia%3D3%2Ace_id%3D2934%2Aot_id%3D115595%2Amarker%3D6766%2Afeatured%3D20138" TargetMode="External"/><Relationship Id="rId3" Type="http://schemas.openxmlformats.org/officeDocument/2006/relationships/slide" Target="slide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8/monica.wielgos-bonvallet.reduced.cd20.expression.and.intratumoral.cd32B.t.cells.html?f=menu%3D6%2Abrowseby%3D8%2Asortby%3D6%2Amedia%3D3%2Ace_id%3D2934%2Aot_id%3D115595%2Amarker%3D6766%2Afeatured%3D20138" TargetMode="External"/><Relationship Id="rId3" Type="http://schemas.openxmlformats.org/officeDocument/2006/relationships/slide" Target="slide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0/william.townsend.total.metabolic.tumor.volume.and.circulating.tumor.dna.as.html?f=menu%3D6%2Abrowseby%3D8%2Asortby%3D6%2Amedia%3D3%2Ace_id%3D2934%2Aot_id%3D115595%2Amarker%3D6766%2Afeatured%3D20138" TargetMode="External"/><Relationship Id="rId3" Type="http://schemas.openxmlformats.org/officeDocument/2006/relationships/slide" Target="slide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0/william.townsend.total.metabolic.tumor.volume.and.circulating.tumor.dna.as.html?f=menu%3D6%2Abrowseby%3D8%2Asortby%3D6%2Amedia%3D3%2Ace_id%3D2934%2Aot_id%3D115595%2Amarker%3D6766%2Afeatured%3D20138" TargetMode="External"/><Relationship Id="rId3" Type="http://schemas.openxmlformats.org/officeDocument/2006/relationships/slide" Target="slide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6/david.belada.epcoritamab.2B.r-mini-chop.results.in.2-year.remissions.and.high.html?f=menu%3D6%2Abrowseby%3D8%2Asortby%3D6%2Amedia%3D3%2Ace_id%3D2934%2Aot_id%3D115576%2Amarker%3D6766%2Afeatured%3D20138" TargetMode="External"/><Relationship Id="rId3" Type="http://schemas.openxmlformats.org/officeDocument/2006/relationships/slide" Target="slide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6/david.belada.epcoritamab.2B.r-mini-chop.results.in.2-year.remissions.and.high.html?f=menu%3D6%2Abrowseby%3D8%2Asortby%3D6%2Amedia%3D3%2Ace_id%3D2934%2Aot_id%3D115576%2Amarker%3D6766%2Afeatured%3D20138" TargetMode="External"/><Relationship Id="rId3" Type="http://schemas.openxmlformats.org/officeDocument/2006/relationships/slide" Target="slide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2/mats.jerkeman.safety.data.and.initial.pooled.efficacy.data.from.the.nordic.html?f=menu%3D6%2Abrowseby%3D8%2Asortby%3D6%2Amedia%3D3%2Ace_id%3D2934%2Aot_id%3D115576%2Amarker%3D6765%2Afeatured%3D20138" TargetMode="External"/><Relationship Id="rId3" Type="http://schemas.openxmlformats.org/officeDocument/2006/relationships/slide" Target="slide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2/mats.jerkeman.safety.data.and.initial.pooled.efficacy.data.from.the.nordic.html?f=menu%3D6%2Abrowseby%3D8%2Asortby%3D6%2Amedia%3D3%2Ace_id%3D2934%2Aot_id%3D115576%2Amarker%3D6765%2Afeatured%3D20138" TargetMode="External"/><Relationship Id="rId3" Type="http://schemas.openxmlformats.org/officeDocument/2006/relationships/slide" Target="slide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5/simon.husby.clonal.hematopoiesis.is.associated.with.persisting.anemia.in.html?f=menu%3D6%2Abrowseby%3D8%2Asortby%3D6%2Amedia%3D3%2Ace_id%3D2934%2Aot_id%3D115595%2Amarker%3D6766%2Afeatured%3D20138" TargetMode="External"/><Relationship Id="rId3" Type="http://schemas.openxmlformats.org/officeDocument/2006/relationships/slide" Target="slide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5/simon.husby.clonal.hematopoiesis.is.associated.with.persisting.anemia.in.html?f=menu%3D6%2Abrowseby%3D8%2Asortby%3D6%2Amedia%3D3%2Ace_id%3D2934%2Aot_id%3D115595%2Amarker%3D6766%2Afeatured%3D20138" TargetMode="External"/><Relationship Id="rId3" Type="http://schemas.openxmlformats.org/officeDocument/2006/relationships/slide" Target="slide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1/liang.wang.real-world.efficacy.safety.and.molecular.characterization.of.html?f=menu%3D6%2Abrowseby%3D8%2Asortby%3D6%2Amedia%3D3%2Ace_id%3D2934%2Aot_id%3D115576%2Amarker%3D6766%2Afeatured%3D20138" TargetMode="External"/><Relationship Id="rId3" Type="http://schemas.openxmlformats.org/officeDocument/2006/relationships/slide" Target="slide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1/liang.wang.real-world.efficacy.safety.and.molecular.characterization.of.html?f=menu%3D6%2Abrowseby%3D8%2Asortby%3D6%2Amedia%3D3%2Ace_id%3D2934%2Aot_id%3D115576%2Amarker%3D6766%2Afeatured%3D20138" TargetMode="External"/><Relationship Id="rId3" Type="http://schemas.openxmlformats.org/officeDocument/2006/relationships/slide" Target="slide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0/hua-jay.cherng.preliminary.results.from.shorten-ctdna.measurable.residual.html?f=menu%3D6%2Abrowseby%3D8%2Asortby%3D6%2Amedia%3D3%2Ace_id%3D2934%2Aot_id%3D115576%2Amarker%3D6766%2Afeatured%3D20138" TargetMode="External"/><Relationship Id="rId3" Type="http://schemas.openxmlformats.org/officeDocument/2006/relationships/slide" Target="slide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0/hua-jay.cherng.preliminary.results.from.shorten-ctdna.measurable.residual.html?f=menu%3D6%2Abrowseby%3D8%2Asortby%3D6%2Amedia%3D3%2Ace_id%3D2934%2Aot_id%3D115576%2Amarker%3D6766%2Afeatured%3D20138" TargetMode="External"/><Relationship Id="rId3" Type="http://schemas.openxmlformats.org/officeDocument/2006/relationships/slide" Target="slide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1/xi.chen.pola-rchp.for.dlbclpatients.with.extranodal.involvement.real-world.html?f=menu%3D6%2Abrowseby%3D8%2Asortby%3D6%2Amedia%3D3%2Ace_id%3D2934%2Aot_id%3D115576%2Amarker%3D6766%2Afeatured%3D20138" TargetMode="External"/><Relationship Id="rId3" Type="http://schemas.openxmlformats.org/officeDocument/2006/relationships/slide" Target="slide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1/xi.chen.pola-rchp.for.dlbclpatients.with.extranodal.involvement.real-world.html?f=menu%3D6%2Abrowseby%3D8%2Asortby%3D6%2Amedia%3D3%2Ace_id%3D2934%2Aot_id%3D115576%2Amarker%3D6766%2Afeatured%3D20138" TargetMode="External"/><Relationship Id="rId3" Type="http://schemas.openxmlformats.org/officeDocument/2006/relationships/slide" Target="slide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8/na.yao.bruton.tyrosine.kinase.inhibitor.maintenance.therapy.in.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8/na.yao.bruton.tyrosine.kinase.inhibitor.maintenance.therapy.in.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4/pengpeng.xu.clinical.characteristics.and.efficacy.of.myc.bcl-2.html?f=menu%3D6%2Abrowseby%3D8%2Asortby%3D6%2Amedia%3D3%2Ace_id%3D2934%2Aot_id%3D115576%2Amarker%3D6766%2Afeatured%3D20138" TargetMode="External"/><Relationship Id="rId3" Type="http://schemas.openxmlformats.org/officeDocument/2006/relationships/slide" Target="slide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4/pengpeng.xu.clinical.characteristics.and.efficacy.of.myc.bcl-2.html?f=menu%3D6%2Abrowseby%3D8%2Asortby%3D6%2Amedia%3D3%2Ace_id%3D2934%2Aot_id%3D115576%2Amarker%3D6766%2Afeatured%3D20138" TargetMode="External"/><Relationship Id="rId3" Type="http://schemas.openxmlformats.org/officeDocument/2006/relationships/slide" Target="slide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6/yang.yang.orelabrutinib.plus.r-chop.for.the.treatment.of.newly.diagnosed.html?f=menu%3D6%2Abrowseby%3D8%2Asortby%3D6%2Amedia%3D3%2Ace_id%3D2934%2Aot_id%3D115576%2Amarker%3D6766%2Afeatured%3D20138" TargetMode="External"/><Relationship Id="rId3" Type="http://schemas.openxmlformats.org/officeDocument/2006/relationships/slide" Target="slide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6/yang.yang.orelabrutinib.plus.r-chop.for.the.treatment.of.newly.diagnosed.html?f=menu%3D6%2Abrowseby%3D8%2Asortby%3D6%2Amedia%3D3%2Ace_id%3D2934%2Aot_id%3D115576%2Amarker%3D6766%2Afeatured%3D20138" TargetMode="External"/><Relationship Id="rId3" Type="http://schemas.openxmlformats.org/officeDocument/2006/relationships/slide" Target="slide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1/lugui.qiu.birelentinib.demonstrates.manageable.safety.profile.and.universal.html?f=menu%3D6%2Abrowseby%3D8%2Asortby%3D6%2Amedia%3D3%2Ace_id%3D2934%2Aot_id%3D115576%2Amarker%3D6766%2Afeatured%3D20138" TargetMode="External"/><Relationship Id="rId3" Type="http://schemas.openxmlformats.org/officeDocument/2006/relationships/slide" Target="slide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1/lugui.qiu.birelentinib.demonstrates.manageable.safety.profile.and.universal.html?f=menu%3D6%2Abrowseby%3D8%2Asortby%3D6%2Amedia%3D3%2Ace_id%3D2934%2Aot_id%3D115576%2Amarker%3D6766%2Afeatured%3D20138" TargetMode="External"/><Relationship Id="rId3" Type="http://schemas.openxmlformats.org/officeDocument/2006/relationships/slide" Target="slide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2/chunmei.yang.zanubrutinib.plus.r-chop.as.frontline.therapy.for.myd88l265p.html?f=menu%3D6%2Abrowseby%3D8%2Asortby%3D6%2Amedia%3D3%2Ace_id%3D2934%2Aot_id%3D115576%2Amarker%3D6766%2Afeatured%3D20138" TargetMode="External"/><Relationship Id="rId3" Type="http://schemas.openxmlformats.org/officeDocument/2006/relationships/slide" Target="slide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2/chunmei.yang.zanubrutinib.plus.r-chop.as.frontline.therapy.for.myd88l265p.html?f=menu%3D6%2Abrowseby%3D8%2Asortby%3D6%2Amedia%3D3%2Ace_id%3D2934%2Aot_id%3D115576%2Amarker%3D6766%2Afeatured%3D20138" TargetMode="External"/><Relationship Id="rId3" Type="http://schemas.openxmlformats.org/officeDocument/2006/relationships/slide" Target="slide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6/jie.wang.zanubrutinib.plus.r-chop.28zr-chop29.in.non-germinal.center.b-cell-like.html?f=menu%3D6%2Abrowseby%3D8%2Asortby%3D6%2Amedia%3D3%2Ace_id%3D2934%2Aot_id%3D115576%2Amarker%3D6766%2Afeatured%3D20138" TargetMode="External"/><Relationship Id="rId3" Type="http://schemas.openxmlformats.org/officeDocument/2006/relationships/slide" Target="slide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6/jie.wang.zanubrutinib.plus.r-chop.28zr-chop29.in.non-germinal.center.b-cell-like.html?f=menu%3D6%2Abrowseby%3D8%2Asortby%3D6%2Amedia%3D3%2Ace_id%3D2934%2Aot_id%3D115576%2Amarker%3D6766%2Afeatured%3D20138" TargetMode="External"/><Relationship Id="rId3" Type="http://schemas.openxmlformats.org/officeDocument/2006/relationships/slide" Target="slide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3/sirpa.lepp.molecular.surveillance.of.aggressive.large.b-cell.lymphoma.using.html?f=menu%3D6%2Abrowseby%3D8%2Asortby%3D6%2Amedia%3D3%2Ace_id%3D2934%2Aot_id%3D115576%2Amarker%3D6765%2Afeatured%3D20138" TargetMode="External"/><Relationship Id="rId3" Type="http://schemas.openxmlformats.org/officeDocument/2006/relationships/slide" Target="slide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3/sirpa.lepp.molecular.surveillance.of.aggressive.large.b-cell.lymphoma.using.html?f=menu%3D6%2Abrowseby%3D8%2Asortby%3D6%2Amedia%3D3%2Ace_id%3D2934%2Aot_id%3D115576%2Amarker%3D6765%2Afeatured%3D20138" TargetMode="External"/><Relationship Id="rId3" Type="http://schemas.openxmlformats.org/officeDocument/2006/relationships/slide" Target="slide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8/li.li.peripheral.circulating.immune.cell.subsets.prognostic.value.and.html?f=menu%3D6%2Abrowseby%3D8%2Asortby%3D6%2Amedia%3D3%2Ace_id%3D2934%2Aot_id%3D115595%2Amarker%3D6766%2Afeatured%3D20138" TargetMode="External"/><Relationship Id="rId3" Type="http://schemas.openxmlformats.org/officeDocument/2006/relationships/slide" Target="slide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8/li.li.peripheral.circulating.immune.cell.subsets.prognostic.value.and.html?f=menu%3D6%2Abrowseby%3D8%2Asortby%3D6%2Amedia%3D3%2Ace_id%3D2934%2Aot_id%3D115595%2Amarker%3D6766%2Afeatured%3D20138" TargetMode="External"/><Relationship Id="rId3" Type="http://schemas.openxmlformats.org/officeDocument/2006/relationships/slide" Target="slide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41/seok.jin.kim.cd20-positive.extracellular.vesicles.act.as.antigen.decoys.and.html?f=menu%3D6%2Abrowseby%3D8%2Asortby%3D6%2Amedia%3D3%2Ace_id%3D2934%2Aot_id%3D115595%2Amarker%3D6766%2Afeatured%3D20138" TargetMode="External"/><Relationship Id="rId3" Type="http://schemas.openxmlformats.org/officeDocument/2006/relationships/slide" Target="slide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41/seok.jin.kim.cd20-positive.extracellular.vesicles.act.as.antigen.decoys.and.html?f=menu%3D6%2Abrowseby%3D8%2Asortby%3D6%2Amedia%3D3%2Ace_id%3D2934%2Aot_id%3D115595%2Amarker%3D6766%2Afeatured%3D20138" TargetMode="External"/><Relationship Id="rId3" Type="http://schemas.openxmlformats.org/officeDocument/2006/relationships/slide" Target="slide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6/na.yao.contiguous.spread.not.hematogenous.dissemination.rethinking.cns.risk.html?f=menu%3D6%2Abrowseby%3D8%2Asortby%3D6%2Amedia%3D3%2Ace_id%3D2934%2Aot_id%3D115576%2Amarker%3D6766%2Afeatured%3D20138" TargetMode="External"/><Relationship Id="rId3" Type="http://schemas.openxmlformats.org/officeDocument/2006/relationships/slide" Target="slide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6/na.yao.contiguous.spread.not.hematogenous.dissemination.rethinking.cns.risk.html?f=menu%3D6%2Abrowseby%3D8%2Asortby%3D6%2Amedia%3D3%2Ace_id%3D2934%2Aot_id%3D115576%2Amarker%3D6766%2Afeatured%3D20138" TargetMode="External"/><Relationship Id="rId3" Type="http://schemas.openxmlformats.org/officeDocument/2006/relationships/slide" Target="slide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0/andreas-epameinondas.koumpis.serum.mir-155-3p.mir-142-3p.and.mir-22-3p.as.html?f=menu%3D6%2Abrowseby%3D8%2Asortby%3D6%2Amedia%3D3%2Ace_id%3D2934%2Aot_id%3D115576%2Amarker%3D6766%2Afeatured%3D20138" TargetMode="External"/><Relationship Id="rId3" Type="http://schemas.openxmlformats.org/officeDocument/2006/relationships/slide" Target="slide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0/andreas-epameinondas.koumpis.serum.mir-155-3p.mir-142-3p.and.mir-22-3p.as.html?f=menu%3D6%2Abrowseby%3D8%2Asortby%3D6%2Amedia%3D3%2Ace_id%3D2934%2Aot_id%3D115576%2Amarker%3D6766%2Afeatured%3D20138" TargetMode="External"/><Relationship Id="rId3" Type="http://schemas.openxmlformats.org/officeDocument/2006/relationships/slide" Target="slide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4/qingqing.cai.first-line.selinexor.in.combination.with.r-chop.for.ebv-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4/qingqing.cai.first-line.selinexor.in.combination.with.r-chop.for.ebv-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6/zhiming.li.selinexor.in.combination.with.the.r-chop.regimen.as.a.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6/zhiming.li.selinexor.in.combination.with.the.r-chop.regimen.as.a.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1/gerhard.held.r-gemox2Bnivolumab.vs.r-gemox.as.2nd-line.therapy.for.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1/gerhard.held.r-gemox2Bnivolumab.vs.r-gemox.as.2nd-line.therapy.for.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9/pengpeng.xu.large-scale.real-world.clinical.characteristics.and.efficacy.of.html?f=menu%3D6%2Abrowseby%3D8%2Asortby%3D6%2Amedia%3D3%2Ace_id%3D2934%2Aot_id%3D115576%2Amarker%3D6766%2Afeatured%3D20138" TargetMode="External"/><Relationship Id="rId3" Type="http://schemas.openxmlformats.org/officeDocument/2006/relationships/slide" Target="slide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9/pengpeng.xu.large-scale.real-world.clinical.characteristics.and.efficacy.of.html?f=menu%3D6%2Abrowseby%3D8%2Asortby%3D6%2Amedia%3D3%2Ace_id%3D2934%2Aot_id%3D115576%2Amarker%3D6766%2Afeatured%3D20138" TargetMode="External"/><Relationship Id="rId3" Type="http://schemas.openxmlformats.org/officeDocument/2006/relationships/slide" Target="slide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3/matthew.r.wilson.high-dose.methotrexate.does.not.reduce.risk.of.cns.relapse.in.html?f=menu%3D6%2Abrowseby%3D8%2Asortby%3D6%2Amedia%3D3%2Ace_id%3D2934%2Aot_id%3D115576%2Amarker%3D6765%2Afeatured%3D20138" TargetMode="External"/><Relationship Id="rId3" Type="http://schemas.openxmlformats.org/officeDocument/2006/relationships/slide" Target="slide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3/matthew.r.wilson.high-dose.methotrexate.does.not.reduce.risk.of.cns.relapse.in.html?f=menu%3D6%2Abrowseby%3D8%2Asortby%3D6%2Amedia%3D3%2Ace_id%3D2934%2Aot_id%3D115576%2Amarker%3D6765%2Afeatured%3D20138" TargetMode="External"/><Relationship Id="rId3" Type="http://schemas.openxmlformats.org/officeDocument/2006/relationships/slide" Target="slide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85/zahra.haider.evaluating.the.diagnostic.potential.of.comprehensive.plasma.ctdna.html?f=menu%3D6%2Abrowseby%3D8%2Asortby%3D6%2Amedia%3D3%2Ace_id%3D2934%2Aot_id%3D115612%2Amarker%3D6766%2Afeatured%3D20138" TargetMode="External"/><Relationship Id="rId3" Type="http://schemas.openxmlformats.org/officeDocument/2006/relationships/slide" Target="slide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85/zahra.haider.evaluating.the.diagnostic.potential.of.comprehensive.plasma.ctdna.html?f=menu%3D6%2Abrowseby%3D8%2Asortby%3D6%2Amedia%3D3%2Ace_id%3D2934%2Aot_id%3D115612%2Amarker%3D6766%2Afeatured%3D20138" TargetMode="External"/><Relationship Id="rId3" Type="http://schemas.openxmlformats.org/officeDocument/2006/relationships/slide" Target="slide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0/sven.borchmann.ctdna.sequencing.reveals.mutational.signatures.with.prognostic.html?f=menu%3D6%2Abrowseby%3D8%2Asortby%3D6%2Amedia%3D3%2Ace_id%3D2934%2Aot_id%3D115595%2Amarker%3D6766%2Afeatured%3D20138" TargetMode="External"/><Relationship Id="rId3" Type="http://schemas.openxmlformats.org/officeDocument/2006/relationships/slide" Target="slide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0/sven.borchmann.ctdna.sequencing.reveals.mutational.signatures.with.prognostic.html?f=menu%3D6%2Abrowseby%3D8%2Asortby%3D6%2Amedia%3D3%2Ace_id%3D2934%2Aot_id%3D115595%2Amarker%3D6766%2Afeatured%3D20138" TargetMode="External"/><Relationship Id="rId3" Type="http://schemas.openxmlformats.org/officeDocument/2006/relationships/slide" Target="slide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3/jinghan.wang.plasma.copper.as.prognostic.biomarker.in.diffuse.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3/jinghan.wang.plasma.copper.as.prognostic.biomarker.in.diffuse.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2/massimiliano.marinoni.age-independent.outcomes.and.competing.risk.dynamics.in.html?f=menu%3D6%2Abrowseby%3D8%2Asortby%3D6%2Amedia%3D3%2Ace_id%3D2934%2Aot_id%3D115576%2Amarker%3D6766%2Afeatured%3D20138" TargetMode="External"/><Relationship Id="rId3" Type="http://schemas.openxmlformats.org/officeDocument/2006/relationships/slide" Target="slide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2/massimiliano.marinoni.age-independent.outcomes.and.competing.risk.dynamics.in.html?f=menu%3D6%2Abrowseby%3D8%2Asortby%3D6%2Amedia%3D3%2Ace_id%3D2934%2Aot_id%3D115576%2Amarker%3D6766%2Afeatured%3D20138" TargetMode="External"/><Relationship Id="rId3" Type="http://schemas.openxmlformats.org/officeDocument/2006/relationships/slide" Target="slide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0/amos.bonsdorff.dynamic.changes.in.mononucleosomal.cfdna.profiles.identify.html?f=menu%3D6%2Abrowseby%3D8%2Asortby%3D6%2Amedia%3D3%2Ace_id%3D2934%2Aot_id%3D115576%2Amarker%3D6766%2Afeatured%3D20138" TargetMode="External"/><Relationship Id="rId3" Type="http://schemas.openxmlformats.org/officeDocument/2006/relationships/slide" Target="slide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0/amos.bonsdorff.dynamic.changes.in.mononucleosomal.cfdna.profiles.identify.html?f=menu%3D6%2Abrowseby%3D8%2Asortby%3D6%2Amedia%3D3%2Ace_id%3D2934%2Aot_id%3D115576%2Amarker%3D6766%2Afeatured%3D20138" TargetMode="External"/><Relationship Id="rId3" Type="http://schemas.openxmlformats.org/officeDocument/2006/relationships/slide" Target="slide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9/salvatrice.mancuso.nutritional.parameters.as.prognostic.markers.in.older.html?f=menu%3D6%2Abrowseby%3D8%2Asortby%3D6%2Amedia%3D3%2Ace_id%3D2934%2Aot_id%3D115576%2Amarker%3D6766%2Afeatured%3D20138" TargetMode="External"/><Relationship Id="rId3" Type="http://schemas.openxmlformats.org/officeDocument/2006/relationships/slide" Target="slide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9/salvatrice.mancuso.nutritional.parameters.as.prognostic.markers.in.older.html?f=menu%3D6%2Abrowseby%3D8%2Asortby%3D6%2Amedia%3D3%2Ace_id%3D2934%2Aot_id%3D115576%2Amarker%3D6766%2Afeatured%3D20138" TargetMode="External"/><Relationship Id="rId3" Type="http://schemas.openxmlformats.org/officeDocument/2006/relationships/slide" Target="slide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002/zhengchang.he.earlier.emergence.of.proliferative.cd82B.t.cells.is.associated.html?f=menu%3D6%2Abrowseby%3D8%2Asortby%3D6%2Amedia%3D3%2Ace_id%3D2934%2Aot_id%3D115597%2Amarker%3D6766%2Afeatured%3D20138" TargetMode="External"/><Relationship Id="rId3" Type="http://schemas.openxmlformats.org/officeDocument/2006/relationships/slide" Target="slide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002/zhengchang.he.earlier.emergence.of.proliferative.cd82B.t.cells.is.associated.html?f=menu%3D6%2Abrowseby%3D8%2Asortby%3D6%2Amedia%3D3%2Ace_id%3D2934%2Aot_id%3D115597%2Amarker%3D6766%2Afeatured%3D20138" TargetMode="External"/><Relationship Id="rId3" Type="http://schemas.openxmlformats.org/officeDocument/2006/relationships/slide" Target="slide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5/luca.varga.phased.variants.reveal.proto-oncogene.promoter.hypermutation.and.html?f=menu%3D6%2Abrowseby%3D8%2Asortby%3D6%2Amedia%3D3%2Ace_id%3D2934%2Aot_id%3D115595%2Amarker%3D6766%2Afeatured%3D20138" TargetMode="External"/><Relationship Id="rId3" Type="http://schemas.openxmlformats.org/officeDocument/2006/relationships/slide" Target="slide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5/luca.varga.phased.variants.reveal.proto-oncogene.promoter.hypermutation.and.html?f=menu%3D6%2Abrowseby%3D8%2Asortby%3D6%2Amedia%3D3%2Ace_id%3D2934%2Aot_id%3D115595%2Amarker%3D6766%2Afeatured%3D20138" TargetMode="External"/><Relationship Id="rId3" Type="http://schemas.openxmlformats.org/officeDocument/2006/relationships/slide" Target="slide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4/sai.huang.metagenomic.study.on.the.dynamic.changes.of.gut.html?f=menu%3D6%2Abrowseby%3D8%2Asortby%3D6%2Amedia%3D3%2Ace_id%3D2934%2Aot_id%3D115576%2Amarker%3D6766%2Afeatured%3D20138" TargetMode="External"/><Relationship Id="rId3" Type="http://schemas.openxmlformats.org/officeDocument/2006/relationships/slide" Target="slide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4/sai.huang.metagenomic.study.on.the.dynamic.changes.of.gut.html?f=menu%3D6%2Abrowseby%3D8%2Asortby%3D6%2Amedia%3D3%2Ace_id%3D2934%2Aot_id%3D115576%2Amarker%3D6766%2Afeatured%3D20138" TargetMode="External"/><Relationship Id="rId3" Type="http://schemas.openxmlformats.org/officeDocument/2006/relationships/slide" Target="slide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1/giulia.bassi.the.predic-to.study.an.international.real-world.cohort.study.of.html?f=menu%3D6%2Abrowseby%3D8%2Asortby%3D6%2Amedia%3D3%2Ace_id%3D2934%2Aot_id%3D115576%2Amarker%3D6766%2Afeatured%3D20138" TargetMode="External"/><Relationship Id="rId3" Type="http://schemas.openxmlformats.org/officeDocument/2006/relationships/slide" Target="slide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1/giulia.bassi.the.predic-to.study.an.international.real-world.cohort.study.of.html?f=menu%3D6%2Abrowseby%3D8%2Asortby%3D6%2Amedia%3D3%2Ace_id%3D2934%2Aot_id%3D115576%2Amarker%3D6766%2Afeatured%3D20138" TargetMode="External"/><Relationship Id="rId3" Type="http://schemas.openxmlformats.org/officeDocument/2006/relationships/slide" Target="slide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1/bertram.glass.polatuzumab.vedotin.plus.rituximab.ifosfamide.carboplatin.html?f=menu%3D6%2Abrowseby%3D8%2Asortby%3D6%2Amedia%3D3%2Ace_id%3D2934%2Aot_id%3D115576%2Amarker%3D6765%2Afeatured%3D20138" TargetMode="External"/><Relationship Id="rId3" Type="http://schemas.openxmlformats.org/officeDocument/2006/relationships/slide" Target="slide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1/bertram.glass.polatuzumab.vedotin.plus.rituximab.ifosfamide.carboplatin.html?f=menu%3D6%2Abrowseby%3D8%2Asortby%3D6%2Amedia%3D3%2Ace_id%3D2934%2Aot_id%3D115576%2Amarker%3D6765%2Afeatured%3D20138" TargetMode="External"/><Relationship Id="rId3" Type="http://schemas.openxmlformats.org/officeDocument/2006/relationships/slide" Target="slide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5/catherine.thieblemont.sustained.remissions.beyond.4.years.with.epcoritamab.html?f=menu%3D6%2Abrowseby%3D8%2Asortby%3D6%2Amedia%3D3%2Ace_id%3D2934%2Aot_id%3D115576%2Amarker%3D6766%2Afeatured%3D20138" TargetMode="External"/><Relationship Id="rId3" Type="http://schemas.openxmlformats.org/officeDocument/2006/relationships/slide" Target="slide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5/catherine.thieblemont.sustained.remissions.beyond.4.years.with.epcoritamab.html?f=menu%3D6%2Abrowseby%3D8%2Asortby%3D6%2Amedia%3D3%2Ace_id%3D2934%2Aot_id%3D115576%2Amarker%3D6766%2Afeatured%3D20138" TargetMode="External"/><Relationship Id="rId3" Type="http://schemas.openxmlformats.org/officeDocument/2006/relationships/slide" Target="slide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0/sarah.m.larson.low-grade.crs.and.icans.with.rondecabtagene.autoleucel.a.html?f=menu%3D6%2Abrowseby%3D8%2Asortby%3D6%2Amedia%3D3%2Ace_id%3D2934%2Aot_id%3D115576%2Amarker%3D6766%2Afeatured%3D20138" TargetMode="External"/><Relationship Id="rId3" Type="http://schemas.openxmlformats.org/officeDocument/2006/relationships/slide" Target="slide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0/sarah.m.larson.low-grade.crs.and.icans.with.rondecabtagene.autoleucel.a.html?f=menu%3D6%2Abrowseby%3D8%2Asortby%3D6%2Amedia%3D3%2Ace_id%3D2934%2Aot_id%3D115576%2Amarker%3D6766%2Afeatured%3D20138" TargetMode="External"/><Relationship Id="rId3" Type="http://schemas.openxmlformats.org/officeDocument/2006/relationships/slide" Target="slide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6/sanfang.tu.a.prospective.single-arm.clinical.study.of.ctdna-guided.early.html?f=menu%3D6%2Abrowseby%3D8%2Asortby%3D6%2Amedia%3D3%2Ace_id%3D2934%2Aot_id%3D115601%2Amarker%3D6766%2Afeatured%3D20138" TargetMode="External"/><Relationship Id="rId3" Type="http://schemas.openxmlformats.org/officeDocument/2006/relationships/slide" Target="slide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6/sanfang.tu.a.prospective.single-arm.clinical.study.of.ctdna-guided.early.html?f=menu%3D6%2Abrowseby%3D8%2Asortby%3D6%2Amedia%3D3%2Ace_id%3D2934%2Aot_id%3D115601%2Amarker%3D6766%2Afeatured%3D20138" TargetMode="External"/><Relationship Id="rId3" Type="http://schemas.openxmlformats.org/officeDocument/2006/relationships/slide" Target="slide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6/akil.merchant.durable.responses.with.rondecabtagene.autoleucel.28dual-targeting.html?f=menu%3D6%2Abrowseby%3D8%2Asortby%3D6%2Amedia%3D3%2Ace_id%3D2934%2Aot_id%3D115595%2Amarker%3D6766%2Afeatured%3D20138" TargetMode="External"/><Relationship Id="rId3" Type="http://schemas.openxmlformats.org/officeDocument/2006/relationships/slide" Target="slide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6/akil.merchant.durable.responses.with.rondecabtagene.autoleucel.28dual-targeting.html?f=menu%3D6%2Abrowseby%3D8%2Asortby%3D6%2Amedia%3D3%2Ace_id%3D2934%2Aot_id%3D115595%2Amarker%3D6766%2Afeatured%3D20138" TargetMode="External"/><Relationship Id="rId3" Type="http://schemas.openxmlformats.org/officeDocument/2006/relationships/slide" Target="slide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3/loic.renaud.real-world.management.and.outcomes.of.pts.with.primary.mediastinal.html?f=menu%3D6%2Abrowseby%3D8%2Asortby%3D6%2Amedia%3D3%2Ace_id%3D2934%2Aot_id%3D115596%2Amarker%3D6766%2Afeatured%3D20138" TargetMode="External"/><Relationship Id="rId3" Type="http://schemas.openxmlformats.org/officeDocument/2006/relationships/slide" Target="slide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3/loic.renaud.real-world.management.and.outcomes.of.pts.with.primary.mediastinal.html?f=menu%3D6%2Abrowseby%3D8%2Asortby%3D6%2Amedia%3D3%2Ace_id%3D2934%2Aot_id%3D115596%2Amarker%3D6766%2Afeatured%3D20138" TargetMode="External"/><Relationship Id="rId3" Type="http://schemas.openxmlformats.org/officeDocument/2006/relationships/slide" Target="slide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572/alejandro.berkovits.pharmacokinetics.efficacy.and.safety.of.subcutaneous.html?f=menu%3D6%2Abrowseby%3D8%2Asortby%3D6%2Amedia%3D3%2Ace_id%3D2934%2Aot_id%3D115593%2Amarker%3D6766%2Afeatured%3D20138" TargetMode="External"/><Relationship Id="rId3" Type="http://schemas.openxmlformats.org/officeDocument/2006/relationships/slide" Target="slide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572/alejandro.berkovits.pharmacokinetics.efficacy.and.safety.of.subcutaneous.html?f=menu%3D6%2Abrowseby%3D8%2Asortby%3D6%2Amedia%3D3%2Ace_id%3D2934%2Aot_id%3D115593%2Amarker%3D6766%2Afeatured%3D20138" TargetMode="External"/><Relationship Id="rId3" Type="http://schemas.openxmlformats.org/officeDocument/2006/relationships/slide" Target="slide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6/oguzhan.koca.development.and.external.validation.of.a.simple.prognostic.index.html?f=menu%3D6%2Abrowseby%3D8%2Asortby%3D6%2Amedia%3D3%2Ace_id%3D2934%2Aot_id%3D115576%2Amarker%3D6766%2Afeatured%3D20138" TargetMode="External"/><Relationship Id="rId3" Type="http://schemas.openxmlformats.org/officeDocument/2006/relationships/slide" Target="slide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6/oguzhan.koca.development.and.external.validation.of.a.simple.prognostic.index.html?f=menu%3D6%2Abrowseby%3D8%2Asortby%3D6%2Amedia%3D3%2Ace_id%3D2934%2Aot_id%3D115576%2Amarker%3D6766%2Afeatured%3D20138" TargetMode="External"/><Relationship Id="rId3" Type="http://schemas.openxmlformats.org/officeDocument/2006/relationships/slide" Target="slide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2/nathalie.johnson.feasibility.of.prospective.real-time.ctdna.monitoring.in.html?f=menu%3D6%2Abrowseby%3D8%2Asortby%3D6%2Amedia%3D3%2Ace_id%3D2934%2Aot_id%3D115576%2Amarker%3D6766%2Afeatured%3D20138" TargetMode="External"/><Relationship Id="rId3" Type="http://schemas.openxmlformats.org/officeDocument/2006/relationships/slide" Target="slide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2/nathalie.johnson.feasibility.of.prospective.real-time.ctdna.monitoring.in.html?f=menu%3D6%2Abrowseby%3D8%2Asortby%3D6%2Amedia%3D3%2Ace_id%3D2934%2Aot_id%3D115576%2Amarker%3D6766%2Afeatured%3D20138" TargetMode="External"/><Relationship Id="rId3" Type="http://schemas.openxmlformats.org/officeDocument/2006/relationships/slide" Target="slide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9/mariana.bastos-oreiro.axicabtagene.ciloleucel.as.second-line.treatment.in.html?f=menu%3D6%2Abrowseby%3D8%2Asortby%3D6%2Amedia%3D3%2Ace_id%3D2934%2Aot_id%3D115576%2Amarker%3D6766%2Afeatured%3D20138" TargetMode="External"/><Relationship Id="rId3" Type="http://schemas.openxmlformats.org/officeDocument/2006/relationships/slide" Target="slide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9/mariana.bastos-oreiro.axicabtagene.ciloleucel.as.second-line.treatment.in.html?f=menu%3D6%2Abrowseby%3D8%2Asortby%3D6%2Amedia%3D3%2Ace_id%3D2934%2Aot_id%3D115576%2Amarker%3D6766%2Afeatured%3D20138" TargetMode="External"/><Relationship Id="rId3" Type="http://schemas.openxmlformats.org/officeDocument/2006/relationships/slide" Target="slide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13/akhil.khera.baseline.t-cell.repertoire.skewing.and.effector.cd8.t-cell.html?f=menu%3D6%2Abrowseby%3D8%2Asortby%3D6%2Amedia%3D3%2Ace_id%3D2934%2Aot_id%3D115600%2Amarker%3D6766%2Afeatured%3D20138" TargetMode="External"/><Relationship Id="rId3" Type="http://schemas.openxmlformats.org/officeDocument/2006/relationships/slide" Target="slide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13/akhil.khera.baseline.t-cell.repertoire.skewing.and.effector.cd8.t-cell.html?f=menu%3D6%2Abrowseby%3D8%2Asortby%3D6%2Amedia%3D3%2Ace_id%3D2934%2Aot_id%3D115600%2Amarker%3D6766%2Afeatured%3D20138" TargetMode="External"/><Relationship Id="rId3" Type="http://schemas.openxmlformats.org/officeDocument/2006/relationships/slide" Target="slide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7/vt.prochzka.the.phs.w-index.a.novel.prognostic.framework.integrating.html?f=menu%3D6%2Abrowseby%3D8%2Asortby%3D6%2Amedia%3D3%2Ace_id%3D2934%2Aot_id%3D115576%2Amarker%3D6766%2Afeatured%3D20138" TargetMode="External"/><Relationship Id="rId3" Type="http://schemas.openxmlformats.org/officeDocument/2006/relationships/slide" Target="slide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7/vt.prochzka.the.phs.w-index.a.novel.prognostic.framework.integrating.html?f=menu%3D6%2Abrowseby%3D8%2Asortby%3D6%2Amedia%3D3%2Ace_id%3D2934%2Aot_id%3D115576%2Amarker%3D6766%2Afeatured%3D20138" TargetMode="External"/><Relationship Id="rId3" Type="http://schemas.openxmlformats.org/officeDocument/2006/relationships/slide" Target="slide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5/marco.ladetto.primary.analysis.of.the.polatuzumab.vedotin.plus.r-chp.html?f=menu%3D6%2Abrowseby%3D8%2Asortby%3D6%2Amedia%3D3%2Ace_id%3D2934%2Aot_id%3D115576%2Amarker%3D6766%2Afeatured%3D20138" TargetMode="External"/><Relationship Id="rId3" Type="http://schemas.openxmlformats.org/officeDocument/2006/relationships/slide" Target="slide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5/marco.ladetto.primary.analysis.of.the.polatuzumab.vedotin.plus.r-chp.html?f=menu%3D6%2Abrowseby%3D8%2Asortby%3D6%2Amedia%3D3%2Ace_id%3D2934%2Aot_id%3D115576%2Amarker%3D6766%2Afeatured%3D20138" TargetMode="External"/><Relationship Id="rId3" Type="http://schemas.openxmlformats.org/officeDocument/2006/relationships/slide" Target="slide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201/stefan.deneberg.interim.results.of.the.phase.i.ii.study.investigating.html?f=menu%3D6%2Abrowseby%3D8%2Asortby%3D6%2Amedia%3D3%2Ace_id%3D2934%2Aot_id%3D115581%2Amarker%3D6766%2Afeatured%3D20138" TargetMode="External"/><Relationship Id="rId3" Type="http://schemas.openxmlformats.org/officeDocument/2006/relationships/slide" Target="slide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201/stefan.deneberg.interim.results.of.the.phase.i.ii.study.investigating.html?f=menu%3D6%2Abrowseby%3D8%2Asortby%3D6%2Amedia%3D3%2Ace_id%3D2934%2Aot_id%3D115581%2Amarker%3D6766%2Afeatured%3D20138" TargetMode="External"/><Relationship Id="rId3" Type="http://schemas.openxmlformats.org/officeDocument/2006/relationships/slide" Target="slide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1/josephus.van.rooij.diagnosing.primary.central.nervous.system.lymphoma.through.html?f=menu%3D6%2Abrowseby%3D8%2Asortby%3D6%2Amedia%3D3%2Ace_id%3D2934%2Aot_id%3D115576%2Amarker%3D6765%2Afeatured%3D20138" TargetMode="External"/><Relationship Id="rId3" Type="http://schemas.openxmlformats.org/officeDocument/2006/relationships/slide" Target="slide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1/josephus.van.rooij.diagnosing.primary.central.nervous.system.lymphoma.through.html?f=menu%3D6%2Abrowseby%3D8%2Asortby%3D6%2Amedia%3D3%2Ace_id%3D2934%2Aot_id%3D115576%2Amarker%3D6765%2Afeatured%3D20138" TargetMode="External"/><Relationship Id="rId3" Type="http://schemas.openxmlformats.org/officeDocument/2006/relationships/slide" Target="slide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1/fan.yang.postcar-t.relapse.in.cns-involved.lymphoma.treatment.patterns.and.html?f=menu%3D6%2Abrowseby%3D8%2Asortby%3D6%2Amedia%3D3%2Ace_id%3D2934%2Aot_id%3D115576%2Amarker%3D6766%2Afeatured%3D20138" TargetMode="External"/><Relationship Id="rId3" Type="http://schemas.openxmlformats.org/officeDocument/2006/relationships/slide" Target="slide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1/fan.yang.postcar-t.relapse.in.cns-involved.lymphoma.treatment.patterns.and.html?f=menu%3D6%2Abrowseby%3D8%2Asortby%3D6%2Amedia%3D3%2Ace_id%3D2934%2Aot_id%3D115576%2Amarker%3D6766%2Afeatured%3D20138" TargetMode="External"/><Relationship Id="rId3" Type="http://schemas.openxmlformats.org/officeDocument/2006/relationships/slide" Target="slide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8/donatella.talotta.genomic.determinants.of.response.and.resistance.to.html?f=menu%3D6%2Abrowseby%3D8%2Asortby%3D6%2Amedia%3D3%2Ace_id%3D2934%2Aot_id%3D115595%2Amarker%3D6766%2Afeatured%3D20138" TargetMode="External"/><Relationship Id="rId3" Type="http://schemas.openxmlformats.org/officeDocument/2006/relationships/slide" Target="slide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8/donatella.talotta.genomic.determinants.of.response.and.resistance.to.html?f=menu%3D6%2Abrowseby%3D8%2Asortby%3D6%2Amedia%3D3%2Ace_id%3D2934%2Aot_id%3D115595%2Amarker%3D6766%2Afeatured%3D20138" TargetMode="External"/><Relationship Id="rId3" Type="http://schemas.openxmlformats.org/officeDocument/2006/relationships/slide" Target="slide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2/liang-tsai.hsiao.real-world.durable.clinical.benefits.of.tirabrutinib.and.its.html?f=menu%3D6%2Abrowseby%3D8%2Asortby%3D6%2Amedia%3D3%2Ace_id%3D2934%2Aot_id%3D115596%2Amarker%3D6766%2Afeatured%3D20138" TargetMode="External"/><Relationship Id="rId3" Type="http://schemas.openxmlformats.org/officeDocument/2006/relationships/slide" Target="slide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2/liang-tsai.hsiao.real-world.durable.clinical.benefits.of.tirabrutinib.and.its.html?f=menu%3D6%2Abrowseby%3D8%2Asortby%3D6%2Amedia%3D3%2Ace_id%3D2934%2Aot_id%3D115596%2Amarker%3D6766%2Afeatured%3D20138" TargetMode="External"/><Relationship Id="rId3" Type="http://schemas.openxmlformats.org/officeDocument/2006/relationships/slide" Target="slide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81/yan.zhang.efficacy.and.safety.of.orelabrutinib.combined.with.sintilimab.in.html?f=menu%3D6%2Abrowseby%3D8%2Asortby%3D6%2Amedia%3D3%2Ace_id%3D2934%2Aot_id%3D115596%2Amarker%3D6766%2Afeatured%3D20138" TargetMode="External"/><Relationship Id="rId3" Type="http://schemas.openxmlformats.org/officeDocument/2006/relationships/slide" Target="slide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81/yan.zhang.efficacy.and.safety.of.orelabrutinib.combined.with.sintilimab.in.html?f=menu%3D6%2Abrowseby%3D8%2Asortby%3D6%2Amedia%3D3%2Ace_id%3D2934%2Aot_id%3D115596%2Amarker%3D6766%2Afeatured%3D20138" TargetMode="External"/><Relationship Id="rId3" Type="http://schemas.openxmlformats.org/officeDocument/2006/relationships/slide" Target="slide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1/lijuan.deng.orelabrutinib.in.patients.with.relapsed.or.refractory.primary.or.html?f=menu%3D6%2Abrowseby%3D8%2Asortby%3D6%2Amedia%3D3%2Ace_id%3D2934%2Aot_id%3D115576%2Amarker%3D6766%2Afeatured%3D20138" TargetMode="External"/><Relationship Id="rId3" Type="http://schemas.openxmlformats.org/officeDocument/2006/relationships/slide" Target="slide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1/lijuan.deng.orelabrutinib.in.patients.with.relapsed.or.refractory.primary.or.html?f=menu%3D6%2Abrowseby%3D8%2Asortby%3D6%2Amedia%3D3%2Ace_id%3D2934%2Aot_id%3D115576%2Amarker%3D6766%2Afeatured%3D20138" TargetMode="External"/><Relationship Id="rId3" Type="http://schemas.openxmlformats.org/officeDocument/2006/relationships/slide" Target="slide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9/chunmei.yang.orelabrutinib.rituximab.and.thiotepa.28ort29.in.combination.with.or.html?f=menu%3D6%2Abrowseby%3D8%2Asortby%3D6%2Amedia%3D3%2Ace_id%3D2934%2Aot_id%3D115576%2Amarker%3D6766%2Afeatured%3D20138" TargetMode="External"/><Relationship Id="rId3" Type="http://schemas.openxmlformats.org/officeDocument/2006/relationships/slide" Target="slide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9/chunmei.yang.orelabrutinib.rituximab.and.thiotepa.28ort29.in.combination.with.or.html?f=menu%3D6%2Abrowseby%3D8%2Asortby%3D6%2Amedia%3D3%2Ace_id%3D2934%2Aot_id%3D115576%2Amarker%3D6766%2Afeatured%3D20138" TargetMode="External"/><Relationship Id="rId3" Type="http://schemas.openxmlformats.org/officeDocument/2006/relationships/slide" Target="slide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5/noriko.fukuhara.efficacy.and.safety.of.tirabrutinib.for.relapsed.or.refractory.html?f=menu%3D6%2Abrowseby%3D8%2Asortby%3D6%2Amedia%3D3%2Ace_id%3D2934%2Aot_id%3D115576%2Amarker%3D6766%2Afeatured%3D20138" TargetMode="External"/><Relationship Id="rId3" Type="http://schemas.openxmlformats.org/officeDocument/2006/relationships/slide" Target="slide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5/noriko.fukuhara.efficacy.and.safety.of.tirabrutinib.for.relapsed.or.refractory.html?f=menu%3D6%2Abrowseby%3D8%2Asortby%3D6%2Amedia%3D3%2Ace_id%3D2934%2Aot_id%3D115576%2Amarker%3D6766%2Afeatured%3D20138" TargetMode="External"/><Relationship Id="rId3" Type="http://schemas.openxmlformats.org/officeDocument/2006/relationships/slide" Target="slide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0/liqun.zou.real-world.efficacy.and.safety.of.the.medz-r.regimen.as.induction.html?f=menu%3D6%2Abrowseby%3D8%2Asortby%3D6%2Amedia%3D3%2Ace_id%3D2934%2Aot_id%3D115576%2Amarker%3D6766%2Afeatured%3D20138" TargetMode="External"/><Relationship Id="rId3" Type="http://schemas.openxmlformats.org/officeDocument/2006/relationships/slide" Target="slide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0/liqun.zou.real-world.efficacy.and.safety.of.the.medz-r.regimen.as.induction.html?f=menu%3D6%2Abrowseby%3D8%2Asortby%3D6%2Amedia%3D3%2Ace_id%3D2934%2Aot_id%3D115576%2Amarker%3D6766%2Afeatured%3D20138" TargetMode="External"/><Relationship Id="rId3" Type="http://schemas.openxmlformats.org/officeDocument/2006/relationships/slide" Target="slide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8/maher.salamoon.12.years.update.on.overall.survival.in.patients.with.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8/maher.salamoon.12.years.update.on.overall.survival.in.patients.with.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5/ji.yun.lee.phase.ii.study.of.lenalidomide.maintenance.after.html?f=menu%3D6%2Abrowseby%3D8%2Asortby%3D6%2Amedia%3D3%2Ace_id%3D2934%2Aot_id%3D115576%2Amarker%3D6766%2Afeatured%3D20138" TargetMode="External"/><Relationship Id="rId3" Type="http://schemas.openxmlformats.org/officeDocument/2006/relationships/slide" Target="slide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5/ji.yun.lee.phase.ii.study.of.lenalidomide.maintenance.after.html?f=menu%3D6%2Abrowseby%3D8%2Asortby%3D6%2Amedia%3D3%2Ace_id%3D2934%2Aot_id%3D115576%2Amarker%3D6766%2Afeatured%3D20138" TargetMode="External"/><Relationship Id="rId3" Type="http://schemas.openxmlformats.org/officeDocument/2006/relationships/slide" Target="slide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3/gerald.illerhaus.the.optimate-trial.an.investigator-initiated.randomized.phase.html?f=menu%3D6%2Abrowseby%3D8%2Asortby%3D6%2Amedia%3D3%2Ace_id%3D2934%2Aot_id%3D115576%2Amarker%3D6766%2Afeatured%3D20138" TargetMode="External"/><Relationship Id="rId3" Type="http://schemas.openxmlformats.org/officeDocument/2006/relationships/slide" Target="slide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3/gerald.illerhaus.the.optimate-trial.an.investigator-initiated.randomized.phase.html?f=menu%3D6%2Abrowseby%3D8%2Asortby%3D6%2Amedia%3D3%2Ace_id%3D2934%2Aot_id%3D115576%2Amarker%3D6766%2Afeatured%3D20138" TargetMode="External"/><Relationship Id="rId3" Type="http://schemas.openxmlformats.org/officeDocument/2006/relationships/slide" Target="slide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5/teresa.calimeri.high.doses.of.methotrexate.and.cytarabine.with.or.without.html?f=menu%3D6%2Abrowseby%3D8%2Asortby%3D6%2Amedia%3D3%2Ace_id%3D2934%2Aot_id%3D115576%2Amarker%3D6766%2Afeatured%3D20138" TargetMode="External"/><Relationship Id="rId3" Type="http://schemas.openxmlformats.org/officeDocument/2006/relationships/slide" Target="slide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5/teresa.calimeri.high.doses.of.methotrexate.and.cytarabine.with.or.without.html?f=menu%3D6%2Abrowseby%3D8%2Asortby%3D6%2Amedia%3D3%2Ace_id%3D2934%2Aot_id%3D115576%2Amarker%3D6766%2Afeatured%3D20138" TargetMode="External"/><Relationship Id="rId3" Type="http://schemas.openxmlformats.org/officeDocument/2006/relationships/slide" Target="slide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7/silvia.escribano.serrat.integrated.multi-omic.profiling.identifies.genomic.html?f=menu%3D6%2Abrowseby%3D8%2Asortby%3D6%2Amedia%3D3%2Ace_id%3D2934%2Aot_id%3D115600%2Amarker%3D6765%2Afeatured%3D20138" TargetMode="External"/><Relationship Id="rId3" Type="http://schemas.openxmlformats.org/officeDocument/2006/relationships/slide" Target="slide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7/silvia.escribano.serrat.integrated.multi-omic.profiling.identifies.genomic.html?f=menu%3D6%2Abrowseby%3D8%2Asortby%3D6%2Amedia%3D3%2Ace_id%3D2934%2Aot_id%3D115600%2Amarker%3D6765%2Afeatured%3D20138" TargetMode="External"/><Relationship Id="rId3" Type="http://schemas.openxmlformats.org/officeDocument/2006/relationships/slide" Target="slide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7/igor.age.kos.favorable.real-world.outcomes.after.cd19.car.t.cell.treatment.in.html?f=menu%3D6%2Abrowseby%3D8%2Asortby%3D6%2Amedia%3D3%2Ace_id%3D2934%2Aot_id%3D115576%2Amarker%3D6765%2Afeatured%3D20138" TargetMode="External"/><Relationship Id="rId3" Type="http://schemas.openxmlformats.org/officeDocument/2006/relationships/slide" Target="slide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7/igor.age.kos.favorable.real-world.outcomes.after.cd19.car.t.cell.treatment.in.html?f=menu%3D6%2Abrowseby%3D8%2Asortby%3D6%2Amedia%3D3%2Ace_id%3D2934%2Aot_id%3D115576%2Amarker%3D6765%2Afeatured%3D20138" TargetMode="External"/><Relationship Id="rId3" Type="http://schemas.openxmlformats.org/officeDocument/2006/relationships/slide" Target="slide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5/ruth.fluemann.comprehensive.analysis.of.bridging.to.car.t-cell.therapy.in.html?f=menu%3D6%2Abrowseby%3D8%2Asortby%3D6%2Amedia%3D3%2Ace_id%3D2934%2Aot_id%3D115576%2Amarker%3D6765%2Afeatured%3D20138" TargetMode="External"/><Relationship Id="rId3" Type="http://schemas.openxmlformats.org/officeDocument/2006/relationships/slide" Target="slide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5/ruth.fluemann.comprehensive.analysis.of.bridging.to.car.t-cell.therapy.in.html?f=menu%3D6%2Abrowseby%3D8%2Asortby%3D6%2Amedia%3D3%2Ace_id%3D2934%2Aot_id%3D115576%2Amarker%3D6765%2Afeatured%3D20138" TargetMode="External"/><Relationship Id="rId3" Type="http://schemas.openxmlformats.org/officeDocument/2006/relationships/slide" Target="slide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4/william.townsend.real.world.experience.of.glofitamab.and.epcoritamab.for.large.html?f=menu%3D6%2Abrowseby%3D8%2Asortby%3D6%2Amedia%3D3%2Ace_id%3D2934%2Aot_id%3D115576%2Amarker%3D6765%2Afeatured%3D20138" TargetMode="External"/><Relationship Id="rId3" Type="http://schemas.openxmlformats.org/officeDocument/2006/relationships/slide" Target="slide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4/william.townsend.real.world.experience.of.glofitamab.and.epcoritamab.for.large.html?f=menu%3D6%2Abrowseby%3D8%2Asortby%3D6%2Amedia%3D3%2Ace_id%3D2934%2Aot_id%3D115576%2Amarker%3D6765%2Afeatured%3D20138" TargetMode="External"/><Relationship Id="rId3" Type="http://schemas.openxmlformats.org/officeDocument/2006/relationships/slide" Target="slide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0/justin.desroches.time.from.car-t.evaluation.to.leukapheresis.in.b-cell.html?f=menu%3D6%2Abrowseby%3D8%2Asortby%3D6%2Amedia%3D3%2Ace_id%3D2934%2Aot_id%3D115601%2Amarker%3D6766%2Afeatured%3D20138" TargetMode="External"/><Relationship Id="rId3" Type="http://schemas.openxmlformats.org/officeDocument/2006/relationships/slide" Target="slide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0/justin.desroches.time.from.car-t.evaluation.to.leukapheresis.in.b-cell.html?f=menu%3D6%2Abrowseby%3D8%2Asortby%3D6%2Amedia%3D3%2Ace_id%3D2934%2Aot_id%3D115601%2Amarker%3D6766%2Afeatured%3D20138" TargetMode="External"/><Relationship Id="rId3" Type="http://schemas.openxmlformats.org/officeDocument/2006/relationships/slide" Target="slide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9/yue.chun.paired.single-cell.analysis.of.starting.material.and.car.t.product.html?f=menu%3D6%2Abrowseby%3D8%2Asortby%3D6%2Amedia%3D3%2Ace_id%3D2934%2Aot_id%3D115601%2Amarker%3D6766%2Afeatured%3D20138" TargetMode="External"/><Relationship Id="rId3" Type="http://schemas.openxmlformats.org/officeDocument/2006/relationships/slide" Target="slide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9/yue.chun.paired.single-cell.analysis.of.starting.material.and.car.t.product.html?f=menu%3D6%2Abrowseby%3D8%2Asortby%3D6%2Amedia%3D3%2Ace_id%3D2934%2Aot_id%3D115601%2Amarker%3D6766%2Afeatured%3D20138" TargetMode="External"/><Relationship Id="rId3" Type="http://schemas.openxmlformats.org/officeDocument/2006/relationships/slide" Target="slide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9/carolina.martinez.laperche.longitudinal.ctdna.dynamics.around.car-t.cell.html?f=menu%3D6%2Abrowseby%3D8%2Asortby%3D6%2Amedia%3D3%2Ace_id%3D2934%2Aot_id%3D115595%2Amarker%3D6766%2Afeatured%3D20138" TargetMode="External"/><Relationship Id="rId3" Type="http://schemas.openxmlformats.org/officeDocument/2006/relationships/slide" Target="slide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9/carolina.martinez.laperche.longitudinal.ctdna.dynamics.around.car-t.cell.html?f=menu%3D6%2Abrowseby%3D8%2Asortby%3D6%2Amedia%3D3%2Ace_id%3D2934%2Aot_id%3D115595%2Amarker%3D6766%2Afeatured%3D20138" TargetMode="External"/><Relationship Id="rId3" Type="http://schemas.openxmlformats.org/officeDocument/2006/relationships/slide" Target="slide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0/giulia.gabrielli.effects.of.antibiotic-exposure.and.levofloxacin-prophylaxis.html?f=menu%3D6%2Abrowseby%3D8%2Asortby%3D6%2Amedia%3D3%2Ace_id%3D2934%2Aot_id%3D115576%2Amarker%3D6766%2Afeatured%3D20138" TargetMode="External"/><Relationship Id="rId3" Type="http://schemas.openxmlformats.org/officeDocument/2006/relationships/slide" Target="slide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0/giulia.gabrielli.effects.of.antibiotic-exposure.and.levofloxacin-prophylaxis.html?f=menu%3D6%2Abrowseby%3D8%2Asortby%3D6%2Amedia%3D3%2Ace_id%3D2934%2Aot_id%3D115576%2Amarker%3D6766%2Afeatured%3D20138" TargetMode="External"/><Relationship Id="rId3" Type="http://schemas.openxmlformats.org/officeDocument/2006/relationships/slide" Target="slide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5/adolfo.jesus.saez.marin.early.siltuximab.rescue.for.persistent.crs.in.patients.html?f=menu%3D6%2Abrowseby%3D8%2Asortby%3D6%2Amedia%3D3%2Ace_id%3D2934%2Aot_id%3D115576%2Amarker%3D6766%2Afeatured%3D20138" TargetMode="External"/><Relationship Id="rId3" Type="http://schemas.openxmlformats.org/officeDocument/2006/relationships/slide" Target="slide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5/adolfo.jesus.saez.marin.early.siltuximab.rescue.for.persistent.crs.in.patients.html?f=menu%3D6%2Abrowseby%3D8%2Asortby%3D6%2Amedia%3D3%2Ace_id%3D2934%2Aot_id%3D115576%2Amarker%3D6766%2Afeatured%3D20138" TargetMode="External"/><Relationship Id="rId3" Type="http://schemas.openxmlformats.org/officeDocument/2006/relationships/slide" Target="slide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2/sara.harrysson.incidence.and.outcome.of.relapsed.refractory.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2/sara.harrysson.incidence.and.outcome.of.relapsed.refractory.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1/lina.kolloch.outcomes.of.second-line.axicabtagene.ciloleucel.and.comparison.to.html?f=menu%3D6%2Abrowseby%3D8%2Asortby%3D6%2Amedia%3D3%2Ace_id%3D2934%2Aot_id%3D115576%2Amarker%3D6766%2Afeatured%3D20138" TargetMode="External"/><Relationship Id="rId3" Type="http://schemas.openxmlformats.org/officeDocument/2006/relationships/slide" Target="slide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1/lina.kolloch.outcomes.of.second-line.axicabtagene.ciloleucel.and.comparison.to.html?f=menu%3D6%2Abrowseby%3D8%2Asortby%3D6%2Amedia%3D3%2Ace_id%3D2934%2Aot_id%3D115576%2Amarker%3D6766%2Afeatured%3D20138" TargetMode="External"/><Relationship Id="rId3" Type="http://schemas.openxmlformats.org/officeDocument/2006/relationships/slide" Target="slide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0/florian.colrat.length.of.stay.healthcare.resourceutilization28hcru29and.html?f=menu%3D6%2Abrowseby%3D8%2Asortby%3D6%2Amedia%3D3%2Ace_id%3D2934%2Aot_id%3D115576%2Amarker%3D6766%2Afeatured%3D20138" TargetMode="External"/><Relationship Id="rId3" Type="http://schemas.openxmlformats.org/officeDocument/2006/relationships/slide" Target="slide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0/florian.colrat.length.of.stay.healthcare.resourceutilization28hcru29and.html?f=menu%3D6%2Abrowseby%3D8%2Asortby%3D6%2Amedia%3D3%2Ace_id%3D2934%2Aot_id%3D115576%2Amarker%3D6766%2Afeatured%3D20138" TargetMode="External"/><Relationship Id="rId3" Type="http://schemas.openxmlformats.org/officeDocument/2006/relationships/slide" Target="slide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7/yumeng.zhang.epcoritamab.in.relapsed.refractory.diffuse.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7/yumeng.zhang.epcoritamab.in.relapsed.refractory.diffuse.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2/lingshuang.sheng.impact.of.tp53.mutation.on.cd19-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2/lingshuang.sheng.impact.of.tp53.mutation.on.cd19-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3/vladimir.otasevic.comparative.realworld.overall.survival.in.diffuse.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3/vladimir.otasevic.comparative.realworld.overall.survival.in.diffuse.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2/magdalena.olszewska-szopa.polatuzumab-br.vs.tafasitamab-lenalidomide.in.html?f=menu%3D6%2Abrowseby%3D8%2Asortby%3D6%2Amedia%3D3%2Ace_id%3D2934%2Aot_id%3D115576%2Amarker%3D6766%2Afeatured%3D20138" TargetMode="External"/><Relationship Id="rId3" Type="http://schemas.openxmlformats.org/officeDocument/2006/relationships/slide" Target="slide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2/magdalena.olszewska-szopa.polatuzumab-br.vs.tafasitamab-lenalidomide.in.html?f=menu%3D6%2Abrowseby%3D8%2Asortby%3D6%2Amedia%3D3%2Ace_id%3D2934%2Aot_id%3D115576%2Amarker%3D6766%2Afeatured%3D20138" TargetMode="External"/><Relationship Id="rId3" Type="http://schemas.openxmlformats.org/officeDocument/2006/relationships/slide" Target="slide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4/mariana.bastos-oreiro.real-world.outcomes.of.axicabtagene.ciloleucel.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4/mariana.bastos-oreiro.real-world.outcomes.of.axicabtagene.ciloleucel.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19/francesco.malaspina.same.ai.different.doctors.expertise.determines.response.to.html?f=menu%3D6%2Abrowseby%3D8%2Asortby%3D6%2Amedia%3D3%2Ace_id%3D2934%2Aot_id%3D115612%2Amarker%3D6766%2Afeatured%3D20138" TargetMode="External"/><Relationship Id="rId3" Type="http://schemas.openxmlformats.org/officeDocument/2006/relationships/slide" Target="slide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19/francesco.malaspina.same.ai.different.doctors.expertise.determines.response.to.html?f=menu%3D6%2Abrowseby%3D8%2Asortby%3D6%2Amedia%3D3%2Ace_id%3D2934%2Aot_id%3D115612%2Amarker%3D6766%2Afeatured%3D20138" TargetMode="External"/><Relationship Id="rId3" Type="http://schemas.openxmlformats.org/officeDocument/2006/relationships/slide" Target="slide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05/risa.nishiyama.hbv-dnaguided.monitoring.for.hepatitis.b.virus.reactivation.html?f=menu%3D6%2Abrowseby%3D8%2Asortby%3D6%2Amedia%3D3%2Ace_id%3D2934%2Aot_id%3D115606%2Amarker%3D6766%2Afeatured%3D20138" TargetMode="External"/><Relationship Id="rId3" Type="http://schemas.openxmlformats.org/officeDocument/2006/relationships/slide" Target="slide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05/risa.nishiyama.hbv-dnaguided.monitoring.for.hepatitis.b.virus.reactivation.html?f=menu%3D6%2Abrowseby%3D8%2Asortby%3D6%2Amedia%3D3%2Ace_id%3D2934%2Aot_id%3D115606%2Amarker%3D6766%2Afeatured%3D20138" TargetMode="External"/><Relationship Id="rId3" Type="http://schemas.openxmlformats.org/officeDocument/2006/relationships/slide" Target="slide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7/tomohiro.nagano.pre-treatment.white.matter.changes.on.brain.mri.suggesting.html?f=menu%3D6%2Abrowseby%3D8%2Asortby%3D6%2Amedia%3D3%2Ace_id%3D2934%2Aot_id%3D115601%2Amarker%3D6766%2Afeatured%3D20138" TargetMode="External"/><Relationship Id="rId3" Type="http://schemas.openxmlformats.org/officeDocument/2006/relationships/slide" Target="slide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7/tomohiro.nagano.pre-treatment.white.matter.changes.on.brain.mri.suggesting.html?f=menu%3D6%2Abrowseby%3D8%2Asortby%3D6%2Amedia%3D3%2Ace_id%3D2934%2Aot_id%3D115601%2Amarker%3D6766%2Afeatured%3D20138" TargetMode="External"/><Relationship Id="rId3" Type="http://schemas.openxmlformats.org/officeDocument/2006/relationships/slide" Target="slide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7/shihui.ren.efficacy.of.car-t.cell.therapy.in.double-expressor.tp53-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7/shihui.ren.efficacy.of.car-t.cell.therapy.in.double-expressor.tp53-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5/rebeca.bailen.early.toxicity.of.axicabtagene.ciloleucel.by.line.of.therapy.in.html?f=menu%3D6%2Abrowseby%3D8%2Asortby%3D6%2Amedia%3D3%2Ace_id%3D2934%2Aot_id%3D115576%2Amarker%3D6766%2Afeatured%3D20138" TargetMode="External"/><Relationship Id="rId3" Type="http://schemas.openxmlformats.org/officeDocument/2006/relationships/slide" Target="slide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5/rebeca.bailen.early.toxicity.of.axicabtagene.ciloleucel.by.line.of.therapy.in.html?f=menu%3D6%2Abrowseby%3D8%2Asortby%3D6%2Amedia%3D3%2Ace_id%3D2934%2Aot_id%3D115576%2Amarker%3D6766%2Afeatured%3D20138" TargetMode="External"/><Relationship Id="rId3" Type="http://schemas.openxmlformats.org/officeDocument/2006/relationships/slide" Target="slide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2/catherine.thieblemont.international.expert.consensus.on.real-world.car.t-cell.html?f=menu%3D6%2Abrowseby%3D8%2Asortby%3D6%2Amedia%3D3%2Ace_id%3D2934%2Aot_id%3D115576%2Amarker%3D6766%2Afeatured%3D20138" TargetMode="External"/><Relationship Id="rId3" Type="http://schemas.openxmlformats.org/officeDocument/2006/relationships/slide" Target="slide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2/catherine.thieblemont.international.expert.consensus.on.real-world.car.t-cell.html?f=menu%3D6%2Abrowseby%3D8%2Asortby%3D6%2Amedia%3D3%2Ace_id%3D2934%2Aot_id%3D115576%2Amarker%3D6766%2Afeatured%3D20138" TargetMode="External"/><Relationship Id="rId3" Type="http://schemas.openxmlformats.org/officeDocument/2006/relationships/slide" Target="slide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8/mohamad.sabbah.immune.deficiency.and.infection.risk.following.second.line.html?f=menu%3D6%2Abrowseby%3D8%2Asortby%3D6%2Amedia%3D3%2Ace_id%3D2934%2Aot_id%3D115576%2Amarker%3D6766%2Afeatured%3D20138" TargetMode="External"/><Relationship Id="rId3" Type="http://schemas.openxmlformats.org/officeDocument/2006/relationships/slide" Target="slide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8/mohamad.sabbah.immune.deficiency.and.infection.risk.following.second.line.html?f=menu%3D6%2Abrowseby%3D8%2Asortby%3D6%2Amedia%3D3%2Ace_id%3D2934%2Aot_id%3D115576%2Amarker%3D6766%2Afeatured%3D20138" TargetMode="External"/><Relationship Id="rId3" Type="http://schemas.openxmlformats.org/officeDocument/2006/relationships/slide" Target="slide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4/inna.gong.receipt.of.holding.therapy.is.associated.with.inferior.outcomes.html?f=menu%3D6%2Abrowseby%3D8%2Asortby%3D6%2Amedia%3D3%2Ace_id%3D2934%2Aot_id%3D115576%2Amarker%3D6766%2Afeatured%3D20138" TargetMode="External"/><Relationship Id="rId3" Type="http://schemas.openxmlformats.org/officeDocument/2006/relationships/slide" Target="slide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4/inna.gong.receipt.of.holding.therapy.is.associated.with.inferior.outcomes.html?f=menu%3D6%2Abrowseby%3D8%2Asortby%3D6%2Amedia%3D3%2Ace_id%3D2934%2Aot_id%3D115576%2Amarker%3D6766%2Afeatured%3D20138" TargetMode="External"/><Relationship Id="rId3" Type="http://schemas.openxmlformats.org/officeDocument/2006/relationships/slide" Target="slide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3/javier.munoz.real-world.28rw29.treatment.patterns.and.survival.outcomes.in.html?f=menu%3D6%2Abrowseby%3D8%2Asortby%3D6%2Amedia%3D3%2Ace_id%3D2934%2Aot_id%3D115576%2Amarker%3D6766%2Afeatured%3D20138" TargetMode="External"/><Relationship Id="rId3" Type="http://schemas.openxmlformats.org/officeDocument/2006/relationships/slide" Target="slide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3/javier.munoz.real-world.28rw29.treatment.patterns.and.survival.outcomes.in.html?f=menu%3D6%2Abrowseby%3D8%2Asortby%3D6%2Amedia%3D3%2Ace_id%3D2934%2Aot_id%3D115576%2Amarker%3D6766%2Afeatured%3D20138" TargetMode="External"/><Relationship Id="rId3" Type="http://schemas.openxmlformats.org/officeDocument/2006/relationships/slide" Target="slide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5/filippa.wikstrm.spatial.profiling.of.t.cell.subsets.reveals.distinct.immune.html?f=menu%3D6%2Abrowseby%3D8%2Asortby%3D6%2Amedia%3D3%2Ace_id%3D2934%2Aot_id%3D115595%2Amarker%3D6766%2Afeatured%3D20138" TargetMode="External"/><Relationship Id="rId3" Type="http://schemas.openxmlformats.org/officeDocument/2006/relationships/slide" Target="slide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5/filippa.wikstrm.spatial.profiling.of.t.cell.subsets.reveals.distinct.immune.html?f=menu%3D6%2Abrowseby%3D8%2Asortby%3D6%2Amedia%3D3%2Ace_id%3D2934%2Aot_id%3D115595%2Amarker%3D6766%2Afeatured%3D20138" TargetMode="External"/><Relationship Id="rId3" Type="http://schemas.openxmlformats.org/officeDocument/2006/relationships/slide" Target="slide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8/jia.liu.real-world.efficacy.and.genomic.landscape.of.polatuzuma.vedotin-based.html?f=menu%3D6%2Abrowseby%3D8%2Asortby%3D6%2Amedia%3D3%2Ace_id%3D2934%2Aot_id%3D115576%2Amarker%3D6766%2Afeatured%3D20138" TargetMode="External"/><Relationship Id="rId3" Type="http://schemas.openxmlformats.org/officeDocument/2006/relationships/slide" Target="slide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8/jia.liu.real-world.efficacy.and.genomic.landscape.of.polatuzuma.vedotin-based.html?f=menu%3D6%2Abrowseby%3D8%2Asortby%3D6%2Amedia%3D3%2Ace_id%3D2934%2Aot_id%3D115576%2Amarker%3D6766%2Afeatured%3D20138" TargetMode="External"/><Relationship Id="rId3" Type="http://schemas.openxmlformats.org/officeDocument/2006/relationships/slide" Target="slide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5/ciro.maria.improta.integrated.molecular.and.metabolic.profiling.identifies.html?f=menu%3D6%2Abrowseby%3D8%2Asortby%3D6%2Amedia%3D3%2Ace_id%3D2934%2Aot_id%3D115595%2Amarker%3D6766%2Afeatured%3D20138" TargetMode="External"/><Relationship Id="rId3" Type="http://schemas.openxmlformats.org/officeDocument/2006/relationships/slide" Target="slide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5/ciro.maria.improta.integrated.molecular.and.metabolic.profiling.identifies.html?f=menu%3D6%2Abrowseby%3D8%2Asortby%3D6%2Amedia%3D3%2Ace_id%3D2934%2Aot_id%3D115595%2Amarker%3D6766%2Afeatured%3D20138" TargetMode="External"/><Relationship Id="rId3" Type="http://schemas.openxmlformats.org/officeDocument/2006/relationships/slide" Target="slide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6/li.bao.pola-r-chp.vs.r-epoch.for.frontline.therapy.in.dlbcl.with.extranodal.html?f=menu%3D6%2Abrowseby%3D8%2Asortby%3D6%2Amedia%3D3%2Ace_id%3D2934%2Aot_id%3D115576%2Amarker%3D6766%2Afeatured%3D20138" TargetMode="External"/><Relationship Id="rId3" Type="http://schemas.openxmlformats.org/officeDocument/2006/relationships/slide" Target="slide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6/li.bao.pola-r-chp.vs.r-epoch.for.frontline.therapy.in.dlbcl.with.extranodal.html?f=menu%3D6%2Abrowseby%3D8%2Asortby%3D6%2Amedia%3D3%2Ace_id%3D2934%2Aot_id%3D115576%2Amarker%3D6766%2Afeatured%3D20138" TargetMode="External"/><Relationship Id="rId3" Type="http://schemas.openxmlformats.org/officeDocument/2006/relationships/slide" Target="slide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1/hajime.sakuma.extranodal.metabolic.tumor.volume.identifies.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1/hajime.sakuma.extranodal.metabolic.tumor.volume.identifies.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7/hongyan.tong.risk.factors.for.early.death.and.poor.survival.in.hemophagocytic.html?f=menu%3D6%2Abrowseby%3D8%2Asortby%3D6%2Amedia%3D3%2Ace_id%3D2934%2Aot_id%3D115576%2Amarker%3D6766%2Afeatured%3D20138" TargetMode="External"/><Relationship Id="rId3" Type="http://schemas.openxmlformats.org/officeDocument/2006/relationships/slide" Target="slide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7/hongyan.tong.risk.factors.for.early.death.and.poor.survival.in.hemophagocytic.html?f=menu%3D6%2Abrowseby%3D8%2Asortby%3D6%2Amedia%3D3%2Ace_id%3D2934%2Aot_id%3D115576%2Amarker%3D6766%2Afeatured%3D20138" TargetMode="External"/><Relationship Id="rId3" Type="http://schemas.openxmlformats.org/officeDocument/2006/relationships/slide" Target="slide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5/christina.schniederjohann.spatially.organized.macrophage.phenotypes.define.html?f=menu%3D6%2Abrowseby%3D8%2Asortby%3D6%2Amedia%3D3%2Ace_id%3D2934%2Aot_id%3D115595%2Amarker%3D6766%2Afeatured%3D20138" TargetMode="External"/><Relationship Id="rId3" Type="http://schemas.openxmlformats.org/officeDocument/2006/relationships/slide" Target="slide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5/christina.schniederjohann.spatially.organized.macrophage.phenotypes.define.html?f=menu%3D6%2Abrowseby%3D8%2Asortby%3D6%2Amedia%3D3%2Ace_id%3D2934%2Aot_id%3D115595%2Amarker%3D6766%2Afeatured%3D20138" TargetMode="External"/><Relationship Id="rId3" Type="http://schemas.openxmlformats.org/officeDocument/2006/relationships/slide" Target="slide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9/paw.jensen.impact.ofvincristinedosemodificationsor.html?f=menu%3D6%2Abrowseby%3D8%2Asortby%3D6%2Amedia%3D3%2Ace_id%3D2934%2Aot_id%3D115576%2Amarker%3D6766%2Afeatured%3D20138" TargetMode="External"/><Relationship Id="rId3" Type="http://schemas.openxmlformats.org/officeDocument/2006/relationships/slide" Target="slide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9/paw.jensen.impact.ofvincristinedosemodificationsor.html?f=menu%3D6%2Abrowseby%3D8%2Asortby%3D6%2Amedia%3D3%2Ace_id%3D2934%2Aot_id%3D115576%2Amarker%3D6766%2Afeatured%3D20138" TargetMode="External"/><Relationship Id="rId3" Type="http://schemas.openxmlformats.org/officeDocument/2006/relationships/slide" Target="slide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6/david.j.andorsky.realworld.treatment.patterns.and.outcomes.of.first-line.281l29.html?f=menu%3D6%2Abrowseby%3D8%2Asortby%3D6%2Amedia%3D3%2Ace_id%3D2934%2Aot_id%3D115576%2Amarker%3D6766%2Afeatured%3D20138" TargetMode="External"/><Relationship Id="rId3" Type="http://schemas.openxmlformats.org/officeDocument/2006/relationships/slide" Target="slide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6/david.j.andorsky.realworld.treatment.patterns.and.outcomes.of.first-line.281l29.html?f=menu%3D6%2Abrowseby%3D8%2Asortby%3D6%2Amedia%3D3%2Ace_id%3D2934%2Aot_id%3D115576%2Amarker%3D6766%2Afeatured%3D20138" TargetMode="External"/><Relationship Id="rId3" Type="http://schemas.openxmlformats.org/officeDocument/2006/relationships/slide" Target="slide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8/yingyu.dong.low.expression.of.zfp36l1.predicts.poor.outcomes.and.associates.html?f=menu%3D6%2Abrowseby%3D8%2Asortby%3D6%2Amedia%3D3%2Ace_id%3D2934%2Aot_id%3D115576%2Amarker%3D6766%2Afeatured%3D20138" TargetMode="External"/><Relationship Id="rId3" Type="http://schemas.openxmlformats.org/officeDocument/2006/relationships/slide" Target="slide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8/yingyu.dong.low.expression.of.zfp36l1.predicts.poor.outcomes.and.associates.html?f=menu%3D6%2Abrowseby%3D8%2Asortby%3D6%2Amedia%3D3%2Ace_id%3D2934%2Aot_id%3D115576%2Amarker%3D6766%2Afeatured%3D20138" TargetMode="External"/><Relationship Id="rId3" Type="http://schemas.openxmlformats.org/officeDocument/2006/relationships/slide" Target="slide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2/tom.van.den.bosch.early.outcome.prediction.of.diffuse.large.b-cell.lymphoma.html?f=menu%3D6%2Abrowseby%3D8%2Asortby%3D6%2Amedia%3D3%2Ace_id%3D2934%2Aot_id%3D115595%2Amarker%3D6766%2Afeatured%3D20138" TargetMode="External"/><Relationship Id="rId3" Type="http://schemas.openxmlformats.org/officeDocument/2006/relationships/slide" Target="slide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2/tom.van.den.bosch.early.outcome.prediction.of.diffuse.large.b-cell.lymphoma.html?f=menu%3D6%2Abrowseby%3D8%2Asortby%3D6%2Amedia%3D3%2Ace_id%3D2934%2Aot_id%3D115595%2Amarker%3D6766%2Afeatured%3D20138" TargetMode="External"/><Relationship Id="rId3" Type="http://schemas.openxmlformats.org/officeDocument/2006/relationships/slide" Target="slide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0/natalia.sunarto.outcomes.of.consolidative.radiotherapy.and.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0/natalia.sunarto.outcomes.of.consolidative.radiotherapy.and.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7/silje.post.strm.addition.of.high-dose.methotrexate.to.standard.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7/silje.post.strm.addition.of.high-dose.methotrexate.to.standard.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5/shivam.patel.treatment.access.eliminates.racial.disparities.but.cannot.html?f=menu%3D6%2Abrowseby%3D8%2Asortby%3D6%2Amedia%3D3%2Ace_id%3D2934%2Aot_id%3D115576%2Amarker%3D6766%2Afeatured%3D20138" TargetMode="External"/><Relationship Id="rId3" Type="http://schemas.openxmlformats.org/officeDocument/2006/relationships/slide" Target="slide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5/shivam.patel.treatment.access.eliminates.racial.disparities.but.cannot.html?f=menu%3D6%2Abrowseby%3D8%2Asortby%3D6%2Amedia%3D3%2Ace_id%3D2934%2Aot_id%3D115576%2Amarker%3D6766%2Afeatured%3D20138" TargetMode="External"/><Relationship Id="rId3" Type="http://schemas.openxmlformats.org/officeDocument/2006/relationships/slide" Target="slide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7/henry.kouva.prognostic.value.of.deauville.5-point.scale.assessed.on.pet-ct.html?f=menu%3D6%2Abrowseby%3D8%2Asortby%3D6%2Amedia%3D3%2Ace_id%3D2934%2Aot_id%3D115576%2Amarker%3D6766%2Afeatured%3D20138" TargetMode="External"/><Relationship Id="rId3" Type="http://schemas.openxmlformats.org/officeDocument/2006/relationships/slide" Target="slide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7/henry.kouva.prognostic.value.of.deauville.5-point.scale.assessed.on.pet-ct.html?f=menu%3D6%2Abrowseby%3D8%2Asortby%3D6%2Amedia%3D3%2Ace_id%3D2934%2Aot_id%3D115576%2Amarker%3D6766%2Afeatured%3D20138" TargetMode="External"/><Relationship Id="rId3" Type="http://schemas.openxmlformats.org/officeDocument/2006/relationships/slide" Target="slide2.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2/jinhua.liang.integrated.clinical.and.genetic.scoring.refines.prognosis.in.dark.html?f=menu%3D6%2Abrowseby%3D8%2Asortby%3D6%2Amedia%3D3%2Ace_id%3D2934%2Aot_id%3D115576%2Amarker%3D6765%2Afeatured%3D20138" TargetMode="External"/><Relationship Id="rId3" Type="http://schemas.openxmlformats.org/officeDocument/2006/relationships/slide" Target="slide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2/jinhua.liang.integrated.clinical.and.genetic.scoring.refines.prognosis.in.dark.html?f=menu%3D6%2Abrowseby%3D8%2Asortby%3D6%2Amedia%3D3%2Ace_id%3D2934%2Aot_id%3D115576%2Amarker%3D6765%2Afeatured%3D20138" TargetMode="External"/><Relationship Id="rId3" Type="http://schemas.openxmlformats.org/officeDocument/2006/relationships/slide" Target="slide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0/nick.veltmaat.circulating.tumor.dna.reveals.lymphoma-associated.mutations.long.html?f=menu%3D6%2Abrowseby%3D8%2Asortby%3D6%2Amedia%3D3%2Ace_id%3D2934%2Aot_id%3D115595%2Amarker%3D6765%2Afeatured%3D20138" TargetMode="External"/><Relationship Id="rId3" Type="http://schemas.openxmlformats.org/officeDocument/2006/relationships/slide" Target="slide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0/nick.veltmaat.circulating.tumor.dna.reveals.lymphoma-associated.mutations.long.html?f=menu%3D6%2Abrowseby%3D8%2Asortby%3D6%2Amedia%3D3%2Ace_id%3D2934%2Aot_id%3D115595%2Amarker%3D6765%2Afeatured%3D20138" TargetMode="External"/><Relationship Id="rId3" Type="http://schemas.openxmlformats.org/officeDocument/2006/relationships/slide" Target="slide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7/sarah.elkorashy.the.microbiome-lymphoma.axis.a.systematic.review.and.html?f=menu%3D6%2Abrowseby%3D8%2Asortby%3D6%2Amedia%3D3%2Ace_id%3D2934%2Aot_id%3D115595%2Amarker%3D6766%2Afeatured%3D20138" TargetMode="External"/><Relationship Id="rId3" Type="http://schemas.openxmlformats.org/officeDocument/2006/relationships/slide" Target="slide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7/sarah.elkorashy.the.microbiome-lymphoma.axis.a.systematic.review.and.html?f=menu%3D6%2Abrowseby%3D8%2Asortby%3D6%2Amedia%3D3%2Ace_id%3D2934%2Aot_id%3D115595%2Amarker%3D6766%2Afeatured%3D20138" TargetMode="External"/><Relationship Id="rId3" Type="http://schemas.openxmlformats.org/officeDocument/2006/relationships/slide" Target="slide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9/nikita.kotlov.overlaying.tp53.loss.and.aneuploidy.with.distinct.diffuse.large.html?f=menu%3D6%2Abrowseby%3D8%2Asortby%3D6%2Amedia%3D3%2Ace_id%3D2934%2Aot_id%3D115595%2Amarker%3D6766%2Afeatured%3D20138" TargetMode="External"/><Relationship Id="rId3" Type="http://schemas.openxmlformats.org/officeDocument/2006/relationships/slide" Target="slide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9/nikita.kotlov.overlaying.tp53.loss.and.aneuploidy.with.distinct.diffuse.large.html?f=menu%3D6%2Abrowseby%3D8%2Asortby%3D6%2Amedia%3D3%2Ace_id%3D2934%2Aot_id%3D115595%2Amarker%3D6766%2Afeatured%3D20138" TargetMode="External"/><Relationship Id="rId3" Type="http://schemas.openxmlformats.org/officeDocument/2006/relationships/slide" Target="slide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93/luis.villela.differences.in.outcomes.for.elderly.patients.with.dlbcl.treated.html?f=menu%3D6%2Abrowseby%3D8%2Asortby%3D6%2Amedia%3D3%2Ace_id%3D2934%2Aot_id%3D115596%2Amarker%3D6766%2Afeatured%3D20138" TargetMode="External"/><Relationship Id="rId3" Type="http://schemas.openxmlformats.org/officeDocument/2006/relationships/slide" Target="slide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93/luis.villela.differences.in.outcomes.for.elderly.patients.with.dlbcl.treated.html?f=menu%3D6%2Abrowseby%3D8%2Asortby%3D6%2Amedia%3D3%2Ace_id%3D2934%2Aot_id%3D115596%2Amarker%3D6766%2Afeatured%3D20138" TargetMode="External"/><Relationship Id="rId3" Type="http://schemas.openxmlformats.org/officeDocument/2006/relationships/slide" Target="slide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4/antonios.balantinakis.extranodal.involvement.and.site-specific.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4/antonios.balantinakis.extranodal.involvement.and.site-specific.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7/yoshimasa.kamoda.a.fully.objective.3variable.prognostic.score.for.diffuse.html?f=menu%3D6%2Abrowseby%3D8%2Asortby%3D6%2Amedia%3D3%2Ace_id%3D2934%2Aot_id%3D115576%2Amarker%3D6766%2Afeatured%3D20138" TargetMode="External"/><Relationship Id="rId3" Type="http://schemas.openxmlformats.org/officeDocument/2006/relationships/slide" Target="slide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7/yoshimasa.kamoda.a.fully.objective.3variable.prognostic.score.for.diffuse.html?f=menu%3D6%2Abrowseby%3D8%2Asortby%3D6%2Amedia%3D3%2Ace_id%3D2934%2Aot_id%3D115576%2Amarker%3D6766%2Afeatured%3D20138" TargetMode="External"/><Relationship Id="rId3" Type="http://schemas.openxmlformats.org/officeDocument/2006/relationships/slide" Target="slide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1/junlei.jia.clinical.genetic.and.immune.microenvironmental.landscapes.of.html?f=menu%3D6%2Abrowseby%3D8%2Asortby%3D6%2Amedia%3D3%2Ace_id%3D2934%2Aot_id%3D115596%2Amarker%3D6765%2Afeatured%3D20138" TargetMode="External"/><Relationship Id="rId3" Type="http://schemas.openxmlformats.org/officeDocument/2006/relationships/slide" Target="slide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1/junlei.jia.clinical.genetic.and.immune.microenvironmental.landscapes.of.html?f=menu%3D6%2Abrowseby%3D8%2Asortby%3D6%2Amedia%3D3%2Ace_id%3D2934%2Aot_id%3D115596%2Amarker%3D6765%2Afeatured%3D20138" TargetMode="External"/><Relationship Id="rId3" Type="http://schemas.openxmlformats.org/officeDocument/2006/relationships/slide" Target="slide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3/takahiro.haeno.clonal.complexity.defines.distinct.tumor-intrinsic.biology.and.html?f=menu%3D6%2Abrowseby%3D8%2Asortby%3D6%2Amedia%3D3%2Ace_id%3D2934%2Aot_id%3D115595%2Amarker%3D6766%2Afeatured%3D20138" TargetMode="External"/><Relationship Id="rId3" Type="http://schemas.openxmlformats.org/officeDocument/2006/relationships/slide" Target="slide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3/takahiro.haeno.clonal.complexity.defines.distinct.tumor-intrinsic.biology.and.html?f=menu%3D6%2Abrowseby%3D8%2Asortby%3D6%2Amedia%3D3%2Ace_id%3D2934%2Aot_id%3D115595%2Amarker%3D6766%2Afeatured%3D20138" TargetMode="External"/><Relationship Id="rId3" Type="http://schemas.openxmlformats.org/officeDocument/2006/relationships/slide" Target="slide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3/ariadna.colmenero.genomic.architecture.of.irf4.rearrangements.in.children.and.html?f=menu%3D6%2Abrowseby%3D8%2Asortby%3D6%2Amedia%3D3%2Ace_id%3D2934%2Aot_id%3D115595%2Amarker%3D6766%2Afeatured%3D20138" TargetMode="External"/><Relationship Id="rId3" Type="http://schemas.openxmlformats.org/officeDocument/2006/relationships/slide" Target="slide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3/ariadna.colmenero.genomic.architecture.of.irf4.rearrangements.in.children.and.html?f=menu%3D6%2Abrowseby%3D8%2Asortby%3D6%2Amedia%3D3%2Ace_id%3D2934%2Aot_id%3D115595%2Amarker%3D6766%2Afeatured%3D20138" TargetMode="External"/><Relationship Id="rId3" Type="http://schemas.openxmlformats.org/officeDocument/2006/relationships/slide" Target="slide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0/tom.van.den.bosch.chromosome.8q.copy.number.gain.predicts.early.relapse.in.html?f=menu%3D6%2Abrowseby%3D8%2Asortby%3D6%2Amedia%3D3%2Ace_id%3D2934%2Aot_id%3D115595%2Amarker%3D6766%2Afeatured%3D20138" TargetMode="External"/><Relationship Id="rId3" Type="http://schemas.openxmlformats.org/officeDocument/2006/relationships/slide" Target="slide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0/tom.van.den.bosch.chromosome.8q.copy.number.gain.predicts.early.relapse.in.html?f=menu%3D6%2Abrowseby%3D8%2Asortby%3D6%2Amedia%3D3%2Ace_id%3D2934%2Aot_id%3D115595%2Amarker%3D6766%2Afeatured%3D20138" TargetMode="External"/><Relationship Id="rId3" Type="http://schemas.openxmlformats.org/officeDocument/2006/relationships/slide" Target="slide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5/shaoying.li.the.clinical.significance.of.myc.bcl6.fusion.in.myc.bcl6.double.html?f=menu%3D6%2Abrowseby%3D8%2Asortby%3D6%2Amedia%3D3%2Ace_id%3D2934%2Aot_id%3D115576%2Amarker%3D6766%2Afeatured%3D20138" TargetMode="External"/><Relationship Id="rId3" Type="http://schemas.openxmlformats.org/officeDocument/2006/relationships/slide" Target="slide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5/shaoying.li.the.clinical.significance.of.myc.bcl6.fusion.in.myc.bcl6.double.html?f=menu%3D6%2Abrowseby%3D8%2Asortby%3D6%2Amedia%3D3%2Ace_id%3D2934%2Aot_id%3D115576%2Amarker%3D6766%2Afeatured%3D20138" TargetMode="External"/><Relationship Id="rId3" Type="http://schemas.openxmlformats.org/officeDocument/2006/relationships/slide" Target="slide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64/william.mlgaard.ullahammer.temporal.trends.in.infection-related.proportional.html?f=menu%3D6%2Abrowseby%3D8%2Asortby%3D6%2Amedia%3D3%2Ace_id%3D2934%2Aot_id%3D115606%2Amarker%3D6765%2Afeatured%3D20138" TargetMode="External"/><Relationship Id="rId3" Type="http://schemas.openxmlformats.org/officeDocument/2006/relationships/slide" Target="slide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64/william.mlgaard.ullahammer.temporal.trends.in.infection-related.proportional.html?f=menu%3D6%2Abrowseby%3D8%2Asortby%3D6%2Amedia%3D3%2Ace_id%3D2934%2Aot_id%3D115606%2Amarker%3D6765%2Afeatured%3D20138" TargetMode="External"/><Relationship Id="rId3" Type="http://schemas.openxmlformats.org/officeDocument/2006/relationships/slide" Target="slide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4/federico.erbella.allogeneic.hematopoietic.stem.cell.transplant.as.html?f=menu%3D6%2Abrowseby%3D8%2Asortby%3D6%2Amedia%3D3%2Ace_id%3D2934%2Aot_id%3D115576%2Amarker%3D6766%2Afeatured%3D20138" TargetMode="External"/><Relationship Id="rId3" Type="http://schemas.openxmlformats.org/officeDocument/2006/relationships/slide" Target="slide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4/federico.erbella.allogeneic.hematopoietic.stem.cell.transplant.as.html?f=menu%3D6%2Abrowseby%3D8%2Asortby%3D6%2Amedia%3D3%2Ace_id%3D2934%2Aot_id%3D115576%2Amarker%3D6766%2Afeatured%3D20138" TargetMode="External"/><Relationship Id="rId3" Type="http://schemas.openxmlformats.org/officeDocument/2006/relationships/slide" Target="slide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02/kuan-der.lee.cost-effectiveness.of.axicabtagene.ciloleucel.in.taiwanese.html?f=menu%3D6%2Abrowseby%3D8%2Asortby%3D6%2Amedia%3D3%2Ace_id%3D2934%2Aot_id%3D115611%2Amarker%3D6766%2Afeatured%3D20138" TargetMode="External"/><Relationship Id="rId3" Type="http://schemas.openxmlformats.org/officeDocument/2006/relationships/slide" Target="slide2.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02/kuan-der.lee.cost-effectiveness.of.axicabtagene.ciloleucel.in.taiwanese.html?f=menu%3D6%2Abrowseby%3D8%2Asortby%3D6%2Amedia%3D3%2Ace_id%3D2934%2Aot_id%3D115611%2Amarker%3D6766%2Afeatured%3D20138" TargetMode="External"/><Relationship Id="rId3" Type="http://schemas.openxmlformats.org/officeDocument/2006/relationships/slide" Target="slide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8/giuseppe.gritti.risk.for.cytokine.release.syndrome.in.patients.with.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8/giuseppe.gritti.risk.for.cytokine.release.syndrome.in.patients.with.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4/xia.zhao.high.proportion.of.intratumoral.tcf12B.t-cells.predicts.favorable.html?f=menu%3D6%2Abrowseby%3D8%2Asortby%3D6%2Amedia%3D3%2Ace_id%3D2934%2Aot_id%3D115576%2Amarker%3D6766%2Afeatured%3D20138" TargetMode="External"/><Relationship Id="rId3" Type="http://schemas.openxmlformats.org/officeDocument/2006/relationships/slide" Target="slide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4/xia.zhao.high.proportion.of.intratumoral.tcf12B.t-cells.predicts.favorable.html?f=menu%3D6%2Abrowseby%3D8%2Asortby%3D6%2Amedia%3D3%2Ace_id%3D2934%2Aot_id%3D115576%2Amarker%3D6766%2Afeatured%3D20138" TargetMode="External"/><Relationship Id="rId3" Type="http://schemas.openxmlformats.org/officeDocument/2006/relationships/slide" Target="slide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1/yasuhiro.suzuki.clinical.and.biological.characteristics.of.mature.aggressive.html?f=menu%3D6%2Abrowseby%3D8%2Asortby%3D6%2Amedia%3D3%2Ace_id%3D2934%2Aot_id%3D115595%2Amarker%3D6766%2Afeatured%3D20138" TargetMode="External"/><Relationship Id="rId3" Type="http://schemas.openxmlformats.org/officeDocument/2006/relationships/slide" Target="slide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1/yasuhiro.suzuki.clinical.and.biological.characteristics.of.mature.aggressive.html?f=menu%3D6%2Abrowseby%3D8%2Asortby%3D6%2Amedia%3D3%2Ace_id%3D2934%2Aot_id%3D115595%2Amarker%3D6766%2Afeatured%3D20138" TargetMode="External"/><Relationship Id="rId3" Type="http://schemas.openxmlformats.org/officeDocument/2006/relationships/slide" Target="slide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5/kayleen.shi.going.for.seconds.clinical.outcomes.and.response.predictors.html?f=menu%3D6%2Abrowseby%3D8%2Asortby%3D6%2Amedia%3D3%2Ace_id%3D2934%2Aot_id%3D115601%2Amarker%3D6766%2Afeatured%3D20138" TargetMode="External"/><Relationship Id="rId3" Type="http://schemas.openxmlformats.org/officeDocument/2006/relationships/slide" Target="slide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5/kayleen.shi.going.for.seconds.clinical.outcomes.and.response.predictors.html?f=menu%3D6%2Abrowseby%3D8%2Asortby%3D6%2Amedia%3D3%2Ace_id%3D2934%2Aot_id%3D115601%2Amarker%3D6766%2Afeatured%3D20138" TargetMode="External"/><Relationship Id="rId3" Type="http://schemas.openxmlformats.org/officeDocument/2006/relationships/slide" Target="slide2.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9/allison.bock.impact.of.baseline.neutrophil-to-lymphocyte.ratio.28nlr29.on.html?f=menu%3D6%2Abrowseby%3D8%2Asortby%3D6%2Amedia%3D3%2Ace_id%3D2934%2Aot_id%3D115576%2Amarker%3D6766%2Afeatured%3D20138" TargetMode="External"/><Relationship Id="rId3" Type="http://schemas.openxmlformats.org/officeDocument/2006/relationships/slide" Target="slide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9/allison.bock.impact.of.baseline.neutrophil-to-lymphocyte.ratio.28nlr29.on.html?f=menu%3D6%2Abrowseby%3D8%2Asortby%3D6%2Amedia%3D3%2Ace_id%3D2934%2Aot_id%3D115576%2Amarker%3D6766%2Afeatured%3D20138" TargetMode="External"/><Relationship Id="rId3" Type="http://schemas.openxmlformats.org/officeDocument/2006/relationships/slide" Target="slide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6/kristina.noring.infection.rates.in.patients.treated.with.car-t.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6/kristina.noring.infection.rates.in.patients.treated.with.car-t.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5/thomas.melchardt.real-world.outcomes.of.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5/thomas.melchardt.real-world.outcomes.of.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4/liang.wang.secondary.peripheral.t-cell.lymphoma.in.a.patient.of.dlbcl.html?f=menu%3D6%2Abrowseby%3D8%2Asortby%3D6%2Amedia%3D3%2Ace_id%3D2934%2Aot_id%3D115601%2Amarker%3D6766%2Afeatured%3D20138" TargetMode="External"/><Relationship Id="rId3" Type="http://schemas.openxmlformats.org/officeDocument/2006/relationships/slide" Target="slide2.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4/liang.wang.secondary.peripheral.t-cell.lymphoma.in.a.patient.of.dlbcl.html?f=menu%3D6%2Abrowseby%3D8%2Asortby%3D6%2Amedia%3D3%2Ace_id%3D2934%2Aot_id%3D115601%2Amarker%3D6766%2Afeatured%3D20138" TargetMode="External"/><Relationship Id="rId3" Type="http://schemas.openxmlformats.org/officeDocument/2006/relationships/slide" Target="slide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3/nicole-ann.lim.real-world.asian.multi-centre.cohort.study.on.outcomes.of.html?f=menu%3D6%2Abrowseby%3D8%2Asortby%3D6%2Amedia%3D3%2Ace_id%3D2934%2Aot_id%3D115576%2Amarker%3D6766%2Afeatured%3D20138" TargetMode="External"/><Relationship Id="rId3" Type="http://schemas.openxmlformats.org/officeDocument/2006/relationships/slide" Target="slide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3/nicole-ann.lim.real-world.asian.multi-centre.cohort.study.on.outcomes.of.html?f=menu%3D6%2Abrowseby%3D8%2Asortby%3D6%2Amedia%3D3%2Ace_id%3D2934%2Aot_id%3D115576%2Amarker%3D6766%2Afeatured%3D20138" TargetMode="External"/><Relationship Id="rId3" Type="http://schemas.openxmlformats.org/officeDocument/2006/relationships/slide" Target="slide2.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2/xinzhu.tang.development.of.a.prognostic.model.incorporating.plasma.ebv-dna.html?f=menu%3D6%2Abrowseby%3D8%2Asortby%3D6%2Amedia%3D3%2Ace_id%3D2934%2Aot_id%3D115576%2Amarker%3D6766%2Afeatured%3D20138" TargetMode="External"/><Relationship Id="rId3" Type="http://schemas.openxmlformats.org/officeDocument/2006/relationships/slide" Target="slide2.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2/xinzhu.tang.development.of.a.prognostic.model.incorporating.plasma.ebv-dna.html?f=menu%3D6%2Abrowseby%3D8%2Asortby%3D6%2Amedia%3D3%2Ace_id%3D2934%2Aot_id%3D115576%2Amarker%3D6766%2Afeatured%3D20138" TargetMode="External"/><Relationship Id="rId3" Type="http://schemas.openxmlformats.org/officeDocument/2006/relationships/slide" Target="slide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4/he.huang.the.real-world.efficacy.ofbrutons.tyrosine.kinaseinhibitors.plus.html?f=menu%3D6%2Abrowseby%3D8%2Asortby%3D6%2Amedia%3D3%2Ace_id%3D2934%2Aot_id%3D115596%2Amarker%3D6766%2Afeatured%3D20138" TargetMode="External"/><Relationship Id="rId3" Type="http://schemas.openxmlformats.org/officeDocument/2006/relationships/slide" Target="slide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4/he.huang.the.real-world.efficacy.ofbrutons.tyrosine.kinaseinhibitors.plus.html?f=menu%3D6%2Abrowseby%3D8%2Asortby%3D6%2Amedia%3D3%2Ace_id%3D2934%2Aot_id%3D115596%2Amarker%3D6766%2Afeatured%3D20138" TargetMode="External"/><Relationship Id="rId3" Type="http://schemas.openxmlformats.org/officeDocument/2006/relationships/slide" Target="slide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36/rosa.rios.facility-level.differences.translate.into.lives.lost.elderly.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36/rosa.rios.facility-level.differences.translate.into.lives.lost.elderly.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4/fleur.de.groot.brain-lym.defining.immune-molecular.phenotypes.in.primary.cns.html?f=menu%3D6%2Abrowseby%3D8%2Asortby%3D6%2Amedia%3D3%2Ace_id%3D2934%2Aot_id%3D115595%2Amarker%3D6765%2Afeatured%3D20138" TargetMode="External"/><Relationship Id="rId3" Type="http://schemas.openxmlformats.org/officeDocument/2006/relationships/slide" Target="slide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4/fleur.de.groot.brain-lym.defining.immune-molecular.phenotypes.in.primary.cns.html?f=menu%3D6%2Abrowseby%3D8%2Asortby%3D6%2Amedia%3D3%2Ace_id%3D2934%2Aot_id%3D115595%2Amarker%3D6765%2Afeatured%3D20138" TargetMode="External"/><Relationship Id="rId3" Type="http://schemas.openxmlformats.org/officeDocument/2006/relationships/slide" Target="slide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86/xudong.zhang.autologous.hematopoietic.stem.cell.transplantation.combined.with.html?f=menu%3D6%2Abrowseby%3D8%2Asortby%3D6%2Amedia%3D3%2Ace_id%3D2934%2Aot_id%3D115598%2Amarker%3D6766%2Afeatured%3D20138" TargetMode="External"/><Relationship Id="rId3" Type="http://schemas.openxmlformats.org/officeDocument/2006/relationships/slide" Target="slide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86/xudong.zhang.autologous.hematopoietic.stem.cell.transplantation.combined.with.html?f=menu%3D6%2Abrowseby%3D8%2Asortby%3D6%2Amedia%3D3%2Ace_id%3D2934%2Aot_id%3D115598%2Amarker%3D6766%2Afeatured%3D20138" TargetMode="External"/><Relationship Id="rId3" Type="http://schemas.openxmlformats.org/officeDocument/2006/relationships/slide" Target="slide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3/lin.fu.glofitamab.monotherapy.or.combination.therapy.in.patients.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3/lin.fu.glofitamab.monotherapy.or.combination.therapy.in.patients.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0/yupiao.feng.development.and.validation.of.a.clinicopathological.prognostic.html?f=menu%3D6%2Abrowseby%3D8%2Asortby%3D6%2Amedia%3D3%2Ace_id%3D2934%2Aot_id%3D115576%2Amarker%3D6766%2Afeatured%3D20138" TargetMode="External"/><Relationship Id="rId3" Type="http://schemas.openxmlformats.org/officeDocument/2006/relationships/slide" Target="slide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0/yupiao.feng.development.and.validation.of.a.clinicopathological.prognostic.html?f=menu%3D6%2Abrowseby%3D8%2Asortby%3D6%2Amedia%3D3%2Ace_id%3D2934%2Aot_id%3D115576%2Amarker%3D6766%2Afeatured%3D20138" TargetMode="External"/><Relationship Id="rId3" Type="http://schemas.openxmlformats.org/officeDocument/2006/relationships/slide" Target="slide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9/lena-marie.poczka.flow.cytometry.of.vitrectomy.samples.as.a.diagnostic.tool.in.html?f=menu%3D6%2Abrowseby%3D8%2Asortby%3D6%2Amedia%3D3%2Ace_id%3D2934%2Aot_id%3D115576%2Amarker%3D6766%2Afeatured%3D20138" TargetMode="External"/><Relationship Id="rId3" Type="http://schemas.openxmlformats.org/officeDocument/2006/relationships/slide" Target="slide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9/lena-marie.poczka.flow.cytometry.of.vitrectomy.samples.as.a.diagnostic.tool.in.html?f=menu%3D6%2Abrowseby%3D8%2Asortby%3D6%2Amedia%3D3%2Ace_id%3D2934%2Aot_id%3D115576%2Amarker%3D6766%2Afeatured%3D20138" TargetMode="External"/><Relationship Id="rId3" Type="http://schemas.openxmlformats.org/officeDocument/2006/relationships/slide" Target="slide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65/bor-sheng.ko.cost-effectiveness.of.axicabtagene.ciloleucel.for.treating.html?f=menu%3D6%2Abrowseby%3D8%2Asortby%3D6%2Amedia%3D3%2Ace_id%3D2934%2Aot_id%3D115611%2Amarker%3D6766%2Afeatured%3D20138" TargetMode="External"/><Relationship Id="rId3" Type="http://schemas.openxmlformats.org/officeDocument/2006/relationships/slide" Target="slide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65/bor-sheng.ko.cost-effectiveness.of.axicabtagene.ciloleucel.for.treating.html?f=menu%3D6%2Abrowseby%3D8%2Asortby%3D6%2Amedia%3D3%2Ace_id%3D2934%2Aot_id%3D115611%2Amarker%3D6766%2Afeatured%3D20138" TargetMode="Externa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66928"/>
            <a:ext cx="18288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1100" b="1">
                <a:solidFill>
                  <a:srgbClr val="FFFFFF"/>
                </a:solidFill>
                <a:latin typeface="Microsoft YaHei"/>
              </a:rPr>
              <a:t>EHA 2026</a:t>
            </a:r>
          </a:p>
        </p:txBody>
      </p:sp>
      <p:sp>
        <p:nvSpPr>
          <p:cNvPr id="3" name="TextBox 2"/>
          <p:cNvSpPr txBox="1"/>
          <p:nvPr/>
        </p:nvSpPr>
        <p:spPr>
          <a:xfrm>
            <a:off x="640080" y="1078992"/>
            <a:ext cx="9966960" cy="658368"/>
          </a:xfrm>
          <a:prstGeom prst="rect">
            <a:avLst/>
          </a:prstGeom>
          <a:noFill/>
        </p:spPr>
        <p:txBody>
          <a:bodyPr wrap="square" lIns="73152" rIns="73152" tIns="36576" bIns="36576" anchor="t">
            <a:normAutofit/>
          </a:bodyPr>
          <a:lstStyle/>
          <a:p>
            <a:pPr algn="l"/>
            <a:r>
              <a:rPr sz="2500" b="1">
                <a:solidFill>
                  <a:srgbClr val="21242A"/>
                </a:solidFill>
                <a:latin typeface="Microsoft YaHei"/>
              </a:rPr>
              <a:t>DLBCL/LBCL 与 CNSL 临床研究分层清单</a:t>
            </a:r>
          </a:p>
        </p:txBody>
      </p:sp>
      <p:sp>
        <p:nvSpPr>
          <p:cNvPr id="4" name="TextBox 3"/>
          <p:cNvSpPr txBox="1"/>
          <p:nvPr/>
        </p:nvSpPr>
        <p:spPr>
          <a:xfrm>
            <a:off x="676656" y="1874519"/>
            <a:ext cx="9875520" cy="384048"/>
          </a:xfrm>
          <a:prstGeom prst="rect">
            <a:avLst/>
          </a:prstGeom>
          <a:noFill/>
        </p:spPr>
        <p:txBody>
          <a:bodyPr wrap="square" lIns="73152" rIns="73152" tIns="36576" bIns="36576" anchor="t">
            <a:normAutofit/>
          </a:bodyPr>
          <a:lstStyle/>
          <a:p>
            <a:pPr algn="l"/>
            <a:r>
              <a:rPr sz="1200" b="0">
                <a:solidFill>
                  <a:srgbClr val="5E6570"/>
                </a:solidFill>
                <a:latin typeface="Microsoft YaHei"/>
              </a:rPr>
              <a:t>已去掉基础研究、动物研究和非目标病种研究；按研究类型、疾病场景、药物/技术类别重新组织。</a:t>
            </a:r>
          </a:p>
        </p:txBody>
      </p:sp>
      <p:sp>
        <p:nvSpPr>
          <p:cNvPr id="5" name="Rectangle 4"/>
          <p:cNvSpPr/>
          <p:nvPr/>
        </p:nvSpPr>
        <p:spPr>
          <a:xfrm>
            <a:off x="7132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26080"/>
            <a:ext cx="1920240" cy="237744"/>
          </a:xfrm>
          <a:prstGeom prst="rect">
            <a:avLst/>
          </a:prstGeom>
          <a:noFill/>
        </p:spPr>
        <p:txBody>
          <a:bodyPr wrap="square" lIns="73152" rIns="73152" tIns="36576" bIns="36576" anchor="t">
            <a:normAutofit/>
          </a:bodyPr>
          <a:lstStyle/>
          <a:p>
            <a:pPr algn="l"/>
            <a:r>
              <a:rPr sz="2200" b="1">
                <a:solidFill>
                  <a:srgbClr val="C5362D"/>
                </a:solidFill>
                <a:latin typeface="Microsoft YaHei"/>
              </a:rPr>
              <a:t>187</a:t>
            </a:r>
          </a:p>
        </p:txBody>
      </p:sp>
      <p:sp>
        <p:nvSpPr>
          <p:cNvPr id="7" name="TextBox 6"/>
          <p:cNvSpPr txBox="1"/>
          <p:nvPr/>
        </p:nvSpPr>
        <p:spPr>
          <a:xfrm>
            <a:off x="8595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研究总数</a:t>
            </a:r>
          </a:p>
        </p:txBody>
      </p:sp>
      <p:sp>
        <p:nvSpPr>
          <p:cNvPr id="8" name="Rectangle 7"/>
          <p:cNvSpPr/>
          <p:nvPr/>
        </p:nvSpPr>
        <p:spPr>
          <a:xfrm>
            <a:off x="34564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2736" y="2926080"/>
            <a:ext cx="1920240" cy="237744"/>
          </a:xfrm>
          <a:prstGeom prst="rect">
            <a:avLst/>
          </a:prstGeom>
          <a:noFill/>
        </p:spPr>
        <p:txBody>
          <a:bodyPr wrap="square" lIns="73152" rIns="73152" tIns="36576" bIns="36576" anchor="t">
            <a:normAutofit/>
          </a:bodyPr>
          <a:lstStyle/>
          <a:p>
            <a:pPr algn="l"/>
            <a:r>
              <a:rPr sz="2200" b="1">
                <a:solidFill>
                  <a:srgbClr val="265E8F"/>
                </a:solidFill>
                <a:latin typeface="Microsoft YaHei"/>
              </a:rPr>
              <a:t>162</a:t>
            </a:r>
          </a:p>
        </p:txBody>
      </p:sp>
      <p:sp>
        <p:nvSpPr>
          <p:cNvPr id="10" name="TextBox 9"/>
          <p:cNvSpPr txBox="1"/>
          <p:nvPr/>
        </p:nvSpPr>
        <p:spPr>
          <a:xfrm>
            <a:off x="36027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DLBCL/LBCL</a:t>
            </a:r>
          </a:p>
        </p:txBody>
      </p:sp>
      <p:sp>
        <p:nvSpPr>
          <p:cNvPr id="11" name="Rectangle 10"/>
          <p:cNvSpPr/>
          <p:nvPr/>
        </p:nvSpPr>
        <p:spPr>
          <a:xfrm>
            <a:off x="61996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5936" y="2926080"/>
            <a:ext cx="1920240" cy="237744"/>
          </a:xfrm>
          <a:prstGeom prst="rect">
            <a:avLst/>
          </a:prstGeom>
          <a:noFill/>
        </p:spPr>
        <p:txBody>
          <a:bodyPr wrap="square" lIns="73152" rIns="73152" tIns="36576" bIns="36576" anchor="t">
            <a:normAutofit/>
          </a:bodyPr>
          <a:lstStyle/>
          <a:p>
            <a:pPr algn="l"/>
            <a:r>
              <a:rPr sz="2200" b="1">
                <a:solidFill>
                  <a:srgbClr val="2A795B"/>
                </a:solidFill>
                <a:latin typeface="Microsoft YaHei"/>
              </a:rPr>
              <a:t>25</a:t>
            </a:r>
          </a:p>
        </p:txBody>
      </p:sp>
      <p:sp>
        <p:nvSpPr>
          <p:cNvPr id="13" name="TextBox 12"/>
          <p:cNvSpPr txBox="1"/>
          <p:nvPr/>
        </p:nvSpPr>
        <p:spPr>
          <a:xfrm>
            <a:off x="63459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CNSL</a:t>
            </a:r>
          </a:p>
        </p:txBody>
      </p:sp>
      <p:sp>
        <p:nvSpPr>
          <p:cNvPr id="14" name="Rectangle 13"/>
          <p:cNvSpPr/>
          <p:nvPr/>
        </p:nvSpPr>
        <p:spPr>
          <a:xfrm>
            <a:off x="89428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89136" y="2926080"/>
            <a:ext cx="1920240" cy="237744"/>
          </a:xfrm>
          <a:prstGeom prst="rect">
            <a:avLst/>
          </a:prstGeom>
          <a:noFill/>
        </p:spPr>
        <p:txBody>
          <a:bodyPr wrap="square" lIns="73152" rIns="73152" tIns="36576" bIns="36576" anchor="t">
            <a:normAutofit/>
          </a:bodyPr>
          <a:lstStyle/>
          <a:p>
            <a:pPr algn="l"/>
            <a:r>
              <a:rPr sz="2200" b="1">
                <a:solidFill>
                  <a:srgbClr val="EC8832"/>
                </a:solidFill>
                <a:latin typeface="Microsoft YaHei"/>
              </a:rPr>
              <a:t>187</a:t>
            </a:r>
          </a:p>
        </p:txBody>
      </p:sp>
      <p:sp>
        <p:nvSpPr>
          <p:cNvPr id="16" name="TextBox 15"/>
          <p:cNvSpPr txBox="1"/>
          <p:nvPr/>
        </p:nvSpPr>
        <p:spPr>
          <a:xfrm>
            <a:off x="90891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已打开核对EHA链接</a:t>
            </a:r>
          </a:p>
        </p:txBody>
      </p:sp>
      <p:sp>
        <p:nvSpPr>
          <p:cNvPr id="17" name="Rectangle 16"/>
          <p:cNvSpPr/>
          <p:nvPr/>
        </p:nvSpPr>
        <p:spPr>
          <a:xfrm>
            <a:off x="713232" y="4343400"/>
            <a:ext cx="10652760" cy="768096"/>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4498848"/>
            <a:ext cx="10241280" cy="411480"/>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已排除基础/动物研究：39项；已排除非目标病种研究：20项。</a:t>
            </a:r>
          </a:p>
          <a:p>
            <a:pPr>
              <a:lnSpc>
                <a:spcPct val="103000"/>
              </a:lnSpc>
              <a:spcAft>
                <a:spcPts val="300"/>
              </a:spcAft>
              <a:defRPr sz="819">
                <a:solidFill>
                  <a:srgbClr val="21242A"/>
                </a:solidFill>
                <a:latin typeface="Microsoft YaHei"/>
              </a:defRPr>
            </a:pPr>
            <a:r>
              <a:t>当前仅保留 DLBCL/LBCL 与 CNSL 相关临床研究；结果页以原表中文结果为准。</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20040"/>
            <a:ext cx="9875520" cy="384048"/>
          </a:xfrm>
          <a:prstGeom prst="rect">
            <a:avLst/>
          </a:prstGeom>
          <a:noFill/>
        </p:spPr>
        <p:txBody>
          <a:bodyPr wrap="square" lIns="73152" rIns="73152" tIns="36576" bIns="36576" anchor="t">
            <a:normAutofit/>
          </a:bodyPr>
          <a:lstStyle/>
          <a:p>
            <a:pPr algn="l"/>
            <a:r>
              <a:rPr sz="2000" b="1">
                <a:solidFill>
                  <a:srgbClr val="21242A"/>
                </a:solidFill>
                <a:latin typeface="Microsoft YaHei"/>
              </a:rPr>
              <a:t>总目录：按研究类型进入</a:t>
            </a:r>
          </a:p>
        </p:txBody>
      </p:sp>
      <p:sp>
        <p:nvSpPr>
          <p:cNvPr id="3" name="TextBox 2"/>
          <p:cNvSpPr txBox="1"/>
          <p:nvPr/>
        </p:nvSpPr>
        <p:spPr>
          <a:xfrm>
            <a:off x="548640" y="804672"/>
            <a:ext cx="9875520" cy="219456"/>
          </a:xfrm>
          <a:prstGeom prst="rect">
            <a:avLst/>
          </a:prstGeom>
          <a:noFill/>
        </p:spPr>
        <p:txBody>
          <a:bodyPr wrap="square" lIns="73152" rIns="73152" tIns="36576" bIns="36576" anchor="t">
            <a:normAutofit/>
          </a:bodyPr>
          <a:lstStyle/>
          <a:p>
            <a:pPr algn="l"/>
            <a:r>
              <a:rPr sz="850" b="0">
                <a:solidFill>
                  <a:srgbClr val="5E6570"/>
                </a:solidFill>
                <a:latin typeface="Microsoft YaHei"/>
              </a:rPr>
              <a:t>当前版本已排除基础/动物研究，保留前瞻、回顾、病例和经济学等临床相关研究。</a:t>
            </a:r>
          </a:p>
        </p:txBody>
      </p:sp>
      <p:sp>
        <p:nvSpPr>
          <p:cNvPr id="4" name="Rounded Rectangle 3">
            <a:hlinkClick action="ppaction://hlinksldjump" r:id="rId2"/>
          </p:cNvPr>
          <p:cNvSpPr/>
          <p:nvPr/>
        </p:nvSpPr>
        <p:spPr>
          <a:xfrm>
            <a:off x="594360"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action="ppaction://hlinksldjump" r:id="rId2"/>
          </p:cNvPr>
          <p:cNvSpPr/>
          <p:nvPr/>
        </p:nvSpPr>
        <p:spPr>
          <a:xfrm>
            <a:off x="594360" y="1325880"/>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2"/>
          </p:cNvPr>
          <p:cNvSpPr txBox="1"/>
          <p:nvPr/>
        </p:nvSpPr>
        <p:spPr>
          <a:xfrm>
            <a:off x="777240"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前瞻性临床试验</a:t>
            </a:r>
          </a:p>
        </p:txBody>
      </p:sp>
      <p:sp>
        <p:nvSpPr>
          <p:cNvPr id="7" name="TextBox 6">
            <a:hlinkClick action="ppaction://hlinksldjump" r:id="rId2"/>
          </p:cNvPr>
          <p:cNvSpPr txBox="1"/>
          <p:nvPr/>
        </p:nvSpPr>
        <p:spPr>
          <a:xfrm>
            <a:off x="777240"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点击进入该研究类型章节</a:t>
            </a:r>
          </a:p>
        </p:txBody>
      </p:sp>
      <p:sp>
        <p:nvSpPr>
          <p:cNvPr id="8" name="TextBox 7">
            <a:hlinkClick action="ppaction://hlinksldjump" r:id="rId2"/>
          </p:cNvPr>
          <p:cNvSpPr txBox="1"/>
          <p:nvPr/>
        </p:nvSpPr>
        <p:spPr>
          <a:xfrm>
            <a:off x="3172968" y="1810512"/>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105项</a:t>
            </a:r>
          </a:p>
        </p:txBody>
      </p:sp>
      <p:sp>
        <p:nvSpPr>
          <p:cNvPr id="9" name="Rounded Rectangle 8">
            <a:hlinkClick action="ppaction://hlinksldjump" r:id="rId3"/>
          </p:cNvPr>
          <p:cNvSpPr/>
          <p:nvPr/>
        </p:nvSpPr>
        <p:spPr>
          <a:xfrm>
            <a:off x="4325112"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3"/>
          </p:cNvPr>
          <p:cNvSpPr/>
          <p:nvPr/>
        </p:nvSpPr>
        <p:spPr>
          <a:xfrm>
            <a:off x="4325112" y="1325880"/>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a:hlinkClick action="ppaction://hlinksldjump" r:id="rId3"/>
          </p:cNvPr>
          <p:cNvSpPr txBox="1"/>
          <p:nvPr/>
        </p:nvSpPr>
        <p:spPr>
          <a:xfrm>
            <a:off x="4507992"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回顾性/真实世界研究</a:t>
            </a:r>
          </a:p>
        </p:txBody>
      </p:sp>
      <p:sp>
        <p:nvSpPr>
          <p:cNvPr id="12" name="TextBox 11">
            <a:hlinkClick action="ppaction://hlinksldjump" r:id="rId3"/>
          </p:cNvPr>
          <p:cNvSpPr txBox="1"/>
          <p:nvPr/>
        </p:nvSpPr>
        <p:spPr>
          <a:xfrm>
            <a:off x="4507992"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点击进入该研究类型章节</a:t>
            </a:r>
          </a:p>
        </p:txBody>
      </p:sp>
      <p:sp>
        <p:nvSpPr>
          <p:cNvPr id="13" name="TextBox 12">
            <a:hlinkClick action="ppaction://hlinksldjump" r:id="rId3"/>
          </p:cNvPr>
          <p:cNvSpPr txBox="1"/>
          <p:nvPr/>
        </p:nvSpPr>
        <p:spPr>
          <a:xfrm>
            <a:off x="6903720" y="1810512"/>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81项</a:t>
            </a:r>
          </a:p>
        </p:txBody>
      </p:sp>
      <p:sp>
        <p:nvSpPr>
          <p:cNvPr id="14" name="Rounded Rectangle 13">
            <a:hlinkClick action="ppaction://hlinksldjump" r:id="rId4"/>
          </p:cNvPr>
          <p:cNvSpPr/>
          <p:nvPr/>
        </p:nvSpPr>
        <p:spPr>
          <a:xfrm>
            <a:off x="8055864"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a:hlinkClick action="ppaction://hlinksldjump" r:id="rId4"/>
          </p:cNvPr>
          <p:cNvSpPr/>
          <p:nvPr/>
        </p:nvSpPr>
        <p:spPr>
          <a:xfrm>
            <a:off x="8055864" y="1325880"/>
            <a:ext cx="91440" cy="786384"/>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action="ppaction://hlinksldjump" r:id="rId4"/>
          </p:cNvPr>
          <p:cNvSpPr txBox="1"/>
          <p:nvPr/>
        </p:nvSpPr>
        <p:spPr>
          <a:xfrm>
            <a:off x="8238744"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卫生经济/模型研究</a:t>
            </a:r>
          </a:p>
        </p:txBody>
      </p:sp>
      <p:sp>
        <p:nvSpPr>
          <p:cNvPr id="17" name="TextBox 16">
            <a:hlinkClick action="ppaction://hlinksldjump" r:id="rId4"/>
          </p:cNvPr>
          <p:cNvSpPr txBox="1"/>
          <p:nvPr/>
        </p:nvSpPr>
        <p:spPr>
          <a:xfrm>
            <a:off x="8238744"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点击进入该研究类型章节</a:t>
            </a:r>
          </a:p>
        </p:txBody>
      </p:sp>
      <p:sp>
        <p:nvSpPr>
          <p:cNvPr id="18" name="TextBox 17">
            <a:hlinkClick action="ppaction://hlinksldjump" r:id="rId4"/>
          </p:cNvPr>
          <p:cNvSpPr txBox="1"/>
          <p:nvPr/>
        </p:nvSpPr>
        <p:spPr>
          <a:xfrm>
            <a:off x="10634472" y="1810512"/>
            <a:ext cx="621792" cy="164592"/>
          </a:xfrm>
          <a:prstGeom prst="rect">
            <a:avLst/>
          </a:prstGeom>
          <a:noFill/>
        </p:spPr>
        <p:txBody>
          <a:bodyPr wrap="square" lIns="73152" rIns="73152" tIns="36576" bIns="36576" anchor="t">
            <a:normAutofit/>
          </a:bodyPr>
          <a:lstStyle/>
          <a:p>
            <a:pPr algn="r"/>
            <a:r>
              <a:rPr sz="740" b="1">
                <a:solidFill>
                  <a:srgbClr val="2A795B"/>
                </a:solidFill>
                <a:latin typeface="Microsoft YaHei"/>
              </a:rPr>
              <a:t>1项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20040"/>
            <a:ext cx="9875520" cy="384048"/>
          </a:xfrm>
          <a:prstGeom prst="rect">
            <a:avLst/>
          </a:prstGeom>
          <a:noFill/>
        </p:spPr>
        <p:txBody>
          <a:bodyPr wrap="square" lIns="73152" rIns="73152" tIns="36576" bIns="36576" anchor="t">
            <a:normAutofit/>
          </a:bodyPr>
          <a:lstStyle/>
          <a:p>
            <a:pPr algn="l"/>
            <a:r>
              <a:rPr sz="2000" b="1">
                <a:solidFill>
                  <a:srgbClr val="21242A"/>
                </a:solidFill>
                <a:latin typeface="Microsoft YaHei"/>
              </a:rPr>
              <a:t>疾病目录：DLBCL/LBCL 与 CNSL 场景</a:t>
            </a:r>
          </a:p>
        </p:txBody>
      </p:sp>
      <p:sp>
        <p:nvSpPr>
          <p:cNvPr id="3" name="TextBox 2"/>
          <p:cNvSpPr txBox="1"/>
          <p:nvPr/>
        </p:nvSpPr>
        <p:spPr>
          <a:xfrm>
            <a:off x="548640" y="804672"/>
            <a:ext cx="9875520" cy="219456"/>
          </a:xfrm>
          <a:prstGeom prst="rect">
            <a:avLst/>
          </a:prstGeom>
          <a:noFill/>
        </p:spPr>
        <p:txBody>
          <a:bodyPr wrap="square" lIns="73152" rIns="73152" tIns="36576" bIns="36576" anchor="t">
            <a:normAutofit/>
          </a:bodyPr>
          <a:lstStyle/>
          <a:p>
            <a:pPr algn="l"/>
            <a:r>
              <a:rPr sz="850" b="0">
                <a:solidFill>
                  <a:srgbClr val="5E6570"/>
                </a:solidFill>
                <a:latin typeface="Microsoft YaHei"/>
              </a:rPr>
              <a:t>疾病口径进一步拆到 DLBCL、LBCL/HGBL、PCNSL、SCNSL 等场景。</a:t>
            </a:r>
          </a:p>
        </p:txBody>
      </p:sp>
      <p:sp>
        <p:nvSpPr>
          <p:cNvPr id="4" name="Rounded Rectangle 3">
            <a:hlinkClick action="ppaction://hlinksldjump" r:id="rId3"/>
          </p:cNvPr>
          <p:cNvSpPr/>
          <p:nvPr/>
        </p:nvSpPr>
        <p:spPr>
          <a:xfrm>
            <a:off x="594360"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action="ppaction://hlinksldjump" r:id="rId3"/>
          </p:cNvPr>
          <p:cNvSpPr/>
          <p:nvPr/>
        </p:nvSpPr>
        <p:spPr>
          <a:xfrm>
            <a:off x="594360" y="1325880"/>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777240"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LBCL/HGBL</a:t>
            </a:r>
          </a:p>
        </p:txBody>
      </p:sp>
      <p:sp>
        <p:nvSpPr>
          <p:cNvPr id="7" name="TextBox 6">
            <a:hlinkClick action="ppaction://hlinksldjump" r:id="rId3"/>
          </p:cNvPr>
          <p:cNvSpPr txBox="1"/>
          <p:nvPr/>
        </p:nvSpPr>
        <p:spPr>
          <a:xfrm>
            <a:off x="777240"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8" name="TextBox 7">
            <a:hlinkClick action="ppaction://hlinksldjump" r:id="rId3"/>
          </p:cNvPr>
          <p:cNvSpPr txBox="1"/>
          <p:nvPr/>
        </p:nvSpPr>
        <p:spPr>
          <a:xfrm>
            <a:off x="3172968" y="1810512"/>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132项</a:t>
            </a:r>
          </a:p>
        </p:txBody>
      </p:sp>
      <p:sp>
        <p:nvSpPr>
          <p:cNvPr id="9" name="Rounded Rectangle 8">
            <a:hlinkClick action="ppaction://hlinksldjump" r:id="rId4"/>
          </p:cNvPr>
          <p:cNvSpPr/>
          <p:nvPr/>
        </p:nvSpPr>
        <p:spPr>
          <a:xfrm>
            <a:off x="4325112"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4"/>
          </p:cNvPr>
          <p:cNvSpPr/>
          <p:nvPr/>
        </p:nvSpPr>
        <p:spPr>
          <a:xfrm>
            <a:off x="4325112" y="1325880"/>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a:hlinkClick action="ppaction://hlinksldjump" r:id="rId4"/>
          </p:cNvPr>
          <p:cNvSpPr txBox="1"/>
          <p:nvPr/>
        </p:nvSpPr>
        <p:spPr>
          <a:xfrm>
            <a:off x="4507992"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PCNSL</a:t>
            </a:r>
          </a:p>
        </p:txBody>
      </p:sp>
      <p:sp>
        <p:nvSpPr>
          <p:cNvPr id="12" name="TextBox 11">
            <a:hlinkClick action="ppaction://hlinksldjump" r:id="rId4"/>
          </p:cNvPr>
          <p:cNvSpPr txBox="1"/>
          <p:nvPr/>
        </p:nvSpPr>
        <p:spPr>
          <a:xfrm>
            <a:off x="4507992"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13" name="TextBox 12">
            <a:hlinkClick action="ppaction://hlinksldjump" r:id="rId4"/>
          </p:cNvPr>
          <p:cNvSpPr txBox="1"/>
          <p:nvPr/>
        </p:nvSpPr>
        <p:spPr>
          <a:xfrm>
            <a:off x="6903720" y="1810512"/>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5项</a:t>
            </a:r>
          </a:p>
        </p:txBody>
      </p:sp>
      <p:sp>
        <p:nvSpPr>
          <p:cNvPr id="14" name="Rounded Rectangle 13">
            <a:hlinkClick action="ppaction://hlinksldjump" r:id="rId5"/>
          </p:cNvPr>
          <p:cNvSpPr/>
          <p:nvPr/>
        </p:nvSpPr>
        <p:spPr>
          <a:xfrm>
            <a:off x="8055864"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a:hlinkClick action="ppaction://hlinksldjump" r:id="rId5"/>
          </p:cNvPr>
          <p:cNvSpPr/>
          <p:nvPr/>
        </p:nvSpPr>
        <p:spPr>
          <a:xfrm>
            <a:off x="8055864" y="1325880"/>
            <a:ext cx="91440" cy="786384"/>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action="ppaction://hlinksldjump" r:id="rId5"/>
          </p:cNvPr>
          <p:cNvSpPr txBox="1"/>
          <p:nvPr/>
        </p:nvSpPr>
        <p:spPr>
          <a:xfrm>
            <a:off x="8238744"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PMBCL/特殊亚型</a:t>
            </a:r>
          </a:p>
        </p:txBody>
      </p:sp>
      <p:sp>
        <p:nvSpPr>
          <p:cNvPr id="17" name="TextBox 16">
            <a:hlinkClick action="ppaction://hlinksldjump" r:id="rId5"/>
          </p:cNvPr>
          <p:cNvSpPr txBox="1"/>
          <p:nvPr/>
        </p:nvSpPr>
        <p:spPr>
          <a:xfrm>
            <a:off x="8238744"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18" name="TextBox 17">
            <a:hlinkClick action="ppaction://hlinksldjump" r:id="rId5"/>
          </p:cNvPr>
          <p:cNvSpPr txBox="1"/>
          <p:nvPr/>
        </p:nvSpPr>
        <p:spPr>
          <a:xfrm>
            <a:off x="10634472" y="1810512"/>
            <a:ext cx="621792" cy="164592"/>
          </a:xfrm>
          <a:prstGeom prst="rect">
            <a:avLst/>
          </a:prstGeom>
          <a:noFill/>
        </p:spPr>
        <p:txBody>
          <a:bodyPr wrap="square" lIns="73152" rIns="73152" tIns="36576" bIns="36576" anchor="t">
            <a:normAutofit/>
          </a:bodyPr>
          <a:lstStyle/>
          <a:p>
            <a:pPr algn="r"/>
            <a:r>
              <a:rPr sz="740" b="1">
                <a:solidFill>
                  <a:srgbClr val="2A795B"/>
                </a:solidFill>
                <a:latin typeface="Microsoft YaHei"/>
              </a:rPr>
              <a:t>14项</a:t>
            </a:r>
          </a:p>
        </p:txBody>
      </p:sp>
      <p:sp>
        <p:nvSpPr>
          <p:cNvPr id="19" name="Rounded Rectangle 18">
            <a:hlinkClick action="ppaction://hlinksldjump" r:id="rId6"/>
          </p:cNvPr>
          <p:cNvSpPr/>
          <p:nvPr/>
        </p:nvSpPr>
        <p:spPr>
          <a:xfrm>
            <a:off x="594360"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a:hlinkClick action="ppaction://hlinksldjump" r:id="rId6"/>
          </p:cNvPr>
          <p:cNvSpPr/>
          <p:nvPr/>
        </p:nvSpPr>
        <p:spPr>
          <a:xfrm>
            <a:off x="594360" y="2350008"/>
            <a:ext cx="91440" cy="786384"/>
          </a:xfrm>
          <a:prstGeom prst="rect">
            <a:avLst/>
          </a:prstGeom>
          <a:solidFill>
            <a:srgbClr val="EC8832"/>
          </a:solidFill>
          <a:ln w="8890">
            <a:solidFill>
              <a:srgbClr val="EC88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6"/>
          </p:cNvPr>
          <p:cNvSpPr txBox="1"/>
          <p:nvPr/>
        </p:nvSpPr>
        <p:spPr>
          <a:xfrm>
            <a:off x="777240"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SCNSL/CNS复发或预防</a:t>
            </a:r>
          </a:p>
        </p:txBody>
      </p:sp>
      <p:sp>
        <p:nvSpPr>
          <p:cNvPr id="22" name="TextBox 21">
            <a:hlinkClick action="ppaction://hlinksldjump" r:id="rId6"/>
          </p:cNvPr>
          <p:cNvSpPr txBox="1"/>
          <p:nvPr/>
        </p:nvSpPr>
        <p:spPr>
          <a:xfrm>
            <a:off x="777240"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23" name="TextBox 22">
            <a:hlinkClick action="ppaction://hlinksldjump" r:id="rId6"/>
          </p:cNvPr>
          <p:cNvSpPr txBox="1"/>
          <p:nvPr/>
        </p:nvSpPr>
        <p:spPr>
          <a:xfrm>
            <a:off x="3172968" y="2834640"/>
            <a:ext cx="621792" cy="164592"/>
          </a:xfrm>
          <a:prstGeom prst="rect">
            <a:avLst/>
          </a:prstGeom>
          <a:noFill/>
        </p:spPr>
        <p:txBody>
          <a:bodyPr wrap="square" lIns="73152" rIns="73152" tIns="36576" bIns="36576" anchor="t">
            <a:normAutofit/>
          </a:bodyPr>
          <a:lstStyle/>
          <a:p>
            <a:pPr algn="r"/>
            <a:r>
              <a:rPr sz="740" b="1">
                <a:solidFill>
                  <a:srgbClr val="EC8832"/>
                </a:solidFill>
                <a:latin typeface="Microsoft YaHei"/>
              </a:rPr>
              <a:t>18项</a:t>
            </a:r>
          </a:p>
        </p:txBody>
      </p:sp>
      <p:sp>
        <p:nvSpPr>
          <p:cNvPr id="24" name="Rounded Rectangle 23">
            <a:hlinkClick action="ppaction://hlinksldjump" r:id="rId7"/>
          </p:cNvPr>
          <p:cNvSpPr/>
          <p:nvPr/>
        </p:nvSpPr>
        <p:spPr>
          <a:xfrm>
            <a:off x="4325112"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hlinkClick action="ppaction://hlinksldjump" r:id="rId7"/>
          </p:cNvPr>
          <p:cNvSpPr/>
          <p:nvPr/>
        </p:nvSpPr>
        <p:spPr>
          <a:xfrm>
            <a:off x="4325112" y="2350008"/>
            <a:ext cx="91440" cy="786384"/>
          </a:xfrm>
          <a:prstGeom prst="rect">
            <a:avLst/>
          </a:prstGeom>
          <a:solidFill>
            <a:srgbClr val="65489B"/>
          </a:solidFill>
          <a:ln w="8890">
            <a:solidFill>
              <a:srgbClr val="654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action="ppaction://hlinksldjump" r:id="rId7"/>
          </p:cNvPr>
          <p:cNvSpPr txBox="1"/>
          <p:nvPr/>
        </p:nvSpPr>
        <p:spPr>
          <a:xfrm>
            <a:off x="4507992"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眼内/玻璃体视网膜淋巴瘤</a:t>
            </a:r>
          </a:p>
        </p:txBody>
      </p:sp>
      <p:sp>
        <p:nvSpPr>
          <p:cNvPr id="27" name="TextBox 26">
            <a:hlinkClick action="ppaction://hlinksldjump" r:id="rId7"/>
          </p:cNvPr>
          <p:cNvSpPr txBox="1"/>
          <p:nvPr/>
        </p:nvSpPr>
        <p:spPr>
          <a:xfrm>
            <a:off x="4507992"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28" name="TextBox 27">
            <a:hlinkClick action="ppaction://hlinksldjump" r:id="rId7"/>
          </p:cNvPr>
          <p:cNvSpPr txBox="1"/>
          <p:nvPr/>
        </p:nvSpPr>
        <p:spPr>
          <a:xfrm>
            <a:off x="6903720" y="2834640"/>
            <a:ext cx="621792" cy="164592"/>
          </a:xfrm>
          <a:prstGeom prst="rect">
            <a:avLst/>
          </a:prstGeom>
          <a:noFill/>
        </p:spPr>
        <p:txBody>
          <a:bodyPr wrap="square" lIns="73152" rIns="73152" tIns="36576" bIns="36576" anchor="t">
            <a:normAutofit/>
          </a:bodyPr>
          <a:lstStyle/>
          <a:p>
            <a:pPr algn="r"/>
            <a:r>
              <a:rPr sz="740" b="1">
                <a:solidFill>
                  <a:srgbClr val="65489B"/>
                </a:solidFill>
                <a:latin typeface="Microsoft YaHei"/>
              </a:rPr>
              <a:t>2项</a:t>
            </a:r>
          </a:p>
        </p:txBody>
      </p:sp>
      <p:sp>
        <p:nvSpPr>
          <p:cNvPr id="29" name="Rounded Rectangle 28">
            <a:hlinkClick action="ppaction://hlinksldjump" r:id="rId8"/>
          </p:cNvPr>
          <p:cNvSpPr/>
          <p:nvPr/>
        </p:nvSpPr>
        <p:spPr>
          <a:xfrm>
            <a:off x="8055864"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hlinkClick action="ppaction://hlinksldjump" r:id="rId8"/>
          </p:cNvPr>
          <p:cNvSpPr/>
          <p:nvPr/>
        </p:nvSpPr>
        <p:spPr>
          <a:xfrm>
            <a:off x="8055864" y="2350008"/>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action="ppaction://hlinksldjump" r:id="rId8"/>
          </p:cNvPr>
          <p:cNvSpPr txBox="1"/>
          <p:nvPr/>
        </p:nvSpPr>
        <p:spPr>
          <a:xfrm>
            <a:off x="8238744"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转化/Richter</a:t>
            </a:r>
          </a:p>
        </p:txBody>
      </p:sp>
      <p:sp>
        <p:nvSpPr>
          <p:cNvPr id="32" name="TextBox 31">
            <a:hlinkClick action="ppaction://hlinksldjump" r:id="rId8"/>
          </p:cNvPr>
          <p:cNvSpPr txBox="1"/>
          <p:nvPr/>
        </p:nvSpPr>
        <p:spPr>
          <a:xfrm>
            <a:off x="8238744"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33" name="TextBox 32">
            <a:hlinkClick action="ppaction://hlinksldjump" r:id="rId8"/>
          </p:cNvPr>
          <p:cNvSpPr txBox="1"/>
          <p:nvPr/>
        </p:nvSpPr>
        <p:spPr>
          <a:xfrm>
            <a:off x="10634472" y="2834640"/>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16项</a:t>
            </a:r>
          </a:p>
        </p:txBody>
      </p:sp>
      <p:sp>
        <p:nvSpPr>
          <p:cNvPr id="34" name="Rounded Rectangle 33">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20040"/>
            <a:ext cx="9875520" cy="384048"/>
          </a:xfrm>
          <a:prstGeom prst="rect">
            <a:avLst/>
          </a:prstGeom>
          <a:noFill/>
        </p:spPr>
        <p:txBody>
          <a:bodyPr wrap="square" lIns="73152" rIns="73152" tIns="36576" bIns="36576" anchor="t">
            <a:normAutofit/>
          </a:bodyPr>
          <a:lstStyle/>
          <a:p>
            <a:pPr algn="l"/>
            <a:r>
              <a:rPr sz="2000" b="1">
                <a:solidFill>
                  <a:srgbClr val="21242A"/>
                </a:solidFill>
                <a:latin typeface="Microsoft YaHei"/>
              </a:rPr>
              <a:t>药物/技术目录</a:t>
            </a:r>
          </a:p>
        </p:txBody>
      </p:sp>
      <p:sp>
        <p:nvSpPr>
          <p:cNvPr id="3" name="TextBox 2"/>
          <p:cNvSpPr txBox="1"/>
          <p:nvPr/>
        </p:nvSpPr>
        <p:spPr>
          <a:xfrm>
            <a:off x="548640" y="804672"/>
            <a:ext cx="9875520" cy="219456"/>
          </a:xfrm>
          <a:prstGeom prst="rect">
            <a:avLst/>
          </a:prstGeom>
          <a:noFill/>
        </p:spPr>
        <p:txBody>
          <a:bodyPr wrap="square" lIns="73152" rIns="73152" tIns="36576" bIns="36576" anchor="t">
            <a:normAutofit/>
          </a:bodyPr>
          <a:lstStyle/>
          <a:p>
            <a:pPr algn="l"/>
            <a:r>
              <a:rPr sz="850" b="0">
                <a:solidFill>
                  <a:srgbClr val="5E6570"/>
                </a:solidFill>
                <a:latin typeface="Microsoft YaHei"/>
              </a:rPr>
              <a:t>按 CAR-T、双抗、ADC、BTKi、免疫化疗、CNS策略和标志物等快速定位。</a:t>
            </a:r>
          </a:p>
        </p:txBody>
      </p:sp>
      <p:sp>
        <p:nvSpPr>
          <p:cNvPr id="4" name="Rounded Rectangle 3">
            <a:hlinkClick action="ppaction://hlinksldjump" r:id="rId3"/>
          </p:cNvPr>
          <p:cNvSpPr/>
          <p:nvPr/>
        </p:nvSpPr>
        <p:spPr>
          <a:xfrm>
            <a:off x="594360"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action="ppaction://hlinksldjump" r:id="rId3"/>
          </p:cNvPr>
          <p:cNvSpPr/>
          <p:nvPr/>
        </p:nvSpPr>
        <p:spPr>
          <a:xfrm>
            <a:off x="594360" y="1325880"/>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777240"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CAR-T/细胞治疗</a:t>
            </a:r>
          </a:p>
        </p:txBody>
      </p:sp>
      <p:sp>
        <p:nvSpPr>
          <p:cNvPr id="7" name="TextBox 6">
            <a:hlinkClick action="ppaction://hlinksldjump" r:id="rId3"/>
          </p:cNvPr>
          <p:cNvSpPr txBox="1"/>
          <p:nvPr/>
        </p:nvSpPr>
        <p:spPr>
          <a:xfrm>
            <a:off x="777240"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8" name="TextBox 7">
            <a:hlinkClick action="ppaction://hlinksldjump" r:id="rId3"/>
          </p:cNvPr>
          <p:cNvSpPr txBox="1"/>
          <p:nvPr/>
        </p:nvSpPr>
        <p:spPr>
          <a:xfrm>
            <a:off x="3172968" y="1810512"/>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79项</a:t>
            </a:r>
          </a:p>
        </p:txBody>
      </p:sp>
      <p:sp>
        <p:nvSpPr>
          <p:cNvPr id="9" name="Rounded Rectangle 8">
            <a:hlinkClick action="ppaction://hlinksldjump" r:id="rId4"/>
          </p:cNvPr>
          <p:cNvSpPr/>
          <p:nvPr/>
        </p:nvSpPr>
        <p:spPr>
          <a:xfrm>
            <a:off x="4325112"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4"/>
          </p:cNvPr>
          <p:cNvSpPr/>
          <p:nvPr/>
        </p:nvSpPr>
        <p:spPr>
          <a:xfrm>
            <a:off x="4325112" y="1325880"/>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a:hlinkClick action="ppaction://hlinksldjump" r:id="rId4"/>
          </p:cNvPr>
          <p:cNvSpPr txBox="1"/>
          <p:nvPr/>
        </p:nvSpPr>
        <p:spPr>
          <a:xfrm>
            <a:off x="4507992"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双抗</a:t>
            </a:r>
          </a:p>
        </p:txBody>
      </p:sp>
      <p:sp>
        <p:nvSpPr>
          <p:cNvPr id="12" name="TextBox 11">
            <a:hlinkClick action="ppaction://hlinksldjump" r:id="rId4"/>
          </p:cNvPr>
          <p:cNvSpPr txBox="1"/>
          <p:nvPr/>
        </p:nvSpPr>
        <p:spPr>
          <a:xfrm>
            <a:off x="4507992"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13" name="TextBox 12">
            <a:hlinkClick action="ppaction://hlinksldjump" r:id="rId4"/>
          </p:cNvPr>
          <p:cNvSpPr txBox="1"/>
          <p:nvPr/>
        </p:nvSpPr>
        <p:spPr>
          <a:xfrm>
            <a:off x="6903720" y="1810512"/>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14项</a:t>
            </a:r>
          </a:p>
        </p:txBody>
      </p:sp>
      <p:sp>
        <p:nvSpPr>
          <p:cNvPr id="14" name="Rounded Rectangle 13">
            <a:hlinkClick action="ppaction://hlinksldjump" r:id="rId5"/>
          </p:cNvPr>
          <p:cNvSpPr/>
          <p:nvPr/>
        </p:nvSpPr>
        <p:spPr>
          <a:xfrm>
            <a:off x="8055864"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a:hlinkClick action="ppaction://hlinksldjump" r:id="rId5"/>
          </p:cNvPr>
          <p:cNvSpPr/>
          <p:nvPr/>
        </p:nvSpPr>
        <p:spPr>
          <a:xfrm>
            <a:off x="8055864" y="1325880"/>
            <a:ext cx="91440" cy="786384"/>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action="ppaction://hlinksldjump" r:id="rId5"/>
          </p:cNvPr>
          <p:cNvSpPr txBox="1"/>
          <p:nvPr/>
        </p:nvSpPr>
        <p:spPr>
          <a:xfrm>
            <a:off x="8238744"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ADC</a:t>
            </a:r>
          </a:p>
        </p:txBody>
      </p:sp>
      <p:sp>
        <p:nvSpPr>
          <p:cNvPr id="17" name="TextBox 16">
            <a:hlinkClick action="ppaction://hlinksldjump" r:id="rId5"/>
          </p:cNvPr>
          <p:cNvSpPr txBox="1"/>
          <p:nvPr/>
        </p:nvSpPr>
        <p:spPr>
          <a:xfrm>
            <a:off x="8238744"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18" name="TextBox 17">
            <a:hlinkClick action="ppaction://hlinksldjump" r:id="rId5"/>
          </p:cNvPr>
          <p:cNvSpPr txBox="1"/>
          <p:nvPr/>
        </p:nvSpPr>
        <p:spPr>
          <a:xfrm>
            <a:off x="10634472" y="1810512"/>
            <a:ext cx="621792" cy="164592"/>
          </a:xfrm>
          <a:prstGeom prst="rect">
            <a:avLst/>
          </a:prstGeom>
          <a:noFill/>
        </p:spPr>
        <p:txBody>
          <a:bodyPr wrap="square" lIns="73152" rIns="73152" tIns="36576" bIns="36576" anchor="t">
            <a:normAutofit/>
          </a:bodyPr>
          <a:lstStyle/>
          <a:p>
            <a:pPr algn="r"/>
            <a:r>
              <a:rPr sz="740" b="1">
                <a:solidFill>
                  <a:srgbClr val="2A795B"/>
                </a:solidFill>
                <a:latin typeface="Microsoft YaHei"/>
              </a:rPr>
              <a:t>13项</a:t>
            </a:r>
          </a:p>
        </p:txBody>
      </p:sp>
      <p:sp>
        <p:nvSpPr>
          <p:cNvPr id="19" name="Rounded Rectangle 18">
            <a:hlinkClick action="ppaction://hlinksldjump" r:id="rId6"/>
          </p:cNvPr>
          <p:cNvSpPr/>
          <p:nvPr/>
        </p:nvSpPr>
        <p:spPr>
          <a:xfrm>
            <a:off x="594360"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a:hlinkClick action="ppaction://hlinksldjump" r:id="rId6"/>
          </p:cNvPr>
          <p:cNvSpPr/>
          <p:nvPr/>
        </p:nvSpPr>
        <p:spPr>
          <a:xfrm>
            <a:off x="594360" y="2350008"/>
            <a:ext cx="91440" cy="786384"/>
          </a:xfrm>
          <a:prstGeom prst="rect">
            <a:avLst/>
          </a:prstGeom>
          <a:solidFill>
            <a:srgbClr val="EC8832"/>
          </a:solidFill>
          <a:ln w="8890">
            <a:solidFill>
              <a:srgbClr val="EC88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6"/>
          </p:cNvPr>
          <p:cNvSpPr txBox="1"/>
          <p:nvPr/>
        </p:nvSpPr>
        <p:spPr>
          <a:xfrm>
            <a:off x="777240"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BTKi</a:t>
            </a:r>
          </a:p>
        </p:txBody>
      </p:sp>
      <p:sp>
        <p:nvSpPr>
          <p:cNvPr id="22" name="TextBox 21">
            <a:hlinkClick action="ppaction://hlinksldjump" r:id="rId6"/>
          </p:cNvPr>
          <p:cNvSpPr txBox="1"/>
          <p:nvPr/>
        </p:nvSpPr>
        <p:spPr>
          <a:xfrm>
            <a:off x="777240"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23" name="TextBox 22">
            <a:hlinkClick action="ppaction://hlinksldjump" r:id="rId6"/>
          </p:cNvPr>
          <p:cNvSpPr txBox="1"/>
          <p:nvPr/>
        </p:nvSpPr>
        <p:spPr>
          <a:xfrm>
            <a:off x="3172968" y="2834640"/>
            <a:ext cx="621792" cy="164592"/>
          </a:xfrm>
          <a:prstGeom prst="rect">
            <a:avLst/>
          </a:prstGeom>
          <a:noFill/>
        </p:spPr>
        <p:txBody>
          <a:bodyPr wrap="square" lIns="73152" rIns="73152" tIns="36576" bIns="36576" anchor="t">
            <a:normAutofit/>
          </a:bodyPr>
          <a:lstStyle/>
          <a:p>
            <a:pPr algn="r"/>
            <a:r>
              <a:rPr sz="740" b="1">
                <a:solidFill>
                  <a:srgbClr val="EC8832"/>
                </a:solidFill>
                <a:latin typeface="Microsoft YaHei"/>
              </a:rPr>
              <a:t>19项</a:t>
            </a:r>
          </a:p>
        </p:txBody>
      </p:sp>
      <p:sp>
        <p:nvSpPr>
          <p:cNvPr id="24" name="Rounded Rectangle 23">
            <a:hlinkClick action="ppaction://hlinksldjump" r:id="rId7"/>
          </p:cNvPr>
          <p:cNvSpPr/>
          <p:nvPr/>
        </p:nvSpPr>
        <p:spPr>
          <a:xfrm>
            <a:off x="4325112"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hlinkClick action="ppaction://hlinksldjump" r:id="rId7"/>
          </p:cNvPr>
          <p:cNvSpPr/>
          <p:nvPr/>
        </p:nvSpPr>
        <p:spPr>
          <a:xfrm>
            <a:off x="4325112" y="2350008"/>
            <a:ext cx="91440" cy="786384"/>
          </a:xfrm>
          <a:prstGeom prst="rect">
            <a:avLst/>
          </a:prstGeom>
          <a:solidFill>
            <a:srgbClr val="65489B"/>
          </a:solidFill>
          <a:ln w="8890">
            <a:solidFill>
              <a:srgbClr val="654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action="ppaction://hlinksldjump" r:id="rId7"/>
          </p:cNvPr>
          <p:cNvSpPr txBox="1"/>
          <p:nvPr/>
        </p:nvSpPr>
        <p:spPr>
          <a:xfrm>
            <a:off x="4507992"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化疗/免疫化疗</a:t>
            </a:r>
          </a:p>
        </p:txBody>
      </p:sp>
      <p:sp>
        <p:nvSpPr>
          <p:cNvPr id="27" name="TextBox 26">
            <a:hlinkClick action="ppaction://hlinksldjump" r:id="rId7"/>
          </p:cNvPr>
          <p:cNvSpPr txBox="1"/>
          <p:nvPr/>
        </p:nvSpPr>
        <p:spPr>
          <a:xfrm>
            <a:off x="4507992"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28" name="TextBox 27">
            <a:hlinkClick action="ppaction://hlinksldjump" r:id="rId7"/>
          </p:cNvPr>
          <p:cNvSpPr txBox="1"/>
          <p:nvPr/>
        </p:nvSpPr>
        <p:spPr>
          <a:xfrm>
            <a:off x="6903720" y="2834640"/>
            <a:ext cx="621792" cy="164592"/>
          </a:xfrm>
          <a:prstGeom prst="rect">
            <a:avLst/>
          </a:prstGeom>
          <a:noFill/>
        </p:spPr>
        <p:txBody>
          <a:bodyPr wrap="square" lIns="73152" rIns="73152" tIns="36576" bIns="36576" anchor="t">
            <a:normAutofit/>
          </a:bodyPr>
          <a:lstStyle/>
          <a:p>
            <a:pPr algn="r"/>
            <a:r>
              <a:rPr sz="740" b="1">
                <a:solidFill>
                  <a:srgbClr val="65489B"/>
                </a:solidFill>
                <a:latin typeface="Microsoft YaHei"/>
              </a:rPr>
              <a:t>24项</a:t>
            </a:r>
          </a:p>
        </p:txBody>
      </p:sp>
      <p:sp>
        <p:nvSpPr>
          <p:cNvPr id="29" name="Rounded Rectangle 28">
            <a:hlinkClick action="ppaction://hlinksldjump" r:id="rId8"/>
          </p:cNvPr>
          <p:cNvSpPr/>
          <p:nvPr/>
        </p:nvSpPr>
        <p:spPr>
          <a:xfrm>
            <a:off x="8055864"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hlinkClick action="ppaction://hlinksldjump" r:id="rId8"/>
          </p:cNvPr>
          <p:cNvSpPr/>
          <p:nvPr/>
        </p:nvSpPr>
        <p:spPr>
          <a:xfrm>
            <a:off x="8055864" y="2350008"/>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action="ppaction://hlinksldjump" r:id="rId8"/>
          </p:cNvPr>
          <p:cNvSpPr txBox="1"/>
          <p:nvPr/>
        </p:nvSpPr>
        <p:spPr>
          <a:xfrm>
            <a:off x="8238744"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CNS穿透/放疗/MTX策略</a:t>
            </a:r>
          </a:p>
        </p:txBody>
      </p:sp>
      <p:sp>
        <p:nvSpPr>
          <p:cNvPr id="32" name="TextBox 31">
            <a:hlinkClick action="ppaction://hlinksldjump" r:id="rId8"/>
          </p:cNvPr>
          <p:cNvSpPr txBox="1"/>
          <p:nvPr/>
        </p:nvSpPr>
        <p:spPr>
          <a:xfrm>
            <a:off x="8238744"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33" name="TextBox 32">
            <a:hlinkClick action="ppaction://hlinksldjump" r:id="rId8"/>
          </p:cNvPr>
          <p:cNvSpPr txBox="1"/>
          <p:nvPr/>
        </p:nvSpPr>
        <p:spPr>
          <a:xfrm>
            <a:off x="10634472" y="2834640"/>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4项</a:t>
            </a:r>
          </a:p>
        </p:txBody>
      </p:sp>
      <p:sp>
        <p:nvSpPr>
          <p:cNvPr id="34" name="Rounded Rectangle 33">
            <a:hlinkClick action="ppaction://hlinksldjump" r:id="rId9"/>
          </p:cNvPr>
          <p:cNvSpPr/>
          <p:nvPr/>
        </p:nvSpPr>
        <p:spPr>
          <a:xfrm>
            <a:off x="594360" y="3374136"/>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a:hlinkClick action="ppaction://hlinksldjump" r:id="rId9"/>
          </p:cNvPr>
          <p:cNvSpPr/>
          <p:nvPr/>
        </p:nvSpPr>
        <p:spPr>
          <a:xfrm>
            <a:off x="594360" y="3374136"/>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action="ppaction://hlinksldjump" r:id="rId9"/>
          </p:cNvPr>
          <p:cNvSpPr txBox="1"/>
          <p:nvPr/>
        </p:nvSpPr>
        <p:spPr>
          <a:xfrm>
            <a:off x="777240" y="3502152"/>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其他/未明确药物</a:t>
            </a:r>
          </a:p>
        </p:txBody>
      </p:sp>
      <p:sp>
        <p:nvSpPr>
          <p:cNvPr id="37" name="TextBox 36">
            <a:hlinkClick action="ppaction://hlinksldjump" r:id="rId9"/>
          </p:cNvPr>
          <p:cNvSpPr txBox="1"/>
          <p:nvPr/>
        </p:nvSpPr>
        <p:spPr>
          <a:xfrm>
            <a:off x="777240" y="3822192"/>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38" name="TextBox 37">
            <a:hlinkClick action="ppaction://hlinksldjump" r:id="rId9"/>
          </p:cNvPr>
          <p:cNvSpPr txBox="1"/>
          <p:nvPr/>
        </p:nvSpPr>
        <p:spPr>
          <a:xfrm>
            <a:off x="3172968" y="3858768"/>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34项</a:t>
            </a:r>
          </a:p>
        </p:txBody>
      </p:sp>
      <p:sp>
        <p:nvSpPr>
          <p:cNvPr id="39" name="Rounded Rectangle 38">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84048"/>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章节</a:t>
            </a:r>
          </a:p>
        </p:txBody>
      </p:sp>
      <p:sp>
        <p:nvSpPr>
          <p:cNvPr id="3" name="TextBox 2"/>
          <p:cNvSpPr txBox="1"/>
          <p:nvPr/>
        </p:nvSpPr>
        <p:spPr>
          <a:xfrm>
            <a:off x="1600200" y="274320"/>
            <a:ext cx="9326880" cy="502920"/>
          </a:xfrm>
          <a:prstGeom prst="rect">
            <a:avLst/>
          </a:prstGeom>
          <a:noFill/>
        </p:spPr>
        <p:txBody>
          <a:bodyPr wrap="square" lIns="73152" rIns="73152" tIns="36576" bIns="36576" anchor="t">
            <a:normAutofit/>
          </a:bodyPr>
          <a:lstStyle/>
          <a:p>
            <a:pPr algn="l"/>
            <a:r>
              <a:rPr sz="2200" b="1">
                <a:solidFill>
                  <a:srgbClr val="21242A"/>
                </a:solidFill>
                <a:latin typeface="Microsoft YaHei"/>
              </a:rPr>
              <a:t>前瞻性临床试验</a:t>
            </a:r>
          </a:p>
        </p:txBody>
      </p:sp>
      <p:sp>
        <p:nvSpPr>
          <p:cNvPr id="4" name="TextBox 3"/>
          <p:cNvSpPr txBox="1"/>
          <p:nvPr/>
        </p:nvSpPr>
        <p:spPr>
          <a:xfrm>
            <a:off x="1627632" y="859536"/>
            <a:ext cx="9144000" cy="228600"/>
          </a:xfrm>
          <a:prstGeom prst="rect">
            <a:avLst/>
          </a:prstGeom>
          <a:noFill/>
        </p:spPr>
        <p:txBody>
          <a:bodyPr wrap="square" lIns="73152" rIns="73152" tIns="36576" bIns="36576" anchor="t">
            <a:normAutofit/>
          </a:bodyPr>
          <a:lstStyle/>
          <a:p>
            <a:pPr algn="l"/>
            <a:r>
              <a:rPr sz="919" b="0">
                <a:solidFill>
                  <a:srgbClr val="5E6570"/>
                </a:solidFill>
                <a:latin typeface="Microsoft YaHei"/>
              </a:rPr>
              <a:t>105项研究；以下按疾病场景和药物/技术继续细分。</a:t>
            </a:r>
          </a:p>
        </p:txBody>
      </p:sp>
      <p:sp>
        <p:nvSpPr>
          <p:cNvPr id="5" name="TextBox 4"/>
          <p:cNvSpPr txBox="1"/>
          <p:nvPr/>
        </p:nvSpPr>
        <p:spPr>
          <a:xfrm>
            <a:off x="640080" y="148132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疾病场景</a:t>
            </a:r>
          </a:p>
        </p:txBody>
      </p:sp>
      <p:sp>
        <p:nvSpPr>
          <p:cNvPr id="6" name="TextBox 5"/>
          <p:cNvSpPr txBox="1"/>
          <p:nvPr/>
        </p:nvSpPr>
        <p:spPr>
          <a:xfrm>
            <a:off x="768096" y="18288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LBCL/HGBL：73项</a:t>
            </a:r>
          </a:p>
        </p:txBody>
      </p:sp>
      <p:sp>
        <p:nvSpPr>
          <p:cNvPr id="7" name="Rectangle 6"/>
          <p:cNvSpPr/>
          <p:nvPr/>
        </p:nvSpPr>
        <p:spPr>
          <a:xfrm>
            <a:off x="4297680" y="1874519"/>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80" y="1874519"/>
            <a:ext cx="201168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4884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SCNSL/CNS复发或预防：13项</a:t>
            </a:r>
          </a:p>
        </p:txBody>
      </p:sp>
      <p:sp>
        <p:nvSpPr>
          <p:cNvPr id="10" name="Rectangle 9"/>
          <p:cNvSpPr/>
          <p:nvPr/>
        </p:nvSpPr>
        <p:spPr>
          <a:xfrm>
            <a:off x="4297680" y="219456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2194560"/>
            <a:ext cx="358244"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46888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PMBCL/特殊亚型：9项</a:t>
            </a:r>
          </a:p>
        </p:txBody>
      </p:sp>
      <p:sp>
        <p:nvSpPr>
          <p:cNvPr id="13" name="Rectangle 12"/>
          <p:cNvSpPr/>
          <p:nvPr/>
        </p:nvSpPr>
        <p:spPr>
          <a:xfrm>
            <a:off x="4297680" y="251460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514600"/>
            <a:ext cx="248015"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78892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转化/Richter：7项</a:t>
            </a:r>
          </a:p>
        </p:txBody>
      </p:sp>
      <p:sp>
        <p:nvSpPr>
          <p:cNvPr id="16" name="Rectangle 15"/>
          <p:cNvSpPr/>
          <p:nvPr/>
        </p:nvSpPr>
        <p:spPr>
          <a:xfrm>
            <a:off x="4297680" y="283464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834640"/>
            <a:ext cx="19290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310896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PCNSL：2项</a:t>
            </a:r>
          </a:p>
        </p:txBody>
      </p:sp>
      <p:sp>
        <p:nvSpPr>
          <p:cNvPr id="19" name="Rectangle 18"/>
          <p:cNvSpPr/>
          <p:nvPr/>
        </p:nvSpPr>
        <p:spPr>
          <a:xfrm>
            <a:off x="4297680" y="315468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3154680"/>
            <a:ext cx="55114"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4290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眼内/玻璃体视网膜淋巴瘤：1项</a:t>
            </a:r>
          </a:p>
        </p:txBody>
      </p:sp>
      <p:sp>
        <p:nvSpPr>
          <p:cNvPr id="22" name="Rectangle 21"/>
          <p:cNvSpPr/>
          <p:nvPr/>
        </p:nvSpPr>
        <p:spPr>
          <a:xfrm>
            <a:off x="4297680" y="347472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3474720"/>
            <a:ext cx="27557"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1481328"/>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药物/技术</a:t>
            </a:r>
          </a:p>
        </p:txBody>
      </p:sp>
      <p:sp>
        <p:nvSpPr>
          <p:cNvPr id="25" name="TextBox 24"/>
          <p:cNvSpPr txBox="1"/>
          <p:nvPr/>
        </p:nvSpPr>
        <p:spPr>
          <a:xfrm>
            <a:off x="6720840" y="18288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CAR-T/细胞治疗：38项</a:t>
            </a:r>
          </a:p>
        </p:txBody>
      </p:sp>
      <p:sp>
        <p:nvSpPr>
          <p:cNvPr id="26" name="Rectangle 25"/>
          <p:cNvSpPr/>
          <p:nvPr/>
        </p:nvSpPr>
        <p:spPr>
          <a:xfrm>
            <a:off x="9893808" y="1874519"/>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93808" y="1874519"/>
            <a:ext cx="150876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214884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BTKi：17项</a:t>
            </a:r>
          </a:p>
        </p:txBody>
      </p:sp>
      <p:sp>
        <p:nvSpPr>
          <p:cNvPr id="29" name="Rectangle 28"/>
          <p:cNvSpPr/>
          <p:nvPr/>
        </p:nvSpPr>
        <p:spPr>
          <a:xfrm>
            <a:off x="9893808" y="219456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893808" y="2194560"/>
            <a:ext cx="674971"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246888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化疗/免疫化疗：14项</a:t>
            </a:r>
          </a:p>
        </p:txBody>
      </p:sp>
      <p:sp>
        <p:nvSpPr>
          <p:cNvPr id="32" name="Rectangle 31"/>
          <p:cNvSpPr/>
          <p:nvPr/>
        </p:nvSpPr>
        <p:spPr>
          <a:xfrm>
            <a:off x="9893808" y="251460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3808" y="2514600"/>
            <a:ext cx="55585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278892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其他/未明确药物：14项</a:t>
            </a:r>
          </a:p>
        </p:txBody>
      </p:sp>
      <p:sp>
        <p:nvSpPr>
          <p:cNvPr id="35" name="Rectangle 34"/>
          <p:cNvSpPr/>
          <p:nvPr/>
        </p:nvSpPr>
        <p:spPr>
          <a:xfrm>
            <a:off x="9893808" y="283464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893808" y="2834640"/>
            <a:ext cx="55585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10896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双抗：12项</a:t>
            </a:r>
          </a:p>
        </p:txBody>
      </p:sp>
      <p:sp>
        <p:nvSpPr>
          <p:cNvPr id="38" name="Rectangle 37"/>
          <p:cNvSpPr/>
          <p:nvPr/>
        </p:nvSpPr>
        <p:spPr>
          <a:xfrm>
            <a:off x="9893808" y="315468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93808" y="3154680"/>
            <a:ext cx="47645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20840" y="34290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ADC：8项</a:t>
            </a:r>
          </a:p>
        </p:txBody>
      </p:sp>
      <p:sp>
        <p:nvSpPr>
          <p:cNvPr id="41" name="Rectangle 40"/>
          <p:cNvSpPr/>
          <p:nvPr/>
        </p:nvSpPr>
        <p:spPr>
          <a:xfrm>
            <a:off x="9893808" y="347472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93808" y="3474720"/>
            <a:ext cx="317633"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919472"/>
            <a:ext cx="10744200" cy="74980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065776"/>
            <a:ext cx="10332720" cy="384048"/>
          </a:xfrm>
          <a:prstGeom prst="rect">
            <a:avLst/>
          </a:prstGeom>
          <a:noFill/>
        </p:spPr>
        <p:txBody>
          <a:bodyPr wrap="square" rIns="73152" bIns="36576">
            <a:normAutofit/>
          </a:bodyPr>
          <a:lstStyle/>
          <a:p>
            <a:pPr>
              <a:lnSpc>
                <a:spcPct val="103000"/>
              </a:lnSpc>
              <a:spcAft>
                <a:spcPts val="300"/>
              </a:spcAft>
              <a:defRPr sz="800">
                <a:solidFill>
                  <a:srgbClr val="5E6570"/>
                </a:solidFill>
                <a:latin typeface="Microsoft YaHei"/>
              </a:defRPr>
            </a:pPr>
            <a:r>
              <a:t>章节内每项研究固定两页：研究设计/PICO、证据摘要（摘要/结论/结果/来源）。</a:t>
            </a:r>
          </a:p>
          <a:p>
            <a:pPr>
              <a:lnSpc>
                <a:spcPct val="103000"/>
              </a:lnSpc>
              <a:spcAft>
                <a:spcPts val="300"/>
              </a:spcAft>
              <a:defRPr sz="800">
                <a:solidFill>
                  <a:srgbClr val="5E6570"/>
                </a:solidFill>
                <a:latin typeface="Microsoft YaHei"/>
              </a:defRPr>
            </a:pPr>
            <a:r>
              <a:t>所有证据字段来自EHA页面或已核对原表字段；右下角可跳转EHA原文。</a:t>
            </a:r>
          </a:p>
        </p:txBody>
      </p:sp>
      <p:sp>
        <p:nvSpPr>
          <p:cNvPr id="45" name="Rounded Rectangle 44">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cd19/cd22双特异性car-t细胞治疗复发/难治性大b细胞淋巴瘤及其机制研究：一项前瞻性、单臂、单中心、2期临床...</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cd19/cd22 bispecific car-t cell therapy for relapsed/refractory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a:t>
            </a:r>
          </a:p>
          <a:p>
            <a:pPr>
              <a:lnSpc>
                <a:spcPct val="103000"/>
              </a:lnSpc>
              <a:spcAft>
                <a:spcPts val="300"/>
              </a:spcAft>
              <a:defRPr sz="800">
                <a:solidFill>
                  <a:srgbClr val="21242A"/>
                </a:solidFill>
                <a:latin typeface="Microsoft YaHei"/>
              </a:defRPr>
            </a:pPr>
            <a:r>
              <a:t>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试验药/方案：CD19/CD22靶向CAR-T(同仁医院)</a:t>
            </a:r>
          </a:p>
          <a:p>
            <a:pPr>
              <a:lnSpc>
                <a:spcPct val="103000"/>
              </a:lnSpc>
              <a:spcAft>
                <a:spcPts val="300"/>
              </a:spcAft>
              <a:defRPr sz="800">
                <a:solidFill>
                  <a:srgbClr val="21242A"/>
                </a:solidFill>
                <a:latin typeface="Microsoft YaHei"/>
              </a:defRPr>
            </a:pPr>
            <a:r>
              <a:t>靶点：CD19，CD22</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最佳客观缓解率(ORR): 95.9%</a:t>
            </a:r>
          </a:p>
          <a:p>
            <a:pPr>
              <a:lnSpc>
                <a:spcPct val="103000"/>
              </a:lnSpc>
              <a:spcAft>
                <a:spcPts val="300"/>
              </a:spcAft>
              <a:defRPr sz="800">
                <a:solidFill>
                  <a:srgbClr val="21242A"/>
                </a:solidFill>
                <a:latin typeface="Microsoft YaHei"/>
              </a:defRPr>
            </a:pPr>
            <a:r>
              <a:t>最佳完全缓解率(CRR): 56.2%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人数：73</a:t>
            </a:r>
          </a:p>
          <a:p>
            <a:pPr>
              <a:lnSpc>
                <a:spcPct val="103000"/>
              </a:lnSpc>
              <a:spcAft>
                <a:spcPts val="300"/>
              </a:spcAft>
              <a:defRPr sz="810">
                <a:solidFill>
                  <a:srgbClr val="21242A"/>
                </a:solidFill>
                <a:latin typeface="Microsoft YaHei"/>
              </a:defRPr>
            </a:pPr>
            <a:r>
              <a:t>适应症：B细胞非霍奇金淋巴瘤、大B细胞淋巴瘤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登记号：NCT06081478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试验药/方案：CD19/CD22靶向CAR-T(同仁医院)</a:t>
            </a:r>
          </a:p>
          <a:p>
            <a:pPr>
              <a:lnSpc>
                <a:spcPct val="103000"/>
              </a:lnSpc>
              <a:spcAft>
                <a:spcPts val="300"/>
              </a:spcAft>
              <a:defRPr sz="810">
                <a:solidFill>
                  <a:srgbClr val="21242A"/>
                </a:solidFill>
                <a:latin typeface="Microsoft YaHei"/>
              </a:defRPr>
            </a:pPr>
            <a:r>
              <a:t>靶点：CD19、CD22</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cd19/cd22双特异性car-t细胞治疗复发/难治性大b细胞淋巴瘤及其机制研究：一项前瞻性、单臂、单中心、2期临床...</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cd19/cd22 bispecific car-t cell therapy for relapsed/refractory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Chimeric antigen receptor T-cells (CAR-T) targeting CD19 have shown promising benefits to patients of relapsed or refractory large B-cell lymphoma (</a:t>
            </a:r>
          </a:p>
          <a:p>
            <a:pPr>
              <a:lnSpc>
                <a:spcPct val="103000"/>
              </a:lnSpc>
              <a:spcAft>
                <a:spcPts val="300"/>
              </a:spcAft>
              <a:defRPr sz="570">
                <a:solidFill>
                  <a:srgbClr val="21242A"/>
                </a:solidFill>
                <a:latin typeface="Microsoft YaHei"/>
              </a:defRPr>
            </a:pPr>
            <a:r>
              <a:t>R/R LBCL), but only one-third patients got durable remission and the resistance mechanisms were complicated.</a:t>
            </a:r>
          </a:p>
          <a:p>
            <a:pPr>
              <a:lnSpc>
                <a:spcPct val="103000"/>
              </a:lnSpc>
              <a:spcAft>
                <a:spcPts val="300"/>
              </a:spcAft>
              <a:defRPr sz="570">
                <a:solidFill>
                  <a:srgbClr val="21242A"/>
                </a:solidFill>
                <a:latin typeface="Microsoft YaHei"/>
              </a:defRPr>
            </a:pPr>
            <a:r>
              <a:t>CAR-T cells targeting CD22 were found to be effective in patients who failed previous anti-CD19 CAR-T cell therapy.</a:t>
            </a:r>
          </a:p>
          <a:p>
            <a:pPr>
              <a:lnSpc>
                <a:spcPct val="103000"/>
              </a:lnSpc>
              <a:spcAft>
                <a:spcPts val="300"/>
              </a:spcAft>
              <a:defRPr sz="570">
                <a:solidFill>
                  <a:srgbClr val="21242A"/>
                </a:solidFill>
                <a:latin typeface="Microsoft YaHei"/>
              </a:defRPr>
            </a:pPr>
            <a:r>
              <a:t>Aims: In this prospective study, we aimed to evaluate the efficacy and safety of CD19/CD22 bispecific CAR-T cell therapy (CAR2219) in patients with R/R LBCL, an</a:t>
            </a:r>
          </a:p>
          <a:p>
            <a:pPr>
              <a:lnSpc>
                <a:spcPct val="103000"/>
              </a:lnSpc>
              <a:spcAft>
                <a:spcPts val="300"/>
              </a:spcAft>
              <a:defRPr sz="570">
                <a:solidFill>
                  <a:srgbClr val="21242A"/>
                </a:solidFill>
                <a:latin typeface="Microsoft YaHei"/>
              </a:defRPr>
            </a:pPr>
            <a:r>
              <a:t>d to explore the underlying mechanisms associated with therapeutic response using single-cell sequencing and in vitro experiments.</a:t>
            </a:r>
          </a:p>
          <a:p>
            <a:pPr>
              <a:lnSpc>
                <a:spcPct val="103000"/>
              </a:lnSpc>
              <a:spcAft>
                <a:spcPts val="300"/>
              </a:spcAft>
              <a:defRPr sz="570">
                <a:solidFill>
                  <a:srgbClr val="21242A"/>
                </a:solidFill>
                <a:latin typeface="Microsoft YaHei"/>
              </a:defRPr>
            </a:pPr>
            <a:r>
              <a:t>Methods: Till February 10, 2026, this ongoing phase 2 clinical trial have enrolled 73 patients with R/R LBCL, and all were evaluable for efficacy and safety pro</a:t>
            </a:r>
          </a:p>
          <a:p>
            <a:pPr>
              <a:lnSpc>
                <a:spcPct val="103000"/>
              </a:lnSpc>
              <a:spcAft>
                <a:spcPts val="300"/>
              </a:spcAft>
              <a:defRPr sz="570">
                <a:solidFill>
                  <a:srgbClr val="21242A"/>
                </a:solidFill>
                <a:latin typeface="Microsoft YaHei"/>
              </a:defRPr>
            </a:pPr>
            <a:r>
              <a:t>files.</a:t>
            </a:r>
          </a:p>
          <a:p>
            <a:pPr>
              <a:lnSpc>
                <a:spcPct val="103000"/>
              </a:lnSpc>
              <a:spcAft>
                <a:spcPts val="300"/>
              </a:spcAft>
              <a:defRPr sz="570">
                <a:solidFill>
                  <a:srgbClr val="21242A"/>
                </a:solidFill>
                <a:latin typeface="Microsoft YaHei"/>
              </a:defRPr>
            </a:pPr>
            <a:r>
              <a:t>Bridging therapy was allowed.</a:t>
            </a:r>
          </a:p>
          <a:p>
            <a:pPr>
              <a:lnSpc>
                <a:spcPct val="103000"/>
              </a:lnSpc>
              <a:spcAft>
                <a:spcPts val="300"/>
              </a:spcAft>
              <a:defRPr sz="570">
                <a:solidFill>
                  <a:srgbClr val="21242A"/>
                </a:solidFill>
                <a:latin typeface="Microsoft YaHei"/>
              </a:defRPr>
            </a:pPr>
            <a:r>
              <a:t>A 3-day lymphodepletion (cyclophosphamide: 250 mg/m2/d; fludarabine: 25 mg/m2/d) was followed by an intravenous dose of CAR2219 (2×10e6/kg).</a:t>
            </a:r>
          </a:p>
          <a:p>
            <a:pPr>
              <a:lnSpc>
                <a:spcPct val="103000"/>
              </a:lnSpc>
              <a:spcAft>
                <a:spcPts val="300"/>
              </a:spcAft>
              <a:defRPr sz="570">
                <a:solidFill>
                  <a:srgbClr val="21242A"/>
                </a:solidFill>
                <a:latin typeface="Microsoft YaHei"/>
              </a:defRPr>
            </a:pPr>
            <a:r>
              <a:t>For patients who responded to CAR2219 therapy, maintenance therapy using PD-1 inhibitors, XPO1 inhibitors, BTK inhibitors, or HDAC inhibitors were also allowed.</a:t>
            </a:r>
          </a:p>
          <a:p>
            <a:pPr>
              <a:lnSpc>
                <a:spcPct val="103000"/>
              </a:lnSpc>
              <a:spcAft>
                <a:spcPts val="300"/>
              </a:spcAft>
              <a:defRPr sz="570">
                <a:solidFill>
                  <a:srgbClr val="21242A"/>
                </a:solidFill>
                <a:latin typeface="Microsoft YaHei"/>
              </a:defRPr>
            </a:pPr>
            <a:r>
              <a:t>The primary endpoint was best overall response rate (ORR) as of 3 months post-CAR-T cells infusion.</a:t>
            </a:r>
          </a:p>
          <a:p>
            <a:pPr>
              <a:lnSpc>
                <a:spcPct val="103000"/>
              </a:lnSpc>
              <a:spcAft>
                <a:spcPts val="300"/>
              </a:spcAft>
              <a:defRPr sz="570">
                <a:solidFill>
                  <a:srgbClr val="21242A"/>
                </a:solidFill>
                <a:latin typeface="Microsoft YaHei"/>
              </a:defRPr>
            </a:pPr>
            <a:r>
              <a:t>The secondary endpoints included best complete response rate (CRR), progression-free survival (PFS), overall survival (OS), and adverse events (AE).</a:t>
            </a:r>
          </a:p>
          <a:p>
            <a:pPr>
              <a:lnSpc>
                <a:spcPct val="103000"/>
              </a:lnSpc>
              <a:spcAft>
                <a:spcPts val="300"/>
              </a:spcAft>
              <a:defRPr sz="570">
                <a:solidFill>
                  <a:srgbClr val="21242A"/>
                </a:solidFill>
                <a:latin typeface="Microsoft YaHei"/>
              </a:defRPr>
            </a:pPr>
            <a:r>
              <a:t>Meanwhile, single-cell RNA sequencing was performed on CAR-T cell products collected from 14 patients; clustering and functional analyses were conducted after s</a:t>
            </a:r>
          </a:p>
          <a:p>
            <a:pPr>
              <a:lnSpc>
                <a:spcPct val="103000"/>
              </a:lnSpc>
              <a:spcAft>
                <a:spcPts val="300"/>
              </a:spcAft>
              <a:defRPr sz="570">
                <a:solidFill>
                  <a:srgbClr val="21242A"/>
                </a:solidFill>
                <a:latin typeface="Microsoft YaHei"/>
              </a:defRPr>
            </a:pPr>
            <a:r>
              <a:t>tratification by PFS with a cutoff of 6 months, and double-stranded RNA (dsRNA) levels in CAR-T cell products were detected by immunofluorescence.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CD19/CD22 bispecific CAR-T cell therapy demonstrated encouraging efficacy and a favorable safety profile in patients with R/R LBCL.</a:t>
            </a:r>
          </a:p>
          <a:p>
            <a:pPr>
              <a:lnSpc>
                <a:spcPct val="103000"/>
              </a:lnSpc>
              <a:spcAft>
                <a:spcPts val="300"/>
              </a:spcAft>
              <a:defRPr sz="590">
                <a:solidFill>
                  <a:srgbClr val="21242A"/>
                </a:solidFill>
                <a:latin typeface="Microsoft YaHei"/>
              </a:defRPr>
            </a:pPr>
            <a:r>
              <a:t>Enrichment of specific CD4⁺ T cell subsets, activation of the interferon pathway, and activation of viral mimicry may be closely associated with the efficacy of</a:t>
            </a:r>
          </a:p>
          <a:p>
            <a:pPr>
              <a:lnSpc>
                <a:spcPct val="103000"/>
              </a:lnSpc>
              <a:spcAft>
                <a:spcPts val="300"/>
              </a:spcAft>
              <a:defRPr sz="590">
                <a:solidFill>
                  <a:srgbClr val="21242A"/>
                </a:solidFill>
                <a:latin typeface="Microsoft YaHei"/>
              </a:defRPr>
            </a:pPr>
            <a:r>
              <a:t> this therapy.</a:t>
            </a:r>
          </a:p>
          <a:p>
            <a:pPr>
              <a:lnSpc>
                <a:spcPct val="103000"/>
              </a:lnSpc>
              <a:spcAft>
                <a:spcPts val="300"/>
              </a:spcAft>
              <a:defRPr sz="590">
                <a:solidFill>
                  <a:srgbClr val="21242A"/>
                </a:solidFill>
                <a:latin typeface="Microsoft YaHei"/>
              </a:defRPr>
            </a:pPr>
            <a:r>
              <a:t>(ClinicalTrials.gov Identifier: NCT06081478)</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最佳客观缓解率(ORR)</a:t>
                      </a:r>
                    </a:p>
                  </a:txBody>
                  <a:tcPr>
                    <a:solidFill>
                      <a:srgbClr val="F6F8FB"/>
                    </a:solidFill>
                  </a:tcPr>
                </a:tc>
                <a:tc>
                  <a:txBody>
                    <a:bodyPr wrap="square" lIns="36576" rIns="36576" tIns="18288" bIns="18288"/>
                    <a:lstStyle/>
                    <a:p>
                      <a:r>
                        <a:rPr sz="540" b="0">
                          <a:solidFill>
                            <a:srgbClr val="21242A"/>
                          </a:solidFill>
                          <a:latin typeface="Microsoft YaHei"/>
                        </a:rPr>
                        <a:t>95.9%</a:t>
                      </a:r>
                    </a:p>
                  </a:txBody>
                  <a:tcPr>
                    <a:solidFill>
                      <a:srgbClr val="F6F8FB"/>
                    </a:solidFill>
                  </a:tcPr>
                </a:tc>
              </a:tr>
              <a:tr h="187452">
                <a:tc>
                  <a:txBody>
                    <a:bodyPr wrap="square" lIns="36576" rIns="36576" tIns="18288" bIns="18288"/>
                    <a:lstStyle/>
                    <a:p>
                      <a:r>
                        <a:rPr sz="540" b="1">
                          <a:solidFill>
                            <a:srgbClr val="21242A"/>
                          </a:solidFill>
                          <a:latin typeface="Microsoft YaHei"/>
                        </a:rPr>
                        <a:t>最佳完全缓解率(CRR)</a:t>
                      </a:r>
                    </a:p>
                  </a:txBody>
                  <a:tcPr>
                    <a:solidFill>
                      <a:srgbClr val="FFFFFF"/>
                    </a:solidFill>
                  </a:tcPr>
                </a:tc>
                <a:tc>
                  <a:txBody>
                    <a:bodyPr wrap="square" lIns="36576" rIns="36576" tIns="18288" bIns="18288"/>
                    <a:lstStyle/>
                    <a:p>
                      <a:r>
                        <a:rPr sz="540" b="0">
                          <a:solidFill>
                            <a:srgbClr val="21242A"/>
                          </a:solidFill>
                          <a:latin typeface="Microsoft YaHei"/>
                        </a:rPr>
                        <a:t>56.2%</a:t>
                      </a:r>
                    </a:p>
                  </a:txBody>
                  <a:tcPr>
                    <a:solidFill>
                      <a:srgbClr val="FFFFFF"/>
                    </a:solidFill>
                  </a:tcPr>
                </a:tc>
              </a:tr>
              <a:tr h="187452">
                <a:tc>
                  <a:txBody>
                    <a:bodyPr wrap="square" lIns="36576" rIns="36576" tIns="18288" bIns="18288"/>
                    <a:lstStyle/>
                    <a:p>
                      <a:r>
                        <a:rPr sz="540" b="1">
                          <a:solidFill>
                            <a:srgbClr val="21242A"/>
                          </a:solidFill>
                          <a:latin typeface="Microsoft YaHei"/>
                        </a:rPr>
                        <a:t>中位无进展生存期(PFS)</a:t>
                      </a:r>
                    </a:p>
                  </a:txBody>
                  <a:tcPr>
                    <a:solidFill>
                      <a:srgbClr val="F6F8FB"/>
                    </a:solidFill>
                  </a:tcPr>
                </a:tc>
                <a:tc>
                  <a:txBody>
                    <a:bodyPr wrap="square" lIns="36576" rIns="36576" tIns="18288" bIns="18288"/>
                    <a:lstStyle/>
                    <a:p>
                      <a:r>
                        <a:rPr sz="540" b="0">
                          <a:solidFill>
                            <a:srgbClr val="21242A"/>
                          </a:solidFill>
                          <a:latin typeface="Microsoft YaHei"/>
                        </a:rPr>
                        <a:t>未达到</a:t>
                      </a:r>
                    </a:p>
                  </a:txBody>
                  <a:tcPr>
                    <a:solidFill>
                      <a:srgbClr val="F6F8FB"/>
                    </a:solidFill>
                  </a:tcPr>
                </a:tc>
              </a:tr>
              <a:tr h="187452">
                <a:tc>
                  <a:txBody>
                    <a:bodyPr wrap="square" lIns="36576" rIns="36576" tIns="18288" bIns="18288"/>
                    <a:lstStyle/>
                    <a:p>
                      <a:r>
                        <a:rPr sz="540" b="1">
                          <a:solidFill>
                            <a:srgbClr val="21242A"/>
                          </a:solidFill>
                          <a:latin typeface="Microsoft YaHei"/>
                        </a:rPr>
                        <a:t>中位总生存期(OS)</a:t>
                      </a:r>
                    </a:p>
                  </a:txBody>
                  <a:tcPr>
                    <a:solidFill>
                      <a:srgbClr val="FFFFFF"/>
                    </a:solidFill>
                  </a:tcPr>
                </a:tc>
                <a:tc>
                  <a:txBody>
                    <a:bodyPr wrap="square" lIns="36576" rIns="36576" tIns="18288" bIns="18288"/>
                    <a:lstStyle/>
                    <a:p>
                      <a:r>
                        <a:rPr sz="540" b="0">
                          <a:solidFill>
                            <a:srgbClr val="21242A"/>
                          </a:solidFill>
                          <a:latin typeface="Microsoft YaHei"/>
                        </a:rPr>
                        <a:t>未达到</a:t>
                      </a:r>
                    </a:p>
                  </a:txBody>
                  <a:tcPr>
                    <a:solidFill>
                      <a:srgbClr val="FFFFFF"/>
                    </a:solidFill>
                  </a:tcPr>
                </a:tc>
              </a:tr>
              <a:tr h="187452">
                <a:tc>
                  <a:txBody>
                    <a:bodyPr wrap="square" lIns="36576" rIns="36576" tIns="18288" bIns="18288"/>
                    <a:lstStyle/>
                    <a:p>
                      <a:r>
                        <a:rPr sz="540" b="1">
                          <a:solidFill>
                            <a:srgbClr val="21242A"/>
                          </a:solidFill>
                          <a:latin typeface="Microsoft YaHei"/>
                        </a:rPr>
                        <a:t>估计24个月PFS率</a:t>
                      </a:r>
                    </a:p>
                  </a:txBody>
                  <a:tcPr>
                    <a:solidFill>
                      <a:srgbClr val="F6F8FB"/>
                    </a:solidFill>
                  </a:tcPr>
                </a:tc>
                <a:tc>
                  <a:txBody>
                    <a:bodyPr wrap="square" lIns="36576" rIns="36576" tIns="18288" bIns="18288"/>
                    <a:lstStyle/>
                    <a:p>
                      <a:r>
                        <a:rPr sz="540" b="0">
                          <a:solidFill>
                            <a:srgbClr val="21242A"/>
                          </a:solidFill>
                          <a:latin typeface="Microsoft YaHei"/>
                        </a:rPr>
                        <a:t>68.5% [95%CI: 57.2-79.8%]</a:t>
                      </a:r>
                    </a:p>
                  </a:txBody>
                  <a:tcPr>
                    <a:solidFill>
                      <a:srgbClr val="F6F8FB"/>
                    </a:solidFill>
                  </a:tcPr>
                </a:tc>
              </a:tr>
              <a:tr h="187452">
                <a:tc>
                  <a:txBody>
                    <a:bodyPr wrap="square" lIns="36576" rIns="36576" tIns="18288" bIns="18288"/>
                    <a:lstStyle/>
                    <a:p>
                      <a:r>
                        <a:rPr sz="540" b="1">
                          <a:solidFill>
                            <a:srgbClr val="21242A"/>
                          </a:solidFill>
                          <a:latin typeface="Microsoft YaHei"/>
                        </a:rPr>
                        <a:t>估计24个月OS率</a:t>
                      </a:r>
                    </a:p>
                  </a:txBody>
                  <a:tcPr>
                    <a:solidFill>
                      <a:srgbClr val="FFFFFF"/>
                    </a:solidFill>
                  </a:tcPr>
                </a:tc>
                <a:tc>
                  <a:txBody>
                    <a:bodyPr wrap="square" lIns="36576" rIns="36576" tIns="18288" bIns="18288"/>
                    <a:lstStyle/>
                    <a:p>
                      <a:r>
                        <a:rPr sz="540" b="0">
                          <a:solidFill>
                            <a:srgbClr val="21242A"/>
                          </a:solidFill>
                          <a:latin typeface="Microsoft YaHei"/>
                        </a:rPr>
                        <a:t>82.3% [95%CI: 73.5-91.1%]</a:t>
                      </a:r>
                    </a:p>
                  </a:txBody>
                  <a:tcPr>
                    <a:solidFill>
                      <a:srgbClr val="FFFFFF"/>
                    </a:solidFill>
                  </a:tcPr>
                </a:tc>
              </a:tr>
              <a:tr h="187452">
                <a:tc>
                  <a:txBody>
                    <a:bodyPr wrap="square" lIns="36576" rIns="36576" tIns="18288" bIns="18288"/>
                    <a:lstStyle/>
                    <a:p>
                      <a:r>
                        <a:rPr sz="540" b="1">
                          <a:solidFill>
                            <a:srgbClr val="21242A"/>
                          </a:solidFill>
                          <a:latin typeface="Microsoft YaHei"/>
                        </a:rPr>
                        <a:t>不良事件</a:t>
                      </a:r>
                    </a:p>
                  </a:txBody>
                  <a:tcPr>
                    <a:solidFill>
                      <a:srgbClr val="F6F8FB"/>
                    </a:solidFill>
                  </a:tcPr>
                </a:tc>
                <a:tc>
                  <a:txBody>
                    <a:bodyPr wrap="square" lIns="36576" rIns="36576" tIns="18288" bIns="18288"/>
                    <a:lstStyle/>
                    <a:p>
                      <a:r>
                        <a:rPr sz="540" b="0">
                          <a:solidFill>
                            <a:srgbClr val="21242A"/>
                          </a:solidFill>
                          <a:latin typeface="Microsoft YaHei"/>
                        </a:rPr>
                        <a:t>中性粒细胞减少93.2%, 血小板减少76.7%, 贫血76.7%; CRS 83.6% (3级2例); ICANS 5.5% (3级2例, 4级1例)</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摘要号：S286</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t细胞扩增过程中支链氨基酸的生物利用度与lbcl中有利的t细胞状态和临床反应有关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branched-chain amino acid bioavailability during cd19 car t-cell expansion as...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支链氨基酸（缬氨酸和异亮氨酸）升高与完全缓解率及生存期延长显著相关</a:t>
            </a:r>
          </a:p>
          <a:p>
            <a:pPr>
              <a:lnSpc>
                <a:spcPct val="103000"/>
              </a:lnSpc>
              <a:spcAft>
                <a:spcPts val="300"/>
              </a:spcAft>
              <a:defRPr sz="800">
                <a:solidFill>
                  <a:srgbClr val="21242A"/>
                </a:solidFill>
                <a:latin typeface="Microsoft YaHei"/>
              </a:defRPr>
            </a:pPr>
            <a:r>
              <a:t>Profile A患者（氨基酸、葡萄糖、胰岛素、乳酸普遍升高）表现出更高的CD4和CD8 CAR-T细胞水平，以及平衡的CAR...</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人数：66</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t细胞扩增过程中支链氨基酸的生物利用度与lbcl中有利的t细胞状态和临床反应有关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branched-chain amino acid bioavailability during cd19 car t-cell expansion as...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metabolic environment critically regulates T-cell activation, differentiation, and effector function.</a:t>
            </a:r>
          </a:p>
          <a:p>
            <a:pPr>
              <a:lnSpc>
                <a:spcPct val="103000"/>
              </a:lnSpc>
              <a:spcAft>
                <a:spcPts val="300"/>
              </a:spcAft>
              <a:defRPr sz="570">
                <a:solidFill>
                  <a:srgbClr val="21242A"/>
                </a:solidFill>
                <a:latin typeface="Microsoft YaHei"/>
              </a:defRPr>
            </a:pPr>
            <a:r>
              <a:t>Distinct T-cell subsets exhibit specific metabolic programs: effector T cells are predominantly glycolytic or even lipogenic, whereas regulatory T-cells (T REG </a:t>
            </a:r>
          </a:p>
          <a:p>
            <a:pPr>
              <a:lnSpc>
                <a:spcPct val="103000"/>
              </a:lnSpc>
              <a:spcAft>
                <a:spcPts val="300"/>
              </a:spcAft>
              <a:defRPr sz="570">
                <a:solidFill>
                  <a:srgbClr val="21242A"/>
                </a:solidFill>
                <a:latin typeface="Microsoft YaHei"/>
              </a:defRPr>
            </a:pPr>
            <a:r>
              <a:t>) rely more heavily on oxidative and lipid metabolic pathways.</a:t>
            </a:r>
          </a:p>
          <a:p>
            <a:pPr>
              <a:lnSpc>
                <a:spcPct val="103000"/>
              </a:lnSpc>
              <a:spcAft>
                <a:spcPts val="300"/>
              </a:spcAft>
              <a:defRPr sz="570">
                <a:solidFill>
                  <a:srgbClr val="21242A"/>
                </a:solidFill>
                <a:latin typeface="Microsoft YaHei"/>
              </a:defRPr>
            </a:pPr>
            <a:r>
              <a:t>Nutrient deprivation impairs effector function and promotes dysfunctional states.</a:t>
            </a:r>
          </a:p>
          <a:p>
            <a:pPr>
              <a:lnSpc>
                <a:spcPct val="103000"/>
              </a:lnSpc>
              <a:spcAft>
                <a:spcPts val="300"/>
              </a:spcAft>
              <a:defRPr sz="570">
                <a:solidFill>
                  <a:srgbClr val="21242A"/>
                </a:solidFill>
                <a:latin typeface="Microsoft YaHei"/>
              </a:defRPr>
            </a:pPr>
            <a:r>
              <a:t>The host metabolic milieu may therefore represent an underappreciated determinant of CAR T-cell expansion and anti-tumor efficacy.</a:t>
            </a:r>
          </a:p>
          <a:p>
            <a:pPr>
              <a:lnSpc>
                <a:spcPct val="103000"/>
              </a:lnSpc>
              <a:spcAft>
                <a:spcPts val="300"/>
              </a:spcAft>
              <a:defRPr sz="570">
                <a:solidFill>
                  <a:srgbClr val="21242A"/>
                </a:solidFill>
                <a:latin typeface="Microsoft YaHei"/>
              </a:defRPr>
            </a:pPr>
            <a:r>
              <a:t>Aims: We sought to determine whether dynamic changes in plasma nutrient availability following CD19 CAR T-cell infusion associate with T-cell subsets and clinic</a:t>
            </a:r>
          </a:p>
          <a:p>
            <a:pPr>
              <a:lnSpc>
                <a:spcPct val="103000"/>
              </a:lnSpc>
              <a:spcAft>
                <a:spcPts val="300"/>
              </a:spcAft>
              <a:defRPr sz="570">
                <a:solidFill>
                  <a:srgbClr val="21242A"/>
                </a:solidFill>
                <a:latin typeface="Microsoft YaHei"/>
              </a:defRPr>
            </a:pPr>
            <a:r>
              <a:t>al outcomes in patients with large B-cell lymphoma (LBCL).</a:t>
            </a:r>
          </a:p>
          <a:p>
            <a:pPr>
              <a:lnSpc>
                <a:spcPct val="103000"/>
              </a:lnSpc>
              <a:spcAft>
                <a:spcPts val="300"/>
              </a:spcAft>
              <a:defRPr sz="570">
                <a:solidFill>
                  <a:srgbClr val="21242A"/>
                </a:solidFill>
                <a:latin typeface="Microsoft YaHei"/>
              </a:defRPr>
            </a:pPr>
            <a:r>
              <a:t>Methods: Plasma and cryopreserved peripheral blood mononuclear cells were collected at baseline (D0) and day 7 (D7) following infusion of axicabtagene ciloleuce</a:t>
            </a:r>
          </a:p>
          <a:p>
            <a:pPr>
              <a:lnSpc>
                <a:spcPct val="103000"/>
              </a:lnSpc>
              <a:spcAft>
                <a:spcPts val="300"/>
              </a:spcAft>
              <a:defRPr sz="570">
                <a:solidFill>
                  <a:srgbClr val="21242A"/>
                </a:solidFill>
                <a:latin typeface="Microsoft YaHei"/>
              </a:defRPr>
            </a:pPr>
            <a:r>
              <a:t>l (axi-cel) or tisagenlecleucel in LBCL patients from the CeVi_Collection.</a:t>
            </a:r>
          </a:p>
          <a:p>
            <a:pPr>
              <a:lnSpc>
                <a:spcPct val="103000"/>
              </a:lnSpc>
              <a:spcAft>
                <a:spcPts val="300"/>
              </a:spcAft>
              <a:defRPr sz="570">
                <a:solidFill>
                  <a:srgbClr val="21242A"/>
                </a:solidFill>
                <a:latin typeface="Microsoft YaHei"/>
              </a:defRPr>
            </a:pPr>
            <a:r>
              <a:t>Glucose, lactate, and insulin were quantified on the Roche Cobas 8000 platform.</a:t>
            </a:r>
          </a:p>
          <a:p>
            <a:pPr>
              <a:lnSpc>
                <a:spcPct val="103000"/>
              </a:lnSpc>
              <a:spcAft>
                <a:spcPts val="300"/>
              </a:spcAft>
              <a:defRPr sz="570">
                <a:solidFill>
                  <a:srgbClr val="21242A"/>
                </a:solidFill>
                <a:latin typeface="Microsoft YaHei"/>
              </a:defRPr>
            </a:pPr>
            <a:r>
              <a:t>Amino acid concentrations were measured by ultra-performance liquid chromatography-tandem mass spectrometry (Waters Xevo-TQD), and plasma fatty acid composition</a:t>
            </a:r>
          </a:p>
          <a:p>
            <a:pPr>
              <a:lnSpc>
                <a:spcPct val="103000"/>
              </a:lnSpc>
              <a:spcAft>
                <a:spcPts val="300"/>
              </a:spcAft>
              <a:defRPr sz="570">
                <a:solidFill>
                  <a:srgbClr val="21242A"/>
                </a:solidFill>
                <a:latin typeface="Microsoft YaHei"/>
              </a:defRPr>
            </a:pPr>
            <a:r>
              <a:t> was assessed by gas liquid chromatography with flame-ionization detection.</a:t>
            </a:r>
          </a:p>
          <a:p>
            <a:pPr>
              <a:lnSpc>
                <a:spcPct val="103000"/>
              </a:lnSpc>
              <a:spcAft>
                <a:spcPts val="300"/>
              </a:spcAft>
              <a:defRPr sz="570">
                <a:solidFill>
                  <a:srgbClr val="21242A"/>
                </a:solidFill>
                <a:latin typeface="Microsoft YaHei"/>
              </a:defRPr>
            </a:pPr>
            <a:r>
              <a:t>Unsupervised hierarchical clustering of D0-D7 variations was used to define metabolic profiles.</a:t>
            </a:r>
          </a:p>
          <a:p>
            <a:pPr>
              <a:lnSpc>
                <a:spcPct val="103000"/>
              </a:lnSpc>
              <a:spcAft>
                <a:spcPts val="300"/>
              </a:spcAft>
              <a:defRPr sz="570">
                <a:solidFill>
                  <a:srgbClr val="21242A"/>
                </a:solidFill>
                <a:latin typeface="Microsoft YaHei"/>
              </a:defRPr>
            </a:pPr>
            <a:r>
              <a:t>Single cell RNA-Seq was performed on sorted D7 CAR+ and CAR- T-cells (10x Genomics) to characterize T cell subsets and cellular states.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Dynamic changes in plasma nutrient availability following CD19 CAR T-cell therapy define distinct metabolic trajectories that associate with T-cell differentiat</a:t>
            </a:r>
          </a:p>
          <a:p>
            <a:pPr>
              <a:lnSpc>
                <a:spcPct val="103000"/>
              </a:lnSpc>
              <a:spcAft>
                <a:spcPts val="300"/>
              </a:spcAft>
              <a:defRPr sz="590">
                <a:solidFill>
                  <a:srgbClr val="21242A"/>
                </a:solidFill>
                <a:latin typeface="Microsoft YaHei"/>
              </a:defRPr>
            </a:pPr>
            <a:r>
              <a:t>ion states and clinical outcome in LBCL.</a:t>
            </a:r>
          </a:p>
          <a:p>
            <a:pPr>
              <a:lnSpc>
                <a:spcPct val="103000"/>
              </a:lnSpc>
              <a:spcAft>
                <a:spcPts val="300"/>
              </a:spcAft>
              <a:defRPr sz="590">
                <a:solidFill>
                  <a:srgbClr val="21242A"/>
                </a:solidFill>
                <a:latin typeface="Microsoft YaHei"/>
              </a:defRPr>
            </a:pPr>
            <a:r>
              <a:t>In particular, increased branched-chain amino acid bioavailability correlates with favorable CAR T-cell phenotypes and therapeutic response.</a:t>
            </a:r>
          </a:p>
          <a:p>
            <a:pPr>
              <a:lnSpc>
                <a:spcPct val="103000"/>
              </a:lnSpc>
              <a:spcAft>
                <a:spcPts val="300"/>
              </a:spcAft>
              <a:defRPr sz="590">
                <a:solidFill>
                  <a:srgbClr val="21242A"/>
                </a:solidFill>
                <a:latin typeface="Microsoft YaHei"/>
              </a:defRPr>
            </a:pPr>
            <a:r>
              <a:t>These findings support the development of metabolic or nutritional interventions to optimize CAR T-cell expansion and anti-tumor efficacy.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37490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374904">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支链氨基酸（缬氨酸和异亮氨酸）升高与完全缓解率及生存期延长显著相关</a:t>
                      </a:r>
                    </a:p>
                  </a:txBody>
                  <a:tcPr>
                    <a:solidFill>
                      <a:srgbClr val="F6F8FB"/>
                    </a:solidFill>
                  </a:tcPr>
                </a:tc>
              </a:tr>
              <a:tr h="374904">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Profile A患者（氨基酸、葡萄糖、胰岛素、乳酸普遍升高）表现出更高的CD4和CD8 CAR-T细胞水平，以及平衡的CAR+和CAR- CD4中央记忆细胞和CD8效应记忆细胞比例，活化CD4 T细胞占优势</a:t>
                      </a:r>
                    </a:p>
                  </a:txBody>
                  <a:tcPr>
                    <a:solidFill>
                      <a:srgbClr val="FFFFFF"/>
                    </a:solidFill>
                  </a:tcPr>
                </a:tc>
              </a:tr>
              <a:tr h="374904">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Profile B（饱和脂肪酸升高、氨基酸下降）和Profile C（普遍营养物质下降）患者CD4中央记忆细胞频率降低，Treg细胞富集，活化CD4 T细胞减少；Profile C还表现出活化CD8 T细胞增加</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摘要号：S284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vispa-cel，一种pd-1敲除的异基因抗cd19car-t细胞疗法，用于复发/难治性b细胞非霍奇金淋巴瘤患者（鹿...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vispa-cel, an allogeneic anti-cd19 car-t cell therapy with a pd-1 knockout,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试验药/方案：Vispacabtagene regedleucel</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多组/多方案比较：所有患者均接受淋巴细胞清除化疗（环磷酰胺+氟达拉滨）后输注vispa-cel，剂量分为40×10^6、80×...</a:t>
            </a:r>
          </a:p>
          <a:p>
            <a:pPr>
              <a:lnSpc>
                <a:spcPct val="103000"/>
              </a:lnSpc>
              <a:spcAft>
                <a:spcPts val="300"/>
              </a:spcAft>
              <a:defRPr sz="800">
                <a:solidFill>
                  <a:srgbClr val="21242A"/>
                </a:solidFill>
                <a:latin typeface="Microsoft YaHei"/>
              </a:defRPr>
            </a:pPr>
            <a:r>
              <a:t>推荐剂量（RP2D）为80×10^6，并设有2L LBCL确认队列（80×10^6）</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总有效率（ORR）：82%（确认队列）</a:t>
            </a:r>
          </a:p>
          <a:p>
            <a:pPr>
              <a:lnSpc>
                <a:spcPct val="103000"/>
              </a:lnSpc>
              <a:spcAft>
                <a:spcPts val="300"/>
              </a:spcAft>
              <a:defRPr sz="800">
                <a:solidFill>
                  <a:srgbClr val="21242A"/>
                </a:solidFill>
                <a:latin typeface="Microsoft YaHei"/>
              </a:defRPr>
            </a:pPr>
            <a:r>
              <a:t>完全缓解率（CR）：64%（确认队列）</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登记号：NCT04637763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试验药/方案：Vispacabtagene regedleucel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药物/技术类别：CAR-T、异体细胞、腺相关病毒载体AAV</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vispa-cel，一种pd-1敲除的异基因抗cd19car-t细胞疗法，用于复发/难治性b细胞非霍奇金淋巴瘤患者（鹿...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vispa-cel, an allogeneic anti-cd19 car-t cell therapy with a pd-1 knockout,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Vispacabtagene regedleucel (vispa-cel, formerly CB-010) is an allogeneic anti-CD19 CAR-T cell therapy manufactured from healthy donor T cells.</a:t>
            </a:r>
          </a:p>
          <a:p>
            <a:pPr>
              <a:lnSpc>
                <a:spcPct val="103000"/>
              </a:lnSpc>
              <a:spcAft>
                <a:spcPts val="300"/>
              </a:spcAft>
              <a:defRPr sz="570">
                <a:solidFill>
                  <a:srgbClr val="21242A"/>
                </a:solidFill>
                <a:latin typeface="Microsoft YaHei"/>
              </a:defRPr>
            </a:pPr>
            <a:r>
              <a:t>The Cas9 chRDNA genome-editing technology is used for three genome edits: (1) KO of TRAC to reduce risk of GvHD, (2) insertion of a CD19-specific CAR (FMC63 scF</a:t>
            </a:r>
          </a:p>
          <a:p>
            <a:pPr>
              <a:lnSpc>
                <a:spcPct val="103000"/>
              </a:lnSpc>
              <a:spcAft>
                <a:spcPts val="300"/>
              </a:spcAft>
              <a:defRPr sz="570">
                <a:solidFill>
                  <a:srgbClr val="21242A"/>
                </a:solidFill>
                <a:latin typeface="Microsoft YaHei"/>
              </a:defRPr>
            </a:pPr>
            <a:r>
              <a:t>v, 4-1BB), and (3) KO of PD-1 to prevent premature CAR-T cell exhaustion and potentially enhance antitumor activity.</a:t>
            </a:r>
          </a:p>
          <a:p>
            <a:pPr>
              <a:lnSpc>
                <a:spcPct val="103000"/>
              </a:lnSpc>
              <a:spcAft>
                <a:spcPts val="300"/>
              </a:spcAft>
              <a:defRPr sz="570">
                <a:solidFill>
                  <a:srgbClr val="21242A"/>
                </a:solidFill>
                <a:latin typeface="Microsoft YaHei"/>
              </a:defRPr>
            </a:pPr>
            <a:r>
              <a:t>Aims: ANTLER is a Phase 1 trial (NCT04637763) with 3+3 dose escalation and expansion to evaluate the safety and efficacy of vispa-cel in patients (pts) with r/r</a:t>
            </a:r>
          </a:p>
          <a:p>
            <a:pPr>
              <a:lnSpc>
                <a:spcPct val="103000"/>
              </a:lnSpc>
              <a:spcAft>
                <a:spcPts val="300"/>
              </a:spcAft>
              <a:defRPr sz="570">
                <a:solidFill>
                  <a:srgbClr val="21242A"/>
                </a:solidFill>
                <a:latin typeface="Microsoft YaHei"/>
              </a:defRPr>
            </a:pPr>
            <a:r>
              <a:t> B-NHL and determine the RP2D.</a:t>
            </a:r>
          </a:p>
          <a:p>
            <a:pPr>
              <a:lnSpc>
                <a:spcPct val="103000"/>
              </a:lnSpc>
              <a:spcAft>
                <a:spcPts val="300"/>
              </a:spcAft>
              <a:defRPr sz="570">
                <a:solidFill>
                  <a:srgbClr val="21242A"/>
                </a:solidFill>
                <a:latin typeface="Microsoft YaHei"/>
              </a:defRPr>
            </a:pPr>
            <a:r>
              <a:t>Methods: All pts received lymphodepletion of sequential cyclophosphamide (60 mg/kg/day x 2 days) then fludarabine (25 mg/m 2 /day x 5 days) followed by a single</a:t>
            </a:r>
          </a:p>
          <a:p>
            <a:pPr>
              <a:lnSpc>
                <a:spcPct val="103000"/>
              </a:lnSpc>
              <a:spcAft>
                <a:spcPts val="300"/>
              </a:spcAft>
              <a:defRPr sz="570">
                <a:solidFill>
                  <a:srgbClr val="21242A"/>
                </a:solidFill>
                <a:latin typeface="Microsoft YaHei"/>
              </a:defRPr>
            </a:pPr>
            <a:r>
              <a:t> infusion of vispa-cel.</a:t>
            </a:r>
          </a:p>
          <a:p>
            <a:pPr>
              <a:lnSpc>
                <a:spcPct val="103000"/>
              </a:lnSpc>
              <a:spcAft>
                <a:spcPts val="300"/>
              </a:spcAft>
              <a:defRPr sz="570">
                <a:solidFill>
                  <a:srgbClr val="21242A"/>
                </a:solidFill>
                <a:latin typeface="Microsoft YaHei"/>
              </a:defRPr>
            </a:pPr>
            <a:r>
              <a:t>Three vispa-cel doses (40 million [M], 80M, and 120M cells) were evaluated in dose escalation and dose expansion. 80M cells was selected as the RP2D.</a:t>
            </a:r>
          </a:p>
          <a:p>
            <a:pPr>
              <a:lnSpc>
                <a:spcPct val="103000"/>
              </a:lnSpc>
              <a:spcAft>
                <a:spcPts val="300"/>
              </a:spcAft>
              <a:defRPr sz="570">
                <a:solidFill>
                  <a:srgbClr val="21242A"/>
                </a:solidFill>
                <a:latin typeface="Microsoft YaHei"/>
              </a:defRPr>
            </a:pPr>
            <a:r>
              <a:t>Subsequently, a 2L LBCL confirmatory cohort prospectively evaluated donor-recipient matching ≥4 HLA alleles.</a:t>
            </a:r>
          </a:p>
          <a:p>
            <a:pPr>
              <a:lnSpc>
                <a:spcPct val="103000"/>
              </a:lnSpc>
              <a:spcAft>
                <a:spcPts val="300"/>
              </a:spcAft>
              <a:defRPr sz="570">
                <a:solidFill>
                  <a:srgbClr val="21242A"/>
                </a:solidFill>
                <a:latin typeface="Microsoft YaHei"/>
              </a:defRPr>
            </a:pPr>
            <a:r>
              <a:t>A retrospective analysis was performed and identified LBCL pts treated with vispa-cel manufactured from a young donor (</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Vispa-cel is an allogeneic CAR-T cell therapy that results in deep and durable responses on par with approved autologous CAR-T cell therapies in 2L LBCL pts wit</a:t>
            </a:r>
          </a:p>
          <a:p>
            <a:pPr>
              <a:lnSpc>
                <a:spcPct val="103000"/>
              </a:lnSpc>
              <a:spcAft>
                <a:spcPts val="300"/>
              </a:spcAft>
              <a:defRPr sz="590">
                <a:solidFill>
                  <a:srgbClr val="21242A"/>
                </a:solidFill>
                <a:latin typeface="Microsoft YaHei"/>
              </a:defRPr>
            </a:pPr>
            <a:r>
              <a:t>h a generally well-tolerated safety profile supporting outpatient administration.</a:t>
            </a:r>
          </a:p>
          <a:p>
            <a:pPr>
              <a:lnSpc>
                <a:spcPct val="103000"/>
              </a:lnSpc>
              <a:spcAft>
                <a:spcPts val="300"/>
              </a:spcAft>
              <a:defRPr sz="590">
                <a:solidFill>
                  <a:srgbClr val="21242A"/>
                </a:solidFill>
                <a:latin typeface="Microsoft YaHei"/>
              </a:defRPr>
            </a:pPr>
            <a:r>
              <a:t>Improved PFS was observed in pts treated with vispa-cel manufactured from young donors (</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1. 总有效率（ORR）</a:t>
                      </a:r>
                    </a:p>
                  </a:txBody>
                  <a:tcPr>
                    <a:solidFill>
                      <a:srgbClr val="F6F8FB"/>
                    </a:solidFill>
                  </a:tcPr>
                </a:tc>
                <a:tc>
                  <a:txBody>
                    <a:bodyPr wrap="square" lIns="36576" rIns="36576" tIns="18288" bIns="18288"/>
                    <a:lstStyle/>
                    <a:p>
                      <a:r>
                        <a:rPr sz="540" b="0">
                          <a:solidFill>
                            <a:srgbClr val="21242A"/>
                          </a:solidFill>
                          <a:latin typeface="Microsoft YaHei"/>
                        </a:rPr>
                        <a:t>82%（确认队列）</a:t>
                      </a:r>
                    </a:p>
                  </a:txBody>
                  <a:tcPr>
                    <a:solidFill>
                      <a:srgbClr val="F6F8FB"/>
                    </a:solidFill>
                  </a:tcPr>
                </a:tc>
              </a:tr>
              <a:tr h="249936">
                <a:tc>
                  <a:txBody>
                    <a:bodyPr wrap="square" lIns="36576" rIns="36576" tIns="18288" bIns="18288"/>
                    <a:lstStyle/>
                    <a:p>
                      <a:r>
                        <a:rPr sz="540" b="1">
                          <a:solidFill>
                            <a:srgbClr val="21242A"/>
                          </a:solidFill>
                          <a:latin typeface="Microsoft YaHei"/>
                        </a:rPr>
                        <a:t>2. 完全缓解率（CR）</a:t>
                      </a:r>
                    </a:p>
                  </a:txBody>
                  <a:tcPr>
                    <a:solidFill>
                      <a:srgbClr val="FFFFFF"/>
                    </a:solidFill>
                  </a:tcPr>
                </a:tc>
                <a:tc>
                  <a:txBody>
                    <a:bodyPr wrap="square" lIns="36576" rIns="36576" tIns="18288" bIns="18288"/>
                    <a:lstStyle/>
                    <a:p>
                      <a:r>
                        <a:rPr sz="540" b="0">
                          <a:solidFill>
                            <a:srgbClr val="21242A"/>
                          </a:solidFill>
                          <a:latin typeface="Microsoft YaHei"/>
                        </a:rPr>
                        <a:t>64%（确认队列）</a:t>
                      </a:r>
                    </a:p>
                  </a:txBody>
                  <a:tcPr>
                    <a:solidFill>
                      <a:srgbClr val="FFFFFF"/>
                    </a:solidFill>
                  </a:tcPr>
                </a:tc>
              </a:tr>
              <a:tr h="249936">
                <a:tc>
                  <a:txBody>
                    <a:bodyPr wrap="square" lIns="36576" rIns="36576" tIns="18288" bIns="18288"/>
                    <a:lstStyle/>
                    <a:p>
                      <a:r>
                        <a:rPr sz="540" b="1">
                          <a:solidFill>
                            <a:srgbClr val="21242A"/>
                          </a:solidFill>
                          <a:latin typeface="Microsoft YaHei"/>
                        </a:rPr>
                        <a:t>3. 中位无进展生存期（PFS）和缓解持续时间（DOR）</a:t>
                      </a:r>
                    </a:p>
                  </a:txBody>
                  <a:tcPr>
                    <a:solidFill>
                      <a:srgbClr val="F6F8FB"/>
                    </a:solidFill>
                  </a:tcPr>
                </a:tc>
                <a:tc>
                  <a:txBody>
                    <a:bodyPr wrap="square" lIns="36576" rIns="36576" tIns="18288" bIns="18288"/>
                    <a:lstStyle/>
                    <a:p>
                      <a:r>
                        <a:rPr sz="540" b="0">
                          <a:solidFill>
                            <a:srgbClr val="21242A"/>
                          </a:solidFill>
                          <a:latin typeface="Microsoft YaHei"/>
                        </a:rPr>
                        <a:t>未达到</a:t>
                      </a:r>
                    </a:p>
                  </a:txBody>
                  <a:tcPr>
                    <a:solidFill>
                      <a:srgbClr val="F6F8FB"/>
                    </a:solidFill>
                  </a:tcPr>
                </a:tc>
              </a:tr>
              <a:tr h="249936">
                <a:tc>
                  <a:txBody>
                    <a:bodyPr wrap="square" lIns="36576" rIns="36576" tIns="18288" bIns="18288"/>
                    <a:lstStyle/>
                    <a:p>
                      <a:r>
                        <a:rPr sz="540" b="1">
                          <a:solidFill>
                            <a:srgbClr val="21242A"/>
                          </a:solidFill>
                          <a:latin typeface="Microsoft YaHei"/>
                        </a:rPr>
                        <a:t>4. 12个月PFS率</a:t>
                      </a:r>
                    </a:p>
                  </a:txBody>
                  <a:tcPr>
                    <a:solidFill>
                      <a:srgbClr val="FFFFFF"/>
                    </a:solidFill>
                  </a:tcPr>
                </a:tc>
                <a:tc>
                  <a:txBody>
                    <a:bodyPr wrap="square" lIns="36576" rIns="36576" tIns="18288" bIns="18288"/>
                    <a:lstStyle/>
                    <a:p>
                      <a:r>
                        <a:rPr sz="540" b="0">
                          <a:solidFill>
                            <a:srgbClr val="21242A"/>
                          </a:solidFill>
                          <a:latin typeface="Microsoft YaHei"/>
                        </a:rPr>
                        <a:t>51%</a:t>
                      </a:r>
                    </a:p>
                  </a:txBody>
                  <a:tcPr>
                    <a:solidFill>
                      <a:srgbClr val="FFFFFF"/>
                    </a:solidFill>
                  </a:tcPr>
                </a:tc>
              </a:tr>
              <a:tr h="249936">
                <a:tc>
                  <a:txBody>
                    <a:bodyPr wrap="square" lIns="36576" rIns="36576" tIns="18288" bIns="18288"/>
                    <a:lstStyle/>
                    <a:p>
                      <a:r>
                        <a:rPr sz="540" b="1">
                          <a:solidFill>
                            <a:srgbClr val="21242A"/>
                          </a:solidFill>
                          <a:latin typeface="Microsoft YaHei"/>
                        </a:rPr>
                        <a:t>5. 安全性</a:t>
                      </a:r>
                    </a:p>
                  </a:txBody>
                  <a:tcPr>
                    <a:solidFill>
                      <a:srgbClr val="F6F8FB"/>
                    </a:solidFill>
                  </a:tcPr>
                </a:tc>
                <a:tc>
                  <a:txBody>
                    <a:bodyPr wrap="square" lIns="36576" rIns="36576" tIns="18288" bIns="18288"/>
                    <a:lstStyle/>
                    <a:p>
                      <a:r>
                        <a:rPr sz="540" b="0">
                          <a:solidFill>
                            <a:srgbClr val="21242A"/>
                          </a:solidFill>
                          <a:latin typeface="Microsoft YaHei"/>
                        </a:rPr>
                        <a:t>CRS发生率55%（≥3级1%），ICANS发生率14%（≥3级4%），感染发生率51%（≥3级25%），≥3级持续血细胞减少28%，IEC-HS发生率2%（均≥3级）；5例死亡（1例相关，1例可能相关，3例无关）</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摘要号：S236</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epcore dlbcl-1的结果：epcoritamab（epcor）与研究者选择的化学免疫疗法（cit）在复发/难...</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results from epcore dlbcl-1: randomized phase 3 study of epcoritamab (epcor)...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对照/比较：试验组：Epcoritamab单药治疗</a:t>
            </a:r>
          </a:p>
          <a:p>
            <a:pPr>
              <a:lnSpc>
                <a:spcPct val="103000"/>
              </a:lnSpc>
              <a:spcAft>
                <a:spcPts val="300"/>
              </a:spcAft>
              <a:defRPr sz="800">
                <a:solidFill>
                  <a:srgbClr val="21242A"/>
                </a:solidFill>
                <a:latin typeface="Microsoft YaHei"/>
              </a:defRPr>
            </a:pPr>
            <a:r>
              <a:t>对照组：研究者选择的化学免疫治疗（包括R-GemOx和BR）</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主要终点PFS：HR 0.74 (95% CI 0.60-0.92</a:t>
            </a:r>
          </a:p>
          <a:p>
            <a:pPr>
              <a:lnSpc>
                <a:spcPct val="103000"/>
              </a:lnSpc>
              <a:spcAft>
                <a:spcPts val="300"/>
              </a:spcAft>
              <a:defRPr sz="800">
                <a:solidFill>
                  <a:srgbClr val="21242A"/>
                </a:solidFill>
                <a:latin typeface="Microsoft YaHei"/>
              </a:defRPr>
            </a:pPr>
            <a:r>
              <a:t>P=0.0059)，24个月PFS率：30% vs 13%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人数：483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登记号：NCT07226752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epcore dlbcl-1的结果：epcoritamab（epcor）与研究者选择的化学免疫疗法（cit）在复发/难...</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results from epcore dlbcl-1: randomized phase 3 study of epcoritamab (epcor)...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Epcor is a CD3×CD20 bispecific antibody (bsAb) approved as monotherapy for R/R DLBCL after ≥ 2 prior lines of systemic treatment (pLOT).</a:t>
            </a:r>
          </a:p>
          <a:p>
            <a:pPr>
              <a:lnSpc>
                <a:spcPct val="103000"/>
              </a:lnSpc>
              <a:spcAft>
                <a:spcPts val="300"/>
              </a:spcAft>
              <a:defRPr sz="570">
                <a:solidFill>
                  <a:srgbClr val="21242A"/>
                </a:solidFill>
                <a:latin typeface="Microsoft YaHei"/>
              </a:defRPr>
            </a:pPr>
            <a:r>
              <a:t>The phase 3 EPCORE DLBCL-1 trial (EudraCT No.</a:t>
            </a:r>
          </a:p>
          <a:p>
            <a:pPr>
              <a:lnSpc>
                <a:spcPct val="103000"/>
              </a:lnSpc>
              <a:spcAft>
                <a:spcPts val="300"/>
              </a:spcAft>
              <a:defRPr sz="570">
                <a:solidFill>
                  <a:srgbClr val="21242A"/>
                </a:solidFill>
                <a:latin typeface="Microsoft YaHei"/>
              </a:defRPr>
            </a:pPr>
            <a:r>
              <a:t>2020-003016-27) evaluated epcor monotherapy vs investigator’s choice CIT (rituximab + gemcitabine/oxaliplatin [R-GemOx] or bendamustine + rituximab [BR]) in R/R</a:t>
            </a:r>
          </a:p>
          <a:p>
            <a:pPr>
              <a:lnSpc>
                <a:spcPct val="103000"/>
              </a:lnSpc>
              <a:spcAft>
                <a:spcPts val="300"/>
              </a:spcAft>
              <a:defRPr sz="570">
                <a:solidFill>
                  <a:srgbClr val="21242A"/>
                </a:solidFill>
                <a:latin typeface="Microsoft YaHei"/>
              </a:defRPr>
            </a:pPr>
            <a:r>
              <a:t> LBCL.</a:t>
            </a:r>
          </a:p>
          <a:p>
            <a:pPr>
              <a:lnSpc>
                <a:spcPct val="103000"/>
              </a:lnSpc>
              <a:spcAft>
                <a:spcPts val="300"/>
              </a:spcAft>
              <a:defRPr sz="570">
                <a:solidFill>
                  <a:srgbClr val="21242A"/>
                </a:solidFill>
                <a:latin typeface="Microsoft YaHei"/>
              </a:defRPr>
            </a:pPr>
            <a:r>
              <a:t>Aims: To report primary results from EPCORE DLBCL-1.</a:t>
            </a:r>
          </a:p>
          <a:p>
            <a:pPr>
              <a:lnSpc>
                <a:spcPct val="103000"/>
              </a:lnSpc>
              <a:spcAft>
                <a:spcPts val="300"/>
              </a:spcAft>
              <a:defRPr sz="570">
                <a:solidFill>
                  <a:srgbClr val="21242A"/>
                </a:solidFill>
                <a:latin typeface="Microsoft YaHei"/>
              </a:defRPr>
            </a:pPr>
            <a:r>
              <a:t>Methods: Eligible patients (pts) had CD20+ R/R LBCL, were ASCT-ineligible or relapsed after ASCT, and had ≥ 1 systemic pLOT (1 pLOT capped at 25%).</a:t>
            </a:r>
          </a:p>
          <a:p>
            <a:pPr>
              <a:lnSpc>
                <a:spcPct val="103000"/>
              </a:lnSpc>
              <a:spcAft>
                <a:spcPts val="300"/>
              </a:spcAft>
              <a:defRPr sz="570">
                <a:solidFill>
                  <a:srgbClr val="21242A"/>
                </a:solidFill>
                <a:latin typeface="Microsoft YaHei"/>
              </a:defRPr>
            </a:pPr>
            <a:r>
              <a:t>Pts were randomized 1:1 to epcor monotherapy or CIT.</a:t>
            </a:r>
          </a:p>
          <a:p>
            <a:pPr>
              <a:lnSpc>
                <a:spcPct val="103000"/>
              </a:lnSpc>
              <a:spcAft>
                <a:spcPts val="300"/>
              </a:spcAft>
              <a:defRPr sz="570">
                <a:solidFill>
                  <a:srgbClr val="21242A"/>
                </a:solidFill>
                <a:latin typeface="Microsoft YaHei"/>
              </a:defRPr>
            </a:pPr>
            <a:r>
              <a:t>Epcor was given in 28-d cycles (2 step-up doses then 48-mg full doses QW in C1–3, Q2W in C4–9, Q4W in C10+ until disease progression or unacceptable toxicity).</a:t>
            </a:r>
          </a:p>
          <a:p>
            <a:pPr>
              <a:lnSpc>
                <a:spcPct val="103000"/>
              </a:lnSpc>
              <a:spcAft>
                <a:spcPts val="300"/>
              </a:spcAft>
              <a:defRPr sz="570">
                <a:solidFill>
                  <a:srgbClr val="21242A"/>
                </a:solidFill>
                <a:latin typeface="Microsoft YaHei"/>
              </a:defRPr>
            </a:pPr>
            <a:r>
              <a:t>R-GemOx was given as standard Q2W for four 28-d cycles and BR Q3W for six 21-d cycles. Dual primary endpoints were PFS (Lugano criteria; IRC) and OS.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EPCORE DLBCL-1 is the largest randomized phase 3 trial in R/R LBCL and the first to demonstrate a statistically significant improvement in PFS with a CD3×CD20 b</a:t>
            </a:r>
          </a:p>
          <a:p>
            <a:pPr>
              <a:lnSpc>
                <a:spcPct val="103000"/>
              </a:lnSpc>
              <a:spcAft>
                <a:spcPts val="300"/>
              </a:spcAft>
              <a:defRPr sz="590">
                <a:solidFill>
                  <a:srgbClr val="21242A"/>
                </a:solidFill>
                <a:latin typeface="Microsoft YaHei"/>
              </a:defRPr>
            </a:pPr>
            <a:r>
              <a:t>sAb monotherapy vs combination CIT.</a:t>
            </a:r>
          </a:p>
          <a:p>
            <a:pPr>
              <a:lnSpc>
                <a:spcPct val="103000"/>
              </a:lnSpc>
              <a:spcAft>
                <a:spcPts val="300"/>
              </a:spcAft>
              <a:defRPr sz="590">
                <a:solidFill>
                  <a:srgbClr val="21242A"/>
                </a:solidFill>
                <a:latin typeface="Microsoft YaHei"/>
              </a:defRPr>
            </a:pPr>
            <a:r>
              <a:t>Furthermore, compared with CIT, epcor resulted in clinically meaningful improvements in CRR, DOR, DOCR, and less frequent use of subsequent tx, demonstrating de</a:t>
            </a:r>
          </a:p>
          <a:p>
            <a:pPr>
              <a:lnSpc>
                <a:spcPct val="103000"/>
              </a:lnSpc>
              <a:spcAft>
                <a:spcPts val="300"/>
              </a:spcAft>
              <a:defRPr sz="590">
                <a:solidFill>
                  <a:srgbClr val="21242A"/>
                </a:solidFill>
                <a:latin typeface="Microsoft YaHei"/>
              </a:defRPr>
            </a:pPr>
            <a:r>
              <a:t>ep and durable responses.</a:t>
            </a:r>
          </a:p>
          <a:p>
            <a:pPr>
              <a:lnSpc>
                <a:spcPct val="103000"/>
              </a:lnSpc>
              <a:spcAft>
                <a:spcPts val="300"/>
              </a:spcAft>
              <a:defRPr sz="590">
                <a:solidFill>
                  <a:srgbClr val="21242A"/>
                </a:solidFill>
                <a:latin typeface="Microsoft YaHei"/>
              </a:defRPr>
            </a:pPr>
            <a:r>
              <a:t>OS was not significantly different, being confounded by COVID-19 mortality and use of novel subsequent tx.</a:t>
            </a:r>
          </a:p>
          <a:p>
            <a:pPr>
              <a:lnSpc>
                <a:spcPct val="103000"/>
              </a:lnSpc>
              <a:spcAft>
                <a:spcPts val="300"/>
              </a:spcAft>
              <a:defRPr sz="590">
                <a:solidFill>
                  <a:srgbClr val="21242A"/>
                </a:solidFill>
                <a:latin typeface="Microsoft YaHei"/>
              </a:defRPr>
            </a:pPr>
            <a:r>
              <a:t>Observed AEs were consistent with the established epcor safety profile and the expected profile for a CD3×CD20 bsAb.</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483 pts (epcor 241; CIT 242 [R-GemOx 174; BR 68]) were randomized; 67% were randomized in 2022 or later, coinciding with the COVID-19 Omicron peri</a:t>
            </a:r>
          </a:p>
          <a:p>
            <a:pPr>
              <a:lnSpc>
                <a:spcPct val="103000"/>
              </a:lnSpc>
              <a:spcAft>
                <a:spcPts val="300"/>
              </a:spcAft>
              <a:defRPr sz="580">
                <a:solidFill>
                  <a:srgbClr val="21242A"/>
                </a:solidFill>
                <a:latin typeface="Microsoft YaHei"/>
              </a:defRPr>
            </a:pPr>
            <a:r>
              <a:t>od.</a:t>
            </a:r>
          </a:p>
          <a:p>
            <a:pPr>
              <a:lnSpc>
                <a:spcPct val="103000"/>
              </a:lnSpc>
              <a:spcAft>
                <a:spcPts val="300"/>
              </a:spcAft>
              <a:defRPr sz="580">
                <a:solidFill>
                  <a:srgbClr val="21242A"/>
                </a:solidFill>
                <a:latin typeface="Microsoft YaHei"/>
              </a:defRPr>
            </a:pPr>
            <a:r>
              <a:t>Median follow-up was 43.2 mo (epcor) and 42.3 mo (CIT).</a:t>
            </a:r>
          </a:p>
          <a:p>
            <a:pPr>
              <a:lnSpc>
                <a:spcPct val="103000"/>
              </a:lnSpc>
              <a:spcAft>
                <a:spcPts val="300"/>
              </a:spcAft>
              <a:defRPr sz="580">
                <a:solidFill>
                  <a:srgbClr val="21242A"/>
                </a:solidFill>
                <a:latin typeface="Microsoft YaHei"/>
              </a:defRPr>
            </a:pPr>
            <a:r>
              <a:t>Median age was 71 y (range, 28–89); 53% of pts were from North America/Western Europe; 73% had ≥ 2 pLOT, and 34% had ≥ 3 pLOT; 69% were refractory to last </a:t>
            </a:r>
          </a:p>
          <a:p>
            <a:pPr>
              <a:lnSpc>
                <a:spcPct val="103000"/>
              </a:lnSpc>
              <a:spcAft>
                <a:spcPts val="300"/>
              </a:spcAft>
              <a:defRPr sz="580">
                <a:solidFill>
                  <a:srgbClr val="21242A"/>
                </a:solidFill>
                <a:latin typeface="Microsoft YaHei"/>
              </a:defRPr>
            </a:pPr>
            <a:r>
              <a:t>line of treatment (tx); 15% had prior SCT, and 11% had prior CAR-T.</a:t>
            </a:r>
          </a:p>
          <a:p>
            <a:pPr>
              <a:lnSpc>
                <a:spcPct val="103000"/>
              </a:lnSpc>
              <a:spcAft>
                <a:spcPts val="300"/>
              </a:spcAft>
              <a:defRPr sz="580">
                <a:solidFill>
                  <a:srgbClr val="21242A"/>
                </a:solidFill>
                <a:latin typeface="Microsoft YaHei"/>
              </a:defRPr>
            </a:pPr>
            <a:r>
              <a:t>\n A statistically significant improvement in PFS was demonstrated with epcor vs CIT (HR, 0.74 [95% CI, 0.60–0.92]; P =0.0059; 24-mo PFS: 30% vs 13%).</a:t>
            </a:r>
          </a:p>
          <a:p>
            <a:pPr>
              <a:lnSpc>
                <a:spcPct val="103000"/>
              </a:lnSpc>
              <a:spcAft>
                <a:spcPts val="300"/>
              </a:spcAft>
              <a:defRPr sz="580">
                <a:solidFill>
                  <a:srgbClr val="21242A"/>
                </a:solidFill>
                <a:latin typeface="Microsoft YaHei"/>
              </a:defRPr>
            </a:pPr>
            <a:r>
              <a:t>Furthermore, clinically meaningful higher complete response rate (CRR: 38% vs 26%; nominal P value 0.0032), longer durability of response (median DOR 37 vs</a:t>
            </a:r>
          </a:p>
          <a:p>
            <a:pPr>
              <a:lnSpc>
                <a:spcPct val="103000"/>
              </a:lnSpc>
              <a:spcAft>
                <a:spcPts val="300"/>
              </a:spcAft>
              <a:defRPr sz="580">
                <a:solidFill>
                  <a:srgbClr val="21242A"/>
                </a:solidFill>
                <a:latin typeface="Microsoft YaHei"/>
              </a:defRPr>
            </a:pPr>
            <a:r>
              <a:t> 6 mo; DOCR NR vs 11 mo) and longer TTNT (7 vs 4 mo; nominal P value \n Mean tx duration was longer for epcor vs CIT (11 vs 2 mo); 31% of pts received ≥ 12</a:t>
            </a:r>
          </a:p>
          <a:p>
            <a:pPr>
              <a:lnSpc>
                <a:spcPct val="103000"/>
              </a:lnSpc>
              <a:spcAft>
                <a:spcPts val="300"/>
              </a:spcAft>
              <a:defRPr sz="580">
                <a:solidFill>
                  <a:srgbClr val="21242A"/>
                </a:solidFill>
                <a:latin typeface="Microsoft YaHei"/>
              </a:defRPr>
            </a:pPr>
            <a:r>
              <a:t> cycles of epcor.</a:t>
            </a:r>
          </a:p>
          <a:p>
            <a:pPr>
              <a:lnSpc>
                <a:spcPct val="103000"/>
              </a:lnSpc>
              <a:spcAft>
                <a:spcPts val="300"/>
              </a:spcAft>
              <a:defRPr sz="580">
                <a:solidFill>
                  <a:srgbClr val="21242A"/>
                </a:solidFill>
                <a:latin typeface="Microsoft YaHei"/>
              </a:defRPr>
            </a:pPr>
            <a:r>
              <a:t>Higher rates of grade 3–4 infections (30% vs 12%) and any-grade COVID-19 (36% vs 11%) were reported in the epcor arm; exposure-adjusted event rates were 4.</a:t>
            </a:r>
          </a:p>
          <a:p>
            <a:pPr>
              <a:lnSpc>
                <a:spcPct val="103000"/>
              </a:lnSpc>
              <a:spcAft>
                <a:spcPts val="300"/>
              </a:spcAft>
              <a:defRPr sz="580">
                <a:solidFill>
                  <a:srgbClr val="21242A"/>
                </a:solidFill>
                <a:latin typeface="Microsoft YaHei"/>
              </a:defRPr>
            </a:pPr>
            <a:r>
              <a:t>3 vs 4.9 (grade 3–4 infections) and 4.4 vs 3.4 (any-grade COVID-19) per 100 pt-mo.</a:t>
            </a:r>
          </a:p>
          <a:p>
            <a:pPr>
              <a:lnSpc>
                <a:spcPct val="103000"/>
              </a:lnSpc>
              <a:spcAft>
                <a:spcPts val="300"/>
              </a:spcAft>
              <a:defRPr sz="580">
                <a:solidFill>
                  <a:srgbClr val="21242A"/>
                </a:solidFill>
                <a:latin typeface="Microsoft YaHei"/>
              </a:defRPr>
            </a:pPr>
            <a:r>
              <a:t>Grade 5 TEAEs occurred in 17% vs 6% (exposure-adjusted, 1.5 vs 1.8 per 100 pt-mo) and were largely attributable to grade 5 COVID-19 (9% vs 2%).</a:t>
            </a:r>
          </a:p>
          <a:p>
            <a:pPr>
              <a:lnSpc>
                <a:spcPct val="103000"/>
              </a:lnSpc>
              <a:spcAft>
                <a:spcPts val="300"/>
              </a:spcAft>
              <a:defRPr sz="580">
                <a:solidFill>
                  <a:srgbClr val="21242A"/>
                </a:solidFill>
                <a:latin typeface="Microsoft YaHei"/>
              </a:defRPr>
            </a:pPr>
            <a:r>
              <a:t>CRS was reported in 53% (grade 3, 3%) in the epcor arm and ICANS in 4% (grade 3–4, 1%).</a:t>
            </a:r>
          </a:p>
          <a:p>
            <a:pPr>
              <a:lnSpc>
                <a:spcPct val="103000"/>
              </a:lnSpc>
              <a:spcAft>
                <a:spcPts val="300"/>
              </a:spcAft>
              <a:defRPr sz="580">
                <a:solidFill>
                  <a:srgbClr val="21242A"/>
                </a:solidFill>
                <a:latin typeface="Microsoft YaHei"/>
              </a:defRPr>
            </a:pPr>
            <a:r>
              <a:t>Conclusion: EPCORE DLBCL-1 is the largest randomized phase 3 trial in R/R LBCL and the first to demonstrate a statistically significant improvement in PFS </a:t>
            </a:r>
          </a:p>
          <a:p>
            <a:pPr>
              <a:lnSpc>
                <a:spcPct val="103000"/>
              </a:lnSpc>
              <a:spcAft>
                <a:spcPts val="300"/>
              </a:spcAft>
              <a:defRPr sz="580">
                <a:solidFill>
                  <a:srgbClr val="21242A"/>
                </a:solidFill>
                <a:latin typeface="Microsoft YaHei"/>
              </a:defRPr>
            </a:pPr>
            <a:r>
              <a:t>with a CD3×CD20 bsAb monotherapy vs combination CIT.</a:t>
            </a:r>
          </a:p>
          <a:p>
            <a:pPr>
              <a:lnSpc>
                <a:spcPct val="103000"/>
              </a:lnSpc>
              <a:spcAft>
                <a:spcPts val="300"/>
              </a:spcAft>
              <a:defRPr sz="580">
                <a:solidFill>
                  <a:srgbClr val="21242A"/>
                </a:solidFill>
                <a:latin typeface="Microsoft YaHei"/>
              </a:defRPr>
            </a:pPr>
            <a:r>
              <a:t>Furthermore, compared with CIT, epcor resulted in clinically meaningful improvements in CRR, DOR, DOCR, and less frequent use of subsequent tx, demonstrati</a:t>
            </a:r>
          </a:p>
          <a:p>
            <a:pPr>
              <a:lnSpc>
                <a:spcPct val="103000"/>
              </a:lnSpc>
              <a:spcAft>
                <a:spcPts val="300"/>
              </a:spcAft>
              <a:defRPr sz="580">
                <a:solidFill>
                  <a:srgbClr val="21242A"/>
                </a:solidFill>
                <a:latin typeface="Microsoft YaHei"/>
              </a:defRPr>
            </a:pPr>
            <a:r>
              <a:t>ng deep and durable responses.</a:t>
            </a:r>
          </a:p>
          <a:p>
            <a:pPr>
              <a:lnSpc>
                <a:spcPct val="103000"/>
              </a:lnSpc>
              <a:spcAft>
                <a:spcPts val="300"/>
              </a:spcAft>
              <a:defRPr sz="580">
                <a:solidFill>
                  <a:srgbClr val="21242A"/>
                </a:solidFill>
                <a:latin typeface="Microsoft YaHei"/>
              </a:defRPr>
            </a:pPr>
            <a:r>
              <a:t>OS was not significantly different, being confounded by COVID-19 mortality and use of novel subsequent tx.</a:t>
            </a:r>
          </a:p>
          <a:p>
            <a:pPr>
              <a:lnSpc>
                <a:spcPct val="103000"/>
              </a:lnSpc>
              <a:spcAft>
                <a:spcPts val="300"/>
              </a:spcAft>
              <a:defRPr sz="580">
                <a:solidFill>
                  <a:srgbClr val="21242A"/>
                </a:solidFill>
                <a:latin typeface="Microsoft YaHei"/>
              </a:defRPr>
            </a:pPr>
            <a:r>
              <a:t>Observed AEs were consistent with the established epcor safety profile and the expected profile for a CD3×CD20 bsAb.</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摘要号：S235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cd19/cd22双特异性car-t细胞治疗复发/难治性弥漫性大b细胞淋巴瘤后pd-1抑制剂和selinexor的维持...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maintenance therapy with pd-1 inhibitor and selinexor following cd19/cd22 bis...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a:t>
            </a:r>
          </a:p>
          <a:p>
            <a:pPr>
              <a:lnSpc>
                <a:spcPct val="103000"/>
              </a:lnSpc>
              <a:spcAft>
                <a:spcPts val="300"/>
              </a:spcAft>
              <a:defRPr sz="800">
                <a:solidFill>
                  <a:srgbClr val="21242A"/>
                </a:solidFill>
                <a:latin typeface="Microsoft YaHei"/>
              </a:defRPr>
            </a:pPr>
            <a:r>
              <a:t>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分组：维持治疗组：PD-1抑制剂（tislelizumab或serplulimab）+ selinexor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中位随访时间：260天（范围59-529）</a:t>
            </a:r>
          </a:p>
          <a:p>
            <a:pPr>
              <a:lnSpc>
                <a:spcPct val="103000"/>
              </a:lnSpc>
              <a:spcAft>
                <a:spcPts val="300"/>
              </a:spcAft>
              <a:defRPr sz="800">
                <a:solidFill>
                  <a:srgbClr val="21242A"/>
                </a:solidFill>
                <a:latin typeface="Microsoft YaHei"/>
              </a:defRPr>
            </a:pPr>
            <a:r>
              <a:t>维持治疗前完全缓解率：38%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人数：32</a:t>
            </a:r>
          </a:p>
          <a:p>
            <a:pPr>
              <a:lnSpc>
                <a:spcPct val="103000"/>
              </a:lnSpc>
              <a:spcAft>
                <a:spcPts val="300"/>
              </a:spcAft>
              <a:defRPr sz="810">
                <a:solidFill>
                  <a:srgbClr val="21242A"/>
                </a:solidFill>
                <a:latin typeface="Microsoft YaHei"/>
              </a:defRPr>
            </a:pPr>
            <a:r>
              <a:t>适应症：B细胞非霍奇金淋巴瘤、大B细胞淋巴瘤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登记号：NCT06081478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分组/治疗流程：维持治疗组：PD-1抑制剂（tislelizumab或serplulimab）+ selinexor</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cd19/cd22双特异性car-t细胞治疗复发/难治性弥漫性大b细胞淋巴瘤后pd-1抑制剂和selinexor的维持...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maintenance therapy with pd-1 inhibitor and selinexor following cd19/cd22 bis...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Chimeric antigen receptor T-cell (CAR-T) therapy targeting CD19 has revolutionized the treatment landscape for relapsed/refractory diffuse large B-c</a:t>
            </a:r>
          </a:p>
          <a:p>
            <a:pPr>
              <a:lnSpc>
                <a:spcPct val="103000"/>
              </a:lnSpc>
              <a:spcAft>
                <a:spcPts val="300"/>
              </a:spcAft>
              <a:defRPr sz="570">
                <a:solidFill>
                  <a:srgbClr val="21242A"/>
                </a:solidFill>
                <a:latin typeface="Microsoft YaHei"/>
              </a:defRPr>
            </a:pPr>
            <a:r>
              <a:t>ell lymphoma (R/R DLBCL).</a:t>
            </a:r>
          </a:p>
          <a:p>
            <a:pPr>
              <a:lnSpc>
                <a:spcPct val="103000"/>
              </a:lnSpc>
              <a:spcAft>
                <a:spcPts val="300"/>
              </a:spcAft>
              <a:defRPr sz="570">
                <a:solidFill>
                  <a:srgbClr val="21242A"/>
                </a:solidFill>
                <a:latin typeface="Microsoft YaHei"/>
              </a:defRPr>
            </a:pPr>
            <a:r>
              <a:t>Despite impressive initial response rates, disease relapse remains a significant challenge, often attributed to CAR-T cell exhaustion and immune evasion mechani</a:t>
            </a:r>
          </a:p>
          <a:p>
            <a:pPr>
              <a:lnSpc>
                <a:spcPct val="103000"/>
              </a:lnSpc>
              <a:spcAft>
                <a:spcPts val="300"/>
              </a:spcAft>
              <a:defRPr sz="570">
                <a:solidFill>
                  <a:srgbClr val="21242A"/>
                </a:solidFill>
                <a:latin typeface="Microsoft YaHei"/>
              </a:defRPr>
            </a:pPr>
            <a:r>
              <a:t>sms.</a:t>
            </a:r>
          </a:p>
          <a:p>
            <a:pPr>
              <a:lnSpc>
                <a:spcPct val="103000"/>
              </a:lnSpc>
              <a:spcAft>
                <a:spcPts val="300"/>
              </a:spcAft>
              <a:defRPr sz="570">
                <a:solidFill>
                  <a:srgbClr val="21242A"/>
                </a:solidFill>
                <a:latin typeface="Microsoft YaHei"/>
              </a:defRPr>
            </a:pPr>
            <a:r>
              <a:t>In our prospective phase 2 trial, CD19/CD22 bispecific CAR-T (CAR2219) demonstrated a remarkable 100% best overall response rate; however, strategies to prolong</a:t>
            </a:r>
          </a:p>
          <a:p>
            <a:pPr>
              <a:lnSpc>
                <a:spcPct val="103000"/>
              </a:lnSpc>
              <a:spcAft>
                <a:spcPts val="300"/>
              </a:spcAft>
              <a:defRPr sz="570">
                <a:solidFill>
                  <a:srgbClr val="21242A"/>
                </a:solidFill>
                <a:latin typeface="Microsoft YaHei"/>
              </a:defRPr>
            </a:pPr>
            <a:r>
              <a:t> remission duration and prevent relapse are urgently needed.</a:t>
            </a:r>
          </a:p>
          <a:p>
            <a:pPr>
              <a:lnSpc>
                <a:spcPct val="103000"/>
              </a:lnSpc>
              <a:spcAft>
                <a:spcPts val="300"/>
              </a:spcAft>
              <a:defRPr sz="570">
                <a:solidFill>
                  <a:srgbClr val="21242A"/>
                </a:solidFill>
                <a:latin typeface="Microsoft YaHei"/>
              </a:defRPr>
            </a:pPr>
            <a:r>
              <a:t>Maintenance therapy represents a promising approach to enhance response persistence by targeting underlying mechanisms of treatment failure.</a:t>
            </a:r>
          </a:p>
          <a:p>
            <a:pPr>
              <a:lnSpc>
                <a:spcPct val="103000"/>
              </a:lnSpc>
              <a:spcAft>
                <a:spcPts val="300"/>
              </a:spcAft>
              <a:defRPr sz="570">
                <a:solidFill>
                  <a:srgbClr val="21242A"/>
                </a:solidFill>
                <a:latin typeface="Microsoft YaHei"/>
              </a:defRPr>
            </a:pPr>
            <a:r>
              <a:t>Programmed cell death protein 1 (PD-1) inhibitors have shown potential to reverse CAR-T cell exhaustion and restore anti-tumor immunity, while the exportin 1 (X</a:t>
            </a:r>
          </a:p>
          <a:p>
            <a:pPr>
              <a:lnSpc>
                <a:spcPct val="103000"/>
              </a:lnSpc>
              <a:spcAft>
                <a:spcPts val="300"/>
              </a:spcAft>
              <a:defRPr sz="570">
                <a:solidFill>
                  <a:srgbClr val="21242A"/>
                </a:solidFill>
                <a:latin typeface="Microsoft YaHei"/>
              </a:defRPr>
            </a:pPr>
            <a:r>
              <a:t>PO1) inhibitor selinexor exhibits direct anti-lymphoma activity and synergistic effects when combined with immunomodulatory agents.</a:t>
            </a:r>
          </a:p>
          <a:p>
            <a:pPr>
              <a:lnSpc>
                <a:spcPct val="103000"/>
              </a:lnSpc>
              <a:spcAft>
                <a:spcPts val="300"/>
              </a:spcAft>
              <a:defRPr sz="570">
                <a:solidFill>
                  <a:srgbClr val="21242A"/>
                </a:solidFill>
                <a:latin typeface="Microsoft YaHei"/>
              </a:defRPr>
            </a:pPr>
            <a:r>
              <a:t>Aims: To evaluate the efficacy, safety, and immunomodulatory effects of maintenance therapy combining PD-1 inhibitor with selinexor following CAR2219 therapy in</a:t>
            </a:r>
          </a:p>
          <a:p>
            <a:pPr>
              <a:lnSpc>
                <a:spcPct val="103000"/>
              </a:lnSpc>
              <a:spcAft>
                <a:spcPts val="300"/>
              </a:spcAft>
              <a:defRPr sz="570">
                <a:solidFill>
                  <a:srgbClr val="21242A"/>
                </a:solidFill>
                <a:latin typeface="Microsoft YaHei"/>
              </a:defRPr>
            </a:pPr>
            <a:r>
              <a:t> patients with R/R DLBCL.</a:t>
            </a:r>
          </a:p>
          <a:p>
            <a:pPr>
              <a:lnSpc>
                <a:spcPct val="103000"/>
              </a:lnSpc>
              <a:spcAft>
                <a:spcPts val="300"/>
              </a:spcAft>
              <a:defRPr sz="570">
                <a:solidFill>
                  <a:srgbClr val="21242A"/>
                </a:solidFill>
                <a:latin typeface="Microsoft YaHei"/>
              </a:defRPr>
            </a:pPr>
            <a:r>
              <a:t>Methods: This retrospective analysis included 32 patients enrolled in our prospective phase 2 clinical trial (NCT06081478) who achieved disease control followin</a:t>
            </a:r>
          </a:p>
          <a:p>
            <a:pPr>
              <a:lnSpc>
                <a:spcPct val="103000"/>
              </a:lnSpc>
              <a:spcAft>
                <a:spcPts val="300"/>
              </a:spcAft>
              <a:defRPr sz="570">
                <a:solidFill>
                  <a:srgbClr val="21242A"/>
                </a:solidFill>
                <a:latin typeface="Microsoft YaHei"/>
              </a:defRPr>
            </a:pPr>
            <a:r>
              <a:t>g CAR2219 infusion and subsequently received planned maintenance therapy.</a:t>
            </a:r>
          </a:p>
          <a:p>
            <a:pPr>
              <a:lnSpc>
                <a:spcPct val="103000"/>
              </a:lnSpc>
              <a:spcAft>
                <a:spcPts val="300"/>
              </a:spcAft>
              <a:defRPr sz="570">
                <a:solidFill>
                  <a:srgbClr val="21242A"/>
                </a:solidFill>
                <a:latin typeface="Microsoft YaHei"/>
              </a:defRPr>
            </a:pPr>
            <a:r>
              <a:t>The maintenance regimen consisted of PD-1 inhibitor (tislelizumab 200 mg or serplulimab 240 mg intravenously every 3 weeks) plus selinexor (40-60 mg orally once</a:t>
            </a:r>
          </a:p>
          <a:p>
            <a:pPr>
              <a:lnSpc>
                <a:spcPct val="103000"/>
              </a:lnSpc>
              <a:spcAft>
                <a:spcPts val="300"/>
              </a:spcAft>
              <a:defRPr sz="570">
                <a:solidFill>
                  <a:srgbClr val="21242A"/>
                </a:solidFill>
                <a:latin typeface="Microsoft YaHei"/>
              </a:defRPr>
            </a:pPr>
            <a:r>
              <a:t> weekly) for 1-2 years duration.</a:t>
            </a:r>
          </a:p>
          <a:p>
            <a:pPr>
              <a:lnSpc>
                <a:spcPct val="103000"/>
              </a:lnSpc>
              <a:spcAft>
                <a:spcPts val="300"/>
              </a:spcAft>
              <a:defRPr sz="570">
                <a:solidFill>
                  <a:srgbClr val="21242A"/>
                </a:solidFill>
                <a:latin typeface="Microsoft YaHei"/>
              </a:defRPr>
            </a:pPr>
            <a:r>
              <a:t>The primary endpoint was progression-free survival (PFS).</a:t>
            </a:r>
          </a:p>
          <a:p>
            <a:pPr>
              <a:lnSpc>
                <a:spcPct val="103000"/>
              </a:lnSpc>
              <a:spcAft>
                <a:spcPts val="300"/>
              </a:spcAft>
              <a:defRPr sz="570">
                <a:solidFill>
                  <a:srgbClr val="21242A"/>
                </a:solidFill>
                <a:latin typeface="Microsoft YaHei"/>
              </a:defRPr>
            </a:pPr>
            <a:r>
              <a:t>Secondary endpoints included duration of response (DOR), overall survival (OS), safety profiles, and correlative biomarker analyses.</a:t>
            </a:r>
          </a:p>
          <a:p>
            <a:pPr>
              <a:lnSpc>
                <a:spcPct val="103000"/>
              </a:lnSpc>
              <a:spcAft>
                <a:spcPts val="300"/>
              </a:spcAft>
              <a:defRPr sz="570">
                <a:solidFill>
                  <a:srgbClr val="21242A"/>
                </a:solidFill>
                <a:latin typeface="Microsoft YaHei"/>
              </a:defRPr>
            </a:pPr>
            <a:r>
              <a:t>Treatment responses were assessed according to Lugano 2014 criteria, and adverse events were graded per CTCAE version 5.0.</a:t>
            </a:r>
          </a:p>
          <a:p>
            <a:pPr>
              <a:lnSpc>
                <a:spcPct val="103000"/>
              </a:lnSpc>
              <a:spcAft>
                <a:spcPts val="300"/>
              </a:spcAft>
              <a:defRPr sz="570">
                <a:solidFill>
                  <a:srgbClr val="21242A"/>
                </a:solidFill>
                <a:latin typeface="Microsoft YaHei"/>
              </a:defRPr>
            </a:pPr>
            <a:r>
              <a:t>Longitudinal monitoring of circulating T-cell subsets, including CD3+PD-1+ T-cells, was performed by flow cytometry in a subset of patients.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Maintenance therapy combining PD-1 inhibitor and selinexor following CD19/CD22 bispecific CAR-T cell therapy demonstrates promising clinical activity in R/R DLB</a:t>
            </a:r>
          </a:p>
          <a:p>
            <a:pPr>
              <a:lnSpc>
                <a:spcPct val="103000"/>
              </a:lnSpc>
              <a:spcAft>
                <a:spcPts val="300"/>
              </a:spcAft>
              <a:defRPr sz="590">
                <a:solidFill>
                  <a:srgbClr val="21242A"/>
                </a:solidFill>
                <a:latin typeface="Microsoft YaHei"/>
              </a:defRPr>
            </a:pPr>
            <a:r>
              <a:t>CL, characterized by deepening responses over time and durable disease control.</a:t>
            </a:r>
          </a:p>
          <a:p>
            <a:pPr>
              <a:lnSpc>
                <a:spcPct val="103000"/>
              </a:lnSpc>
              <a:spcAft>
                <a:spcPts val="300"/>
              </a:spcAft>
              <a:defRPr sz="590">
                <a:solidFill>
                  <a:srgbClr val="21242A"/>
                </a:solidFill>
                <a:latin typeface="Microsoft YaHei"/>
              </a:defRPr>
            </a:pPr>
            <a:r>
              <a:t>The observed reduction in PD-1+ T-cells supports an immunomodulatory mechanism of action.</a:t>
            </a:r>
          </a:p>
          <a:p>
            <a:pPr>
              <a:lnSpc>
                <a:spcPct val="103000"/>
              </a:lnSpc>
              <a:spcAft>
                <a:spcPts val="300"/>
              </a:spcAft>
              <a:defRPr sz="590">
                <a:solidFill>
                  <a:srgbClr val="21242A"/>
                </a:solidFill>
                <a:latin typeface="Microsoft YaHei"/>
              </a:defRPr>
            </a:pPr>
            <a:r>
              <a:t>These findings warrant further investigation in prospective randomized trials to establish the optimal maintenance strategy post-CAR-T therapy.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3632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36328">
                <a:tc>
                  <a:txBody>
                    <a:bodyPr wrap="square" lIns="36576" rIns="36576" tIns="18288" bIns="18288"/>
                    <a:lstStyle/>
                    <a:p>
                      <a:r>
                        <a:rPr sz="540" b="1">
                          <a:solidFill>
                            <a:srgbClr val="21242A"/>
                          </a:solidFill>
                          <a:latin typeface="Microsoft YaHei"/>
                        </a:rPr>
                        <a:t>中位随访时间</a:t>
                      </a:r>
                    </a:p>
                  </a:txBody>
                  <a:tcPr>
                    <a:solidFill>
                      <a:srgbClr val="F6F8FB"/>
                    </a:solidFill>
                  </a:tcPr>
                </a:tc>
                <a:tc>
                  <a:txBody>
                    <a:bodyPr wrap="square" lIns="36576" rIns="36576" tIns="18288" bIns="18288"/>
                    <a:lstStyle/>
                    <a:p>
                      <a:r>
                        <a:rPr sz="540" b="0">
                          <a:solidFill>
                            <a:srgbClr val="21242A"/>
                          </a:solidFill>
                          <a:latin typeface="Microsoft YaHei"/>
                        </a:rPr>
                        <a:t>260天（范围59-529）</a:t>
                      </a:r>
                    </a:p>
                  </a:txBody>
                  <a:tcPr>
                    <a:solidFill>
                      <a:srgbClr val="F6F8FB"/>
                    </a:solidFill>
                  </a:tcPr>
                </a:tc>
              </a:tr>
              <a:tr h="136328">
                <a:tc>
                  <a:txBody>
                    <a:bodyPr wrap="square" lIns="36576" rIns="36576" tIns="18288" bIns="18288"/>
                    <a:lstStyle/>
                    <a:p>
                      <a:r>
                        <a:rPr sz="540" b="1">
                          <a:solidFill>
                            <a:srgbClr val="21242A"/>
                          </a:solidFill>
                          <a:latin typeface="Microsoft YaHei"/>
                        </a:rPr>
                        <a:t>维持治疗前完全缓解率</a:t>
                      </a:r>
                    </a:p>
                  </a:txBody>
                  <a:tcPr>
                    <a:solidFill>
                      <a:srgbClr val="FFFFFF"/>
                    </a:solidFill>
                  </a:tcPr>
                </a:tc>
                <a:tc>
                  <a:txBody>
                    <a:bodyPr wrap="square" lIns="36576" rIns="36576" tIns="18288" bIns="18288"/>
                    <a:lstStyle/>
                    <a:p>
                      <a:r>
                        <a:rPr sz="540" b="0">
                          <a:solidFill>
                            <a:srgbClr val="21242A"/>
                          </a:solidFill>
                          <a:latin typeface="Microsoft YaHei"/>
                        </a:rPr>
                        <a:t>38%</a:t>
                      </a:r>
                    </a:p>
                  </a:txBody>
                  <a:tcPr>
                    <a:solidFill>
                      <a:srgbClr val="FFFFFF"/>
                    </a:solidFill>
                  </a:tcPr>
                </a:tc>
              </a:tr>
              <a:tr h="136328">
                <a:tc>
                  <a:txBody>
                    <a:bodyPr wrap="square" lIns="36576" rIns="36576" tIns="18288" bIns="18288"/>
                    <a:lstStyle/>
                    <a:p>
                      <a:r>
                        <a:rPr sz="540" b="1">
                          <a:solidFill>
                            <a:srgbClr val="21242A"/>
                          </a:solidFill>
                          <a:latin typeface="Microsoft YaHei"/>
                        </a:rPr>
                        <a:t>第1个月总缓解率</a:t>
                      </a:r>
                    </a:p>
                  </a:txBody>
                  <a:tcPr>
                    <a:solidFill>
                      <a:srgbClr val="F6F8FB"/>
                    </a:solidFill>
                  </a:tcPr>
                </a:tc>
                <a:tc>
                  <a:txBody>
                    <a:bodyPr wrap="square" lIns="36576" rIns="36576" tIns="18288" bIns="18288"/>
                    <a:lstStyle/>
                    <a:p>
                      <a:r>
                        <a:rPr sz="540" b="0">
                          <a:solidFill>
                            <a:srgbClr val="21242A"/>
                          </a:solidFill>
                          <a:latin typeface="Microsoft YaHei"/>
                        </a:rPr>
                        <a:t>56%（完全缓解率38%）</a:t>
                      </a:r>
                    </a:p>
                  </a:txBody>
                  <a:tcPr>
                    <a:solidFill>
                      <a:srgbClr val="F6F8FB"/>
                    </a:solidFill>
                  </a:tcPr>
                </a:tc>
              </a:tr>
              <a:tr h="136328">
                <a:tc>
                  <a:txBody>
                    <a:bodyPr wrap="square" lIns="36576" rIns="36576" tIns="18288" bIns="18288"/>
                    <a:lstStyle/>
                    <a:p>
                      <a:r>
                        <a:rPr sz="540" b="1">
                          <a:solidFill>
                            <a:srgbClr val="21242A"/>
                          </a:solidFill>
                          <a:latin typeface="Microsoft YaHei"/>
                        </a:rPr>
                        <a:t>第3个月总缓解率</a:t>
                      </a:r>
                    </a:p>
                  </a:txBody>
                  <a:tcPr>
                    <a:solidFill>
                      <a:srgbClr val="FFFFFF"/>
                    </a:solidFill>
                  </a:tcPr>
                </a:tc>
                <a:tc>
                  <a:txBody>
                    <a:bodyPr wrap="square" lIns="36576" rIns="36576" tIns="18288" bIns="18288"/>
                    <a:lstStyle/>
                    <a:p>
                      <a:r>
                        <a:rPr sz="540" b="0">
                          <a:solidFill>
                            <a:srgbClr val="21242A"/>
                          </a:solidFill>
                          <a:latin typeface="Microsoft YaHei"/>
                        </a:rPr>
                        <a:t>83%（完全缓解率57%）</a:t>
                      </a:r>
                    </a:p>
                  </a:txBody>
                  <a:tcPr>
                    <a:solidFill>
                      <a:srgbClr val="FFFFFF"/>
                    </a:solidFill>
                  </a:tcPr>
                </a:tc>
              </a:tr>
              <a:tr h="136328">
                <a:tc>
                  <a:txBody>
                    <a:bodyPr wrap="square" lIns="36576" rIns="36576" tIns="18288" bIns="18288"/>
                    <a:lstStyle/>
                    <a:p>
                      <a:r>
                        <a:rPr sz="540" b="1">
                          <a:solidFill>
                            <a:srgbClr val="21242A"/>
                          </a:solidFill>
                          <a:latin typeface="Microsoft YaHei"/>
                        </a:rPr>
                        <a:t>第6个月总缓解率</a:t>
                      </a:r>
                    </a:p>
                  </a:txBody>
                  <a:tcPr>
                    <a:solidFill>
                      <a:srgbClr val="F6F8FB"/>
                    </a:solidFill>
                  </a:tcPr>
                </a:tc>
                <a:tc>
                  <a:txBody>
                    <a:bodyPr wrap="square" lIns="36576" rIns="36576" tIns="18288" bIns="18288"/>
                    <a:lstStyle/>
                    <a:p>
                      <a:r>
                        <a:rPr sz="540" b="0">
                          <a:solidFill>
                            <a:srgbClr val="21242A"/>
                          </a:solidFill>
                          <a:latin typeface="Microsoft YaHei"/>
                        </a:rPr>
                        <a:t>81%（完全缓解率71%）</a:t>
                      </a:r>
                    </a:p>
                  </a:txBody>
                  <a:tcPr>
                    <a:solidFill>
                      <a:srgbClr val="F6F8FB"/>
                    </a:solidFill>
                  </a:tcPr>
                </a:tc>
              </a:tr>
              <a:tr h="136328">
                <a:tc>
                  <a:txBody>
                    <a:bodyPr wrap="square" lIns="36576" rIns="36576" tIns="18288" bIns="18288"/>
                    <a:lstStyle/>
                    <a:p>
                      <a:r>
                        <a:rPr sz="540" b="1">
                          <a:solidFill>
                            <a:srgbClr val="21242A"/>
                          </a:solidFill>
                          <a:latin typeface="Microsoft YaHei"/>
                        </a:rPr>
                        <a:t>中位无进展生存期</a:t>
                      </a:r>
                    </a:p>
                  </a:txBody>
                  <a:tcPr>
                    <a:solidFill>
                      <a:srgbClr val="FFFFFF"/>
                    </a:solidFill>
                  </a:tcPr>
                </a:tc>
                <a:tc>
                  <a:txBody>
                    <a:bodyPr wrap="square" lIns="36576" rIns="36576" tIns="18288" bIns="18288"/>
                    <a:lstStyle/>
                    <a:p>
                      <a:r>
                        <a:rPr sz="540" b="0">
                          <a:solidFill>
                            <a:srgbClr val="21242A"/>
                          </a:solidFill>
                          <a:latin typeface="Microsoft YaHei"/>
                        </a:rPr>
                        <a:t>407天</a:t>
                      </a:r>
                    </a:p>
                  </a:txBody>
                  <a:tcPr>
                    <a:solidFill>
                      <a:srgbClr val="FFFFFF"/>
                    </a:solidFill>
                  </a:tcPr>
                </a:tc>
              </a:tr>
              <a:tr h="136328">
                <a:tc>
                  <a:txBody>
                    <a:bodyPr wrap="square" lIns="36576" rIns="36576" tIns="18288" bIns="18288"/>
                    <a:lstStyle/>
                    <a:p>
                      <a:r>
                        <a:rPr sz="540" b="1">
                          <a:solidFill>
                            <a:srgbClr val="21242A"/>
                          </a:solidFill>
                          <a:latin typeface="Microsoft YaHei"/>
                        </a:rPr>
                        <a:t>估计1年无进展生存率</a:t>
                      </a:r>
                    </a:p>
                  </a:txBody>
                  <a:tcPr>
                    <a:solidFill>
                      <a:srgbClr val="F6F8FB"/>
                    </a:solidFill>
                  </a:tcPr>
                </a:tc>
                <a:tc>
                  <a:txBody>
                    <a:bodyPr wrap="square" lIns="36576" rIns="36576" tIns="18288" bIns="18288"/>
                    <a:lstStyle/>
                    <a:p>
                      <a:r>
                        <a:rPr sz="540" b="0">
                          <a:solidFill>
                            <a:srgbClr val="21242A"/>
                          </a:solidFill>
                          <a:latin typeface="Microsoft YaHei"/>
                        </a:rPr>
                        <a:t>56.8%（95%CI: 0.40-0.80）</a:t>
                      </a:r>
                    </a:p>
                  </a:txBody>
                  <a:tcPr>
                    <a:solidFill>
                      <a:srgbClr val="F6F8FB"/>
                    </a:solidFill>
                  </a:tcPr>
                </a:tc>
              </a:tr>
              <a:tr h="136328">
                <a:tc>
                  <a:txBody>
                    <a:bodyPr wrap="square" lIns="36576" rIns="36576" tIns="18288" bIns="18288"/>
                    <a:lstStyle/>
                    <a:p>
                      <a:r>
                        <a:rPr sz="540" b="1">
                          <a:solidFill>
                            <a:srgbClr val="21242A"/>
                          </a:solidFill>
                          <a:latin typeface="Microsoft YaHei"/>
                        </a:rPr>
                        <a:t>估计1年总生存率</a:t>
                      </a:r>
                    </a:p>
                  </a:txBody>
                  <a:tcPr>
                    <a:solidFill>
                      <a:srgbClr val="FFFFFF"/>
                    </a:solidFill>
                  </a:tcPr>
                </a:tc>
                <a:tc>
                  <a:txBody>
                    <a:bodyPr wrap="square" lIns="36576" rIns="36576" tIns="18288" bIns="18288"/>
                    <a:lstStyle/>
                    <a:p>
                      <a:r>
                        <a:rPr sz="540" b="0">
                          <a:solidFill>
                            <a:srgbClr val="21242A"/>
                          </a:solidFill>
                          <a:latin typeface="Microsoft YaHei"/>
                        </a:rPr>
                        <a:t>71.2%（95%CI: 0.53-0.95）</a:t>
                      </a:r>
                    </a:p>
                  </a:txBody>
                  <a:tcPr>
                    <a:solidFill>
                      <a:srgbClr val="FFFFFF"/>
                    </a:solidFill>
                  </a:tcPr>
                </a:tc>
              </a:tr>
              <a:tr h="136328">
                <a:tc>
                  <a:txBody>
                    <a:bodyPr wrap="square" lIns="36576" rIns="36576" tIns="18288" bIns="18288"/>
                    <a:lstStyle/>
                    <a:p>
                      <a:r>
                        <a:rPr sz="540" b="1">
                          <a:solidFill>
                            <a:srgbClr val="21242A"/>
                          </a:solidFill>
                          <a:latin typeface="Microsoft YaHei"/>
                        </a:rPr>
                        <a:t>中位总生存期</a:t>
                      </a:r>
                    </a:p>
                  </a:txBody>
                  <a:tcPr>
                    <a:solidFill>
                      <a:srgbClr val="F6F8FB"/>
                    </a:solidFill>
                  </a:tcPr>
                </a:tc>
                <a:tc>
                  <a:txBody>
                    <a:bodyPr wrap="square" lIns="36576" rIns="36576" tIns="18288" bIns="18288"/>
                    <a:lstStyle/>
                    <a:p>
                      <a:r>
                        <a:rPr sz="540" b="0">
                          <a:solidFill>
                            <a:srgbClr val="21242A"/>
                          </a:solidFill>
                          <a:latin typeface="Microsoft YaHei"/>
                        </a:rPr>
                        <a:t>未达到</a:t>
                      </a:r>
                    </a:p>
                  </a:txBody>
                  <a:tcPr>
                    <a:solidFill>
                      <a:srgbClr val="F6F8FB"/>
                    </a:solidFill>
                  </a:tcPr>
                </a:tc>
              </a:tr>
              <a:tr h="1363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CD3+PD-1+ T细胞显著减少（15例评估患者）</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摘要号：PS2342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pd-1ab21-表达、抗cd19-cart细胞治疗复发/难治性弥漫性大b细胞淋巴瘤：一项开放标签、单臂、1期研究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pd-1ab21-expressing, anti-cd19 car t cells for patients with relapsed/refract...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分组：试验组：PD-1Ab21-CD19 CAR-T细胞（剂量0.3、1、3、9×10^6 cells/kg）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细胞因子释放综合征（CRS）发生率78.6%（3级7.1%），中位发生时间10天</a:t>
            </a:r>
          </a:p>
          <a:p>
            <a:pPr>
              <a:lnSpc>
                <a:spcPct val="103000"/>
              </a:lnSpc>
              <a:spcAft>
                <a:spcPts val="300"/>
              </a:spcAft>
              <a:defRPr sz="800">
                <a:solidFill>
                  <a:srgbClr val="21242A"/>
                </a:solidFill>
                <a:latin typeface="Microsoft YaHei"/>
              </a:defRPr>
            </a:pPr>
            <a:r>
              <a:t>免疫效应细胞相关神经毒性综合征（ICANS）发生率7.1%（3级）</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分组/治疗流程：试验组：PD-1Ab21-CD19 CAR-T细胞（剂量0.3、1、3</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pd-1ab21-表达、抗cd19-cart细胞治疗复发/难治性弥漫性大b细胞淋巴瘤：一项开放标签、单臂、1期研究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pd-1ab21-expressing, anti-cd19 car t cells for patients with relapsed/refract...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While CD19-directed chimeric antigen receptor (CAR) T-cell therapy has improved outcomes for relapsed/refractory diffuse large B-cell lymphoma (R/R </a:t>
            </a:r>
          </a:p>
          <a:p>
            <a:pPr>
              <a:lnSpc>
                <a:spcPct val="103000"/>
              </a:lnSpc>
              <a:spcAft>
                <a:spcPts val="300"/>
              </a:spcAft>
              <a:defRPr sz="570">
                <a:solidFill>
                  <a:srgbClr val="21242A"/>
                </a:solidFill>
                <a:latin typeface="Microsoft YaHei"/>
              </a:defRPr>
            </a:pPr>
            <a:r>
              <a:t>DLBCL), primary resistance, relapse, and limited response durability remain significant challenges.</a:t>
            </a:r>
          </a:p>
          <a:p>
            <a:pPr>
              <a:lnSpc>
                <a:spcPct val="103000"/>
              </a:lnSpc>
              <a:spcAft>
                <a:spcPts val="300"/>
              </a:spcAft>
              <a:defRPr sz="570">
                <a:solidFill>
                  <a:srgbClr val="21242A"/>
                </a:solidFill>
                <a:latin typeface="Microsoft YaHei"/>
              </a:defRPr>
            </a:pPr>
            <a:r>
              <a:t>Strategies to overcome these limitations, including combination with PD-1 blockade, often face issues with systemic toxicity and variable efficacy.</a:t>
            </a:r>
          </a:p>
          <a:p>
            <a:pPr>
              <a:lnSpc>
                <a:spcPct val="103000"/>
              </a:lnSpc>
              <a:spcAft>
                <a:spcPts val="300"/>
              </a:spcAft>
              <a:defRPr sz="570">
                <a:solidFill>
                  <a:srgbClr val="21242A"/>
                </a:solidFill>
                <a:latin typeface="Microsoft YaHei"/>
              </a:defRPr>
            </a:pPr>
            <a:r>
              <a:t>Aims: We aimed to assess the safety, feasibility, and preliminary efficacy of a novel CD19-directed CAR T-cell product engineered to express a bifunctional fusi</a:t>
            </a:r>
          </a:p>
          <a:p>
            <a:pPr>
              <a:lnSpc>
                <a:spcPct val="103000"/>
              </a:lnSpc>
              <a:spcAft>
                <a:spcPts val="300"/>
              </a:spcAft>
              <a:defRPr sz="570">
                <a:solidFill>
                  <a:srgbClr val="21242A"/>
                </a:solidFill>
                <a:latin typeface="Microsoft YaHei"/>
              </a:defRPr>
            </a:pPr>
            <a:r>
              <a:t>on protein targeting PD-1 and interleukin-21 (PD-1Ab21-CD19 CAR-T) in patients with R/R DLBCL.</a:t>
            </a:r>
          </a:p>
          <a:p>
            <a:pPr>
              <a:lnSpc>
                <a:spcPct val="103000"/>
              </a:lnSpc>
              <a:spcAft>
                <a:spcPts val="300"/>
              </a:spcAft>
              <a:defRPr sz="570">
                <a:solidFill>
                  <a:srgbClr val="21242A"/>
                </a:solidFill>
                <a:latin typeface="Microsoft YaHei"/>
              </a:defRPr>
            </a:pPr>
            <a:r>
              <a:t>Methods: In this open-label, single-arm, phase I trial, patients (aged 14–75 years) with CD19-positive R/R DLBCL received lymphodepletion with fludarabine/cyclo</a:t>
            </a:r>
          </a:p>
          <a:p>
            <a:pPr>
              <a:lnSpc>
                <a:spcPct val="103000"/>
              </a:lnSpc>
              <a:spcAft>
                <a:spcPts val="300"/>
              </a:spcAft>
              <a:defRPr sz="570">
                <a:solidFill>
                  <a:srgbClr val="21242A"/>
                </a:solidFill>
                <a:latin typeface="Microsoft YaHei"/>
              </a:defRPr>
            </a:pPr>
            <a:r>
              <a:t>phosphamide, followed by a single infusion of PD-1Ab21-CD19 CAR-T cells at doses of 0.3, 1, 3, or 9×10⁶ cells/kg.</a:t>
            </a:r>
          </a:p>
          <a:p>
            <a:pPr>
              <a:lnSpc>
                <a:spcPct val="103000"/>
              </a:lnSpc>
              <a:spcAft>
                <a:spcPts val="300"/>
              </a:spcAft>
              <a:defRPr sz="570">
                <a:solidFill>
                  <a:srgbClr val="21242A"/>
                </a:solidFill>
                <a:latin typeface="Microsoft YaHei"/>
              </a:defRPr>
            </a:pPr>
            <a:r>
              <a:t>The primary endpoint was the safety and feasibility of PD-1Ab21-CD19 CAR-T cell.</a:t>
            </a:r>
          </a:p>
          <a:p>
            <a:pPr>
              <a:lnSpc>
                <a:spcPct val="103000"/>
              </a:lnSpc>
              <a:spcAft>
                <a:spcPts val="300"/>
              </a:spcAft>
              <a:defRPr sz="570">
                <a:solidFill>
                  <a:srgbClr val="21242A"/>
                </a:solidFill>
                <a:latin typeface="Microsoft YaHei"/>
              </a:defRPr>
            </a:pPr>
            <a:r>
              <a:t>Secondary endpoints included efficacy, CAR-T persistence, progression-free survival (PFS), and overall survival (OS). \n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PD-1Ab21-CD19 CAR-T therapy demonstrated a manageable safety profile and promising antitumor activity in patients with heavily pretreated R/R DLBCL.</a:t>
            </a:r>
          </a:p>
          <a:p>
            <a:pPr>
              <a:lnSpc>
                <a:spcPct val="103000"/>
              </a:lnSpc>
              <a:spcAft>
                <a:spcPts val="300"/>
              </a:spcAft>
              <a:defRPr sz="590">
                <a:solidFill>
                  <a:srgbClr val="21242A"/>
                </a:solidFill>
                <a:latin typeface="Microsoft YaHei"/>
              </a:defRPr>
            </a:pPr>
            <a:r>
              <a:t>The localized delivery of PD-1 blockade and IL-21 via engineered CAR-T cells may mitigate systemic toxicity while enhancing efficacy.</a:t>
            </a:r>
          </a:p>
          <a:p>
            <a:pPr>
              <a:lnSpc>
                <a:spcPct val="103000"/>
              </a:lnSpc>
              <a:spcAft>
                <a:spcPts val="300"/>
              </a:spcAft>
              <a:defRPr sz="590">
                <a:solidFill>
                  <a:srgbClr val="21242A"/>
                </a:solidFill>
                <a:latin typeface="Microsoft YaHei"/>
              </a:defRPr>
            </a:pPr>
            <a:r>
              <a:t>These findings warrant further in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细胞因子释放综合征（CRS）发生率78.6%（3级7.1%），中位发生时间10天</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免疫效应细胞相关神经毒性综合征（ICANS）发生率7.1%（3级）</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总缓解率（ORR）71.4%</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完全代谢缓解（CMR）率57.1%</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6个月无进展生存（PFS）率64.3%</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6个月总生存（OS）率71.4%</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中位随访22.2个月</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摘要号：PS2335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循环car t细胞中cd4/cd8平衡对大b细胞淋巴瘤总生存率的双相预后影响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cd4/cd8 balance in circulating car t-cells shows biphasic prognostic impact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总CAR-T细胞水平与达到完全代谢反应(CMR)的关系：HR 1.12 per doubling (95%CI 1.04-1....</a:t>
            </a:r>
          </a:p>
          <a:p>
            <a:pPr>
              <a:lnSpc>
                <a:spcPct val="103000"/>
              </a:lnSpc>
              <a:spcAft>
                <a:spcPts val="300"/>
              </a:spcAft>
              <a:defRPr sz="800">
                <a:solidFill>
                  <a:srgbClr val="21242A"/>
                </a:solidFill>
                <a:latin typeface="Microsoft YaHei"/>
              </a:defRPr>
            </a:pPr>
            <a:r>
              <a:t>DiffNorm与总生存期(OS)的早期关系：HR 1.31 per +0.1 DiffNorm increase (95%C...</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循环car t细胞中cd4/cd8平衡对大b细胞淋巴瘤总生存率的双相预后影响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cd4/cd8 balance in circulating car t-cells shows biphasic prognostic impact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Anti-CD19 CAR-T expansion/persistence and the balance of CD4+ vs CD8+ CAR T-cells may influence outcomes in large B-cell lymphomas (LBCL), but their</a:t>
            </a:r>
          </a:p>
          <a:p>
            <a:pPr>
              <a:lnSpc>
                <a:spcPct val="103000"/>
              </a:lnSpc>
              <a:spcAft>
                <a:spcPts val="300"/>
              </a:spcAft>
              <a:defRPr sz="570">
                <a:solidFill>
                  <a:srgbClr val="21242A"/>
                </a:solidFill>
                <a:latin typeface="Microsoft YaHei"/>
              </a:defRPr>
            </a:pPr>
            <a:r>
              <a:t> temporal dynamics and phase-dependent prognostic value remain unclear.</a:t>
            </a:r>
          </a:p>
          <a:p>
            <a:pPr>
              <a:lnSpc>
                <a:spcPct val="103000"/>
              </a:lnSpc>
              <a:spcAft>
                <a:spcPts val="300"/>
              </a:spcAft>
              <a:defRPr sz="570">
                <a:solidFill>
                  <a:srgbClr val="21242A"/>
                </a:solidFill>
                <a:latin typeface="Microsoft YaHei"/>
              </a:defRPr>
            </a:pPr>
            <a:r>
              <a:t>Aims: To assess (i) CAR T-cell persistence over 24 months and (ii) the association of CAR-T levels and DiffNorm with response kinetics and survival.</a:t>
            </a:r>
          </a:p>
          <a:p>
            <a:pPr>
              <a:lnSpc>
                <a:spcPct val="103000"/>
              </a:lnSpc>
              <a:spcAft>
                <a:spcPts val="300"/>
              </a:spcAft>
              <a:defRPr sz="570">
                <a:solidFill>
                  <a:srgbClr val="21242A"/>
                </a:solidFill>
                <a:latin typeface="Microsoft YaHei"/>
              </a:defRPr>
            </a:pPr>
            <a:r>
              <a:t>Methods: In a single-center cohort of 139 consecutive patients treated with anti-CD19 CAR T-cells for R/R LBCL, CAR T-cell levels (total, CAR-CD4, CAR-CD8) were</a:t>
            </a:r>
          </a:p>
          <a:p>
            <a:pPr>
              <a:lnSpc>
                <a:spcPct val="103000"/>
              </a:lnSpc>
              <a:spcAft>
                <a:spcPts val="300"/>
              </a:spcAft>
              <a:defRPr sz="570">
                <a:solidFill>
                  <a:srgbClr val="21242A"/>
                </a:solidFill>
                <a:latin typeface="Microsoft YaHei"/>
              </a:defRPr>
            </a:pPr>
            <a:r>
              <a:t> quantified by flow cytometry in peripheral blood from M1 to M24 (LOD 0.1% of lymphocytes).</a:t>
            </a:r>
          </a:p>
          <a:p>
            <a:pPr>
              <a:lnSpc>
                <a:spcPct val="103000"/>
              </a:lnSpc>
              <a:spcAft>
                <a:spcPts val="300"/>
              </a:spcAft>
              <a:defRPr sz="570">
                <a:solidFill>
                  <a:srgbClr val="21242A"/>
                </a:solidFill>
                <a:latin typeface="Microsoft YaHei"/>
              </a:defRPr>
            </a:pPr>
            <a:r>
              <a:t>Time-to-complete metabolic response (CMR), PFS and OS were analyzed using a time-varying Cox model.</a:t>
            </a:r>
          </a:p>
          <a:p>
            <a:pPr>
              <a:lnSpc>
                <a:spcPct val="103000"/>
              </a:lnSpc>
              <a:spcAft>
                <a:spcPts val="300"/>
              </a:spcAft>
              <a:defRPr sz="570">
                <a:solidFill>
                  <a:srgbClr val="21242A"/>
                </a:solidFill>
                <a:latin typeface="Microsoft YaHei"/>
              </a:defRPr>
            </a:pPr>
            <a:r>
              <a:t>DiffNorm ((CAR-CD4 - CAR-CD8)/(CAR-CD4 + CAR-CD8)) were analyzed using a piecewise time-varying Cox approach (day 21 cutpoint) to account for the sign inversion</a:t>
            </a:r>
          </a:p>
          <a:p>
            <a:pPr>
              <a:lnSpc>
                <a:spcPct val="103000"/>
              </a:lnSpc>
              <a:spcAft>
                <a:spcPts val="300"/>
              </a:spcAft>
              <a:defRPr sz="570">
                <a:solidFill>
                  <a:srgbClr val="21242A"/>
                </a:solidFill>
                <a:latin typeface="Microsoft YaHei"/>
              </a:defRPr>
            </a:pPr>
            <a:r>
              <a:t> observed between peak and M3 in timepoint analyses, reflecting early expansion vs post-expansion phases.</a:t>
            </a:r>
          </a:p>
          <a:p>
            <a:pPr>
              <a:lnSpc>
                <a:spcPct val="103000"/>
              </a:lnSpc>
              <a:spcAft>
                <a:spcPts val="300"/>
              </a:spcAft>
              <a:defRPr sz="570">
                <a:solidFill>
                  <a:srgbClr val="21242A"/>
                </a:solidFill>
                <a:latin typeface="Microsoft YaHei"/>
              </a:defRPr>
            </a:pPr>
            <a:r>
              <a:t>For time-to-CMR and PFS analyses, CAR T-cell measurements obtained after disease progression were excluded.</a:t>
            </a:r>
          </a:p>
          <a:p>
            <a:pPr>
              <a:lnSpc>
                <a:spcPct val="103000"/>
              </a:lnSpc>
              <a:spcAft>
                <a:spcPts val="300"/>
              </a:spcAft>
              <a:defRPr sz="570">
                <a:solidFill>
                  <a:srgbClr val="21242A"/>
                </a:solidFill>
                <a:latin typeface="Microsoft YaHei"/>
              </a:defRPr>
            </a:pPr>
            <a:r>
              <a:t>Holm correction was applied for multiple comparisons.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CAR T-cells remain detectable in over 90% of patients throughout 2 years of follow-up.</a:t>
            </a:r>
          </a:p>
          <a:p>
            <a:pPr>
              <a:lnSpc>
                <a:spcPct val="103000"/>
              </a:lnSpc>
              <a:spcAft>
                <a:spcPts val="300"/>
              </a:spcAft>
              <a:defRPr sz="590">
                <a:solidFill>
                  <a:srgbClr val="21242A"/>
                </a:solidFill>
                <a:latin typeface="Microsoft YaHei"/>
              </a:defRPr>
            </a:pPr>
            <a:r>
              <a:t>The CAR-CD4/CD8 balance undergoes a biologically meaningful inversion, from early CD8-dominant expansion to progressive CD4 predominance.</a:t>
            </a:r>
          </a:p>
          <a:p>
            <a:pPr>
              <a:lnSpc>
                <a:spcPct val="103000"/>
              </a:lnSpc>
              <a:spcAft>
                <a:spcPts val="300"/>
              </a:spcAft>
              <a:defRPr sz="590">
                <a:solidFill>
                  <a:srgbClr val="21242A"/>
                </a:solidFill>
                <a:latin typeface="Microsoft YaHei"/>
              </a:defRPr>
            </a:pPr>
            <a:r>
              <a:t>Absolute CAR T-cell levels accelerate CMR achievement, while DiffNorm shows opposite phase-dependent associations with OS - early CAR-CD8 dominance favoring cyt</a:t>
            </a:r>
          </a:p>
          <a:p>
            <a:pPr>
              <a:lnSpc>
                <a:spcPct val="103000"/>
              </a:lnSpc>
              <a:spcAft>
                <a:spcPts val="300"/>
              </a:spcAft>
              <a:defRPr sz="590">
                <a:solidFill>
                  <a:srgbClr val="21242A"/>
                </a:solidFill>
                <a:latin typeface="Microsoft YaHei"/>
              </a:defRPr>
            </a:pPr>
            <a:r>
              <a:t>otoxic expansion, late CAR-CD4 predominance favoring immune memory - independent of baseline immune status.</a:t>
            </a:r>
          </a:p>
          <a:p>
            <a:pPr>
              <a:lnSpc>
                <a:spcPct val="103000"/>
              </a:lnSpc>
              <a:spcAft>
                <a:spcPts val="300"/>
              </a:spcAft>
              <a:defRPr sz="590">
                <a:solidFill>
                  <a:srgbClr val="21242A"/>
                </a:solidFill>
                <a:latin typeface="Microsoft YaHei"/>
              </a:defRPr>
            </a:pPr>
            <a:r>
              <a:t>Pre-lymphodepletion CD4 lymphocyte count emerges as an independent prognostic factor.</a:t>
            </a:r>
          </a:p>
          <a:p>
            <a:pPr>
              <a:lnSpc>
                <a:spcPct val="103000"/>
              </a:lnSpc>
              <a:spcAft>
                <a:spcPts val="300"/>
              </a:spcAft>
              <a:defRPr sz="590">
                <a:solidFill>
                  <a:srgbClr val="21242A"/>
                </a:solidFill>
                <a:latin typeface="Microsoft YaHei"/>
              </a:defRPr>
            </a:pPr>
            <a:r>
              <a:t>These findings warrant external validation and may inform risk stratification and product optimization.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总CAR-T细胞水平与达到完全代谢反应(CMR)的关系</a:t>
                      </a:r>
                    </a:p>
                  </a:txBody>
                  <a:tcPr>
                    <a:solidFill>
                      <a:srgbClr val="F6F8FB"/>
                    </a:solidFill>
                  </a:tcPr>
                </a:tc>
                <a:tc>
                  <a:txBody>
                    <a:bodyPr wrap="square" lIns="36576" rIns="36576" tIns="18288" bIns="18288"/>
                    <a:lstStyle/>
                    <a:p>
                      <a:r>
                        <a:rPr sz="540" b="0">
                          <a:solidFill>
                            <a:srgbClr val="21242A"/>
                          </a:solidFill>
                          <a:latin typeface="Microsoft YaHei"/>
                        </a:rPr>
                        <a:t>HR 1.12 per doubling (95%CI 1.04-1.21, Holm-adjusted p=0.022)</a:t>
                      </a:r>
                    </a:p>
                  </a:txBody>
                  <a:tcPr>
                    <a:solidFill>
                      <a:srgbClr val="F6F8FB"/>
                    </a:solidFill>
                  </a:tcPr>
                </a:tc>
              </a:tr>
              <a:tr h="166624">
                <a:tc>
                  <a:txBody>
                    <a:bodyPr wrap="square" lIns="36576" rIns="36576" tIns="18288" bIns="18288"/>
                    <a:lstStyle/>
                    <a:p>
                      <a:r>
                        <a:rPr sz="540" b="1">
                          <a:solidFill>
                            <a:srgbClr val="21242A"/>
                          </a:solidFill>
                          <a:latin typeface="Microsoft YaHei"/>
                        </a:rPr>
                        <a:t>DiffNorm与总生存期(OS)的早期关系</a:t>
                      </a:r>
                    </a:p>
                  </a:txBody>
                  <a:tcPr>
                    <a:solidFill>
                      <a:srgbClr val="FFFFFF"/>
                    </a:solidFill>
                  </a:tcPr>
                </a:tc>
                <a:tc>
                  <a:txBody>
                    <a:bodyPr wrap="square" lIns="36576" rIns="36576" tIns="18288" bIns="18288"/>
                    <a:lstStyle/>
                    <a:p>
                      <a:r>
                        <a:rPr sz="540" b="0">
                          <a:solidFill>
                            <a:srgbClr val="21242A"/>
                          </a:solidFill>
                          <a:latin typeface="Microsoft YaHei"/>
                        </a:rPr>
                        <a:t>HR 1.31 per +0.1 DiffNorm increase (95%CI 1.10-1.56, Holm-adjusted p=0.006)</a:t>
                      </a:r>
                    </a:p>
                  </a:txBody>
                  <a:tcPr>
                    <a:solidFill>
                      <a:srgbClr val="FFFFFF"/>
                    </a:solidFill>
                  </a:tcPr>
                </a:tc>
              </a:tr>
              <a:tr h="166624">
                <a:tc>
                  <a:txBody>
                    <a:bodyPr wrap="square" lIns="36576" rIns="36576" tIns="18288" bIns="18288"/>
                    <a:lstStyle/>
                    <a:p>
                      <a:r>
                        <a:rPr sz="540" b="1">
                          <a:solidFill>
                            <a:srgbClr val="21242A"/>
                          </a:solidFill>
                          <a:latin typeface="Microsoft YaHei"/>
                        </a:rPr>
                        <a:t>DiffNorm与总生存期(OS)的晚期关系</a:t>
                      </a:r>
                    </a:p>
                  </a:txBody>
                  <a:tcPr>
                    <a:solidFill>
                      <a:srgbClr val="F6F8FB"/>
                    </a:solidFill>
                  </a:tcPr>
                </a:tc>
                <a:tc>
                  <a:txBody>
                    <a:bodyPr wrap="square" lIns="36576" rIns="36576" tIns="18288" bIns="18288"/>
                    <a:lstStyle/>
                    <a:p>
                      <a:r>
                        <a:rPr sz="540" b="0">
                          <a:solidFill>
                            <a:srgbClr val="21242A"/>
                          </a:solidFill>
                          <a:latin typeface="Microsoft YaHei"/>
                        </a:rPr>
                        <a:t>HR 0.91 (0.85-0.97, p=0.006)</a:t>
                      </a:r>
                    </a:p>
                  </a:txBody>
                  <a:tcPr>
                    <a:solidFill>
                      <a:srgbClr val="F6F8FB"/>
                    </a:solidFill>
                  </a:tcPr>
                </a:tc>
              </a:tr>
              <a:tr h="166624">
                <a:tc>
                  <a:txBody>
                    <a:bodyPr wrap="square" lIns="36576" rIns="36576" tIns="18288" bIns="18288"/>
                    <a:lstStyle/>
                    <a:p>
                      <a:r>
                        <a:rPr sz="540" b="1">
                          <a:solidFill>
                            <a:srgbClr val="21242A"/>
                          </a:solidFill>
                          <a:latin typeface="Microsoft YaHei"/>
                        </a:rPr>
                        <a:t>CMR率</a:t>
                      </a:r>
                    </a:p>
                  </a:txBody>
                  <a:tcPr>
                    <a:solidFill>
                      <a:srgbClr val="FFFFFF"/>
                    </a:solidFill>
                  </a:tcPr>
                </a:tc>
                <a:tc>
                  <a:txBody>
                    <a:bodyPr wrap="square" lIns="36576" rIns="36576" tIns="18288" bIns="18288"/>
                    <a:lstStyle/>
                    <a:p>
                      <a:r>
                        <a:rPr sz="540" b="0">
                          <a:solidFill>
                            <a:srgbClr val="21242A"/>
                          </a:solidFill>
                          <a:latin typeface="Microsoft YaHei"/>
                        </a:rPr>
                        <a:t>74.1% (103/139)</a:t>
                      </a:r>
                    </a:p>
                  </a:txBody>
                  <a:tcPr>
                    <a:solidFill>
                      <a:srgbClr val="FFFFFF"/>
                    </a:solidFill>
                  </a:tcPr>
                </a:tc>
              </a:tr>
              <a:tr h="166624">
                <a:tc>
                  <a:txBody>
                    <a:bodyPr wrap="square" lIns="36576" rIns="36576" tIns="18288" bIns="18288"/>
                    <a:lstStyle/>
                    <a:p>
                      <a:r>
                        <a:rPr sz="540" b="1">
                          <a:solidFill>
                            <a:srgbClr val="21242A"/>
                          </a:solidFill>
                          <a:latin typeface="Microsoft YaHei"/>
                        </a:rPr>
                        <a:t>ORR</a:t>
                      </a:r>
                    </a:p>
                  </a:txBody>
                  <a:tcPr>
                    <a:solidFill>
                      <a:srgbClr val="F6F8FB"/>
                    </a:solidFill>
                  </a:tcPr>
                </a:tc>
                <a:tc>
                  <a:txBody>
                    <a:bodyPr wrap="square" lIns="36576" rIns="36576" tIns="18288" bIns="18288"/>
                    <a:lstStyle/>
                    <a:p>
                      <a:r>
                        <a:rPr sz="540" b="0">
                          <a:solidFill>
                            <a:srgbClr val="21242A"/>
                          </a:solidFill>
                          <a:latin typeface="Microsoft YaHei"/>
                        </a:rPr>
                        <a:t>86.3%</a:t>
                      </a:r>
                    </a:p>
                  </a:txBody>
                  <a:tcPr>
                    <a:solidFill>
                      <a:srgbClr val="F6F8FB"/>
                    </a:solidFill>
                  </a:tcPr>
                </a:tc>
              </a:tr>
              <a:tr h="166624">
                <a:tc>
                  <a:txBody>
                    <a:bodyPr wrap="square" lIns="36576" rIns="36576" tIns="18288" bIns="18288"/>
                    <a:lstStyle/>
                    <a:p>
                      <a:r>
                        <a:rPr sz="540" b="1">
                          <a:solidFill>
                            <a:srgbClr val="21242A"/>
                          </a:solidFill>
                          <a:latin typeface="Microsoft YaHei"/>
                        </a:rPr>
                        <a:t>中位PFS</a:t>
                      </a:r>
                    </a:p>
                  </a:txBody>
                  <a:tcPr>
                    <a:solidFill>
                      <a:srgbClr val="FFFFFF"/>
                    </a:solidFill>
                  </a:tcPr>
                </a:tc>
                <a:tc>
                  <a:txBody>
                    <a:bodyPr wrap="square" lIns="36576" rIns="36576" tIns="18288" bIns="18288"/>
                    <a:lstStyle/>
                    <a:p>
                      <a:r>
                        <a:rPr sz="540" b="0">
                          <a:solidFill>
                            <a:srgbClr val="21242A"/>
                          </a:solidFill>
                          <a:latin typeface="Microsoft YaHei"/>
                        </a:rPr>
                        <a:t>42.5个月</a:t>
                      </a:r>
                    </a:p>
                  </a:txBody>
                  <a:tcPr>
                    <a:solidFill>
                      <a:srgbClr val="FFFFFF"/>
                    </a:solidFill>
                  </a:tcPr>
                </a:tc>
              </a:tr>
              <a:tr h="166624">
                <a:tc>
                  <a:txBody>
                    <a:bodyPr wrap="square" lIns="36576" rIns="36576" tIns="18288" bIns="18288"/>
                    <a:lstStyle/>
                    <a:p>
                      <a:r>
                        <a:rPr sz="540" b="1">
                          <a:solidFill>
                            <a:srgbClr val="21242A"/>
                          </a:solidFill>
                          <a:latin typeface="Microsoft YaHei"/>
                        </a:rPr>
                        <a:t>中位OS</a:t>
                      </a:r>
                    </a:p>
                  </a:txBody>
                  <a:tcPr>
                    <a:solidFill>
                      <a:srgbClr val="F6F8FB"/>
                    </a:solidFill>
                  </a:tcPr>
                </a:tc>
                <a:tc>
                  <a:txBody>
                    <a:bodyPr wrap="square" lIns="36576" rIns="36576" tIns="18288" bIns="18288"/>
                    <a:lstStyle/>
                    <a:p>
                      <a:r>
                        <a:rPr sz="540" b="0">
                          <a:solidFill>
                            <a:srgbClr val="21242A"/>
                          </a:solidFill>
                          <a:latin typeface="Microsoft YaHei"/>
                        </a:rPr>
                        <a:t>58.1个月</a:t>
                      </a:r>
                    </a:p>
                  </a:txBody>
                  <a:tcPr>
                    <a:solidFill>
                      <a:srgbClr val="F6F8FB"/>
                    </a:solidFill>
                  </a:tcPr>
                </a:tc>
              </a:tr>
              <a:tr h="166624">
                <a:tc>
                  <a:txBody>
                    <a:bodyPr wrap="square" lIns="36576" rIns="36576" tIns="18288" bIns="18288"/>
                    <a:lstStyle/>
                    <a:p>
                      <a:r>
                        <a:rPr sz="540" b="1">
                          <a:solidFill>
                            <a:srgbClr val="21242A"/>
                          </a:solidFill>
                          <a:latin typeface="Microsoft YaHei"/>
                        </a:rPr>
                        <a:t>CAR-T细胞持续可检测比例</a:t>
                      </a:r>
                    </a:p>
                  </a:txBody>
                  <a:tcPr>
                    <a:solidFill>
                      <a:srgbClr val="FFFFFF"/>
                    </a:solidFill>
                  </a:tcPr>
                </a:tc>
                <a:tc>
                  <a:txBody>
                    <a:bodyPr wrap="square" lIns="36576" rIns="36576" tIns="18288" bIns="18288"/>
                    <a:lstStyle/>
                    <a:p>
                      <a:r>
                        <a:rPr sz="540" b="0">
                          <a:solidFill>
                            <a:srgbClr val="21242A"/>
                          </a:solidFill>
                          <a:latin typeface="Microsoft YaHei"/>
                        </a:rPr>
                        <a:t>M1 98.5%, M6 97.6%, M12 93.0%, M24 94.7%</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摘要号：PS2323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早期肿瘤知情ctdna监测改善大b细胞淋巴瘤car-t治疗后的风险分层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tumor-informed ctdna monitoring improves risk stratification after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回顾性临床研究结果：early tumor-informed ctdna monitoring improves risk 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早期MRD评估（day +7/+14）：ctDNA阳性患者1年PFS为23%，ctDNA阴性患者1年PFS为100%（HR=1...</a:t>
            </a:r>
          </a:p>
          <a:p>
            <a:pPr>
              <a:lnSpc>
                <a:spcPct val="103000"/>
              </a:lnSpc>
              <a:spcAft>
                <a:spcPts val="300"/>
              </a:spcAft>
              <a:defRPr sz="800">
                <a:solidFill>
                  <a:srgbClr val="21242A"/>
                </a:solidFill>
                <a:latin typeface="Microsoft YaHei"/>
              </a:defRPr>
            </a:pPr>
            <a:r>
              <a:t>Day+30：ctDNA MRD阳性患者HR=4.5（95%CI 1.03-19.37，p=0.02），PET/CT阳性HR=...</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研究主题：early tumor-informed ctdna monitoring improves risk stratification after car-t therapy in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早期肿瘤知情ctdna监测改善大b细胞淋巴瘤car-t治疗后的风险分层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tumor-informed ctdna monitoring improves risk stratification after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Relapsed or refractory large B-cell lymphoma (LBCL) treated with CAR-T therapy shows heterogeneous outcomes, and early identification of patients at</a:t>
            </a:r>
          </a:p>
          <a:p>
            <a:pPr>
              <a:lnSpc>
                <a:spcPct val="103000"/>
              </a:lnSpc>
              <a:spcAft>
                <a:spcPts val="300"/>
              </a:spcAft>
              <a:defRPr sz="570">
                <a:solidFill>
                  <a:srgbClr val="21242A"/>
                </a:solidFill>
                <a:latin typeface="Microsoft YaHei"/>
              </a:defRPr>
            </a:pPr>
            <a:r>
              <a:t> risk of progression remains challenging.</a:t>
            </a:r>
          </a:p>
          <a:p>
            <a:pPr>
              <a:lnSpc>
                <a:spcPct val="103000"/>
              </a:lnSpc>
              <a:spcAft>
                <a:spcPts val="300"/>
              </a:spcAft>
              <a:defRPr sz="570">
                <a:solidFill>
                  <a:srgbClr val="21242A"/>
                </a:solidFill>
                <a:latin typeface="Microsoft YaHei"/>
              </a:defRPr>
            </a:pPr>
            <a:r>
              <a:t>Tumor-informed circulating tumor DNA (ctDNA) assays enable highly sensitive minimal residual disease (MRD) detection and offer a noninvasive strategy for dynami</a:t>
            </a:r>
          </a:p>
          <a:p>
            <a:pPr>
              <a:lnSpc>
                <a:spcPct val="103000"/>
              </a:lnSpc>
              <a:spcAft>
                <a:spcPts val="300"/>
              </a:spcAft>
              <a:defRPr sz="570">
                <a:solidFill>
                  <a:srgbClr val="21242A"/>
                </a:solidFill>
                <a:latin typeface="Microsoft YaHei"/>
              </a:defRPr>
            </a:pPr>
            <a:r>
              <a:t>c monitoring.</a:t>
            </a:r>
          </a:p>
          <a:p>
            <a:pPr>
              <a:lnSpc>
                <a:spcPct val="103000"/>
              </a:lnSpc>
              <a:spcAft>
                <a:spcPts val="300"/>
              </a:spcAft>
              <a:defRPr sz="570">
                <a:solidFill>
                  <a:srgbClr val="21242A"/>
                </a:solidFill>
                <a:latin typeface="Microsoft YaHei"/>
              </a:defRPr>
            </a:pPr>
            <a:r>
              <a:t>Aims: We aim to evaluate the prognostic impact of early and longitudinal patient-specific ctDNA assessment in LBCL patients receiving CAR-T therapy and its comp</a:t>
            </a:r>
          </a:p>
          <a:p>
            <a:pPr>
              <a:lnSpc>
                <a:spcPct val="103000"/>
              </a:lnSpc>
              <a:spcAft>
                <a:spcPts val="300"/>
              </a:spcAft>
              <a:defRPr sz="570">
                <a:solidFill>
                  <a:srgbClr val="21242A"/>
                </a:solidFill>
                <a:latin typeface="Microsoft YaHei"/>
              </a:defRPr>
            </a:pPr>
            <a:r>
              <a:t>lementary role alongside PET/CT.</a:t>
            </a:r>
          </a:p>
          <a:p>
            <a:pPr>
              <a:lnSpc>
                <a:spcPct val="103000"/>
              </a:lnSpc>
              <a:spcAft>
                <a:spcPts val="300"/>
              </a:spcAft>
              <a:defRPr sz="570">
                <a:solidFill>
                  <a:srgbClr val="21242A"/>
                </a:solidFill>
                <a:latin typeface="Microsoft YaHei"/>
              </a:defRPr>
            </a:pPr>
            <a:r>
              <a:t>Methods: Seventy-nine LBCL patients treated with CD19 CAR-T therapy and available liquid biopsy at day +7, +14, or +30 were included.</a:t>
            </a:r>
          </a:p>
          <a:p>
            <a:pPr>
              <a:lnSpc>
                <a:spcPct val="103000"/>
              </a:lnSpc>
              <a:spcAft>
                <a:spcPts val="300"/>
              </a:spcAft>
              <a:defRPr sz="570">
                <a:solidFill>
                  <a:srgbClr val="21242A"/>
                </a:solidFill>
                <a:latin typeface="Microsoft YaHei"/>
              </a:defRPr>
            </a:pPr>
            <a:r>
              <a:t>Six lacked suitable molecular markers for MRD analysis, and 10 of the remaining 73 were excluded due to insufficient cfDNA input (</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Tumor-informed ctDNA monitoring enables very early risk stratification after CAR-T therapy in LBCL, identifying high-risk patients within the first two weeks po</a:t>
            </a:r>
          </a:p>
          <a:p>
            <a:pPr>
              <a:lnSpc>
                <a:spcPct val="103000"/>
              </a:lnSpc>
              <a:spcAft>
                <a:spcPts val="300"/>
              </a:spcAft>
              <a:defRPr sz="590">
                <a:solidFill>
                  <a:srgbClr val="21242A"/>
                </a:solidFill>
                <a:latin typeface="Microsoft YaHei"/>
              </a:defRPr>
            </a:pPr>
            <a:r>
              <a:t>st-infusion, before radiologic assessment.</a:t>
            </a:r>
          </a:p>
          <a:p>
            <a:pPr>
              <a:lnSpc>
                <a:spcPct val="103000"/>
              </a:lnSpc>
              <a:spcAft>
                <a:spcPts val="300"/>
              </a:spcAft>
              <a:defRPr sz="590">
                <a:solidFill>
                  <a:srgbClr val="21242A"/>
                </a:solidFill>
                <a:latin typeface="Microsoft YaHei"/>
              </a:defRPr>
            </a:pPr>
            <a:r>
              <a:t>At day +30, ctDNA MRD positivity shows strong prognostic value, and integration of molecular and metabolic response improves outcome discrimination.</a:t>
            </a:r>
          </a:p>
          <a:p>
            <a:pPr>
              <a:lnSpc>
                <a:spcPct val="103000"/>
              </a:lnSpc>
              <a:spcAft>
                <a:spcPts val="300"/>
              </a:spcAft>
              <a:defRPr sz="590">
                <a:solidFill>
                  <a:srgbClr val="21242A"/>
                </a:solidFill>
                <a:latin typeface="Microsoft YaHei"/>
              </a:defRPr>
            </a:pPr>
            <a:r>
              <a:t>ctDNA analysis is particularly useful when PET findings generate uncertainty, clarifying disease status.</a:t>
            </a:r>
          </a:p>
          <a:p>
            <a:pPr>
              <a:lnSpc>
                <a:spcPct val="103000"/>
              </a:lnSpc>
              <a:spcAft>
                <a:spcPts val="300"/>
              </a:spcAft>
              <a:defRPr sz="590">
                <a:solidFill>
                  <a:srgbClr val="21242A"/>
                </a:solidFill>
                <a:latin typeface="Microsoft YaHei"/>
              </a:defRPr>
            </a:pPr>
            <a:r>
              <a:t>These results support incorporating longitudinal ctDNA monitoring into prospective CAR-T trials to enable earlier, biology-driven, risk-adapted strategies.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median age of the final cohort was 57 years; 41% were female, and patients had received a median of two prior lines of therapy.</a:t>
            </a:r>
          </a:p>
          <a:p>
            <a:pPr>
              <a:lnSpc>
                <a:spcPct val="103000"/>
              </a:lnSpc>
              <a:spcAft>
                <a:spcPts val="300"/>
              </a:spcAft>
              <a:defRPr sz="580">
                <a:solidFill>
                  <a:srgbClr val="21242A"/>
                </a:solidFill>
                <a:latin typeface="Microsoft YaHei"/>
              </a:defRPr>
            </a:pPr>
            <a:r>
              <a:t>At baseline, 401 trackable somatic mutations were identified for MRD monitoring (mean: 6 per patient).</a:t>
            </a:r>
          </a:p>
          <a:p>
            <a:pPr>
              <a:lnSpc>
                <a:spcPct val="103000"/>
              </a:lnSpc>
              <a:spcAft>
                <a:spcPts val="300"/>
              </a:spcAft>
              <a:defRPr sz="580">
                <a:solidFill>
                  <a:srgbClr val="21242A"/>
                </a:solidFill>
                <a:latin typeface="Microsoft YaHei"/>
              </a:defRPr>
            </a:pPr>
            <a:r>
              <a:t>The most frequently mutated genes were TP53 (44%), CREBBP (30%), KMT2D (24%), IGLL5 (22%), and BCL2 (20%).</a:t>
            </a:r>
          </a:p>
          <a:p>
            <a:pPr>
              <a:lnSpc>
                <a:spcPct val="103000"/>
              </a:lnSpc>
              <a:spcAft>
                <a:spcPts val="300"/>
              </a:spcAft>
              <a:defRPr sz="580">
                <a:solidFill>
                  <a:srgbClr val="21242A"/>
                </a:solidFill>
                <a:latin typeface="Microsoft YaHei"/>
              </a:defRPr>
            </a:pPr>
            <a:r>
              <a:t>Early MRD assessment (day +7/+14) identified patients at increased risk of progression, with ctDNA positivity demonstrating significant prognostic impact (</a:t>
            </a:r>
          </a:p>
          <a:p>
            <a:pPr>
              <a:lnSpc>
                <a:spcPct val="103000"/>
              </a:lnSpc>
              <a:spcAft>
                <a:spcPts val="300"/>
              </a:spcAft>
              <a:defRPr sz="580">
                <a:solidFill>
                  <a:srgbClr val="21242A"/>
                </a:solidFill>
                <a:latin typeface="Microsoft YaHei"/>
              </a:defRPr>
            </a:pPr>
            <a:r>
              <a:t>one-year PFS: 23% vs 100%; HR, 10; 95% CI, 1.37–72.48; p=0.02), indicating that molecular kinetics precede conventional imaging (Figure A).</a:t>
            </a:r>
          </a:p>
          <a:p>
            <a:pPr>
              <a:lnSpc>
                <a:spcPct val="103000"/>
              </a:lnSpc>
              <a:spcAft>
                <a:spcPts val="300"/>
              </a:spcAft>
              <a:defRPr sz="580">
                <a:solidFill>
                  <a:srgbClr val="21242A"/>
                </a:solidFill>
                <a:latin typeface="Microsoft YaHei"/>
              </a:defRPr>
            </a:pPr>
            <a:r>
              <a:t>At day +30, ctDNA MRD positivity retained independent prognostic value (HR 4.5, 95% CI 1.03–19.37; p=0.02), comparable to PET/CT (HR 8.3, 95% CI 4.41–15.6;</a:t>
            </a:r>
          </a:p>
          <a:p>
            <a:pPr>
              <a:lnSpc>
                <a:spcPct val="103000"/>
              </a:lnSpc>
              <a:spcAft>
                <a:spcPts val="300"/>
              </a:spcAft>
              <a:defRPr sz="580">
                <a:solidFill>
                  <a:srgbClr val="21242A"/>
                </a:solidFill>
                <a:latin typeface="Microsoft YaHei"/>
              </a:defRPr>
            </a:pPr>
            <a:r>
              <a:t> p</a:t>
            </a:r>
          </a:p>
          <a:p>
            <a:pPr>
              <a:lnSpc>
                <a:spcPct val="103000"/>
              </a:lnSpc>
              <a:spcAft>
                <a:spcPts val="300"/>
              </a:spcAft>
              <a:defRPr sz="580">
                <a:solidFill>
                  <a:srgbClr val="21242A"/>
                </a:solidFill>
                <a:latin typeface="Microsoft YaHei"/>
              </a:defRPr>
            </a:pPr>
            <a:r>
              <a:t>Conclusion: Tumor-informed ctDNA monitoring enables very early risk stratification after CAR-T therapy in LBCL, identifying high-risk patients within the f</a:t>
            </a:r>
          </a:p>
          <a:p>
            <a:pPr>
              <a:lnSpc>
                <a:spcPct val="103000"/>
              </a:lnSpc>
              <a:spcAft>
                <a:spcPts val="300"/>
              </a:spcAft>
              <a:defRPr sz="580">
                <a:solidFill>
                  <a:srgbClr val="21242A"/>
                </a:solidFill>
                <a:latin typeface="Microsoft YaHei"/>
              </a:defRPr>
            </a:pPr>
            <a:r>
              <a:t>irst two weeks post-infusion, before radiologic assessment.</a:t>
            </a:r>
          </a:p>
          <a:p>
            <a:pPr>
              <a:lnSpc>
                <a:spcPct val="103000"/>
              </a:lnSpc>
              <a:spcAft>
                <a:spcPts val="300"/>
              </a:spcAft>
              <a:defRPr sz="580">
                <a:solidFill>
                  <a:srgbClr val="21242A"/>
                </a:solidFill>
                <a:latin typeface="Microsoft YaHei"/>
              </a:defRPr>
            </a:pPr>
            <a:r>
              <a:t>At day +30, ctDNA MRD positivity shows strong prognostic value, and integration of molecular and metabolic response improves outcome discrimination.</a:t>
            </a:r>
          </a:p>
          <a:p>
            <a:pPr>
              <a:lnSpc>
                <a:spcPct val="103000"/>
              </a:lnSpc>
              <a:spcAft>
                <a:spcPts val="300"/>
              </a:spcAft>
              <a:defRPr sz="580">
                <a:solidFill>
                  <a:srgbClr val="21242A"/>
                </a:solidFill>
                <a:latin typeface="Microsoft YaHei"/>
              </a:defRPr>
            </a:pPr>
            <a:r>
              <a:t>ctDNA analysis is particularly useful when PET findings generate uncertainty, clarifying disease status.</a:t>
            </a:r>
          </a:p>
          <a:p>
            <a:pPr>
              <a:lnSpc>
                <a:spcPct val="103000"/>
              </a:lnSpc>
              <a:spcAft>
                <a:spcPts val="300"/>
              </a:spcAft>
              <a:defRPr sz="580">
                <a:solidFill>
                  <a:srgbClr val="21242A"/>
                </a:solidFill>
                <a:latin typeface="Microsoft YaHei"/>
              </a:defRPr>
            </a:pPr>
            <a:r>
              <a:t>These results support incorporating longitudinal ctDNA monitoring into prospective CAR-T trials to enable earlier, biology-driven, risk-adapted strategies.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摘要号：PS2167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晚些时候输注car‑t会增加细胞因子释放综合征（crs）：免疫治疗相关毒性昼夜节律调节的证据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later car‑t infusions increase cytokine release syndrome (crs): evidence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PS2352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多发性骨髓瘤，弥漫性大B细胞淋巴瘤</a:t>
            </a:r>
          </a:p>
          <a:p>
            <a:pPr>
              <a:lnSpc>
                <a:spcPct val="103000"/>
              </a:lnSpc>
              <a:spcAft>
                <a:spcPts val="300"/>
              </a:spcAft>
              <a:defRPr sz="800">
                <a:solidFill>
                  <a:srgbClr val="21242A"/>
                </a:solidFill>
                <a:latin typeface="Microsoft YaHei"/>
              </a:defRPr>
            </a:pPr>
            <a:r>
              <a:t>N=96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分组：上午输注组：CAR-T细胞</a:t>
            </a:r>
          </a:p>
          <a:p>
            <a:pPr>
              <a:lnSpc>
                <a:spcPct val="103000"/>
              </a:lnSpc>
              <a:spcAft>
                <a:spcPts val="300"/>
              </a:spcAft>
              <a:defRPr sz="800">
                <a:solidFill>
                  <a:srgbClr val="21242A"/>
                </a:solidFill>
                <a:latin typeface="Microsoft YaHei"/>
              </a:defRPr>
            </a:pPr>
            <a:r>
              <a:t>下午输注组：CAR-T细胞</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多组/多方案比较：上午输注组：CAR-T细胞</a:t>
            </a:r>
          </a:p>
          <a:p>
            <a:pPr>
              <a:lnSpc>
                <a:spcPct val="103000"/>
              </a:lnSpc>
              <a:spcAft>
                <a:spcPts val="300"/>
              </a:spcAft>
              <a:defRPr sz="800">
                <a:solidFill>
                  <a:srgbClr val="21242A"/>
                </a:solidFill>
                <a:latin typeface="Microsoft YaHei"/>
              </a:defRPr>
            </a:pPr>
            <a:r>
              <a:t>下午输注组：CAR-T细胞</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任何级别CRS发生率：AM组55%，PM组88%（p=0.013）</a:t>
            </a:r>
          </a:p>
          <a:p>
            <a:pPr>
              <a:lnSpc>
                <a:spcPct val="103000"/>
              </a:lnSpc>
              <a:spcAft>
                <a:spcPts val="300"/>
              </a:spcAft>
              <a:defRPr sz="800">
                <a:solidFill>
                  <a:srgbClr val="21242A"/>
                </a:solidFill>
                <a:latin typeface="Microsoft YaHei"/>
              </a:defRPr>
            </a:pPr>
            <a:r>
              <a:t>调整后OR (PM vs AM)：aOR 8.15 (95%CI 1.45-45.78, p=0.017)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人数：96</a:t>
            </a:r>
          </a:p>
          <a:p>
            <a:pPr>
              <a:lnSpc>
                <a:spcPct val="103000"/>
              </a:lnSpc>
              <a:spcAft>
                <a:spcPts val="300"/>
              </a:spcAft>
              <a:defRPr sz="810">
                <a:solidFill>
                  <a:srgbClr val="21242A"/>
                </a:solidFill>
                <a:latin typeface="Microsoft YaHei"/>
              </a:defRPr>
            </a:pPr>
            <a:r>
              <a:t>适应症：多发性骨髓瘤、弥漫性大B细胞淋巴瘤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分组/治疗流程：上午输注组：CAR-T细胞、下午输注组：CAR-T细胞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晚些时候输注car‑t会增加细胞因子释放综合征（crs）：免疫治疗相关毒性昼夜节律调节的证据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later car‑t infusions increase cytokine release syndrome (crs): evidence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PS2352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Circadian rhythms regulate adaptive and innate immune responses through cell-intrinsic molecular clocks in T cells and macrophages, with core clock </a:t>
            </a:r>
          </a:p>
          <a:p>
            <a:pPr>
              <a:lnSpc>
                <a:spcPct val="103000"/>
              </a:lnSpc>
              <a:spcAft>
                <a:spcPts val="300"/>
              </a:spcAft>
              <a:defRPr sz="570">
                <a:solidFill>
                  <a:srgbClr val="21242A"/>
                </a:solidFill>
                <a:latin typeface="Microsoft YaHei"/>
              </a:defRPr>
            </a:pPr>
            <a:r>
              <a:t>genes modulating T-cell activation, cytokine production, and inflammatory transcriptional programs.</a:t>
            </a:r>
          </a:p>
          <a:p>
            <a:pPr>
              <a:lnSpc>
                <a:spcPct val="103000"/>
              </a:lnSpc>
              <a:spcAft>
                <a:spcPts val="300"/>
              </a:spcAft>
              <a:defRPr sz="570">
                <a:solidFill>
                  <a:srgbClr val="21242A"/>
                </a:solidFill>
                <a:latin typeface="Microsoft YaHei"/>
              </a:defRPr>
            </a:pPr>
            <a:r>
              <a:t>Proinflammatory mediators central to CRS exhibit diurnal oscillation, and macrophage cytokine transcription is under circadian control.</a:t>
            </a:r>
          </a:p>
          <a:p>
            <a:pPr>
              <a:lnSpc>
                <a:spcPct val="103000"/>
              </a:lnSpc>
              <a:spcAft>
                <a:spcPts val="300"/>
              </a:spcAft>
              <a:defRPr sz="570">
                <a:solidFill>
                  <a:srgbClr val="21242A"/>
                </a:solidFill>
                <a:latin typeface="Microsoft YaHei"/>
              </a:defRPr>
            </a:pPr>
            <a:r>
              <a:t>Emerging clinical evidence indicates that chimeric antigen receptor (CAR)-T cell infusion timing may influence outcomes: later infusion times have been associat</a:t>
            </a:r>
          </a:p>
          <a:p>
            <a:pPr>
              <a:lnSpc>
                <a:spcPct val="103000"/>
              </a:lnSpc>
              <a:spcAft>
                <a:spcPts val="300"/>
              </a:spcAft>
              <a:defRPr sz="570">
                <a:solidFill>
                  <a:srgbClr val="21242A"/>
                </a:solidFill>
                <a:latin typeface="Microsoft YaHei"/>
              </a:defRPr>
            </a:pPr>
            <a:r>
              <a:t>ed with inferior progression-free survival (PFS) and higher inflammatory markers (Luan, Blood 2025), and increased risks of mortality and neurotoxicity (Lyons, </a:t>
            </a:r>
          </a:p>
          <a:p>
            <a:pPr>
              <a:lnSpc>
                <a:spcPct val="103000"/>
              </a:lnSpc>
              <a:spcAft>
                <a:spcPts val="300"/>
              </a:spcAft>
              <a:defRPr sz="570">
                <a:solidFill>
                  <a:srgbClr val="21242A"/>
                </a:solidFill>
                <a:latin typeface="Microsoft YaHei"/>
              </a:defRPr>
            </a:pPr>
            <a:r>
              <a:t>JCI Insight 2025).</a:t>
            </a:r>
          </a:p>
          <a:p>
            <a:pPr>
              <a:lnSpc>
                <a:spcPct val="103000"/>
              </a:lnSpc>
              <a:spcAft>
                <a:spcPts val="300"/>
              </a:spcAft>
              <a:defRPr sz="570">
                <a:solidFill>
                  <a:srgbClr val="21242A"/>
                </a:solidFill>
                <a:latin typeface="Microsoft YaHei"/>
              </a:defRPr>
            </a:pPr>
            <a:r>
              <a:t>Mechanistic studies further demonstrate circadian regulation of CD8⁺ T-cell trafficking and function that can alter immunotherapy efficacy (Wang, Cell 2024).</a:t>
            </a:r>
          </a:p>
          <a:p>
            <a:pPr>
              <a:lnSpc>
                <a:spcPct val="103000"/>
              </a:lnSpc>
              <a:spcAft>
                <a:spcPts val="300"/>
              </a:spcAft>
              <a:defRPr sz="570">
                <a:solidFill>
                  <a:srgbClr val="21242A"/>
                </a:solidFill>
                <a:latin typeface="Microsoft YaHei"/>
              </a:defRPr>
            </a:pPr>
            <a:r>
              <a:t>Whether infusion timing directly modulates CRS or immune effector cell–associated neurotoxicity syndrome (ICANS) remains unclear.</a:t>
            </a:r>
          </a:p>
          <a:p>
            <a:pPr>
              <a:lnSpc>
                <a:spcPct val="103000"/>
              </a:lnSpc>
              <a:spcAft>
                <a:spcPts val="300"/>
              </a:spcAft>
              <a:defRPr sz="570">
                <a:solidFill>
                  <a:srgbClr val="21242A"/>
                </a:solidFill>
                <a:latin typeface="Microsoft YaHei"/>
              </a:defRPr>
            </a:pPr>
            <a:r>
              <a:t>We hypothesized that circadian timing of CAR-T administration influences treatment-related inflammatory toxicity.</a:t>
            </a:r>
          </a:p>
          <a:p>
            <a:pPr>
              <a:lnSpc>
                <a:spcPct val="103000"/>
              </a:lnSpc>
              <a:spcAft>
                <a:spcPts val="300"/>
              </a:spcAft>
              <a:defRPr sz="570">
                <a:solidFill>
                  <a:srgbClr val="21242A"/>
                </a:solidFill>
                <a:latin typeface="Microsoft YaHei"/>
              </a:defRPr>
            </a:pPr>
            <a:r>
              <a:t>Aims: To evaluate whether CAR‑T infusion time-of-day (and apheresis time) is associated with CRS/ICANS in adults receiving commercial CAR‑T.</a:t>
            </a:r>
          </a:p>
          <a:p>
            <a:pPr>
              <a:lnSpc>
                <a:spcPct val="103000"/>
              </a:lnSpc>
              <a:spcAft>
                <a:spcPts val="300"/>
              </a:spcAft>
              <a:defRPr sz="570">
                <a:solidFill>
                  <a:srgbClr val="21242A"/>
                </a:solidFill>
                <a:latin typeface="Microsoft YaHei"/>
              </a:defRPr>
            </a:pPr>
            <a:r>
              <a:t>Methods: We conducted an IRB-approved retrospective study of 96 adults receiving commercially available CAR-T at a tertiary center (Jan 2018–Dec 2025).</a:t>
            </a:r>
          </a:p>
          <a:p>
            <a:pPr>
              <a:lnSpc>
                <a:spcPct val="103000"/>
              </a:lnSpc>
              <a:spcAft>
                <a:spcPts val="300"/>
              </a:spcAft>
              <a:defRPr sz="570">
                <a:solidFill>
                  <a:srgbClr val="21242A"/>
                </a:solidFill>
                <a:latin typeface="Microsoft YaHei"/>
              </a:defRPr>
            </a:pPr>
            <a:r>
              <a:t>Infusion time was analyzed dichotomously (AM 00:00-11:59 vs PM 12:00-23:59) and continuously by clock-hour. The primary endpoint was CRS (any grade).</a:t>
            </a:r>
          </a:p>
          <a:p>
            <a:pPr>
              <a:lnSpc>
                <a:spcPct val="103000"/>
              </a:lnSpc>
              <a:spcAft>
                <a:spcPts val="300"/>
              </a:spcAft>
              <a:defRPr sz="570">
                <a:solidFill>
                  <a:srgbClr val="21242A"/>
                </a:solidFill>
                <a:latin typeface="Microsoft YaHei"/>
              </a:defRPr>
            </a:pPr>
            <a:r>
              <a:t>Secondary endpoints included CRS ≥3, ICANS (any grade), tocilizumab and/or steroid use, complete remission (CR), PFS, and overall survival (OS).</a:t>
            </a:r>
          </a:p>
          <a:p>
            <a:pPr>
              <a:lnSpc>
                <a:spcPct val="103000"/>
              </a:lnSpc>
              <a:spcAft>
                <a:spcPts val="300"/>
              </a:spcAft>
              <a:defRPr sz="570">
                <a:solidFill>
                  <a:srgbClr val="21242A"/>
                </a:solidFill>
                <a:latin typeface="Microsoft YaHei"/>
              </a:defRPr>
            </a:pPr>
            <a:r>
              <a:t>Multivariable logistic regression adjusted for age, sex, performance status, CAR-T dose, and product type; interaction and Bayesian subgroup analyses were explo</a:t>
            </a:r>
          </a:p>
          <a:p>
            <a:pPr>
              <a:lnSpc>
                <a:spcPct val="103000"/>
              </a:lnSpc>
              <a:spcAft>
                <a:spcPts val="300"/>
              </a:spcAft>
              <a:defRPr sz="570">
                <a:solidFill>
                  <a:srgbClr val="21242A"/>
                </a:solidFill>
                <a:latin typeface="Microsoft YaHei"/>
              </a:defRPr>
            </a:pPr>
            <a:r>
              <a:t>ratory.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Later CAR-T infusion time was independently associated with increased CRS incidence with an hour-dependent gradient consistent with circadian modulation.</a:t>
            </a:r>
          </a:p>
          <a:p>
            <a:pPr>
              <a:lnSpc>
                <a:spcPct val="103000"/>
              </a:lnSpc>
              <a:spcAft>
                <a:spcPts val="300"/>
              </a:spcAft>
              <a:defRPr sz="590">
                <a:solidFill>
                  <a:srgbClr val="21242A"/>
                </a:solidFill>
                <a:latin typeface="Microsoft YaHei"/>
              </a:defRPr>
            </a:pPr>
            <a:r>
              <a:t>Because infusion timing is a modifiable exposure, prospective chronotherapy trials should test whether earlier scheduling reduces inflammatory toxicity without </a:t>
            </a:r>
          </a:p>
          <a:p>
            <a:pPr>
              <a:lnSpc>
                <a:spcPct val="103000"/>
              </a:lnSpc>
              <a:spcAft>
                <a:spcPts val="300"/>
              </a:spcAft>
              <a:defRPr sz="590">
                <a:solidFill>
                  <a:srgbClr val="21242A"/>
                </a:solidFill>
                <a:latin typeface="Microsoft YaHei"/>
              </a:defRPr>
            </a:pPr>
            <a:r>
              <a:t>compromising clinical benefit.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49961">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49961">
                <a:tc>
                  <a:txBody>
                    <a:bodyPr wrap="square" lIns="36576" rIns="36576" tIns="18288" bIns="18288"/>
                    <a:lstStyle/>
                    <a:p>
                      <a:r>
                        <a:rPr sz="540" b="1">
                          <a:solidFill>
                            <a:srgbClr val="21242A"/>
                          </a:solidFill>
                          <a:latin typeface="Microsoft YaHei"/>
                        </a:rPr>
                        <a:t>任何级别CRS发生率</a:t>
                      </a:r>
                    </a:p>
                  </a:txBody>
                  <a:tcPr>
                    <a:solidFill>
                      <a:srgbClr val="F6F8FB"/>
                    </a:solidFill>
                  </a:tcPr>
                </a:tc>
                <a:tc>
                  <a:txBody>
                    <a:bodyPr wrap="square" lIns="36576" rIns="36576" tIns="18288" bIns="18288"/>
                    <a:lstStyle/>
                    <a:p>
                      <a:r>
                        <a:rPr sz="540" b="0">
                          <a:solidFill>
                            <a:srgbClr val="21242A"/>
                          </a:solidFill>
                          <a:latin typeface="Microsoft YaHei"/>
                        </a:rPr>
                        <a:t>AM组55%，PM组88%（p=0.013）</a:t>
                      </a:r>
                    </a:p>
                  </a:txBody>
                  <a:tcPr>
                    <a:solidFill>
                      <a:srgbClr val="F6F8FB"/>
                    </a:solidFill>
                  </a:tcPr>
                </a:tc>
              </a:tr>
              <a:tr h="149961">
                <a:tc>
                  <a:txBody>
                    <a:bodyPr wrap="square" lIns="36576" rIns="36576" tIns="18288" bIns="18288"/>
                    <a:lstStyle/>
                    <a:p>
                      <a:r>
                        <a:rPr sz="540" b="1">
                          <a:solidFill>
                            <a:srgbClr val="21242A"/>
                          </a:solidFill>
                          <a:latin typeface="Microsoft YaHei"/>
                        </a:rPr>
                        <a:t>调整后OR (PM vs AM)</a:t>
                      </a:r>
                    </a:p>
                  </a:txBody>
                  <a:tcPr>
                    <a:solidFill>
                      <a:srgbClr val="FFFFFF"/>
                    </a:solidFill>
                  </a:tcPr>
                </a:tc>
                <a:tc>
                  <a:txBody>
                    <a:bodyPr wrap="square" lIns="36576" rIns="36576" tIns="18288" bIns="18288"/>
                    <a:lstStyle/>
                    <a:p>
                      <a:r>
                        <a:rPr sz="540" b="0">
                          <a:solidFill>
                            <a:srgbClr val="21242A"/>
                          </a:solidFill>
                          <a:latin typeface="Microsoft YaHei"/>
                        </a:rPr>
                        <a:t>aOR 8.15 (95%CI 1.45-45.78, p=0.017)</a:t>
                      </a:r>
                    </a:p>
                  </a:txBody>
                  <a:tcPr>
                    <a:solidFill>
                      <a:srgbClr val="FFFFFF"/>
                    </a:solidFill>
                  </a:tcPr>
                </a:tc>
              </a:tr>
              <a:tr h="149961">
                <a:tc>
                  <a:txBody>
                    <a:bodyPr wrap="square" lIns="36576" rIns="36576" tIns="18288" bIns="18288"/>
                    <a:lstStyle/>
                    <a:p>
                      <a:r>
                        <a:rPr sz="540" b="1">
                          <a:solidFill>
                            <a:srgbClr val="21242A"/>
                          </a:solidFill>
                          <a:latin typeface="Microsoft YaHei"/>
                        </a:rPr>
                        <a:t>托珠单抗和/或类固醇使用率</a:t>
                      </a:r>
                    </a:p>
                  </a:txBody>
                  <a:tcPr>
                    <a:solidFill>
                      <a:srgbClr val="F6F8FB"/>
                    </a:solidFill>
                  </a:tcPr>
                </a:tc>
                <a:tc>
                  <a:txBody>
                    <a:bodyPr wrap="square" lIns="36576" rIns="36576" tIns="18288" bIns="18288"/>
                    <a:lstStyle/>
                    <a:p>
                      <a:r>
                        <a:rPr sz="540" b="0">
                          <a:solidFill>
                            <a:srgbClr val="21242A"/>
                          </a:solidFill>
                          <a:latin typeface="Microsoft YaHei"/>
                        </a:rPr>
                        <a:t>AM组59%，PM组88%（aOR 5.11, 95%CI 1.09-23.97, p=0.027）</a:t>
                      </a:r>
                    </a:p>
                  </a:txBody>
                  <a:tcPr>
                    <a:solidFill>
                      <a:srgbClr val="F6F8FB"/>
                    </a:solidFill>
                  </a:tcPr>
                </a:tc>
              </a:tr>
              <a:tr h="149961">
                <a:tc>
                  <a:txBody>
                    <a:bodyPr wrap="square" lIns="36576" rIns="36576" tIns="18288" bIns="18288"/>
                    <a:lstStyle/>
                    <a:p>
                      <a:r>
                        <a:rPr sz="540" b="1">
                          <a:solidFill>
                            <a:srgbClr val="21242A"/>
                          </a:solidFill>
                          <a:latin typeface="Microsoft YaHei"/>
                        </a:rPr>
                        <a:t>每小时晚输注的CRS风险</a:t>
                      </a:r>
                    </a:p>
                  </a:txBody>
                  <a:tcPr>
                    <a:solidFill>
                      <a:srgbClr val="FFFFFF"/>
                    </a:solidFill>
                  </a:tcPr>
                </a:tc>
                <a:tc>
                  <a:txBody>
                    <a:bodyPr wrap="square" lIns="36576" rIns="36576" tIns="18288" bIns="18288"/>
                    <a:lstStyle/>
                    <a:p>
                      <a:r>
                        <a:rPr sz="540" b="0">
                          <a:solidFill>
                            <a:srgbClr val="21242A"/>
                          </a:solidFill>
                          <a:latin typeface="Microsoft YaHei"/>
                        </a:rPr>
                        <a:t>aOR 1.82 (95%CI 1.14-2.90, p=0.012)</a:t>
                      </a:r>
                    </a:p>
                  </a:txBody>
                  <a:tcPr>
                    <a:solidFill>
                      <a:srgbClr val="FFFFFF"/>
                    </a:solidFill>
                  </a:tcPr>
                </a:tc>
              </a:tr>
              <a:tr h="149961">
                <a:tc>
                  <a:txBody>
                    <a:bodyPr wrap="square" lIns="36576" rIns="36576" tIns="18288" bIns="18288"/>
                    <a:lstStyle/>
                    <a:p>
                      <a:r>
                        <a:rPr sz="540" b="1">
                          <a:solidFill>
                            <a:srgbClr val="21242A"/>
                          </a:solidFill>
                          <a:latin typeface="Microsoft YaHei"/>
                        </a:rPr>
                        <a:t>30或60天完全缓解率</a:t>
                      </a:r>
                    </a:p>
                  </a:txBody>
                  <a:tcPr>
                    <a:solidFill>
                      <a:srgbClr val="F6F8FB"/>
                    </a:solidFill>
                  </a:tcPr>
                </a:tc>
                <a:tc>
                  <a:txBody>
                    <a:bodyPr wrap="square" lIns="36576" rIns="36576" tIns="18288" bIns="18288"/>
                    <a:lstStyle/>
                    <a:p>
                      <a:r>
                        <a:rPr sz="540" b="0">
                          <a:solidFill>
                            <a:srgbClr val="21242A"/>
                          </a:solidFill>
                          <a:latin typeface="Microsoft YaHei"/>
                        </a:rPr>
                        <a:t>AM组60%，PM组31%（OR 0.30, 95%CI 0.083-1.09, p=0.072）</a:t>
                      </a:r>
                    </a:p>
                  </a:txBody>
                  <a:tcPr>
                    <a:solidFill>
                      <a:srgbClr val="F6F8FB"/>
                    </a:solidFill>
                  </a:tcPr>
                </a:tc>
              </a:tr>
              <a:tr h="149961">
                <a:tc>
                  <a:txBody>
                    <a:bodyPr wrap="square" lIns="36576" rIns="36576" tIns="18288" bIns="18288"/>
                    <a:lstStyle/>
                    <a:p>
                      <a:r>
                        <a:rPr sz="540" b="1">
                          <a:solidFill>
                            <a:srgbClr val="21242A"/>
                          </a:solidFill>
                          <a:latin typeface="Microsoft YaHei"/>
                        </a:rPr>
                        <a:t>无进展生存期</a:t>
                      </a:r>
                    </a:p>
                  </a:txBody>
                  <a:tcPr>
                    <a:solidFill>
                      <a:srgbClr val="FFFFFF"/>
                    </a:solidFill>
                  </a:tcPr>
                </a:tc>
                <a:tc>
                  <a:txBody>
                    <a:bodyPr wrap="square" lIns="36576" rIns="36576" tIns="18288" bIns="18288"/>
                    <a:lstStyle/>
                    <a:p>
                      <a:r>
                        <a:rPr sz="540" b="0">
                          <a:solidFill>
                            <a:srgbClr val="21242A"/>
                          </a:solidFill>
                          <a:latin typeface="Microsoft YaHei"/>
                        </a:rPr>
                        <a:t>PM组有恶化趋势（HR ~1.25）</a:t>
                      </a:r>
                    </a:p>
                  </a:txBody>
                  <a:tcPr>
                    <a:solidFill>
                      <a:srgbClr val="FFFFFF"/>
                    </a:solidFill>
                  </a:tcPr>
                </a:tc>
              </a:tr>
              <a:tr h="149961">
                <a:tc>
                  <a:txBody>
                    <a:bodyPr wrap="square" lIns="36576" rIns="36576" tIns="18288" bIns="18288"/>
                    <a:lstStyle/>
                    <a:p>
                      <a:r>
                        <a:rPr sz="540" b="1">
                          <a:solidFill>
                            <a:srgbClr val="21242A"/>
                          </a:solidFill>
                          <a:latin typeface="Microsoft YaHei"/>
                        </a:rPr>
                        <a:t>总生存期</a:t>
                      </a:r>
                    </a:p>
                  </a:txBody>
                  <a:tcPr>
                    <a:solidFill>
                      <a:srgbClr val="F6F8FB"/>
                    </a:solidFill>
                  </a:tcPr>
                </a:tc>
                <a:tc>
                  <a:txBody>
                    <a:bodyPr wrap="square" lIns="36576" rIns="36576" tIns="18288" bIns="18288"/>
                    <a:lstStyle/>
                    <a:p>
                      <a:r>
                        <a:rPr sz="540" b="0">
                          <a:solidFill>
                            <a:srgbClr val="21242A"/>
                          </a:solidFill>
                          <a:latin typeface="Microsoft YaHei"/>
                        </a:rPr>
                        <a:t>无显著差异</a:t>
                      </a:r>
                    </a:p>
                  </a:txBody>
                  <a:tcPr>
                    <a:solidFill>
                      <a:srgbClr val="F6F8FB"/>
                    </a:solidFill>
                  </a:tcPr>
                </a:tc>
              </a:tr>
              <a:tr h="149961">
                <a:tc>
                  <a:txBody>
                    <a:bodyPr wrap="square" lIns="36576" rIns="36576" tIns="18288" bIns="18288"/>
                    <a:lstStyle/>
                    <a:p>
                      <a:r>
                        <a:rPr sz="540" b="1">
                          <a:solidFill>
                            <a:srgbClr val="21242A"/>
                          </a:solidFill>
                          <a:latin typeface="Microsoft YaHei"/>
                        </a:rPr>
                        <a:t>严重CRS/ICANS</a:t>
                      </a:r>
                    </a:p>
                  </a:txBody>
                  <a:tcPr>
                    <a:solidFill>
                      <a:srgbClr val="FFFFFF"/>
                    </a:solidFill>
                  </a:tcPr>
                </a:tc>
                <a:tc>
                  <a:txBody>
                    <a:bodyPr wrap="square" lIns="36576" rIns="36576" tIns="18288" bIns="18288"/>
                    <a:lstStyle/>
                    <a:p>
                      <a:r>
                        <a:rPr sz="540" b="0">
                          <a:solidFill>
                            <a:srgbClr val="21242A"/>
                          </a:solidFill>
                          <a:latin typeface="Microsoft YaHei"/>
                        </a:rPr>
                        <a:t>与输注时间无关</a:t>
                      </a:r>
                    </a:p>
                  </a:txBody>
                  <a:tcPr>
                    <a:solidFill>
                      <a:srgbClr val="FFFFFF"/>
                    </a:solidFill>
                  </a:tcPr>
                </a:tc>
              </a:tr>
              <a:tr h="149967">
                <a:tc>
                  <a:txBody>
                    <a:bodyPr wrap="square" lIns="36576" rIns="36576" tIns="18288" bIns="18288"/>
                    <a:lstStyle/>
                    <a:p>
                      <a:r>
                        <a:rPr sz="540" b="1">
                          <a:solidFill>
                            <a:srgbClr val="21242A"/>
                          </a:solidFill>
                          <a:latin typeface="Microsoft YaHei"/>
                        </a:rPr>
                        <a:t>探索性分析</a:t>
                      </a:r>
                    </a:p>
                  </a:txBody>
                  <a:tcPr>
                    <a:solidFill>
                      <a:srgbClr val="F6F8FB"/>
                    </a:solidFill>
                  </a:tcPr>
                </a:tc>
                <a:tc>
                  <a:txBody>
                    <a:bodyPr wrap="square" lIns="36576" rIns="36576" tIns="18288" bIns="18288"/>
                    <a:lstStyle/>
                    <a:p>
                      <a:r>
                        <a:rPr sz="540" b="0">
                          <a:solidFill>
                            <a:srgbClr val="21242A"/>
                          </a:solidFill>
                          <a:latin typeface="Microsoft YaHei"/>
                        </a:rPr>
                        <a:t>DLBCL亚组毒性更大，男性可能更明显</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摘要号：PS2352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starglo合格患者二线car-t治疗的疗效比较分析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car-t therapy in starglo-eligible patients: a compara...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分组：试验组1：二线CAR-T治疗（CAR-T）</a:t>
            </a:r>
          </a:p>
          <a:p>
            <a:pPr>
              <a:lnSpc>
                <a:spcPct val="103000"/>
              </a:lnSpc>
              <a:spcAft>
                <a:spcPts val="300"/>
              </a:spcAft>
              <a:defRPr sz="800">
                <a:solidFill>
                  <a:srgbClr val="21242A"/>
                </a:solidFill>
                <a:latin typeface="Microsoft YaHei"/>
              </a:defRPr>
            </a:pPr>
            <a:r>
              <a:t>对照组：STARGLO二线亚组（glofitamab, gemcitabine, oxaliplatin）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对照/比较：试验组1：二线CAR-T治疗（CAR-T）</a:t>
            </a:r>
          </a:p>
          <a:p>
            <a:pPr>
              <a:lnSpc>
                <a:spcPct val="103000"/>
              </a:lnSpc>
              <a:spcAft>
                <a:spcPts val="300"/>
              </a:spcAft>
              <a:defRPr sz="800">
                <a:solidFill>
                  <a:srgbClr val="21242A"/>
                </a:solidFill>
                <a:latin typeface="Microsoft YaHei"/>
              </a:defRPr>
            </a:pPr>
            <a:r>
              <a:t>对照组：STARGLO二线亚组（glofitamab, gemcitabine, oxaliplatin）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2L CAR-T队列完全缓解率：65.8%</a:t>
            </a:r>
          </a:p>
          <a:p>
            <a:pPr>
              <a:lnSpc>
                <a:spcPct val="103000"/>
              </a:lnSpc>
              <a:spcAft>
                <a:spcPts val="300"/>
              </a:spcAft>
              <a:defRPr sz="800">
                <a:solidFill>
                  <a:srgbClr val="21242A"/>
                </a:solidFill>
                <a:latin typeface="Microsoft YaHei"/>
              </a:defRPr>
            </a:pPr>
            <a:r>
              <a:t>STARGLO 2L完全缓解率：63.5%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分组/治疗流程：试验组1：二线CAR-T治疗（CAR-T）、对照组：STARGLO二线亚组（glofitamab、gemcitabine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starglo合格患者二线car-t治疗的疗效比较分析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car-t therapy in starglo-eligible patients: a compara...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CAR-T therapy has redefined the treatment paradigm for relapsed or refractory (R/R) DLBCL and is the established second-line (2L) standard of care.</a:t>
            </a:r>
          </a:p>
          <a:p>
            <a:pPr>
              <a:lnSpc>
                <a:spcPct val="103000"/>
              </a:lnSpc>
              <a:spcAft>
                <a:spcPts val="300"/>
              </a:spcAft>
              <a:defRPr sz="570">
                <a:solidFill>
                  <a:srgbClr val="21242A"/>
                </a:solidFill>
                <a:latin typeface="Microsoft YaHei"/>
              </a:defRPr>
            </a:pPr>
            <a:r>
              <a:t>However, this is based on pivotal trials comparing CAR-T to chemoimmunotherapy rather than bispecific antibodies (bsAbs).</a:t>
            </a:r>
          </a:p>
          <a:p>
            <a:pPr>
              <a:lnSpc>
                <a:spcPct val="103000"/>
              </a:lnSpc>
              <a:spcAft>
                <a:spcPts val="300"/>
              </a:spcAft>
              <a:defRPr sz="570">
                <a:solidFill>
                  <a:srgbClr val="21242A"/>
                </a:solidFill>
                <a:latin typeface="Microsoft YaHei"/>
              </a:defRPr>
            </a:pPr>
            <a:r>
              <a:t>The Phase III STARGLO trial demonstrated the efficacy of glofitamab plus gemcitabine and oxaliplatin (Glofit-GemOx) in the 2L setting for autologous stem cell t</a:t>
            </a:r>
          </a:p>
          <a:p>
            <a:pPr>
              <a:lnSpc>
                <a:spcPct val="103000"/>
              </a:lnSpc>
              <a:spcAft>
                <a:spcPts val="300"/>
              </a:spcAft>
              <a:defRPr sz="570">
                <a:solidFill>
                  <a:srgbClr val="21242A"/>
                </a:solidFill>
                <a:latin typeface="Microsoft YaHei"/>
              </a:defRPr>
            </a:pPr>
            <a:r>
              <a:t>ransplant (ASCT) ineligible patients.</a:t>
            </a:r>
          </a:p>
          <a:p>
            <a:pPr>
              <a:lnSpc>
                <a:spcPct val="103000"/>
              </a:lnSpc>
              <a:spcAft>
                <a:spcPts val="300"/>
              </a:spcAft>
              <a:defRPr sz="570">
                <a:solidFill>
                  <a:srgbClr val="21242A"/>
                </a:solidFill>
                <a:latin typeface="Microsoft YaHei"/>
              </a:defRPr>
            </a:pPr>
            <a:r>
              <a:t>Aims: In the absence of direct comparative data, we aimed to evaluate whether 2L CAR-T patients meeting STARGLO inclusion criteria achieved comparable outcomes </a:t>
            </a:r>
          </a:p>
          <a:p>
            <a:pPr>
              <a:lnSpc>
                <a:spcPct val="103000"/>
              </a:lnSpc>
              <a:spcAft>
                <a:spcPts val="300"/>
              </a:spcAft>
              <a:defRPr sz="570">
                <a:solidFill>
                  <a:srgbClr val="21242A"/>
                </a:solidFill>
                <a:latin typeface="Microsoft YaHei"/>
              </a:defRPr>
            </a:pPr>
            <a:r>
              <a:t>to the Glofit-GemOx arm benchmarks.</a:t>
            </a:r>
          </a:p>
          <a:p>
            <a:pPr>
              <a:lnSpc>
                <a:spcPct val="103000"/>
              </a:lnSpc>
              <a:spcAft>
                <a:spcPts val="300"/>
              </a:spcAft>
              <a:defRPr sz="570">
                <a:solidFill>
                  <a:srgbClr val="21242A"/>
                </a:solidFill>
                <a:latin typeface="Microsoft YaHei"/>
              </a:defRPr>
            </a:pPr>
            <a:r>
              <a:t>Methods: We analyzed a real-world cohort of patients receiving 2L CAR-T therapy between 12/2022 and 09/2025.</a:t>
            </a:r>
          </a:p>
          <a:p>
            <a:pPr>
              <a:lnSpc>
                <a:spcPct val="103000"/>
              </a:lnSpc>
              <a:spcAft>
                <a:spcPts val="300"/>
              </a:spcAft>
              <a:defRPr sz="570">
                <a:solidFill>
                  <a:srgbClr val="21242A"/>
                </a:solidFill>
                <a:latin typeface="Microsoft YaHei"/>
              </a:defRPr>
            </a:pPr>
            <a:r>
              <a:t>Patients were selected based on the specific inclusion and exclusion criteria of the Phase III STARGLO trial.</a:t>
            </a:r>
          </a:p>
          <a:p>
            <a:pPr>
              <a:lnSpc>
                <a:spcPct val="103000"/>
              </a:lnSpc>
              <a:spcAft>
                <a:spcPts val="300"/>
              </a:spcAft>
              <a:defRPr sz="570">
                <a:solidFill>
                  <a:srgbClr val="21242A"/>
                </a:solidFill>
                <a:latin typeface="Microsoft YaHei"/>
              </a:defRPr>
            </a:pPr>
            <a:r>
              <a:t>To facilitate a rigorous comparison, individual patient data (IPD) were reconstructed from the published STARGLO 2L sub-analysis Kaplan-Meier curves using the G</a:t>
            </a:r>
          </a:p>
          <a:p>
            <a:pPr>
              <a:lnSpc>
                <a:spcPct val="103000"/>
              </a:lnSpc>
              <a:spcAft>
                <a:spcPts val="300"/>
              </a:spcAft>
              <a:defRPr sz="570">
                <a:solidFill>
                  <a:srgbClr val="21242A"/>
                </a:solidFill>
                <a:latin typeface="Microsoft YaHei"/>
              </a:defRPr>
            </a:pPr>
            <a:r>
              <a:t>uyot iterative algorithm.</a:t>
            </a:r>
          </a:p>
          <a:p>
            <a:pPr>
              <a:lnSpc>
                <a:spcPct val="103000"/>
              </a:lnSpc>
              <a:spcAft>
                <a:spcPts val="300"/>
              </a:spcAft>
              <a:defRPr sz="570">
                <a:solidFill>
                  <a:srgbClr val="21242A"/>
                </a:solidFill>
                <a:latin typeface="Microsoft YaHei"/>
              </a:defRPr>
            </a:pPr>
            <a:r>
              <a:t>Curves were digitized via WebPlotDigitizer using an automated extraction process with high-density coordinate sampling (ΔX and ΔY of 1 pixel) to capture all gra</a:t>
            </a:r>
          </a:p>
          <a:p>
            <a:pPr>
              <a:lnSpc>
                <a:spcPct val="103000"/>
              </a:lnSpc>
              <a:spcAft>
                <a:spcPts val="300"/>
              </a:spcAft>
              <a:defRPr sz="570">
                <a:solidFill>
                  <a:srgbClr val="21242A"/>
                </a:solidFill>
                <a:latin typeface="Microsoft YaHei"/>
              </a:defRPr>
            </a:pPr>
            <a:r>
              <a:t>nular step changes in survival trajectories.</a:t>
            </a:r>
          </a:p>
          <a:p>
            <a:pPr>
              <a:lnSpc>
                <a:spcPct val="103000"/>
              </a:lnSpc>
              <a:spcAft>
                <a:spcPts val="300"/>
              </a:spcAft>
              <a:defRPr sz="570">
                <a:solidFill>
                  <a:srgbClr val="21242A"/>
                </a:solidFill>
                <a:latin typeface="Microsoft YaHei"/>
              </a:defRPr>
            </a:pPr>
            <a:r>
              <a:t>Survival estimates were further refined using the published Number at Risk (NAR) for both progression-free survival (PFS) and overall survival (OS) to account f</a:t>
            </a:r>
          </a:p>
          <a:p>
            <a:pPr>
              <a:lnSpc>
                <a:spcPct val="103000"/>
              </a:lnSpc>
              <a:spcAft>
                <a:spcPts val="300"/>
              </a:spcAft>
              <a:defRPr sz="570">
                <a:solidFill>
                  <a:srgbClr val="21242A"/>
                </a:solidFill>
                <a:latin typeface="Microsoft YaHei"/>
              </a:defRPr>
            </a:pPr>
            <a:r>
              <a:t>or censoring.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\"STARGLO-eligible\" real-world cohort, 2L CAR-T achieved high initial response rates.</a:t>
            </a:r>
          </a:p>
          <a:p>
            <a:pPr>
              <a:lnSpc>
                <a:spcPct val="103000"/>
              </a:lnSpc>
              <a:spcAft>
                <a:spcPts val="300"/>
              </a:spcAft>
              <a:defRPr sz="590">
                <a:solidFill>
                  <a:srgbClr val="21242A"/>
                </a:solidFill>
                <a:latin typeface="Microsoft YaHei"/>
              </a:defRPr>
            </a:pPr>
            <a:r>
              <a:t>At 24 months, numerical differences in PFS and OS favored STARGLO in the general population, whereas in the high-risk early-relapse sub-population, 24-month PFS</a:t>
            </a:r>
          </a:p>
          <a:p>
            <a:pPr>
              <a:lnSpc>
                <a:spcPct val="103000"/>
              </a:lnSpc>
              <a:spcAft>
                <a:spcPts val="300"/>
              </a:spcAft>
              <a:defRPr sz="590">
                <a:solidFill>
                  <a:srgbClr val="21242A"/>
                </a:solidFill>
                <a:latin typeface="Microsoft YaHei"/>
              </a:defRPr>
            </a:pPr>
            <a:r>
              <a:t> and OS were higher in the CAR-T cohort.</a:t>
            </a:r>
          </a:p>
          <a:p>
            <a:pPr>
              <a:lnSpc>
                <a:spcPct val="103000"/>
              </a:lnSpc>
              <a:spcAft>
                <a:spcPts val="300"/>
              </a:spcAft>
              <a:defRPr sz="590">
                <a:solidFill>
                  <a:srgbClr val="21242A"/>
                </a:solidFill>
                <a:latin typeface="Microsoft YaHei"/>
              </a:defRPr>
            </a:pPr>
            <a:r>
              <a:t>The overlapping confidence intervals suggest comparable survival outcomes between these regimens in this sample.</a:t>
            </a:r>
          </a:p>
          <a:p>
            <a:pPr>
              <a:lnSpc>
                <a:spcPct val="103000"/>
              </a:lnSpc>
              <a:spcAft>
                <a:spcPts val="300"/>
              </a:spcAft>
              <a:defRPr sz="590">
                <a:solidFill>
                  <a:srgbClr val="21242A"/>
                </a:solidFill>
                <a:latin typeface="Microsoft YaHei"/>
              </a:defRPr>
            </a:pPr>
            <a:r>
              <a:t>These signals warrant exploration in larger prospective cohorts to better define the 2L treatment landscape and refine patient selection.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3632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36328">
                <a:tc>
                  <a:txBody>
                    <a:bodyPr wrap="square" lIns="36576" rIns="36576" tIns="18288" bIns="18288"/>
                    <a:lstStyle/>
                    <a:p>
                      <a:r>
                        <a:rPr sz="540" b="1">
                          <a:solidFill>
                            <a:srgbClr val="21242A"/>
                          </a:solidFill>
                          <a:latin typeface="Microsoft YaHei"/>
                        </a:rPr>
                        <a:t>2L CAR-T队列完全缓解率</a:t>
                      </a:r>
                    </a:p>
                  </a:txBody>
                  <a:tcPr>
                    <a:solidFill>
                      <a:srgbClr val="F6F8FB"/>
                    </a:solidFill>
                  </a:tcPr>
                </a:tc>
                <a:tc>
                  <a:txBody>
                    <a:bodyPr wrap="square" lIns="36576" rIns="36576" tIns="18288" bIns="18288"/>
                    <a:lstStyle/>
                    <a:p>
                      <a:r>
                        <a:rPr sz="540" b="0">
                          <a:solidFill>
                            <a:srgbClr val="21242A"/>
                          </a:solidFill>
                          <a:latin typeface="Microsoft YaHei"/>
                        </a:rPr>
                        <a:t>65.8%</a:t>
                      </a:r>
                    </a:p>
                  </a:txBody>
                  <a:tcPr>
                    <a:solidFill>
                      <a:srgbClr val="F6F8FB"/>
                    </a:solidFill>
                  </a:tcPr>
                </a:tc>
              </a:tr>
              <a:tr h="136328">
                <a:tc>
                  <a:txBody>
                    <a:bodyPr wrap="square" lIns="36576" rIns="36576" tIns="18288" bIns="18288"/>
                    <a:lstStyle/>
                    <a:p>
                      <a:r>
                        <a:rPr sz="540" b="1">
                          <a:solidFill>
                            <a:srgbClr val="21242A"/>
                          </a:solidFill>
                          <a:latin typeface="Microsoft YaHei"/>
                        </a:rPr>
                        <a:t>STARGLO 2L完全缓解率</a:t>
                      </a:r>
                    </a:p>
                  </a:txBody>
                  <a:tcPr>
                    <a:solidFill>
                      <a:srgbClr val="FFFFFF"/>
                    </a:solidFill>
                  </a:tcPr>
                </a:tc>
                <a:tc>
                  <a:txBody>
                    <a:bodyPr wrap="square" lIns="36576" rIns="36576" tIns="18288" bIns="18288"/>
                    <a:lstStyle/>
                    <a:p>
                      <a:r>
                        <a:rPr sz="540" b="0">
                          <a:solidFill>
                            <a:srgbClr val="21242A"/>
                          </a:solidFill>
                          <a:latin typeface="Microsoft YaHei"/>
                        </a:rPr>
                        <a:t>63.5%</a:t>
                      </a:r>
                    </a:p>
                  </a:txBody>
                  <a:tcPr>
                    <a:solidFill>
                      <a:srgbClr val="FFFFFF"/>
                    </a:solidFill>
                  </a:tcPr>
                </a:tc>
              </a:tr>
              <a:tr h="136328">
                <a:tc>
                  <a:txBody>
                    <a:bodyPr wrap="square" lIns="36576" rIns="36576" tIns="18288" bIns="18288"/>
                    <a:lstStyle/>
                    <a:p>
                      <a:r>
                        <a:rPr sz="540" b="1">
                          <a:solidFill>
                            <a:srgbClr val="21242A"/>
                          </a:solidFill>
                          <a:latin typeface="Microsoft YaHei"/>
                        </a:rPr>
                        <a:t>2L CAR-T队列24个月无进展生存率</a:t>
                      </a:r>
                    </a:p>
                  </a:txBody>
                  <a:tcPr>
                    <a:solidFill>
                      <a:srgbClr val="F6F8FB"/>
                    </a:solidFill>
                  </a:tcPr>
                </a:tc>
                <a:tc>
                  <a:txBody>
                    <a:bodyPr wrap="square" lIns="36576" rIns="36576" tIns="18288" bIns="18288"/>
                    <a:lstStyle/>
                    <a:p>
                      <a:r>
                        <a:rPr sz="540" b="0">
                          <a:solidFill>
                            <a:srgbClr val="21242A"/>
                          </a:solidFill>
                          <a:latin typeface="Microsoft YaHei"/>
                        </a:rPr>
                        <a:t>38.9%（95% CI: 24.9-60.6）</a:t>
                      </a:r>
                    </a:p>
                  </a:txBody>
                  <a:tcPr>
                    <a:solidFill>
                      <a:srgbClr val="F6F8FB"/>
                    </a:solidFill>
                  </a:tcPr>
                </a:tc>
              </a:tr>
              <a:tr h="136328">
                <a:tc>
                  <a:txBody>
                    <a:bodyPr wrap="square" lIns="36576" rIns="36576" tIns="18288" bIns="18288"/>
                    <a:lstStyle/>
                    <a:p>
                      <a:r>
                        <a:rPr sz="540" b="1">
                          <a:solidFill>
                            <a:srgbClr val="21242A"/>
                          </a:solidFill>
                          <a:latin typeface="Microsoft YaHei"/>
                        </a:rPr>
                        <a:t>STARGLO 2L</a:t>
                      </a:r>
                    </a:p>
                  </a:txBody>
                  <a:tcPr>
                    <a:solidFill>
                      <a:srgbClr val="FFFFFF"/>
                    </a:solidFill>
                  </a:tcPr>
                </a:tc>
                <a:tc>
                  <a:txBody>
                    <a:bodyPr wrap="square" lIns="36576" rIns="36576" tIns="18288" bIns="18288"/>
                    <a:lstStyle/>
                    <a:p>
                      <a:r>
                        <a:rPr sz="540" b="0">
                          <a:solidFill>
                            <a:srgbClr val="21242A"/>
                          </a:solidFill>
                          <a:latin typeface="Microsoft YaHei"/>
                        </a:rPr>
                        <a:t>49.9%（95% CI: 38.8-61.0）</a:t>
                      </a:r>
                    </a:p>
                  </a:txBody>
                  <a:tcPr>
                    <a:solidFill>
                      <a:srgbClr val="FFFFFF"/>
                    </a:solidFill>
                  </a:tcPr>
                </a:tc>
              </a:tr>
              <a:tr h="136328">
                <a:tc>
                  <a:txBody>
                    <a:bodyPr wrap="square" lIns="36576" rIns="36576" tIns="18288" bIns="18288"/>
                    <a:lstStyle/>
                    <a:p>
                      <a:r>
                        <a:rPr sz="540" b="1">
                          <a:solidFill>
                            <a:srgbClr val="21242A"/>
                          </a:solidFill>
                          <a:latin typeface="Microsoft YaHei"/>
                        </a:rPr>
                        <a:t>2L CAR-T队列24个月总生存率</a:t>
                      </a:r>
                    </a:p>
                  </a:txBody>
                  <a:tcPr>
                    <a:solidFill>
                      <a:srgbClr val="F6F8FB"/>
                    </a:solidFill>
                  </a:tcPr>
                </a:tc>
                <a:tc>
                  <a:txBody>
                    <a:bodyPr wrap="square" lIns="36576" rIns="36576" tIns="18288" bIns="18288"/>
                    <a:lstStyle/>
                    <a:p>
                      <a:r>
                        <a:rPr sz="540" b="0">
                          <a:solidFill>
                            <a:srgbClr val="21242A"/>
                          </a:solidFill>
                          <a:latin typeface="Microsoft YaHei"/>
                        </a:rPr>
                        <a:t>50.1%（95% CI: 34.2-73.4）</a:t>
                      </a:r>
                    </a:p>
                  </a:txBody>
                  <a:tcPr>
                    <a:solidFill>
                      <a:srgbClr val="F6F8FB"/>
                    </a:solidFill>
                  </a:tcPr>
                </a:tc>
              </a:tr>
              <a:tr h="136328">
                <a:tc>
                  <a:txBody>
                    <a:bodyPr wrap="square" lIns="36576" rIns="36576" tIns="18288" bIns="18288"/>
                    <a:lstStyle/>
                    <a:p>
                      <a:r>
                        <a:rPr sz="540" b="1">
                          <a:solidFill>
                            <a:srgbClr val="21242A"/>
                          </a:solidFill>
                          <a:latin typeface="Microsoft YaHei"/>
                        </a:rPr>
                        <a:t>STARGLO 2L</a:t>
                      </a:r>
                    </a:p>
                  </a:txBody>
                  <a:tcPr>
                    <a:solidFill>
                      <a:srgbClr val="FFFFFF"/>
                    </a:solidFill>
                  </a:tcPr>
                </a:tc>
                <a:tc>
                  <a:txBody>
                    <a:bodyPr wrap="square" lIns="36576" rIns="36576" tIns="18288" bIns="18288"/>
                    <a:lstStyle/>
                    <a:p>
                      <a:r>
                        <a:rPr sz="540" b="0">
                          <a:solidFill>
                            <a:srgbClr val="21242A"/>
                          </a:solidFill>
                          <a:latin typeface="Microsoft YaHei"/>
                        </a:rPr>
                        <a:t>57.4%（95% CI: 47.9-66.9）</a:t>
                      </a:r>
                    </a:p>
                  </a:txBody>
                  <a:tcPr>
                    <a:solidFill>
                      <a:srgbClr val="FFFFFF"/>
                    </a:solidFill>
                  </a:tcPr>
                </a:tc>
              </a:tr>
              <a:tr h="136328">
                <a:tc>
                  <a:txBody>
                    <a:bodyPr wrap="square" lIns="36576" rIns="36576" tIns="18288" bIns="18288"/>
                    <a:lstStyle/>
                    <a:p>
                      <a:r>
                        <a:rPr sz="540" b="1">
                          <a:solidFill>
                            <a:srgbClr val="21242A"/>
                          </a:solidFill>
                          <a:latin typeface="Microsoft YaHei"/>
                        </a:rPr>
                        <a:t>早期复发亚组</a:t>
                      </a:r>
                    </a:p>
                  </a:txBody>
                  <a:tcPr>
                    <a:solidFill>
                      <a:srgbClr val="F6F8FB"/>
                    </a:solidFill>
                  </a:tcPr>
                </a:tc>
                <a:tc>
                  <a:txBody>
                    <a:bodyPr wrap="square" lIns="36576" rIns="36576" tIns="18288" bIns="18288"/>
                    <a:lstStyle/>
                    <a:p>
                      <a:r>
                        <a:rPr sz="540" b="0">
                          <a:solidFill>
                            <a:srgbClr val="21242A"/>
                          </a:solidFill>
                          <a:latin typeface="Microsoft YaHei"/>
                        </a:rPr>
                        <a:t>2L CAR-T队列24个月无进展生存率：45.0%（95% CI: 28.4-71.3）</a:t>
                      </a:r>
                    </a:p>
                  </a:txBody>
                  <a:tcPr>
                    <a:solidFill>
                      <a:srgbClr val="F6F8FB"/>
                    </a:solidFill>
                  </a:tcPr>
                </a:tc>
              </a:tr>
              <a:tr h="136328">
                <a:tc>
                  <a:txBody>
                    <a:bodyPr wrap="square" lIns="36576" rIns="36576" tIns="18288" bIns="18288"/>
                    <a:lstStyle/>
                    <a:p>
                      <a:r>
                        <a:rPr sz="540" b="1">
                          <a:solidFill>
                            <a:srgbClr val="21242A"/>
                          </a:solidFill>
                          <a:latin typeface="Microsoft YaHei"/>
                        </a:rPr>
                        <a:t>STARGLO</a:t>
                      </a:r>
                    </a:p>
                  </a:txBody>
                  <a:tcPr>
                    <a:solidFill>
                      <a:srgbClr val="FFFFFF"/>
                    </a:solidFill>
                  </a:tcPr>
                </a:tc>
                <a:tc>
                  <a:txBody>
                    <a:bodyPr wrap="square" lIns="36576" rIns="36576" tIns="18288" bIns="18288"/>
                    <a:lstStyle/>
                    <a:p>
                      <a:r>
                        <a:rPr sz="540" b="0">
                          <a:solidFill>
                            <a:srgbClr val="21242A"/>
                          </a:solidFill>
                          <a:latin typeface="Microsoft YaHei"/>
                        </a:rPr>
                        <a:t>40.2%（95% CI: 27.2-53.2）</a:t>
                      </a:r>
                    </a:p>
                  </a:txBody>
                  <a:tcPr>
                    <a:solidFill>
                      <a:srgbClr val="FFFFFF"/>
                    </a:solidFill>
                  </a:tcPr>
                </a:tc>
              </a:tr>
              <a:tr h="136328">
                <a:tc>
                  <a:txBody>
                    <a:bodyPr wrap="square" lIns="36576" rIns="36576" tIns="18288" bIns="18288"/>
                    <a:lstStyle/>
                    <a:p>
                      <a:r>
                        <a:rPr sz="540" b="1">
                          <a:solidFill>
                            <a:srgbClr val="21242A"/>
                          </a:solidFill>
                          <a:latin typeface="Microsoft YaHei"/>
                        </a:rPr>
                        <a:t>早期复发亚组</a:t>
                      </a:r>
                    </a:p>
                  </a:txBody>
                  <a:tcPr>
                    <a:solidFill>
                      <a:srgbClr val="F6F8FB"/>
                    </a:solidFill>
                  </a:tcPr>
                </a:tc>
                <a:tc>
                  <a:txBody>
                    <a:bodyPr wrap="square" lIns="36576" rIns="36576" tIns="18288" bIns="18288"/>
                    <a:lstStyle/>
                    <a:p>
                      <a:r>
                        <a:rPr sz="540" b="0">
                          <a:solidFill>
                            <a:srgbClr val="21242A"/>
                          </a:solidFill>
                          <a:latin typeface="Microsoft YaHei"/>
                        </a:rPr>
                        <a:t>2L CAR-T队列24个月总生存率：60.9%（95% CI: 42.1-88.2）</a:t>
                      </a:r>
                    </a:p>
                  </a:txBody>
                  <a:tcPr>
                    <a:solidFill>
                      <a:srgbClr val="F6F8FB"/>
                    </a:solidFill>
                  </a:tcPr>
                </a:tc>
              </a:tr>
              <a:tr h="136336">
                <a:tc>
                  <a:txBody>
                    <a:bodyPr wrap="square" lIns="36576" rIns="36576" tIns="18288" bIns="18288"/>
                    <a:lstStyle/>
                    <a:p>
                      <a:r>
                        <a:rPr sz="540" b="1">
                          <a:solidFill>
                            <a:srgbClr val="21242A"/>
                          </a:solidFill>
                          <a:latin typeface="Microsoft YaHei"/>
                        </a:rPr>
                        <a:t>STARGLO</a:t>
                      </a:r>
                    </a:p>
                  </a:txBody>
                  <a:tcPr>
                    <a:solidFill>
                      <a:srgbClr val="FFFFFF"/>
                    </a:solidFill>
                  </a:tcPr>
                </a:tc>
                <a:tc>
                  <a:txBody>
                    <a:bodyPr wrap="square" lIns="36576" rIns="36576" tIns="18288" bIns="18288"/>
                    <a:lstStyle/>
                    <a:p>
                      <a:r>
                        <a:rPr sz="540" b="0">
                          <a:solidFill>
                            <a:srgbClr val="21242A"/>
                          </a:solidFill>
                          <a:latin typeface="Microsoft YaHei"/>
                        </a:rPr>
                        <a:t>46.5%（95% CI: 35.2-57.8）</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试验药/方案：瑞基奥仑赛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3个月ORR（研究者评估）：58.33%</a:t>
            </a:r>
          </a:p>
          <a:p>
            <a:pPr>
              <a:lnSpc>
                <a:spcPct val="103000"/>
              </a:lnSpc>
              <a:spcAft>
                <a:spcPts val="300"/>
              </a:spcAft>
              <a:defRPr sz="800">
                <a:solidFill>
                  <a:srgbClr val="21242A"/>
                </a:solidFill>
                <a:latin typeface="Microsoft YaHei"/>
              </a:defRPr>
            </a:pPr>
            <a:r>
              <a:t>3个月CRR（研究者评估）：41.67%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试验药/方案：瑞基奥仑赛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药物/技术类别：CAR-T、外周血单个核细胞PBMC、自体细胞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Relma-cel, a CD19-directed CAR-T therapy, is an approved treatment for relapsed/refractory (R/R) large B-Cell lymphoma (LBCL).</a:t>
            </a:r>
          </a:p>
          <a:p>
            <a:pPr>
              <a:lnSpc>
                <a:spcPct val="103000"/>
              </a:lnSpc>
              <a:spcAft>
                <a:spcPts val="300"/>
              </a:spcAft>
              <a:defRPr sz="570">
                <a:solidFill>
                  <a:srgbClr val="21242A"/>
                </a:solidFill>
                <a:latin typeface="Microsoft YaHei"/>
              </a:defRPr>
            </a:pPr>
            <a:r>
              <a:t>To reduce manufacturing costs and enhance supply-chain stability, an in-house lentiviral vector manufacturing process was established.</a:t>
            </a:r>
          </a:p>
          <a:p>
            <a:pPr>
              <a:lnSpc>
                <a:spcPct val="103000"/>
              </a:lnSpc>
              <a:spcAft>
                <a:spcPts val="300"/>
              </a:spcAft>
              <a:defRPr sz="570">
                <a:solidFill>
                  <a:srgbClr val="21242A"/>
                </a:solidFill>
                <a:latin typeface="Microsoft YaHei"/>
              </a:defRPr>
            </a:pPr>
            <a:r>
              <a:t>This study was a post-approval bridging study to evaluate the relma-cel manufactured using the domestically produced lentiviral vector (JWLV011).</a:t>
            </a:r>
          </a:p>
          <a:p>
            <a:pPr>
              <a:lnSpc>
                <a:spcPct val="103000"/>
              </a:lnSpc>
              <a:spcAft>
                <a:spcPts val="300"/>
              </a:spcAft>
              <a:defRPr sz="570">
                <a:solidFill>
                  <a:srgbClr val="21242A"/>
                </a:solidFill>
                <a:latin typeface="Microsoft YaHei"/>
              </a:defRPr>
            </a:pPr>
            <a:r>
              <a:t>Aims: To assess the efficacy, safety and pharmacokinetic (PK)/ pharmcodynamic (PD) profiles of relma-cel manufactured with JWLV011 in adult patients with R/R LB</a:t>
            </a:r>
          </a:p>
          <a:p>
            <a:pPr>
              <a:lnSpc>
                <a:spcPct val="103000"/>
              </a:lnSpc>
              <a:spcAft>
                <a:spcPts val="300"/>
              </a:spcAft>
              <a:defRPr sz="570">
                <a:solidFill>
                  <a:srgbClr val="21242A"/>
                </a:solidFill>
                <a:latin typeface="Microsoft YaHei"/>
              </a:defRPr>
            </a:pPr>
            <a:r>
              <a:t>CL.</a:t>
            </a:r>
          </a:p>
          <a:p>
            <a:pPr>
              <a:lnSpc>
                <a:spcPct val="103000"/>
              </a:lnSpc>
              <a:spcAft>
                <a:spcPts val="300"/>
              </a:spcAft>
              <a:defRPr sz="570">
                <a:solidFill>
                  <a:srgbClr val="21242A"/>
                </a:solidFill>
                <a:latin typeface="Microsoft YaHei"/>
              </a:defRPr>
            </a:pPr>
            <a:r>
              <a:t>Methods: This phase II study enrolled adults (≥18 years) with histologically confirmed R/R LBCL who had relapsed or progressed after ≥2 prior systemic therapies</a:t>
            </a:r>
          </a:p>
          <a:p>
            <a:pPr>
              <a:lnSpc>
                <a:spcPct val="103000"/>
              </a:lnSpc>
              <a:spcAft>
                <a:spcPts val="300"/>
              </a:spcAft>
              <a:defRPr sz="570">
                <a:solidFill>
                  <a:srgbClr val="21242A"/>
                </a:solidFill>
                <a:latin typeface="Microsoft YaHei"/>
              </a:defRPr>
            </a:pPr>
            <a:r>
              <a:t>, including an anthracycline-containing regimen and anti-CD20 monoclonal antibody, or following autologous stem cell transplantation.</a:t>
            </a:r>
          </a:p>
          <a:p>
            <a:pPr>
              <a:lnSpc>
                <a:spcPct val="103000"/>
              </a:lnSpc>
              <a:spcAft>
                <a:spcPts val="300"/>
              </a:spcAft>
              <a:defRPr sz="570">
                <a:solidFill>
                  <a:srgbClr val="21242A"/>
                </a:solidFill>
                <a:latin typeface="Microsoft YaHei"/>
              </a:defRPr>
            </a:pPr>
            <a:r>
              <a:t>Following by lymphodepleting chemotherapy with cyclophosphamide (250 mg/m 2 /day × 3 days) and fludarabine (25 mg/m 2 /day × 3 days), and then received a single</a:t>
            </a:r>
          </a:p>
          <a:p>
            <a:pPr>
              <a:lnSpc>
                <a:spcPct val="103000"/>
              </a:lnSpc>
              <a:spcAft>
                <a:spcPts val="300"/>
              </a:spcAft>
              <a:defRPr sz="570">
                <a:solidFill>
                  <a:srgbClr val="21242A"/>
                </a:solidFill>
                <a:latin typeface="Microsoft YaHei"/>
              </a:defRPr>
            </a:pPr>
            <a:r>
              <a:t> infusion of relma-cel at a dose of 100 × 10 6 CAR + T cells.</a:t>
            </a:r>
          </a:p>
          <a:p>
            <a:pPr>
              <a:lnSpc>
                <a:spcPct val="103000"/>
              </a:lnSpc>
              <a:spcAft>
                <a:spcPts val="300"/>
              </a:spcAft>
              <a:defRPr sz="570">
                <a:solidFill>
                  <a:srgbClr val="21242A"/>
                </a:solidFill>
                <a:latin typeface="Microsoft YaHei"/>
              </a:defRPr>
            </a:pPr>
            <a:r>
              <a:t>The primary endpoint was investigator-assessed objective response rate (ORR) at 3 months post-infusion.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Relma-cel manufactured using the domestically produced lentiviral vector demonstrated favorable efficacy and a manageable safety profile in adult patients with </a:t>
            </a:r>
          </a:p>
          <a:p>
            <a:pPr>
              <a:lnSpc>
                <a:spcPct val="103000"/>
              </a:lnSpc>
              <a:spcAft>
                <a:spcPts val="300"/>
              </a:spcAft>
              <a:defRPr sz="590">
                <a:solidFill>
                  <a:srgbClr val="21242A"/>
                </a:solidFill>
                <a:latin typeface="Microsoft YaHei"/>
              </a:defRPr>
            </a:pPr>
            <a:r>
              <a:t>R/R LBCL.</a:t>
            </a:r>
          </a:p>
          <a:p>
            <a:pPr>
              <a:lnSpc>
                <a:spcPct val="103000"/>
              </a:lnSpc>
              <a:spcAft>
                <a:spcPts val="300"/>
              </a:spcAft>
              <a:defRPr sz="590">
                <a:solidFill>
                  <a:srgbClr val="21242A"/>
                </a:solidFill>
                <a:latin typeface="Microsoft YaHei"/>
              </a:defRPr>
            </a:pPr>
            <a:r>
              <a:t>These findings support the feasibility of in-house lentiviral vector manufacturing without compromising clinical performance.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As of July 15, 2025, 14 patients underwent leukapheresis and 12 received relma-cel.</a:t>
            </a:r>
          </a:p>
          <a:p>
            <a:pPr>
              <a:lnSpc>
                <a:spcPct val="103000"/>
              </a:lnSpc>
              <a:spcAft>
                <a:spcPts val="300"/>
              </a:spcAft>
              <a:defRPr sz="580">
                <a:solidFill>
                  <a:srgbClr val="21242A"/>
                </a:solidFill>
                <a:latin typeface="Microsoft YaHei"/>
              </a:defRPr>
            </a:pPr>
            <a:r>
              <a:t>The median age was 61.5 years (range, 46–76; 41.7% ≥65 years), and 58.3% were male.</a:t>
            </a:r>
          </a:p>
          <a:p>
            <a:pPr>
              <a:lnSpc>
                <a:spcPct val="103000"/>
              </a:lnSpc>
              <a:spcAft>
                <a:spcPts val="300"/>
              </a:spcAft>
              <a:defRPr sz="580">
                <a:solidFill>
                  <a:srgbClr val="21242A"/>
                </a:solidFill>
                <a:latin typeface="Microsoft YaHei"/>
              </a:defRPr>
            </a:pPr>
            <a:r>
              <a:t>High-risk disease features were common: 50.0% had an International Prognostic Index ≥3, 83.3% had Ann Arbor stage III/IV disease, 41.7% had elevated baseli</a:t>
            </a:r>
          </a:p>
          <a:p>
            <a:pPr>
              <a:lnSpc>
                <a:spcPct val="103000"/>
              </a:lnSpc>
              <a:spcAft>
                <a:spcPts val="300"/>
              </a:spcAft>
              <a:defRPr sz="580">
                <a:solidFill>
                  <a:srgbClr val="21242A"/>
                </a:solidFill>
                <a:latin typeface="Microsoft YaHei"/>
              </a:defRPr>
            </a:pPr>
            <a:r>
              <a:t>ne lactate dehydrogenase, and 83.3% had the non-germinal center B-cell-like subtype.</a:t>
            </a:r>
          </a:p>
          <a:p>
            <a:pPr>
              <a:lnSpc>
                <a:spcPct val="103000"/>
              </a:lnSpc>
              <a:spcAft>
                <a:spcPts val="300"/>
              </a:spcAft>
              <a:defRPr sz="580">
                <a:solidFill>
                  <a:srgbClr val="21242A"/>
                </a:solidFill>
                <a:latin typeface="Microsoft YaHei"/>
              </a:defRPr>
            </a:pPr>
            <a:r>
              <a:t>Prior therapies included ≥3 lines in 41.7% of patients; 25.0% had received polatuzumab vedotin and 25.0% had received CD3/CD20 bispecific antibodies (one p</a:t>
            </a:r>
          </a:p>
          <a:p>
            <a:pPr>
              <a:lnSpc>
                <a:spcPct val="103000"/>
              </a:lnSpc>
              <a:spcAft>
                <a:spcPts val="300"/>
              </a:spcAft>
              <a:defRPr sz="580">
                <a:solidFill>
                  <a:srgbClr val="21242A"/>
                </a:solidFill>
                <a:latin typeface="Microsoft YaHei"/>
              </a:defRPr>
            </a:pPr>
            <a:r>
              <a:t>atient was primary refractoriness, two patients were relapsed within 12 months of first-line therapy, and three patients were subsequently treated with bis</a:t>
            </a:r>
          </a:p>
          <a:p>
            <a:pPr>
              <a:lnSpc>
                <a:spcPct val="103000"/>
              </a:lnSpc>
              <a:spcAft>
                <a:spcPts val="300"/>
              </a:spcAft>
              <a:defRPr sz="580">
                <a:solidFill>
                  <a:srgbClr val="21242A"/>
                </a:solidFill>
                <a:latin typeface="Microsoft YaHei"/>
              </a:defRPr>
            </a:pPr>
            <a:r>
              <a:t>pecific antibodies, and all were refractory to bispecific antibody).</a:t>
            </a:r>
          </a:p>
          <a:p>
            <a:pPr>
              <a:lnSpc>
                <a:spcPct val="103000"/>
              </a:lnSpc>
              <a:spcAft>
                <a:spcPts val="300"/>
              </a:spcAft>
              <a:defRPr sz="580">
                <a:solidFill>
                  <a:srgbClr val="21242A"/>
                </a:solidFill>
                <a:latin typeface="Microsoft YaHei"/>
              </a:defRPr>
            </a:pPr>
            <a:r>
              <a:t>Overall, 33.3% had relapsed disease, 66.7% were refractory to their most recent therapy. 41.7% of patients received bridging therapy.</a:t>
            </a:r>
          </a:p>
          <a:p>
            <a:pPr>
              <a:lnSpc>
                <a:spcPct val="103000"/>
              </a:lnSpc>
              <a:spcAft>
                <a:spcPts val="300"/>
              </a:spcAft>
              <a:defRPr sz="580">
                <a:solidFill>
                  <a:srgbClr val="21242A"/>
                </a:solidFill>
                <a:latin typeface="Microsoft YaHei"/>
              </a:defRPr>
            </a:pPr>
            <a:r>
              <a:t>With a median follow-up was 4.6 months (range, 2.79–5.85), in the modified intent to treatment (mITT) population (n=12), the investigator-assessed ORR at 3</a:t>
            </a:r>
          </a:p>
          <a:p>
            <a:pPr>
              <a:lnSpc>
                <a:spcPct val="103000"/>
              </a:lnSpc>
              <a:spcAft>
                <a:spcPts val="300"/>
              </a:spcAft>
              <a:defRPr sz="580">
                <a:solidFill>
                  <a:srgbClr val="21242A"/>
                </a:solidFill>
                <a:latin typeface="Microsoft YaHei"/>
              </a:defRPr>
            </a:pPr>
            <a:r>
              <a:t> months was 58.33%, with a CRR of 41.67%, meeting the primary endpoint.</a:t>
            </a:r>
          </a:p>
          <a:p>
            <a:pPr>
              <a:lnSpc>
                <a:spcPct val="103000"/>
              </a:lnSpc>
              <a:spcAft>
                <a:spcPts val="300"/>
              </a:spcAft>
              <a:defRPr sz="580">
                <a:solidFill>
                  <a:srgbClr val="21242A"/>
                </a:solidFill>
                <a:latin typeface="Microsoft YaHei"/>
              </a:defRPr>
            </a:pPr>
            <a:r>
              <a:t>The best investigator-assessed ORR was 66.67%, with a best CRR of 41.67%.</a:t>
            </a:r>
          </a:p>
          <a:p>
            <a:pPr>
              <a:lnSpc>
                <a:spcPct val="103000"/>
              </a:lnSpc>
              <a:spcAft>
                <a:spcPts val="300"/>
              </a:spcAft>
              <a:defRPr sz="580">
                <a:solidFill>
                  <a:srgbClr val="21242A"/>
                </a:solidFill>
                <a:latin typeface="Microsoft YaHei"/>
              </a:defRPr>
            </a:pPr>
            <a:r>
              <a:t>Independent review committee (IRC)-assessed ORR at 3 months was 58.33%, with a CRR of 58.33%.</a:t>
            </a:r>
          </a:p>
          <a:p>
            <a:pPr>
              <a:lnSpc>
                <a:spcPct val="103000"/>
              </a:lnSpc>
              <a:spcAft>
                <a:spcPts val="300"/>
              </a:spcAft>
              <a:defRPr sz="580">
                <a:solidFill>
                  <a:srgbClr val="21242A"/>
                </a:solidFill>
                <a:latin typeface="Microsoft YaHei"/>
              </a:defRPr>
            </a:pPr>
            <a:r>
              <a:t>The best ORR was 75.00%, with a best CRR of 58.33% ( Figure 1 ).</a:t>
            </a:r>
          </a:p>
          <a:p>
            <a:pPr>
              <a:lnSpc>
                <a:spcPct val="103000"/>
              </a:lnSpc>
              <a:spcAft>
                <a:spcPts val="300"/>
              </a:spcAft>
              <a:defRPr sz="580">
                <a:solidFill>
                  <a:srgbClr val="21242A"/>
                </a:solidFill>
                <a:latin typeface="Microsoft YaHei"/>
              </a:defRPr>
            </a:pPr>
            <a:r>
              <a:t>Three patients refractory to bispecific antibodies achieved PR, PD and CR, respectively, at 1 month; excluding the patient with PD, the other two patients </a:t>
            </a:r>
          </a:p>
          <a:p>
            <a:pPr>
              <a:lnSpc>
                <a:spcPct val="103000"/>
              </a:lnSpc>
              <a:spcAft>
                <a:spcPts val="300"/>
              </a:spcAft>
              <a:defRPr sz="580">
                <a:solidFill>
                  <a:srgbClr val="21242A"/>
                </a:solidFill>
                <a:latin typeface="Microsoft YaHei"/>
              </a:defRPr>
            </a:pPr>
            <a:r>
              <a:t>had PD and CR respectively at 3 months.</a:t>
            </a:r>
          </a:p>
          <a:p>
            <a:pPr>
              <a:lnSpc>
                <a:spcPct val="103000"/>
              </a:lnSpc>
              <a:spcAft>
                <a:spcPts val="300"/>
              </a:spcAft>
              <a:defRPr sz="580">
                <a:solidFill>
                  <a:srgbClr val="21242A"/>
                </a:solidFill>
                <a:latin typeface="Microsoft YaHei"/>
              </a:defRPr>
            </a:pPr>
            <a:r>
              <a:t>Median DOR, PFS, and OS have not been reached.</a:t>
            </a:r>
          </a:p>
          <a:p>
            <a:pPr>
              <a:lnSpc>
                <a:spcPct val="103000"/>
              </a:lnSpc>
              <a:spcAft>
                <a:spcPts val="300"/>
              </a:spcAft>
              <a:defRPr sz="580">
                <a:solidFill>
                  <a:srgbClr val="21242A"/>
                </a:solidFill>
                <a:latin typeface="Microsoft YaHei"/>
              </a:defRPr>
            </a:pPr>
            <a:r>
              <a:t>Relma-cel manufactured with JWLV011 demonstrated a manageable safety profile with no treatment-related deaths, or study discontinuations due to adverse eve</a:t>
            </a:r>
          </a:p>
          <a:p>
            <a:pPr>
              <a:lnSpc>
                <a:spcPct val="103000"/>
              </a:lnSpc>
              <a:spcAft>
                <a:spcPts val="300"/>
              </a:spcAft>
              <a:defRPr sz="580">
                <a:solidFill>
                  <a:srgbClr val="21242A"/>
                </a:solidFill>
                <a:latin typeface="Microsoft YaHei"/>
              </a:defRPr>
            </a:pPr>
            <a:r>
              <a:t>nts.</a:t>
            </a:r>
          </a:p>
          <a:p>
            <a:pPr>
              <a:lnSpc>
                <a:spcPct val="103000"/>
              </a:lnSpc>
              <a:spcAft>
                <a:spcPts val="300"/>
              </a:spcAft>
              <a:defRPr sz="580">
                <a:solidFill>
                  <a:srgbClr val="21242A"/>
                </a:solidFill>
                <a:latin typeface="Microsoft YaHei"/>
              </a:defRPr>
            </a:pPr>
            <a:r>
              <a:t>All patients experienced treatment-related adverse events, 8.3% developed serious treatment-emergent adverse events.</a:t>
            </a:r>
          </a:p>
          <a:p>
            <a:pPr>
              <a:lnSpc>
                <a:spcPct val="103000"/>
              </a:lnSpc>
              <a:spcAft>
                <a:spcPts val="300"/>
              </a:spcAft>
              <a:defRPr sz="580">
                <a:solidFill>
                  <a:srgbClr val="21242A"/>
                </a:solidFill>
                <a:latin typeface="Microsoft YaHei"/>
              </a:defRPr>
            </a:pPr>
            <a:r>
              <a:t>Cytokine release syndrome occurred in 83.3% of patients, all grade 1-2. No patient developed neurological toxicities.</a:t>
            </a:r>
          </a:p>
          <a:p>
            <a:pPr>
              <a:lnSpc>
                <a:spcPct val="103000"/>
              </a:lnSpc>
              <a:spcAft>
                <a:spcPts val="300"/>
              </a:spcAft>
              <a:defRPr sz="580">
                <a:solidFill>
                  <a:srgbClr val="21242A"/>
                </a:solidFill>
                <a:latin typeface="Microsoft YaHei"/>
              </a:defRPr>
            </a:pPr>
            <a:r>
              <a:t>Conclusion: Relma-cel manufactured using the domestically produced lentiviral vector demonstrated favorable efficacy and a manageable safety profile in adu</a:t>
            </a:r>
          </a:p>
          <a:p>
            <a:pPr>
              <a:lnSpc>
                <a:spcPct val="103000"/>
              </a:lnSpc>
              <a:spcAft>
                <a:spcPts val="300"/>
              </a:spcAft>
              <a:defRPr sz="580">
                <a:solidFill>
                  <a:srgbClr val="21242A"/>
                </a:solidFill>
                <a:latin typeface="Microsoft YaHei"/>
              </a:defRPr>
            </a:pPr>
            <a:r>
              <a:t>lt patients with R/R LBCL.</a:t>
            </a:r>
          </a:p>
          <a:p>
            <a:pPr>
              <a:lnSpc>
                <a:spcPct val="103000"/>
              </a:lnSpc>
              <a:spcAft>
                <a:spcPts val="300"/>
              </a:spcAft>
              <a:defRPr sz="580">
                <a:solidFill>
                  <a:srgbClr val="21242A"/>
                </a:solidFill>
                <a:latin typeface="Microsoft YaHei"/>
              </a:defRPr>
            </a:pPr>
            <a:r>
              <a:t>These findings support the feasibility of in-house lentiviral vector manufacturing without compromising clinical performance.</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复发/难治性弥漫性大b细胞淋巴瘤单靶（cd19）与双靶（cd19/cd22或cd19/cd20）car t细胞治疗的系...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single-target (cd19) versus dual-target (cd19/cd22 or cd19/cd20) car t-cell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N=1425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分组：试验组1：单靶点(CD19) CAR-T细胞治疗</a:t>
            </a:r>
          </a:p>
          <a:p>
            <a:pPr>
              <a:lnSpc>
                <a:spcPct val="103000"/>
              </a:lnSpc>
              <a:spcAft>
                <a:spcPts val="300"/>
              </a:spcAft>
              <a:defRPr sz="800">
                <a:solidFill>
                  <a:srgbClr val="21242A"/>
                </a:solidFill>
                <a:latin typeface="Microsoft YaHei"/>
              </a:defRPr>
            </a:pPr>
            <a:r>
              <a:t>试验组2：双靶点(CD19/CD22或CD19/CD20) CAR-T细胞治疗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多组/多方案比较：试验组1：单靶点(CD19) CAR-T细胞治疗</a:t>
            </a:r>
          </a:p>
          <a:p>
            <a:pPr>
              <a:lnSpc>
                <a:spcPct val="103000"/>
              </a:lnSpc>
              <a:spcAft>
                <a:spcPts val="300"/>
              </a:spcAft>
              <a:defRPr sz="800">
                <a:solidFill>
                  <a:srgbClr val="21242A"/>
                </a:solidFill>
                <a:latin typeface="Microsoft YaHei"/>
              </a:defRPr>
            </a:pPr>
            <a:r>
              <a:t>试验组2：双靶点(CD19/CD22或CD19/CD20) CAR-T细胞治疗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 双靶点86% vs 单靶点75% (P=0.06)</a:t>
            </a:r>
          </a:p>
          <a:p>
            <a:pPr>
              <a:lnSpc>
                <a:spcPct val="103000"/>
              </a:lnSpc>
              <a:spcAft>
                <a:spcPts val="300"/>
              </a:spcAft>
              <a:defRPr sz="800">
                <a:solidFill>
                  <a:srgbClr val="21242A"/>
                </a:solidFill>
                <a:latin typeface="Microsoft YaHei"/>
              </a:defRPr>
            </a:pPr>
            <a:r>
              <a:t>完全缓解率(CR): 62% vs 53% (P=0.22)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研究类型：系统综述和荟萃分析</a:t>
            </a:r>
          </a:p>
          <a:p>
            <a:pPr>
              <a:lnSpc>
                <a:spcPct val="103000"/>
              </a:lnSpc>
              <a:spcAft>
                <a:spcPts val="300"/>
              </a:spcAft>
              <a:defRPr sz="810">
                <a:solidFill>
                  <a:srgbClr val="21242A"/>
                </a:solidFill>
                <a:latin typeface="Microsoft YaHei"/>
              </a:defRPr>
            </a:pPr>
            <a:r>
              <a:t>人数：1425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分组/治疗流程：试验组1：单靶点(CD19) CAR-T细胞治疗、试验组2：双靶点(CD19/CD22或CD19/CD20) CAR-T细胞治疗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复发/难治性弥漫性大b细胞淋巴瘤单靶（cd19）与双靶（cd19/cd22或cd19/cd20）car t细胞治疗的系...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single-target (cd19) versus dual-target (cd19/cd22 or cd19/cd20) car t-cell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Chimeric antigen receptor (CAR) T-cell therapy has become a pivotal treatment option for patients with relapsed/refractory diffuse large B-cell lymp</a:t>
            </a:r>
          </a:p>
          <a:p>
            <a:pPr>
              <a:lnSpc>
                <a:spcPct val="103000"/>
              </a:lnSpc>
              <a:spcAft>
                <a:spcPts val="300"/>
              </a:spcAft>
              <a:defRPr sz="570">
                <a:solidFill>
                  <a:srgbClr val="21242A"/>
                </a:solidFill>
                <a:latin typeface="Microsoft YaHei"/>
              </a:defRPr>
            </a:pPr>
            <a:r>
              <a:t>homa (R/R DLBCL).</a:t>
            </a:r>
          </a:p>
          <a:p>
            <a:pPr>
              <a:lnSpc>
                <a:spcPct val="103000"/>
              </a:lnSpc>
              <a:spcAft>
                <a:spcPts val="300"/>
              </a:spcAft>
              <a:defRPr sz="570">
                <a:solidFill>
                  <a:srgbClr val="21242A"/>
                </a:solidFill>
                <a:latin typeface="Microsoft YaHei"/>
              </a:defRPr>
            </a:pPr>
            <a:r>
              <a:t>While single-target CD19 CAR T-cell therapy is widely used in clinical practice, dual-target strategies (e.g., CD19/CD22 or CD19/CD20) have been developed to re</a:t>
            </a:r>
          </a:p>
          <a:p>
            <a:pPr>
              <a:lnSpc>
                <a:spcPct val="103000"/>
              </a:lnSpc>
              <a:spcAft>
                <a:spcPts val="300"/>
              </a:spcAft>
              <a:defRPr sz="570">
                <a:solidFill>
                  <a:srgbClr val="21242A"/>
                </a:solidFill>
                <a:latin typeface="Microsoft YaHei"/>
              </a:defRPr>
            </a:pPr>
            <a:r>
              <a:t>duce antigen escape and potentially improve treatment durability.</a:t>
            </a:r>
          </a:p>
          <a:p>
            <a:pPr>
              <a:lnSpc>
                <a:spcPct val="103000"/>
              </a:lnSpc>
              <a:spcAft>
                <a:spcPts val="300"/>
              </a:spcAft>
              <a:defRPr sz="570">
                <a:solidFill>
                  <a:srgbClr val="21242A"/>
                </a:solidFill>
                <a:latin typeface="Microsoft YaHei"/>
              </a:defRPr>
            </a:pPr>
            <a:r>
              <a:t>However, direct comparisons between these approaches remain limited.</a:t>
            </a:r>
          </a:p>
          <a:p>
            <a:pPr>
              <a:lnSpc>
                <a:spcPct val="103000"/>
              </a:lnSpc>
              <a:spcAft>
                <a:spcPts val="300"/>
              </a:spcAft>
              <a:defRPr sz="570">
                <a:solidFill>
                  <a:srgbClr val="21242A"/>
                </a:solidFill>
                <a:latin typeface="Microsoft YaHei"/>
              </a:defRPr>
            </a:pPr>
            <a:r>
              <a:t>Aims: This meta-analysis aimed to systematically compare the efficacy and safety of single-target (CD19) versus dual-target (CD19/CD22 or CD19/CD20) CAR T-cell </a:t>
            </a:r>
          </a:p>
          <a:p>
            <a:pPr>
              <a:lnSpc>
                <a:spcPct val="103000"/>
              </a:lnSpc>
              <a:spcAft>
                <a:spcPts val="300"/>
              </a:spcAft>
              <a:defRPr sz="570">
                <a:solidFill>
                  <a:srgbClr val="21242A"/>
                </a:solidFill>
                <a:latin typeface="Microsoft YaHei"/>
              </a:defRPr>
            </a:pPr>
            <a:r>
              <a:t>therapy in patients with R/R DLBCL.</a:t>
            </a:r>
          </a:p>
          <a:p>
            <a:pPr>
              <a:lnSpc>
                <a:spcPct val="103000"/>
              </a:lnSpc>
              <a:spcAft>
                <a:spcPts val="300"/>
              </a:spcAft>
              <a:defRPr sz="570">
                <a:solidFill>
                  <a:srgbClr val="21242A"/>
                </a:solidFill>
                <a:latin typeface="Microsoft YaHei"/>
              </a:defRPr>
            </a:pPr>
            <a:r>
              <a:t>Methods: A systematic review and meta-analysis were conducted following predefined inclusion criteria.</a:t>
            </a:r>
          </a:p>
          <a:p>
            <a:pPr>
              <a:lnSpc>
                <a:spcPct val="103000"/>
              </a:lnSpc>
              <a:spcAft>
                <a:spcPts val="300"/>
              </a:spcAft>
              <a:defRPr sz="570">
                <a:solidFill>
                  <a:srgbClr val="21242A"/>
                </a:solidFill>
                <a:latin typeface="Microsoft YaHei"/>
              </a:defRPr>
            </a:pPr>
            <a:r>
              <a:t>PubMed, Embase, Cochrane Library, Web of Science, and major conference proceedings (ASH, EHA, ASCO, ICML) were searched from database inception to December 31, </a:t>
            </a:r>
          </a:p>
          <a:p>
            <a:pPr>
              <a:lnSpc>
                <a:spcPct val="103000"/>
              </a:lnSpc>
              <a:spcAft>
                <a:spcPts val="300"/>
              </a:spcAft>
              <a:defRPr sz="570">
                <a:solidFill>
                  <a:srgbClr val="21242A"/>
                </a:solidFill>
                <a:latin typeface="Microsoft YaHei"/>
              </a:defRPr>
            </a:pPr>
            <a:r>
              <a:t>2025.</a:t>
            </a:r>
          </a:p>
          <a:p>
            <a:pPr>
              <a:lnSpc>
                <a:spcPct val="103000"/>
              </a:lnSpc>
              <a:spcAft>
                <a:spcPts val="300"/>
              </a:spcAft>
              <a:defRPr sz="570">
                <a:solidFill>
                  <a:srgbClr val="21242A"/>
                </a:solidFill>
                <a:latin typeface="Microsoft YaHei"/>
              </a:defRPr>
            </a:pPr>
            <a:r>
              <a:t>Clinical studies evaluating single-target (CD19) or dual-target (CD19/CD22 or CD19/CD20) CAR T-cell therapies in R/R DLBCL were included.</a:t>
            </a:r>
          </a:p>
          <a:p>
            <a:pPr>
              <a:lnSpc>
                <a:spcPct val="103000"/>
              </a:lnSpc>
              <a:spcAft>
                <a:spcPts val="300"/>
              </a:spcAft>
              <a:defRPr sz="570">
                <a:solidFill>
                  <a:srgbClr val="21242A"/>
                </a:solidFill>
                <a:latin typeface="Microsoft YaHei"/>
              </a:defRPr>
            </a:pPr>
            <a:r>
              <a:t>Primary efficacy outcomes included overall response rate (ORR), complete response (CR) rate, and 1-year progression-free survival (PFS).</a:t>
            </a:r>
          </a:p>
          <a:p>
            <a:pPr>
              <a:lnSpc>
                <a:spcPct val="103000"/>
              </a:lnSpc>
              <a:spcAft>
                <a:spcPts val="300"/>
              </a:spcAft>
              <a:defRPr sz="570">
                <a:solidFill>
                  <a:srgbClr val="21242A"/>
                </a:solidFill>
                <a:latin typeface="Microsoft YaHei"/>
              </a:defRPr>
            </a:pPr>
            <a:r>
              <a:t>Safety outcomes included grade ≥3 cytokine release syndrome (CRS), immune effector cell-associated neurotoxicity syndrome (ICANS), infections, and hematologic t</a:t>
            </a:r>
          </a:p>
          <a:p>
            <a:pPr>
              <a:lnSpc>
                <a:spcPct val="103000"/>
              </a:lnSpc>
              <a:spcAft>
                <a:spcPts val="300"/>
              </a:spcAft>
              <a:defRPr sz="570">
                <a:solidFill>
                  <a:srgbClr val="21242A"/>
                </a:solidFill>
                <a:latin typeface="Microsoft YaHei"/>
              </a:defRPr>
            </a:pPr>
            <a:r>
              <a:t>oxicities.</a:t>
            </a:r>
          </a:p>
          <a:p>
            <a:pPr>
              <a:lnSpc>
                <a:spcPct val="103000"/>
              </a:lnSpc>
              <a:spcAft>
                <a:spcPts val="300"/>
              </a:spcAft>
              <a:defRPr sz="570">
                <a:solidFill>
                  <a:srgbClr val="21242A"/>
                </a:solidFill>
                <a:latin typeface="Microsoft YaHei"/>
              </a:defRPr>
            </a:pPr>
            <a:r>
              <a:t>Literature screening, data extraction, and risk-of-bias assessment were independently performed by two investigators.</a:t>
            </a:r>
          </a:p>
          <a:p>
            <a:pPr>
              <a:lnSpc>
                <a:spcPct val="103000"/>
              </a:lnSpc>
              <a:spcAft>
                <a:spcPts val="300"/>
              </a:spcAft>
              <a:defRPr sz="570">
                <a:solidFill>
                  <a:srgbClr val="21242A"/>
                </a:solidFill>
                <a:latin typeface="Microsoft YaHei"/>
              </a:defRPr>
            </a:pPr>
            <a:r>
              <a:t>Meta-analysis was conducted using R (version 4.3.1) with the meta and metafor packages under a random-effects model.</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meta-analysis suggests that dual-target (CD19/CD22 or CD19/CD20) CAR T-cell therapy may provide numerically improved response rates compared with single-ta</a:t>
            </a:r>
          </a:p>
          <a:p>
            <a:pPr>
              <a:lnSpc>
                <a:spcPct val="103000"/>
              </a:lnSpc>
              <a:spcAft>
                <a:spcPts val="300"/>
              </a:spcAft>
              <a:defRPr sz="590">
                <a:solidFill>
                  <a:srgbClr val="21242A"/>
                </a:solidFill>
                <a:latin typeface="Microsoft YaHei"/>
              </a:defRPr>
            </a:pPr>
            <a:r>
              <a:t>rget CD19 therapy in R/R DLBCL, although differences in CR and 1-year PFS were not statistically significant.</a:t>
            </a:r>
          </a:p>
          <a:p>
            <a:pPr>
              <a:lnSpc>
                <a:spcPct val="103000"/>
              </a:lnSpc>
              <a:spcAft>
                <a:spcPts val="300"/>
              </a:spcAft>
              <a:defRPr sz="590">
                <a:solidFill>
                  <a:srgbClr val="21242A"/>
                </a:solidFill>
                <a:latin typeface="Microsoft YaHei"/>
              </a:defRPr>
            </a:pPr>
            <a:r>
              <a:t>Dual-target therapy was associated with higher rates of grade ≥3 hematologic toxicity but a lower incidence of severe infections, while other major adverse even</a:t>
            </a:r>
          </a:p>
          <a:p>
            <a:pPr>
              <a:lnSpc>
                <a:spcPct val="103000"/>
              </a:lnSpc>
              <a:spcAft>
                <a:spcPts val="300"/>
              </a:spcAft>
              <a:defRPr sz="590">
                <a:solidFill>
                  <a:srgbClr val="21242A"/>
                </a:solidFill>
                <a:latin typeface="Microsoft YaHei"/>
              </a:defRPr>
            </a:pPr>
            <a:r>
              <a:t>ts were comparable between groups.</a:t>
            </a:r>
          </a:p>
          <a:p>
            <a:pPr>
              <a:lnSpc>
                <a:spcPct val="103000"/>
              </a:lnSpc>
              <a:spcAft>
                <a:spcPts val="300"/>
              </a:spcAft>
              <a:defRPr sz="590">
                <a:solidFill>
                  <a:srgbClr val="21242A"/>
                </a:solidFill>
                <a:latin typeface="Microsoft YaHei"/>
              </a:defRPr>
            </a:pPr>
            <a:r>
              <a:t>Given the indirect nature of comparisons and potential heterogeneity across studies, these findings should be interpreted cautiously.</a:t>
            </a:r>
          </a:p>
          <a:p>
            <a:pPr>
              <a:lnSpc>
                <a:spcPct val="103000"/>
              </a:lnSpc>
              <a:spcAft>
                <a:spcPts val="300"/>
              </a:spcAft>
              <a:defRPr sz="590">
                <a:solidFill>
                  <a:srgbClr val="21242A"/>
                </a:solidFill>
                <a:latin typeface="Microsoft YaHei"/>
              </a:defRPr>
            </a:pPr>
            <a:r>
              <a:t>Prospective randomized trials are warranted to determine the optimal CAR T-cell strategy in R/R DLBCL.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双靶点86% vs 单靶点75% (P=0.06)</a:t>
                      </a:r>
                    </a:p>
                  </a:txBody>
                  <a:tcPr>
                    <a:solidFill>
                      <a:srgbClr val="F6F8FB"/>
                    </a:solidFill>
                  </a:tcPr>
                </a:tc>
              </a:tr>
              <a:tr h="249936">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62% vs 53% (P=0.22)</a:t>
                      </a:r>
                    </a:p>
                  </a:txBody>
                  <a:tcPr>
                    <a:solidFill>
                      <a:srgbClr val="FFFFFF"/>
                    </a:solidFill>
                  </a:tcPr>
                </a:tc>
              </a:tr>
              <a:tr h="249936">
                <a:tc>
                  <a:txBody>
                    <a:bodyPr wrap="square" lIns="36576" rIns="36576" tIns="18288" bIns="18288"/>
                    <a:lstStyle/>
                    <a:p>
                      <a:r>
                        <a:rPr sz="540" b="1">
                          <a:solidFill>
                            <a:srgbClr val="21242A"/>
                          </a:solidFill>
                          <a:latin typeface="Microsoft YaHei"/>
                        </a:rPr>
                        <a:t>1年无进展生存率(PFS)</a:t>
                      </a:r>
                    </a:p>
                  </a:txBody>
                  <a:tcPr>
                    <a:solidFill>
                      <a:srgbClr val="F6F8FB"/>
                    </a:solidFill>
                  </a:tcPr>
                </a:tc>
                <a:tc>
                  <a:txBody>
                    <a:bodyPr wrap="square" lIns="36576" rIns="36576" tIns="18288" bIns="18288"/>
                    <a:lstStyle/>
                    <a:p>
                      <a:r>
                        <a:rPr sz="540" b="0">
                          <a:solidFill>
                            <a:srgbClr val="21242A"/>
                          </a:solidFill>
                          <a:latin typeface="Microsoft YaHei"/>
                        </a:rPr>
                        <a:t>67% vs 48% (P=0.23)</a:t>
                      </a:r>
                    </a:p>
                  </a:txBody>
                  <a:tcPr>
                    <a:solidFill>
                      <a:srgbClr val="F6F8FB"/>
                    </a:solidFill>
                  </a:tcPr>
                </a:tc>
              </a:tr>
              <a:tr h="249936">
                <a:tc>
                  <a:txBody>
                    <a:bodyPr wrap="square" lIns="36576" rIns="36576" tIns="18288" bIns="18288"/>
                    <a:lstStyle/>
                    <a:p>
                      <a:r>
                        <a:rPr sz="540" b="1">
                          <a:solidFill>
                            <a:srgbClr val="21242A"/>
                          </a:solidFill>
                          <a:latin typeface="Microsoft YaHei"/>
                        </a:rPr>
                        <a:t>≥3级血液学毒性</a:t>
                      </a:r>
                    </a:p>
                  </a:txBody>
                  <a:tcPr>
                    <a:solidFill>
                      <a:srgbClr val="FFFFFF"/>
                    </a:solidFill>
                  </a:tcPr>
                </a:tc>
                <a:tc>
                  <a:txBody>
                    <a:bodyPr wrap="square" lIns="36576" rIns="36576" tIns="18288" bIns="18288"/>
                    <a:lstStyle/>
                    <a:p>
                      <a:r>
                        <a:rPr sz="540" b="0">
                          <a:solidFill>
                            <a:srgbClr val="21242A"/>
                          </a:solidFill>
                          <a:latin typeface="Microsoft YaHei"/>
                        </a:rPr>
                        <a:t>81% vs 55% (P=0.02)</a:t>
                      </a:r>
                    </a:p>
                  </a:txBody>
                  <a:tcPr>
                    <a:solidFill>
                      <a:srgbClr val="FFFFFF"/>
                    </a:solidFill>
                  </a:tcPr>
                </a:tc>
              </a:tr>
              <a:tr h="249936">
                <a:tc>
                  <a:txBody>
                    <a:bodyPr wrap="square" lIns="36576" rIns="36576" tIns="18288" bIns="18288"/>
                    <a:lstStyle/>
                    <a:p>
                      <a:r>
                        <a:rPr sz="540" b="1">
                          <a:solidFill>
                            <a:srgbClr val="21242A"/>
                          </a:solidFill>
                          <a:latin typeface="Microsoft YaHei"/>
                        </a:rPr>
                        <a:t>≥3级感染</a:t>
                      </a:r>
                    </a:p>
                  </a:txBody>
                  <a:tcPr>
                    <a:solidFill>
                      <a:srgbClr val="F6F8FB"/>
                    </a:solidFill>
                  </a:tcPr>
                </a:tc>
                <a:tc>
                  <a:txBody>
                    <a:bodyPr wrap="square" lIns="36576" rIns="36576" tIns="18288" bIns="18288"/>
                    <a:lstStyle/>
                    <a:p>
                      <a:r>
                        <a:rPr sz="540" b="0">
                          <a:solidFill>
                            <a:srgbClr val="21242A"/>
                          </a:solidFill>
                          <a:latin typeface="Microsoft YaHei"/>
                        </a:rPr>
                        <a:t>4% vs 13%</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cd3xcd20双特异性抗体（bsab）单药治疗与bsab联合治疗复发/难治性大b细胞淋巴瘤的现实世界比较：美国双特异...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real-world comparison of cd3xcd20 bispecific antibody (bsab) monotherapy vs...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多组/多方案比较：试验组1：BsAb单药（glofitamab, epcoritamab, mosunetuzumab）</a:t>
            </a:r>
          </a:p>
          <a:p>
            <a:pPr>
              <a:lnSpc>
                <a:spcPct val="103000"/>
              </a:lnSpc>
              <a:spcAft>
                <a:spcPts val="300"/>
              </a:spcAft>
              <a:defRPr sz="800">
                <a:solidFill>
                  <a:srgbClr val="21242A"/>
                </a:solidFill>
                <a:latin typeface="Microsoft YaHei"/>
              </a:defRPr>
            </a:pPr>
            <a:r>
              <a:t>试验组2：BsAb联合治疗（包括BsAb-化疗、BsAb-ADC、BsAb-其他组合）</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总体缓解率（ORR）：BsAb单药组54.0%，BsAb联合组63.9%（p=0.12）</a:t>
            </a:r>
          </a:p>
          <a:p>
            <a:pPr>
              <a:lnSpc>
                <a:spcPct val="103000"/>
              </a:lnSpc>
              <a:spcAft>
                <a:spcPts val="300"/>
              </a:spcAft>
              <a:defRPr sz="800">
                <a:solidFill>
                  <a:srgbClr val="21242A"/>
                </a:solidFill>
                <a:latin typeface="Microsoft YaHei"/>
              </a:defRPr>
            </a:pPr>
            <a:r>
              <a:t>完全缓解率（CR）：BsAb单药组35.0%，BsAb联合组44.6%（p=0.12）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人数：352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试验药/方案：艾可瑞妥单抗、格菲妥单抗、莫妥珠单抗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cd3xcd20双特异性抗体（bsab）单药治疗与bsab联合治疗复发/难治性大b细胞淋巴瘤的现实世界比较：美国双特异...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real-world comparison of cd3xcd20 bispecific antibody (bsab) monotherapy vs...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CD3xCD20 bispecific antibodies (BsAb) demonstrate substantial activity in relapsed/refractory (R/R) large B-cell lymphoma (LBCL) and are being combi</a:t>
            </a:r>
          </a:p>
          <a:p>
            <a:pPr>
              <a:lnSpc>
                <a:spcPct val="103000"/>
              </a:lnSpc>
              <a:spcAft>
                <a:spcPts val="300"/>
              </a:spcAft>
              <a:defRPr sz="570">
                <a:solidFill>
                  <a:srgbClr val="21242A"/>
                </a:solidFill>
                <a:latin typeface="Microsoft YaHei"/>
              </a:defRPr>
            </a:pPr>
            <a:r>
              <a:t>ned with chemotherapy, antibody-drug conjugates (ADCs), and targeted agents; however, without prospective comparisons, real-world data are required to inform co</a:t>
            </a:r>
          </a:p>
          <a:p>
            <a:pPr>
              <a:lnSpc>
                <a:spcPct val="103000"/>
              </a:lnSpc>
              <a:spcAft>
                <a:spcPts val="300"/>
              </a:spcAft>
              <a:defRPr sz="570">
                <a:solidFill>
                  <a:srgbClr val="21242A"/>
                </a:solidFill>
                <a:latin typeface="Microsoft YaHei"/>
              </a:defRPr>
            </a:pPr>
            <a:r>
              <a:t>mparative efficacy, safety, and regimen selection.</a:t>
            </a:r>
          </a:p>
          <a:p>
            <a:pPr>
              <a:lnSpc>
                <a:spcPct val="103000"/>
              </a:lnSpc>
              <a:spcAft>
                <a:spcPts val="300"/>
              </a:spcAft>
              <a:defRPr sz="570">
                <a:solidFill>
                  <a:srgbClr val="21242A"/>
                </a:solidFill>
                <a:latin typeface="Microsoft YaHei"/>
              </a:defRPr>
            </a:pPr>
            <a:r>
              <a:t>Aims: To compare real-world efficacy and safety outcomes of BsAb monotherapy versus BsAb-based combination regimens in patients (pts) with R/R LBCL.</a:t>
            </a:r>
          </a:p>
          <a:p>
            <a:pPr>
              <a:lnSpc>
                <a:spcPct val="103000"/>
              </a:lnSpc>
              <a:spcAft>
                <a:spcPts val="300"/>
              </a:spcAft>
              <a:defRPr sz="570">
                <a:solidFill>
                  <a:srgbClr val="21242A"/>
                </a:solidFill>
                <a:latin typeface="Microsoft YaHei"/>
              </a:defRPr>
            </a:pPr>
            <a:r>
              <a:t>Methods: This CUBIC multicenter retrospective consortium study included adult pts with R/R LBCL treated with BsAb alone or in combination across 9 centers.</a:t>
            </a:r>
          </a:p>
          <a:p>
            <a:pPr>
              <a:lnSpc>
                <a:spcPct val="103000"/>
              </a:lnSpc>
              <a:spcAft>
                <a:spcPts val="300"/>
              </a:spcAft>
              <a:defRPr sz="570">
                <a:solidFill>
                  <a:srgbClr val="21242A"/>
                </a:solidFill>
                <a:latin typeface="Microsoft YaHei"/>
              </a:defRPr>
            </a:pPr>
            <a:r>
              <a:t>Endpoints included overall response rate (ORR), complete response (CR), progression-free survival (PFS), overall survival (OS), and safety outcomes of cytokine </a:t>
            </a:r>
          </a:p>
          <a:p>
            <a:pPr>
              <a:lnSpc>
                <a:spcPct val="103000"/>
              </a:lnSpc>
              <a:spcAft>
                <a:spcPts val="300"/>
              </a:spcAft>
              <a:defRPr sz="570">
                <a:solidFill>
                  <a:srgbClr val="21242A"/>
                </a:solidFill>
                <a:latin typeface="Microsoft YaHei"/>
              </a:defRPr>
            </a:pPr>
            <a:r>
              <a:t>release syndrome (CRS) and immune effector cell-associated neurotoxicity syndrome (ICANS).</a:t>
            </a:r>
          </a:p>
          <a:p>
            <a:pPr>
              <a:lnSpc>
                <a:spcPct val="103000"/>
              </a:lnSpc>
              <a:spcAft>
                <a:spcPts val="300"/>
              </a:spcAft>
              <a:defRPr sz="570">
                <a:solidFill>
                  <a:srgbClr val="21242A"/>
                </a:solidFill>
                <a:latin typeface="Microsoft YaHei"/>
              </a:defRPr>
            </a:pPr>
            <a:r>
              <a:t>Multivariable logistic regression and Cox proportional hazards models adjusted for age, sex, ECOG status, stage, extranodal involvement, lactate dehydrogenase (</a:t>
            </a:r>
          </a:p>
          <a:p>
            <a:pPr>
              <a:lnSpc>
                <a:spcPct val="103000"/>
              </a:lnSpc>
              <a:spcAft>
                <a:spcPts val="300"/>
              </a:spcAft>
              <a:defRPr sz="570">
                <a:solidFill>
                  <a:srgbClr val="21242A"/>
                </a:solidFill>
                <a:latin typeface="Microsoft YaHei"/>
              </a:defRPr>
            </a:pPr>
            <a:r>
              <a:t>LDH), line of therapy, prior chimeric antigen receptor T-cell (CAR-T), and treatment regimen.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large real-world multicenter consortium analysis, BsAb-combination approaches demonstrated numerically higher response rates, with significantly higher </a:t>
            </a:r>
          </a:p>
          <a:p>
            <a:pPr>
              <a:lnSpc>
                <a:spcPct val="103000"/>
              </a:lnSpc>
              <a:spcAft>
                <a:spcPts val="300"/>
              </a:spcAft>
              <a:defRPr sz="590">
                <a:solidFill>
                  <a:srgbClr val="21242A"/>
                </a:solidFill>
                <a:latin typeface="Microsoft YaHei"/>
              </a:defRPr>
            </a:pPr>
            <a:r>
              <a:t>CR observed with BsAb-ADC combinations vs monotherapy after adjustment for baseline factors.</a:t>
            </a:r>
          </a:p>
          <a:p>
            <a:pPr>
              <a:lnSpc>
                <a:spcPct val="103000"/>
              </a:lnSpc>
              <a:spcAft>
                <a:spcPts val="300"/>
              </a:spcAft>
              <a:defRPr sz="590">
                <a:solidFill>
                  <a:srgbClr val="21242A"/>
                </a:solidFill>
                <a:latin typeface="Microsoft YaHei"/>
              </a:defRPr>
            </a:pPr>
            <a:r>
              <a:t>Safety profiles and early survival were comparable across treatment strategies.</a:t>
            </a:r>
          </a:p>
          <a:p>
            <a:pPr>
              <a:lnSpc>
                <a:spcPct val="103000"/>
              </a:lnSpc>
              <a:spcAft>
                <a:spcPts val="300"/>
              </a:spcAft>
              <a:defRPr sz="590">
                <a:solidFill>
                  <a:srgbClr val="21242A"/>
                </a:solidFill>
                <a:latin typeface="Microsoft YaHei"/>
              </a:defRPr>
            </a:pPr>
            <a:r>
              <a:t>Limitations include short follow-up and small sample sizes in the BsAb-combination subgroups.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总体缓解率（ORR）</a:t>
                      </a:r>
                    </a:p>
                  </a:txBody>
                  <a:tcPr>
                    <a:solidFill>
                      <a:srgbClr val="F6F8FB"/>
                    </a:solidFill>
                  </a:tcPr>
                </a:tc>
                <a:tc>
                  <a:txBody>
                    <a:bodyPr wrap="square" lIns="36576" rIns="36576" tIns="18288" bIns="18288"/>
                    <a:lstStyle/>
                    <a:p>
                      <a:r>
                        <a:rPr sz="540" b="0">
                          <a:solidFill>
                            <a:srgbClr val="21242A"/>
                          </a:solidFill>
                          <a:latin typeface="Microsoft YaHei"/>
                        </a:rPr>
                        <a:t>BsAb单药组54.0%，BsAb联合组63.9%（p=0.12）</a:t>
                      </a:r>
                    </a:p>
                  </a:txBody>
                  <a:tcPr>
                    <a:solidFill>
                      <a:srgbClr val="F6F8FB"/>
                    </a:solidFill>
                  </a:tcPr>
                </a:tc>
              </a:tr>
              <a:tr h="166624">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BsAb单药组35.0%，BsAb联合组44.6%（p=0.12）；多因素分析中BsAb-ADC组较单药组CR优势显著（OR 3.21, p=0.026）</a:t>
                      </a:r>
                    </a:p>
                  </a:txBody>
                  <a:tcPr>
                    <a:solidFill>
                      <a:srgbClr val="FFFFFF"/>
                    </a:solidFill>
                  </a:tcPr>
                </a:tc>
              </a:tr>
              <a:tr h="166624">
                <a:tc>
                  <a:txBody>
                    <a:bodyPr wrap="square" lIns="36576" rIns="36576" tIns="18288" bIns="18288"/>
                    <a:lstStyle/>
                    <a:p>
                      <a:r>
                        <a:rPr sz="540" b="1">
                          <a:solidFill>
                            <a:srgbClr val="21242A"/>
                          </a:solidFill>
                          <a:latin typeface="Microsoft YaHei"/>
                        </a:rPr>
                        <a:t>无进展生存期（PFS）</a:t>
                      </a:r>
                    </a:p>
                  </a:txBody>
                  <a:tcPr>
                    <a:solidFill>
                      <a:srgbClr val="F6F8FB"/>
                    </a:solidFill>
                  </a:tcPr>
                </a:tc>
                <a:tc>
                  <a:txBody>
                    <a:bodyPr wrap="square" lIns="36576" rIns="36576" tIns="18288" bIns="18288"/>
                    <a:lstStyle/>
                    <a:p>
                      <a:r>
                        <a:rPr sz="540" b="0">
                          <a:solidFill>
                            <a:srgbClr val="21242A"/>
                          </a:solidFill>
                          <a:latin typeface="Microsoft YaHei"/>
                        </a:rPr>
                        <a:t>未报告具体数值，多因素分析显示治疗策略与PFS无独立关联</a:t>
                      </a:r>
                    </a:p>
                  </a:txBody>
                  <a:tcPr>
                    <a:solidFill>
                      <a:srgbClr val="F6F8FB"/>
                    </a:solidFill>
                  </a:tcPr>
                </a:tc>
              </a:tr>
              <a:tr h="166624">
                <a:tc>
                  <a:txBody>
                    <a:bodyPr wrap="square" lIns="36576" rIns="36576" tIns="18288" bIns="18288"/>
                    <a:lstStyle/>
                    <a:p>
                      <a:r>
                        <a:rPr sz="540" b="1">
                          <a:solidFill>
                            <a:srgbClr val="21242A"/>
                          </a:solidFill>
                          <a:latin typeface="Microsoft YaHei"/>
                        </a:rPr>
                        <a:t>总生存期（OS）</a:t>
                      </a:r>
                    </a:p>
                  </a:txBody>
                  <a:tcPr>
                    <a:solidFill>
                      <a:srgbClr val="FFFFFF"/>
                    </a:solidFill>
                  </a:tcPr>
                </a:tc>
                <a:tc>
                  <a:txBody>
                    <a:bodyPr wrap="square" lIns="36576" rIns="36576" tIns="18288" bIns="18288"/>
                    <a:lstStyle/>
                    <a:p>
                      <a:r>
                        <a:rPr sz="540" b="0">
                          <a:solidFill>
                            <a:srgbClr val="21242A"/>
                          </a:solidFill>
                          <a:latin typeface="Microsoft YaHei"/>
                        </a:rPr>
                        <a:t>未报告具体数值，多因素分析显示治疗策略与OS无独立关联</a:t>
                      </a:r>
                    </a:p>
                  </a:txBody>
                  <a:tcPr>
                    <a:solidFill>
                      <a:srgbClr val="FFFFFF"/>
                    </a:solidFill>
                  </a:tcPr>
                </a:tc>
              </a:tr>
              <a:tr h="166624">
                <a:tc>
                  <a:txBody>
                    <a:bodyPr wrap="square" lIns="36576" rIns="36576" tIns="18288" bIns="18288"/>
                    <a:lstStyle/>
                    <a:p>
                      <a:r>
                        <a:rPr sz="540" b="1">
                          <a:solidFill>
                            <a:srgbClr val="21242A"/>
                          </a:solidFill>
                          <a:latin typeface="Microsoft YaHei"/>
                        </a:rPr>
                        <a:t>细胞因子释放综合征（CRS）</a:t>
                      </a:r>
                    </a:p>
                  </a:txBody>
                  <a:tcPr>
                    <a:solidFill>
                      <a:srgbClr val="F6F8FB"/>
                    </a:solidFill>
                  </a:tcPr>
                </a:tc>
                <a:tc>
                  <a:txBody>
                    <a:bodyPr wrap="square" lIns="36576" rIns="36576" tIns="18288" bIns="18288"/>
                    <a:lstStyle/>
                    <a:p>
                      <a:r>
                        <a:rPr sz="540" b="0">
                          <a:solidFill>
                            <a:srgbClr val="21242A"/>
                          </a:solidFill>
                          <a:latin typeface="Microsoft YaHei"/>
                        </a:rPr>
                        <a:t>BsAb单药组38.8%，BsAb联合组31.5%（p&gt;0.05）</a:t>
                      </a:r>
                    </a:p>
                  </a:txBody>
                  <a:tcPr>
                    <a:solidFill>
                      <a:srgbClr val="F6F8FB"/>
                    </a:solidFill>
                  </a:tcPr>
                </a:tc>
              </a:tr>
              <a:tr h="166624">
                <a:tc>
                  <a:txBody>
                    <a:bodyPr wrap="square" lIns="36576" rIns="36576" tIns="18288" bIns="18288"/>
                    <a:lstStyle/>
                    <a:p>
                      <a:r>
                        <a:rPr sz="540" b="1">
                          <a:solidFill>
                            <a:srgbClr val="21242A"/>
                          </a:solidFill>
                          <a:latin typeface="Microsoft YaHei"/>
                        </a:rPr>
                        <a:t>免疫效应细胞相关神经毒性综合征（ICANS）</a:t>
                      </a:r>
                    </a:p>
                  </a:txBody>
                  <a:tcPr>
                    <a:solidFill>
                      <a:srgbClr val="FFFFFF"/>
                    </a:solidFill>
                  </a:tcPr>
                </a:tc>
                <a:tc>
                  <a:txBody>
                    <a:bodyPr wrap="square" lIns="36576" rIns="36576" tIns="18288" bIns="18288"/>
                    <a:lstStyle/>
                    <a:p>
                      <a:r>
                        <a:rPr sz="540" b="0">
                          <a:solidFill>
                            <a:srgbClr val="21242A"/>
                          </a:solidFill>
                          <a:latin typeface="Microsoft YaHei"/>
                        </a:rPr>
                        <a:t>BsAb单药组13.1%，BsAb联合组12.6%（p&gt;0.05）</a:t>
                      </a:r>
                    </a:p>
                  </a:txBody>
                  <a:tcPr>
                    <a:solidFill>
                      <a:srgbClr val="FFFFFF"/>
                    </a:solidFill>
                  </a:tcPr>
                </a:tc>
              </a:tr>
              <a:tr h="166624">
                <a:tc>
                  <a:txBody>
                    <a:bodyPr wrap="square" lIns="36576" rIns="36576" tIns="18288" bIns="18288"/>
                    <a:lstStyle/>
                    <a:p>
                      <a:r>
                        <a:rPr sz="540" b="1">
                          <a:solidFill>
                            <a:srgbClr val="21242A"/>
                          </a:solidFill>
                          <a:latin typeface="Microsoft YaHei"/>
                        </a:rPr>
                        <a:t>治疗后感染</a:t>
                      </a:r>
                    </a:p>
                  </a:txBody>
                  <a:tcPr>
                    <a:solidFill>
                      <a:srgbClr val="F6F8FB"/>
                    </a:solidFill>
                  </a:tcPr>
                </a:tc>
                <a:tc>
                  <a:txBody>
                    <a:bodyPr wrap="square" lIns="36576" rIns="36576" tIns="18288" bIns="18288"/>
                    <a:lstStyle/>
                    <a:p>
                      <a:r>
                        <a:rPr sz="540" b="0">
                          <a:solidFill>
                            <a:srgbClr val="21242A"/>
                          </a:solidFill>
                          <a:latin typeface="Microsoft YaHei"/>
                        </a:rPr>
                        <a:t>BsAb单药组33.6%，BsAb联合组30.0%（p&gt;0.05）</a:t>
                      </a:r>
                    </a:p>
                  </a:txBody>
                  <a:tcPr>
                    <a:solidFill>
                      <a:srgbClr val="F6F8FB"/>
                    </a:solidFill>
                  </a:tcPr>
                </a:tc>
              </a:tr>
              <a:tr h="166624">
                <a:tc>
                  <a:txBody>
                    <a:bodyPr wrap="square" lIns="36576" rIns="36576" tIns="18288" bIns="18288"/>
                    <a:lstStyle/>
                    <a:p>
                      <a:r>
                        <a:rPr sz="540" b="1">
                          <a:solidFill>
                            <a:srgbClr val="21242A"/>
                          </a:solidFill>
                          <a:latin typeface="Microsoft YaHei"/>
                        </a:rPr>
                        <a:t>ICU入住率</a:t>
                      </a:r>
                    </a:p>
                  </a:txBody>
                  <a:tcPr>
                    <a:solidFill>
                      <a:srgbClr val="FFFFFF"/>
                    </a:solidFill>
                  </a:tcPr>
                </a:tc>
                <a:tc>
                  <a:txBody>
                    <a:bodyPr wrap="square" lIns="36576" rIns="36576" tIns="18288" bIns="18288"/>
                    <a:lstStyle/>
                    <a:p>
                      <a:r>
                        <a:rPr sz="540" b="0">
                          <a:solidFill>
                            <a:srgbClr val="21242A"/>
                          </a:solidFill>
                          <a:latin typeface="Microsoft YaHei"/>
                        </a:rPr>
                        <a:t>BsAb单药组15.2%，BsAb联合组12.5%（p&gt;0.05）</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N=338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多组/多方案比较：试验组1：总体，药物：tafasitamab、axicabtagene ciloleucel、lisocab...</a:t>
            </a:r>
          </a:p>
          <a:p>
            <a:pPr>
              <a:lnSpc>
                <a:spcPct val="103000"/>
              </a:lnSpc>
              <a:spcAft>
                <a:spcPts val="300"/>
              </a:spcAft>
              <a:defRPr sz="800">
                <a:solidFill>
                  <a:srgbClr val="21242A"/>
                </a:solidFill>
                <a:latin typeface="Microsoft YaHei"/>
              </a:defRPr>
            </a:pPr>
            <a:r>
              <a:t>试验组2：二线CAR-T（tafa作为桥接），药物：tafasitamab、CAR-T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客观缓解率（ORR）：81.1%（338例中274例）</a:t>
            </a:r>
          </a:p>
          <a:p>
            <a:pPr>
              <a:lnSpc>
                <a:spcPct val="103000"/>
              </a:lnSpc>
              <a:spcAft>
                <a:spcPts val="300"/>
              </a:spcAft>
              <a:defRPr sz="800">
                <a:solidFill>
                  <a:srgbClr val="21242A"/>
                </a:solidFill>
                <a:latin typeface="Microsoft YaHei"/>
              </a:defRPr>
            </a:pPr>
            <a:r>
              <a:t>完全缓解率（CR）：58.6%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人数：338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maraleucel、Tisagenlecleucel、坦昔妥单抗</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expanding landscape of CD19-directed therapies for DLBCL, including tafa and CAR-T, holds promise for patients (pts).</a:t>
            </a:r>
          </a:p>
          <a:p>
            <a:pPr>
              <a:lnSpc>
                <a:spcPct val="103000"/>
              </a:lnSpc>
              <a:spcAft>
                <a:spcPts val="300"/>
              </a:spcAft>
              <a:defRPr sz="570">
                <a:solidFill>
                  <a:srgbClr val="21242A"/>
                </a:solidFill>
                <a:latin typeface="Microsoft YaHei"/>
              </a:defRPr>
            </a:pPr>
            <a:r>
              <a:t>However, there exist theoretical concerns that prior exposure to anti-CD19 therapy may compromise the efficacy of subsequent treatment with CAR-T.</a:t>
            </a:r>
          </a:p>
          <a:p>
            <a:pPr>
              <a:lnSpc>
                <a:spcPct val="103000"/>
              </a:lnSpc>
              <a:spcAft>
                <a:spcPts val="300"/>
              </a:spcAft>
              <a:defRPr sz="570">
                <a:solidFill>
                  <a:srgbClr val="21242A"/>
                </a:solidFill>
                <a:latin typeface="Microsoft YaHei"/>
              </a:defRPr>
            </a:pPr>
            <a:r>
              <a:t>Several studies have demonstrated retention of CD19 expression following the use of tafa, with limited evidence on the effectiveness and safety of sequential us</a:t>
            </a:r>
          </a:p>
          <a:p>
            <a:pPr>
              <a:lnSpc>
                <a:spcPct val="103000"/>
              </a:lnSpc>
              <a:spcAft>
                <a:spcPts val="300"/>
              </a:spcAft>
              <a:defRPr sz="570">
                <a:solidFill>
                  <a:srgbClr val="21242A"/>
                </a:solidFill>
                <a:latin typeface="Microsoft YaHei"/>
              </a:defRPr>
            </a:pPr>
            <a:r>
              <a:t>e of CAR-T post tafa.</a:t>
            </a:r>
          </a:p>
          <a:p>
            <a:pPr>
              <a:lnSpc>
                <a:spcPct val="103000"/>
              </a:lnSpc>
              <a:spcAft>
                <a:spcPts val="300"/>
              </a:spcAft>
              <a:defRPr sz="570">
                <a:solidFill>
                  <a:srgbClr val="21242A"/>
                </a:solidFill>
                <a:latin typeface="Microsoft YaHei"/>
              </a:defRPr>
            </a:pPr>
            <a:r>
              <a:t>Aims: Assess effectiveness and safety of CAR-T post tafa among adult pts with R/R DLBCL.</a:t>
            </a:r>
          </a:p>
          <a:p>
            <a:pPr>
              <a:lnSpc>
                <a:spcPct val="103000"/>
              </a:lnSpc>
              <a:spcAft>
                <a:spcPts val="300"/>
              </a:spcAft>
              <a:defRPr sz="570">
                <a:solidFill>
                  <a:srgbClr val="21242A"/>
                </a:solidFill>
                <a:latin typeface="Microsoft YaHei"/>
              </a:defRPr>
            </a:pPr>
            <a:r>
              <a:t>Methods: A retrospective, US and EU panel-based chart review collected data for adults with R/R DLBCL who received tafa (± lenalidomide) and also subsequent CAR</a:t>
            </a:r>
          </a:p>
          <a:p>
            <a:pPr>
              <a:lnSpc>
                <a:spcPct val="103000"/>
              </a:lnSpc>
              <a:spcAft>
                <a:spcPts val="300"/>
              </a:spcAft>
              <a:defRPr sz="570">
                <a:solidFill>
                  <a:srgbClr val="21242A"/>
                </a:solidFill>
                <a:latin typeface="Microsoft YaHei"/>
              </a:defRPr>
            </a:pPr>
            <a:r>
              <a:t>-T (index date) in second line (2L)/3L/4L.</a:t>
            </a:r>
          </a:p>
          <a:p>
            <a:pPr>
              <a:lnSpc>
                <a:spcPct val="103000"/>
              </a:lnSpc>
              <a:spcAft>
                <a:spcPts val="300"/>
              </a:spcAft>
              <a:defRPr sz="570">
                <a:solidFill>
                  <a:srgbClr val="21242A"/>
                </a:solidFill>
                <a:latin typeface="Microsoft YaHei"/>
              </a:defRPr>
            </a:pPr>
            <a:r>
              <a:t>Pts had to have at least 6 months of follow-up post CAR-T except in the event of death; pts were followed until the earlier of either start of new anticancer th</a:t>
            </a:r>
          </a:p>
          <a:p>
            <a:pPr>
              <a:lnSpc>
                <a:spcPct val="103000"/>
              </a:lnSpc>
              <a:spcAft>
                <a:spcPts val="300"/>
              </a:spcAft>
              <a:defRPr sz="570">
                <a:solidFill>
                  <a:srgbClr val="21242A"/>
                </a:solidFill>
                <a:latin typeface="Microsoft YaHei"/>
              </a:defRPr>
            </a:pPr>
            <a:r>
              <a:t>erapy after CAR-T, end of data availability, or death.</a:t>
            </a:r>
          </a:p>
          <a:p>
            <a:pPr>
              <a:lnSpc>
                <a:spcPct val="103000"/>
              </a:lnSpc>
              <a:spcAft>
                <a:spcPts val="300"/>
              </a:spcAft>
              <a:defRPr sz="570">
                <a:solidFill>
                  <a:srgbClr val="21242A"/>
                </a:solidFill>
                <a:latin typeface="Microsoft YaHei"/>
              </a:defRPr>
            </a:pPr>
            <a:r>
              <a:t>Outcomes were overall response rate to CAR-T (ORR, proportion of pts with physician-assessed complete/partial response [CR/PR]), proportion of pts with cytokine</a:t>
            </a:r>
          </a:p>
          <a:p>
            <a:pPr>
              <a:lnSpc>
                <a:spcPct val="103000"/>
              </a:lnSpc>
              <a:spcAft>
                <a:spcPts val="300"/>
              </a:spcAft>
              <a:defRPr sz="570">
                <a:solidFill>
                  <a:srgbClr val="21242A"/>
                </a:solidFill>
                <a:latin typeface="Microsoft YaHei"/>
              </a:defRPr>
            </a:pPr>
            <a:r>
              <a:t> release syndrome (CRS) within 6 weeks, and immune effector cell–associated neurotoxicity syndrome ( ICANS) within 3 months after CAR-T.</a:t>
            </a:r>
          </a:p>
          <a:p>
            <a:pPr>
              <a:lnSpc>
                <a:spcPct val="103000"/>
              </a:lnSpc>
              <a:spcAft>
                <a:spcPts val="300"/>
              </a:spcAft>
              <a:defRPr sz="570">
                <a:solidFill>
                  <a:srgbClr val="21242A"/>
                </a:solidFill>
                <a:latin typeface="Microsoft YaHei"/>
              </a:defRPr>
            </a:pPr>
            <a:r>
              <a:t>Outcomes were reported overall, by CAR-T line, and by tafa/CAR-T treatment sequence.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large, global, real-world study shows that prior exposure to tafa does not appear to adversely affect the effectiveness nor safety of subsequent CAR-T ther</a:t>
            </a:r>
          </a:p>
          <a:p>
            <a:pPr>
              <a:lnSpc>
                <a:spcPct val="103000"/>
              </a:lnSpc>
              <a:spcAft>
                <a:spcPts val="300"/>
              </a:spcAft>
              <a:defRPr sz="590">
                <a:solidFill>
                  <a:srgbClr val="21242A"/>
                </a:solidFill>
                <a:latin typeface="Microsoft YaHei"/>
              </a:defRPr>
            </a:pPr>
            <a:r>
              <a:t>apy in patients with R/R DLBCL.</a:t>
            </a:r>
          </a:p>
          <a:p>
            <a:pPr>
              <a:lnSpc>
                <a:spcPct val="103000"/>
              </a:lnSpc>
              <a:spcAft>
                <a:spcPts val="300"/>
              </a:spcAft>
              <a:defRPr sz="590">
                <a:solidFill>
                  <a:srgbClr val="21242A"/>
                </a:solidFill>
                <a:latin typeface="Microsoft YaHei"/>
              </a:defRPr>
            </a:pPr>
            <a:r>
              <a:t>These results are particularly relevant with recent phase 3 data for tafa in the front‑line setting of DLBCL.</a:t>
            </a:r>
          </a:p>
          <a:p>
            <a:pPr>
              <a:lnSpc>
                <a:spcPct val="103000"/>
              </a:lnSpc>
              <a:spcAft>
                <a:spcPts val="300"/>
              </a:spcAft>
              <a:defRPr sz="590">
                <a:solidFill>
                  <a:srgbClr val="21242A"/>
                </a:solidFill>
                <a:latin typeface="Microsoft YaHei"/>
              </a:defRPr>
            </a:pPr>
            <a:r>
              <a:t>While these real-world study findings should be interpreted in the context of an observational cohort, they support tafa followed by CAR-T therapy as a feasible</a:t>
            </a:r>
          </a:p>
          <a:p>
            <a:pPr>
              <a:lnSpc>
                <a:spcPct val="103000"/>
              </a:lnSpc>
              <a:spcAft>
                <a:spcPts val="300"/>
              </a:spcAft>
              <a:defRPr sz="590">
                <a:solidFill>
                  <a:srgbClr val="21242A"/>
                </a:solidFill>
                <a:latin typeface="Microsoft YaHei"/>
              </a:defRPr>
            </a:pPr>
            <a:r>
              <a:t> and potentially favorable sequencing strategy.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338 pt charts (US: 168 [49.7%]; EU: 170 [50.3%]) were abstracted by 145 physicians (US: 73 [50.3%]; EU: 72 [49.7%]).</a:t>
            </a:r>
          </a:p>
          <a:p>
            <a:pPr>
              <a:lnSpc>
                <a:spcPct val="103000"/>
              </a:lnSpc>
              <a:spcAft>
                <a:spcPts val="300"/>
              </a:spcAft>
              <a:defRPr sz="580">
                <a:solidFill>
                  <a:srgbClr val="21242A"/>
                </a:solidFill>
                <a:latin typeface="Microsoft YaHei"/>
              </a:defRPr>
            </a:pPr>
            <a:r>
              <a:t>Pts were 66.0% male with median (IQR) age 61.5 (55.1, 67.4) years at CAR-T infusion, 51.2% had double/triple-hit disease, 72.8% were primary refractory, an</a:t>
            </a:r>
          </a:p>
          <a:p>
            <a:pPr>
              <a:lnSpc>
                <a:spcPct val="103000"/>
              </a:lnSpc>
              <a:spcAft>
                <a:spcPts val="300"/>
              </a:spcAft>
              <a:defRPr sz="580">
                <a:solidFill>
                  <a:srgbClr val="21242A"/>
                </a:solidFill>
                <a:latin typeface="Microsoft YaHei"/>
              </a:defRPr>
            </a:pPr>
            <a:r>
              <a:t>d 53.0% had revised International Prognostic Index score ≥3.</a:t>
            </a:r>
          </a:p>
          <a:p>
            <a:pPr>
              <a:lnSpc>
                <a:spcPct val="103000"/>
              </a:lnSpc>
              <a:spcAft>
                <a:spcPts val="300"/>
              </a:spcAft>
              <a:defRPr sz="580">
                <a:solidFill>
                  <a:srgbClr val="21242A"/>
                </a:solidFill>
                <a:latin typeface="Microsoft YaHei"/>
              </a:defRPr>
            </a:pPr>
            <a:r>
              <a:t>\n Most pts received axicabtagene ciloleucel (65.1%), followed by lisocabtagene maraleucel (21.9%) and tisagenlecleucel (13.0%) CAR-T.</a:t>
            </a:r>
          </a:p>
          <a:p>
            <a:pPr>
              <a:lnSpc>
                <a:spcPct val="103000"/>
              </a:lnSpc>
              <a:spcAft>
                <a:spcPts val="300"/>
              </a:spcAft>
              <a:defRPr sz="580">
                <a:solidFill>
                  <a:srgbClr val="21242A"/>
                </a:solidFill>
                <a:latin typeface="Microsoft YaHei"/>
              </a:defRPr>
            </a:pPr>
            <a:r>
              <a:t>Median (IQR) time from the last tafa dose until CAR-T was 1.2 (0.6-2.3) months; follow-up time post CAR-T was 7.4 (3.3-10.6) months; and 73.1% were still a</a:t>
            </a:r>
          </a:p>
          <a:p>
            <a:pPr>
              <a:lnSpc>
                <a:spcPct val="103000"/>
              </a:lnSpc>
              <a:spcAft>
                <a:spcPts val="300"/>
              </a:spcAft>
              <a:defRPr sz="580">
                <a:solidFill>
                  <a:srgbClr val="21242A"/>
                </a:solidFill>
                <a:latin typeface="Microsoft YaHei"/>
              </a:defRPr>
            </a:pPr>
            <a:r>
              <a:t>live at the time of last contact.</a:t>
            </a:r>
          </a:p>
          <a:p>
            <a:pPr>
              <a:lnSpc>
                <a:spcPct val="103000"/>
              </a:lnSpc>
              <a:spcAft>
                <a:spcPts val="300"/>
              </a:spcAft>
              <a:defRPr sz="580">
                <a:solidFill>
                  <a:srgbClr val="21242A"/>
                </a:solidFill>
                <a:latin typeface="Microsoft YaHei"/>
              </a:defRPr>
            </a:pPr>
            <a:r>
              <a:t>\n Overall, ORR for CAR-T was 81.1%, and grade ≥3 (severe) CRS and ICANS occurred in 7.4% and 3.8% of pts, respectively.</a:t>
            </a:r>
          </a:p>
          <a:p>
            <a:pPr>
              <a:lnSpc>
                <a:spcPct val="103000"/>
              </a:lnSpc>
              <a:spcAft>
                <a:spcPts val="300"/>
              </a:spcAft>
              <a:defRPr sz="580">
                <a:solidFill>
                  <a:srgbClr val="21242A"/>
                </a:solidFill>
                <a:latin typeface="Microsoft YaHei"/>
              </a:defRPr>
            </a:pPr>
            <a:r>
              <a:t>ORR by CAR-T line and the observed tafa/CAR-T treatment sequences are reported in the Table. CRS and ICANS by CAR-T line are reported in the Figure .</a:t>
            </a:r>
          </a:p>
          <a:p>
            <a:pPr>
              <a:lnSpc>
                <a:spcPct val="103000"/>
              </a:lnSpc>
              <a:spcAft>
                <a:spcPts val="300"/>
              </a:spcAft>
              <a:defRPr sz="580">
                <a:solidFill>
                  <a:srgbClr val="21242A"/>
                </a:solidFill>
                <a:latin typeface="Microsoft YaHei"/>
              </a:defRPr>
            </a:pPr>
            <a:r>
              <a:t>\n Table.</a:t>
            </a:r>
          </a:p>
          <a:p>
            <a:pPr>
              <a:lnSpc>
                <a:spcPct val="103000"/>
              </a:lnSpc>
              <a:spcAft>
                <a:spcPts val="300"/>
              </a:spcAft>
              <a:defRPr sz="580">
                <a:solidFill>
                  <a:srgbClr val="21242A"/>
                </a:solidFill>
                <a:latin typeface="Microsoft YaHei"/>
              </a:defRPr>
            </a:pPr>
            <a:r>
              <a:t>ORR to CAR-T by CAR-T line and treatment sequence \n \n \n \n \n \n N \n \n \n ORR, n (%) \n \n \n CR, n (%) \n \n \n PR, n (%) \n \n \n \n \n Overall \n \</a:t>
            </a:r>
          </a:p>
          <a:p>
            <a:pPr>
              <a:lnSpc>
                <a:spcPct val="103000"/>
              </a:lnSpc>
              <a:spcAft>
                <a:spcPts val="300"/>
              </a:spcAft>
              <a:defRPr sz="580">
                <a:solidFill>
                  <a:srgbClr val="21242A"/>
                </a:solidFill>
                <a:latin typeface="Microsoft YaHei"/>
              </a:defRPr>
            </a:pPr>
            <a:r>
              <a:t>n \n 338 \n \n \n 274 (81.1) \n \n \n 198 (58.6) \n \n \n 76 (22.5) \n \n \n \n \n 2L CAR-T (tafa as bridge) * \n \n \n 37 \n \n \n 34 (91.9) \n \n \n 22 (</a:t>
            </a:r>
          </a:p>
          <a:p>
            <a:pPr>
              <a:lnSpc>
                <a:spcPct val="103000"/>
              </a:lnSpc>
              <a:spcAft>
                <a:spcPts val="300"/>
              </a:spcAft>
              <a:defRPr sz="580">
                <a:solidFill>
                  <a:srgbClr val="21242A"/>
                </a:solidFill>
                <a:latin typeface="Microsoft YaHei"/>
              </a:defRPr>
            </a:pPr>
            <a:r>
              <a:t>59.5) \n \n \n 12 (32.4) \n \n \n \n \n 3L CAR-T 2L tafa Tafa as bridge 2L tafa + bridge † \n \n \n 243 178 32 33 \n \n \n 195 (80.2) 142 (79.8) 27 (84.4) </a:t>
            </a:r>
          </a:p>
          <a:p>
            <a:pPr>
              <a:lnSpc>
                <a:spcPct val="103000"/>
              </a:lnSpc>
              <a:spcAft>
                <a:spcPts val="300"/>
              </a:spcAft>
              <a:defRPr sz="580">
                <a:solidFill>
                  <a:srgbClr val="21242A"/>
                </a:solidFill>
                <a:latin typeface="Microsoft YaHei"/>
              </a:defRPr>
            </a:pPr>
            <a:r>
              <a:t>26 (78.8) \n \n 146 (60.1) 112 (62.9) 16 (50.0) 18 (54.5) \n 49 (20.2) 30 (16.9) 11 (34.4) 8 (24.2) \n \n \n \n 4L CAR-T 2L tafa 3L tafa Tafa as bridge 3L </a:t>
            </a:r>
          </a:p>
          <a:p>
            <a:pPr>
              <a:lnSpc>
                <a:spcPct val="103000"/>
              </a:lnSpc>
              <a:spcAft>
                <a:spcPts val="300"/>
              </a:spcAft>
              <a:defRPr sz="580">
                <a:solidFill>
                  <a:srgbClr val="21242A"/>
                </a:solidFill>
                <a:latin typeface="Microsoft YaHei"/>
              </a:defRPr>
            </a:pPr>
            <a:r>
              <a:t>tafa + bridge † \n \n 58 31 14 3 10 \n 45 (77.6) 23 (74.2) 13 (92.9) 1 (33.3) 8 (80.0) \n 30 (51.7) 16 (51.6) 8 (57.1) 0 (0.0) 6 (60.0) \n 15 (25.9) 7 (22.</a:t>
            </a:r>
          </a:p>
          <a:p>
            <a:pPr>
              <a:lnSpc>
                <a:spcPct val="103000"/>
              </a:lnSpc>
              <a:spcAft>
                <a:spcPts val="300"/>
              </a:spcAft>
              <a:defRPr sz="580">
                <a:solidFill>
                  <a:srgbClr val="21242A"/>
                </a:solidFill>
                <a:latin typeface="Microsoft YaHei"/>
              </a:defRPr>
            </a:pPr>
            <a:r>
              <a:t>6) 5 (35.7) 1 (33.3) 2 (20.0) \n \n \n \n * A ll pts received tafa as bridging therapy to CAR-T.</a:t>
            </a:r>
          </a:p>
          <a:p>
            <a:pPr>
              <a:lnSpc>
                <a:spcPct val="103000"/>
              </a:lnSpc>
              <a:spcAft>
                <a:spcPts val="300"/>
              </a:spcAft>
              <a:defRPr sz="580">
                <a:solidFill>
                  <a:srgbClr val="21242A"/>
                </a:solidFill>
                <a:latin typeface="Microsoft YaHei"/>
              </a:defRPr>
            </a:pPr>
            <a:r>
              <a:t>\n † Tafa was used both as line of therapy and as bridging therapy to CAR-T.</a:t>
            </a:r>
          </a:p>
          <a:p>
            <a:pPr>
              <a:lnSpc>
                <a:spcPct val="103000"/>
              </a:lnSpc>
              <a:spcAft>
                <a:spcPts val="300"/>
              </a:spcAft>
              <a:defRPr sz="580">
                <a:solidFill>
                  <a:srgbClr val="21242A"/>
                </a:solidFill>
                <a:latin typeface="Microsoft YaHei"/>
              </a:defRPr>
            </a:pPr>
            <a:r>
              <a:t>Conclusion: This large, global, real-world study shows that prior exposure to tafa does not appear to adversely affect the effectiveness nor safety of subs</a:t>
            </a:r>
          </a:p>
          <a:p>
            <a:pPr>
              <a:lnSpc>
                <a:spcPct val="103000"/>
              </a:lnSpc>
              <a:spcAft>
                <a:spcPts val="300"/>
              </a:spcAft>
              <a:defRPr sz="580">
                <a:solidFill>
                  <a:srgbClr val="21242A"/>
                </a:solidFill>
                <a:latin typeface="Microsoft YaHei"/>
              </a:defRPr>
            </a:pPr>
            <a:r>
              <a:t>equent CAR-T therapy in patients with R/R DLBCL.</a:t>
            </a:r>
          </a:p>
          <a:p>
            <a:pPr>
              <a:lnSpc>
                <a:spcPct val="103000"/>
              </a:lnSpc>
              <a:spcAft>
                <a:spcPts val="300"/>
              </a:spcAft>
              <a:defRPr sz="580">
                <a:solidFill>
                  <a:srgbClr val="21242A"/>
                </a:solidFill>
                <a:latin typeface="Microsoft YaHei"/>
              </a:defRPr>
            </a:pPr>
            <a:r>
              <a:t>These results are particularly relevant with recent phase 3 data for tafa in the front‑line setting of DLBCL.</a:t>
            </a:r>
          </a:p>
          <a:p>
            <a:pPr>
              <a:lnSpc>
                <a:spcPct val="103000"/>
              </a:lnSpc>
              <a:spcAft>
                <a:spcPts val="300"/>
              </a:spcAft>
              <a:defRPr sz="580">
                <a:solidFill>
                  <a:srgbClr val="21242A"/>
                </a:solidFill>
                <a:latin typeface="Microsoft YaHei"/>
              </a:defRPr>
            </a:pPr>
            <a:r>
              <a:t>While these real-world study findings should be interpreted in the context of an observational cohort, they support tafa followed by CAR-T therapy as a fea</a:t>
            </a:r>
          </a:p>
          <a:p>
            <a:pPr>
              <a:lnSpc>
                <a:spcPct val="103000"/>
              </a:lnSpc>
              <a:spcAft>
                <a:spcPts val="300"/>
              </a:spcAft>
              <a:defRPr sz="580">
                <a:solidFill>
                  <a:srgbClr val="21242A"/>
                </a:solidFill>
                <a:latin typeface="Microsoft YaHei"/>
              </a:defRPr>
            </a:pPr>
            <a:r>
              <a:t>sible and potentially favorable sequencing strategy.</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摘要号：PS2089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kite-753治疗复发/难治性b细胞淋巴瘤患者的1期研究：最新的安全性和疗效结果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phase 1 study of kite-753 in patients (pts) with relapsed/refractory (r/r)...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大B细胞淋巴瘤，非霍奇金淋巴瘤</a:t>
            </a:r>
          </a:p>
          <a:p>
            <a:pPr>
              <a:lnSpc>
                <a:spcPct val="103000"/>
              </a:lnSpc>
              <a:spcAft>
                <a:spcPts val="300"/>
              </a:spcAft>
              <a:defRPr sz="800">
                <a:solidFill>
                  <a:srgbClr val="21242A"/>
                </a:solidFill>
                <a:latin typeface="Microsoft YaHei"/>
              </a:defRPr>
            </a:pPr>
            <a:r>
              <a:t>N=33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试验药/方案：KITE-753</a:t>
            </a:r>
          </a:p>
          <a:p>
            <a:pPr>
              <a:lnSpc>
                <a:spcPct val="103000"/>
              </a:lnSpc>
              <a:spcAft>
                <a:spcPts val="300"/>
              </a:spcAft>
              <a:defRPr sz="800">
                <a:solidFill>
                  <a:srgbClr val="21242A"/>
                </a:solidFill>
                <a:latin typeface="Microsoft YaHei"/>
              </a:defRPr>
            </a:pPr>
            <a:r>
              <a:t>靶点：CD19，CD20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多组/多方案比较：试验组1：KITE-753 (0.3×10^5 CAR T cells/kg)</a:t>
            </a:r>
          </a:p>
          <a:p>
            <a:pPr>
              <a:lnSpc>
                <a:spcPct val="103000"/>
              </a:lnSpc>
              <a:spcAft>
                <a:spcPts val="300"/>
              </a:spcAft>
              <a:defRPr sz="800">
                <a:solidFill>
                  <a:srgbClr val="21242A"/>
                </a:solidFill>
                <a:latin typeface="Microsoft YaHei"/>
              </a:defRPr>
            </a:pPr>
            <a:r>
              <a:t>试验组2：KITE-753 (1×10^5 CAR T cells/kg)</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总体反应率（ORR）在CAR-naive患者最高剂量组（DL3，n=17）为88%</a:t>
            </a:r>
          </a:p>
          <a:p>
            <a:pPr>
              <a:lnSpc>
                <a:spcPct val="103000"/>
              </a:lnSpc>
              <a:spcAft>
                <a:spcPts val="300"/>
              </a:spcAft>
              <a:defRPr sz="800">
                <a:solidFill>
                  <a:srgbClr val="21242A"/>
                </a:solidFill>
                <a:latin typeface="Microsoft YaHei"/>
              </a:defRPr>
            </a:pPr>
            <a:r>
              <a:t>完全缓解率（CR）在数据截止时71%，数据截止后76%（1例从PR转为CR）</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人数：33</a:t>
            </a:r>
          </a:p>
          <a:p>
            <a:pPr>
              <a:lnSpc>
                <a:spcPct val="103000"/>
              </a:lnSpc>
              <a:spcAft>
                <a:spcPts val="300"/>
              </a:spcAft>
              <a:defRPr sz="810">
                <a:solidFill>
                  <a:srgbClr val="21242A"/>
                </a:solidFill>
                <a:latin typeface="Microsoft YaHei"/>
              </a:defRPr>
            </a:pPr>
            <a:r>
              <a:t>适应症：大B细胞淋巴瘤、非霍奇金淋巴瘤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登记号：NCT04989803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试验药/方案：KITE-753</a:t>
            </a:r>
          </a:p>
          <a:p>
            <a:pPr>
              <a:lnSpc>
                <a:spcPct val="103000"/>
              </a:lnSpc>
              <a:spcAft>
                <a:spcPts val="300"/>
              </a:spcAft>
              <a:defRPr sz="810">
                <a:solidFill>
                  <a:srgbClr val="21242A"/>
                </a:solidFill>
                <a:latin typeface="Microsoft YaHei"/>
              </a:defRPr>
            </a:pPr>
            <a:r>
              <a:t>靶点：CD19、CD20</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kite-753治疗复发/难治性b细胞淋巴瘤患者的1期研究：最新的安全性和疗效结果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phase 1 study of kite-753 in patients (pts) with relapsed/refractory (r/r)...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KITE-753 is an autologous CD19/CD20 chimeric antigen receptor (CAR) T-cell therapy under investigation for pts with R/R B-cell lymphoma (BCL).</a:t>
            </a:r>
          </a:p>
          <a:p>
            <a:pPr>
              <a:lnSpc>
                <a:spcPct val="103000"/>
              </a:lnSpc>
              <a:spcAft>
                <a:spcPts val="300"/>
              </a:spcAft>
              <a:defRPr sz="570">
                <a:solidFill>
                  <a:srgbClr val="21242A"/>
                </a:solidFill>
                <a:latin typeface="Microsoft YaHei"/>
              </a:defRPr>
            </a:pPr>
            <a:r>
              <a:t>KITE-753 uses a unique bicistronic design to optimally engage CD19 and CD20, synergistic CD28/4-1BB co-stimulation to enhance T-cell function, and a rapid manuf</a:t>
            </a:r>
          </a:p>
          <a:p>
            <a:pPr>
              <a:lnSpc>
                <a:spcPct val="103000"/>
              </a:lnSpc>
              <a:spcAft>
                <a:spcPts val="300"/>
              </a:spcAft>
              <a:defRPr sz="570">
                <a:solidFill>
                  <a:srgbClr val="21242A"/>
                </a:solidFill>
                <a:latin typeface="Microsoft YaHei"/>
              </a:defRPr>
            </a:pPr>
            <a:r>
              <a:t>acturing process that preserves naive and stem cell memory T cells.</a:t>
            </a:r>
          </a:p>
          <a:p>
            <a:pPr>
              <a:lnSpc>
                <a:spcPct val="103000"/>
              </a:lnSpc>
              <a:spcAft>
                <a:spcPts val="300"/>
              </a:spcAft>
              <a:defRPr sz="570">
                <a:solidFill>
                  <a:srgbClr val="21242A"/>
                </a:solidFill>
                <a:latin typeface="Microsoft YaHei"/>
              </a:defRPr>
            </a:pPr>
            <a:r>
              <a:t>In a multicenter, Phase 1 study in pts with R/R BCL (4.0 months median follow-up), KITE-753 demonstrated an overall response rate (ORR) of 86% and a complete re</a:t>
            </a:r>
          </a:p>
          <a:p>
            <a:pPr>
              <a:lnSpc>
                <a:spcPct val="103000"/>
              </a:lnSpc>
              <a:spcAft>
                <a:spcPts val="300"/>
              </a:spcAft>
              <a:defRPr sz="570">
                <a:solidFill>
                  <a:srgbClr val="21242A"/>
                </a:solidFill>
                <a:latin typeface="Microsoft YaHei"/>
              </a:defRPr>
            </a:pPr>
            <a:r>
              <a:t>sponse (CR) rate of 79% in CAR-naive pts at the highest dose level (DL; n=14), with a safety profile of low-grade cytokine release syndrome (CRS) and 2 cases of</a:t>
            </a:r>
          </a:p>
          <a:p>
            <a:pPr>
              <a:lnSpc>
                <a:spcPct val="103000"/>
              </a:lnSpc>
              <a:spcAft>
                <a:spcPts val="300"/>
              </a:spcAft>
              <a:defRPr sz="570">
                <a:solidFill>
                  <a:srgbClr val="21242A"/>
                </a:solidFill>
                <a:latin typeface="Microsoft YaHei"/>
              </a:defRPr>
            </a:pPr>
            <a:r>
              <a:t> low-grade immune effector cell-associated neurotoxicity syndrome (ICANS) at the highest DL (n=19; Dahiya et al.</a:t>
            </a:r>
          </a:p>
          <a:p>
            <a:pPr>
              <a:lnSpc>
                <a:spcPct val="103000"/>
              </a:lnSpc>
              <a:spcAft>
                <a:spcPts val="300"/>
              </a:spcAft>
              <a:defRPr sz="570">
                <a:solidFill>
                  <a:srgbClr val="21242A"/>
                </a:solidFill>
                <a:latin typeface="Microsoft YaHei"/>
              </a:defRPr>
            </a:pPr>
            <a:r>
              <a:t>ASH 2025). Aims: To report updated safety and efficacy results from the Phase 1 study of KITE-753.</a:t>
            </a:r>
          </a:p>
          <a:p>
            <a:pPr>
              <a:lnSpc>
                <a:spcPct val="103000"/>
              </a:lnSpc>
              <a:spcAft>
                <a:spcPts val="300"/>
              </a:spcAft>
              <a:defRPr sz="570">
                <a:solidFill>
                  <a:srgbClr val="21242A"/>
                </a:solidFill>
                <a:latin typeface="Microsoft YaHei"/>
              </a:defRPr>
            </a:pPr>
            <a:r>
              <a:t>Methods: Adults with BCL R/R after ≥2 lines of therapy or with second-line primary refractory large BCL (LBCL) were eligible.</a:t>
            </a:r>
          </a:p>
          <a:p>
            <a:pPr>
              <a:lnSpc>
                <a:spcPct val="103000"/>
              </a:lnSpc>
              <a:spcAft>
                <a:spcPts val="300"/>
              </a:spcAft>
              <a:defRPr sz="570">
                <a:solidFill>
                  <a:srgbClr val="21242A"/>
                </a:solidFill>
                <a:latin typeface="Microsoft YaHei"/>
              </a:defRPr>
            </a:pPr>
            <a:r>
              <a:t>The trial included dose escalation (1A) and dose expansion (1B; LBCL only) cohorts.</a:t>
            </a:r>
          </a:p>
          <a:p>
            <a:pPr>
              <a:lnSpc>
                <a:spcPct val="103000"/>
              </a:lnSpc>
              <a:spcAft>
                <a:spcPts val="300"/>
              </a:spcAft>
              <a:defRPr sz="570">
                <a:solidFill>
                  <a:srgbClr val="21242A"/>
                </a:solidFill>
                <a:latin typeface="Microsoft YaHei"/>
              </a:defRPr>
            </a:pPr>
            <a:r>
              <a:t>After lymphodepletion, pts received KITE-753 at 1 of 3 DLs (0.3×10 5 , 1×10 5 , or 2×10 5 CAR T cells/kg in DL 1, 2, or 3, respectively).</a:t>
            </a:r>
          </a:p>
          <a:p>
            <a:pPr>
              <a:lnSpc>
                <a:spcPct val="103000"/>
              </a:lnSpc>
              <a:spcAft>
                <a:spcPts val="300"/>
              </a:spcAft>
              <a:defRPr sz="570">
                <a:solidFill>
                  <a:srgbClr val="21242A"/>
                </a:solidFill>
                <a:latin typeface="Microsoft YaHei"/>
              </a:defRPr>
            </a:pPr>
            <a:r>
              <a:t>The primary endpoints were incidence of dose-limiting toxicities (DLTs; 1A) and investigator-assessed ORR (per Lugano; 1B).</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KITE-753, with a unique CAR design and rapid manufacturing process preserving a naive T-cell phenotype, at the highest DL showed high CR rates in CAR-naive pts </a:t>
            </a:r>
          </a:p>
          <a:p>
            <a:pPr>
              <a:lnSpc>
                <a:spcPct val="103000"/>
              </a:lnSpc>
              <a:spcAft>
                <a:spcPts val="300"/>
              </a:spcAft>
              <a:defRPr sz="590">
                <a:solidFill>
                  <a:srgbClr val="21242A"/>
                </a:solidFill>
                <a:latin typeface="Microsoft YaHei"/>
              </a:defRPr>
            </a:pPr>
            <a:r>
              <a:t>and a favorable safety profile with only low-grade CRS and ICANS.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As of 12/03/25, 33 pts received KITE-753 (3 in DL 1, 8 in DL 2, 22 in DL 3). Median follow-up was 7.4 months (range, 5.8-12.7).</a:t>
            </a:r>
          </a:p>
          <a:p>
            <a:pPr>
              <a:lnSpc>
                <a:spcPct val="103000"/>
              </a:lnSpc>
              <a:spcAft>
                <a:spcPts val="300"/>
              </a:spcAft>
              <a:defRPr sz="580">
                <a:solidFill>
                  <a:srgbClr val="21242A"/>
                </a:solidFill>
                <a:latin typeface="Microsoft YaHei"/>
              </a:defRPr>
            </a:pPr>
            <a:r>
              <a:t>Median age at analysis was 59.0 years (range, 25-84); 88% of pts had LBCL and 12% had indolent non-Hodgkin lymphoma, and 76% had Stage III/IV disease.</a:t>
            </a:r>
          </a:p>
          <a:p>
            <a:pPr>
              <a:lnSpc>
                <a:spcPct val="103000"/>
              </a:lnSpc>
              <a:spcAft>
                <a:spcPts val="300"/>
              </a:spcAft>
              <a:defRPr sz="580">
                <a:solidFill>
                  <a:srgbClr val="21242A"/>
                </a:solidFill>
                <a:latin typeface="Microsoft YaHei"/>
              </a:defRPr>
            </a:pPr>
            <a:r>
              <a:t>Nine pts (27% of all; 31% of LBCL) were primary refractory and 10 (30%) had received prior CAR T-cell therapy. No DLTs occurred in dose escalation.</a:t>
            </a:r>
          </a:p>
          <a:p>
            <a:pPr>
              <a:lnSpc>
                <a:spcPct val="103000"/>
              </a:lnSpc>
              <a:spcAft>
                <a:spcPts val="300"/>
              </a:spcAft>
              <a:defRPr sz="580">
                <a:solidFill>
                  <a:srgbClr val="21242A"/>
                </a:solidFill>
                <a:latin typeface="Microsoft YaHei"/>
              </a:defRPr>
            </a:pPr>
            <a:r>
              <a:t>Grade ≥3 adverse events occurred in 85% of pts (91% in DL 3), primarily cytopenias.</a:t>
            </a:r>
          </a:p>
          <a:p>
            <a:pPr>
              <a:lnSpc>
                <a:spcPct val="103000"/>
              </a:lnSpc>
              <a:spcAft>
                <a:spcPts val="300"/>
              </a:spcAft>
              <a:defRPr sz="580">
                <a:solidFill>
                  <a:srgbClr val="21242A"/>
                </a:solidFill>
                <a:latin typeface="Microsoft YaHei"/>
              </a:defRPr>
            </a:pPr>
            <a:r>
              <a:t>Eight pts (24%) had max Grade 1 CRS, 8 (24%) had max Grade 2 CRS, 1 had max Grade 3 CRS (LBCL, DL 2), and none had Grade 4/5 CRS.</a:t>
            </a:r>
          </a:p>
          <a:p>
            <a:pPr>
              <a:lnSpc>
                <a:spcPct val="103000"/>
              </a:lnSpc>
              <a:spcAft>
                <a:spcPts val="300"/>
              </a:spcAft>
              <a:defRPr sz="580">
                <a:solidFill>
                  <a:srgbClr val="21242A"/>
                </a:solidFill>
                <a:latin typeface="Microsoft YaHei"/>
              </a:defRPr>
            </a:pPr>
            <a:r>
              <a:t>Median time to CRS onset was 6.0 days; median duration was 6.0 days.</a:t>
            </a:r>
          </a:p>
          <a:p>
            <a:pPr>
              <a:lnSpc>
                <a:spcPct val="103000"/>
              </a:lnSpc>
              <a:spcAft>
                <a:spcPts val="300"/>
              </a:spcAft>
              <a:defRPr sz="580">
                <a:solidFill>
                  <a:srgbClr val="21242A"/>
                </a:solidFill>
                <a:latin typeface="Microsoft YaHei"/>
              </a:defRPr>
            </a:pPr>
            <a:r>
              <a:t>Two pts had Grade 1 ICANS (1 each in DL 2 and DL 3), 4 had Grade 2 ICANS (1 in DL 2, 3 in DL 3), and none had Grade ≥3 ICANS.</a:t>
            </a:r>
          </a:p>
          <a:p>
            <a:pPr>
              <a:lnSpc>
                <a:spcPct val="103000"/>
              </a:lnSpc>
              <a:spcAft>
                <a:spcPts val="300"/>
              </a:spcAft>
              <a:defRPr sz="580">
                <a:solidFill>
                  <a:srgbClr val="21242A"/>
                </a:solidFill>
                <a:latin typeface="Microsoft YaHei"/>
              </a:defRPr>
            </a:pPr>
            <a:r>
              <a:t>Median time to ICANS onset was 10.5 days; median duration was 3.5 days.</a:t>
            </a:r>
          </a:p>
          <a:p>
            <a:pPr>
              <a:lnSpc>
                <a:spcPct val="103000"/>
              </a:lnSpc>
              <a:spcAft>
                <a:spcPts val="300"/>
              </a:spcAft>
              <a:defRPr sz="580">
                <a:solidFill>
                  <a:srgbClr val="21242A"/>
                </a:solidFill>
                <a:latin typeface="Microsoft YaHei"/>
              </a:defRPr>
            </a:pPr>
            <a:r>
              <a:t>Five pts died: 2 due to infections unrelated to KITE-753 per investigator assessment and 3 due to progression.</a:t>
            </a:r>
          </a:p>
          <a:p>
            <a:pPr>
              <a:lnSpc>
                <a:spcPct val="103000"/>
              </a:lnSpc>
              <a:spcAft>
                <a:spcPts val="300"/>
              </a:spcAft>
              <a:defRPr sz="580">
                <a:solidFill>
                  <a:srgbClr val="21242A"/>
                </a:solidFill>
                <a:latin typeface="Microsoft YaHei"/>
              </a:defRPr>
            </a:pPr>
            <a:r>
              <a:t>ORR in CAR-naive pts at DL 3 (n=17) was 88%; CR rate was 71% (12/17) at the data cutoff and 76% (13/17) post-data cutoff, with 1 pt converting from a parti</a:t>
            </a:r>
          </a:p>
          <a:p>
            <a:pPr>
              <a:lnSpc>
                <a:spcPct val="103000"/>
              </a:lnSpc>
              <a:spcAft>
                <a:spcPts val="300"/>
              </a:spcAft>
              <a:defRPr sz="580">
                <a:solidFill>
                  <a:srgbClr val="21242A"/>
                </a:solidFill>
                <a:latin typeface="Microsoft YaHei"/>
              </a:defRPr>
            </a:pPr>
            <a:r>
              <a:t>al response (PR) to a CR.</a:t>
            </a:r>
          </a:p>
          <a:p>
            <a:pPr>
              <a:lnSpc>
                <a:spcPct val="103000"/>
              </a:lnSpc>
              <a:spcAft>
                <a:spcPts val="300"/>
              </a:spcAft>
              <a:defRPr sz="580">
                <a:solidFill>
                  <a:srgbClr val="21242A"/>
                </a:solidFill>
                <a:latin typeface="Microsoft YaHei"/>
              </a:defRPr>
            </a:pPr>
            <a:r>
              <a:t>In pts with prior CAR exposure (all DLs; n=10), 3 (30%) had a CR and 2 (20%) had a PR.</a:t>
            </a:r>
          </a:p>
          <a:p>
            <a:pPr>
              <a:lnSpc>
                <a:spcPct val="103000"/>
              </a:lnSpc>
              <a:spcAft>
                <a:spcPts val="300"/>
              </a:spcAft>
              <a:defRPr sz="580">
                <a:solidFill>
                  <a:srgbClr val="21242A"/>
                </a:solidFill>
                <a:latin typeface="Microsoft YaHei"/>
              </a:defRPr>
            </a:pPr>
            <a:r>
              <a:t>In a comparative analysis of KITE-753 vs axicabtagene ciloleucel (axi-cel; ZUMA-1), levels of the neurotoxicity-associated cytokine, IL-15, were lower with</a:t>
            </a:r>
          </a:p>
          <a:p>
            <a:pPr>
              <a:lnSpc>
                <a:spcPct val="103000"/>
              </a:lnSpc>
              <a:spcAft>
                <a:spcPts val="300"/>
              </a:spcAft>
              <a:defRPr sz="580">
                <a:solidFill>
                  <a:srgbClr val="21242A"/>
                </a:solidFill>
                <a:latin typeface="Microsoft YaHei"/>
              </a:defRPr>
            </a:pPr>
            <a:r>
              <a:t> KITE-753, coinciding with an improved toxicity profile.</a:t>
            </a:r>
          </a:p>
          <a:p>
            <a:pPr>
              <a:lnSpc>
                <a:spcPct val="103000"/>
              </a:lnSpc>
              <a:spcAft>
                <a:spcPts val="300"/>
              </a:spcAft>
              <a:defRPr sz="580">
                <a:solidFill>
                  <a:srgbClr val="21242A"/>
                </a:solidFill>
                <a:latin typeface="Microsoft YaHei"/>
              </a:defRPr>
            </a:pPr>
            <a:r>
              <a:t>Peak CAR T-cell expansion was delayed with KITE-753 vs axi-cel; IL-2, INF-γ, and granzyme B kinetics correlated with delayed time to peak.</a:t>
            </a:r>
          </a:p>
          <a:p>
            <a:pPr>
              <a:lnSpc>
                <a:spcPct val="103000"/>
              </a:lnSpc>
              <a:spcAft>
                <a:spcPts val="300"/>
              </a:spcAft>
              <a:defRPr sz="580">
                <a:solidFill>
                  <a:srgbClr val="21242A"/>
                </a:solidFill>
                <a:latin typeface="Microsoft YaHei"/>
              </a:defRPr>
            </a:pPr>
            <a:r>
              <a:t>These favorable pharmacokinetic and pharmacodynamic profiles may reflect KITE-753’s optimized CAR T-cell dose that mitigates toxicity and its rapid manufac</a:t>
            </a:r>
          </a:p>
          <a:p>
            <a:pPr>
              <a:lnSpc>
                <a:spcPct val="103000"/>
              </a:lnSpc>
              <a:spcAft>
                <a:spcPts val="300"/>
              </a:spcAft>
              <a:defRPr sz="580">
                <a:solidFill>
                  <a:srgbClr val="21242A"/>
                </a:solidFill>
                <a:latin typeface="Microsoft YaHei"/>
              </a:defRPr>
            </a:pPr>
            <a:r>
              <a:t>turing process that preserves CAR T-cell fitness.</a:t>
            </a:r>
          </a:p>
          <a:p>
            <a:pPr>
              <a:lnSpc>
                <a:spcPct val="103000"/>
              </a:lnSpc>
              <a:spcAft>
                <a:spcPts val="300"/>
              </a:spcAft>
              <a:defRPr sz="580">
                <a:solidFill>
                  <a:srgbClr val="21242A"/>
                </a:solidFill>
                <a:latin typeface="Microsoft YaHei"/>
              </a:defRPr>
            </a:pPr>
            <a:r>
              <a:t>Conclusion: KITE-753, with a unique CAR design and rapid manufacturing process preserving a naive T-cell phenotype, at the highest DL showed high CR rates </a:t>
            </a:r>
          </a:p>
          <a:p>
            <a:pPr>
              <a:lnSpc>
                <a:spcPct val="103000"/>
              </a:lnSpc>
              <a:spcAft>
                <a:spcPts val="300"/>
              </a:spcAft>
              <a:defRPr sz="580">
                <a:solidFill>
                  <a:srgbClr val="21242A"/>
                </a:solidFill>
                <a:latin typeface="Microsoft YaHei"/>
              </a:defRPr>
            </a:pPr>
            <a:r>
              <a:t>in CAR-naive pts and a favorable safety profile with only low-grade CRS and ICANS.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摘要号：PS2068</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快速增加glofitamab治疗复发难治性大b细胞淋巴瘤的可行性和安全性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and safety of rapid glofitamab ramp-up for the treatment of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多组/多方案比较：试验组1：BiCAR样组（obinutuzumab预处理，glofitamab在8-14天内加速给药）</a:t>
            </a:r>
          </a:p>
          <a:p>
            <a:pPr>
              <a:lnSpc>
                <a:spcPct val="103000"/>
              </a:lnSpc>
              <a:spcAft>
                <a:spcPts val="300"/>
              </a:spcAft>
              <a:defRPr sz="800">
                <a:solidFill>
                  <a:srgbClr val="21242A"/>
                </a:solidFill>
                <a:latin typeface="Microsoft YaHei"/>
              </a:defRPr>
            </a:pPr>
            <a:r>
              <a:t>试验组2：快速glofitamab组（obinutuzumab预处理，glofitamab在4-7天内加速给药）</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细胞因子释放综合征（CRS）发生率：47%（39/83），其中多数为1级（36%[30/39]），3级以上CRS未发生</a:t>
            </a:r>
          </a:p>
          <a:p>
            <a:pPr>
              <a:lnSpc>
                <a:spcPct val="103000"/>
              </a:lnSpc>
              <a:spcAft>
                <a:spcPts val="300"/>
              </a:spcAft>
              <a:defRPr sz="800">
                <a:solidFill>
                  <a:srgbClr val="21242A"/>
                </a:solidFill>
                <a:latin typeface="Microsoft YaHei"/>
              </a:defRPr>
            </a:pPr>
            <a:r>
              <a:t>免疫效应细胞相关神经毒性综合征（ICANS）发生率：持续较低，3级以上未发生</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快速增加glofitamab治疗复发难治性大b细胞淋巴瘤的可行性和安全性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and safety of rapid glofitamab ramp-up for the treatment of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Large B-cell lymphomas (LBCL) are biologically and clinically heterogeneous.</a:t>
            </a:r>
          </a:p>
          <a:p>
            <a:pPr>
              <a:lnSpc>
                <a:spcPct val="103000"/>
              </a:lnSpc>
              <a:spcAft>
                <a:spcPts val="300"/>
              </a:spcAft>
              <a:defRPr sz="570">
                <a:solidFill>
                  <a:srgbClr val="21242A"/>
                </a:solidFill>
                <a:latin typeface="Microsoft YaHei"/>
              </a:defRPr>
            </a:pPr>
            <a:r>
              <a:t>Immunochemotherapy cures 75% of patients, but high proliferation rates and clinical need for fast-acting treatments often characterize chemotherapy-refractory o</a:t>
            </a:r>
          </a:p>
          <a:p>
            <a:pPr>
              <a:lnSpc>
                <a:spcPct val="103000"/>
              </a:lnSpc>
              <a:spcAft>
                <a:spcPts val="300"/>
              </a:spcAft>
              <a:defRPr sz="570">
                <a:solidFill>
                  <a:srgbClr val="21242A"/>
                </a:solidFill>
                <a:latin typeface="Microsoft YaHei"/>
              </a:defRPr>
            </a:pPr>
            <a:r>
              <a:t>r relapsed disease (r/rLBCL).</a:t>
            </a:r>
          </a:p>
          <a:p>
            <a:pPr>
              <a:lnSpc>
                <a:spcPct val="103000"/>
              </a:lnSpc>
              <a:spcAft>
                <a:spcPts val="300"/>
              </a:spcAft>
              <a:defRPr sz="570">
                <a:solidFill>
                  <a:srgbClr val="21242A"/>
                </a:solidFill>
                <a:latin typeface="Microsoft YaHei"/>
              </a:defRPr>
            </a:pPr>
            <a:r>
              <a:t>Prognosis in r/rLBCL is substantially diminished despite the use of CD19-directed chimeric antigen receptor T-cells (CAR-T), and approximately 50% of patients r</a:t>
            </a:r>
          </a:p>
          <a:p>
            <a:pPr>
              <a:lnSpc>
                <a:spcPct val="103000"/>
              </a:lnSpc>
              <a:spcAft>
                <a:spcPts val="300"/>
              </a:spcAft>
              <a:defRPr sz="570">
                <a:solidFill>
                  <a:srgbClr val="21242A"/>
                </a:solidFill>
                <a:latin typeface="Microsoft YaHei"/>
              </a:defRPr>
            </a:pPr>
            <a:r>
              <a:t>elapse after or are refractory to CAR-T, highlighting the medical need for further treatment optimization following CAR-T.</a:t>
            </a:r>
          </a:p>
          <a:p>
            <a:pPr>
              <a:lnSpc>
                <a:spcPct val="103000"/>
              </a:lnSpc>
              <a:spcAft>
                <a:spcPts val="300"/>
              </a:spcAft>
              <a:defRPr sz="570">
                <a:solidFill>
                  <a:srgbClr val="21242A"/>
                </a:solidFill>
                <a:latin typeface="Microsoft YaHei"/>
              </a:defRPr>
            </a:pPr>
            <a:r>
              <a:t>\n Glofitamab is a CD20xCD3 bispecific, T-cell-engaging monoclonal antibody that is approved for the treatment of r/rLBCL.</a:t>
            </a:r>
          </a:p>
          <a:p>
            <a:pPr>
              <a:lnSpc>
                <a:spcPct val="103000"/>
              </a:lnSpc>
              <a:spcAft>
                <a:spcPts val="300"/>
              </a:spcAft>
              <a:defRPr sz="570">
                <a:solidFill>
                  <a:srgbClr val="21242A"/>
                </a:solidFill>
                <a:latin typeface="Microsoft YaHei"/>
              </a:defRPr>
            </a:pPr>
            <a:r>
              <a:t>Standard dosing protocol for glofitamab requires an obinutuzumab-pretreatment to mitigate CRS and a step-up dosing of glofitamab (2.5mg, 10mg) before reaching t</a:t>
            </a:r>
          </a:p>
          <a:p>
            <a:pPr>
              <a:lnSpc>
                <a:spcPct val="103000"/>
              </a:lnSpc>
              <a:spcAft>
                <a:spcPts val="300"/>
              </a:spcAft>
              <a:defRPr sz="570">
                <a:solidFill>
                  <a:srgbClr val="21242A"/>
                </a:solidFill>
                <a:latin typeface="Microsoft YaHei"/>
              </a:defRPr>
            </a:pPr>
            <a:r>
              <a:t>he full therapeutic dose three-weeks after treatment start.The delayed disease control during the ramp-up phase of glofitamab is contrasted by high proliferatio</a:t>
            </a:r>
          </a:p>
          <a:p>
            <a:pPr>
              <a:lnSpc>
                <a:spcPct val="103000"/>
              </a:lnSpc>
              <a:spcAft>
                <a:spcPts val="300"/>
              </a:spcAft>
              <a:defRPr sz="570">
                <a:solidFill>
                  <a:srgbClr val="21242A"/>
                </a:solidFill>
                <a:latin typeface="Microsoft YaHei"/>
              </a:defRPr>
            </a:pPr>
            <a:r>
              <a:t>n and often high tumor burden at diagnosis of r/rLBCL, limiting the use of single-agent glofitamab and resulting in the development of the BiCAR trial and other</a:t>
            </a:r>
          </a:p>
          <a:p>
            <a:pPr>
              <a:lnSpc>
                <a:spcPct val="103000"/>
              </a:lnSpc>
              <a:spcAft>
                <a:spcPts val="300"/>
              </a:spcAft>
              <a:defRPr sz="570">
                <a:solidFill>
                  <a:srgbClr val="21242A"/>
                </a:solidFill>
                <a:latin typeface="Microsoft YaHei"/>
              </a:defRPr>
            </a:pPr>
            <a:r>
              <a:t> off-label accelerated step-up protocols in clinical practice.</a:t>
            </a:r>
          </a:p>
          <a:p>
            <a:pPr>
              <a:lnSpc>
                <a:spcPct val="103000"/>
              </a:lnSpc>
              <a:spcAft>
                <a:spcPts val="300"/>
              </a:spcAft>
              <a:defRPr sz="570">
                <a:solidFill>
                  <a:srgbClr val="21242A"/>
                </a:solidFill>
                <a:latin typeface="Microsoft YaHei"/>
              </a:defRPr>
            </a:pPr>
            <a:r>
              <a:t>Aims: To assess whether the full dose of glofitamab can be administered more rapidly without compromising patient safety and thereby accelerating disease contro</a:t>
            </a:r>
          </a:p>
          <a:p>
            <a:pPr>
              <a:lnSpc>
                <a:spcPct val="103000"/>
              </a:lnSpc>
              <a:spcAft>
                <a:spcPts val="300"/>
              </a:spcAft>
              <a:defRPr sz="570">
                <a:solidFill>
                  <a:srgbClr val="21242A"/>
                </a:solidFill>
                <a:latin typeface="Microsoft YaHei"/>
              </a:defRPr>
            </a:pPr>
            <a:r>
              <a:t>l in patients with r/rLBCL.</a:t>
            </a:r>
          </a:p>
          <a:p>
            <a:pPr>
              <a:lnSpc>
                <a:spcPct val="103000"/>
              </a:lnSpc>
              <a:spcAft>
                <a:spcPts val="300"/>
              </a:spcAft>
              <a:defRPr sz="570">
                <a:solidFill>
                  <a:srgbClr val="21242A"/>
                </a:solidFill>
                <a:latin typeface="Microsoft YaHei"/>
              </a:defRPr>
            </a:pPr>
            <a:r>
              <a:t>Methods: In this retrospective multicenter study, we analyzed 83 patients from 11 centers across Germany, Austria and Switzerland who had received glofitamab be</a:t>
            </a:r>
          </a:p>
          <a:p>
            <a:pPr>
              <a:lnSpc>
                <a:spcPct val="103000"/>
              </a:lnSpc>
              <a:spcAft>
                <a:spcPts val="300"/>
              </a:spcAft>
              <a:defRPr sz="570">
                <a:solidFill>
                  <a:srgbClr val="21242A"/>
                </a:solidFill>
                <a:latin typeface="Microsoft YaHei"/>
              </a:defRPr>
            </a:pPr>
            <a:r>
              <a:t>tween December 2020 and November 2025 in an accelerated step-up dosing schedule.</a:t>
            </a:r>
          </a:p>
          <a:p>
            <a:pPr>
              <a:lnSpc>
                <a:spcPct val="103000"/>
              </a:lnSpc>
              <a:spcAft>
                <a:spcPts val="300"/>
              </a:spcAft>
              <a:defRPr sz="570">
                <a:solidFill>
                  <a:srgbClr val="21242A"/>
                </a:solidFill>
                <a:latin typeface="Microsoft YaHei"/>
              </a:defRPr>
            </a:pPr>
            <a:r>
              <a:t>These patients (Accelerated Glo group) were further divided into the BiCAR-like group if glofitamab was administered within 1-2 weeks, and the rapid glofitamab </a:t>
            </a:r>
          </a:p>
          <a:p>
            <a:pPr>
              <a:lnSpc>
                <a:spcPct val="103000"/>
              </a:lnSpc>
              <a:spcAft>
                <a:spcPts val="300"/>
              </a:spcAft>
              <a:defRPr sz="570">
                <a:solidFill>
                  <a:srgbClr val="21242A"/>
                </a:solidFill>
                <a:latin typeface="Microsoft YaHei"/>
              </a:defRPr>
            </a:pPr>
            <a:r>
              <a:t>group in which glofitamab was administered within less than 1 week.</a:t>
            </a:r>
          </a:p>
          <a:p>
            <a:pPr>
              <a:lnSpc>
                <a:spcPct val="103000"/>
              </a:lnSpc>
              <a:spcAft>
                <a:spcPts val="300"/>
              </a:spcAft>
              <a:defRPr sz="570">
                <a:solidFill>
                  <a:srgbClr val="21242A"/>
                </a:solidFill>
                <a:latin typeface="Microsoft YaHei"/>
              </a:defRPr>
            </a:pPr>
            <a:r>
              <a:t>Efficacy including response rates and survival as well as adverse events were analyzed.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Accelerated administration of glofitamab for patients with r/rLBCL is feasible without compromising patients’ safety or response, supporting its use in clinical</a:t>
            </a:r>
          </a:p>
          <a:p>
            <a:pPr>
              <a:lnSpc>
                <a:spcPct val="103000"/>
              </a:lnSpc>
              <a:spcAft>
                <a:spcPts val="300"/>
              </a:spcAft>
              <a:defRPr sz="590">
                <a:solidFill>
                  <a:srgbClr val="21242A"/>
                </a:solidFill>
                <a:latin typeface="Microsoft YaHei"/>
              </a:defRPr>
            </a:pPr>
            <a:r>
              <a:t> practice for patients with r/rLBCL.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细胞因子释放综合征（CRS）发生率</a:t>
                      </a:r>
                    </a:p>
                  </a:txBody>
                  <a:tcPr>
                    <a:solidFill>
                      <a:srgbClr val="F6F8FB"/>
                    </a:solidFill>
                  </a:tcPr>
                </a:tc>
                <a:tc>
                  <a:txBody>
                    <a:bodyPr wrap="square" lIns="36576" rIns="36576" tIns="18288" bIns="18288"/>
                    <a:lstStyle/>
                    <a:p>
                      <a:r>
                        <a:rPr sz="540" b="0">
                          <a:solidFill>
                            <a:srgbClr val="21242A"/>
                          </a:solidFill>
                          <a:latin typeface="Microsoft YaHei"/>
                        </a:rPr>
                        <a:t>47%（39/83），其中多数为1级（36%[30/39]），3级以上CRS未发生</a:t>
                      </a:r>
                    </a:p>
                  </a:txBody>
                  <a:tcPr>
                    <a:solidFill>
                      <a:srgbClr val="F6F8FB"/>
                    </a:solidFill>
                  </a:tcPr>
                </a:tc>
              </a:tr>
              <a:tr h="249936">
                <a:tc>
                  <a:txBody>
                    <a:bodyPr wrap="square" lIns="36576" rIns="36576" tIns="18288" bIns="18288"/>
                    <a:lstStyle/>
                    <a:p>
                      <a:r>
                        <a:rPr sz="540" b="1">
                          <a:solidFill>
                            <a:srgbClr val="21242A"/>
                          </a:solidFill>
                          <a:latin typeface="Microsoft YaHei"/>
                        </a:rPr>
                        <a:t>免疫效应细胞相关神经毒性综合征（ICANS）发生率</a:t>
                      </a:r>
                    </a:p>
                  </a:txBody>
                  <a:tcPr>
                    <a:solidFill>
                      <a:srgbClr val="FFFFFF"/>
                    </a:solidFill>
                  </a:tcPr>
                </a:tc>
                <a:tc>
                  <a:txBody>
                    <a:bodyPr wrap="square" lIns="36576" rIns="36576" tIns="18288" bIns="18288"/>
                    <a:lstStyle/>
                    <a:p>
                      <a:r>
                        <a:rPr sz="540" b="0">
                          <a:solidFill>
                            <a:srgbClr val="21242A"/>
                          </a:solidFill>
                          <a:latin typeface="Microsoft YaHei"/>
                        </a:rPr>
                        <a:t>持续较低，3级以上未发生</a:t>
                      </a:r>
                    </a:p>
                  </a:txBody>
                  <a:tcPr>
                    <a:solidFill>
                      <a:srgbClr val="FFFFFF"/>
                    </a:solidFill>
                  </a:tcPr>
                </a:tc>
              </a:tr>
              <a:tr h="249936">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53%（44/83），其中完全缓解/代谢完全缓解（CR/CMR）12%，部分缓解（PR）41%</a:t>
                      </a:r>
                    </a:p>
                  </a:txBody>
                  <a:tcPr>
                    <a:solidFill>
                      <a:srgbClr val="F6F8FB"/>
                    </a:solidFill>
                  </a:tcPr>
                </a:tc>
              </a:tr>
              <a:tr h="249936">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6.3个月</a:t>
                      </a:r>
                    </a:p>
                  </a:txBody>
                  <a:tcPr>
                    <a:solidFill>
                      <a:srgbClr val="FFFFFF"/>
                    </a:solidFill>
                  </a:tcPr>
                </a:tc>
              </a:tr>
              <a:tr h="249936">
                <a:tc>
                  <a:txBody>
                    <a:bodyPr wrap="square" lIns="36576" rIns="36576" tIns="18288" bIns="18288"/>
                    <a:lstStyle/>
                    <a:p>
                      <a:r>
                        <a:rPr sz="540" b="1">
                          <a:solidFill>
                            <a:srgbClr val="21242A"/>
                          </a:solidFill>
                          <a:latin typeface="Microsoft YaHei"/>
                        </a:rPr>
                        <a:t>中位总生存期（OS）</a:t>
                      </a:r>
                    </a:p>
                  </a:txBody>
                  <a:tcPr>
                    <a:solidFill>
                      <a:srgbClr val="F6F8FB"/>
                    </a:solidFill>
                  </a:tcPr>
                </a:tc>
                <a:tc>
                  <a:txBody>
                    <a:bodyPr wrap="square" lIns="36576" rIns="36576" tIns="18288" bIns="18288"/>
                    <a:lstStyle/>
                    <a:p>
                      <a:r>
                        <a:rPr sz="540" b="0">
                          <a:solidFill>
                            <a:srgbClr val="21242A"/>
                          </a:solidFill>
                          <a:latin typeface="Microsoft YaHei"/>
                        </a:rPr>
                        <a:t>21.5个月</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摘要号：PF996</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car-t细胞疗法的引入显著改善了在人群水平上接受二线治疗的复发/难治性大b细胞淋巴瘤患者的预后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introduction of car-t cell therapy dramatically improved outcomes of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N=524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总生存期（OS）：Era2相比于Era1的HR=0.71（95%CI 0.56-0.91，P=0.01）</a:t>
            </a:r>
          </a:p>
          <a:p>
            <a:pPr>
              <a:lnSpc>
                <a:spcPct val="103000"/>
              </a:lnSpc>
              <a:spcAft>
                <a:spcPts val="300"/>
              </a:spcAft>
              <a:defRPr sz="800">
                <a:solidFill>
                  <a:srgbClr val="21242A"/>
                </a:solidFill>
                <a:latin typeface="Microsoft YaHei"/>
              </a:defRPr>
            </a:pPr>
            <a:r>
              <a:t>2年OS率：Era2为56%，Era1为41%||淋巴瘤相关死亡率累积发生率（CIF of LRM）：2年LRM率Era2为3...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人数：524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登记号：NCT03199066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car-t细胞疗法的引入显著改善了在人群水平上接受二线治疗的复发/难治性大b细胞淋巴瘤患者的预后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introduction of car-t cell therapy dramatically improved outcomes of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introduction of CAR-T and other innovative therapies has changed the treatment landscape for patients with relapsed/refractory (r/r) large B-cel</a:t>
            </a:r>
          </a:p>
          <a:p>
            <a:pPr>
              <a:lnSpc>
                <a:spcPct val="103000"/>
              </a:lnSpc>
              <a:spcAft>
                <a:spcPts val="300"/>
              </a:spcAft>
              <a:defRPr sz="570">
                <a:solidFill>
                  <a:srgbClr val="21242A"/>
                </a:solidFill>
                <a:latin typeface="Microsoft YaHei"/>
              </a:defRPr>
            </a:pPr>
            <a:r>
              <a:t>l lymphomas (LBCL).</a:t>
            </a:r>
          </a:p>
          <a:p>
            <a:pPr>
              <a:lnSpc>
                <a:spcPct val="103000"/>
              </a:lnSpc>
              <a:spcAft>
                <a:spcPts val="300"/>
              </a:spcAft>
              <a:defRPr sz="570">
                <a:solidFill>
                  <a:srgbClr val="21242A"/>
                </a:solidFill>
                <a:latin typeface="Microsoft YaHei"/>
              </a:defRPr>
            </a:pPr>
            <a:r>
              <a:t>We have previously demonstrated that these novel treatments improved outcomes for r/r LBCL patients in the third-line setting in recent years (EHA 2025, PF939).</a:t>
            </a:r>
          </a:p>
          <a:p>
            <a:pPr>
              <a:lnSpc>
                <a:spcPct val="103000"/>
              </a:lnSpc>
              <a:spcAft>
                <a:spcPts val="300"/>
              </a:spcAft>
              <a:defRPr sz="570">
                <a:solidFill>
                  <a:srgbClr val="21242A"/>
                </a:solidFill>
                <a:latin typeface="Microsoft YaHei"/>
              </a:defRPr>
            </a:pPr>
            <a:r>
              <a:t>Subsequently, CAR-T was approved in the second line (L2) in 2022 in our region, creating the potential for similar survival improvements.</a:t>
            </a:r>
          </a:p>
          <a:p>
            <a:pPr>
              <a:lnSpc>
                <a:spcPct val="103000"/>
              </a:lnSpc>
              <a:spcAft>
                <a:spcPts val="300"/>
              </a:spcAft>
              <a:defRPr sz="570">
                <a:solidFill>
                  <a:srgbClr val="21242A"/>
                </a:solidFill>
                <a:latin typeface="Microsoft YaHei"/>
              </a:defRPr>
            </a:pPr>
            <a:r>
              <a:t>Aims: We aimed to evaluate evolving treatment patterns in the L2 for r/r LBCL and to assess the impact of novel therapies on overall survival (OS) within a real</a:t>
            </a:r>
          </a:p>
          <a:p>
            <a:pPr>
              <a:lnSpc>
                <a:spcPct val="103000"/>
              </a:lnSpc>
              <a:spcAft>
                <a:spcPts val="300"/>
              </a:spcAft>
              <a:defRPr sz="570">
                <a:solidFill>
                  <a:srgbClr val="21242A"/>
                </a:solidFill>
                <a:latin typeface="Microsoft YaHei"/>
              </a:defRPr>
            </a:pPr>
            <a:r>
              <a:t>-world patient population on a national-based level.</a:t>
            </a:r>
          </a:p>
          <a:p>
            <a:pPr>
              <a:lnSpc>
                <a:spcPct val="103000"/>
              </a:lnSpc>
              <a:spcAft>
                <a:spcPts val="300"/>
              </a:spcAft>
              <a:defRPr sz="570">
                <a:solidFill>
                  <a:srgbClr val="21242A"/>
                </a:solidFill>
                <a:latin typeface="Microsoft YaHei"/>
              </a:defRPr>
            </a:pPr>
            <a:r>
              <a:t>Methods: We analyzed data from 524 consecutive patients with r/r LBCL from the prospective NiHiL registry (NCT03199066) who received L2 therapy between 2020–202</a:t>
            </a:r>
          </a:p>
          <a:p>
            <a:pPr>
              <a:lnSpc>
                <a:spcPct val="103000"/>
              </a:lnSpc>
              <a:spcAft>
                <a:spcPts val="300"/>
              </a:spcAft>
              <a:defRPr sz="570">
                <a:solidFill>
                  <a:srgbClr val="21242A"/>
                </a:solidFill>
                <a:latin typeface="Microsoft YaHei"/>
              </a:defRPr>
            </a:pPr>
            <a:r>
              <a:t>4.</a:t>
            </a:r>
          </a:p>
          <a:p>
            <a:pPr>
              <a:lnSpc>
                <a:spcPct val="103000"/>
              </a:lnSpc>
              <a:spcAft>
                <a:spcPts val="300"/>
              </a:spcAft>
              <a:defRPr sz="570">
                <a:solidFill>
                  <a:srgbClr val="21242A"/>
                </a:solidFill>
                <a:latin typeface="Microsoft YaHei"/>
              </a:defRPr>
            </a:pPr>
            <a:r>
              <a:t>Patients were stratified into two eras based on CAR-T access: Era 1 (2020–2021; n=239) and Era 2 (2023–2024; n=285), with 2022 excluded (transitional year).</a:t>
            </a:r>
          </a:p>
          <a:p>
            <a:pPr>
              <a:lnSpc>
                <a:spcPct val="103000"/>
              </a:lnSpc>
              <a:spcAft>
                <a:spcPts val="300"/>
              </a:spcAft>
              <a:defRPr sz="570">
                <a:solidFill>
                  <a:srgbClr val="21242A"/>
                </a:solidFill>
                <a:latin typeface="Microsoft YaHei"/>
              </a:defRPr>
            </a:pPr>
            <a:r>
              <a:t>Patients were included regardless of whether they ultimately received CAR-T.</a:t>
            </a:r>
          </a:p>
          <a:p>
            <a:pPr>
              <a:lnSpc>
                <a:spcPct val="103000"/>
              </a:lnSpc>
              <a:spcAft>
                <a:spcPts val="300"/>
              </a:spcAft>
              <a:defRPr sz="570">
                <a:solidFill>
                  <a:srgbClr val="21242A"/>
                </a:solidFill>
                <a:latin typeface="Microsoft YaHei"/>
              </a:defRPr>
            </a:pPr>
            <a:r>
              <a:t>The primary endpoint was OS; secondary endpoints included cumulative incidence (CIF) of lymphoma-related mortality (LRM) and shifts in treatment patterns.</a:t>
            </a:r>
          </a:p>
          <a:p>
            <a:pPr>
              <a:lnSpc>
                <a:spcPct val="103000"/>
              </a:lnSpc>
              <a:spcAft>
                <a:spcPts val="300"/>
              </a:spcAft>
              <a:defRPr sz="570">
                <a:solidFill>
                  <a:srgbClr val="21242A"/>
                </a:solidFill>
                <a:latin typeface="Microsoft YaHei"/>
              </a:defRPr>
            </a:pPr>
            <a:r>
              <a:t>Subgroup analysis was conducted for \"early-r/r\" patients, defined as progressive (PD), refractory disease (stable [SD], partial remission [PR]), or relapse ≤1</a:t>
            </a:r>
          </a:p>
          <a:p>
            <a:pPr>
              <a:lnSpc>
                <a:spcPct val="103000"/>
              </a:lnSpc>
              <a:spcAft>
                <a:spcPts val="300"/>
              </a:spcAft>
              <a:defRPr sz="570">
                <a:solidFill>
                  <a:srgbClr val="21242A"/>
                </a:solidFill>
                <a:latin typeface="Microsoft YaHei"/>
              </a:defRPr>
            </a:pPr>
            <a:r>
              <a:t>2 months after the end of L1 (n=393).</a:t>
            </a:r>
          </a:p>
          <a:p>
            <a:pPr>
              <a:lnSpc>
                <a:spcPct val="103000"/>
              </a:lnSpc>
              <a:spcAft>
                <a:spcPts val="300"/>
              </a:spcAft>
              <a:defRPr sz="570">
                <a:solidFill>
                  <a:srgbClr val="21242A"/>
                </a:solidFill>
                <a:latin typeface="Microsoft YaHei"/>
              </a:defRPr>
            </a:pPr>
            <a:r>
              <a:t>We used Cox regression for time-to-event analysis (OS) and Fine-Gray models for CIF of LRM (non-lymphoma death as a competing risk).</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\n The adoption of CAR-T and innovative therapeutic strategies has significantly improved the OS of L2-treated r/r LBCL patients in recent years, by reducing th</a:t>
            </a:r>
          </a:p>
          <a:p>
            <a:pPr>
              <a:lnSpc>
                <a:spcPct val="103000"/>
              </a:lnSpc>
              <a:spcAft>
                <a:spcPts val="300"/>
              </a:spcAft>
              <a:defRPr sz="590">
                <a:solidFill>
                  <a:srgbClr val="21242A"/>
                </a:solidFill>
                <a:latin typeface="Microsoft YaHei"/>
              </a:defRPr>
            </a:pPr>
            <a:r>
              <a:t>e risk of death by 29% in the overall population and by 24% in the early-r/r subgroup.</a:t>
            </a:r>
          </a:p>
          <a:p>
            <a:pPr>
              <a:lnSpc>
                <a:spcPct val="103000"/>
              </a:lnSpc>
              <a:spcAft>
                <a:spcPts val="300"/>
              </a:spcAft>
              <a:defRPr sz="590">
                <a:solidFill>
                  <a:srgbClr val="21242A"/>
                </a:solidFill>
                <a:latin typeface="Microsoft YaHei"/>
              </a:defRPr>
            </a:pPr>
            <a:r>
              <a:t>These real-world data confirm that shifting novel therapies to earlier lines of treatment translates into substantial clinical benefits and a reduction in LRM.</a:t>
            </a:r>
          </a:p>
          <a:p>
            <a:pPr>
              <a:lnSpc>
                <a:spcPct val="103000"/>
              </a:lnSpc>
              <a:spcAft>
                <a:spcPts val="300"/>
              </a:spcAft>
              <a:defRPr sz="590">
                <a:solidFill>
                  <a:srgbClr val="21242A"/>
                </a:solidFill>
                <a:latin typeface="Microsoft YaHei"/>
              </a:defRPr>
            </a:pPr>
            <a:r>
              <a:t>\n Support: NU23-03-00127, CU Hem-Onc Cooper, BBMRI_CZ LM2023033. \n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总生存期（OS）：Era2相比于Era1的HR=0.71（95%CI 0.56-0.91，P=0.01）；2年OS率：Era2为56%，Era1为41%||淋巴瘤相关死亡率累积发生率（CIF of LRM）：2年LRM率Era2为33%，Era1为41%（P=0.09）</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zamtocabtagene autoleucel，一种串联cd20-cd19导向的car-t细胞治疗复发/难治性大b...</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zamtocabtagene autoleucel, a tandem cd20-cd19 directed car-t cell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试验药/方案：zamtocabtagene autoleucel</a:t>
            </a:r>
          </a:p>
          <a:p>
            <a:pPr>
              <a:lnSpc>
                <a:spcPct val="103000"/>
              </a:lnSpc>
              <a:spcAft>
                <a:spcPts val="300"/>
              </a:spcAft>
              <a:defRPr sz="800">
                <a:solidFill>
                  <a:srgbClr val="21242A"/>
                </a:solidFill>
                <a:latin typeface="Microsoft YaHei"/>
              </a:defRPr>
            </a:pPr>
            <a:r>
              <a:t>靶点：CD20，CD19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对照/比较：试验组1：zamto-cel组，zamtocabtagene autoleucel</a:t>
            </a:r>
          </a:p>
          <a:p>
            <a:pPr>
              <a:lnSpc>
                <a:spcPct val="103000"/>
              </a:lnSpc>
              <a:spcAft>
                <a:spcPts val="300"/>
              </a:spcAft>
              <a:defRPr sz="800">
                <a:solidFill>
                  <a:srgbClr val="21242A"/>
                </a:solidFill>
                <a:latin typeface="Microsoft YaHei"/>
              </a:defRPr>
            </a:pPr>
            <a:r>
              <a:t>对照组：标准治疗组，R-GemOx, Pola-BR</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最佳总体缓解率（BOR）：79.3%</a:t>
            </a:r>
          </a:p>
          <a:p>
            <a:pPr>
              <a:lnSpc>
                <a:spcPct val="103000"/>
              </a:lnSpc>
              <a:spcAft>
                <a:spcPts val="300"/>
              </a:spcAft>
              <a:defRPr sz="800">
                <a:solidFill>
                  <a:srgbClr val="21242A"/>
                </a:solidFill>
                <a:latin typeface="Microsoft YaHei"/>
              </a:defRPr>
            </a:pPr>
            <a:r>
              <a:t>完全缓解率（CR）：65.5%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登记号：NCT04844866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试验药/方案：zamtocabtagene autoleucel</a:t>
            </a:r>
          </a:p>
          <a:p>
            <a:pPr>
              <a:lnSpc>
                <a:spcPct val="103000"/>
              </a:lnSpc>
              <a:spcAft>
                <a:spcPts val="300"/>
              </a:spcAft>
              <a:defRPr sz="810">
                <a:solidFill>
                  <a:srgbClr val="21242A"/>
                </a:solidFill>
                <a:latin typeface="Microsoft YaHei"/>
              </a:defRPr>
            </a:pPr>
            <a:r>
              <a:t>靶点：CD20、CD19</a:t>
            </a:r>
          </a:p>
          <a:p>
            <a:pPr>
              <a:lnSpc>
                <a:spcPct val="103000"/>
              </a:lnSpc>
              <a:spcAft>
                <a:spcPts val="300"/>
              </a:spcAft>
              <a:defRPr sz="810">
                <a:solidFill>
                  <a:srgbClr val="21242A"/>
                </a:solidFill>
                <a:latin typeface="Microsoft YaHei"/>
              </a:defRPr>
            </a:pPr>
            <a:r>
              <a:t>药物/技术类别：CAR-T、自体细胞、慢病毒载体LV</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zamtocabtagene autoleucel，一种串联cd20-cd19导向的car-t细胞治疗复发/难治性大b...</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zamtocabtagene autoleucel, a tandem cd20-cd19 directed car-t cell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Zamtocabtagene autoleucel (zamto-cel) is an autologous, non-cryopreserved tandem CD20-CD19 directed CAR-T cell therapy.</a:t>
            </a:r>
          </a:p>
          <a:p>
            <a:pPr>
              <a:lnSpc>
                <a:spcPct val="103000"/>
              </a:lnSpc>
              <a:spcAft>
                <a:spcPts val="300"/>
              </a:spcAft>
              <a:defRPr sz="570">
                <a:solidFill>
                  <a:srgbClr val="21242A"/>
                </a:solidFill>
                <a:latin typeface="Microsoft YaHei"/>
              </a:defRPr>
            </a:pPr>
            <a:r>
              <a:t>In the primary analysis of the DALY 2-EU trial (NCT04844866) in transplant ineligible (TI) adults with relapsed/refractory (r/r) large B-cell lymphoma (LBCL), z</a:t>
            </a:r>
          </a:p>
          <a:p>
            <a:pPr>
              <a:lnSpc>
                <a:spcPct val="103000"/>
              </a:lnSpc>
              <a:spcAft>
                <a:spcPts val="300"/>
              </a:spcAft>
              <a:defRPr sz="570">
                <a:solidFill>
                  <a:srgbClr val="21242A"/>
                </a:solidFill>
                <a:latin typeface="Microsoft YaHei"/>
              </a:defRPr>
            </a:pPr>
            <a:r>
              <a:t>amto-cel demonstrated superior event-free survival (EFS; median 6.2 vs 2.5 months), improved best overall response (BOR; 72.0 vs 44.9%) and complete response (C</a:t>
            </a:r>
          </a:p>
          <a:p>
            <a:pPr>
              <a:lnSpc>
                <a:spcPct val="103000"/>
              </a:lnSpc>
              <a:spcAft>
                <a:spcPts val="300"/>
              </a:spcAft>
              <a:defRPr sz="570">
                <a:solidFill>
                  <a:srgbClr val="21242A"/>
                </a:solidFill>
                <a:latin typeface="Microsoft YaHei"/>
              </a:defRPr>
            </a:pPr>
            <a:r>
              <a:t>R; 53.7 vs 14.1%) vs R-GemOx (standard of care [SoC]) as assessed by an independent review committee.</a:t>
            </a:r>
          </a:p>
          <a:p>
            <a:pPr>
              <a:lnSpc>
                <a:spcPct val="103000"/>
              </a:lnSpc>
              <a:spcAft>
                <a:spcPts val="300"/>
              </a:spcAft>
              <a:defRPr sz="570">
                <a:solidFill>
                  <a:srgbClr val="21242A"/>
                </a:solidFill>
                <a:latin typeface="Microsoft YaHei"/>
              </a:defRPr>
            </a:pPr>
            <a:r>
              <a:t>Zamto-cel had a manageable safety profile, with low rates of grade ≥3 immune cell-associated neurotoxicity syndrome (ICANS; 1.3%) and cytokine release syndrome </a:t>
            </a:r>
          </a:p>
          <a:p>
            <a:pPr>
              <a:lnSpc>
                <a:spcPct val="103000"/>
              </a:lnSpc>
              <a:spcAft>
                <a:spcPts val="300"/>
              </a:spcAft>
              <a:defRPr sz="570">
                <a:solidFill>
                  <a:srgbClr val="21242A"/>
                </a:solidFill>
                <a:latin typeface="Microsoft YaHei"/>
              </a:defRPr>
            </a:pPr>
            <a:r>
              <a:t>(CRS; 5.3%).</a:t>
            </a:r>
          </a:p>
          <a:p>
            <a:pPr>
              <a:lnSpc>
                <a:spcPct val="103000"/>
              </a:lnSpc>
              <a:spcAft>
                <a:spcPts val="300"/>
              </a:spcAft>
              <a:defRPr sz="570">
                <a:solidFill>
                  <a:srgbClr val="21242A"/>
                </a:solidFill>
                <a:latin typeface="Microsoft YaHei"/>
              </a:defRPr>
            </a:pPr>
            <a:r>
              <a:t>Aims: To evaluate the efficacy and safety of zamto-cel for crossover patients (pts) from SoC in DALY 2-EU.</a:t>
            </a:r>
          </a:p>
          <a:p>
            <a:pPr>
              <a:lnSpc>
                <a:spcPct val="103000"/>
              </a:lnSpc>
              <a:spcAft>
                <a:spcPts val="300"/>
              </a:spcAft>
              <a:defRPr sz="570">
                <a:solidFill>
                  <a:srgbClr val="21242A"/>
                </a:solidFill>
                <a:latin typeface="Microsoft YaHei"/>
              </a:defRPr>
            </a:pPr>
            <a:r>
              <a:t>Methods: DALY 2-EU is a randomized, European, open-label trial.</a:t>
            </a:r>
          </a:p>
          <a:p>
            <a:pPr>
              <a:lnSpc>
                <a:spcPct val="103000"/>
              </a:lnSpc>
              <a:spcAft>
                <a:spcPts val="300"/>
              </a:spcAft>
              <a:defRPr sz="570">
                <a:solidFill>
                  <a:srgbClr val="21242A"/>
                </a:solidFill>
                <a:latin typeface="Microsoft YaHei"/>
              </a:defRPr>
            </a:pPr>
            <a:r>
              <a:t>Informed consent was obtained from adult (≥18 years [y]) pts with r/r (≤24 months after start of first-line therapy) LBCL with Eastern Cooperative Oncology Grou</a:t>
            </a:r>
          </a:p>
          <a:p>
            <a:pPr>
              <a:lnSpc>
                <a:spcPct val="103000"/>
              </a:lnSpc>
              <a:spcAft>
                <a:spcPts val="300"/>
              </a:spcAft>
              <a:defRPr sz="570">
                <a:solidFill>
                  <a:srgbClr val="21242A"/>
                </a:solidFill>
                <a:latin typeface="Microsoft YaHei"/>
              </a:defRPr>
            </a:pPr>
            <a:r>
              <a:t>p performance status ≤2 who met one TI criterion (age ≥65y with impaired organ function or age ≥70y).</a:t>
            </a:r>
          </a:p>
          <a:p>
            <a:pPr>
              <a:lnSpc>
                <a:spcPct val="103000"/>
              </a:lnSpc>
              <a:spcAft>
                <a:spcPts val="300"/>
              </a:spcAft>
              <a:defRPr sz="570">
                <a:solidFill>
                  <a:srgbClr val="21242A"/>
                </a:solidFill>
                <a:latin typeface="Microsoft YaHei"/>
              </a:defRPr>
            </a:pPr>
            <a:r>
              <a:t>\n Between Oct 2021 and Jul 2024, 168 pts were randomized to zamto-cel or SoC (R-GemOx or Pola-BR).</a:t>
            </a:r>
          </a:p>
          <a:p>
            <a:pPr>
              <a:lnSpc>
                <a:spcPct val="103000"/>
              </a:lnSpc>
              <a:spcAft>
                <a:spcPts val="300"/>
              </a:spcAft>
              <a:defRPr sz="570">
                <a:solidFill>
                  <a:srgbClr val="21242A"/>
                </a:solidFill>
                <a:latin typeface="Microsoft YaHei"/>
              </a:defRPr>
            </a:pPr>
            <a:r>
              <a:t>Zamto-cel pts started lymphodepletion (fludarabine and cyclophosphamide) during manufacturing and received zamto-cel (target dose of 2.5×10 6 CAR-T cells/kg bod</a:t>
            </a:r>
          </a:p>
          <a:p>
            <a:pPr>
              <a:lnSpc>
                <a:spcPct val="103000"/>
              </a:lnSpc>
              <a:spcAft>
                <a:spcPts val="300"/>
              </a:spcAft>
              <a:defRPr sz="570">
                <a:solidFill>
                  <a:srgbClr val="21242A"/>
                </a:solidFill>
                <a:latin typeface="Microsoft YaHei"/>
              </a:defRPr>
            </a:pPr>
            <a:r>
              <a:t>y weight).</a:t>
            </a:r>
          </a:p>
          <a:p>
            <a:pPr>
              <a:lnSpc>
                <a:spcPct val="103000"/>
              </a:lnSpc>
              <a:spcAft>
                <a:spcPts val="300"/>
              </a:spcAft>
              <a:defRPr sz="570">
                <a:solidFill>
                  <a:srgbClr val="21242A"/>
                </a:solidFill>
                <a:latin typeface="Microsoft YaHei"/>
              </a:defRPr>
            </a:pPr>
            <a:r>
              <a:t>A protocol amendment (Feb 2023) allowed one-sided crossover from SoC to zamto-cel as third-line (3L) therapy, no crossover occurred before the amendment.</a:t>
            </a:r>
          </a:p>
          <a:p>
            <a:pPr>
              <a:lnSpc>
                <a:spcPct val="103000"/>
              </a:lnSpc>
              <a:spcAft>
                <a:spcPts val="300"/>
              </a:spcAft>
              <a:defRPr sz="570">
                <a:solidFill>
                  <a:srgbClr val="21242A"/>
                </a:solidFill>
                <a:latin typeface="Microsoft YaHei"/>
              </a:defRPr>
            </a:pPr>
            <a:r>
              <a:t>Eligible pts had relapsed or progressed ≤1y after randomization, or failed to achieve partial response (PR) or CR in ≥8 weeks.</a:t>
            </a:r>
          </a:p>
          <a:p>
            <a:pPr>
              <a:lnSpc>
                <a:spcPct val="103000"/>
              </a:lnSpc>
              <a:spcAft>
                <a:spcPts val="300"/>
              </a:spcAft>
              <a:defRPr sz="570">
                <a:solidFill>
                  <a:srgbClr val="21242A"/>
                </a:solidFill>
                <a:latin typeface="Microsoft YaHei"/>
              </a:defRPr>
            </a:pPr>
            <a:r>
              <a:t>Leukapheresis product was collected after randomization, cryopreserved and used after manufacturing following crossover approval.</a:t>
            </a:r>
          </a:p>
          <a:p>
            <a:pPr>
              <a:lnSpc>
                <a:spcPct val="103000"/>
              </a:lnSpc>
              <a:spcAft>
                <a:spcPts val="300"/>
              </a:spcAft>
              <a:defRPr sz="570">
                <a:solidFill>
                  <a:srgbClr val="21242A"/>
                </a:solidFill>
                <a:latin typeface="Microsoft YaHei"/>
              </a:defRPr>
            </a:pPr>
            <a:r>
              <a:t>Bridging therapy was allowed prior to zamto-cel administration.</a:t>
            </a:r>
          </a:p>
          <a:p>
            <a:pPr>
              <a:lnSpc>
                <a:spcPct val="103000"/>
              </a:lnSpc>
              <a:spcAft>
                <a:spcPts val="300"/>
              </a:spcAft>
              <a:defRPr sz="570">
                <a:solidFill>
                  <a:srgbClr val="21242A"/>
                </a:solidFill>
                <a:latin typeface="Microsoft YaHei"/>
              </a:defRPr>
            </a:pPr>
            <a:r>
              <a:t>Exploratory efficacy endpoints in the crossover population were investigator assessed and included EFS, progression-free survival (PFS), and BOR.</a:t>
            </a:r>
          </a:p>
          <a:p>
            <a:pPr>
              <a:lnSpc>
                <a:spcPct val="103000"/>
              </a:lnSpc>
              <a:spcAft>
                <a:spcPts val="300"/>
              </a:spcAft>
              <a:defRPr sz="570">
                <a:solidFill>
                  <a:srgbClr val="21242A"/>
                </a:solidFill>
                <a:latin typeface="Microsoft YaHei"/>
              </a:defRPr>
            </a:pPr>
            <a:r>
              <a:t>Safety was also evaluated; treatment-emergent adverse events (TEAEs) were defined as any AE occurring from zamto-cel infusion to 90 days post-infusion, and befo</a:t>
            </a:r>
          </a:p>
          <a:p>
            <a:pPr>
              <a:lnSpc>
                <a:spcPct val="103000"/>
              </a:lnSpc>
              <a:spcAft>
                <a:spcPts val="300"/>
              </a:spcAft>
              <a:defRPr sz="570">
                <a:solidFill>
                  <a:srgbClr val="21242A"/>
                </a:solidFill>
                <a:latin typeface="Microsoft YaHei"/>
              </a:defRPr>
            </a:pPr>
            <a:r>
              <a:t>re new anti-lymphoma therapy.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3L setting, most intended pts received zamto-cel.</a:t>
            </a:r>
          </a:p>
          <a:p>
            <a:pPr>
              <a:lnSpc>
                <a:spcPct val="103000"/>
              </a:lnSpc>
              <a:spcAft>
                <a:spcPts val="300"/>
              </a:spcAft>
              <a:defRPr sz="590">
                <a:solidFill>
                  <a:srgbClr val="21242A"/>
                </a:solidFill>
                <a:latin typeface="Microsoft YaHei"/>
              </a:defRPr>
            </a:pPr>
            <a:r>
              <a:t>Analysis of this mainly refractory 3L pt population revealed clinically meaningful efficacy of zamto-cel with low rates of severe CRS and ICANS, consistent with</a:t>
            </a:r>
          </a:p>
          <a:p>
            <a:pPr>
              <a:lnSpc>
                <a:spcPct val="103000"/>
              </a:lnSpc>
              <a:spcAft>
                <a:spcPts val="300"/>
              </a:spcAft>
              <a:defRPr sz="590">
                <a:solidFill>
                  <a:srgbClr val="21242A"/>
                </a:solidFill>
                <a:latin typeface="Microsoft YaHei"/>
              </a:defRPr>
            </a:pPr>
            <a:r>
              <a:t> second-line treatment with zamto-cel.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最佳总体缓解率（BOR）</a:t>
                      </a:r>
                    </a:p>
                  </a:txBody>
                  <a:tcPr>
                    <a:solidFill>
                      <a:srgbClr val="F6F8FB"/>
                    </a:solidFill>
                  </a:tcPr>
                </a:tc>
                <a:tc>
                  <a:txBody>
                    <a:bodyPr wrap="square" lIns="36576" rIns="36576" tIns="18288" bIns="18288"/>
                    <a:lstStyle/>
                    <a:p>
                      <a:r>
                        <a:rPr sz="540" b="0">
                          <a:solidFill>
                            <a:srgbClr val="21242A"/>
                          </a:solidFill>
                          <a:latin typeface="Microsoft YaHei"/>
                        </a:rPr>
                        <a:t>79.3%</a:t>
                      </a:r>
                    </a:p>
                  </a:txBody>
                  <a:tcPr>
                    <a:solidFill>
                      <a:srgbClr val="F6F8FB"/>
                    </a:solidFill>
                  </a:tcPr>
                </a:tc>
              </a:tr>
              <a:tr h="214230">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65.5%</a:t>
                      </a:r>
                    </a:p>
                  </a:txBody>
                  <a:tcPr>
                    <a:solidFill>
                      <a:srgbClr val="FFFFFF"/>
                    </a:solidFill>
                  </a:tcPr>
                </a:tc>
              </a:tr>
              <a:tr h="214230">
                <a:tc>
                  <a:txBody>
                    <a:bodyPr wrap="square" lIns="36576" rIns="36576" tIns="18288" bIns="18288"/>
                    <a:lstStyle/>
                    <a:p>
                      <a:r>
                        <a:rPr sz="540" b="1">
                          <a:solidFill>
                            <a:srgbClr val="21242A"/>
                          </a:solidFill>
                          <a:latin typeface="Microsoft YaHei"/>
                        </a:rPr>
                        <a:t>6个月无事件生存率</a:t>
                      </a:r>
                    </a:p>
                  </a:txBody>
                  <a:tcPr>
                    <a:solidFill>
                      <a:srgbClr val="F6F8FB"/>
                    </a:solidFill>
                  </a:tcPr>
                </a:tc>
                <a:tc>
                  <a:txBody>
                    <a:bodyPr wrap="square" lIns="36576" rIns="36576" tIns="18288" bIns="18288"/>
                    <a:lstStyle/>
                    <a:p>
                      <a:r>
                        <a:rPr sz="540" b="0">
                          <a:solidFill>
                            <a:srgbClr val="21242A"/>
                          </a:solidFill>
                          <a:latin typeface="Microsoft YaHei"/>
                        </a:rPr>
                        <a:t>79%（95% CI 53%-92%）</a:t>
                      </a:r>
                    </a:p>
                  </a:txBody>
                  <a:tcPr>
                    <a:solidFill>
                      <a:srgbClr val="F6F8FB"/>
                    </a:solidFill>
                  </a:tcPr>
                </a:tc>
              </a:tr>
              <a:tr h="214230">
                <a:tc>
                  <a:txBody>
                    <a:bodyPr wrap="square" lIns="36576" rIns="36576" tIns="18288" bIns="18288"/>
                    <a:lstStyle/>
                    <a:p>
                      <a:r>
                        <a:rPr sz="540" b="1">
                          <a:solidFill>
                            <a:srgbClr val="21242A"/>
                          </a:solidFill>
                          <a:latin typeface="Microsoft YaHei"/>
                        </a:rPr>
                        <a:t>6个月无进展生存率</a:t>
                      </a:r>
                    </a:p>
                  </a:txBody>
                  <a:tcPr>
                    <a:solidFill>
                      <a:srgbClr val="FFFFFF"/>
                    </a:solidFill>
                  </a:tcPr>
                </a:tc>
                <a:tc>
                  <a:txBody>
                    <a:bodyPr wrap="square" lIns="36576" rIns="36576" tIns="18288" bIns="18288"/>
                    <a:lstStyle/>
                    <a:p>
                      <a:r>
                        <a:rPr sz="540" b="0">
                          <a:solidFill>
                            <a:srgbClr val="21242A"/>
                          </a:solidFill>
                          <a:latin typeface="Microsoft YaHei"/>
                        </a:rPr>
                        <a:t>79%（95% CI 53%-92%）</a:t>
                      </a:r>
                    </a:p>
                  </a:txBody>
                  <a:tcPr>
                    <a:solidFill>
                      <a:srgbClr val="FFFFFF"/>
                    </a:solidFill>
                  </a:tcPr>
                </a:tc>
              </a:tr>
              <a:tr h="214230">
                <a:tc>
                  <a:txBody>
                    <a:bodyPr wrap="square" lIns="36576" rIns="36576" tIns="18288" bIns="18288"/>
                    <a:lstStyle/>
                    <a:p>
                      <a:r>
                        <a:rPr sz="540" b="1">
                          <a:solidFill>
                            <a:srgbClr val="21242A"/>
                          </a:solidFill>
                          <a:latin typeface="Microsoft YaHei"/>
                        </a:rPr>
                        <a:t>≥3级细胞因子释放综合征（CRS）</a:t>
                      </a:r>
                    </a:p>
                  </a:txBody>
                  <a:tcPr>
                    <a:solidFill>
                      <a:srgbClr val="F6F8FB"/>
                    </a:solidFill>
                  </a:tcPr>
                </a:tc>
                <a:tc>
                  <a:txBody>
                    <a:bodyPr wrap="square" lIns="36576" rIns="36576" tIns="18288" bIns="18288"/>
                    <a:lstStyle/>
                    <a:p>
                      <a:r>
                        <a:rPr sz="540" b="0">
                          <a:solidFill>
                            <a:srgbClr val="21242A"/>
                          </a:solidFill>
                          <a:latin typeface="Microsoft YaHei"/>
                        </a:rPr>
                        <a:t>6.9%</a:t>
                      </a:r>
                    </a:p>
                  </a:txBody>
                  <a:tcPr>
                    <a:solidFill>
                      <a:srgbClr val="F6F8FB"/>
                    </a:solidFill>
                  </a:tcPr>
                </a:tc>
              </a:tr>
              <a:tr h="214236">
                <a:tc>
                  <a:txBody>
                    <a:bodyPr wrap="square" lIns="36576" rIns="36576" tIns="18288" bIns="18288"/>
                    <a:lstStyle/>
                    <a:p>
                      <a:r>
                        <a:rPr sz="540" b="1">
                          <a:solidFill>
                            <a:srgbClr val="21242A"/>
                          </a:solidFill>
                          <a:latin typeface="Microsoft YaHei"/>
                        </a:rPr>
                        <a:t>≥3级免疫细胞相关神经毒性综合征（ICANS）</a:t>
                      </a:r>
                    </a:p>
                  </a:txBody>
                  <a:tcPr>
                    <a:solidFill>
                      <a:srgbClr val="FFFFFF"/>
                    </a:solidFill>
                  </a:tcPr>
                </a:tc>
                <a:tc>
                  <a:txBody>
                    <a:bodyPr wrap="square" lIns="36576" rIns="36576" tIns="18288" bIns="18288"/>
                    <a:lstStyle/>
                    <a:p>
                      <a:r>
                        <a:rPr sz="540" b="0">
                          <a:solidFill>
                            <a:srgbClr val="21242A"/>
                          </a:solidFill>
                          <a:latin typeface="Microsoft YaHei"/>
                        </a:rPr>
                        <a:t>3.4%</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摘要号：PF975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il-7/ccl19装甲car-t细胞早期car-t收缩期间时间限定的pd-1阻断与高危复发/难治性lbcl标志的反应...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time-defined pd-1 blockade during early car-t contraction of il-7/ccl19–armor...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试验药/方案：替雷利珠单抗</a:t>
            </a:r>
          </a:p>
          <a:p>
            <a:pPr>
              <a:lnSpc>
                <a:spcPct val="103000"/>
              </a:lnSpc>
              <a:spcAft>
                <a:spcPts val="300"/>
              </a:spcAft>
              <a:defRPr sz="800">
                <a:solidFill>
                  <a:srgbClr val="21242A"/>
                </a:solidFill>
                <a:latin typeface="Microsoft YaHei"/>
              </a:defRPr>
            </a:pPr>
            <a:r>
              <a:t>靶点：PD-1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3个月客观缓解率(ORR): 85%</a:t>
            </a:r>
          </a:p>
          <a:p>
            <a:pPr>
              <a:lnSpc>
                <a:spcPct val="103000"/>
              </a:lnSpc>
              <a:spcAft>
                <a:spcPts val="300"/>
              </a:spcAft>
              <a:defRPr sz="800">
                <a:solidFill>
                  <a:srgbClr val="21242A"/>
                </a:solidFill>
                <a:latin typeface="Microsoft YaHei"/>
              </a:defRPr>
            </a:pPr>
            <a:r>
              <a:t>累积完全缓解率(CR): 70%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登记号：NCT04381741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试验药/方案：替雷利珠单抗</a:t>
            </a:r>
          </a:p>
          <a:p>
            <a:pPr>
              <a:lnSpc>
                <a:spcPct val="103000"/>
              </a:lnSpc>
              <a:spcAft>
                <a:spcPts val="300"/>
              </a:spcAft>
              <a:defRPr sz="810">
                <a:solidFill>
                  <a:srgbClr val="21242A"/>
                </a:solidFill>
                <a:latin typeface="Microsoft YaHei"/>
              </a:defRPr>
            </a:pPr>
            <a:r>
              <a:t>靶点：PD-1</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il-7/ccl19装甲car-t细胞早期car-t收缩期间时间限定的pd-1阻断与高危复发/难治性lbcl标志的反应...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time-defined pd-1 blockade during early car-t contraction of il-7/ccl19–armor...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CD19-directed CAR-T therapy induces high response rates in relapsed/refractory large B-cell lymphoma (R/R LBCL), yet durable remission remains subop</a:t>
            </a:r>
          </a:p>
          <a:p>
            <a:pPr>
              <a:lnSpc>
                <a:spcPct val="103000"/>
              </a:lnSpc>
              <a:spcAft>
                <a:spcPts val="300"/>
              </a:spcAft>
              <a:defRPr sz="570">
                <a:solidFill>
                  <a:srgbClr val="21242A"/>
                </a:solidFill>
                <a:latin typeface="Microsoft YaHei"/>
              </a:defRPr>
            </a:pPr>
            <a:r>
              <a:t>timal in patients with bulky disease or PD-L1–enriched tumor microenvironments.</a:t>
            </a:r>
          </a:p>
          <a:p>
            <a:pPr>
              <a:lnSpc>
                <a:spcPct val="103000"/>
              </a:lnSpc>
              <a:spcAft>
                <a:spcPts val="300"/>
              </a:spcAft>
              <a:defRPr sz="570">
                <a:solidFill>
                  <a:srgbClr val="21242A"/>
                </a:solidFill>
                <a:latin typeface="Microsoft YaHei"/>
              </a:defRPr>
            </a:pPr>
            <a:r>
              <a:t>CAR-T functional states evolve dynamically after peak expansion, but whether the early contraction phase represents a clinically actionable window for checkpoin</a:t>
            </a:r>
          </a:p>
          <a:p>
            <a:pPr>
              <a:lnSpc>
                <a:spcPct val="103000"/>
              </a:lnSpc>
              <a:spcAft>
                <a:spcPts val="300"/>
              </a:spcAft>
              <a:defRPr sz="570">
                <a:solidFill>
                  <a:srgbClr val="21242A"/>
                </a:solidFill>
                <a:latin typeface="Microsoft YaHei"/>
              </a:defRPr>
            </a:pPr>
            <a:r>
              <a:t>t modulation remains uncertain.</a:t>
            </a:r>
          </a:p>
          <a:p>
            <a:pPr>
              <a:lnSpc>
                <a:spcPct val="103000"/>
              </a:lnSpc>
              <a:spcAft>
                <a:spcPts val="300"/>
              </a:spcAft>
              <a:defRPr sz="570">
                <a:solidFill>
                  <a:srgbClr val="21242A"/>
                </a:solidFill>
                <a:latin typeface="Microsoft YaHei"/>
              </a:defRPr>
            </a:pPr>
            <a:r>
              <a:t>Aims: To assess the safety and preliminary efficacy of PD-1 blockade administered during early CAR-T contraction and to explore its association with response de</a:t>
            </a:r>
          </a:p>
          <a:p>
            <a:pPr>
              <a:lnSpc>
                <a:spcPct val="103000"/>
              </a:lnSpc>
              <a:spcAft>
                <a:spcPts val="300"/>
              </a:spcAft>
              <a:defRPr sz="570">
                <a:solidFill>
                  <a:srgbClr val="21242A"/>
                </a:solidFill>
                <a:latin typeface="Microsoft YaHei"/>
              </a:defRPr>
            </a:pPr>
            <a:r>
              <a:t>epening in biologically high-risk R/R LBCL.</a:t>
            </a:r>
          </a:p>
          <a:p>
            <a:pPr>
              <a:lnSpc>
                <a:spcPct val="103000"/>
              </a:lnSpc>
              <a:spcAft>
                <a:spcPts val="300"/>
              </a:spcAft>
              <a:defRPr sz="570">
                <a:solidFill>
                  <a:srgbClr val="21242A"/>
                </a:solidFill>
                <a:latin typeface="Microsoft YaHei"/>
              </a:defRPr>
            </a:pPr>
            <a:r>
              <a:t>Methods: In this investigator-initiated phase I study (NCT04381741), 20 patients with R/R LBCL received lymphodepletion followed by IL-7/CCL19–armored CD19 CAR-</a:t>
            </a:r>
          </a:p>
          <a:p>
            <a:pPr>
              <a:lnSpc>
                <a:spcPct val="103000"/>
              </a:lnSpc>
              <a:spcAft>
                <a:spcPts val="300"/>
              </a:spcAft>
              <a:defRPr sz="570">
                <a:solidFill>
                  <a:srgbClr val="21242A"/>
                </a:solidFill>
                <a:latin typeface="Microsoft YaHei"/>
              </a:defRPr>
            </a:pPr>
            <a:r>
              <a:t>T cells (2×10⁶/kg).</a:t>
            </a:r>
          </a:p>
          <a:p>
            <a:pPr>
              <a:lnSpc>
                <a:spcPct val="103000"/>
              </a:lnSpc>
              <a:spcAft>
                <a:spcPts val="300"/>
              </a:spcAft>
              <a:defRPr sz="570">
                <a:solidFill>
                  <a:srgbClr val="21242A"/>
                </a:solidFill>
                <a:latin typeface="Microsoft YaHei"/>
              </a:defRPr>
            </a:pPr>
            <a:r>
              <a:t>Based on longitudinal CAR-T kinetics, PD-1 blockade (tislelizumab 200 mg) was initiated on day +30 (±2), corresponding to early contraction.Primary endpoints we</a:t>
            </a:r>
          </a:p>
          <a:p>
            <a:pPr>
              <a:lnSpc>
                <a:spcPct val="103000"/>
              </a:lnSpc>
              <a:spcAft>
                <a:spcPts val="300"/>
              </a:spcAft>
              <a:defRPr sz="570">
                <a:solidFill>
                  <a:srgbClr val="21242A"/>
                </a:solidFill>
                <a:latin typeface="Microsoft YaHei"/>
              </a:defRPr>
            </a:pPr>
            <a:r>
              <a:t>re safety and 3-month objective response rate (ORR).</a:t>
            </a:r>
          </a:p>
          <a:p>
            <a:pPr>
              <a:lnSpc>
                <a:spcPct val="103000"/>
              </a:lnSpc>
              <a:spcAft>
                <a:spcPts val="300"/>
              </a:spcAft>
              <a:defRPr sz="570">
                <a:solidFill>
                  <a:srgbClr val="21242A"/>
                </a:solidFill>
                <a:latin typeface="Microsoft YaHei"/>
              </a:defRPr>
            </a:pPr>
            <a:r>
              <a:t>Secondary endpoints included complete response (CR), progression-free survival (PFS), overall survival (OS), and duration of response.</a:t>
            </a:r>
          </a:p>
          <a:p>
            <a:pPr>
              <a:lnSpc>
                <a:spcPct val="103000"/>
              </a:lnSpc>
              <a:spcAft>
                <a:spcPts val="300"/>
              </a:spcAft>
              <a:defRPr sz="570">
                <a:solidFill>
                  <a:srgbClr val="21242A"/>
                </a:solidFill>
                <a:latin typeface="Microsoft YaHei"/>
              </a:defRPr>
            </a:pPr>
            <a:r>
              <a:t>Immune profiling included CAR transgene monitoring, multiparameter flow cytometry, single-cell RNA sequencing, and TCR clonotype analysis.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CAR-T cells undergo an early contraction phase marked by checkpoint-sensitive functional restraint rather than terminal exhaustion.</a:t>
            </a:r>
          </a:p>
          <a:p>
            <a:pPr>
              <a:lnSpc>
                <a:spcPct val="103000"/>
              </a:lnSpc>
              <a:spcAft>
                <a:spcPts val="300"/>
              </a:spcAft>
              <a:defRPr sz="590">
                <a:solidFill>
                  <a:srgbClr val="21242A"/>
                </a:solidFill>
                <a:latin typeface="Microsoft YaHei"/>
              </a:defRPr>
            </a:pPr>
            <a:r>
              <a:t>PD-1 blockade timed to this window reprogrammed dysfunctional CAR-T cells, deepened responses, and overcame the negative prognostic impact of PD-L1^high express</a:t>
            </a:r>
          </a:p>
          <a:p>
            <a:pPr>
              <a:lnSpc>
                <a:spcPct val="103000"/>
              </a:lnSpc>
              <a:spcAft>
                <a:spcPts val="300"/>
              </a:spcAft>
              <a:defRPr sz="590">
                <a:solidFill>
                  <a:srgbClr val="21242A"/>
                </a:solidFill>
                <a:latin typeface="Microsoft YaHei"/>
              </a:defRPr>
            </a:pPr>
            <a:r>
              <a:t>ion and bulky disease—without increasing immune-related toxicity.</a:t>
            </a:r>
          </a:p>
          <a:p>
            <a:pPr>
              <a:lnSpc>
                <a:spcPct val="103000"/>
              </a:lnSpc>
              <a:spcAft>
                <a:spcPts val="300"/>
              </a:spcAft>
              <a:defRPr sz="590">
                <a:solidFill>
                  <a:srgbClr val="21242A"/>
                </a:solidFill>
                <a:latin typeface="Microsoft YaHei"/>
              </a:defRPr>
            </a:pPr>
            <a:r>
              <a:t>These results highlight timing as a key therapeutic variable in CAR-T therapy and support a dual-axis strategy combining intrinsic IL-7/CCL19 armoring with phas</a:t>
            </a:r>
          </a:p>
          <a:p>
            <a:pPr>
              <a:lnSpc>
                <a:spcPct val="103000"/>
              </a:lnSpc>
              <a:spcAft>
                <a:spcPts val="300"/>
              </a:spcAft>
              <a:defRPr sz="590">
                <a:solidFill>
                  <a:srgbClr val="21242A"/>
                </a:solidFill>
                <a:latin typeface="Microsoft YaHei"/>
              </a:defRPr>
            </a:pPr>
            <a:r>
              <a:t>e-specific checkpoint inhibition to enhance durability in immune-resistant LBCL.</a:t>
            </a:r>
          </a:p>
          <a:p>
            <a:pPr>
              <a:lnSpc>
                <a:spcPct val="103000"/>
              </a:lnSpc>
              <a:spcAft>
                <a:spcPts val="300"/>
              </a:spcAft>
              <a:defRPr sz="590">
                <a:solidFill>
                  <a:srgbClr val="21242A"/>
                </a:solidFill>
                <a:latin typeface="Microsoft YaHei"/>
              </a:defRPr>
            </a:pPr>
            <a:r>
              <a:t>Given the single-arm design and small sample size, findings are hypothesis-generating and warrant validation in prospective controlled trials.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1. 3个月客观缓解率(ORR)</a:t>
                      </a:r>
                    </a:p>
                  </a:txBody>
                  <a:tcPr>
                    <a:solidFill>
                      <a:srgbClr val="F6F8FB"/>
                    </a:solidFill>
                  </a:tcPr>
                </a:tc>
                <a:tc>
                  <a:txBody>
                    <a:bodyPr wrap="square" lIns="36576" rIns="36576" tIns="18288" bIns="18288"/>
                    <a:lstStyle/>
                    <a:p>
                      <a:r>
                        <a:rPr sz="540" b="0">
                          <a:solidFill>
                            <a:srgbClr val="21242A"/>
                          </a:solidFill>
                          <a:latin typeface="Microsoft YaHei"/>
                        </a:rPr>
                        <a:t>85%</a:t>
                      </a:r>
                    </a:p>
                  </a:txBody>
                  <a:tcPr>
                    <a:solidFill>
                      <a:srgbClr val="F6F8FB"/>
                    </a:solidFill>
                  </a:tcPr>
                </a:tc>
              </a:tr>
              <a:tr h="214230">
                <a:tc>
                  <a:txBody>
                    <a:bodyPr wrap="square" lIns="36576" rIns="36576" tIns="18288" bIns="18288"/>
                    <a:lstStyle/>
                    <a:p>
                      <a:r>
                        <a:rPr sz="540" b="1">
                          <a:solidFill>
                            <a:srgbClr val="21242A"/>
                          </a:solidFill>
                          <a:latin typeface="Microsoft YaHei"/>
                        </a:rPr>
                        <a:t>2. 累积完全缓解率(CR)</a:t>
                      </a:r>
                    </a:p>
                  </a:txBody>
                  <a:tcPr>
                    <a:solidFill>
                      <a:srgbClr val="FFFFFF"/>
                    </a:solidFill>
                  </a:tcPr>
                </a:tc>
                <a:tc>
                  <a:txBody>
                    <a:bodyPr wrap="square" lIns="36576" rIns="36576" tIns="18288" bIns="18288"/>
                    <a:lstStyle/>
                    <a:p>
                      <a:r>
                        <a:rPr sz="540" b="0">
                          <a:solidFill>
                            <a:srgbClr val="21242A"/>
                          </a:solidFill>
                          <a:latin typeface="Microsoft YaHei"/>
                        </a:rPr>
                        <a:t>70%</a:t>
                      </a:r>
                    </a:p>
                  </a:txBody>
                  <a:tcPr>
                    <a:solidFill>
                      <a:srgbClr val="FFFFFF"/>
                    </a:solidFill>
                  </a:tcPr>
                </a:tc>
              </a:tr>
              <a:tr h="214230">
                <a:tc>
                  <a:txBody>
                    <a:bodyPr wrap="square" lIns="36576" rIns="36576" tIns="18288" bIns="18288"/>
                    <a:lstStyle/>
                    <a:p>
                      <a:r>
                        <a:rPr sz="540" b="1">
                          <a:solidFill>
                            <a:srgbClr val="21242A"/>
                          </a:solidFill>
                          <a:latin typeface="Microsoft YaHei"/>
                        </a:rPr>
                        <a:t>3. 2年无进展生存期(PFS)</a:t>
                      </a:r>
                    </a:p>
                  </a:txBody>
                  <a:tcPr>
                    <a:solidFill>
                      <a:srgbClr val="F6F8FB"/>
                    </a:solidFill>
                  </a:tcPr>
                </a:tc>
                <a:tc>
                  <a:txBody>
                    <a:bodyPr wrap="square" lIns="36576" rIns="36576" tIns="18288" bIns="18288"/>
                    <a:lstStyle/>
                    <a:p>
                      <a:r>
                        <a:rPr sz="540" b="0">
                          <a:solidFill>
                            <a:srgbClr val="21242A"/>
                          </a:solidFill>
                          <a:latin typeface="Microsoft YaHei"/>
                        </a:rPr>
                        <a:t>60.0%</a:t>
                      </a:r>
                    </a:p>
                  </a:txBody>
                  <a:tcPr>
                    <a:solidFill>
                      <a:srgbClr val="F6F8FB"/>
                    </a:solidFill>
                  </a:tcPr>
                </a:tc>
              </a:tr>
              <a:tr h="214230">
                <a:tc>
                  <a:txBody>
                    <a:bodyPr wrap="square" lIns="36576" rIns="36576" tIns="18288" bIns="18288"/>
                    <a:lstStyle/>
                    <a:p>
                      <a:r>
                        <a:rPr sz="540" b="1">
                          <a:solidFill>
                            <a:srgbClr val="21242A"/>
                          </a:solidFill>
                          <a:latin typeface="Microsoft YaHei"/>
                        </a:rPr>
                        <a:t>4. 2年总生存期(OS)</a:t>
                      </a:r>
                    </a:p>
                  </a:txBody>
                  <a:tcPr>
                    <a:solidFill>
                      <a:srgbClr val="FFFFFF"/>
                    </a:solidFill>
                  </a:tcPr>
                </a:tc>
                <a:tc>
                  <a:txBody>
                    <a:bodyPr wrap="square" lIns="36576" rIns="36576" tIns="18288" bIns="18288"/>
                    <a:lstStyle/>
                    <a:p>
                      <a:r>
                        <a:rPr sz="540" b="0">
                          <a:solidFill>
                            <a:srgbClr val="21242A"/>
                          </a:solidFill>
                          <a:latin typeface="Microsoft YaHei"/>
                        </a:rPr>
                        <a:t>71.1%</a:t>
                      </a:r>
                    </a:p>
                  </a:txBody>
                  <a:tcPr>
                    <a:solidFill>
                      <a:srgbClr val="FFFFFF"/>
                    </a:solidFill>
                  </a:tcPr>
                </a:tc>
              </a:tr>
              <a:tr h="214230">
                <a:tc>
                  <a:txBody>
                    <a:bodyPr wrap="square" lIns="36576" rIns="36576" tIns="18288" bIns="18288"/>
                    <a:lstStyle/>
                    <a:p>
                      <a:r>
                        <a:rPr sz="540" b="1">
                          <a:solidFill>
                            <a:srgbClr val="21242A"/>
                          </a:solidFill>
                          <a:latin typeface="Microsoft YaHei"/>
                        </a:rPr>
                        <a:t>5. 中位随访时间</a:t>
                      </a:r>
                    </a:p>
                  </a:txBody>
                  <a:tcPr>
                    <a:solidFill>
                      <a:srgbClr val="F6F8FB"/>
                    </a:solidFill>
                  </a:tcPr>
                </a:tc>
                <a:tc>
                  <a:txBody>
                    <a:bodyPr wrap="square" lIns="36576" rIns="36576" tIns="18288" bIns="18288"/>
                    <a:lstStyle/>
                    <a:p>
                      <a:r>
                        <a:rPr sz="540" b="0">
                          <a:solidFill>
                            <a:srgbClr val="21242A"/>
                          </a:solidFill>
                          <a:latin typeface="Microsoft YaHei"/>
                        </a:rPr>
                        <a:t>21.8个月</a:t>
                      </a:r>
                    </a:p>
                  </a:txBody>
                  <a:tcPr>
                    <a:solidFill>
                      <a:srgbClr val="F6F8FB"/>
                    </a:solidFill>
                  </a:tcPr>
                </a:tc>
              </a:tr>
              <a:tr h="214236">
                <a:tc>
                  <a:txBody>
                    <a:bodyPr wrap="square" lIns="36576" rIns="36576" tIns="18288" bIns="18288"/>
                    <a:lstStyle/>
                    <a:p>
                      <a:r>
                        <a:rPr sz="540" b="1">
                          <a:solidFill>
                            <a:srgbClr val="21242A"/>
                          </a:solidFill>
                          <a:latin typeface="Microsoft YaHei"/>
                        </a:rPr>
                        <a:t>6. 安全性</a:t>
                      </a:r>
                    </a:p>
                  </a:txBody>
                  <a:tcPr>
                    <a:solidFill>
                      <a:srgbClr val="FFFFFF"/>
                    </a:solidFill>
                  </a:tcPr>
                </a:tc>
                <a:tc>
                  <a:txBody>
                    <a:bodyPr wrap="square" lIns="36576" rIns="36576" tIns="18288" bIns="18288"/>
                    <a:lstStyle/>
                    <a:p>
                      <a:r>
                        <a:rPr sz="540" b="0">
                          <a:solidFill>
                            <a:srgbClr val="21242A"/>
                          </a:solidFill>
                          <a:latin typeface="Microsoft YaHei"/>
                        </a:rPr>
                        <a:t>未出现新的CRS或ICANS</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摘要号：PF969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先前的治疗方案对阿昔布他加烯-西洛卢塞或利沙他加烯maraleucel car t细胞治疗后进展风险和失败后总生存率的...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prior lines of therapy on progression risk and post-failure overall...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6个月进展累积发生率：2L组38%，3L组40%，4L+组47%</a:t>
            </a:r>
          </a:p>
          <a:p>
            <a:pPr>
              <a:lnSpc>
                <a:spcPct val="103000"/>
              </a:lnSpc>
              <a:spcAft>
                <a:spcPts val="300"/>
              </a:spcAft>
              <a:defRPr sz="800">
                <a:solidFill>
                  <a:srgbClr val="21242A"/>
                </a:solidFill>
                <a:latin typeface="Microsoft YaHei"/>
              </a:defRPr>
            </a:pPr>
            <a:r>
              <a:t>1年进展后总生存率：2L组35%，3L组36%，4L+组26%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人数：627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先前的治疗方案对阿昔布他加烯-西洛卢塞或利沙他加烯maraleucel car t细胞治疗后进展风险和失败后总生存率的...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prior lines of therapy on progression risk and post-failure overall...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CAR T-cells have improved outcomes for relapsed/refractory aggressive large B-cell lymphomas.</a:t>
            </a:r>
          </a:p>
          <a:p>
            <a:pPr>
              <a:lnSpc>
                <a:spcPct val="103000"/>
              </a:lnSpc>
              <a:spcAft>
                <a:spcPts val="300"/>
              </a:spcAft>
              <a:defRPr sz="570">
                <a:solidFill>
                  <a:srgbClr val="21242A"/>
                </a:solidFill>
                <a:latin typeface="Microsoft YaHei"/>
              </a:defRPr>
            </a:pPr>
            <a:r>
              <a:t>Over the last decade, Axicabtagene ciloleucel (Axicel) and Lisocabtagene maraleucel (Lisocel) were approved for patients who had failed two or more therapies, w</a:t>
            </a:r>
          </a:p>
          <a:p>
            <a:pPr>
              <a:lnSpc>
                <a:spcPct val="103000"/>
              </a:lnSpc>
              <a:spcAft>
                <a:spcPts val="300"/>
              </a:spcAft>
              <a:defRPr sz="570">
                <a:solidFill>
                  <a:srgbClr val="21242A"/>
                </a:solidFill>
                <a:latin typeface="Microsoft YaHei"/>
              </a:defRPr>
            </a:pPr>
            <a:r>
              <a:t>ith 5-year OS of 38%- 42%.</a:t>
            </a:r>
          </a:p>
          <a:p>
            <a:pPr>
              <a:lnSpc>
                <a:spcPct val="103000"/>
              </a:lnSpc>
              <a:spcAft>
                <a:spcPts val="300"/>
              </a:spcAft>
              <a:defRPr sz="570">
                <a:solidFill>
                  <a:srgbClr val="21242A"/>
                </a:solidFill>
                <a:latin typeface="Microsoft YaHei"/>
              </a:defRPr>
            </a:pPr>
            <a:r>
              <a:t>Recently, based on the Zuma-7 and Transform trials, their use expanded to 2 nd (2L), with a 3-year OS of 50%. \n</a:t>
            </a:r>
          </a:p>
          <a:p>
            <a:pPr>
              <a:lnSpc>
                <a:spcPct val="103000"/>
              </a:lnSpc>
              <a:spcAft>
                <a:spcPts val="300"/>
              </a:spcAft>
              <a:defRPr sz="570">
                <a:solidFill>
                  <a:srgbClr val="21242A"/>
                </a:solidFill>
                <a:latin typeface="Microsoft YaHei"/>
              </a:defRPr>
            </a:pPr>
            <a:r>
              <a:t>Aims: Our study evaluates how prior therapies influence the risk of progression and post-failure OS (OS2) in real-world settings.</a:t>
            </a:r>
          </a:p>
          <a:p>
            <a:pPr>
              <a:lnSpc>
                <a:spcPct val="103000"/>
              </a:lnSpc>
              <a:spcAft>
                <a:spcPts val="300"/>
              </a:spcAft>
              <a:defRPr sz="570">
                <a:solidFill>
                  <a:srgbClr val="21242A"/>
                </a:solidFill>
                <a:latin typeface="Microsoft YaHei"/>
              </a:defRPr>
            </a:pPr>
            <a:r>
              <a:t>Methods: CART-SIE is a prospective observational study of patients (pts) treated with anti-CD19 CAR T-cells at 22 Italian centers.</a:t>
            </a:r>
          </a:p>
          <a:p>
            <a:pPr>
              <a:lnSpc>
                <a:spcPct val="103000"/>
              </a:lnSpc>
              <a:spcAft>
                <a:spcPts val="300"/>
              </a:spcAft>
              <a:defRPr sz="570">
                <a:solidFill>
                  <a:srgbClr val="21242A"/>
                </a:solidFill>
                <a:latin typeface="Microsoft YaHei"/>
              </a:defRPr>
            </a:pPr>
            <a:r>
              <a:t>A total of 627 pts were treated: 604 received Axicel, and 23 Lisocel.</a:t>
            </a:r>
          </a:p>
          <a:p>
            <a:pPr>
              <a:lnSpc>
                <a:spcPct val="103000"/>
              </a:lnSpc>
              <a:spcAft>
                <a:spcPts val="300"/>
              </a:spcAft>
              <a:defRPr sz="570">
                <a:solidFill>
                  <a:srgbClr val="21242A"/>
                </a:solidFill>
                <a:latin typeface="Microsoft YaHei"/>
              </a:defRPr>
            </a:pPr>
            <a:r>
              <a:t>Time to progression was calculated from infusion to first documented progression and analyzed using a competing-risks framework, with death as the competing eve</a:t>
            </a:r>
          </a:p>
          <a:p>
            <a:pPr>
              <a:lnSpc>
                <a:spcPct val="103000"/>
              </a:lnSpc>
              <a:spcAft>
                <a:spcPts val="300"/>
              </a:spcAft>
              <a:defRPr sz="570">
                <a:solidFill>
                  <a:srgbClr val="21242A"/>
                </a:solidFill>
                <a:latin typeface="Microsoft YaHei"/>
              </a:defRPr>
            </a:pPr>
            <a:r>
              <a:t>nt.</a:t>
            </a:r>
          </a:p>
          <a:p>
            <a:pPr>
              <a:lnSpc>
                <a:spcPct val="103000"/>
              </a:lnSpc>
              <a:spcAft>
                <a:spcPts val="300"/>
              </a:spcAft>
              <a:defRPr sz="570">
                <a:solidFill>
                  <a:srgbClr val="21242A"/>
                </a:solidFill>
                <a:latin typeface="Microsoft YaHei"/>
              </a:defRPr>
            </a:pPr>
            <a:r>
              <a:t>Cumulative incidence functions were estimated, and between-group comparisons were performed using univariable and multivariable Fine and Gray models.</a:t>
            </a:r>
          </a:p>
          <a:p>
            <a:pPr>
              <a:lnSpc>
                <a:spcPct val="103000"/>
              </a:lnSpc>
              <a:spcAft>
                <a:spcPts val="300"/>
              </a:spcAft>
              <a:defRPr sz="570">
                <a:solidFill>
                  <a:srgbClr val="21242A"/>
                </a:solidFill>
                <a:latin typeface="Microsoft YaHei"/>
              </a:defRPr>
            </a:pPr>
            <a:r>
              <a:t>Six-month progression estimates were derived from the final multivariable model across covariate combinations to identify factors associated with early relapse/</a:t>
            </a:r>
          </a:p>
          <a:p>
            <a:pPr>
              <a:lnSpc>
                <a:spcPct val="103000"/>
              </a:lnSpc>
              <a:spcAft>
                <a:spcPts val="300"/>
              </a:spcAft>
              <a:defRPr sz="570">
                <a:solidFill>
                  <a:srgbClr val="21242A"/>
                </a:solidFill>
                <a:latin typeface="Microsoft YaHei"/>
              </a:defRPr>
            </a:pPr>
            <a:r>
              <a:t>progression.</a:t>
            </a:r>
          </a:p>
          <a:p>
            <a:pPr>
              <a:lnSpc>
                <a:spcPct val="103000"/>
              </a:lnSpc>
              <a:spcAft>
                <a:spcPts val="300"/>
              </a:spcAft>
              <a:defRPr sz="570">
                <a:solidFill>
                  <a:srgbClr val="21242A"/>
                </a:solidFill>
                <a:latin typeface="Microsoft YaHei"/>
              </a:defRPr>
            </a:pPr>
            <a:r>
              <a:t>Post-failure overall survival (OS2) was measured from relapse/progression to death and estimated using the Kaplan–Meier method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Despite limitations inherent to our population and the high number of primary refractory pts treated in 2L, this study showed that the probability of PD within </a:t>
            </a:r>
          </a:p>
          <a:p>
            <a:pPr>
              <a:lnSpc>
                <a:spcPct val="103000"/>
              </a:lnSpc>
              <a:spcAft>
                <a:spcPts val="300"/>
              </a:spcAft>
              <a:defRPr sz="590">
                <a:solidFill>
                  <a:srgbClr val="21242A"/>
                </a:solidFill>
                <a:latin typeface="Microsoft YaHei"/>
              </a:defRPr>
            </a:pPr>
            <a:r>
              <a:t>6 months following CAR T-cells was 20% lower in 2L+ than in 4L+.</a:t>
            </a:r>
          </a:p>
          <a:p>
            <a:pPr>
              <a:lnSpc>
                <a:spcPct val="103000"/>
              </a:lnSpc>
              <a:spcAft>
                <a:spcPts val="300"/>
              </a:spcAft>
              <a:defRPr sz="590">
                <a:solidFill>
                  <a:srgbClr val="21242A"/>
                </a:solidFill>
                <a:latin typeface="Microsoft YaHei"/>
              </a:defRPr>
            </a:pPr>
            <a:r>
              <a:t>Despite a significant increase in bispecific therapy after 2L CAR T-cells failure, 1-year OS2 remained poor, underscoring a critical unmet clinical need.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Of 627 pts, 221 (35%) received CAR T-cells in the 2L, 282 (45%) in 3 rd (3L), and 124 (20%) in 4 th or later line (4L+).</a:t>
            </a:r>
          </a:p>
          <a:p>
            <a:pPr>
              <a:lnSpc>
                <a:spcPct val="103000"/>
              </a:lnSpc>
              <a:spcAft>
                <a:spcPts val="300"/>
              </a:spcAft>
              <a:defRPr sz="580">
                <a:solidFill>
                  <a:srgbClr val="21242A"/>
                </a:solidFill>
                <a:latin typeface="Microsoft YaHei"/>
              </a:defRPr>
            </a:pPr>
            <a:r>
              <a:t>Patient characteristics differed significantly across groups for the following factors: 1) High-grade B-cell lymphomas were more common in 4L+ and 3L than </a:t>
            </a:r>
          </a:p>
          <a:p>
            <a:pPr>
              <a:lnSpc>
                <a:spcPct val="103000"/>
              </a:lnSpc>
              <a:spcAft>
                <a:spcPts val="300"/>
              </a:spcAft>
              <a:defRPr sz="580">
                <a:solidFill>
                  <a:srgbClr val="21242A"/>
                </a:solidFill>
                <a:latin typeface="Microsoft YaHei"/>
              </a:defRPr>
            </a:pPr>
            <a:r>
              <a:t>in 2L (20% vs 17% vs 9%, p</a:t>
            </a:r>
          </a:p>
          <a:p>
            <a:pPr>
              <a:lnSpc>
                <a:spcPct val="103000"/>
              </a:lnSpc>
              <a:spcAft>
                <a:spcPts val="300"/>
              </a:spcAft>
              <a:defRPr sz="580">
                <a:solidFill>
                  <a:srgbClr val="21242A"/>
                </a:solidFill>
                <a:latin typeface="Microsoft YaHei"/>
              </a:defRPr>
            </a:pPr>
            <a:r>
              <a:t>Conclusion: Despite limitations inherent to our population and the high number of primary refractory pts treated in 2L, this study showed that the probabil</a:t>
            </a:r>
          </a:p>
          <a:p>
            <a:pPr>
              <a:lnSpc>
                <a:spcPct val="103000"/>
              </a:lnSpc>
              <a:spcAft>
                <a:spcPts val="300"/>
              </a:spcAft>
              <a:defRPr sz="580">
                <a:solidFill>
                  <a:srgbClr val="21242A"/>
                </a:solidFill>
                <a:latin typeface="Microsoft YaHei"/>
              </a:defRPr>
            </a:pPr>
            <a:r>
              <a:t>ity of PD within 6 months following CAR T-cells was 20% lower in 2L+ than in 4L+.</a:t>
            </a:r>
          </a:p>
          <a:p>
            <a:pPr>
              <a:lnSpc>
                <a:spcPct val="103000"/>
              </a:lnSpc>
              <a:spcAft>
                <a:spcPts val="300"/>
              </a:spcAft>
              <a:defRPr sz="580">
                <a:solidFill>
                  <a:srgbClr val="21242A"/>
                </a:solidFill>
                <a:latin typeface="Microsoft YaHei"/>
              </a:defRPr>
            </a:pPr>
            <a:r>
              <a:t>Despite a significant increase in bispecific therapy after 2L CAR T-cells failure, 1-year OS2 remained poor, underscoring a critical unmet clinical need.</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摘要号：PF966</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glofitamab单药治疗完全缓解的复发/难治性大b细胞淋巴瘤患者的五年随访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five-year follow-up of patients with relapsed/refractory large b-cell lymphom...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中位完全缓解持续时间（DOCR）：60.0个月（95% CI: 24.9–NE）</a:t>
            </a:r>
          </a:p>
          <a:p>
            <a:pPr>
              <a:lnSpc>
                <a:spcPct val="103000"/>
              </a:lnSpc>
              <a:spcAft>
                <a:spcPts val="300"/>
              </a:spcAft>
              <a:defRPr sz="800">
                <a:solidFill>
                  <a:srgbClr val="21242A"/>
                </a:solidFill>
                <a:latin typeface="Microsoft YaHei"/>
              </a:defRPr>
            </a:pPr>
            <a:r>
              <a:t>中位无进展生存期（PFS）：61.4个月（95% CI: 26.3–NE）</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人数：107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登记号：NCT03075696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glofitamab单药治疗完全缓解的复发/难治性大b细胞淋巴瘤患者的五年随访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five-year follow-up of patients with relapsed/refractory large b-cell lymphom...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Long-term follow-up data demonstrate that chimeric antigen receptor (CAR) T-cell therapy is a curative option for patients with relapsed/refractory </a:t>
            </a:r>
          </a:p>
          <a:p>
            <a:pPr>
              <a:lnSpc>
                <a:spcPct val="103000"/>
              </a:lnSpc>
              <a:spcAft>
                <a:spcPts val="300"/>
              </a:spcAft>
              <a:defRPr sz="570">
                <a:solidFill>
                  <a:srgbClr val="21242A"/>
                </a:solidFill>
                <a:latin typeface="Microsoft YaHei"/>
              </a:defRPr>
            </a:pPr>
            <a:r>
              <a:t>(R/R) large B-cell lymphoma (LBCL), particularly those who achieve a complete response (CR).</a:t>
            </a:r>
          </a:p>
          <a:p>
            <a:pPr>
              <a:lnSpc>
                <a:spcPct val="103000"/>
              </a:lnSpc>
              <a:spcAft>
                <a:spcPts val="300"/>
              </a:spcAft>
              <a:defRPr sz="570">
                <a:solidFill>
                  <a:srgbClr val="21242A"/>
                </a:solidFill>
                <a:latin typeface="Microsoft YaHei"/>
              </a:defRPr>
            </a:pPr>
            <a:r>
              <a:t>CD20xCD3 bispecific antibodies, such as glofitamab, have demonstrated durable responses with a favorable safety profile in R/R LBCL.</a:t>
            </a:r>
          </a:p>
          <a:p>
            <a:pPr>
              <a:lnSpc>
                <a:spcPct val="103000"/>
              </a:lnSpc>
              <a:spcAft>
                <a:spcPts val="300"/>
              </a:spcAft>
              <a:defRPr sz="570">
                <a:solidFill>
                  <a:srgbClr val="21242A"/>
                </a:solidFill>
                <a:latin typeface="Microsoft YaHei"/>
              </a:defRPr>
            </a:pPr>
            <a:r>
              <a:t>However, to date the curative potential of CD20xCD3 bispecific antibodies has not been well defined.</a:t>
            </a:r>
          </a:p>
          <a:p>
            <a:pPr>
              <a:lnSpc>
                <a:spcPct val="103000"/>
              </a:lnSpc>
              <a:spcAft>
                <a:spcPts val="300"/>
              </a:spcAft>
              <a:defRPr sz="570">
                <a:solidFill>
                  <a:srgbClr val="21242A"/>
                </a:solidFill>
                <a:latin typeface="Microsoft YaHei"/>
              </a:defRPr>
            </a:pPr>
            <a:r>
              <a:t>Aims: To evaluate the long-term outcomes, with ~5 years of follow-up, of glofitamab monotherapy in patients with R/R LBCL who achieved a CR in the Phase 1/2 NP3</a:t>
            </a:r>
          </a:p>
          <a:p>
            <a:pPr>
              <a:lnSpc>
                <a:spcPct val="103000"/>
              </a:lnSpc>
              <a:spcAft>
                <a:spcPts val="300"/>
              </a:spcAft>
              <a:defRPr sz="570">
                <a:solidFill>
                  <a:srgbClr val="21242A"/>
                </a:solidFill>
                <a:latin typeface="Microsoft YaHei"/>
              </a:defRPr>
            </a:pPr>
            <a:r>
              <a:t>0179 (NCT03075696) trial.</a:t>
            </a:r>
          </a:p>
          <a:p>
            <a:pPr>
              <a:lnSpc>
                <a:spcPct val="103000"/>
              </a:lnSpc>
              <a:spcAft>
                <a:spcPts val="300"/>
              </a:spcAft>
              <a:defRPr sz="570">
                <a:solidFill>
                  <a:srgbClr val="21242A"/>
                </a:solidFill>
                <a:latin typeface="Microsoft YaHei"/>
              </a:defRPr>
            </a:pPr>
            <a:r>
              <a:t>Methods: Patients with ≥1 prior line of therapy for LBCL received obinutuzumab pre-treatment (1000mg) 7 days prior to the first glofitamab dose.</a:t>
            </a:r>
          </a:p>
          <a:p>
            <a:pPr>
              <a:lnSpc>
                <a:spcPct val="103000"/>
              </a:lnSpc>
              <a:spcAft>
                <a:spcPts val="300"/>
              </a:spcAft>
              <a:defRPr sz="570">
                <a:solidFill>
                  <a:srgbClr val="21242A"/>
                </a:solidFill>
                <a:latin typeface="Microsoft YaHei"/>
              </a:defRPr>
            </a:pPr>
            <a:r>
              <a:t>Glofitamab was given intravenously at a fixed dose (0.6–25mg) or with step-up dosing (2.5/10/16 or 30mg) for up to 12 cycles.</a:t>
            </a:r>
          </a:p>
          <a:p>
            <a:pPr>
              <a:lnSpc>
                <a:spcPct val="103000"/>
              </a:lnSpc>
              <a:spcAft>
                <a:spcPts val="300"/>
              </a:spcAft>
              <a:defRPr sz="570">
                <a:solidFill>
                  <a:srgbClr val="21242A"/>
                </a:solidFill>
                <a:latin typeface="Microsoft YaHei"/>
              </a:defRPr>
            </a:pPr>
            <a:r>
              <a:t>This exploratory analysis evaluated investigator-assessed duration of CR (DOCR), progression-free survival (PFS) and overall survival (OS) in patients with a CR</a:t>
            </a:r>
          </a:p>
          <a:p>
            <a:pPr>
              <a:lnSpc>
                <a:spcPct val="103000"/>
              </a:lnSpc>
              <a:spcAft>
                <a:spcPts val="300"/>
              </a:spcAft>
              <a:defRPr sz="570">
                <a:solidFill>
                  <a:srgbClr val="21242A"/>
                </a:solidFill>
                <a:latin typeface="Microsoft YaHei"/>
              </a:defRPr>
            </a:pPr>
            <a:r>
              <a:t>, as well as the safety and tolerability of glofitamab monotherapy.</a:t>
            </a:r>
          </a:p>
          <a:p>
            <a:pPr>
              <a:lnSpc>
                <a:spcPct val="103000"/>
              </a:lnSpc>
              <a:spcAft>
                <a:spcPts val="300"/>
              </a:spcAft>
              <a:defRPr sz="570">
                <a:solidFill>
                  <a:srgbClr val="21242A"/>
                </a:solidFill>
                <a:latin typeface="Microsoft YaHei"/>
              </a:defRPr>
            </a:pPr>
            <a:r>
              <a:t>All patients provided written informed consent.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After a ~5-year follow-up, fixed-duration glofitamab monotherapy demonstrated continued benefit with durable long-term remissions and manageable safety in patie</a:t>
            </a:r>
          </a:p>
          <a:p>
            <a:pPr>
              <a:lnSpc>
                <a:spcPct val="103000"/>
              </a:lnSpc>
              <a:spcAft>
                <a:spcPts val="300"/>
              </a:spcAft>
              <a:defRPr sz="590">
                <a:solidFill>
                  <a:srgbClr val="21242A"/>
                </a:solidFill>
                <a:latin typeface="Microsoft YaHei"/>
              </a:defRPr>
            </a:pPr>
            <a:r>
              <a:t>nts with R/R LBCL who achieved a CR.</a:t>
            </a:r>
          </a:p>
          <a:p>
            <a:pPr>
              <a:lnSpc>
                <a:spcPct val="103000"/>
              </a:lnSpc>
              <a:spcAft>
                <a:spcPts val="300"/>
              </a:spcAft>
              <a:defRPr sz="590">
                <a:solidFill>
                  <a:srgbClr val="21242A"/>
                </a:solidFill>
                <a:latin typeface="Microsoft YaHei"/>
              </a:defRPr>
            </a:pPr>
            <a:r>
              <a:t>Overall, the durable remissions observed with glofitamab treatment in patients who achieved a CR suggest a curative potential in a proportion of patients.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中位完全缓解持续时间（DOCR）</a:t>
                      </a:r>
                    </a:p>
                  </a:txBody>
                  <a:tcPr>
                    <a:solidFill>
                      <a:srgbClr val="F6F8FB"/>
                    </a:solidFill>
                  </a:tcPr>
                </a:tc>
                <a:tc>
                  <a:txBody>
                    <a:bodyPr wrap="square" lIns="36576" rIns="36576" tIns="18288" bIns="18288"/>
                    <a:lstStyle/>
                    <a:p>
                      <a:r>
                        <a:rPr sz="540" b="0">
                          <a:solidFill>
                            <a:srgbClr val="21242A"/>
                          </a:solidFill>
                          <a:latin typeface="Microsoft YaHei"/>
                        </a:rPr>
                        <a:t>60.0个月（95% CI: 24.9–NE）</a:t>
                      </a:r>
                    </a:p>
                  </a:txBody>
                  <a:tcPr>
                    <a:solidFill>
                      <a:srgbClr val="F6F8FB"/>
                    </a:solidFill>
                  </a:tcPr>
                </a:tc>
              </a:tr>
              <a:tr h="166624">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61.4个月（95% CI: 26.3–NE）</a:t>
                      </a:r>
                    </a:p>
                  </a:txBody>
                  <a:tcPr>
                    <a:solidFill>
                      <a:srgbClr val="FFFFFF"/>
                    </a:solidFill>
                  </a:tcPr>
                </a:tc>
              </a:tr>
              <a:tr h="166624">
                <a:tc>
                  <a:txBody>
                    <a:bodyPr wrap="square" lIns="36576" rIns="36576" tIns="18288" bIns="18288"/>
                    <a:lstStyle/>
                    <a:p>
                      <a:r>
                        <a:rPr sz="540" b="1">
                          <a:solidFill>
                            <a:srgbClr val="21242A"/>
                          </a:solidFill>
                          <a:latin typeface="Microsoft YaHei"/>
                        </a:rPr>
                        <a:t>5年PFS率</a:t>
                      </a:r>
                    </a:p>
                  </a:txBody>
                  <a:tcPr>
                    <a:solidFill>
                      <a:srgbClr val="F6F8FB"/>
                    </a:solidFill>
                  </a:tcPr>
                </a:tc>
                <a:tc>
                  <a:txBody>
                    <a:bodyPr wrap="square" lIns="36576" rIns="36576" tIns="18288" bIns="18288"/>
                    <a:lstStyle/>
                    <a:p>
                      <a:r>
                        <a:rPr sz="540" b="0">
                          <a:solidFill>
                            <a:srgbClr val="21242A"/>
                          </a:solidFill>
                          <a:latin typeface="Microsoft YaHei"/>
                        </a:rPr>
                        <a:t>51.5%（95% CI: 41.2–61.8）</a:t>
                      </a:r>
                    </a:p>
                  </a:txBody>
                  <a:tcPr>
                    <a:solidFill>
                      <a:srgbClr val="F6F8FB"/>
                    </a:solidFill>
                  </a:tcPr>
                </a:tc>
              </a:tr>
              <a:tr h="166624">
                <a:tc>
                  <a:txBody>
                    <a:bodyPr wrap="square" lIns="36576" rIns="36576" tIns="18288" bIns="18288"/>
                    <a:lstStyle/>
                    <a:p>
                      <a:r>
                        <a:rPr sz="540" b="1">
                          <a:solidFill>
                            <a:srgbClr val="21242A"/>
                          </a:solidFill>
                          <a:latin typeface="Microsoft YaHei"/>
                        </a:rPr>
                        <a:t>中位总生存期（OS）</a:t>
                      </a:r>
                    </a:p>
                  </a:txBody>
                  <a:tcPr>
                    <a:solidFill>
                      <a:srgbClr val="FFFFFF"/>
                    </a:solidFill>
                  </a:tcPr>
                </a:tc>
                <a:tc>
                  <a:txBody>
                    <a:bodyPr wrap="square" lIns="36576" rIns="36576" tIns="18288" bIns="18288"/>
                    <a:lstStyle/>
                    <a:p>
                      <a:r>
                        <a:rPr sz="540" b="0">
                          <a:solidFill>
                            <a:srgbClr val="21242A"/>
                          </a:solidFill>
                          <a:latin typeface="Microsoft YaHei"/>
                        </a:rPr>
                        <a:t>未达到（95% CI: NE）</a:t>
                      </a:r>
                    </a:p>
                  </a:txBody>
                  <a:tcPr>
                    <a:solidFill>
                      <a:srgbClr val="FFFFFF"/>
                    </a:solidFill>
                  </a:tcPr>
                </a:tc>
              </a:tr>
              <a:tr h="166624">
                <a:tc>
                  <a:txBody>
                    <a:bodyPr wrap="square" lIns="36576" rIns="36576" tIns="18288" bIns="18288"/>
                    <a:lstStyle/>
                    <a:p>
                      <a:r>
                        <a:rPr sz="540" b="1">
                          <a:solidFill>
                            <a:srgbClr val="21242A"/>
                          </a:solidFill>
                          <a:latin typeface="Microsoft YaHei"/>
                        </a:rPr>
                        <a:t>5年OS率</a:t>
                      </a:r>
                    </a:p>
                  </a:txBody>
                  <a:tcPr>
                    <a:solidFill>
                      <a:srgbClr val="F6F8FB"/>
                    </a:solidFill>
                  </a:tcPr>
                </a:tc>
                <a:tc>
                  <a:txBody>
                    <a:bodyPr wrap="square" lIns="36576" rIns="36576" tIns="18288" bIns="18288"/>
                    <a:lstStyle/>
                    <a:p>
                      <a:r>
                        <a:rPr sz="540" b="0">
                          <a:solidFill>
                            <a:srgbClr val="21242A"/>
                          </a:solidFill>
                          <a:latin typeface="Microsoft YaHei"/>
                        </a:rPr>
                        <a:t>67.5%（95% CI: 57.8–77.1）</a:t>
                      </a:r>
                    </a:p>
                  </a:txBody>
                  <a:tcPr>
                    <a:solidFill>
                      <a:srgbClr val="F6F8FB"/>
                    </a:solidFill>
                  </a:tcPr>
                </a:tc>
              </a:tr>
              <a:tr h="166624">
                <a:tc>
                  <a:txBody>
                    <a:bodyPr wrap="square" lIns="36576" rIns="36576" tIns="18288" bIns="18288"/>
                    <a:lstStyle/>
                    <a:p>
                      <a:r>
                        <a:rPr sz="540" b="1">
                          <a:solidFill>
                            <a:srgbClr val="21242A"/>
                          </a:solidFill>
                          <a:latin typeface="Microsoft YaHei"/>
                        </a:rPr>
                        <a:t>5年疾病特异性生存率</a:t>
                      </a:r>
                    </a:p>
                  </a:txBody>
                  <a:tcPr>
                    <a:solidFill>
                      <a:srgbClr val="FFFFFF"/>
                    </a:solidFill>
                  </a:tcPr>
                </a:tc>
                <a:tc>
                  <a:txBody>
                    <a:bodyPr wrap="square" lIns="36576" rIns="36576" tIns="18288" bIns="18288"/>
                    <a:lstStyle/>
                    <a:p>
                      <a:r>
                        <a:rPr sz="540" b="0">
                          <a:solidFill>
                            <a:srgbClr val="21242A"/>
                          </a:solidFill>
                          <a:latin typeface="Microsoft YaHei"/>
                        </a:rPr>
                        <a:t>86.0%（95% CI: 78.6–93.4）</a:t>
                      </a:r>
                    </a:p>
                  </a:txBody>
                  <a:tcPr>
                    <a:solidFill>
                      <a:srgbClr val="FFFFFF"/>
                    </a:solidFill>
                  </a:tcPr>
                </a:tc>
              </a:tr>
              <a:tr h="166624">
                <a:tc>
                  <a:txBody>
                    <a:bodyPr wrap="square" lIns="36576" rIns="36576" tIns="18288" bIns="18288"/>
                    <a:lstStyle/>
                    <a:p>
                      <a:r>
                        <a:rPr sz="540" b="1">
                          <a:solidFill>
                            <a:srgbClr val="21242A"/>
                          </a:solidFill>
                          <a:latin typeface="Microsoft YaHei"/>
                        </a:rPr>
                        <a:t>≥3级不良事件发生率</a:t>
                      </a:r>
                    </a:p>
                  </a:txBody>
                  <a:tcPr>
                    <a:solidFill>
                      <a:srgbClr val="F6F8FB"/>
                    </a:solidFill>
                  </a:tcPr>
                </a:tc>
                <a:tc>
                  <a:txBody>
                    <a:bodyPr wrap="square" lIns="36576" rIns="36576" tIns="18288" bIns="18288"/>
                    <a:lstStyle/>
                    <a:p>
                      <a:r>
                        <a:rPr sz="540" b="0">
                          <a:solidFill>
                            <a:srgbClr val="21242A"/>
                          </a:solidFill>
                          <a:latin typeface="Microsoft YaHei"/>
                        </a:rPr>
                        <a:t>63.6%（最常见为中性粒细胞减少37.4%）</a:t>
                      </a:r>
                    </a:p>
                  </a:txBody>
                  <a:tcPr>
                    <a:solidFill>
                      <a:srgbClr val="F6F8FB"/>
                    </a:solidFill>
                  </a:tcPr>
                </a:tc>
              </a:tr>
              <a:tr h="166624">
                <a:tc>
                  <a:txBody>
                    <a:bodyPr wrap="square" lIns="36576" rIns="36576" tIns="18288" bIns="18288"/>
                    <a:lstStyle/>
                    <a:p>
                      <a:r>
                        <a:rPr sz="540" b="1">
                          <a:solidFill>
                            <a:srgbClr val="21242A"/>
                          </a:solidFill>
                          <a:latin typeface="Microsoft YaHei"/>
                        </a:rPr>
                        <a:t>5级不良事件发生率</a:t>
                      </a:r>
                    </a:p>
                  </a:txBody>
                  <a:tcPr>
                    <a:solidFill>
                      <a:srgbClr val="FFFFFF"/>
                    </a:solidFill>
                  </a:tcPr>
                </a:tc>
                <a:tc>
                  <a:txBody>
                    <a:bodyPr wrap="square" lIns="36576" rIns="36576" tIns="18288" bIns="18288"/>
                    <a:lstStyle/>
                    <a:p>
                      <a:r>
                        <a:rPr sz="540" b="0">
                          <a:solidFill>
                            <a:srgbClr val="21242A"/>
                          </a:solidFill>
                          <a:latin typeface="Microsoft YaHei"/>
                        </a:rPr>
                        <a:t>3.7%（急性髓系白血病2例，复发性胰腺癌1例，COVID-19 1例；均判断与研究药物无关）</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摘要号：PF963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复发/难治性dlbcl中epcoritamab家庭护理途径与常规epcoritamad和glofitamab医院护理方...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home-based care pathways in relapsed/refractory dlbcl versus conv...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治疗线数/场景：三线，末线</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分组：护理路径1：Epcoritamab在医院护理中心给药</a:t>
            </a:r>
          </a:p>
          <a:p>
            <a:pPr>
              <a:lnSpc>
                <a:spcPct val="103000"/>
              </a:lnSpc>
              <a:spcAft>
                <a:spcPts val="300"/>
              </a:spcAft>
              <a:defRPr sz="800">
                <a:solidFill>
                  <a:srgbClr val="21242A"/>
                </a:solidFill>
                <a:latin typeface="Microsoft YaHei"/>
              </a:defRPr>
            </a:pPr>
            <a:r>
              <a:t>护理路径2：Epcoritamab从第2周期开始家庭住院给药</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多组/多方案比较：护理路径1：Epcoritamab在医院护理中心给药</a:t>
            </a:r>
          </a:p>
          <a:p>
            <a:pPr>
              <a:lnSpc>
                <a:spcPct val="103000"/>
              </a:lnSpc>
              <a:spcAft>
                <a:spcPts val="300"/>
              </a:spcAft>
              <a:defRPr sz="800">
                <a:solidFill>
                  <a:srgbClr val="21242A"/>
                </a:solidFill>
                <a:latin typeface="Microsoft YaHei"/>
              </a:defRPr>
            </a:pPr>
            <a:r>
              <a:t>护理路径2：Epcoritamab从第2周期开始家庭住院给药</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Epcoritamab医院护理路径总成本：12,922€</a:t>
            </a:r>
          </a:p>
          <a:p>
            <a:pPr>
              <a:lnSpc>
                <a:spcPct val="103000"/>
              </a:lnSpc>
              <a:spcAft>
                <a:spcPts val="300"/>
              </a:spcAft>
              <a:defRPr sz="800">
                <a:solidFill>
                  <a:srgbClr val="21242A"/>
                </a:solidFill>
                <a:latin typeface="Microsoft YaHei"/>
              </a:defRPr>
            </a:pPr>
            <a:r>
              <a:t>Epcoritamab从第2周期家庭住院路径总成本：10,145€（节省21.5%）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研究类型：卫生经济学分析</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登记号：NCT03625037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分组/治疗流程：护理路径1：Epcoritamab在医院护理中心给药、护理路径2：Epcoritamab从第2周期开始家庭住院给药、护理路径3：Epcoritamab从第1周期开始家庭住...</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复发/难治性dlbcl中epcoritamab家庭护理途径与常规epcoritamad和glofitamab医院护理方...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home-based care pathways in relapsed/refractory dlbcl versus conv...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In France, epcoritamab and glofitamab in monotherapy have received a favorable reimbursement opinion from the French National Authority for Health (</a:t>
            </a:r>
          </a:p>
          <a:p>
            <a:pPr>
              <a:lnSpc>
                <a:spcPct val="103000"/>
              </a:lnSpc>
              <a:spcAft>
                <a:spcPts val="300"/>
              </a:spcAft>
              <a:defRPr sz="570">
                <a:solidFill>
                  <a:srgbClr val="21242A"/>
                </a:solidFill>
                <a:latin typeface="Microsoft YaHei"/>
              </a:defRPr>
            </a:pPr>
            <a:r>
              <a:t>HAS) and are currently available through an early access program for the treatment of adults with relapsed or refractory (R/R) diffuse large B-cell lymphoma (DL</a:t>
            </a:r>
          </a:p>
          <a:p>
            <a:pPr>
              <a:lnSpc>
                <a:spcPct val="103000"/>
              </a:lnSpc>
              <a:spcAft>
                <a:spcPts val="300"/>
              </a:spcAft>
              <a:defRPr sz="570">
                <a:solidFill>
                  <a:srgbClr val="21242A"/>
                </a:solidFill>
                <a:latin typeface="Microsoft YaHei"/>
              </a:defRPr>
            </a:pPr>
            <a:r>
              <a:t>BCL) after at least two prior systemic therapies, who are ineligible for all available treatments or who have failed CAR-T cell therapies.</a:t>
            </a:r>
          </a:p>
          <a:p>
            <a:pPr>
              <a:lnSpc>
                <a:spcPct val="103000"/>
              </a:lnSpc>
              <a:spcAft>
                <a:spcPts val="300"/>
              </a:spcAft>
              <a:defRPr sz="570">
                <a:solidFill>
                  <a:srgbClr val="21242A"/>
                </a:solidFill>
                <a:latin typeface="Microsoft YaHei"/>
              </a:defRPr>
            </a:pPr>
            <a:r>
              <a:t>These CD3xCD20 bispecific antibodies primarily differ by their mode and duration of administration: epcoritamab is administered subcutaneously until disease pro</a:t>
            </a:r>
          </a:p>
          <a:p>
            <a:pPr>
              <a:lnSpc>
                <a:spcPct val="103000"/>
              </a:lnSpc>
              <a:spcAft>
                <a:spcPts val="300"/>
              </a:spcAft>
              <a:defRPr sz="570">
                <a:solidFill>
                  <a:srgbClr val="21242A"/>
                </a:solidFill>
                <a:latin typeface="Microsoft YaHei"/>
              </a:defRPr>
            </a:pPr>
            <a:r>
              <a:t>gression and/or unacceptable toxicity while glofitamab is administered intravenously for a fixed duration of 12 cycles.</a:t>
            </a:r>
          </a:p>
          <a:p>
            <a:pPr>
              <a:lnSpc>
                <a:spcPct val="103000"/>
              </a:lnSpc>
              <a:spcAft>
                <a:spcPts val="300"/>
              </a:spcAft>
              <a:defRPr sz="570">
                <a:solidFill>
                  <a:srgbClr val="21242A"/>
                </a:solidFill>
                <a:latin typeface="Microsoft YaHei"/>
              </a:defRPr>
            </a:pPr>
            <a:r>
              <a:t>Both treatments are delivered in a Health Care Center (HCC); however, only epcoritamab is eligible for a Hospitalization at Home (HaH) administration pathway, d</a:t>
            </a:r>
          </a:p>
          <a:p>
            <a:pPr>
              <a:lnSpc>
                <a:spcPct val="103000"/>
              </a:lnSpc>
              <a:spcAft>
                <a:spcPts val="300"/>
              </a:spcAft>
              <a:defRPr sz="570">
                <a:solidFill>
                  <a:srgbClr val="21242A"/>
                </a:solidFill>
                <a:latin typeface="Microsoft YaHei"/>
              </a:defRPr>
            </a:pPr>
            <a:r>
              <a:t>ue to its shorter administration time.</a:t>
            </a:r>
          </a:p>
          <a:p>
            <a:pPr>
              <a:lnSpc>
                <a:spcPct val="103000"/>
              </a:lnSpc>
              <a:spcAft>
                <a:spcPts val="300"/>
              </a:spcAft>
              <a:defRPr sz="570">
                <a:solidFill>
                  <a:srgbClr val="21242A"/>
                </a:solidFill>
                <a:latin typeface="Microsoft YaHei"/>
              </a:defRPr>
            </a:pPr>
            <a:r>
              <a:t>In a context of capacity and budget constraints and an expected increasing use of bispecific antibodies, HCCs need to develop alternate care pathways.</a:t>
            </a:r>
          </a:p>
          <a:p>
            <a:pPr>
              <a:lnSpc>
                <a:spcPct val="103000"/>
              </a:lnSpc>
              <a:spcAft>
                <a:spcPts val="300"/>
              </a:spcAft>
              <a:defRPr sz="570">
                <a:solidFill>
                  <a:srgbClr val="21242A"/>
                </a:solidFill>
                <a:latin typeface="Microsoft YaHei"/>
              </a:defRPr>
            </a:pPr>
            <a:r>
              <a:t>Moreover, allowing patients to remain in their home environment throughout their care pathway is likely to improve quality of life.</a:t>
            </a:r>
          </a:p>
          <a:p>
            <a:pPr>
              <a:lnSpc>
                <a:spcPct val="103000"/>
              </a:lnSpc>
              <a:spcAft>
                <a:spcPts val="300"/>
              </a:spcAft>
              <a:defRPr sz="570">
                <a:solidFill>
                  <a:srgbClr val="21242A"/>
                </a:solidFill>
                <a:latin typeface="Microsoft YaHei"/>
              </a:defRPr>
            </a:pPr>
            <a:r>
              <a:t>Aims: To assess the economic impact of epcoritamab HaH care pathway versus epcoritamab and glofitamab usual HCC care pathways for the treatment of patients with</a:t>
            </a:r>
          </a:p>
          <a:p>
            <a:pPr>
              <a:lnSpc>
                <a:spcPct val="103000"/>
              </a:lnSpc>
              <a:spcAft>
                <a:spcPts val="300"/>
              </a:spcAft>
              <a:defRPr sz="570">
                <a:solidFill>
                  <a:srgbClr val="21242A"/>
                </a:solidFill>
                <a:latin typeface="Microsoft YaHei"/>
              </a:defRPr>
            </a:pPr>
            <a:r>
              <a:t> R/R DLBCL.</a:t>
            </a:r>
          </a:p>
          <a:p>
            <a:pPr>
              <a:lnSpc>
                <a:spcPct val="103000"/>
              </a:lnSpc>
              <a:spcAft>
                <a:spcPts val="300"/>
              </a:spcAft>
              <a:defRPr sz="570">
                <a:solidFill>
                  <a:srgbClr val="21242A"/>
                </a:solidFill>
                <a:latin typeface="Microsoft YaHei"/>
              </a:defRPr>
            </a:pPr>
            <a:r>
              <a:t>Methods: Four care pathways were compared: (1) epcoritamab administered exclusively in HCC (reference), (2) epcoritamab with HaH starting from cycle 2, (3) epco</a:t>
            </a:r>
          </a:p>
          <a:p>
            <a:pPr>
              <a:lnSpc>
                <a:spcPct val="103000"/>
              </a:lnSpc>
              <a:spcAft>
                <a:spcPts val="300"/>
              </a:spcAft>
              <a:defRPr sz="570">
                <a:solidFill>
                  <a:srgbClr val="21242A"/>
                </a:solidFill>
                <a:latin typeface="Microsoft YaHei"/>
              </a:defRPr>
            </a:pPr>
            <a:r>
              <a:t>ritamab with HaH from cycle 1, and (4) glofitamab administered exclusively in HCC.</a:t>
            </a:r>
          </a:p>
          <a:p>
            <a:pPr>
              <a:lnSpc>
                <a:spcPct val="103000"/>
              </a:lnSpc>
              <a:spcAft>
                <a:spcPts val="300"/>
              </a:spcAft>
              <a:defRPr sz="570">
                <a:solidFill>
                  <a:srgbClr val="21242A"/>
                </a:solidFill>
                <a:latin typeface="Microsoft YaHei"/>
              </a:defRPr>
            </a:pPr>
            <a:r>
              <a:t>Pathway definitions were informed in 2025 by a French clinician advisory panel (n=7) to ensure alignment with routine clinical practice in France.</a:t>
            </a:r>
          </a:p>
          <a:p>
            <a:pPr>
              <a:lnSpc>
                <a:spcPct val="103000"/>
              </a:lnSpc>
              <a:spcAft>
                <a:spcPts val="300"/>
              </a:spcAft>
              <a:defRPr sz="570">
                <a:solidFill>
                  <a:srgbClr val="21242A"/>
                </a:solidFill>
                <a:latin typeface="Microsoft YaHei"/>
              </a:defRPr>
            </a:pPr>
            <a:r>
              <a:t>A cost-minimization model was developed from the perspective of the National Health Insurance, including administration, follow‑up, and transportation costs ove</a:t>
            </a:r>
          </a:p>
          <a:p>
            <a:pPr>
              <a:lnSpc>
                <a:spcPct val="103000"/>
              </a:lnSpc>
              <a:spcAft>
                <a:spcPts val="300"/>
              </a:spcAft>
              <a:defRPr sz="570">
                <a:solidFill>
                  <a:srgbClr val="21242A"/>
                </a:solidFill>
                <a:latin typeface="Microsoft YaHei"/>
              </a:defRPr>
            </a:pPr>
            <a:r>
              <a:t>r a two‑year horizon.</a:t>
            </a:r>
          </a:p>
          <a:p>
            <a:pPr>
              <a:lnSpc>
                <a:spcPct val="103000"/>
              </a:lnSpc>
              <a:spcAft>
                <a:spcPts val="300"/>
              </a:spcAft>
              <a:defRPr sz="570">
                <a:solidFill>
                  <a:srgbClr val="21242A"/>
                </a:solidFill>
                <a:latin typeface="Microsoft YaHei"/>
              </a:defRPr>
            </a:pPr>
            <a:r>
              <a:t>A budget impact model was developed using a multi‑cohort incident approach over five years.</a:t>
            </a:r>
          </a:p>
          <a:p>
            <a:pPr>
              <a:lnSpc>
                <a:spcPct val="103000"/>
              </a:lnSpc>
              <a:spcAft>
                <a:spcPts val="300"/>
              </a:spcAft>
              <a:defRPr sz="570">
                <a:solidFill>
                  <a:srgbClr val="21242A"/>
                </a:solidFill>
                <a:latin typeface="Microsoft YaHei"/>
              </a:defRPr>
            </a:pPr>
            <a:r>
              <a:t>Treatment duration was extrapolated using a Weibull model from time-to-discontinuation (TTD) data from EPCORE NHL-1, a phase I/II trial of epcoritamab monothera</a:t>
            </a:r>
          </a:p>
          <a:p>
            <a:pPr>
              <a:lnSpc>
                <a:spcPct val="103000"/>
              </a:lnSpc>
              <a:spcAft>
                <a:spcPts val="300"/>
              </a:spcAft>
              <a:defRPr sz="570">
                <a:solidFill>
                  <a:srgbClr val="21242A"/>
                </a:solidFill>
                <a:latin typeface="Microsoft YaHei"/>
              </a:defRPr>
            </a:pPr>
            <a:r>
              <a:t>py in R/R large B-cell lymphoma.</a:t>
            </a:r>
          </a:p>
          <a:p>
            <a:pPr>
              <a:lnSpc>
                <a:spcPct val="103000"/>
              </a:lnSpc>
              <a:spcAft>
                <a:spcPts val="300"/>
              </a:spcAft>
              <a:defRPr sz="570">
                <a:solidFill>
                  <a:srgbClr val="21242A"/>
                </a:solidFill>
                <a:latin typeface="Microsoft YaHei"/>
              </a:defRPr>
            </a:pPr>
            <a:r>
              <a:t>To focus on care pathway costs, efficacy was assumed equivalent across pathways as between epcoritamab and glofitamab.</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HaH for the administration of epcoritamab in patients with R/R DLBCL reduces costs by 21–39% compared with HCC‑based care, leading to total pathway costs in the</a:t>
            </a:r>
          </a:p>
          <a:p>
            <a:pPr>
              <a:lnSpc>
                <a:spcPct val="103000"/>
              </a:lnSpc>
              <a:spcAft>
                <a:spcPts val="300"/>
              </a:spcAft>
              <a:defRPr sz="590">
                <a:solidFill>
                  <a:srgbClr val="21242A"/>
                </a:solidFill>
                <a:latin typeface="Microsoft YaHei"/>
              </a:defRPr>
            </a:pPr>
            <a:r>
              <a:t> same range as in-hospital glofitamab (7,858€ vs 7,268€), despite glofitamab involving fewer administrations.</a:t>
            </a:r>
          </a:p>
          <a:p>
            <a:pPr>
              <a:lnSpc>
                <a:spcPct val="103000"/>
              </a:lnSpc>
              <a:spcAft>
                <a:spcPts val="300"/>
              </a:spcAft>
              <a:defRPr sz="590">
                <a:solidFill>
                  <a:srgbClr val="21242A"/>
                </a:solidFill>
                <a:latin typeface="Microsoft YaHei"/>
              </a:defRPr>
            </a:pPr>
            <a:r>
              <a:t>These findings support the organizational and economic relevance of HaH, whenever feasible, for patients with R/R DLBCL receiving epcoritamab, highlighting pote</a:t>
            </a:r>
          </a:p>
          <a:p>
            <a:pPr>
              <a:lnSpc>
                <a:spcPct val="103000"/>
              </a:lnSpc>
              <a:spcAft>
                <a:spcPts val="300"/>
              </a:spcAft>
              <a:defRPr sz="590">
                <a:solidFill>
                  <a:srgbClr val="21242A"/>
                </a:solidFill>
                <a:latin typeface="Microsoft YaHei"/>
              </a:defRPr>
            </a:pPr>
            <a:r>
              <a:t>ntial gains in patient quality of life and healthcare system efficiency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Epcoritamab医院护理路径总成本</a:t>
                      </a:r>
                    </a:p>
                  </a:txBody>
                  <a:tcPr>
                    <a:solidFill>
                      <a:srgbClr val="F6F8FB"/>
                    </a:solidFill>
                  </a:tcPr>
                </a:tc>
                <a:tc>
                  <a:txBody>
                    <a:bodyPr wrap="square" lIns="36576" rIns="36576" tIns="18288" bIns="18288"/>
                    <a:lstStyle/>
                    <a:p>
                      <a:r>
                        <a:rPr sz="540" b="0">
                          <a:solidFill>
                            <a:srgbClr val="21242A"/>
                          </a:solidFill>
                          <a:latin typeface="Microsoft YaHei"/>
                        </a:rPr>
                        <a:t>12,922€</a:t>
                      </a:r>
                    </a:p>
                  </a:txBody>
                  <a:tcPr>
                    <a:solidFill>
                      <a:srgbClr val="F6F8FB"/>
                    </a:solidFill>
                  </a:tcPr>
                </a:tc>
              </a:tr>
              <a:tr h="249936">
                <a:tc>
                  <a:txBody>
                    <a:bodyPr wrap="square" lIns="36576" rIns="36576" tIns="18288" bIns="18288"/>
                    <a:lstStyle/>
                    <a:p>
                      <a:r>
                        <a:rPr sz="540" b="1">
                          <a:solidFill>
                            <a:srgbClr val="21242A"/>
                          </a:solidFill>
                          <a:latin typeface="Microsoft YaHei"/>
                        </a:rPr>
                        <a:t>Epcoritamab从第2周期家庭住院路径总成本</a:t>
                      </a:r>
                    </a:p>
                  </a:txBody>
                  <a:tcPr>
                    <a:solidFill>
                      <a:srgbClr val="FFFFFF"/>
                    </a:solidFill>
                  </a:tcPr>
                </a:tc>
                <a:tc>
                  <a:txBody>
                    <a:bodyPr wrap="square" lIns="36576" rIns="36576" tIns="18288" bIns="18288"/>
                    <a:lstStyle/>
                    <a:p>
                      <a:r>
                        <a:rPr sz="540" b="0">
                          <a:solidFill>
                            <a:srgbClr val="21242A"/>
                          </a:solidFill>
                          <a:latin typeface="Microsoft YaHei"/>
                        </a:rPr>
                        <a:t>10,145€（节省21.5%）</a:t>
                      </a:r>
                    </a:p>
                  </a:txBody>
                  <a:tcPr>
                    <a:solidFill>
                      <a:srgbClr val="FFFFFF"/>
                    </a:solidFill>
                  </a:tcPr>
                </a:tc>
              </a:tr>
              <a:tr h="249936">
                <a:tc>
                  <a:txBody>
                    <a:bodyPr wrap="square" lIns="36576" rIns="36576" tIns="18288" bIns="18288"/>
                    <a:lstStyle/>
                    <a:p>
                      <a:r>
                        <a:rPr sz="540" b="1">
                          <a:solidFill>
                            <a:srgbClr val="21242A"/>
                          </a:solidFill>
                          <a:latin typeface="Microsoft YaHei"/>
                        </a:rPr>
                        <a:t>Epcoritamab从第1周期家庭住院路径总成本</a:t>
                      </a:r>
                    </a:p>
                  </a:txBody>
                  <a:tcPr>
                    <a:solidFill>
                      <a:srgbClr val="F6F8FB"/>
                    </a:solidFill>
                  </a:tcPr>
                </a:tc>
                <a:tc>
                  <a:txBody>
                    <a:bodyPr wrap="square" lIns="36576" rIns="36576" tIns="18288" bIns="18288"/>
                    <a:lstStyle/>
                    <a:p>
                      <a:r>
                        <a:rPr sz="540" b="0">
                          <a:solidFill>
                            <a:srgbClr val="21242A"/>
                          </a:solidFill>
                          <a:latin typeface="Microsoft YaHei"/>
                        </a:rPr>
                        <a:t>7,858€（节省39.1%）</a:t>
                      </a:r>
                    </a:p>
                  </a:txBody>
                  <a:tcPr>
                    <a:solidFill>
                      <a:srgbClr val="F6F8FB"/>
                    </a:solidFill>
                  </a:tcPr>
                </a:tc>
              </a:tr>
              <a:tr h="249936">
                <a:tc>
                  <a:txBody>
                    <a:bodyPr wrap="square" lIns="36576" rIns="36576" tIns="18288" bIns="18288"/>
                    <a:lstStyle/>
                    <a:p>
                      <a:r>
                        <a:rPr sz="540" b="1">
                          <a:solidFill>
                            <a:srgbClr val="21242A"/>
                          </a:solidFill>
                          <a:latin typeface="Microsoft YaHei"/>
                        </a:rPr>
                        <a:t>Glofitamab医院护理路径总成本</a:t>
                      </a:r>
                    </a:p>
                  </a:txBody>
                  <a:tcPr>
                    <a:solidFill>
                      <a:srgbClr val="FFFFFF"/>
                    </a:solidFill>
                  </a:tcPr>
                </a:tc>
                <a:tc>
                  <a:txBody>
                    <a:bodyPr wrap="square" lIns="36576" rIns="36576" tIns="18288" bIns="18288"/>
                    <a:lstStyle/>
                    <a:p>
                      <a:r>
                        <a:rPr sz="540" b="0">
                          <a:solidFill>
                            <a:srgbClr val="21242A"/>
                          </a:solidFill>
                          <a:latin typeface="Microsoft YaHei"/>
                        </a:rPr>
                        <a:t>7,268€</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对于管理50名患者的医院，逐步转为第1周期家庭住院五年累计节省约673,000€</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摘要号：PF1410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超分割放疗作为一种桥接策略，减轻t细胞耗竭，增强cd19car-t在复发/难治性弥漫性大b细胞淋巴瘤中的疗效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hyper-fractionated radiotherapy as a bridging strategy attenuates t-cell exha...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试验药/方案：CD19靶向CAR-T(北京大学人民医院)</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1个月CR率：64%（16/25）</a:t>
            </a:r>
          </a:p>
          <a:p>
            <a:pPr>
              <a:lnSpc>
                <a:spcPct val="103000"/>
              </a:lnSpc>
              <a:spcAft>
                <a:spcPts val="300"/>
              </a:spcAft>
              <a:defRPr sz="800">
                <a:solidFill>
                  <a:srgbClr val="21242A"/>
                </a:solidFill>
                <a:latin typeface="Microsoft YaHei"/>
              </a:defRPr>
            </a:pPr>
            <a:r>
              <a:t>6个月CR率：76%（19/25）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登记号：NCT05514327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试验药/方案：CD19靶向CAR-T(北京大学人民医院)</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超分割放疗作为一种桥接策略，减轻t细胞耗竭，增强cd19car-t在复发/难治性弥漫性大b细胞淋巴瘤中的疗效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hyper-fractionated radiotherapy as a bridging strategy attenuates t-cell exha...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Recent clinical studies have confirmed the safety and efficacy of radiotherapy as a bridging strategy prior to CAR-T therapy in R/R DLBCL.</a:t>
            </a:r>
          </a:p>
          <a:p>
            <a:pPr>
              <a:lnSpc>
                <a:spcPct val="103000"/>
              </a:lnSpc>
              <a:spcAft>
                <a:spcPts val="300"/>
              </a:spcAft>
              <a:defRPr sz="570">
                <a:solidFill>
                  <a:srgbClr val="21242A"/>
                </a:solidFill>
                <a:latin typeface="Microsoft YaHei"/>
              </a:defRPr>
            </a:pPr>
            <a:r>
              <a:t>Conventional fractionation regimens remain the most commonly adopted, with a daily dose of 3–5 Gy per fraction.</a:t>
            </a:r>
          </a:p>
          <a:p>
            <a:pPr>
              <a:lnSpc>
                <a:spcPct val="103000"/>
              </a:lnSpc>
              <a:spcAft>
                <a:spcPts val="300"/>
              </a:spcAft>
              <a:defRPr sz="570">
                <a:solidFill>
                  <a:srgbClr val="21242A"/>
                </a:solidFill>
                <a:latin typeface="Microsoft YaHei"/>
              </a:defRPr>
            </a:pPr>
            <a:r>
              <a:t>Hyper-fractionated radiotherapy, characterized by lower fractional doses and higher treatment frequency, allows effective target-dose delivery within a shorter </a:t>
            </a:r>
          </a:p>
          <a:p>
            <a:pPr>
              <a:lnSpc>
                <a:spcPct val="103000"/>
              </a:lnSpc>
              <a:spcAft>
                <a:spcPts val="300"/>
              </a:spcAft>
              <a:defRPr sz="570">
                <a:solidFill>
                  <a:srgbClr val="21242A"/>
                </a:solidFill>
                <a:latin typeface="Microsoft YaHei"/>
              </a:defRPr>
            </a:pPr>
            <a:r>
              <a:t>timeframe while minimizing radiation-related toxicity.</a:t>
            </a:r>
          </a:p>
          <a:p>
            <a:pPr>
              <a:lnSpc>
                <a:spcPct val="103000"/>
              </a:lnSpc>
              <a:spcAft>
                <a:spcPts val="300"/>
              </a:spcAft>
              <a:defRPr sz="570">
                <a:solidFill>
                  <a:srgbClr val="21242A"/>
                </a:solidFill>
                <a:latin typeface="Microsoft YaHei"/>
              </a:defRPr>
            </a:pPr>
            <a:r>
              <a:t>Beyond reducing tumor burden, this approach may also remodel the tumor microenvironment and potentiate the efficacy of immunotherapy. \n</a:t>
            </a:r>
          </a:p>
          <a:p>
            <a:pPr>
              <a:lnSpc>
                <a:spcPct val="103000"/>
              </a:lnSpc>
              <a:spcAft>
                <a:spcPts val="300"/>
              </a:spcAft>
              <a:defRPr sz="570">
                <a:solidFill>
                  <a:srgbClr val="21242A"/>
                </a:solidFill>
                <a:latin typeface="Microsoft YaHei"/>
              </a:defRPr>
            </a:pPr>
            <a:r>
              <a:t>Aims: We aim to investigate the efficacy and safety of bridging hyper-fractionated radiotherapy in combination with CD19 CAR-T therapy for R/R DLBCL.</a:t>
            </a:r>
          </a:p>
          <a:p>
            <a:pPr>
              <a:lnSpc>
                <a:spcPct val="103000"/>
              </a:lnSpc>
              <a:spcAft>
                <a:spcPts val="300"/>
              </a:spcAft>
              <a:defRPr sz="570">
                <a:solidFill>
                  <a:srgbClr val="21242A"/>
                </a:solidFill>
                <a:latin typeface="Microsoft YaHei"/>
              </a:defRPr>
            </a:pPr>
            <a:r>
              <a:t>The potential mechanisms would also be explored.</a:t>
            </a:r>
          </a:p>
          <a:p>
            <a:pPr>
              <a:lnSpc>
                <a:spcPct val="103000"/>
              </a:lnSpc>
              <a:spcAft>
                <a:spcPts val="300"/>
              </a:spcAft>
              <a:defRPr sz="570">
                <a:solidFill>
                  <a:srgbClr val="21242A"/>
                </a:solidFill>
                <a:latin typeface="Microsoft YaHei"/>
              </a:defRPr>
            </a:pPr>
            <a:r>
              <a:t>Methods: This was a single-center, prospective clinical study (NCT05514327) enrolling patients with R/R DLBCL with measurable lesions.</a:t>
            </a:r>
          </a:p>
          <a:p>
            <a:pPr>
              <a:lnSpc>
                <a:spcPct val="103000"/>
              </a:lnSpc>
              <a:spcAft>
                <a:spcPts val="300"/>
              </a:spcAft>
              <a:defRPr sz="570">
                <a:solidFill>
                  <a:srgbClr val="21242A"/>
                </a:solidFill>
                <a:latin typeface="Microsoft YaHei"/>
              </a:defRPr>
            </a:pPr>
            <a:r>
              <a:t>Hyper-fractionated radiotherapy was administered following T-cell apheresis.</a:t>
            </a:r>
          </a:p>
          <a:p>
            <a:pPr>
              <a:lnSpc>
                <a:spcPct val="103000"/>
              </a:lnSpc>
              <a:spcAft>
                <a:spcPts val="300"/>
              </a:spcAft>
              <a:defRPr sz="570">
                <a:solidFill>
                  <a:srgbClr val="21242A"/>
                </a:solidFill>
                <a:latin typeface="Microsoft YaHei"/>
              </a:defRPr>
            </a:pPr>
            <a:r>
              <a:t>A total dose of 30 Gy was prescribed to all patients using a hyper-fractionated regimen of 1.5 Gy twice daily over approximately 10 treatment days (weekends exc</a:t>
            </a:r>
          </a:p>
          <a:p>
            <a:pPr>
              <a:lnSpc>
                <a:spcPct val="103000"/>
              </a:lnSpc>
              <a:spcAft>
                <a:spcPts val="300"/>
              </a:spcAft>
              <a:defRPr sz="570">
                <a:solidFill>
                  <a:srgbClr val="21242A"/>
                </a:solidFill>
                <a:latin typeface="Microsoft YaHei"/>
              </a:defRPr>
            </a:pPr>
            <a:r>
              <a:t>luded).</a:t>
            </a:r>
          </a:p>
          <a:p>
            <a:pPr>
              <a:lnSpc>
                <a:spcPct val="103000"/>
              </a:lnSpc>
              <a:spcAft>
                <a:spcPts val="300"/>
              </a:spcAft>
              <a:defRPr sz="570">
                <a:solidFill>
                  <a:srgbClr val="21242A"/>
                </a:solidFill>
                <a:latin typeface="Microsoft YaHei"/>
              </a:defRPr>
            </a:pPr>
            <a:r>
              <a:t>CAR-T cell infusion started within 1-2 weeks after the completion of radiotherapy.</a:t>
            </a:r>
          </a:p>
          <a:p>
            <a:pPr>
              <a:lnSpc>
                <a:spcPct val="103000"/>
              </a:lnSpc>
              <a:spcAft>
                <a:spcPts val="300"/>
              </a:spcAft>
              <a:defRPr sz="570">
                <a:solidFill>
                  <a:srgbClr val="21242A"/>
                </a:solidFill>
                <a:latin typeface="Microsoft YaHei"/>
              </a:defRPr>
            </a:pPr>
            <a:r>
              <a:t>The efficacy and adverse reactions at different time points after radiotherapy and CAR-T cell infusion were monitored and analyzed.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Hyper-fractionated radiotherapy as a bridging therapy can not only reduce tumor burden, but also reduce exhausted T cells (CD8+PD1+T).</a:t>
            </a:r>
          </a:p>
          <a:p>
            <a:pPr>
              <a:lnSpc>
                <a:spcPct val="103000"/>
              </a:lnSpc>
              <a:spcAft>
                <a:spcPts val="300"/>
              </a:spcAft>
              <a:defRPr sz="590">
                <a:solidFill>
                  <a:srgbClr val="21242A"/>
                </a:solidFill>
                <a:latin typeface="Microsoft YaHei"/>
              </a:defRPr>
            </a:pPr>
            <a:r>
              <a:t>The lower exhausted T cells are significantly related to better PFS and OS.</a:t>
            </a:r>
          </a:p>
          <a:p>
            <a:pPr>
              <a:lnSpc>
                <a:spcPct val="103000"/>
              </a:lnSpc>
              <a:spcAft>
                <a:spcPts val="300"/>
              </a:spcAft>
              <a:defRPr sz="590">
                <a:solidFill>
                  <a:srgbClr val="21242A"/>
                </a:solidFill>
                <a:latin typeface="Microsoft YaHei"/>
              </a:defRPr>
            </a:pPr>
            <a:r>
              <a:t>These findings suggest that hyper-fractionated radiotherapy acts synergistically with CAR ‑ T therapy by modulating the host immune status, thereby facilitating</a:t>
            </a:r>
          </a:p>
          <a:p>
            <a:pPr>
              <a:lnSpc>
                <a:spcPct val="103000"/>
              </a:lnSpc>
              <a:spcAft>
                <a:spcPts val="300"/>
              </a:spcAft>
              <a:defRPr sz="590">
                <a:solidFill>
                  <a:srgbClr val="21242A"/>
                </a:solidFill>
                <a:latin typeface="Microsoft YaHei"/>
              </a:defRPr>
            </a:pPr>
            <a:r>
              <a:t> durable long ‑ term remission in patients with R/R DLBCL.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1个月CR率</a:t>
                      </a:r>
                    </a:p>
                  </a:txBody>
                  <a:tcPr>
                    <a:solidFill>
                      <a:srgbClr val="F6F8FB"/>
                    </a:solidFill>
                  </a:tcPr>
                </a:tc>
                <a:tc>
                  <a:txBody>
                    <a:bodyPr wrap="square" lIns="36576" rIns="36576" tIns="18288" bIns="18288"/>
                    <a:lstStyle/>
                    <a:p>
                      <a:r>
                        <a:rPr sz="540" b="0">
                          <a:solidFill>
                            <a:srgbClr val="21242A"/>
                          </a:solidFill>
                          <a:latin typeface="Microsoft YaHei"/>
                        </a:rPr>
                        <a:t>64%（16/25）</a:t>
                      </a:r>
                    </a:p>
                  </a:txBody>
                  <a:tcPr>
                    <a:solidFill>
                      <a:srgbClr val="F6F8FB"/>
                    </a:solidFill>
                  </a:tcPr>
                </a:tc>
              </a:tr>
              <a:tr h="187452">
                <a:tc>
                  <a:txBody>
                    <a:bodyPr wrap="square" lIns="36576" rIns="36576" tIns="18288" bIns="18288"/>
                    <a:lstStyle/>
                    <a:p>
                      <a:r>
                        <a:rPr sz="540" b="1">
                          <a:solidFill>
                            <a:srgbClr val="21242A"/>
                          </a:solidFill>
                          <a:latin typeface="Microsoft YaHei"/>
                        </a:rPr>
                        <a:t>6个月CR率</a:t>
                      </a:r>
                    </a:p>
                  </a:txBody>
                  <a:tcPr>
                    <a:solidFill>
                      <a:srgbClr val="FFFFFF"/>
                    </a:solidFill>
                  </a:tcPr>
                </a:tc>
                <a:tc>
                  <a:txBody>
                    <a:bodyPr wrap="square" lIns="36576" rIns="36576" tIns="18288" bIns="18288"/>
                    <a:lstStyle/>
                    <a:p>
                      <a:r>
                        <a:rPr sz="540" b="0">
                          <a:solidFill>
                            <a:srgbClr val="21242A"/>
                          </a:solidFill>
                          <a:latin typeface="Microsoft YaHei"/>
                        </a:rPr>
                        <a:t>76%（19/25）</a:t>
                      </a:r>
                    </a:p>
                  </a:txBody>
                  <a:tcPr>
                    <a:solidFill>
                      <a:srgbClr val="FFFFFF"/>
                    </a:solidFill>
                  </a:tcPr>
                </a:tc>
              </a:tr>
              <a:tr h="187452">
                <a:tc>
                  <a:txBody>
                    <a:bodyPr wrap="square" lIns="36576" rIns="36576" tIns="18288" bIns="18288"/>
                    <a:lstStyle/>
                    <a:p>
                      <a:r>
                        <a:rPr sz="540" b="1">
                          <a:solidFill>
                            <a:srgbClr val="21242A"/>
                          </a:solidFill>
                          <a:latin typeface="Microsoft YaHei"/>
                        </a:rPr>
                        <a:t>2年PFS率</a:t>
                      </a:r>
                    </a:p>
                  </a:txBody>
                  <a:tcPr>
                    <a:solidFill>
                      <a:srgbClr val="F6F8FB"/>
                    </a:solidFill>
                  </a:tcPr>
                </a:tc>
                <a:tc>
                  <a:txBody>
                    <a:bodyPr wrap="square" lIns="36576" rIns="36576" tIns="18288" bIns="18288"/>
                    <a:lstStyle/>
                    <a:p>
                      <a:r>
                        <a:rPr sz="540" b="0">
                          <a:solidFill>
                            <a:srgbClr val="21242A"/>
                          </a:solidFill>
                          <a:latin typeface="Microsoft YaHei"/>
                        </a:rPr>
                        <a:t>63.3%</a:t>
                      </a:r>
                    </a:p>
                  </a:txBody>
                  <a:tcPr>
                    <a:solidFill>
                      <a:srgbClr val="F6F8FB"/>
                    </a:solidFill>
                  </a:tcPr>
                </a:tc>
              </a:tr>
              <a:tr h="187452">
                <a:tc>
                  <a:txBody>
                    <a:bodyPr wrap="square" lIns="36576" rIns="36576" tIns="18288" bIns="18288"/>
                    <a:lstStyle/>
                    <a:p>
                      <a:r>
                        <a:rPr sz="540" b="1">
                          <a:solidFill>
                            <a:srgbClr val="21242A"/>
                          </a:solidFill>
                          <a:latin typeface="Microsoft YaHei"/>
                        </a:rPr>
                        <a:t>2年OS率</a:t>
                      </a:r>
                    </a:p>
                  </a:txBody>
                  <a:tcPr>
                    <a:solidFill>
                      <a:srgbClr val="FFFFFF"/>
                    </a:solidFill>
                  </a:tcPr>
                </a:tc>
                <a:tc>
                  <a:txBody>
                    <a:bodyPr wrap="square" lIns="36576" rIns="36576" tIns="18288" bIns="18288"/>
                    <a:lstStyle/>
                    <a:p>
                      <a:r>
                        <a:rPr sz="540" b="0">
                          <a:solidFill>
                            <a:srgbClr val="21242A"/>
                          </a:solidFill>
                          <a:latin typeface="Microsoft YaHei"/>
                        </a:rPr>
                        <a:t>75%</a:t>
                      </a:r>
                    </a:p>
                  </a:txBody>
                  <a:tcPr>
                    <a:solidFill>
                      <a:srgbClr val="FFFFFF"/>
                    </a:solidFill>
                  </a:tcPr>
                </a:tc>
              </a:tr>
              <a:tr h="187452">
                <a:tc>
                  <a:txBody>
                    <a:bodyPr wrap="square" lIns="36576" rIns="36576" tIns="18288" bIns="18288"/>
                    <a:lstStyle/>
                    <a:p>
                      <a:r>
                        <a:rPr sz="540" b="1">
                          <a:solidFill>
                            <a:srgbClr val="21242A"/>
                          </a:solidFill>
                          <a:latin typeface="Microsoft YaHei"/>
                        </a:rPr>
                        <a:t>CRS</a:t>
                      </a:r>
                    </a:p>
                  </a:txBody>
                  <a:tcPr>
                    <a:solidFill>
                      <a:srgbClr val="F6F8FB"/>
                    </a:solidFill>
                  </a:tcPr>
                </a:tc>
                <a:tc>
                  <a:txBody>
                    <a:bodyPr wrap="square" lIns="36576" rIns="36576" tIns="18288" bIns="18288"/>
                    <a:lstStyle/>
                    <a:p>
                      <a:r>
                        <a:rPr sz="540" b="0">
                          <a:solidFill>
                            <a:srgbClr val="21242A"/>
                          </a:solidFill>
                          <a:latin typeface="Microsoft YaHei"/>
                        </a:rPr>
                        <a:t>44% 1级，24% 2级，16% 3级</a:t>
                      </a:r>
                    </a:p>
                  </a:txBody>
                  <a:tcPr>
                    <a:solidFill>
                      <a:srgbClr val="F6F8FB"/>
                    </a:solidFill>
                  </a:tcPr>
                </a:tc>
              </a:tr>
              <a:tr h="187452">
                <a:tc>
                  <a:txBody>
                    <a:bodyPr wrap="square" lIns="36576" rIns="36576" tIns="18288" bIns="18288"/>
                    <a:lstStyle/>
                    <a:p>
                      <a:r>
                        <a:rPr sz="540" b="1">
                          <a:solidFill>
                            <a:srgbClr val="21242A"/>
                          </a:solidFill>
                          <a:latin typeface="Microsoft YaHei"/>
                        </a:rPr>
                        <a:t>ICANS</a:t>
                      </a:r>
                    </a:p>
                  </a:txBody>
                  <a:tcPr>
                    <a:solidFill>
                      <a:srgbClr val="FFFFFF"/>
                    </a:solidFill>
                  </a:tcPr>
                </a:tc>
                <a:tc>
                  <a:txBody>
                    <a:bodyPr wrap="square" lIns="36576" rIns="36576" tIns="18288" bIns="18288"/>
                    <a:lstStyle/>
                    <a:p>
                      <a:r>
                        <a:rPr sz="540" b="0">
                          <a:solidFill>
                            <a:srgbClr val="21242A"/>
                          </a:solidFill>
                          <a:latin typeface="Microsoft YaHei"/>
                        </a:rPr>
                        <a:t>20%发生率（8% 1级，8% 3级，4% 4级）</a:t>
                      </a:r>
                    </a:p>
                  </a:txBody>
                  <a:tcPr>
                    <a:solidFill>
                      <a:srgbClr val="FFFFFF"/>
                    </a:solidFill>
                  </a:tcPr>
                </a:tc>
              </a:tr>
              <a:tr h="187452">
                <a:tc>
                  <a:txBody>
                    <a:bodyPr wrap="square" lIns="36576" rIns="36576" tIns="18288" bIns="18288"/>
                    <a:lstStyle/>
                    <a:p>
                      <a:r>
                        <a:rPr sz="540" b="1">
                          <a:solidFill>
                            <a:srgbClr val="21242A"/>
                          </a:solidFill>
                          <a:latin typeface="Microsoft YaHei"/>
                        </a:rPr>
                        <a:t>3-4级粒细胞减少</a:t>
                      </a:r>
                    </a:p>
                  </a:txBody>
                  <a:tcPr>
                    <a:solidFill>
                      <a:srgbClr val="F6F8FB"/>
                    </a:solidFill>
                  </a:tcPr>
                </a:tc>
                <a:tc>
                  <a:txBody>
                    <a:bodyPr wrap="square" lIns="36576" rIns="36576" tIns="18288" bIns="18288"/>
                    <a:lstStyle/>
                    <a:p>
                      <a:r>
                        <a:rPr sz="540" b="0">
                          <a:solidFill>
                            <a:srgbClr val="21242A"/>
                          </a:solidFill>
                          <a:latin typeface="Microsoft YaHei"/>
                        </a:rPr>
                        <a:t>88%，中位持续时间5.5天</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摘要号：PF1240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意大利现实生活中使用loncastuximab tesirine治疗大b细胞淋巴瘤的经验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 b-cell lymphoma treatment with loncastuximab tesirine in an italian rea...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试验药/方案：泰朗妥昔单抗</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完全缓解率：32.4%</a:t>
            </a:r>
          </a:p>
          <a:p>
            <a:pPr>
              <a:lnSpc>
                <a:spcPct val="103000"/>
              </a:lnSpc>
              <a:spcAft>
                <a:spcPts val="300"/>
              </a:spcAft>
              <a:defRPr sz="800">
                <a:solidFill>
                  <a:srgbClr val="21242A"/>
                </a:solidFill>
                <a:latin typeface="Microsoft YaHei"/>
              </a:defRPr>
            </a:pPr>
            <a:r>
              <a:t>部分缓解率：10.8%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试验药/方案：泰朗妥昔单抗</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药物/技术类别：缬氨酸-丙氨酸 VA、PBD二聚体：SG3199、抗体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意大利现实生活中使用loncastuximab tesirine治疗大b细胞淋巴瘤的经验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 b-cell lymphoma treatment with loncastuximab tesirine in an italian rea...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Loncastuximab tesirine (LT), an anti-CD19 pyrrolobenzodiazepine-conjugated monoclonal antibody, is now approved for the treatment of large B-cell ly</a:t>
            </a:r>
          </a:p>
          <a:p>
            <a:pPr>
              <a:lnSpc>
                <a:spcPct val="103000"/>
              </a:lnSpc>
              <a:spcAft>
                <a:spcPts val="300"/>
              </a:spcAft>
              <a:defRPr sz="570">
                <a:solidFill>
                  <a:srgbClr val="21242A"/>
                </a:solidFill>
                <a:latin typeface="Microsoft YaHei"/>
              </a:defRPr>
            </a:pPr>
            <a:r>
              <a:t>mphoma (LBCL) patients from their third line onwards.</a:t>
            </a:r>
          </a:p>
          <a:p>
            <a:pPr>
              <a:lnSpc>
                <a:spcPct val="103000"/>
              </a:lnSpc>
              <a:spcAft>
                <a:spcPts val="300"/>
              </a:spcAft>
              <a:defRPr sz="570">
                <a:solidFill>
                  <a:srgbClr val="21242A"/>
                </a:solidFill>
                <a:latin typeface="Microsoft YaHei"/>
              </a:defRPr>
            </a:pPr>
            <a:r>
              <a:t>According to the results of the phase 2 registration trial, responses occurred quickly and lasted for over a year in patients receiving at least 2 previous trea</a:t>
            </a:r>
          </a:p>
          <a:p>
            <a:pPr>
              <a:lnSpc>
                <a:spcPct val="103000"/>
              </a:lnSpc>
              <a:spcAft>
                <a:spcPts val="300"/>
              </a:spcAft>
              <a:defRPr sz="570">
                <a:solidFill>
                  <a:srgbClr val="21242A"/>
                </a:solidFill>
                <a:latin typeface="Microsoft YaHei"/>
              </a:defRPr>
            </a:pPr>
            <a:r>
              <a:t>tments, including chimeric antigen receptor T (CART) cells.</a:t>
            </a:r>
          </a:p>
          <a:p>
            <a:pPr>
              <a:lnSpc>
                <a:spcPct val="103000"/>
              </a:lnSpc>
              <a:spcAft>
                <a:spcPts val="300"/>
              </a:spcAft>
              <a:defRPr sz="570">
                <a:solidFill>
                  <a:srgbClr val="21242A"/>
                </a:solidFill>
                <a:latin typeface="Microsoft YaHei"/>
              </a:defRPr>
            </a:pPr>
            <a:r>
              <a:t>Aims: An observational study reporting the Italian real-life experience with LT as compassionate use, with the purpose of assessing its effectiveness, in terms </a:t>
            </a:r>
          </a:p>
          <a:p>
            <a:pPr>
              <a:lnSpc>
                <a:spcPct val="103000"/>
              </a:lnSpc>
              <a:spcAft>
                <a:spcPts val="300"/>
              </a:spcAft>
              <a:defRPr sz="570">
                <a:solidFill>
                  <a:srgbClr val="21242A"/>
                </a:solidFill>
                <a:latin typeface="Microsoft YaHei"/>
              </a:defRPr>
            </a:pPr>
            <a:r>
              <a:t>of response rate and time to response.</a:t>
            </a:r>
          </a:p>
          <a:p>
            <a:pPr>
              <a:lnSpc>
                <a:spcPct val="103000"/>
              </a:lnSpc>
              <a:spcAft>
                <a:spcPts val="300"/>
              </a:spcAft>
              <a:defRPr sz="570">
                <a:solidFill>
                  <a:srgbClr val="21242A"/>
                </a:solidFill>
                <a:latin typeface="Microsoft YaHei"/>
              </a:defRPr>
            </a:pPr>
            <a:r>
              <a:t>Secondary endpoints were progression-free, overall survival, response duration and safety in a cohort of patients with LBCL relapsing after or refractory to at </a:t>
            </a:r>
          </a:p>
          <a:p>
            <a:pPr>
              <a:lnSpc>
                <a:spcPct val="103000"/>
              </a:lnSpc>
              <a:spcAft>
                <a:spcPts val="300"/>
              </a:spcAft>
              <a:defRPr sz="570">
                <a:solidFill>
                  <a:srgbClr val="21242A"/>
                </a:solidFill>
                <a:latin typeface="Microsoft YaHei"/>
              </a:defRPr>
            </a:pPr>
            <a:r>
              <a:t>least 2 previous lines.</a:t>
            </a:r>
          </a:p>
          <a:p>
            <a:pPr>
              <a:lnSpc>
                <a:spcPct val="103000"/>
              </a:lnSpc>
              <a:spcAft>
                <a:spcPts val="300"/>
              </a:spcAft>
              <a:defRPr sz="570">
                <a:solidFill>
                  <a:srgbClr val="21242A"/>
                </a:solidFill>
                <a:latin typeface="Microsoft YaHei"/>
              </a:defRPr>
            </a:pPr>
            <a:r>
              <a:t>Methods: LT was administered in accordance with its prescribing indications until disease progression or unacceptable toxicity, whichever came first.</a:t>
            </a:r>
          </a:p>
          <a:p>
            <a:pPr>
              <a:lnSpc>
                <a:spcPct val="103000"/>
              </a:lnSpc>
              <a:spcAft>
                <a:spcPts val="300"/>
              </a:spcAft>
              <a:defRPr sz="570">
                <a:solidFill>
                  <a:srgbClr val="21242A"/>
                </a:solidFill>
                <a:latin typeface="Microsoft YaHei"/>
              </a:defRPr>
            </a:pPr>
            <a:r>
              <a:t>Patients in the study were not subjected to any procedures outside normal practice and the variables collected were retrieved from patients’ medical records.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LT displays rapid disease control in a population of highly pretreated LBCL patients with severe presentation.</a:t>
            </a:r>
          </a:p>
          <a:p>
            <a:pPr>
              <a:lnSpc>
                <a:spcPct val="103000"/>
              </a:lnSpc>
              <a:spcAft>
                <a:spcPts val="300"/>
              </a:spcAft>
              <a:defRPr sz="590">
                <a:solidFill>
                  <a:srgbClr val="21242A"/>
                </a:solidFill>
                <a:latin typeface="Microsoft YaHei"/>
              </a:defRPr>
            </a:pPr>
            <a:r>
              <a:t>More disappointing survival results have been documented in our population compared to registration study due to much more unfavorable disease characteristics.</a:t>
            </a:r>
          </a:p>
          <a:p>
            <a:pPr>
              <a:lnSpc>
                <a:spcPct val="103000"/>
              </a:lnSpc>
              <a:spcAft>
                <a:spcPts val="300"/>
              </a:spcAft>
              <a:defRPr sz="590">
                <a:solidFill>
                  <a:srgbClr val="21242A"/>
                </a:solidFill>
                <a:latin typeface="Microsoft YaHei"/>
              </a:defRPr>
            </a:pPr>
            <a:r>
              <a:t>Extra-hematologic toxicity remains a concern.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2496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24968">
                <a:tc>
                  <a:txBody>
                    <a:bodyPr wrap="square" lIns="36576" rIns="36576" tIns="18288" bIns="18288"/>
                    <a:lstStyle/>
                    <a:p>
                      <a:r>
                        <a:rPr sz="540" b="1">
                          <a:solidFill>
                            <a:srgbClr val="21242A"/>
                          </a:solidFill>
                          <a:latin typeface="Microsoft YaHei"/>
                        </a:rPr>
                        <a:t>完全缓解率</a:t>
                      </a:r>
                    </a:p>
                  </a:txBody>
                  <a:tcPr>
                    <a:solidFill>
                      <a:srgbClr val="F6F8FB"/>
                    </a:solidFill>
                  </a:tcPr>
                </a:tc>
                <a:tc>
                  <a:txBody>
                    <a:bodyPr wrap="square" lIns="36576" rIns="36576" tIns="18288" bIns="18288"/>
                    <a:lstStyle/>
                    <a:p>
                      <a:r>
                        <a:rPr sz="540" b="0">
                          <a:solidFill>
                            <a:srgbClr val="21242A"/>
                          </a:solidFill>
                          <a:latin typeface="Microsoft YaHei"/>
                        </a:rPr>
                        <a:t>32.4%</a:t>
                      </a:r>
                    </a:p>
                  </a:txBody>
                  <a:tcPr>
                    <a:solidFill>
                      <a:srgbClr val="F6F8FB"/>
                    </a:solidFill>
                  </a:tcPr>
                </a:tc>
              </a:tr>
              <a:tr h="124968">
                <a:tc>
                  <a:txBody>
                    <a:bodyPr wrap="square" lIns="36576" rIns="36576" tIns="18288" bIns="18288"/>
                    <a:lstStyle/>
                    <a:p>
                      <a:r>
                        <a:rPr sz="540" b="1">
                          <a:solidFill>
                            <a:srgbClr val="21242A"/>
                          </a:solidFill>
                          <a:latin typeface="Microsoft YaHei"/>
                        </a:rPr>
                        <a:t>部分缓解率</a:t>
                      </a:r>
                    </a:p>
                  </a:txBody>
                  <a:tcPr>
                    <a:solidFill>
                      <a:srgbClr val="FFFFFF"/>
                    </a:solidFill>
                  </a:tcPr>
                </a:tc>
                <a:tc>
                  <a:txBody>
                    <a:bodyPr wrap="square" lIns="36576" rIns="36576" tIns="18288" bIns="18288"/>
                    <a:lstStyle/>
                    <a:p>
                      <a:r>
                        <a:rPr sz="540" b="0">
                          <a:solidFill>
                            <a:srgbClr val="21242A"/>
                          </a:solidFill>
                          <a:latin typeface="Microsoft YaHei"/>
                        </a:rPr>
                        <a:t>10.8%</a:t>
                      </a:r>
                    </a:p>
                  </a:txBody>
                  <a:tcPr>
                    <a:solidFill>
                      <a:srgbClr val="FFFFFF"/>
                    </a:solidFill>
                  </a:tcPr>
                </a:tc>
              </a:tr>
              <a:tr h="124968">
                <a:tc>
                  <a:txBody>
                    <a:bodyPr wrap="square" lIns="36576" rIns="36576" tIns="18288" bIns="18288"/>
                    <a:lstStyle/>
                    <a:p>
                      <a:r>
                        <a:rPr sz="540" b="1">
                          <a:solidFill>
                            <a:srgbClr val="21242A"/>
                          </a:solidFill>
                          <a:latin typeface="Microsoft YaHei"/>
                        </a:rPr>
                        <a:t>中位至缓解时间</a:t>
                      </a:r>
                    </a:p>
                  </a:txBody>
                  <a:tcPr>
                    <a:solidFill>
                      <a:srgbClr val="F6F8FB"/>
                    </a:solidFill>
                  </a:tcPr>
                </a:tc>
                <a:tc>
                  <a:txBody>
                    <a:bodyPr wrap="square" lIns="36576" rIns="36576" tIns="18288" bIns="18288"/>
                    <a:lstStyle/>
                    <a:p>
                      <a:r>
                        <a:rPr sz="540" b="0">
                          <a:solidFill>
                            <a:srgbClr val="21242A"/>
                          </a:solidFill>
                          <a:latin typeface="Microsoft YaHei"/>
                        </a:rPr>
                        <a:t>3.3个月</a:t>
                      </a:r>
                    </a:p>
                  </a:txBody>
                  <a:tcPr>
                    <a:solidFill>
                      <a:srgbClr val="F6F8FB"/>
                    </a:solidFill>
                  </a:tcPr>
                </a:tc>
              </a:tr>
              <a:tr h="124968">
                <a:tc>
                  <a:txBody>
                    <a:bodyPr wrap="square" lIns="36576" rIns="36576" tIns="18288" bIns="18288"/>
                    <a:lstStyle/>
                    <a:p>
                      <a:r>
                        <a:rPr sz="540" b="1">
                          <a:solidFill>
                            <a:srgbClr val="21242A"/>
                          </a:solidFill>
                          <a:latin typeface="Microsoft YaHei"/>
                        </a:rPr>
                        <a:t>中位无进展生存期</a:t>
                      </a:r>
                    </a:p>
                  </a:txBody>
                  <a:tcPr>
                    <a:solidFill>
                      <a:srgbClr val="FFFFFF"/>
                    </a:solidFill>
                  </a:tcPr>
                </a:tc>
                <a:tc>
                  <a:txBody>
                    <a:bodyPr wrap="square" lIns="36576" rIns="36576" tIns="18288" bIns="18288"/>
                    <a:lstStyle/>
                    <a:p>
                      <a:r>
                        <a:rPr sz="540" b="0">
                          <a:solidFill>
                            <a:srgbClr val="21242A"/>
                          </a:solidFill>
                          <a:latin typeface="Microsoft YaHei"/>
                        </a:rPr>
                        <a:t>2.7个月</a:t>
                      </a:r>
                    </a:p>
                  </a:txBody>
                  <a:tcPr>
                    <a:solidFill>
                      <a:srgbClr val="FFFFFF"/>
                    </a:solidFill>
                  </a:tcPr>
                </a:tc>
              </a:tr>
              <a:tr h="124968">
                <a:tc>
                  <a:txBody>
                    <a:bodyPr wrap="square" lIns="36576" rIns="36576" tIns="18288" bIns="18288"/>
                    <a:lstStyle/>
                    <a:p>
                      <a:r>
                        <a:rPr sz="540" b="1">
                          <a:solidFill>
                            <a:srgbClr val="21242A"/>
                          </a:solidFill>
                          <a:latin typeface="Microsoft YaHei"/>
                        </a:rPr>
                        <a:t>中位总生存期</a:t>
                      </a:r>
                    </a:p>
                  </a:txBody>
                  <a:tcPr>
                    <a:solidFill>
                      <a:srgbClr val="F6F8FB"/>
                    </a:solidFill>
                  </a:tcPr>
                </a:tc>
                <a:tc>
                  <a:txBody>
                    <a:bodyPr wrap="square" lIns="36576" rIns="36576" tIns="18288" bIns="18288"/>
                    <a:lstStyle/>
                    <a:p>
                      <a:r>
                        <a:rPr sz="540" b="0">
                          <a:solidFill>
                            <a:srgbClr val="21242A"/>
                          </a:solidFill>
                          <a:latin typeface="Microsoft YaHei"/>
                        </a:rPr>
                        <a:t>5.5个月</a:t>
                      </a:r>
                    </a:p>
                  </a:txBody>
                  <a:tcPr>
                    <a:solidFill>
                      <a:srgbClr val="F6F8FB"/>
                    </a:solidFill>
                  </a:tcPr>
                </a:tc>
              </a:tr>
              <a:tr h="124968">
                <a:tc>
                  <a:txBody>
                    <a:bodyPr wrap="square" lIns="36576" rIns="36576" tIns="18288" bIns="18288"/>
                    <a:lstStyle/>
                    <a:p>
                      <a:r>
                        <a:rPr sz="540" b="1">
                          <a:solidFill>
                            <a:srgbClr val="21242A"/>
                          </a:solidFill>
                          <a:latin typeface="Microsoft YaHei"/>
                        </a:rPr>
                        <a:t>中位完全缓解持续时间</a:t>
                      </a:r>
                    </a:p>
                  </a:txBody>
                  <a:tcPr>
                    <a:solidFill>
                      <a:srgbClr val="FFFFFF"/>
                    </a:solidFill>
                  </a:tcPr>
                </a:tc>
                <a:tc>
                  <a:txBody>
                    <a:bodyPr wrap="square" lIns="36576" rIns="36576" tIns="18288" bIns="18288"/>
                    <a:lstStyle/>
                    <a:p>
                      <a:r>
                        <a:rPr sz="540" b="0">
                          <a:solidFill>
                            <a:srgbClr val="21242A"/>
                          </a:solidFill>
                          <a:latin typeface="Microsoft YaHei"/>
                        </a:rPr>
                        <a:t>5.4个月</a:t>
                      </a:r>
                    </a:p>
                  </a:txBody>
                  <a:tcPr>
                    <a:solidFill>
                      <a:srgbClr val="FFFFFF"/>
                    </a:solidFill>
                  </a:tcPr>
                </a:tc>
              </a:tr>
              <a:tr h="124968">
                <a:tc>
                  <a:txBody>
                    <a:bodyPr wrap="square" lIns="36576" rIns="36576" tIns="18288" bIns="18288"/>
                    <a:lstStyle/>
                    <a:p>
                      <a:r>
                        <a:rPr sz="540" b="1">
                          <a:solidFill>
                            <a:srgbClr val="21242A"/>
                          </a:solidFill>
                          <a:latin typeface="Microsoft YaHei"/>
                        </a:rPr>
                        <a:t>疾病进展率</a:t>
                      </a:r>
                    </a:p>
                  </a:txBody>
                  <a:tcPr>
                    <a:solidFill>
                      <a:srgbClr val="F6F8FB"/>
                    </a:solidFill>
                  </a:tcPr>
                </a:tc>
                <a:tc>
                  <a:txBody>
                    <a:bodyPr wrap="square" lIns="36576" rIns="36576" tIns="18288" bIns="18288"/>
                    <a:lstStyle/>
                    <a:p>
                      <a:r>
                        <a:rPr sz="540" b="0">
                          <a:solidFill>
                            <a:srgbClr val="21242A"/>
                          </a:solidFill>
                          <a:latin typeface="Microsoft YaHei"/>
                        </a:rPr>
                        <a:t>51.4%</a:t>
                      </a:r>
                    </a:p>
                  </a:txBody>
                  <a:tcPr>
                    <a:solidFill>
                      <a:srgbClr val="F6F8FB"/>
                    </a:solidFill>
                  </a:tcPr>
                </a:tc>
              </a:tr>
              <a:tr h="124968">
                <a:tc>
                  <a:txBody>
                    <a:bodyPr wrap="square" lIns="36576" rIns="36576" tIns="18288" bIns="18288"/>
                    <a:lstStyle/>
                    <a:p>
                      <a:r>
                        <a:rPr sz="540" b="1">
                          <a:solidFill>
                            <a:srgbClr val="21242A"/>
                          </a:solidFill>
                          <a:latin typeface="Microsoft YaHei"/>
                        </a:rPr>
                        <a:t>稳定疾病率</a:t>
                      </a:r>
                    </a:p>
                  </a:txBody>
                  <a:tcPr>
                    <a:solidFill>
                      <a:srgbClr val="FFFFFF"/>
                    </a:solidFill>
                  </a:tcPr>
                </a:tc>
                <a:tc>
                  <a:txBody>
                    <a:bodyPr wrap="square" lIns="36576" rIns="36576" tIns="18288" bIns="18288"/>
                    <a:lstStyle/>
                    <a:p>
                      <a:r>
                        <a:rPr sz="540" b="0">
                          <a:solidFill>
                            <a:srgbClr val="21242A"/>
                          </a:solidFill>
                          <a:latin typeface="Microsoft YaHei"/>
                        </a:rPr>
                        <a:t>5.4%</a:t>
                      </a:r>
                    </a:p>
                  </a:txBody>
                  <a:tcPr>
                    <a:solidFill>
                      <a:srgbClr val="FFFFFF"/>
                    </a:solidFill>
                  </a:tcPr>
                </a:tc>
              </a:tr>
              <a:tr h="124968">
                <a:tc>
                  <a:txBody>
                    <a:bodyPr wrap="square" lIns="36576" rIns="36576" tIns="18288" bIns="18288"/>
                    <a:lstStyle/>
                    <a:p>
                      <a:r>
                        <a:rPr sz="540" b="1">
                          <a:solidFill>
                            <a:srgbClr val="21242A"/>
                          </a:solidFill>
                          <a:latin typeface="Microsoft YaHei"/>
                        </a:rPr>
                        <a:t>血液学不良事件</a:t>
                      </a:r>
                    </a:p>
                  </a:txBody>
                  <a:tcPr>
                    <a:solidFill>
                      <a:srgbClr val="F6F8FB"/>
                    </a:solidFill>
                  </a:tcPr>
                </a:tc>
                <a:tc>
                  <a:txBody>
                    <a:bodyPr wrap="square" lIns="36576" rIns="36576" tIns="18288" bIns="18288"/>
                    <a:lstStyle/>
                    <a:p>
                      <a:r>
                        <a:rPr sz="540" b="0">
                          <a:solidFill>
                            <a:srgbClr val="21242A"/>
                          </a:solidFill>
                          <a:latin typeface="Microsoft YaHei"/>
                        </a:rPr>
                        <a:t>7例患者共17起，包括3级贫血3例，3级中性粒细胞减少1例，3级血小板减少3例，4级中性粒细胞减少1例，4级血小板减少3例</a:t>
                      </a:r>
                    </a:p>
                  </a:txBody>
                  <a:tcPr>
                    <a:solidFill>
                      <a:srgbClr val="F6F8FB"/>
                    </a:solidFill>
                  </a:tcPr>
                </a:tc>
              </a:tr>
              <a:tr h="124968">
                <a:tc>
                  <a:txBody>
                    <a:bodyPr wrap="square" lIns="36576" rIns="36576" tIns="18288" bIns="18288"/>
                    <a:lstStyle/>
                    <a:p>
                      <a:r>
                        <a:rPr sz="540" b="1">
                          <a:solidFill>
                            <a:srgbClr val="21242A"/>
                          </a:solidFill>
                          <a:latin typeface="Microsoft YaHei"/>
                        </a:rPr>
                        <a:t>非血液学不良事件</a:t>
                      </a:r>
                    </a:p>
                  </a:txBody>
                  <a:tcPr>
                    <a:solidFill>
                      <a:srgbClr val="FFFFFF"/>
                    </a:solidFill>
                  </a:tcPr>
                </a:tc>
                <a:tc>
                  <a:txBody>
                    <a:bodyPr wrap="square" lIns="36576" rIns="36576" tIns="18288" bIns="18288"/>
                    <a:lstStyle/>
                    <a:p>
                      <a:r>
                        <a:rPr sz="540" b="0">
                          <a:solidFill>
                            <a:srgbClr val="21242A"/>
                          </a:solidFill>
                          <a:latin typeface="Microsoft YaHei"/>
                        </a:rPr>
                        <a:t>19例患者共25起，其中13起考虑与药物相关（发生在11例患者），4起≥3级（3例患者）：3级皮肤毒性1例，3级水肿1例，3级感染2例</a:t>
                      </a:r>
                    </a:p>
                  </a:txBody>
                  <a:tcPr>
                    <a:solidFill>
                      <a:srgbClr val="FFFFFF"/>
                    </a:solidFill>
                  </a:tcPr>
                </a:tc>
              </a:tr>
              <a:tr h="124968">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无治疗相关死亡</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鞘内注射联合静脉注射car-t细胞治疗中枢神经系统b细胞恶性肿瘤的安全性和有效性初步研究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preliminary study on the safety and efficacy of intrathecal combined with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PF780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B细胞急性淋巴细胞白血病，多发性骨髓瘤，弥漫性大B细胞淋巴瘤</a:t>
            </a:r>
          </a:p>
          <a:p>
            <a:pPr>
              <a:lnSpc>
                <a:spcPct val="103000"/>
              </a:lnSpc>
              <a:spcAft>
                <a:spcPts val="300"/>
              </a:spcAft>
              <a:defRPr sz="800">
                <a:solidFill>
                  <a:srgbClr val="21242A"/>
                </a:solidFill>
                <a:latin typeface="Microsoft YaHei"/>
              </a:defRPr>
            </a:pPr>
            <a:r>
              <a:t>N=8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总体客观缓解率（ORR）为100%</a:t>
            </a:r>
          </a:p>
          <a:p>
            <a:pPr>
              <a:lnSpc>
                <a:spcPct val="103000"/>
              </a:lnSpc>
              <a:spcAft>
                <a:spcPts val="300"/>
              </a:spcAft>
              <a:defRPr sz="800">
                <a:solidFill>
                  <a:srgbClr val="21242A"/>
                </a:solidFill>
                <a:latin typeface="Microsoft YaHei"/>
              </a:defRPr>
            </a:pPr>
            <a:r>
              <a:t>完全缓解（CR）5例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a:t>
            </a:r>
          </a:p>
          <a:p>
            <a:pPr>
              <a:lnSpc>
                <a:spcPct val="103000"/>
              </a:lnSpc>
              <a:spcAft>
                <a:spcPts val="300"/>
              </a:spcAft>
              <a:defRPr sz="810">
                <a:solidFill>
                  <a:srgbClr val="21242A"/>
                </a:solidFill>
                <a:latin typeface="Microsoft YaHei"/>
              </a:defRPr>
            </a:pPr>
            <a:r>
              <a:t>适应症：B细胞急性淋巴细胞白血病、多发性骨髓瘤、弥漫性大B细胞淋巴瘤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a:p>
            <a:pPr>
              <a:lnSpc>
                <a:spcPct val="103000"/>
              </a:lnSpc>
              <a:spcAft>
                <a:spcPts val="300"/>
              </a:spcAft>
              <a:defRPr sz="810">
                <a:solidFill>
                  <a:srgbClr val="21242A"/>
                </a:solidFill>
                <a:latin typeface="Microsoft YaHei"/>
              </a:defRPr>
            </a:pPr>
            <a:r>
              <a:t>分组/治疗流程：所有患者接受鞘内联合静脉CAR-T治疗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鞘内注射联合静脉注射car-t细胞治疗中枢神经系统b细胞恶性肿瘤的安全性和有效性初步研究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preliminary study on the safety and efficacy of intrathecal combined with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PF780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CAR-T cell therapy has demonstrated clear efficacy in relapsed/refractory B-cell malignancies, including B-cell acute lymphoblastic leukemia (B-ALL)</a:t>
            </a:r>
          </a:p>
          <a:p>
            <a:pPr>
              <a:lnSpc>
                <a:spcPct val="103000"/>
              </a:lnSpc>
              <a:spcAft>
                <a:spcPts val="300"/>
              </a:spcAft>
              <a:defRPr sz="570">
                <a:solidFill>
                  <a:srgbClr val="21242A"/>
                </a:solidFill>
                <a:latin typeface="Microsoft YaHei"/>
              </a:defRPr>
            </a:pPr>
            <a:r>
              <a:t>, diffuse large B-cell lymphoma (DLBCL), and multiple myeloma (MM).</a:t>
            </a:r>
          </a:p>
          <a:p>
            <a:pPr>
              <a:lnSpc>
                <a:spcPct val="103000"/>
              </a:lnSpc>
              <a:spcAft>
                <a:spcPts val="300"/>
              </a:spcAft>
              <a:defRPr sz="570">
                <a:solidFill>
                  <a:srgbClr val="21242A"/>
                </a:solidFill>
                <a:latin typeface="Microsoft YaHei"/>
              </a:defRPr>
            </a:pPr>
            <a:r>
              <a:t>CAR-T cells can penetrate the blood-brain barrier and are effective in patients with central nervous system (CNS) involvement.</a:t>
            </a:r>
          </a:p>
          <a:p>
            <a:pPr>
              <a:lnSpc>
                <a:spcPct val="103000"/>
              </a:lnSpc>
              <a:spcAft>
                <a:spcPts val="300"/>
              </a:spcAft>
              <a:defRPr sz="570">
                <a:solidFill>
                  <a:srgbClr val="21242A"/>
                </a:solidFill>
                <a:latin typeface="Microsoft YaHei"/>
              </a:defRPr>
            </a:pPr>
            <a:r>
              <a:t>Recently, the mainly infusion of CAR-T was through intravenous.</a:t>
            </a:r>
          </a:p>
          <a:p>
            <a:pPr>
              <a:lnSpc>
                <a:spcPct val="103000"/>
              </a:lnSpc>
              <a:spcAft>
                <a:spcPts val="300"/>
              </a:spcAft>
              <a:defRPr sz="570">
                <a:solidFill>
                  <a:srgbClr val="21242A"/>
                </a:solidFill>
                <a:latin typeface="Microsoft YaHei"/>
              </a:defRPr>
            </a:pPr>
            <a:r>
              <a:t>The evaluation of the safety and efficacy of combined intrathecal and intravenous CAR-T infusion remain scarce.</a:t>
            </a:r>
          </a:p>
          <a:p>
            <a:pPr>
              <a:lnSpc>
                <a:spcPct val="103000"/>
              </a:lnSpc>
              <a:spcAft>
                <a:spcPts val="300"/>
              </a:spcAft>
              <a:defRPr sz="570">
                <a:solidFill>
                  <a:srgbClr val="21242A"/>
                </a:solidFill>
                <a:latin typeface="Microsoft YaHei"/>
              </a:defRPr>
            </a:pPr>
            <a:r>
              <a:t>Aims: To evaluate the safety and clinical efficacy of intrathecal combined with intravenous CAR-T therapy in patients with relapsed/refractory B-cell malignanci</a:t>
            </a:r>
          </a:p>
          <a:p>
            <a:pPr>
              <a:lnSpc>
                <a:spcPct val="103000"/>
              </a:lnSpc>
              <a:spcAft>
                <a:spcPts val="300"/>
              </a:spcAft>
              <a:defRPr sz="570">
                <a:solidFill>
                  <a:srgbClr val="21242A"/>
                </a:solidFill>
                <a:latin typeface="Microsoft YaHei"/>
              </a:defRPr>
            </a:pPr>
            <a:r>
              <a:t>es accompanied by CNS involvement.</a:t>
            </a:r>
          </a:p>
          <a:p>
            <a:pPr>
              <a:lnSpc>
                <a:spcPct val="103000"/>
              </a:lnSpc>
              <a:spcAft>
                <a:spcPts val="300"/>
              </a:spcAft>
              <a:defRPr sz="570">
                <a:solidFill>
                  <a:srgbClr val="21242A"/>
                </a:solidFill>
                <a:latin typeface="Microsoft YaHei"/>
              </a:defRPr>
            </a:pPr>
            <a:r>
              <a:t>Methods: This study analyzed patients with B-cell malignancies and CNS involvement treated at our center from January 2025 to February 2026 using intrathecal co</a:t>
            </a:r>
          </a:p>
          <a:p>
            <a:pPr>
              <a:lnSpc>
                <a:spcPct val="103000"/>
              </a:lnSpc>
              <a:spcAft>
                <a:spcPts val="300"/>
              </a:spcAft>
              <a:defRPr sz="570">
                <a:solidFill>
                  <a:srgbClr val="21242A"/>
                </a:solidFill>
                <a:latin typeface="Microsoft YaHei"/>
              </a:defRPr>
            </a:pPr>
            <a:r>
              <a:t>mbined with intravenous CAR-T therapy.</a:t>
            </a:r>
          </a:p>
          <a:p>
            <a:pPr>
              <a:lnSpc>
                <a:spcPct val="103000"/>
              </a:lnSpc>
              <a:spcAft>
                <a:spcPts val="300"/>
              </a:spcAft>
              <a:defRPr sz="570">
                <a:solidFill>
                  <a:srgbClr val="21242A"/>
                </a:solidFill>
                <a:latin typeface="Microsoft YaHei"/>
              </a:defRPr>
            </a:pPr>
            <a:r>
              <a:t>Flow cytometry was used to detect the CAR-T cell expansion and cytokine levels in cerebrospinal fluid (CSF) and peripheral blood (PB).</a:t>
            </a:r>
          </a:p>
          <a:p>
            <a:pPr>
              <a:lnSpc>
                <a:spcPct val="103000"/>
              </a:lnSpc>
              <a:spcAft>
                <a:spcPts val="300"/>
              </a:spcAft>
              <a:defRPr sz="570">
                <a:solidFill>
                  <a:srgbClr val="21242A"/>
                </a:solidFill>
                <a:latin typeface="Microsoft YaHei"/>
              </a:defRPr>
            </a:pPr>
            <a:r>
              <a:t>Efficacy was assessed via CSF minimal residual disease detection and MRI imaging.</a:t>
            </a:r>
          </a:p>
          <a:p>
            <a:pPr>
              <a:lnSpc>
                <a:spcPct val="103000"/>
              </a:lnSpc>
              <a:spcAft>
                <a:spcPts val="300"/>
              </a:spcAft>
              <a:defRPr sz="570">
                <a:solidFill>
                  <a:srgbClr val="21242A"/>
                </a:solidFill>
                <a:latin typeface="Microsoft YaHei"/>
              </a:defRPr>
            </a:pPr>
            <a:r>
              <a:t>Patient demographics and adverse events were collected, with follow-up until February 28, 2025.</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Intrathecal combined with intravenous CAR-T cell therapy enables rapid CNS tumor clearance in B-cell malignancies with CNS involvement, with favorable safety.</a:t>
            </a:r>
          </a:p>
          <a:p>
            <a:pPr>
              <a:lnSpc>
                <a:spcPct val="103000"/>
              </a:lnSpc>
              <a:spcAft>
                <a:spcPts val="300"/>
              </a:spcAft>
              <a:defRPr sz="590">
                <a:solidFill>
                  <a:srgbClr val="21242A"/>
                </a:solidFill>
                <a:latin typeface="Microsoft YaHei"/>
              </a:defRPr>
            </a:pPr>
            <a:r>
              <a:t>These findings establish intrathecal CAR-T as a promising strategy for CNS-limited B-cell tumors.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49961">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总体客观缓解率（ORR）为100%</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完全缓解（CR）5例</a:t>
                      </a:r>
                    </a:p>
                  </a:txBody>
                  <a:tcPr>
                    <a:solidFill>
                      <a:srgbClr val="FFFFFF"/>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非常好的部分缓解（VGPR）1例</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部分缓解（PR）2例</a:t>
                      </a:r>
                    </a:p>
                  </a:txBody>
                  <a:tcPr>
                    <a:solidFill>
                      <a:srgbClr val="FFFFFF"/>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中位随访4个月，50%复发</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细胞因子释放综合征（CRS）发生率100%（62.5% 1-2级，37.5% 3级）</a:t>
                      </a:r>
                    </a:p>
                  </a:txBody>
                  <a:tcPr>
                    <a:solidFill>
                      <a:srgbClr val="FFFFFF"/>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ICANS（1-2级）发生率50%</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感染发生率12.5%</a:t>
                      </a:r>
                    </a:p>
                  </a:txBody>
                  <a:tcPr>
                    <a:solidFill>
                      <a:srgbClr val="FFFFFF"/>
                    </a:solidFill>
                  </a:tcPr>
                </a:tc>
              </a:tr>
              <a:tr h="149967">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无≥3级严重不良事件或治疗相关死亡</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摘要号：PF780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glofitamab联合吉西他滨和奥沙利铂（gemox）治疗复发/难治性（r/r）弥漫性大b细胞淋巴瘤（dlbcl）的...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outpatient treatment with glofitamab plus gemcitabine and oxaliplatin (gemox)...</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CRS发生率：44%（Grade1 32%，Grade2 12%，无Grade≥3）</a:t>
            </a:r>
          </a:p>
          <a:p>
            <a:pPr>
              <a:lnSpc>
                <a:spcPct val="103000"/>
              </a:lnSpc>
              <a:spcAft>
                <a:spcPts val="300"/>
              </a:spcAft>
              <a:defRPr sz="800">
                <a:solidFill>
                  <a:srgbClr val="21242A"/>
                </a:solidFill>
                <a:latin typeface="Microsoft YaHei"/>
              </a:defRPr>
            </a:pPr>
            <a:r>
              <a:t>严重CRS事件：16%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登记号：NCT06806033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glofitamab联合吉西他滨和奥沙利铂（gemox）治疗复发/难治性（r/r）弥漫性大b细胞淋巴瘤（dlbcl）的...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outpatient treatment with glofitamab plus gemcitabine and oxaliplatin (gemox)...</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Glofitamab, a CD20xCD3 bispecific antibody, plus GemOx (Glofit-GemOx) has shown significant improvements versus rituximab-GemOx in overall survival </a:t>
            </a:r>
          </a:p>
          <a:p>
            <a:pPr>
              <a:lnSpc>
                <a:spcPct val="103000"/>
              </a:lnSpc>
              <a:spcAft>
                <a:spcPts val="300"/>
              </a:spcAft>
              <a:defRPr sz="570">
                <a:solidFill>
                  <a:srgbClr val="21242A"/>
                </a:solidFill>
                <a:latin typeface="Microsoft YaHei"/>
              </a:defRPr>
            </a:pPr>
            <a:r>
              <a:t>and progression-free survival in the randomized Phase 3 STARGLO trial (NCT04408638) in autologous stem-cell transplant (ASCT)-ineligible R/R DLBCL.</a:t>
            </a:r>
          </a:p>
          <a:p>
            <a:pPr>
              <a:lnSpc>
                <a:spcPct val="103000"/>
              </a:lnSpc>
              <a:spcAft>
                <a:spcPts val="300"/>
              </a:spcAft>
              <a:defRPr sz="570">
                <a:solidFill>
                  <a:srgbClr val="21242A"/>
                </a:solidFill>
                <a:latin typeface="Microsoft YaHei"/>
              </a:defRPr>
            </a:pPr>
            <a:r>
              <a:t>The observed cytokine release syndrome (CRS) profile with Glofit-GemOx in STARGLO allows for treatment without mandatory hospitalization.</a:t>
            </a:r>
          </a:p>
          <a:p>
            <a:pPr>
              <a:lnSpc>
                <a:spcPct val="103000"/>
              </a:lnSpc>
              <a:spcAft>
                <a:spcPts val="300"/>
              </a:spcAft>
              <a:defRPr sz="570">
                <a:solidFill>
                  <a:srgbClr val="21242A"/>
                </a:solidFill>
                <a:latin typeface="Microsoft YaHei"/>
              </a:defRPr>
            </a:pPr>
            <a:r>
              <a:t>Implementing outpatient strategies can further improve patient convenience and optimize healthcare resource utilization.</a:t>
            </a:r>
          </a:p>
          <a:p>
            <a:pPr>
              <a:lnSpc>
                <a:spcPct val="103000"/>
              </a:lnSpc>
              <a:spcAft>
                <a:spcPts val="300"/>
              </a:spcAft>
              <a:defRPr sz="570">
                <a:solidFill>
                  <a:srgbClr val="21242A"/>
                </a:solidFill>
                <a:latin typeface="Microsoft YaHei"/>
              </a:defRPr>
            </a:pPr>
            <a:r>
              <a:t>Aims: Present preliminary safety results from an ongoing Phase 2 trial (GO45434; NCT06806033), evaluating CRS profile optimization for outpatient Glofit-GemOx t</a:t>
            </a:r>
          </a:p>
          <a:p>
            <a:pPr>
              <a:lnSpc>
                <a:spcPct val="103000"/>
              </a:lnSpc>
              <a:spcAft>
                <a:spcPts val="300"/>
              </a:spcAft>
              <a:defRPr sz="570">
                <a:solidFill>
                  <a:srgbClr val="21242A"/>
                </a:solidFill>
                <a:latin typeface="Microsoft YaHei"/>
              </a:defRPr>
            </a:pPr>
            <a:r>
              <a:t>reatment via an enhanced steroid premedication, and a revised monitoring regimen for treated patients (pts) with R/R DLBCL.</a:t>
            </a:r>
          </a:p>
          <a:p>
            <a:pPr>
              <a:lnSpc>
                <a:spcPct val="103000"/>
              </a:lnSpc>
              <a:spcAft>
                <a:spcPts val="300"/>
              </a:spcAft>
              <a:defRPr sz="570">
                <a:solidFill>
                  <a:srgbClr val="21242A"/>
                </a:solidFill>
                <a:latin typeface="Microsoft YaHei"/>
              </a:defRPr>
            </a:pPr>
            <a:r>
              <a:t>Methods: Pts had R/R DLBCL; those with 1 prior line of therapy (LOT) had to be ASCT-ineligible.</a:t>
            </a:r>
          </a:p>
          <a:p>
            <a:pPr>
              <a:lnSpc>
                <a:spcPct val="103000"/>
              </a:lnSpc>
              <a:spcAft>
                <a:spcPts val="300"/>
              </a:spcAft>
              <a:defRPr sz="570">
                <a:solidFill>
                  <a:srgbClr val="21242A"/>
                </a:solidFill>
                <a:latin typeface="Microsoft YaHei"/>
              </a:defRPr>
            </a:pPr>
            <a:r>
              <a:t>After 1000mg obinutuzumab pretreatment, pts received Glofit-GemOx (8 cycles plus 4 cycles glofitamab monotherapy), with glofitamab given in step-up doses (SUD; </a:t>
            </a:r>
          </a:p>
          <a:p>
            <a:pPr>
              <a:lnSpc>
                <a:spcPct val="103000"/>
              </a:lnSpc>
              <a:spcAft>
                <a:spcPts val="300"/>
              </a:spcAft>
              <a:defRPr sz="570">
                <a:solidFill>
                  <a:srgbClr val="21242A"/>
                </a:solidFill>
                <a:latin typeface="Microsoft YaHei"/>
              </a:defRPr>
            </a:pPr>
            <a:r>
              <a:t>2.5/10mg) in Cycle (C)1, then 30mg target dose every 21 days from C2.</a:t>
            </a:r>
          </a:p>
          <a:p>
            <a:pPr>
              <a:lnSpc>
                <a:spcPct val="103000"/>
              </a:lnSpc>
              <a:spcAft>
                <a:spcPts val="300"/>
              </a:spcAft>
              <a:defRPr sz="570">
                <a:solidFill>
                  <a:srgbClr val="21242A"/>
                </a:solidFill>
                <a:latin typeface="Microsoft YaHei"/>
              </a:defRPr>
            </a:pPr>
            <a:r>
              <a:t>Pts received oral dexamethasone (Dex) 20mg one day prior to and after glofitamab SUD in C1, in addition to the premedication used in STARGLO.</a:t>
            </a:r>
          </a:p>
          <a:p>
            <a:pPr>
              <a:lnSpc>
                <a:spcPct val="103000"/>
              </a:lnSpc>
              <a:spcAft>
                <a:spcPts val="300"/>
              </a:spcAft>
              <a:defRPr sz="570">
                <a:solidFill>
                  <a:srgbClr val="21242A"/>
                </a:solidFill>
                <a:latin typeface="Microsoft YaHei"/>
              </a:defRPr>
            </a:pPr>
            <a:r>
              <a:t>Pts were monitored in the outpatient setting for 4 hours during SUD and 90 minutes after the first target dose, in both academic and community centers.</a:t>
            </a:r>
          </a:p>
          <a:p>
            <a:pPr>
              <a:lnSpc>
                <a:spcPct val="103000"/>
              </a:lnSpc>
              <a:spcAft>
                <a:spcPts val="300"/>
              </a:spcAft>
              <a:defRPr sz="570">
                <a:solidFill>
                  <a:srgbClr val="21242A"/>
                </a:solidFill>
                <a:latin typeface="Microsoft YaHei"/>
              </a:defRPr>
            </a:pPr>
            <a:r>
              <a:t>Primary endpoint was CRS incidence. Other safety parameters and efficacy were secondary endpoints. All pts provided informed consent.</a:t>
            </a:r>
          </a:p>
          <a:p>
            <a:pPr>
              <a:lnSpc>
                <a:spcPct val="103000"/>
              </a:lnSpc>
              <a:spcAft>
                <a:spcPts val="300"/>
              </a:spcAft>
              <a:defRPr sz="570">
                <a:solidFill>
                  <a:srgbClr val="21242A"/>
                </a:solidFill>
                <a:latin typeface="Microsoft YaHei"/>
              </a:defRPr>
            </a:pPr>
            <a:r>
              <a:t>In this ongoing study, 100 pts in 7 countries will be recruited.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preliminary analysis, pts with R/R DLBCL receiving Glofit-GemOx were monitored in the outpatient setting after receiving additional oral Dex one day pri</a:t>
            </a:r>
          </a:p>
          <a:p>
            <a:pPr>
              <a:lnSpc>
                <a:spcPct val="103000"/>
              </a:lnSpc>
              <a:spcAft>
                <a:spcPts val="300"/>
              </a:spcAft>
              <a:defRPr sz="590">
                <a:solidFill>
                  <a:srgbClr val="21242A"/>
                </a:solidFill>
                <a:latin typeface="Microsoft YaHei"/>
              </a:defRPr>
            </a:pPr>
            <a:r>
              <a:t>or to and after glofitamab infusion in C1.</a:t>
            </a:r>
          </a:p>
          <a:p>
            <a:pPr>
              <a:lnSpc>
                <a:spcPct val="103000"/>
              </a:lnSpc>
              <a:spcAft>
                <a:spcPts val="300"/>
              </a:spcAft>
              <a:defRPr sz="590">
                <a:solidFill>
                  <a:srgbClr val="21242A"/>
                </a:solidFill>
                <a:latin typeface="Microsoft YaHei"/>
              </a:defRPr>
            </a:pPr>
            <a:r>
              <a:t>The rate and severity of CRS events were similar to those reported in STARGLO.</a:t>
            </a:r>
          </a:p>
          <a:p>
            <a:pPr>
              <a:lnSpc>
                <a:spcPct val="103000"/>
              </a:lnSpc>
              <a:spcAft>
                <a:spcPts val="300"/>
              </a:spcAft>
              <a:defRPr sz="590">
                <a:solidFill>
                  <a:srgbClr val="21242A"/>
                </a:solidFill>
                <a:latin typeface="Microsoft YaHei"/>
              </a:defRPr>
            </a:pPr>
            <a:r>
              <a:t>Data are encouraging and support further optimization of outpatient Glofit-GemOx treatment. Updated data will be presented.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3632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36328">
                <a:tc>
                  <a:txBody>
                    <a:bodyPr wrap="square" lIns="36576" rIns="36576" tIns="18288" bIns="18288"/>
                    <a:lstStyle/>
                    <a:p>
                      <a:r>
                        <a:rPr sz="540" b="1">
                          <a:solidFill>
                            <a:srgbClr val="21242A"/>
                          </a:solidFill>
                          <a:latin typeface="Microsoft YaHei"/>
                        </a:rPr>
                        <a:t>CRS发生率</a:t>
                      </a:r>
                    </a:p>
                  </a:txBody>
                  <a:tcPr>
                    <a:solidFill>
                      <a:srgbClr val="F6F8FB"/>
                    </a:solidFill>
                  </a:tcPr>
                </a:tc>
                <a:tc>
                  <a:txBody>
                    <a:bodyPr wrap="square" lIns="36576" rIns="36576" tIns="18288" bIns="18288"/>
                    <a:lstStyle/>
                    <a:p>
                      <a:r>
                        <a:rPr sz="540" b="0">
                          <a:solidFill>
                            <a:srgbClr val="21242A"/>
                          </a:solidFill>
                          <a:latin typeface="Microsoft YaHei"/>
                        </a:rPr>
                        <a:t>44%（Grade1 32%，Grade2 12%，无Grade≥3）</a:t>
                      </a:r>
                    </a:p>
                  </a:txBody>
                  <a:tcPr>
                    <a:solidFill>
                      <a:srgbClr val="F6F8FB"/>
                    </a:solidFill>
                  </a:tcPr>
                </a:tc>
              </a:tr>
              <a:tr h="136328">
                <a:tc>
                  <a:txBody>
                    <a:bodyPr wrap="square" lIns="36576" rIns="36576" tIns="18288" bIns="18288"/>
                    <a:lstStyle/>
                    <a:p>
                      <a:r>
                        <a:rPr sz="540" b="1">
                          <a:solidFill>
                            <a:srgbClr val="21242A"/>
                          </a:solidFill>
                          <a:latin typeface="Microsoft YaHei"/>
                        </a:rPr>
                        <a:t>严重CRS事件</a:t>
                      </a:r>
                    </a:p>
                  </a:txBody>
                  <a:tcPr>
                    <a:solidFill>
                      <a:srgbClr val="FFFFFF"/>
                    </a:solidFill>
                  </a:tcPr>
                </a:tc>
                <a:tc>
                  <a:txBody>
                    <a:bodyPr wrap="square" lIns="36576" rIns="36576" tIns="18288" bIns="18288"/>
                    <a:lstStyle/>
                    <a:p>
                      <a:r>
                        <a:rPr sz="540" b="0">
                          <a:solidFill>
                            <a:srgbClr val="21242A"/>
                          </a:solidFill>
                          <a:latin typeface="Microsoft YaHei"/>
                        </a:rPr>
                        <a:t>16%</a:t>
                      </a:r>
                    </a:p>
                  </a:txBody>
                  <a:tcPr>
                    <a:solidFill>
                      <a:srgbClr val="FFFFFF"/>
                    </a:solidFill>
                  </a:tcPr>
                </a:tc>
              </a:tr>
              <a:tr h="136328">
                <a:tc>
                  <a:txBody>
                    <a:bodyPr wrap="square" lIns="36576" rIns="36576" tIns="18288" bIns="18288"/>
                    <a:lstStyle/>
                    <a:p>
                      <a:r>
                        <a:rPr sz="540" b="1">
                          <a:solidFill>
                            <a:srgbClr val="21242A"/>
                          </a:solidFill>
                          <a:latin typeface="Microsoft YaHei"/>
                        </a:rPr>
                        <a:t>CRS缓解中位时间</a:t>
                      </a:r>
                    </a:p>
                  </a:txBody>
                  <a:tcPr>
                    <a:solidFill>
                      <a:srgbClr val="F6F8FB"/>
                    </a:solidFill>
                  </a:tcPr>
                </a:tc>
                <a:tc>
                  <a:txBody>
                    <a:bodyPr wrap="square" lIns="36576" rIns="36576" tIns="18288" bIns="18288"/>
                    <a:lstStyle/>
                    <a:p>
                      <a:r>
                        <a:rPr sz="540" b="0">
                          <a:solidFill>
                            <a:srgbClr val="21242A"/>
                          </a:solidFill>
                          <a:latin typeface="Microsoft YaHei"/>
                        </a:rPr>
                        <a:t>2天</a:t>
                      </a:r>
                    </a:p>
                  </a:txBody>
                  <a:tcPr>
                    <a:solidFill>
                      <a:srgbClr val="F6F8FB"/>
                    </a:solidFill>
                  </a:tcPr>
                </a:tc>
              </a:tr>
              <a:tr h="136328">
                <a:tc>
                  <a:txBody>
                    <a:bodyPr wrap="square" lIns="36576" rIns="36576" tIns="18288" bIns="18288"/>
                    <a:lstStyle/>
                    <a:p>
                      <a:r>
                        <a:rPr sz="540" b="1">
                          <a:solidFill>
                            <a:srgbClr val="21242A"/>
                          </a:solidFill>
                          <a:latin typeface="Microsoft YaHei"/>
                        </a:rPr>
                        <a:t>CRS导致治疗终止</a:t>
                      </a:r>
                    </a:p>
                  </a:txBody>
                  <a:tcPr>
                    <a:solidFill>
                      <a:srgbClr val="FFFFFF"/>
                    </a:solidFill>
                  </a:tcPr>
                </a:tc>
                <a:tc>
                  <a:txBody>
                    <a:bodyPr wrap="square" lIns="36576" rIns="36576" tIns="18288" bIns="18288"/>
                    <a:lstStyle/>
                    <a:p>
                      <a:r>
                        <a:rPr sz="540" b="0">
                          <a:solidFill>
                            <a:srgbClr val="21242A"/>
                          </a:solidFill>
                          <a:latin typeface="Microsoft YaHei"/>
                        </a:rPr>
                        <a:t>0</a:t>
                      </a:r>
                    </a:p>
                  </a:txBody>
                  <a:tcPr>
                    <a:solidFill>
                      <a:srgbClr val="FFFFFF"/>
                    </a:solidFill>
                  </a:tcPr>
                </a:tc>
              </a:tr>
              <a:tr h="136328">
                <a:tc>
                  <a:txBody>
                    <a:bodyPr wrap="square" lIns="36576" rIns="36576" tIns="18288" bIns="18288"/>
                    <a:lstStyle/>
                    <a:p>
                      <a:r>
                        <a:rPr sz="540" b="1">
                          <a:solidFill>
                            <a:srgbClr val="21242A"/>
                          </a:solidFill>
                          <a:latin typeface="Microsoft YaHei"/>
                        </a:rPr>
                        <a:t>最常见的3/4级AE</a:t>
                      </a:r>
                    </a:p>
                  </a:txBody>
                  <a:tcPr>
                    <a:solidFill>
                      <a:srgbClr val="F6F8FB"/>
                    </a:solidFill>
                  </a:tcPr>
                </a:tc>
                <a:tc>
                  <a:txBody>
                    <a:bodyPr wrap="square" lIns="36576" rIns="36576" tIns="18288" bIns="18288"/>
                    <a:lstStyle/>
                    <a:p>
                      <a:r>
                        <a:rPr sz="540" b="0">
                          <a:solidFill>
                            <a:srgbClr val="21242A"/>
                          </a:solidFill>
                          <a:latin typeface="Microsoft YaHei"/>
                        </a:rPr>
                        <a:t>贫血24%，中性粒细胞减少20%，发热性中性粒细胞减少12%，血小板减少12%</a:t>
                      </a:r>
                    </a:p>
                  </a:txBody>
                  <a:tcPr>
                    <a:solidFill>
                      <a:srgbClr val="F6F8FB"/>
                    </a:solidFill>
                  </a:tcPr>
                </a:tc>
              </a:tr>
              <a:tr h="136328">
                <a:tc>
                  <a:txBody>
                    <a:bodyPr wrap="square" lIns="36576" rIns="36576" tIns="18288" bIns="18288"/>
                    <a:lstStyle/>
                    <a:p>
                      <a:r>
                        <a:rPr sz="540" b="1">
                          <a:solidFill>
                            <a:srgbClr val="21242A"/>
                          </a:solidFill>
                          <a:latin typeface="Microsoft YaHei"/>
                        </a:rPr>
                        <a:t>感染发生率</a:t>
                      </a:r>
                    </a:p>
                  </a:txBody>
                  <a:tcPr>
                    <a:solidFill>
                      <a:srgbClr val="FFFFFF"/>
                    </a:solidFill>
                  </a:tcPr>
                </a:tc>
                <a:tc>
                  <a:txBody>
                    <a:bodyPr wrap="square" lIns="36576" rIns="36576" tIns="18288" bIns="18288"/>
                    <a:lstStyle/>
                    <a:p>
                      <a:r>
                        <a:rPr sz="540" b="0">
                          <a:solidFill>
                            <a:srgbClr val="21242A"/>
                          </a:solidFill>
                          <a:latin typeface="Microsoft YaHei"/>
                        </a:rPr>
                        <a:t>16%，多数为1/2级</a:t>
                      </a:r>
                    </a:p>
                  </a:txBody>
                  <a:tcPr>
                    <a:solidFill>
                      <a:srgbClr val="FFFFFF"/>
                    </a:solidFill>
                  </a:tcPr>
                </a:tc>
              </a:tr>
              <a:tr h="136328">
                <a:tc>
                  <a:txBody>
                    <a:bodyPr wrap="square" lIns="36576" rIns="36576" tIns="18288" bIns="18288"/>
                    <a:lstStyle/>
                    <a:p>
                      <a:r>
                        <a:rPr sz="540" b="1">
                          <a:solidFill>
                            <a:srgbClr val="21242A"/>
                          </a:solidFill>
                          <a:latin typeface="Microsoft YaHei"/>
                        </a:rPr>
                        <a:t>治疗相关死亡</a:t>
                      </a:r>
                    </a:p>
                  </a:txBody>
                  <a:tcPr>
                    <a:solidFill>
                      <a:srgbClr val="F6F8FB"/>
                    </a:solidFill>
                  </a:tcPr>
                </a:tc>
                <a:tc>
                  <a:txBody>
                    <a:bodyPr wrap="square" lIns="36576" rIns="36576" tIns="18288" bIns="18288"/>
                    <a:lstStyle/>
                    <a:p>
                      <a:r>
                        <a:rPr sz="540" b="0">
                          <a:solidFill>
                            <a:srgbClr val="21242A"/>
                          </a:solidFill>
                          <a:latin typeface="Microsoft YaHei"/>
                        </a:rPr>
                        <a:t>1例（未暴露于glofitamab的COVID-19肺炎）</a:t>
                      </a:r>
                    </a:p>
                  </a:txBody>
                  <a:tcPr>
                    <a:solidFill>
                      <a:srgbClr val="F6F8FB"/>
                    </a:solidFill>
                  </a:tcPr>
                </a:tc>
              </a:tr>
              <a:tr h="136328">
                <a:tc>
                  <a:txBody>
                    <a:bodyPr wrap="square" lIns="36576" rIns="36576" tIns="18288" bIns="18288"/>
                    <a:lstStyle/>
                    <a:p>
                      <a:r>
                        <a:rPr sz="540" b="1">
                          <a:solidFill>
                            <a:srgbClr val="21242A"/>
                          </a:solidFill>
                          <a:latin typeface="Microsoft YaHei"/>
                        </a:rPr>
                        <a:t>ICANS发生率</a:t>
                      </a:r>
                    </a:p>
                  </a:txBody>
                  <a:tcPr>
                    <a:solidFill>
                      <a:srgbClr val="FFFFFF"/>
                    </a:solidFill>
                  </a:tcPr>
                </a:tc>
                <a:tc>
                  <a:txBody>
                    <a:bodyPr wrap="square" lIns="36576" rIns="36576" tIns="18288" bIns="18288"/>
                    <a:lstStyle/>
                    <a:p>
                      <a:r>
                        <a:rPr sz="540" b="0">
                          <a:solidFill>
                            <a:srgbClr val="21242A"/>
                          </a:solidFill>
                          <a:latin typeface="Microsoft YaHei"/>
                        </a:rPr>
                        <a:t>12%（Grade1、2、3各4%）</a:t>
                      </a:r>
                    </a:p>
                  </a:txBody>
                  <a:tcPr>
                    <a:solidFill>
                      <a:srgbClr val="FFFFFF"/>
                    </a:solidFill>
                  </a:tcPr>
                </a:tc>
              </a:tr>
              <a:tr h="136328">
                <a:tc>
                  <a:txBody>
                    <a:bodyPr wrap="square" lIns="36576" rIns="36576" tIns="18288" bIns="18288"/>
                    <a:lstStyle/>
                    <a:p>
                      <a:r>
                        <a:rPr sz="540" b="1">
                          <a:solidFill>
                            <a:srgbClr val="21242A"/>
                          </a:solidFill>
                          <a:latin typeface="Microsoft YaHei"/>
                        </a:rPr>
                        <a:t>ICANS缓解时间</a:t>
                      </a:r>
                    </a:p>
                  </a:txBody>
                  <a:tcPr>
                    <a:solidFill>
                      <a:srgbClr val="F6F8FB"/>
                    </a:solidFill>
                  </a:tcPr>
                </a:tc>
                <a:tc>
                  <a:txBody>
                    <a:bodyPr wrap="square" lIns="36576" rIns="36576" tIns="18288" bIns="18288"/>
                    <a:lstStyle/>
                    <a:p>
                      <a:r>
                        <a:rPr sz="540" b="0">
                          <a:solidFill>
                            <a:srgbClr val="21242A"/>
                          </a:solidFill>
                          <a:latin typeface="Microsoft YaHei"/>
                        </a:rPr>
                        <a:t>2天</a:t>
                      </a:r>
                    </a:p>
                  </a:txBody>
                  <a:tcPr>
                    <a:solidFill>
                      <a:srgbClr val="F6F8FB"/>
                    </a:solidFill>
                  </a:tcPr>
                </a:tc>
              </a:tr>
              <a:tr h="136336">
                <a:tc>
                  <a:txBody>
                    <a:bodyPr wrap="square" lIns="36576" rIns="36576" tIns="18288" bIns="18288"/>
                    <a:lstStyle/>
                    <a:p>
                      <a:r>
                        <a:rPr sz="540" b="1">
                          <a:solidFill>
                            <a:srgbClr val="21242A"/>
                          </a:solidFill>
                          <a:latin typeface="Microsoft YaHei"/>
                        </a:rPr>
                        <a:t>ICANS导致治疗终止</a:t>
                      </a:r>
                    </a:p>
                  </a:txBody>
                  <a:tcPr>
                    <a:solidFill>
                      <a:srgbClr val="FFFFFF"/>
                    </a:solidFill>
                  </a:tcPr>
                </a:tc>
                <a:tc>
                  <a:txBody>
                    <a:bodyPr wrap="square" lIns="36576" rIns="36576" tIns="18288" bIns="18288"/>
                    <a:lstStyle/>
                    <a:p>
                      <a:r>
                        <a:rPr sz="540" b="0">
                          <a:solidFill>
                            <a:srgbClr val="21242A"/>
                          </a:solidFill>
                          <a:latin typeface="Microsoft YaHei"/>
                        </a:rPr>
                        <a:t>0</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摘要号：PF1000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支持抗肿瘤t细胞免疫和cd4的肿瘤微环境原型⁺ 弥漫性大b细胞淋巴瘤中t细胞细胞毒性分化支持对glofitamab的反应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tumour microenvironment archetypes that support anti-tumour t-cell immunity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治疗线数/场景：一线</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应答者肿瘤微环境显示IFNγ和IL-2-STAT5信号最佳</a:t>
            </a:r>
          </a:p>
          <a:p>
            <a:pPr>
              <a:lnSpc>
                <a:spcPct val="103000"/>
              </a:lnSpc>
              <a:spcAft>
                <a:spcPts val="300"/>
              </a:spcAft>
              <a:defRPr sz="800">
                <a:solidFill>
                  <a:srgbClr val="21242A"/>
                </a:solidFill>
                <a:latin typeface="Microsoft YaHei"/>
              </a:defRPr>
            </a:pPr>
            <a:r>
              <a:t>应答者肿瘤微环境富含CD4/CD8 T细胞-肿瘤互作</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登记号：NCT04914741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支持抗肿瘤t细胞免疫和cd4的肿瘤微环境原型⁺ 弥漫性大b细胞淋巴瘤中t细胞细胞毒性分化支持对glofitamab的反应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tumour microenvironment archetypes that support anti-tumour t-cell immunity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Glofitamab, CD20×CD3 T-cell engager (TCE), redirects T cells to kill tumour cells.</a:t>
            </a:r>
          </a:p>
          <a:p>
            <a:pPr>
              <a:lnSpc>
                <a:spcPct val="103000"/>
              </a:lnSpc>
              <a:spcAft>
                <a:spcPts val="300"/>
              </a:spcAft>
              <a:defRPr sz="570">
                <a:solidFill>
                  <a:srgbClr val="21242A"/>
                </a:solidFill>
                <a:latin typeface="Microsoft YaHei"/>
              </a:defRPr>
            </a:pPr>
            <a:r>
              <a:t>We showed that combining glofitamab with standard first-line (1L) chemotherapy (RCHOP/Pola-R-CHP) in DLBCL produced a historically high rate of complete remissi</a:t>
            </a:r>
          </a:p>
          <a:p>
            <a:pPr>
              <a:lnSpc>
                <a:spcPct val="103000"/>
              </a:lnSpc>
              <a:spcAft>
                <a:spcPts val="300"/>
              </a:spcAft>
              <a:defRPr sz="570">
                <a:solidFill>
                  <a:srgbClr val="21242A"/>
                </a:solidFill>
                <a:latin typeface="Microsoft YaHei"/>
              </a:defRPr>
            </a:pPr>
            <a:r>
              <a:t>ons, which were durable in an ultra-high-burden population [COALITION-study (NCT04914741/Minson et al., JCO-2025)].</a:t>
            </a:r>
          </a:p>
          <a:p>
            <a:pPr>
              <a:lnSpc>
                <a:spcPct val="103000"/>
              </a:lnSpc>
              <a:spcAft>
                <a:spcPts val="300"/>
              </a:spcAft>
              <a:defRPr sz="570">
                <a:solidFill>
                  <a:srgbClr val="21242A"/>
                </a:solidFill>
                <a:latin typeface="Microsoft YaHei"/>
              </a:defRPr>
            </a:pPr>
            <a:r>
              <a:t>Despite overall treatment success, some patients relapsed or were refractory (10%).</a:t>
            </a:r>
          </a:p>
          <a:p>
            <a:pPr>
              <a:lnSpc>
                <a:spcPct val="103000"/>
              </a:lnSpc>
              <a:spcAft>
                <a:spcPts val="300"/>
              </a:spcAft>
              <a:defRPr sz="570">
                <a:solidFill>
                  <a:srgbClr val="21242A"/>
                </a:solidFill>
                <a:latin typeface="Microsoft YaHei"/>
              </a:defRPr>
            </a:pPr>
            <a:r>
              <a:t>Understanding the mechanisms underlying resistance will inform ongoing 1L TCE development and may stem from tumour intrinsic, microenvironmental (TME) factors, </a:t>
            </a:r>
          </a:p>
          <a:p>
            <a:pPr>
              <a:lnSpc>
                <a:spcPct val="103000"/>
              </a:lnSpc>
              <a:spcAft>
                <a:spcPts val="300"/>
              </a:spcAft>
              <a:defRPr sz="570">
                <a:solidFill>
                  <a:srgbClr val="21242A"/>
                </a:solidFill>
                <a:latin typeface="Microsoft YaHei"/>
              </a:defRPr>
            </a:pPr>
            <a:r>
              <a:t>or T-cell-intrinsic dysfunction.</a:t>
            </a:r>
          </a:p>
          <a:p>
            <a:pPr>
              <a:lnSpc>
                <a:spcPct val="103000"/>
              </a:lnSpc>
              <a:spcAft>
                <a:spcPts val="300"/>
              </a:spcAft>
              <a:defRPr sz="570">
                <a:solidFill>
                  <a:srgbClr val="21242A"/>
                </a:solidFill>
                <a:latin typeface="Microsoft YaHei"/>
              </a:defRPr>
            </a:pPr>
            <a:r>
              <a:t>Aims: To elucidate the TME and T-cell-intrinsic mechanisms that limit therapeutic response to glofitamab in first-line DLBCL.</a:t>
            </a:r>
          </a:p>
          <a:p>
            <a:pPr>
              <a:lnSpc>
                <a:spcPct val="103000"/>
              </a:lnSpc>
              <a:spcAft>
                <a:spcPts val="300"/>
              </a:spcAft>
              <a:defRPr sz="570">
                <a:solidFill>
                  <a:srgbClr val="21242A"/>
                </a:solidFill>
                <a:latin typeface="Microsoft YaHei"/>
              </a:defRPr>
            </a:pPr>
            <a:r>
              <a:t>Methods: Baseline and progression tumour biopsies from COALITION trial patients were analysed using bulk RNA seq and mIHC.</a:t>
            </a:r>
          </a:p>
          <a:p>
            <a:pPr>
              <a:lnSpc>
                <a:spcPct val="103000"/>
              </a:lnSpc>
              <a:spcAft>
                <a:spcPts val="300"/>
              </a:spcAft>
              <a:defRPr sz="570">
                <a:solidFill>
                  <a:srgbClr val="21242A"/>
                </a:solidFill>
                <a:latin typeface="Microsoft YaHei"/>
              </a:defRPr>
            </a:pPr>
            <a:r>
              <a:t>In parallel, we performed scRNA-seq and spectral flow cytometry on longitudinal COALITION blood samples collected pre- and post-TCE treatment.</a:t>
            </a:r>
          </a:p>
          <a:p>
            <a:pPr>
              <a:lnSpc>
                <a:spcPct val="103000"/>
              </a:lnSpc>
              <a:spcAft>
                <a:spcPts val="300"/>
              </a:spcAft>
              <a:defRPr sz="570">
                <a:solidFill>
                  <a:srgbClr val="21242A"/>
                </a:solidFill>
                <a:latin typeface="Microsoft YaHei"/>
              </a:defRPr>
            </a:pPr>
            <a:r>
              <a:t>To further interrogate observations from patient samples, we established in vitro co-cultures comprising DLBCL tumour cells, donor- or COALITION patient-derived</a:t>
            </a:r>
          </a:p>
          <a:p>
            <a:pPr>
              <a:lnSpc>
                <a:spcPct val="103000"/>
              </a:lnSpc>
              <a:spcAft>
                <a:spcPts val="300"/>
              </a:spcAft>
              <a:defRPr sz="570">
                <a:solidFill>
                  <a:srgbClr val="21242A"/>
                </a:solidFill>
                <a:latin typeface="Microsoft YaHei"/>
              </a:defRPr>
            </a:pPr>
            <a:r>
              <a:t> T cells, and glofitamab.</a:t>
            </a:r>
          </a:p>
          <a:p>
            <a:pPr>
              <a:lnSpc>
                <a:spcPct val="103000"/>
              </a:lnSpc>
              <a:spcAft>
                <a:spcPts val="300"/>
              </a:spcAft>
              <a:defRPr sz="570">
                <a:solidFill>
                  <a:srgbClr val="21242A"/>
                </a:solidFill>
                <a:latin typeface="Microsoft YaHei"/>
              </a:defRPr>
            </a:pPr>
            <a:r>
              <a:t>Co-cultured cells were subsequently profiled using scRNA-seq, flow cytometry, spatial proteomics (Pixelgen), and live-cell imaging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Overall, our results indicate that a pre-treatment TME that supports productive T-cell engagement with tumour cells, and differentiation of CD4-CTLs, underpins </a:t>
            </a:r>
          </a:p>
          <a:p>
            <a:pPr>
              <a:lnSpc>
                <a:spcPct val="103000"/>
              </a:lnSpc>
              <a:spcAft>
                <a:spcPts val="300"/>
              </a:spcAft>
              <a:defRPr sz="590">
                <a:solidFill>
                  <a:srgbClr val="21242A"/>
                </a:solidFill>
                <a:latin typeface="Microsoft YaHei"/>
              </a:defRPr>
            </a:pPr>
            <a:r>
              <a:t>successful responses to glofitamab.</a:t>
            </a:r>
          </a:p>
          <a:p>
            <a:pPr>
              <a:lnSpc>
                <a:spcPct val="103000"/>
              </a:lnSpc>
              <a:spcAft>
                <a:spcPts val="300"/>
              </a:spcAft>
              <a:defRPr sz="590">
                <a:solidFill>
                  <a:srgbClr val="21242A"/>
                </a:solidFill>
                <a:latin typeface="Microsoft YaHei"/>
              </a:defRPr>
            </a:pPr>
            <a:r>
              <a:t>We also identify downregulation of CD20, alongside adhesion molecules, and co-stimulatory pathways as potential immune-escape mechanisms. \n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1. 应答者肿瘤微环境显示IFNγ和IL-2-STAT5信号最佳；</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2. 应答者肿瘤微环境富含CD4/CD8 T细胞-肿瘤互作；</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3. T细胞在glofitamab治疗后显著扩增；</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4. CD4 T细胞获得细胞毒性功能并杀伤肿瘤细胞；</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5. 非应答者基线时MHCII、CD2、ICOS和CD6下调。</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摘要号：S244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纵向患者报告结果强调，在一线ii期r-pola-glo试验中治疗的r-chop阴性侵袭性b细胞淋巴瘤患者的生活质量得到...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patient-reported outcomes highlight improved quality of life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全球健康状况（QLQ-C30 GHS）：治疗期间改善+10.7分，具有临床意义</a:t>
            </a:r>
          </a:p>
          <a:p>
            <a:pPr>
              <a:lnSpc>
                <a:spcPct val="103000"/>
              </a:lnSpc>
              <a:spcAft>
                <a:spcPts val="300"/>
              </a:spcAft>
              <a:defRPr sz="800">
                <a:solidFill>
                  <a:srgbClr val="21242A"/>
                </a:solidFill>
                <a:latin typeface="Microsoft YaHei"/>
              </a:defRPr>
            </a:pPr>
            <a:r>
              <a:t>44%患者在C4时改善≥10分</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人数：80</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登记号：NCT05798156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试验药/方案：维泊妥珠单抗、格菲妥单抗、利妥昔单抗</a:t>
            </a:r>
          </a:p>
          <a:p>
            <a:pPr>
              <a:lnSpc>
                <a:spcPct val="103000"/>
              </a:lnSpc>
              <a:spcAft>
                <a:spcPts val="300"/>
              </a:spcAft>
              <a:defRPr sz="810">
                <a:solidFill>
                  <a:srgbClr val="21242A"/>
                </a:solidFill>
                <a:latin typeface="Microsoft YaHei"/>
              </a:defRPr>
            </a:pPr>
            <a:r>
              <a:t>靶点：CD79B、CD20、CD3</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纵向患者报告结果强调，在一线ii期r-pola-glo试验中治疗的r-chop阴性侵袭性b细胞淋巴瘤患者的生活质量得到...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patient-reported outcomes highlight improved quality of life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predominantly affects older adults, many of whom are frail and ineligible for standard R-CHOP.</a:t>
            </a:r>
          </a:p>
          <a:p>
            <a:pPr>
              <a:lnSpc>
                <a:spcPct val="103000"/>
              </a:lnSpc>
              <a:spcAft>
                <a:spcPts val="300"/>
              </a:spcAft>
              <a:defRPr sz="570">
                <a:solidFill>
                  <a:srgbClr val="21242A"/>
                </a:solidFill>
                <a:latin typeface="Microsoft YaHei"/>
              </a:defRPr>
            </a:pPr>
            <a:r>
              <a:t>While R-CHOP achieves high cure rates in fit patients, older, frail, and medically unfit patients often require attenuated regimens with inferior efficacy.</a:t>
            </a:r>
          </a:p>
          <a:p>
            <a:pPr>
              <a:lnSpc>
                <a:spcPct val="103000"/>
              </a:lnSpc>
              <a:spcAft>
                <a:spcPts val="300"/>
              </a:spcAft>
              <a:defRPr sz="570">
                <a:solidFill>
                  <a:srgbClr val="21242A"/>
                </a:solidFill>
                <a:latin typeface="Microsoft YaHei"/>
              </a:defRPr>
            </a:pPr>
            <a:r>
              <a:t>This unmet need prompted development of the R-Pola-Glo trial integrating rituximab (R), polatuzumab vedotin (Pola), and the CD20×CD3 bispecific antibody glofita</a:t>
            </a:r>
          </a:p>
          <a:p>
            <a:pPr>
              <a:lnSpc>
                <a:spcPct val="103000"/>
              </a:lnSpc>
              <a:spcAft>
                <a:spcPts val="300"/>
              </a:spcAft>
              <a:defRPr sz="570">
                <a:solidFill>
                  <a:srgbClr val="21242A"/>
                </a:solidFill>
                <a:latin typeface="Microsoft YaHei"/>
              </a:defRPr>
            </a:pPr>
            <a:r>
              <a:t>mab (Glo).</a:t>
            </a:r>
          </a:p>
          <a:p>
            <a:pPr>
              <a:lnSpc>
                <a:spcPct val="103000"/>
              </a:lnSpc>
              <a:spcAft>
                <a:spcPts val="300"/>
              </a:spcAft>
              <a:defRPr sz="570">
                <a:solidFill>
                  <a:srgbClr val="21242A"/>
                </a:solidFill>
                <a:latin typeface="Microsoft YaHei"/>
              </a:defRPr>
            </a:pPr>
            <a:r>
              <a:t>The R-Pola-Glo phase II trial achieved high overall and complete metabolic remission rates (90% and 81% at end of treatment [EOT]) and 1-year progression-free a</a:t>
            </a:r>
          </a:p>
          <a:p>
            <a:pPr>
              <a:lnSpc>
                <a:spcPct val="103000"/>
              </a:lnSpc>
              <a:spcAft>
                <a:spcPts val="300"/>
              </a:spcAft>
              <a:defRPr sz="570">
                <a:solidFill>
                  <a:srgbClr val="21242A"/>
                </a:solidFill>
                <a:latin typeface="Microsoft YaHei"/>
              </a:defRPr>
            </a:pPr>
            <a:r>
              <a:t>nd overall survival of 85% and 90%, respectively.</a:t>
            </a:r>
          </a:p>
          <a:p>
            <a:pPr>
              <a:lnSpc>
                <a:spcPct val="103000"/>
              </a:lnSpc>
              <a:spcAft>
                <a:spcPts val="300"/>
              </a:spcAft>
              <a:defRPr sz="570">
                <a:solidFill>
                  <a:srgbClr val="21242A"/>
                </a:solidFill>
                <a:latin typeface="Microsoft YaHei"/>
              </a:defRPr>
            </a:pPr>
            <a:r>
              <a:t>Beyond efficacy, preservation of health-related quality of life (HRQoL) is critical, and patient-reported outcomes (PROs) provide complementary insights.</a:t>
            </a:r>
          </a:p>
          <a:p>
            <a:pPr>
              <a:lnSpc>
                <a:spcPct val="103000"/>
              </a:lnSpc>
              <a:spcAft>
                <a:spcPts val="300"/>
              </a:spcAft>
              <a:defRPr sz="570">
                <a:solidFill>
                  <a:srgbClr val="21242A"/>
                </a:solidFill>
                <a:latin typeface="Microsoft YaHei"/>
              </a:defRPr>
            </a:pPr>
            <a:r>
              <a:t>Aims: To evaluate longitudinal HRQoL during frontline R-Pola-Glo therapy in R-CHOP–ineligible DLBCL patients enrolled in the initial phase II cohort (n=80).</a:t>
            </a:r>
          </a:p>
          <a:p>
            <a:pPr>
              <a:lnSpc>
                <a:spcPct val="103000"/>
              </a:lnSpc>
              <a:spcAft>
                <a:spcPts val="300"/>
              </a:spcAft>
              <a:defRPr sz="570">
                <a:solidFill>
                  <a:srgbClr val="21242A"/>
                </a:solidFill>
                <a:latin typeface="Microsoft YaHei"/>
              </a:defRPr>
            </a:pPr>
            <a:r>
              <a:t>Methods: PROs were assessed longitudinally (baseline; day 1 of cycles (C) 2, 4, 6, 8, 10, 12, EOT, and 3-monthly follow-up).</a:t>
            </a:r>
          </a:p>
          <a:p>
            <a:pPr>
              <a:lnSpc>
                <a:spcPct val="103000"/>
              </a:lnSpc>
              <a:spcAft>
                <a:spcPts val="300"/>
              </a:spcAft>
              <a:defRPr sz="570">
                <a:solidFill>
                  <a:srgbClr val="21242A"/>
                </a:solidFill>
                <a:latin typeface="Microsoft YaHei"/>
              </a:defRPr>
            </a:pPr>
            <a:r>
              <a:t>HRQoL was measured using the European Organization for Research and Treatment of Cancer Quality of Life Questionnaire-Core 30 (EORTC QLQ-C30; scale 0–100; highe</a:t>
            </a:r>
          </a:p>
          <a:p>
            <a:pPr>
              <a:lnSpc>
                <a:spcPct val="103000"/>
              </a:lnSpc>
              <a:spcAft>
                <a:spcPts val="300"/>
              </a:spcAft>
              <a:defRPr sz="570">
                <a:solidFill>
                  <a:srgbClr val="21242A"/>
                </a:solidFill>
                <a:latin typeface="Microsoft YaHei"/>
              </a:defRPr>
            </a:pPr>
            <a:r>
              <a:t>r scores indicate better functioning/global QoL and greater symptom burden on symptom scales) and lymphoma-specific HRQoL using the Functional Assessment of Can</a:t>
            </a:r>
          </a:p>
          <a:p>
            <a:pPr>
              <a:lnSpc>
                <a:spcPct val="103000"/>
              </a:lnSpc>
              <a:spcAft>
                <a:spcPts val="300"/>
              </a:spcAft>
              <a:defRPr sz="570">
                <a:solidFill>
                  <a:srgbClr val="21242A"/>
                </a:solidFill>
                <a:latin typeface="Microsoft YaHei"/>
              </a:defRPr>
            </a:pPr>
            <a:r>
              <a:t>cer Therapy–Lymphoma ( v4; higher scores indicate better ).</a:t>
            </a:r>
          </a:p>
          <a:p>
            <a:pPr>
              <a:lnSpc>
                <a:spcPct val="103000"/>
              </a:lnSpc>
              <a:spcAft>
                <a:spcPts val="300"/>
              </a:spcAft>
              <a:defRPr sz="570">
                <a:solidFill>
                  <a:srgbClr val="21242A"/>
                </a:solidFill>
                <a:latin typeface="Microsoft YaHei"/>
              </a:defRPr>
            </a:pPr>
            <a:r>
              <a:t>Analyses were descriptive (observed cases; no imputation). Mean change from baseline with 95% confidence intervals was calculated per visit.</a:t>
            </a:r>
          </a:p>
          <a:p>
            <a:pPr>
              <a:lnSpc>
                <a:spcPct val="103000"/>
              </a:lnSpc>
              <a:spcAft>
                <a:spcPts val="300"/>
              </a:spcAft>
              <a:defRPr sz="570">
                <a:solidFill>
                  <a:srgbClr val="21242A"/>
                </a:solidFill>
                <a:latin typeface="Microsoft YaHei"/>
              </a:defRPr>
            </a:pPr>
            <a:r>
              <a:t>Clinically meaningful change was defined as ≥ 10 points for QLQ-C30 scales and ≥3 points for FACT-Lym. Questionnaire completion was reported per visit.</a:t>
            </a:r>
          </a:p>
          <a:p>
            <a:pPr>
              <a:lnSpc>
                <a:spcPct val="103000"/>
              </a:lnSpc>
              <a:spcAft>
                <a:spcPts val="300"/>
              </a:spcAft>
              <a:defRPr sz="570">
                <a:solidFill>
                  <a:srgbClr val="21242A"/>
                </a:solidFill>
                <a:latin typeface="Microsoft YaHei"/>
              </a:defRPr>
            </a:pPr>
            <a:r>
              <a:t>Timepoints with at least 20% evaluable patients were included.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frail, high-risk population, R-Pola-Glo demonstrated preserved or clinically meaningful improvements in HRQoL alongside high disease control.</a:t>
            </a:r>
          </a:p>
          <a:p>
            <a:pPr>
              <a:lnSpc>
                <a:spcPct val="103000"/>
              </a:lnSpc>
              <a:spcAft>
                <a:spcPts val="300"/>
              </a:spcAft>
              <a:defRPr sz="590">
                <a:solidFill>
                  <a:srgbClr val="21242A"/>
                </a:solidFill>
                <a:latin typeface="Microsoft YaHei"/>
              </a:defRPr>
            </a:pPr>
            <a:r>
              <a:t>Global and emotional functioning improved, physical functioning was maintained, and lymphoma-related symptoms improved early and durably.</a:t>
            </a:r>
          </a:p>
          <a:p>
            <a:pPr>
              <a:lnSpc>
                <a:spcPct val="103000"/>
              </a:lnSpc>
              <a:spcAft>
                <a:spcPts val="300"/>
              </a:spcAft>
              <a:defRPr sz="590">
                <a:solidFill>
                  <a:srgbClr val="21242A"/>
                </a:solidFill>
                <a:latin typeface="Microsoft YaHei"/>
              </a:defRPr>
            </a:pPr>
            <a:r>
              <a:t>These findings support the patient-reported tolerability of R-Pola-Glo as a chemotherapy-light, immune-based frontline strategy in patients with limited options</a:t>
            </a:r>
          </a:p>
          <a:p>
            <a:pPr>
              <a:lnSpc>
                <a:spcPct val="103000"/>
              </a:lnSpc>
              <a:spcAft>
                <a:spcPts val="300"/>
              </a:spcAft>
              <a:defRPr sz="590">
                <a:solidFill>
                  <a:srgbClr val="21242A"/>
                </a:solidFill>
                <a:latin typeface="Microsoft YaHei"/>
              </a:defRPr>
            </a:pPr>
            <a:r>
              <a: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全球健康状况（QLQ-C30 GHS）</a:t>
                      </a:r>
                    </a:p>
                  </a:txBody>
                  <a:tcPr>
                    <a:solidFill>
                      <a:srgbClr val="F6F8FB"/>
                    </a:solidFill>
                  </a:tcPr>
                </a:tc>
                <a:tc>
                  <a:txBody>
                    <a:bodyPr wrap="square" lIns="36576" rIns="36576" tIns="18288" bIns="18288"/>
                    <a:lstStyle/>
                    <a:p>
                      <a:r>
                        <a:rPr sz="540" b="0">
                          <a:solidFill>
                            <a:srgbClr val="21242A"/>
                          </a:solidFill>
                          <a:latin typeface="Microsoft YaHei"/>
                        </a:rPr>
                        <a:t>治疗期间改善+10.7分，具有临床意义；44%患者在C4时改善≥10分</a:t>
                      </a:r>
                    </a:p>
                  </a:txBody>
                  <a:tcPr>
                    <a:solidFill>
                      <a:srgbClr val="F6F8FB"/>
                    </a:solidFill>
                  </a:tcPr>
                </a:tc>
              </a:tr>
              <a:tr h="166624">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至EOT和随访时仍高于基线</a:t>
                      </a:r>
                    </a:p>
                  </a:txBody>
                  <a:tcPr>
                    <a:solidFill>
                      <a:srgbClr val="FFFFFF"/>
                    </a:solidFill>
                  </a:tcPr>
                </a:tc>
              </a:tr>
              <a:tr h="166624">
                <a:tc>
                  <a:txBody>
                    <a:bodyPr wrap="square" lIns="36576" rIns="36576" tIns="18288" bIns="18288"/>
                    <a:lstStyle/>
                    <a:p>
                      <a:r>
                        <a:rPr sz="540" b="1">
                          <a:solidFill>
                            <a:srgbClr val="21242A"/>
                          </a:solidFill>
                          <a:latin typeface="Microsoft YaHei"/>
                        </a:rPr>
                        <a:t>身体功能</a:t>
                      </a:r>
                    </a:p>
                  </a:txBody>
                  <a:tcPr>
                    <a:solidFill>
                      <a:srgbClr val="F6F8FB"/>
                    </a:solidFill>
                  </a:tcPr>
                </a:tc>
                <a:tc>
                  <a:txBody>
                    <a:bodyPr wrap="square" lIns="36576" rIns="36576" tIns="18288" bIns="18288"/>
                    <a:lstStyle/>
                    <a:p>
                      <a:r>
                        <a:rPr sz="540" b="0">
                          <a:solidFill>
                            <a:srgbClr val="21242A"/>
                          </a:solidFill>
                          <a:latin typeface="Microsoft YaHei"/>
                        </a:rPr>
                        <a:t>维持治疗前水平</a:t>
                      </a:r>
                    </a:p>
                  </a:txBody>
                  <a:tcPr>
                    <a:solidFill>
                      <a:srgbClr val="F6F8FB"/>
                    </a:solidFill>
                  </a:tcPr>
                </a:tc>
              </a:tr>
              <a:tr h="166624">
                <a:tc>
                  <a:txBody>
                    <a:bodyPr wrap="square" lIns="36576" rIns="36576" tIns="18288" bIns="18288"/>
                    <a:lstStyle/>
                    <a:p>
                      <a:r>
                        <a:rPr sz="540" b="1">
                          <a:solidFill>
                            <a:srgbClr val="21242A"/>
                          </a:solidFill>
                          <a:latin typeface="Microsoft YaHei"/>
                        </a:rPr>
                        <a:t>疲劳</a:t>
                      </a:r>
                    </a:p>
                  </a:txBody>
                  <a:tcPr>
                    <a:solidFill>
                      <a:srgbClr val="FFFFFF"/>
                    </a:solidFill>
                  </a:tcPr>
                </a:tc>
                <a:tc>
                  <a:txBody>
                    <a:bodyPr wrap="square" lIns="36576" rIns="36576" tIns="18288" bIns="18288"/>
                    <a:lstStyle/>
                    <a:p>
                      <a:r>
                        <a:rPr sz="540" b="0">
                          <a:solidFill>
                            <a:srgbClr val="21242A"/>
                          </a:solidFill>
                          <a:latin typeface="Microsoft YaHei"/>
                        </a:rPr>
                        <a:t>未增加负担</a:t>
                      </a:r>
                    </a:p>
                  </a:txBody>
                  <a:tcPr>
                    <a:solidFill>
                      <a:srgbClr val="FFFFFF"/>
                    </a:solidFill>
                  </a:tcPr>
                </a:tc>
              </a:tr>
              <a:tr h="166624">
                <a:tc>
                  <a:txBody>
                    <a:bodyPr wrap="square" lIns="36576" rIns="36576" tIns="18288" bIns="18288"/>
                    <a:lstStyle/>
                    <a:p>
                      <a:r>
                        <a:rPr sz="540" b="1">
                          <a:solidFill>
                            <a:srgbClr val="21242A"/>
                          </a:solidFill>
                          <a:latin typeface="Microsoft YaHei"/>
                        </a:rPr>
                        <a:t>情绪功能</a:t>
                      </a:r>
                    </a:p>
                  </a:txBody>
                  <a:tcPr>
                    <a:solidFill>
                      <a:srgbClr val="F6F8FB"/>
                    </a:solidFill>
                  </a:tcPr>
                </a:tc>
                <a:tc>
                  <a:txBody>
                    <a:bodyPr wrap="square" lIns="36576" rIns="36576" tIns="18288" bIns="18288"/>
                    <a:lstStyle/>
                    <a:p>
                      <a:r>
                        <a:rPr sz="540" b="0">
                          <a:solidFill>
                            <a:srgbClr val="21242A"/>
                          </a:solidFill>
                          <a:latin typeface="Microsoft YaHei"/>
                        </a:rPr>
                        <a:t>持续改善</a:t>
                      </a:r>
                    </a:p>
                  </a:txBody>
                  <a:tcPr>
                    <a:solidFill>
                      <a:srgbClr val="F6F8FB"/>
                    </a:solidFill>
                  </a:tcPr>
                </a:tc>
              </a:tr>
              <a:tr h="166624">
                <a:tc>
                  <a:txBody>
                    <a:bodyPr wrap="square" lIns="36576" rIns="36576" tIns="18288" bIns="18288"/>
                    <a:lstStyle/>
                    <a:p>
                      <a:r>
                        <a:rPr sz="540" b="1">
                          <a:solidFill>
                            <a:srgbClr val="21242A"/>
                          </a:solidFill>
                          <a:latin typeface="Microsoft YaHei"/>
                        </a:rPr>
                        <a:t>FACT-Lym总分</a:t>
                      </a:r>
                    </a:p>
                  </a:txBody>
                  <a:tcPr>
                    <a:solidFill>
                      <a:srgbClr val="FFFFFF"/>
                    </a:solidFill>
                  </a:tcPr>
                </a:tc>
                <a:tc>
                  <a:txBody>
                    <a:bodyPr wrap="square" lIns="36576" rIns="36576" tIns="18288" bIns="18288"/>
                    <a:lstStyle/>
                    <a:p>
                      <a:r>
                        <a:rPr sz="540" b="0">
                          <a:solidFill>
                            <a:srgbClr val="21242A"/>
                          </a:solidFill>
                          <a:latin typeface="Microsoft YaHei"/>
                        </a:rPr>
                        <a:t>C4时增加+10分，具有临床意义</a:t>
                      </a:r>
                    </a:p>
                  </a:txBody>
                  <a:tcPr>
                    <a:solidFill>
                      <a:srgbClr val="FFFFFF"/>
                    </a:solidFill>
                  </a:tcPr>
                </a:tc>
              </a:tr>
              <a:tr h="166624">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至EOT和随访仍高于基线</a:t>
                      </a:r>
                    </a:p>
                  </a:txBody>
                  <a:tcPr>
                    <a:solidFill>
                      <a:srgbClr val="F6F8FB"/>
                    </a:solidFill>
                  </a:tcPr>
                </a:tc>
              </a:tr>
              <a:tr h="166624">
                <a:tc>
                  <a:txBody>
                    <a:bodyPr wrap="square" lIns="36576" rIns="36576" tIns="18288" bIns="18288"/>
                    <a:lstStyle/>
                    <a:p>
                      <a:r>
                        <a:rPr sz="540" b="1">
                          <a:solidFill>
                            <a:srgbClr val="21242A"/>
                          </a:solidFill>
                          <a:latin typeface="Microsoft YaHei"/>
                        </a:rPr>
                        <a:t>试验结果指标（TOI）</a:t>
                      </a:r>
                    </a:p>
                  </a:txBody>
                  <a:tcPr>
                    <a:solidFill>
                      <a:srgbClr val="FFFFFF"/>
                    </a:solidFill>
                  </a:tcPr>
                </a:tc>
                <a:tc>
                  <a:txBody>
                    <a:bodyPr wrap="square" lIns="36576" rIns="36576" tIns="18288" bIns="18288"/>
                    <a:lstStyle/>
                    <a:p>
                      <a:r>
                        <a:rPr sz="540" b="0">
                          <a:solidFill>
                            <a:srgbClr val="21242A"/>
                          </a:solidFill>
                          <a:latin typeface="Microsoft YaHei"/>
                        </a:rPr>
                        <a:t>类似模式</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摘要号：PS2504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glofitamab治疗复发/难治性大b细胞淋巴瘤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in relapsed/refractory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最佳客观缓解率（ORR）80%</a:t>
            </a:r>
          </a:p>
          <a:p>
            <a:pPr>
              <a:lnSpc>
                <a:spcPct val="103000"/>
              </a:lnSpc>
              <a:spcAft>
                <a:spcPts val="300"/>
              </a:spcAft>
              <a:defRPr sz="800">
                <a:solidFill>
                  <a:srgbClr val="21242A"/>
                </a:solidFill>
                <a:latin typeface="Microsoft YaHei"/>
              </a:defRPr>
            </a:pPr>
            <a:r>
              <a:t>完全缓解（CR）率42%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glofitamab治疗复发/难治性大b细胞淋巴瘤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in relapsed/refractory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Glofitamab, a CD20×CD3 bispecific antibody, has demonstrated encouraging efficacy in relapsed/refractory (R/R) large B-cell lymphoma (LBCL).</a:t>
            </a:r>
          </a:p>
          <a:p>
            <a:pPr>
              <a:lnSpc>
                <a:spcPct val="103000"/>
              </a:lnSpc>
              <a:spcAft>
                <a:spcPts val="300"/>
              </a:spcAft>
              <a:defRPr sz="570">
                <a:solidFill>
                  <a:srgbClr val="21242A"/>
                </a:solidFill>
                <a:latin typeface="Microsoft YaHei"/>
              </a:defRPr>
            </a:pPr>
            <a:r>
              <a:t>We conducted a prospective single-center analysis to evaluate clinical outcomes and exploratory biomarkers in routine practice.</a:t>
            </a:r>
          </a:p>
          <a:p>
            <a:pPr>
              <a:lnSpc>
                <a:spcPct val="103000"/>
              </a:lnSpc>
              <a:spcAft>
                <a:spcPts val="300"/>
              </a:spcAft>
              <a:defRPr sz="570">
                <a:solidFill>
                  <a:srgbClr val="21242A"/>
                </a:solidFill>
                <a:latin typeface="Microsoft YaHei"/>
              </a:defRPr>
            </a:pPr>
            <a:r>
              <a:t>Aims: To evaluate clinical outcomes of glofitamab in a high-risk R/R LBCL cohort and to explore early circulating tumor DNA (ctDNA) dynamics and immune microenv</a:t>
            </a:r>
          </a:p>
          <a:p>
            <a:pPr>
              <a:lnSpc>
                <a:spcPct val="103000"/>
              </a:lnSpc>
              <a:spcAft>
                <a:spcPts val="300"/>
              </a:spcAft>
              <a:defRPr sz="570">
                <a:solidFill>
                  <a:srgbClr val="21242A"/>
                </a:solidFill>
                <a:latin typeface="Microsoft YaHei"/>
              </a:defRPr>
            </a:pPr>
            <a:r>
              <a:t>ironment characteristics associated with treatment response.</a:t>
            </a:r>
          </a:p>
          <a:p>
            <a:pPr>
              <a:lnSpc>
                <a:spcPct val="103000"/>
              </a:lnSpc>
              <a:spcAft>
                <a:spcPts val="300"/>
              </a:spcAft>
              <a:defRPr sz="570">
                <a:solidFill>
                  <a:srgbClr val="21242A"/>
                </a:solidFill>
                <a:latin typeface="Microsoft YaHei"/>
              </a:defRPr>
            </a:pPr>
            <a:r>
              <a:t>Methods: Tumor-informed ctDNA profiling using a 152-gene DLBCL panel was performed at baseline and cycle 2 day 1 (C2D1) in 48 patients.</a:t>
            </a:r>
          </a:p>
          <a:p>
            <a:pPr>
              <a:lnSpc>
                <a:spcPct val="103000"/>
              </a:lnSpc>
              <a:spcAft>
                <a:spcPts val="300"/>
              </a:spcAft>
              <a:defRPr sz="570">
                <a:solidFill>
                  <a:srgbClr val="21242A"/>
                </a:solidFill>
                <a:latin typeface="Microsoft YaHei"/>
              </a:defRPr>
            </a:pPr>
            <a:r>
              <a:t>Log-fold change (LFC) between baseline and C2D1 was calculated.</a:t>
            </a:r>
          </a:p>
          <a:p>
            <a:pPr>
              <a:lnSpc>
                <a:spcPct val="103000"/>
              </a:lnSpc>
              <a:spcAft>
                <a:spcPts val="300"/>
              </a:spcAft>
              <a:defRPr sz="570">
                <a:solidFill>
                  <a:srgbClr val="21242A"/>
                </a:solidFill>
                <a:latin typeface="Microsoft YaHei"/>
              </a:defRPr>
            </a:pPr>
            <a:r>
              <a:t>Bulk RNA sequencing of tumor biopsies obtained at relapse or progression (n=57) was analyzed using TIMER, CIBERSORT, and xCell to evaluate immune infiltration p</a:t>
            </a:r>
          </a:p>
          <a:p>
            <a:pPr>
              <a:lnSpc>
                <a:spcPct val="103000"/>
              </a:lnSpc>
              <a:spcAft>
                <a:spcPts val="300"/>
              </a:spcAft>
              <a:defRPr sz="570">
                <a:solidFill>
                  <a:srgbClr val="21242A"/>
                </a:solidFill>
                <a:latin typeface="Microsoft YaHei"/>
              </a:defRPr>
            </a:pPr>
            <a:r>
              <a:t>atterns.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high-risk R/R LBCL cohort, including patients commonly underrepresented in clinical trials, glofitamab achieved meaningful response rates with manageabl</a:t>
            </a:r>
          </a:p>
          <a:p>
            <a:pPr>
              <a:lnSpc>
                <a:spcPct val="103000"/>
              </a:lnSpc>
              <a:spcAft>
                <a:spcPts val="300"/>
              </a:spcAft>
              <a:defRPr sz="590">
                <a:solidFill>
                  <a:srgbClr val="21242A"/>
                </a:solidFill>
                <a:latin typeface="Microsoft YaHei"/>
              </a:defRPr>
            </a:pPr>
            <a:r>
              <a:t>e toxicity.</a:t>
            </a:r>
          </a:p>
          <a:p>
            <a:pPr>
              <a:lnSpc>
                <a:spcPct val="103000"/>
              </a:lnSpc>
              <a:spcAft>
                <a:spcPts val="300"/>
              </a:spcAft>
              <a:defRPr sz="590">
                <a:solidFill>
                  <a:srgbClr val="21242A"/>
                </a:solidFill>
                <a:latin typeface="Microsoft YaHei"/>
              </a:defRPr>
            </a:pPr>
            <a:r>
              <a:t>Early ctDNA reduction after one treatment cycle was associated with improved progression-free survival.</a:t>
            </a:r>
          </a:p>
          <a:p>
            <a:pPr>
              <a:lnSpc>
                <a:spcPct val="103000"/>
              </a:lnSpc>
              <a:spcAft>
                <a:spcPts val="300"/>
              </a:spcAft>
              <a:defRPr sz="590">
                <a:solidFill>
                  <a:srgbClr val="21242A"/>
                </a:solidFill>
                <a:latin typeface="Microsoft YaHei"/>
              </a:defRPr>
            </a:pPr>
            <a:r>
              <a:t>Immune profiling further indicates that an inflamed tumor microenvironment may underlie sensitivity to bispecific antibody therapy.</a:t>
            </a:r>
          </a:p>
          <a:p>
            <a:pPr>
              <a:lnSpc>
                <a:spcPct val="103000"/>
              </a:lnSpc>
              <a:spcAft>
                <a:spcPts val="300"/>
              </a:spcAft>
              <a:defRPr sz="590">
                <a:solidFill>
                  <a:srgbClr val="21242A"/>
                </a:solidFill>
                <a:latin typeface="Microsoft YaHei"/>
              </a:defRPr>
            </a:pPr>
            <a:r>
              <a:t>Together, these findings expand the clinical applicability of glofitamab and support the integration of early molecular monitoring and biological stratification</a:t>
            </a:r>
          </a:p>
          <a:p>
            <a:pPr>
              <a:lnSpc>
                <a:spcPct val="103000"/>
              </a:lnSpc>
              <a:spcAft>
                <a:spcPts val="300"/>
              </a:spcAft>
              <a:defRPr sz="590">
                <a:solidFill>
                  <a:srgbClr val="21242A"/>
                </a:solidFill>
                <a:latin typeface="Microsoft YaHei"/>
              </a:defRPr>
            </a:pPr>
            <a:r>
              <a:t> in future treatment strategies.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最佳客观缓解率（ORR）80%</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完全缓解（CR）率42%</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早期（第2或3周期）ORR 78%</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中位既往治疗线数3线（范围2-9）</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细胞因子释放综合征（CRS）发生率43.2%（≥3级2.7%），主要发生在第1周期（任何级别35.1%，≥3级1.4%），第5周期后仅1例1级事件，无5级事件</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免疫效应细胞相关神经毒性综合征（ICANS）发生率4.1%（≥3级1.4%），无5级事件</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ctDNA降低与无进展生存期改善相关</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glofitamab、polatuzumab vedotin和zanubrutinib在未经治疗的老年dlbcl患者中...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2 trial of glofitamab, polatuzumab vedotin and zanubrutinib in untreate...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安全性：10例患者均完成28天安全导入期观察</a:t>
            </a:r>
          </a:p>
          <a:p>
            <a:pPr>
              <a:lnSpc>
                <a:spcPct val="103000"/>
              </a:lnSpc>
              <a:spcAft>
                <a:spcPts val="300"/>
              </a:spcAft>
              <a:defRPr sz="800">
                <a:solidFill>
                  <a:srgbClr val="21242A"/>
                </a:solidFill>
                <a:latin typeface="Microsoft YaHei"/>
              </a:defRPr>
            </a:pPr>
            <a:r>
              <a:t>90%发生1-2级CRS</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登记号：NCT07012980</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试验药/方案：维泊妥珠单抗、格菲妥单抗、泽布替尼</a:t>
            </a:r>
          </a:p>
          <a:p>
            <a:pPr>
              <a:lnSpc>
                <a:spcPct val="103000"/>
              </a:lnSpc>
              <a:spcAft>
                <a:spcPts val="300"/>
              </a:spcAft>
              <a:defRPr sz="810">
                <a:solidFill>
                  <a:srgbClr val="21242A"/>
                </a:solidFill>
                <a:latin typeface="Microsoft YaHei"/>
              </a:defRPr>
            </a:pPr>
            <a:r>
              <a:t>靶点：CD79B、CD20、CD3、BTK</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glofitamab、polatuzumab vedotin和zanubrutinib在未经治疗的老年dlbcl患者中...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2 trial of glofitamab, polatuzumab vedotin and zanubrutinib in untreate...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R-miniCHOP is the current standard of care for elderly diffuse large B-cell lymphoma (DLBCL), however, treatment-related toxicities remained challen</a:t>
            </a:r>
          </a:p>
          <a:p>
            <a:pPr>
              <a:lnSpc>
                <a:spcPct val="103000"/>
              </a:lnSpc>
              <a:spcAft>
                <a:spcPts val="300"/>
              </a:spcAft>
              <a:defRPr sz="570">
                <a:solidFill>
                  <a:srgbClr val="21242A"/>
                </a:solidFill>
                <a:latin typeface="Microsoft YaHei"/>
              </a:defRPr>
            </a:pPr>
            <a:r>
              <a:t>ging.</a:t>
            </a:r>
          </a:p>
          <a:p>
            <a:pPr>
              <a:lnSpc>
                <a:spcPct val="103000"/>
              </a:lnSpc>
              <a:spcAft>
                <a:spcPts val="300"/>
              </a:spcAft>
              <a:defRPr sz="570">
                <a:solidFill>
                  <a:srgbClr val="21242A"/>
                </a:solidFill>
                <a:latin typeface="Microsoft YaHei"/>
              </a:defRPr>
            </a:pPr>
            <a:r>
              <a:t>There is an unmet need for effective and safe first-line regimens for elderly patients.</a:t>
            </a:r>
          </a:p>
          <a:p>
            <a:pPr>
              <a:lnSpc>
                <a:spcPct val="103000"/>
              </a:lnSpc>
              <a:spcAft>
                <a:spcPts val="300"/>
              </a:spcAft>
              <a:defRPr sz="570">
                <a:solidFill>
                  <a:srgbClr val="21242A"/>
                </a:solidFill>
                <a:latin typeface="Microsoft YaHei"/>
              </a:defRPr>
            </a:pPr>
            <a:r>
              <a:t>Glofitamab is now being actively investigated in combination with standard immunochemotherapy for first-line adult DLBCL and exhibited high response rates.</a:t>
            </a:r>
          </a:p>
          <a:p>
            <a:pPr>
              <a:lnSpc>
                <a:spcPct val="103000"/>
              </a:lnSpc>
              <a:spcAft>
                <a:spcPts val="300"/>
              </a:spcAft>
              <a:defRPr sz="570">
                <a:solidFill>
                  <a:srgbClr val="21242A"/>
                </a:solidFill>
                <a:latin typeface="Microsoft YaHei"/>
              </a:defRPr>
            </a:pPr>
            <a:r>
              <a:t>Therefore, we designed and initiated a prospective phase 2 clinical trial (NCT07012980) to investigate the efficacy and safety of glofitamab, polatuzumab vedoti</a:t>
            </a:r>
          </a:p>
          <a:p>
            <a:pPr>
              <a:lnSpc>
                <a:spcPct val="103000"/>
              </a:lnSpc>
              <a:spcAft>
                <a:spcPts val="300"/>
              </a:spcAft>
              <a:defRPr sz="570">
                <a:solidFill>
                  <a:srgbClr val="21242A"/>
                </a:solidFill>
                <a:latin typeface="Microsoft YaHei"/>
              </a:defRPr>
            </a:pPr>
            <a:r>
              <a:t>n and zanubrutinib in untreated elderly DLBCL patients.</a:t>
            </a:r>
          </a:p>
          <a:p>
            <a:pPr>
              <a:lnSpc>
                <a:spcPct val="103000"/>
              </a:lnSpc>
              <a:spcAft>
                <a:spcPts val="300"/>
              </a:spcAft>
              <a:defRPr sz="570">
                <a:solidFill>
                  <a:srgbClr val="21242A"/>
                </a:solidFill>
                <a:latin typeface="Microsoft YaHei"/>
              </a:defRPr>
            </a:pPr>
            <a:r>
              <a:t>Aims: In this trial, we aim to investigate safety and efficacy of glofitamab, polatuzumab vedotin and zanubrutinib in untreated elderly DLBCL patients.</a:t>
            </a:r>
          </a:p>
          <a:p>
            <a:pPr>
              <a:lnSpc>
                <a:spcPct val="103000"/>
              </a:lnSpc>
              <a:spcAft>
                <a:spcPts val="300"/>
              </a:spcAft>
              <a:defRPr sz="570">
                <a:solidFill>
                  <a:srgbClr val="21242A"/>
                </a:solidFill>
                <a:latin typeface="Microsoft YaHei"/>
              </a:defRPr>
            </a:pPr>
            <a:r>
              <a:t>Here, we present the results of safety run-in. Methods: Untreated DLBCL patients aged over 70 years old will be enrolled in this study.</a:t>
            </a:r>
          </a:p>
          <a:p>
            <a:pPr>
              <a:lnSpc>
                <a:spcPct val="103000"/>
              </a:lnSpc>
              <a:spcAft>
                <a:spcPts val="300"/>
              </a:spcAft>
              <a:defRPr sz="570">
                <a:solidFill>
                  <a:srgbClr val="21242A"/>
                </a:solidFill>
                <a:latin typeface="Microsoft YaHei"/>
              </a:defRPr>
            </a:pPr>
            <a:r>
              <a:t>Central nervous system involvement is excluded. All patients will receive zanubrutinib lead-in 7 days prior to the first cycle. Twenty-one days is a cycle.</a:t>
            </a:r>
          </a:p>
          <a:p>
            <a:pPr>
              <a:lnSpc>
                <a:spcPct val="103000"/>
              </a:lnSpc>
              <a:spcAft>
                <a:spcPts val="300"/>
              </a:spcAft>
              <a:defRPr sz="570">
                <a:solidFill>
                  <a:srgbClr val="21242A"/>
                </a:solidFill>
                <a:latin typeface="Microsoft YaHei"/>
              </a:defRPr>
            </a:pPr>
            <a:r>
              <a:t>The regimen consists of 12 cycles, divided into three phases. Zanubrutinib is given 160 mg twice a day orally from day 1 to day 21 throughout all 12 cycles.</a:t>
            </a:r>
          </a:p>
          <a:p>
            <a:pPr>
              <a:lnSpc>
                <a:spcPct val="103000"/>
              </a:lnSpc>
              <a:spcAft>
                <a:spcPts val="300"/>
              </a:spcAft>
              <a:defRPr sz="570">
                <a:solidFill>
                  <a:srgbClr val="21242A"/>
                </a:solidFill>
                <a:latin typeface="Microsoft YaHei"/>
              </a:defRPr>
            </a:pPr>
            <a:r>
              <a:t>For cycle 1, the set-up phase, obinutuzumab is administered 1,000 mg intravenously on day 1, polatuzumab vedotin 1.8 mg/KG intravenously on day 2, and glofitama</a:t>
            </a:r>
          </a:p>
          <a:p>
            <a:pPr>
              <a:lnSpc>
                <a:spcPct val="103000"/>
              </a:lnSpc>
              <a:spcAft>
                <a:spcPts val="300"/>
              </a:spcAft>
              <a:defRPr sz="570">
                <a:solidFill>
                  <a:srgbClr val="21242A"/>
                </a:solidFill>
                <a:latin typeface="Microsoft YaHei"/>
              </a:defRPr>
            </a:pPr>
            <a:r>
              <a:t>b 2.5mg intravenously on day 8 and 10 mg on day 15.</a:t>
            </a:r>
          </a:p>
          <a:p>
            <a:pPr>
              <a:lnSpc>
                <a:spcPct val="103000"/>
              </a:lnSpc>
              <a:spcAft>
                <a:spcPts val="300"/>
              </a:spcAft>
              <a:defRPr sz="570">
                <a:solidFill>
                  <a:srgbClr val="21242A"/>
                </a:solidFill>
                <a:latin typeface="Microsoft YaHei"/>
              </a:defRPr>
            </a:pPr>
            <a:r>
              <a:t>For cycle 2 to 6, target dose phase, polatuzumab vedotin is administered 1.8 mg/KG intravenously on day 1, and glofitamab 30 mg intravenously on day 1.</a:t>
            </a:r>
          </a:p>
          <a:p>
            <a:pPr>
              <a:lnSpc>
                <a:spcPct val="103000"/>
              </a:lnSpc>
              <a:spcAft>
                <a:spcPts val="300"/>
              </a:spcAft>
              <a:defRPr sz="570">
                <a:solidFill>
                  <a:srgbClr val="21242A"/>
                </a:solidFill>
                <a:latin typeface="Microsoft YaHei"/>
              </a:defRPr>
            </a:pPr>
            <a:r>
              <a:t>For cycle 7 to 12, consolidation phase, only zanubrutinib remains as maintenance.</a:t>
            </a:r>
          </a:p>
          <a:p>
            <a:pPr>
              <a:lnSpc>
                <a:spcPct val="103000"/>
              </a:lnSpc>
              <a:spcAft>
                <a:spcPts val="300"/>
              </a:spcAft>
              <a:defRPr sz="570">
                <a:solidFill>
                  <a:srgbClr val="21242A"/>
                </a:solidFill>
                <a:latin typeface="Microsoft YaHei"/>
              </a:defRPr>
            </a:pPr>
            <a:r>
              <a:t>Whole body 18F-FDG PET/CT scan or contrast-enhanced CT scan is scheduled every 3 cycles. Adverse events are graded by NCI-CTCAE v5.0.</a:t>
            </a:r>
          </a:p>
          <a:p>
            <a:pPr>
              <a:lnSpc>
                <a:spcPct val="103000"/>
              </a:lnSpc>
              <a:spcAft>
                <a:spcPts val="300"/>
              </a:spcAft>
              <a:defRPr sz="570">
                <a:solidFill>
                  <a:srgbClr val="21242A"/>
                </a:solidFill>
                <a:latin typeface="Microsoft YaHei"/>
              </a:defRPr>
            </a:pPr>
            <a:r>
              <a:t>The primary end point is 1-year progression-free survival rate. The secondary end points are safety, complete response rate and overall survival.</a:t>
            </a:r>
          </a:p>
          <a:p>
            <a:pPr>
              <a:lnSpc>
                <a:spcPct val="103000"/>
              </a:lnSpc>
              <a:spcAft>
                <a:spcPts val="300"/>
              </a:spcAft>
              <a:defRPr sz="570">
                <a:solidFill>
                  <a:srgbClr val="21242A"/>
                </a:solidFill>
                <a:latin typeface="Microsoft YaHei"/>
              </a:defRPr>
            </a:pPr>
            <a:r>
              <a:t>The first 10 patients enrolled in this study will be assigned in the safety run-in phase and reviewed after 28 days of initial treatment.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general, the combination of glofitamab, polatuzumab vedotin and zanubrutinib were considered tolerable in untreated elderly DLBCL patients.</a:t>
            </a:r>
          </a:p>
          <a:p>
            <a:pPr>
              <a:lnSpc>
                <a:spcPct val="103000"/>
              </a:lnSpc>
              <a:spcAft>
                <a:spcPts val="300"/>
              </a:spcAft>
              <a:defRPr sz="590">
                <a:solidFill>
                  <a:srgbClr val="21242A"/>
                </a:solidFill>
                <a:latin typeface="Microsoft YaHei"/>
              </a:defRPr>
            </a:pPr>
            <a:r>
              <a:t>The trial is still ongoing, and the follow-up will be further updated.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安全性：10例患者均完成28天安全导入期观察；90%发生1-2级CRS；1例（10%）基线有小肠受累的患者出现3级下消化道出血和4级肿瘤溶解综合征，该患者停药；20%发生2级肺部感染，10%发生3级肺部感染；无肿瘤耀斑发生。</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大b细胞淋巴瘤双特异性抗体治疗前最佳绝对淋巴细胞计数的确定：美国双特异性联盟（cubic）的一项合作研究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identification of an optimal absolute lymphocyte count before bispecific anti...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N=317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多组/多方案比较：组别1：低ALC组（ALC &lt; 0.25×10³/µL）</a:t>
            </a:r>
          </a:p>
          <a:p>
            <a:pPr>
              <a:lnSpc>
                <a:spcPct val="103000"/>
              </a:lnSpc>
              <a:spcAft>
                <a:spcPts val="300"/>
              </a:spcAft>
              <a:defRPr sz="800">
                <a:solidFill>
                  <a:srgbClr val="21242A"/>
                </a:solidFill>
                <a:latin typeface="Microsoft YaHei"/>
              </a:defRPr>
            </a:pPr>
            <a:r>
              <a:t>组别2：高ALC组（ALC ≥ 0.25×10³/µL）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总人群（317例）中：ORR 51%，CR 34%，中位PFS 3.9个月。</a:t>
            </a:r>
          </a:p>
          <a:p>
            <a:pPr>
              <a:lnSpc>
                <a:spcPct val="103000"/>
              </a:lnSpc>
              <a:spcAft>
                <a:spcPts val="300"/>
              </a:spcAft>
              <a:defRPr sz="800">
                <a:solidFill>
                  <a:srgbClr val="21242A"/>
                </a:solidFill>
                <a:latin typeface="Microsoft YaHei"/>
              </a:defRPr>
            </a:pPr>
            <a:r>
              <a:t>低ALC组（57例）vs 高ALC组（260例）：ORR 37% vs 52%（p=0.05）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人数：317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大b细胞淋巴瘤双特异性抗体治疗前最佳绝对淋巴细胞计数的确定：美国双特异性联盟（cubic）的一项合作研究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identification of an optimal absolute lymphocyte count before bispecific anti...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CD3xCD20 bispecific antibodies (BsAb), approved in the third-line or later setting for relapsed/refractory (R/R) large B-cell lymphomas (LBCL), harn</a:t>
            </a:r>
          </a:p>
          <a:p>
            <a:pPr>
              <a:lnSpc>
                <a:spcPct val="103000"/>
              </a:lnSpc>
              <a:spcAft>
                <a:spcPts val="300"/>
              </a:spcAft>
              <a:defRPr sz="570">
                <a:solidFill>
                  <a:srgbClr val="21242A"/>
                </a:solidFill>
                <a:latin typeface="Microsoft YaHei"/>
              </a:defRPr>
            </a:pPr>
            <a:r>
              <a:t>ess CD3+ T cells to target CD20-expressing tumor cells.</a:t>
            </a:r>
          </a:p>
          <a:p>
            <a:pPr>
              <a:lnSpc>
                <a:spcPct val="103000"/>
              </a:lnSpc>
              <a:spcAft>
                <a:spcPts val="300"/>
              </a:spcAft>
              <a:defRPr sz="570">
                <a:solidFill>
                  <a:srgbClr val="21242A"/>
                </a:solidFill>
                <a:latin typeface="Microsoft YaHei"/>
              </a:defRPr>
            </a:pPr>
            <a:r>
              <a:t>Thus, quantitative and functional endogenous T-cell impairments may influence their anti-lymphoma efficacy.</a:t>
            </a:r>
          </a:p>
          <a:p>
            <a:pPr>
              <a:lnSpc>
                <a:spcPct val="103000"/>
              </a:lnSpc>
              <a:spcAft>
                <a:spcPts val="300"/>
              </a:spcAft>
              <a:defRPr sz="570">
                <a:solidFill>
                  <a:srgbClr val="21242A"/>
                </a:solidFill>
                <a:latin typeface="Microsoft YaHei"/>
              </a:defRPr>
            </a:pPr>
            <a:r>
              <a:t>Aims: We hypothesize that pre-treatment absolute lymphocyte counts (ALC) are associated with clinical outcomes in patients receiving BsAb for R/R LBCL, and aime</a:t>
            </a:r>
          </a:p>
          <a:p>
            <a:pPr>
              <a:lnSpc>
                <a:spcPct val="103000"/>
              </a:lnSpc>
              <a:spcAft>
                <a:spcPts val="300"/>
              </a:spcAft>
              <a:defRPr sz="570">
                <a:solidFill>
                  <a:srgbClr val="21242A"/>
                </a:solidFill>
                <a:latin typeface="Microsoft YaHei"/>
              </a:defRPr>
            </a:pPr>
            <a:r>
              <a:t>d to identify an ALC threshold associated with superior progression-free survival (PFS).</a:t>
            </a:r>
          </a:p>
          <a:p>
            <a:pPr>
              <a:lnSpc>
                <a:spcPct val="103000"/>
              </a:lnSpc>
              <a:spcAft>
                <a:spcPts val="300"/>
              </a:spcAft>
              <a:defRPr sz="570">
                <a:solidFill>
                  <a:srgbClr val="21242A"/>
                </a:solidFill>
                <a:latin typeface="Microsoft YaHei"/>
              </a:defRPr>
            </a:pPr>
            <a:r>
              <a:t>Methods: We conducted a multicenter retrospective study of adult patients with R/R LBCL who received commercial glofitamab (glofit) or epcoritamab (epco) betwee</a:t>
            </a:r>
          </a:p>
          <a:p>
            <a:pPr>
              <a:lnSpc>
                <a:spcPct val="103000"/>
              </a:lnSpc>
              <a:spcAft>
                <a:spcPts val="300"/>
              </a:spcAft>
              <a:defRPr sz="570">
                <a:solidFill>
                  <a:srgbClr val="21242A"/>
                </a:solidFill>
                <a:latin typeface="Microsoft YaHei"/>
              </a:defRPr>
            </a:pPr>
            <a:r>
              <a:t>n January 2023 and July 2025 at 10 U.S.</a:t>
            </a:r>
          </a:p>
          <a:p>
            <a:pPr>
              <a:lnSpc>
                <a:spcPct val="103000"/>
              </a:lnSpc>
              <a:spcAft>
                <a:spcPts val="300"/>
              </a:spcAft>
              <a:defRPr sz="570">
                <a:solidFill>
                  <a:srgbClr val="21242A"/>
                </a:solidFill>
                <a:latin typeface="Microsoft YaHei"/>
              </a:defRPr>
            </a:pPr>
            <a:r>
              <a:t>cancer centers in the Collaborative US Bispecific Consortium (CUBIC). Baseline characteristics, including ALC, were collected prior to BsAb initiation.</a:t>
            </a:r>
          </a:p>
          <a:p>
            <a:pPr>
              <a:lnSpc>
                <a:spcPct val="103000"/>
              </a:lnSpc>
              <a:spcAft>
                <a:spcPts val="300"/>
              </a:spcAft>
              <a:defRPr sz="570">
                <a:solidFill>
                  <a:srgbClr val="21242A"/>
                </a:solidFill>
                <a:latin typeface="Microsoft YaHei"/>
              </a:defRPr>
            </a:pPr>
            <a:r>
              <a:t>Cytokine release syndrome (CRS) and immune effector cell-associated neurotoxicity syndrome (ICANS) were graded per ASTCT consensus grading.</a:t>
            </a:r>
          </a:p>
          <a:p>
            <a:pPr>
              <a:lnSpc>
                <a:spcPct val="103000"/>
              </a:lnSpc>
              <a:spcAft>
                <a:spcPts val="300"/>
              </a:spcAft>
              <a:defRPr sz="570">
                <a:solidFill>
                  <a:srgbClr val="21242A"/>
                </a:solidFill>
                <a:latin typeface="Microsoft YaHei"/>
              </a:defRPr>
            </a:pPr>
            <a:r>
              <a:t>Treatment response and survival were assessed per Lugano 2014 criteria. The dataset was randomly divided into training (60%) and validation (40%) datasets.</a:t>
            </a:r>
          </a:p>
          <a:p>
            <a:pPr>
              <a:lnSpc>
                <a:spcPct val="103000"/>
              </a:lnSpc>
              <a:spcAft>
                <a:spcPts val="300"/>
              </a:spcAft>
              <a:defRPr sz="570">
                <a:solidFill>
                  <a:srgbClr val="21242A"/>
                </a:solidFill>
                <a:latin typeface="Microsoft YaHei"/>
              </a:defRPr>
            </a:pPr>
            <a:r>
              <a:t>An optimal ALC cutoff value for PFS was identified in the training dataset using maximally selected rank statistics and validated using univariate Cox regressio</a:t>
            </a:r>
          </a:p>
          <a:p>
            <a:pPr>
              <a:lnSpc>
                <a:spcPct val="103000"/>
              </a:lnSpc>
              <a:spcAft>
                <a:spcPts val="300"/>
              </a:spcAft>
              <a:defRPr sz="570">
                <a:solidFill>
                  <a:srgbClr val="21242A"/>
                </a:solidFill>
                <a:latin typeface="Microsoft YaHei"/>
              </a:defRPr>
            </a:pPr>
            <a:r>
              <a:t>n with bootstrap resampling.</a:t>
            </a:r>
          </a:p>
          <a:p>
            <a:pPr>
              <a:lnSpc>
                <a:spcPct val="103000"/>
              </a:lnSpc>
              <a:spcAft>
                <a:spcPts val="300"/>
              </a:spcAft>
              <a:defRPr sz="570">
                <a:solidFill>
                  <a:srgbClr val="21242A"/>
                </a:solidFill>
                <a:latin typeface="Microsoft YaHei"/>
              </a:defRPr>
            </a:pPr>
            <a:r>
              <a:t>Patients were then stratified by this threshold, and baseline characteristics, response rates (ORR, CR), and toxicities (CRS, ICANS) were compared between ALC g</a:t>
            </a:r>
          </a:p>
          <a:p>
            <a:pPr>
              <a:lnSpc>
                <a:spcPct val="103000"/>
              </a:lnSpc>
              <a:spcAft>
                <a:spcPts val="300"/>
              </a:spcAft>
              <a:defRPr sz="570">
                <a:solidFill>
                  <a:srgbClr val="21242A"/>
                </a:solidFill>
                <a:latin typeface="Microsoft YaHei"/>
              </a:defRPr>
            </a:pPr>
            <a:r>
              <a:t>roups.</a:t>
            </a:r>
          </a:p>
          <a:p>
            <a:pPr>
              <a:lnSpc>
                <a:spcPct val="103000"/>
              </a:lnSpc>
              <a:spcAft>
                <a:spcPts val="300"/>
              </a:spcAft>
              <a:defRPr sz="570">
                <a:solidFill>
                  <a:srgbClr val="21242A"/>
                </a:solidFill>
                <a:latin typeface="Microsoft YaHei"/>
              </a:defRPr>
            </a:pPr>
            <a:r>
              <a:t>Fisher’s exact test or Wilcoxon rank-sum test were used for univariate associations of variables, and logistic regression for multivariate analysis.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An optimal ALC threshold of 0.25×10³/µL could identify patients with R/R LBCL who may experience deeper responses and longer PFS with BsAb.</a:t>
            </a:r>
          </a:p>
          <a:p>
            <a:pPr>
              <a:lnSpc>
                <a:spcPct val="103000"/>
              </a:lnSpc>
              <a:spcAft>
                <a:spcPts val="300"/>
              </a:spcAft>
              <a:defRPr sz="590">
                <a:solidFill>
                  <a:srgbClr val="21242A"/>
                </a:solidFill>
                <a:latin typeface="Microsoft YaHei"/>
              </a:defRPr>
            </a:pPr>
            <a:r>
              <a:t>Biological analysis, aimed at investigating clinically relevant T-cell subgroups, and prospective validation of these findings are warranted.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317 patients were included in the analysis: 165 (52%) received glofit and 152 (48%) epco.</a:t>
            </a:r>
          </a:p>
          <a:p>
            <a:pPr>
              <a:lnSpc>
                <a:spcPct val="103000"/>
              </a:lnSpc>
              <a:spcAft>
                <a:spcPts val="300"/>
              </a:spcAft>
              <a:defRPr sz="580">
                <a:solidFill>
                  <a:srgbClr val="21242A"/>
                </a:solidFill>
                <a:latin typeface="Microsoft YaHei"/>
              </a:defRPr>
            </a:pPr>
            <a:r>
              <a:t>At BsAb initiation, median age was 70 years (range, 22-93), 13% had double-hit LBCL, 69% had an international prognostic index score of ≥3, median prior li</a:t>
            </a:r>
          </a:p>
          <a:p>
            <a:pPr>
              <a:lnSpc>
                <a:spcPct val="103000"/>
              </a:lnSpc>
              <a:spcAft>
                <a:spcPts val="300"/>
              </a:spcAft>
              <a:defRPr sz="580">
                <a:solidFill>
                  <a:srgbClr val="21242A"/>
                </a:solidFill>
                <a:latin typeface="Microsoft YaHei"/>
              </a:defRPr>
            </a:pPr>
            <a:r>
              <a:t>nes of therapy (LOT) was 3 (range, 1-9), and median ALC was 0.6×10³/µL (IQR, 0.3-1.0; range, 0-39.1×10³/µL).</a:t>
            </a:r>
          </a:p>
          <a:p>
            <a:pPr>
              <a:lnSpc>
                <a:spcPct val="103000"/>
              </a:lnSpc>
              <a:spcAft>
                <a:spcPts val="300"/>
              </a:spcAft>
              <a:defRPr sz="580">
                <a:solidFill>
                  <a:srgbClr val="21242A"/>
                </a:solidFill>
                <a:latin typeface="Microsoft YaHei"/>
              </a:defRPr>
            </a:pPr>
            <a:r>
              <a:t>Any-grade CRS and ICANS occurred in 112 (36%) and 37 (12%) of patients, respectively, with grade ≥3 occurring in 13 (4%) and 6 (2%).</a:t>
            </a:r>
          </a:p>
          <a:p>
            <a:pPr>
              <a:lnSpc>
                <a:spcPct val="103000"/>
              </a:lnSpc>
              <a:spcAft>
                <a:spcPts val="300"/>
              </a:spcAft>
              <a:defRPr sz="580">
                <a:solidFill>
                  <a:srgbClr val="21242A"/>
                </a:solidFill>
                <a:latin typeface="Microsoft YaHei"/>
              </a:defRPr>
            </a:pPr>
            <a:r>
              <a:t>Overall response rates (ORR) and complete response rates (CR) were 51% and 34%, respectively.</a:t>
            </a:r>
          </a:p>
          <a:p>
            <a:pPr>
              <a:lnSpc>
                <a:spcPct val="103000"/>
              </a:lnSpc>
              <a:spcAft>
                <a:spcPts val="300"/>
              </a:spcAft>
              <a:defRPr sz="580">
                <a:solidFill>
                  <a:srgbClr val="21242A"/>
                </a:solidFill>
                <a:latin typeface="Microsoft YaHei"/>
              </a:defRPr>
            </a:pPr>
            <a:r>
              <a:t>After a median follow-up of 12.1 months, median PFS was 3.9 months. The optimal ALC threshold in the training dataset was 0.25×10³/µL.</a:t>
            </a:r>
          </a:p>
          <a:p>
            <a:pPr>
              <a:lnSpc>
                <a:spcPct val="103000"/>
              </a:lnSpc>
              <a:spcAft>
                <a:spcPts val="300"/>
              </a:spcAft>
              <a:defRPr sz="580">
                <a:solidFill>
                  <a:srgbClr val="21242A"/>
                </a:solidFill>
                <a:latin typeface="Microsoft YaHei"/>
              </a:defRPr>
            </a:pPr>
            <a:r>
              <a:t>In the overall cohort, 260 patients (82%) had high ALC. Compared to the low pre-treatment ALC (</a:t>
            </a:r>
          </a:p>
          <a:p>
            <a:pPr>
              <a:lnSpc>
                <a:spcPct val="103000"/>
              </a:lnSpc>
              <a:spcAft>
                <a:spcPts val="300"/>
              </a:spcAft>
              <a:defRPr sz="580">
                <a:solidFill>
                  <a:srgbClr val="21242A"/>
                </a:solidFill>
                <a:latin typeface="Microsoft YaHei"/>
              </a:defRPr>
            </a:pPr>
            <a:r>
              <a:t>Conclusion: An optimal ALC threshold of 0.25×10³/µL could identify patients with R/R LBCL who may experience deeper responses and longer PFS with BsAb.</a:t>
            </a:r>
          </a:p>
          <a:p>
            <a:pPr>
              <a:lnSpc>
                <a:spcPct val="103000"/>
              </a:lnSpc>
              <a:spcAft>
                <a:spcPts val="300"/>
              </a:spcAft>
              <a:defRPr sz="580">
                <a:solidFill>
                  <a:srgbClr val="21242A"/>
                </a:solidFill>
                <a:latin typeface="Microsoft YaHei"/>
              </a:defRPr>
            </a:pPr>
            <a:r>
              <a:t>Biological analysis, aimed at investigating clinically relevant T-cell subgroups, and prospective validation of these findings are warranted.</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摘要号：PS2087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固定持续时间epcoritamab单一疗法诱导老年新诊断大b细胞淋巴瘤及其合并症患者的高反应率和mrd阴性率：epco...</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fixed-duration epcoritamab monotherapy induces high response and mrd-negativi...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ORR: 73%</a:t>
            </a:r>
          </a:p>
          <a:p>
            <a:pPr>
              <a:lnSpc>
                <a:spcPct val="103000"/>
              </a:lnSpc>
              <a:spcAft>
                <a:spcPts val="300"/>
              </a:spcAft>
              <a:defRPr sz="800">
                <a:solidFill>
                  <a:srgbClr val="21242A"/>
                </a:solidFill>
                <a:latin typeface="Microsoft YaHei"/>
              </a:defRPr>
            </a:pPr>
            <a:r>
              <a:t>CR: 63%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登记号：NCT05660967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固定持续时间epcoritamab单一疗法诱导老年新诊断大b细胞淋巴瘤及其合并症患者的高反应率和mrd阴性率：epco...</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fixed-duration epcoritamab monotherapy induces high response and mrd-negativi...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 subset of newly diagnosed (1L) patients with LBCL are ineligible for curative chemotherapy due to age or comorbidities.</a:t>
            </a:r>
          </a:p>
          <a:p>
            <a:pPr>
              <a:lnSpc>
                <a:spcPct val="103000"/>
              </a:lnSpc>
              <a:spcAft>
                <a:spcPts val="300"/>
              </a:spcAft>
              <a:defRPr sz="570">
                <a:solidFill>
                  <a:srgbClr val="21242A"/>
                </a:solidFill>
                <a:latin typeface="Microsoft YaHei"/>
              </a:defRPr>
            </a:pPr>
            <a:r>
              <a:t>EPCORE ® DLBCL-3 (NCT05660967) is a phase 2 trial evaluating the efficacy and safety of fixed-duration epcoritamab (epcor), a CD3×CD20 bispecific antibody, in e</a:t>
            </a:r>
          </a:p>
          <a:p>
            <a:pPr>
              <a:lnSpc>
                <a:spcPct val="103000"/>
              </a:lnSpc>
              <a:spcAft>
                <a:spcPts val="300"/>
              </a:spcAft>
              <a:defRPr sz="570">
                <a:solidFill>
                  <a:srgbClr val="21242A"/>
                </a:solidFill>
                <a:latin typeface="Microsoft YaHei"/>
              </a:defRPr>
            </a:pPr>
            <a:r>
              <a:t>lderly patients with 1L LBCL and comorbidities.</a:t>
            </a:r>
          </a:p>
          <a:p>
            <a:pPr>
              <a:lnSpc>
                <a:spcPct val="103000"/>
              </a:lnSpc>
              <a:spcAft>
                <a:spcPts val="300"/>
              </a:spcAft>
              <a:defRPr sz="570">
                <a:solidFill>
                  <a:srgbClr val="21242A"/>
                </a:solidFill>
                <a:latin typeface="Microsoft YaHei"/>
              </a:defRPr>
            </a:pPr>
            <a:r>
              <a:t>Aims: To report efficacy and safety of fixed-duration epcor monotherapy after 22 months of follow-up in EPCORE DLBCL-3.</a:t>
            </a:r>
          </a:p>
          <a:p>
            <a:pPr>
              <a:lnSpc>
                <a:spcPct val="103000"/>
              </a:lnSpc>
              <a:spcAft>
                <a:spcPts val="300"/>
              </a:spcAft>
              <a:defRPr sz="570">
                <a:solidFill>
                  <a:srgbClr val="21242A"/>
                </a:solidFill>
                <a:latin typeface="Microsoft YaHei"/>
              </a:defRPr>
            </a:pPr>
            <a:r>
              <a:t>Methods: Patients with 1L CD20+ LBCL ineligible for anthracycline-based chemotherapy due to age ≥ 80 years or ≥ 75 years with comorbidities received SC epcor mo</a:t>
            </a:r>
          </a:p>
          <a:p>
            <a:pPr>
              <a:lnSpc>
                <a:spcPct val="103000"/>
              </a:lnSpc>
              <a:spcAft>
                <a:spcPts val="300"/>
              </a:spcAft>
              <a:defRPr sz="570">
                <a:solidFill>
                  <a:srgbClr val="21242A"/>
                </a:solidFill>
                <a:latin typeface="Microsoft YaHei"/>
              </a:defRPr>
            </a:pPr>
            <a:r>
              <a:t>notherapy: step-up dosing (0.16 mg on cycle 1 day 1 [C1D1]; 0.8 mg on C1D8) followed by 48 mg QW in C1–3 and Q4W in C4–12, for up to 1 year.</a:t>
            </a:r>
          </a:p>
          <a:p>
            <a:pPr>
              <a:lnSpc>
                <a:spcPct val="103000"/>
              </a:lnSpc>
              <a:spcAft>
                <a:spcPts val="300"/>
              </a:spcAft>
              <a:defRPr sz="570">
                <a:solidFill>
                  <a:srgbClr val="21242A"/>
                </a:solidFill>
                <a:latin typeface="Microsoft YaHei"/>
              </a:defRPr>
            </a:pPr>
            <a:r>
              <a:t>Primary endpoint was CR rate per investigator assessment (Lugano criteria).</a:t>
            </a:r>
          </a:p>
          <a:p>
            <a:pPr>
              <a:lnSpc>
                <a:spcPct val="103000"/>
              </a:lnSpc>
              <a:spcAft>
                <a:spcPts val="300"/>
              </a:spcAft>
              <a:defRPr sz="570">
                <a:solidFill>
                  <a:srgbClr val="21242A"/>
                </a:solidFill>
                <a:latin typeface="Microsoft YaHei"/>
              </a:defRPr>
            </a:pPr>
            <a:r>
              <a:t>MRD negativity (MRD-neg) was assessed in responders by circulating tumor DNA (cutoff,</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Fixed-duration epcor monotherapy showed robust efficacy, with early, deep, and durable responses in elderly patients with 1L LBCL and comorbidities.</a:t>
            </a:r>
          </a:p>
          <a:p>
            <a:pPr>
              <a:lnSpc>
                <a:spcPct val="103000"/>
              </a:lnSpc>
              <a:spcAft>
                <a:spcPts val="300"/>
              </a:spcAft>
              <a:defRPr sz="590">
                <a:solidFill>
                  <a:srgbClr val="21242A"/>
                </a:solidFill>
                <a:latin typeface="Microsoft YaHei"/>
              </a:defRPr>
            </a:pPr>
            <a:r>
              <a:t>Safety outcomes, including the occurrence of CRS and ICANS, were consistent with expected rates in this elderly population.</a:t>
            </a:r>
          </a:p>
          <a:p>
            <a:pPr>
              <a:lnSpc>
                <a:spcPct val="103000"/>
              </a:lnSpc>
              <a:spcAft>
                <a:spcPts val="300"/>
              </a:spcAft>
              <a:defRPr sz="590">
                <a:solidFill>
                  <a:srgbClr val="21242A"/>
                </a:solidFill>
                <a:latin typeface="Microsoft YaHei"/>
              </a:defRPr>
            </a:pPr>
            <a:r>
              <a:t>These findings suggest that epcor offers a single-agent, chemotherapy-free option for pts with 1L DLBCL who would be excluded from standard chemoimmunotherapy r</a:t>
            </a:r>
          </a:p>
          <a:p>
            <a:pPr>
              <a:lnSpc>
                <a:spcPct val="103000"/>
              </a:lnSpc>
              <a:spcAft>
                <a:spcPts val="300"/>
              </a:spcAft>
              <a:defRPr sz="590">
                <a:solidFill>
                  <a:srgbClr val="21242A"/>
                </a:solidFill>
                <a:latin typeface="Microsoft YaHei"/>
              </a:defRPr>
            </a:pPr>
            <a:r>
              <a:t>egimens due to age or comorbidities.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7498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74980">
                <a:tc>
                  <a:txBody>
                    <a:bodyPr wrap="square" lIns="36576" rIns="36576" tIns="18288" bIns="18288"/>
                    <a:lstStyle/>
                    <a:p>
                      <a:r>
                        <a:rPr sz="540" b="1">
                          <a:solidFill>
                            <a:srgbClr val="21242A"/>
                          </a:solidFill>
                          <a:latin typeface="Microsoft YaHei"/>
                        </a:rPr>
                        <a:t>ORR</a:t>
                      </a:r>
                    </a:p>
                  </a:txBody>
                  <a:tcPr>
                    <a:solidFill>
                      <a:srgbClr val="F6F8FB"/>
                    </a:solidFill>
                  </a:tcPr>
                </a:tc>
                <a:tc>
                  <a:txBody>
                    <a:bodyPr wrap="square" lIns="36576" rIns="36576" tIns="18288" bIns="18288"/>
                    <a:lstStyle/>
                    <a:p>
                      <a:r>
                        <a:rPr sz="540" b="0">
                          <a:solidFill>
                            <a:srgbClr val="21242A"/>
                          </a:solidFill>
                          <a:latin typeface="Microsoft YaHei"/>
                        </a:rPr>
                        <a:t>73%</a:t>
                      </a:r>
                    </a:p>
                  </a:txBody>
                  <a:tcPr>
                    <a:solidFill>
                      <a:srgbClr val="F6F8FB"/>
                    </a:solidFill>
                  </a:tcPr>
                </a:tc>
              </a:tr>
              <a:tr h="74980">
                <a:tc>
                  <a:txBody>
                    <a:bodyPr wrap="square" lIns="36576" rIns="36576" tIns="18288" bIns="18288"/>
                    <a:lstStyle/>
                    <a:p>
                      <a:r>
                        <a:rPr sz="540" b="1">
                          <a:solidFill>
                            <a:srgbClr val="21242A"/>
                          </a:solidFill>
                          <a:latin typeface="Microsoft YaHei"/>
                        </a:rPr>
                        <a:t>CR</a:t>
                      </a:r>
                    </a:p>
                  </a:txBody>
                  <a:tcPr>
                    <a:solidFill>
                      <a:srgbClr val="FFFFFF"/>
                    </a:solidFill>
                  </a:tcPr>
                </a:tc>
                <a:tc>
                  <a:txBody>
                    <a:bodyPr wrap="square" lIns="36576" rIns="36576" tIns="18288" bIns="18288"/>
                    <a:lstStyle/>
                    <a:p>
                      <a:r>
                        <a:rPr sz="540" b="0">
                          <a:solidFill>
                            <a:srgbClr val="21242A"/>
                          </a:solidFill>
                          <a:latin typeface="Microsoft YaHei"/>
                        </a:rPr>
                        <a:t>63%</a:t>
                      </a:r>
                    </a:p>
                  </a:txBody>
                  <a:tcPr>
                    <a:solidFill>
                      <a:srgbClr val="FFFFFF"/>
                    </a:solidFill>
                  </a:tcPr>
                </a:tc>
              </a:tr>
              <a:tr h="74980">
                <a:tc>
                  <a:txBody>
                    <a:bodyPr wrap="square" lIns="36576" rIns="36576" tIns="18288" bIns="18288"/>
                    <a:lstStyle/>
                    <a:p>
                      <a:r>
                        <a:rPr sz="540" b="1">
                          <a:solidFill>
                            <a:srgbClr val="21242A"/>
                          </a:solidFill>
                          <a:latin typeface="Microsoft YaHei"/>
                        </a:rPr>
                        <a:t>中位至缓解时间</a:t>
                      </a:r>
                    </a:p>
                  </a:txBody>
                  <a:tcPr>
                    <a:solidFill>
                      <a:srgbClr val="F6F8FB"/>
                    </a:solidFill>
                  </a:tcPr>
                </a:tc>
                <a:tc>
                  <a:txBody>
                    <a:bodyPr wrap="square" lIns="36576" rIns="36576" tIns="18288" bIns="18288"/>
                    <a:lstStyle/>
                    <a:p>
                      <a:r>
                        <a:rPr sz="540" b="0">
                          <a:solidFill>
                            <a:srgbClr val="21242A"/>
                          </a:solidFill>
                          <a:latin typeface="Microsoft YaHei"/>
                        </a:rPr>
                        <a:t>1.5个月</a:t>
                      </a:r>
                    </a:p>
                  </a:txBody>
                  <a:tcPr>
                    <a:solidFill>
                      <a:srgbClr val="F6F8FB"/>
                    </a:solidFill>
                  </a:tcPr>
                </a:tc>
              </a:tr>
              <a:tr h="74980">
                <a:tc>
                  <a:txBody>
                    <a:bodyPr wrap="square" lIns="36576" rIns="36576" tIns="18288" bIns="18288"/>
                    <a:lstStyle/>
                    <a:p>
                      <a:r>
                        <a:rPr sz="540" b="1">
                          <a:solidFill>
                            <a:srgbClr val="21242A"/>
                          </a:solidFill>
                          <a:latin typeface="Microsoft YaHei"/>
                        </a:rPr>
                        <a:t>中位至CR时间</a:t>
                      </a:r>
                    </a:p>
                  </a:txBody>
                  <a:tcPr>
                    <a:solidFill>
                      <a:srgbClr val="FFFFFF"/>
                    </a:solidFill>
                  </a:tcPr>
                </a:tc>
                <a:tc>
                  <a:txBody>
                    <a:bodyPr wrap="square" lIns="36576" rIns="36576" tIns="18288" bIns="18288"/>
                    <a:lstStyle/>
                    <a:p>
                      <a:r>
                        <a:rPr sz="540" b="0">
                          <a:solidFill>
                            <a:srgbClr val="21242A"/>
                          </a:solidFill>
                          <a:latin typeface="Microsoft YaHei"/>
                        </a:rPr>
                        <a:t>2.2个月</a:t>
                      </a:r>
                    </a:p>
                  </a:txBody>
                  <a:tcPr>
                    <a:solidFill>
                      <a:srgbClr val="FFFFFF"/>
                    </a:solidFill>
                  </a:tcPr>
                </a:tc>
              </a:tr>
              <a:tr h="74980">
                <a:tc>
                  <a:txBody>
                    <a:bodyPr wrap="square" lIns="36576" rIns="36576" tIns="18288" bIns="18288"/>
                    <a:lstStyle/>
                    <a:p>
                      <a:r>
                        <a:rPr sz="540" b="1">
                          <a:solidFill>
                            <a:srgbClr val="21242A"/>
                          </a:solidFill>
                          <a:latin typeface="Microsoft YaHei"/>
                        </a:rPr>
                        <a:t>中位DOR</a:t>
                      </a:r>
                    </a:p>
                  </a:txBody>
                  <a:tcPr>
                    <a:solidFill>
                      <a:srgbClr val="F6F8FB"/>
                    </a:solidFill>
                  </a:tcPr>
                </a:tc>
                <a:tc>
                  <a:txBody>
                    <a:bodyPr wrap="square" lIns="36576" rIns="36576" tIns="18288" bIns="18288"/>
                    <a:lstStyle/>
                    <a:p>
                      <a:r>
                        <a:rPr sz="540" b="0">
                          <a:solidFill>
                            <a:srgbClr val="21242A"/>
                          </a:solidFill>
                          <a:latin typeface="Microsoft YaHei"/>
                        </a:rPr>
                        <a:t>未达到</a:t>
                      </a:r>
                    </a:p>
                  </a:txBody>
                  <a:tcPr>
                    <a:solidFill>
                      <a:srgbClr val="F6F8FB"/>
                    </a:solidFill>
                  </a:tcPr>
                </a:tc>
              </a:tr>
              <a:tr h="74980">
                <a:tc>
                  <a:txBody>
                    <a:bodyPr wrap="square" lIns="36576" rIns="36576" tIns="18288" bIns="18288"/>
                    <a:lstStyle/>
                    <a:p>
                      <a:r>
                        <a:rPr sz="540" b="1">
                          <a:solidFill>
                            <a:srgbClr val="21242A"/>
                          </a:solidFill>
                          <a:latin typeface="Microsoft YaHei"/>
                        </a:rPr>
                        <a:t>中位DOCR</a:t>
                      </a:r>
                    </a:p>
                  </a:txBody>
                  <a:tcPr>
                    <a:solidFill>
                      <a:srgbClr val="FFFFFF"/>
                    </a:solidFill>
                  </a:tcPr>
                </a:tc>
                <a:tc>
                  <a:txBody>
                    <a:bodyPr wrap="square" lIns="36576" rIns="36576" tIns="18288" bIns="18288"/>
                    <a:lstStyle/>
                    <a:p>
                      <a:r>
                        <a:rPr sz="540" b="0">
                          <a:solidFill>
                            <a:srgbClr val="21242A"/>
                          </a:solidFill>
                          <a:latin typeface="Microsoft YaHei"/>
                        </a:rPr>
                        <a:t>未达到</a:t>
                      </a:r>
                    </a:p>
                  </a:txBody>
                  <a:tcPr>
                    <a:solidFill>
                      <a:srgbClr val="FFFFFF"/>
                    </a:solidFill>
                  </a:tcPr>
                </a:tc>
              </a:tr>
              <a:tr h="74980">
                <a:tc>
                  <a:txBody>
                    <a:bodyPr wrap="square" lIns="36576" rIns="36576" tIns="18288" bIns="18288"/>
                    <a:lstStyle/>
                    <a:p>
                      <a:r>
                        <a:rPr sz="540" b="1">
                          <a:solidFill>
                            <a:srgbClr val="21242A"/>
                          </a:solidFill>
                          <a:latin typeface="Microsoft YaHei"/>
                        </a:rPr>
                        <a:t>12个月缓解持续率</a:t>
                      </a:r>
                    </a:p>
                  </a:txBody>
                  <a:tcPr>
                    <a:solidFill>
                      <a:srgbClr val="F6F8FB"/>
                    </a:solidFill>
                  </a:tcPr>
                </a:tc>
                <a:tc>
                  <a:txBody>
                    <a:bodyPr wrap="square" lIns="36576" rIns="36576" tIns="18288" bIns="18288"/>
                    <a:lstStyle/>
                    <a:p>
                      <a:r>
                        <a:rPr sz="540" b="0">
                          <a:solidFill>
                            <a:srgbClr val="21242A"/>
                          </a:solidFill>
                          <a:latin typeface="Microsoft YaHei"/>
                        </a:rPr>
                        <a:t>67%</a:t>
                      </a:r>
                    </a:p>
                  </a:txBody>
                  <a:tcPr>
                    <a:solidFill>
                      <a:srgbClr val="F6F8FB"/>
                    </a:solidFill>
                  </a:tcPr>
                </a:tc>
              </a:tr>
              <a:tr h="74980">
                <a:tc>
                  <a:txBody>
                    <a:bodyPr wrap="square" lIns="36576" rIns="36576" tIns="18288" bIns="18288"/>
                    <a:lstStyle/>
                    <a:p>
                      <a:r>
                        <a:rPr sz="540" b="1">
                          <a:solidFill>
                            <a:srgbClr val="21242A"/>
                          </a:solidFill>
                          <a:latin typeface="Microsoft YaHei"/>
                        </a:rPr>
                        <a:t>12个月CR持续率</a:t>
                      </a:r>
                    </a:p>
                  </a:txBody>
                  <a:tcPr>
                    <a:solidFill>
                      <a:srgbClr val="FFFFFF"/>
                    </a:solidFill>
                  </a:tcPr>
                </a:tc>
                <a:tc>
                  <a:txBody>
                    <a:bodyPr wrap="square" lIns="36576" rIns="36576" tIns="18288" bIns="18288"/>
                    <a:lstStyle/>
                    <a:p>
                      <a:r>
                        <a:rPr sz="540" b="0">
                          <a:solidFill>
                            <a:srgbClr val="21242A"/>
                          </a:solidFill>
                          <a:latin typeface="Microsoft YaHei"/>
                        </a:rPr>
                        <a:t>73%</a:t>
                      </a:r>
                    </a:p>
                  </a:txBody>
                  <a:tcPr>
                    <a:solidFill>
                      <a:srgbClr val="FFFFFF"/>
                    </a:solidFill>
                  </a:tcPr>
                </a:tc>
              </a:tr>
              <a:tr h="74980">
                <a:tc>
                  <a:txBody>
                    <a:bodyPr wrap="square" lIns="36576" rIns="36576" tIns="18288" bIns="18288"/>
                    <a:lstStyle/>
                    <a:p>
                      <a:r>
                        <a:rPr sz="540" b="1">
                          <a:solidFill>
                            <a:srgbClr val="21242A"/>
                          </a:solidFill>
                          <a:latin typeface="Microsoft YaHei"/>
                        </a:rPr>
                        <a:t>中位PFS</a:t>
                      </a:r>
                    </a:p>
                  </a:txBody>
                  <a:tcPr>
                    <a:solidFill>
                      <a:srgbClr val="F6F8FB"/>
                    </a:solidFill>
                  </a:tcPr>
                </a:tc>
                <a:tc>
                  <a:txBody>
                    <a:bodyPr wrap="square" lIns="36576" rIns="36576" tIns="18288" bIns="18288"/>
                    <a:lstStyle/>
                    <a:p>
                      <a:r>
                        <a:rPr sz="540" b="0">
                          <a:solidFill>
                            <a:srgbClr val="21242A"/>
                          </a:solidFill>
                          <a:latin typeface="Microsoft YaHei"/>
                        </a:rPr>
                        <a:t>13.0个月</a:t>
                      </a:r>
                    </a:p>
                  </a:txBody>
                  <a:tcPr>
                    <a:solidFill>
                      <a:srgbClr val="F6F8FB"/>
                    </a:solidFill>
                  </a:tcPr>
                </a:tc>
              </a:tr>
              <a:tr h="74980">
                <a:tc>
                  <a:txBody>
                    <a:bodyPr wrap="square" lIns="36576" rIns="36576" tIns="18288" bIns="18288"/>
                    <a:lstStyle/>
                    <a:p>
                      <a:r>
                        <a:rPr sz="540" b="1">
                          <a:solidFill>
                            <a:srgbClr val="21242A"/>
                          </a:solidFill>
                          <a:latin typeface="Microsoft YaHei"/>
                        </a:rPr>
                        <a:t>中位OS</a:t>
                      </a:r>
                    </a:p>
                  </a:txBody>
                  <a:tcPr>
                    <a:solidFill>
                      <a:srgbClr val="FFFFFF"/>
                    </a:solidFill>
                  </a:tcPr>
                </a:tc>
                <a:tc>
                  <a:txBody>
                    <a:bodyPr wrap="square" lIns="36576" rIns="36576" tIns="18288" bIns="18288"/>
                    <a:lstStyle/>
                    <a:p>
                      <a:r>
                        <a:rPr sz="540" b="0">
                          <a:solidFill>
                            <a:srgbClr val="21242A"/>
                          </a:solidFill>
                          <a:latin typeface="Microsoft YaHei"/>
                        </a:rPr>
                        <a:t>未达到</a:t>
                      </a:r>
                    </a:p>
                  </a:txBody>
                  <a:tcPr>
                    <a:solidFill>
                      <a:srgbClr val="FFFFFF"/>
                    </a:solidFill>
                  </a:tcPr>
                </a:tc>
              </a:tr>
              <a:tr h="74980">
                <a:tc>
                  <a:txBody>
                    <a:bodyPr wrap="square" lIns="36576" rIns="36576" tIns="18288" bIns="18288"/>
                    <a:lstStyle/>
                    <a:p>
                      <a:r>
                        <a:rPr sz="540" b="1">
                          <a:solidFill>
                            <a:srgbClr val="21242A"/>
                          </a:solidFill>
                          <a:latin typeface="Microsoft YaHei"/>
                        </a:rPr>
                        <a:t>12个月无进展生存率</a:t>
                      </a:r>
                    </a:p>
                  </a:txBody>
                  <a:tcPr>
                    <a:solidFill>
                      <a:srgbClr val="F6F8FB"/>
                    </a:solidFill>
                  </a:tcPr>
                </a:tc>
                <a:tc>
                  <a:txBody>
                    <a:bodyPr wrap="square" lIns="36576" rIns="36576" tIns="18288" bIns="18288"/>
                    <a:lstStyle/>
                    <a:p>
                      <a:r>
                        <a:rPr sz="540" b="0">
                          <a:solidFill>
                            <a:srgbClr val="21242A"/>
                          </a:solidFill>
                          <a:latin typeface="Microsoft YaHei"/>
                        </a:rPr>
                        <a:t>50%</a:t>
                      </a:r>
                    </a:p>
                  </a:txBody>
                  <a:tcPr>
                    <a:solidFill>
                      <a:srgbClr val="F6F8FB"/>
                    </a:solidFill>
                  </a:tcPr>
                </a:tc>
              </a:tr>
              <a:tr h="74980">
                <a:tc>
                  <a:txBody>
                    <a:bodyPr wrap="square" lIns="36576" rIns="36576" tIns="18288" bIns="18288"/>
                    <a:lstStyle/>
                    <a:p>
                      <a:r>
                        <a:rPr sz="540" b="1">
                          <a:solidFill>
                            <a:srgbClr val="21242A"/>
                          </a:solidFill>
                          <a:latin typeface="Microsoft YaHei"/>
                        </a:rPr>
                        <a:t>12个月总生存率</a:t>
                      </a:r>
                    </a:p>
                  </a:txBody>
                  <a:tcPr>
                    <a:solidFill>
                      <a:srgbClr val="FFFFFF"/>
                    </a:solidFill>
                  </a:tcPr>
                </a:tc>
                <a:tc>
                  <a:txBody>
                    <a:bodyPr wrap="square" lIns="36576" rIns="36576" tIns="18288" bIns="18288"/>
                    <a:lstStyle/>
                    <a:p>
                      <a:r>
                        <a:rPr sz="540" b="0">
                          <a:solidFill>
                            <a:srgbClr val="21242A"/>
                          </a:solidFill>
                          <a:latin typeface="Microsoft YaHei"/>
                        </a:rPr>
                        <a:t>66%</a:t>
                      </a:r>
                    </a:p>
                  </a:txBody>
                  <a:tcPr>
                    <a:solidFill>
                      <a:srgbClr val="FFFFFF"/>
                    </a:solidFill>
                  </a:tcPr>
                </a:tc>
              </a:tr>
              <a:tr h="74980">
                <a:tc>
                  <a:txBody>
                    <a:bodyPr wrap="square" lIns="36576" rIns="36576" tIns="18288" bIns="18288"/>
                    <a:lstStyle/>
                    <a:p>
                      <a:r>
                        <a:rPr sz="540" b="1">
                          <a:solidFill>
                            <a:srgbClr val="21242A"/>
                          </a:solidFill>
                          <a:latin typeface="Microsoft YaHei"/>
                        </a:rPr>
                        <a:t>MRD阴性率</a:t>
                      </a:r>
                    </a:p>
                  </a:txBody>
                  <a:tcPr>
                    <a:solidFill>
                      <a:srgbClr val="F6F8FB"/>
                    </a:solidFill>
                  </a:tcPr>
                </a:tc>
                <a:tc>
                  <a:txBody>
                    <a:bodyPr wrap="square" lIns="36576" rIns="36576" tIns="18288" bIns="18288"/>
                    <a:lstStyle/>
                    <a:p>
                      <a:r>
                        <a:rPr sz="540" b="0">
                          <a:solidFill>
                            <a:srgbClr val="21242A"/>
                          </a:solidFill>
                          <a:latin typeface="Microsoft YaHei"/>
                        </a:rPr>
                        <a:t>92% (33/36)</a:t>
                      </a:r>
                    </a:p>
                  </a:txBody>
                  <a:tcPr>
                    <a:solidFill>
                      <a:srgbClr val="F6F8FB"/>
                    </a:solidFill>
                  </a:tcPr>
                </a:tc>
              </a:tr>
              <a:tr h="74980">
                <a:tc>
                  <a:txBody>
                    <a:bodyPr wrap="square" lIns="36576" rIns="36576" tIns="18288" bIns="18288"/>
                    <a:lstStyle/>
                    <a:p>
                      <a:r>
                        <a:rPr sz="540" b="1">
                          <a:solidFill>
                            <a:srgbClr val="21242A"/>
                          </a:solidFill>
                          <a:latin typeface="Microsoft YaHei"/>
                        </a:rPr>
                        <a:t>TEAE发生率</a:t>
                      </a:r>
                    </a:p>
                  </a:txBody>
                  <a:tcPr>
                    <a:solidFill>
                      <a:srgbClr val="FFFFFF"/>
                    </a:solidFill>
                  </a:tcPr>
                </a:tc>
                <a:tc>
                  <a:txBody>
                    <a:bodyPr wrap="square" lIns="36576" rIns="36576" tIns="18288" bIns="18288"/>
                    <a:lstStyle/>
                    <a:p>
                      <a:r>
                        <a:rPr sz="540" b="0">
                          <a:solidFill>
                            <a:srgbClr val="21242A"/>
                          </a:solidFill>
                          <a:latin typeface="Microsoft YaHei"/>
                        </a:rPr>
                        <a:t>97%</a:t>
                      </a:r>
                    </a:p>
                  </a:txBody>
                  <a:tcPr>
                    <a:solidFill>
                      <a:srgbClr val="FFFFFF"/>
                    </a:solidFill>
                  </a:tcPr>
                </a:tc>
              </a:tr>
              <a:tr h="74980">
                <a:tc>
                  <a:txBody>
                    <a:bodyPr wrap="square" lIns="36576" rIns="36576" tIns="18288" bIns="18288"/>
                    <a:lstStyle/>
                    <a:p>
                      <a:r>
                        <a:rPr sz="540" b="1">
                          <a:solidFill>
                            <a:srgbClr val="21242A"/>
                          </a:solidFill>
                          <a:latin typeface="Microsoft YaHei"/>
                        </a:rPr>
                        <a:t>CRS发生率</a:t>
                      </a:r>
                    </a:p>
                  </a:txBody>
                  <a:tcPr>
                    <a:solidFill>
                      <a:srgbClr val="F6F8FB"/>
                    </a:solidFill>
                  </a:tcPr>
                </a:tc>
                <a:tc>
                  <a:txBody>
                    <a:bodyPr wrap="square" lIns="36576" rIns="36576" tIns="18288" bIns="18288"/>
                    <a:lstStyle/>
                    <a:p>
                      <a:r>
                        <a:rPr sz="540" b="0">
                          <a:solidFill>
                            <a:srgbClr val="21242A"/>
                          </a:solidFill>
                          <a:latin typeface="Microsoft YaHei"/>
                        </a:rPr>
                        <a:t>71%</a:t>
                      </a:r>
                    </a:p>
                  </a:txBody>
                  <a:tcPr>
                    <a:solidFill>
                      <a:srgbClr val="F6F8FB"/>
                    </a:solidFill>
                  </a:tcPr>
                </a:tc>
              </a:tr>
              <a:tr h="74980">
                <a:tc>
                  <a:txBody>
                    <a:bodyPr wrap="square" lIns="36576" rIns="36576" tIns="18288" bIns="18288"/>
                    <a:lstStyle/>
                    <a:p>
                      <a:r>
                        <a:rPr sz="540" b="1">
                          <a:solidFill>
                            <a:srgbClr val="21242A"/>
                          </a:solidFill>
                          <a:latin typeface="Microsoft YaHei"/>
                        </a:rPr>
                        <a:t>ICANS发生率</a:t>
                      </a:r>
                    </a:p>
                  </a:txBody>
                  <a:tcPr>
                    <a:solidFill>
                      <a:srgbClr val="FFFFFF"/>
                    </a:solidFill>
                  </a:tcPr>
                </a:tc>
                <a:tc>
                  <a:txBody>
                    <a:bodyPr wrap="square" lIns="36576" rIns="36576" tIns="18288" bIns="18288"/>
                    <a:lstStyle/>
                    <a:p>
                      <a:r>
                        <a:rPr sz="540" b="0">
                          <a:solidFill>
                            <a:srgbClr val="21242A"/>
                          </a:solidFill>
                          <a:latin typeface="Microsoft YaHei"/>
                        </a:rPr>
                        <a:t>18%</a:t>
                      </a:r>
                    </a:p>
                  </a:txBody>
                  <a:tcPr>
                    <a:solidFill>
                      <a:srgbClr val="FFFFFF"/>
                    </a:solidFill>
                  </a:tcPr>
                </a:tc>
              </a:tr>
              <a:tr h="74980">
                <a:tc>
                  <a:txBody>
                    <a:bodyPr wrap="square" lIns="36576" rIns="36576" tIns="18288" bIns="18288"/>
                    <a:lstStyle/>
                    <a:p>
                      <a:r>
                        <a:rPr sz="540" b="1">
                          <a:solidFill>
                            <a:srgbClr val="21242A"/>
                          </a:solidFill>
                          <a:latin typeface="Microsoft YaHei"/>
                        </a:rPr>
                        <a:t>中性粒细胞减少</a:t>
                      </a:r>
                    </a:p>
                  </a:txBody>
                  <a:tcPr>
                    <a:solidFill>
                      <a:srgbClr val="F6F8FB"/>
                    </a:solidFill>
                  </a:tcPr>
                </a:tc>
                <a:tc>
                  <a:txBody>
                    <a:bodyPr wrap="square" lIns="36576" rIns="36576" tIns="18288" bIns="18288"/>
                    <a:lstStyle/>
                    <a:p>
                      <a:r>
                        <a:rPr sz="540" b="0">
                          <a:solidFill>
                            <a:srgbClr val="21242A"/>
                          </a:solidFill>
                          <a:latin typeface="Microsoft YaHei"/>
                        </a:rPr>
                        <a:t>18%</a:t>
                      </a:r>
                    </a:p>
                  </a:txBody>
                  <a:tcPr>
                    <a:solidFill>
                      <a:srgbClr val="F6F8FB"/>
                    </a:solidFill>
                  </a:tcPr>
                </a:tc>
              </a:tr>
              <a:tr h="74980">
                <a:tc>
                  <a:txBody>
                    <a:bodyPr wrap="square" lIns="36576" rIns="36576" tIns="18288" bIns="18288"/>
                    <a:lstStyle/>
                    <a:p>
                      <a:r>
                        <a:rPr sz="540" b="1">
                          <a:solidFill>
                            <a:srgbClr val="21242A"/>
                          </a:solidFill>
                          <a:latin typeface="Microsoft YaHei"/>
                        </a:rPr>
                        <a:t>感染</a:t>
                      </a:r>
                    </a:p>
                  </a:txBody>
                  <a:tcPr>
                    <a:solidFill>
                      <a:srgbClr val="FFFFFF"/>
                    </a:solidFill>
                  </a:tcPr>
                </a:tc>
                <a:tc>
                  <a:txBody>
                    <a:bodyPr wrap="square" lIns="36576" rIns="36576" tIns="18288" bIns="18288"/>
                    <a:lstStyle/>
                    <a:p>
                      <a:r>
                        <a:rPr sz="540" b="0">
                          <a:solidFill>
                            <a:srgbClr val="21242A"/>
                          </a:solidFill>
                          <a:latin typeface="Microsoft YaHei"/>
                        </a:rPr>
                        <a:t>68%</a:t>
                      </a:r>
                    </a:p>
                  </a:txBody>
                  <a:tcPr>
                    <a:solidFill>
                      <a:srgbClr val="FFFFFF"/>
                    </a:solidFill>
                  </a:tcPr>
                </a:tc>
              </a:tr>
              <a:tr h="74996">
                <a:tc>
                  <a:txBody>
                    <a:bodyPr wrap="square" lIns="36576" rIns="36576" tIns="18288" bIns="18288"/>
                    <a:lstStyle/>
                    <a:p>
                      <a:r>
                        <a:rPr sz="540" b="1">
                          <a:solidFill>
                            <a:srgbClr val="21242A"/>
                          </a:solidFill>
                          <a:latin typeface="Microsoft YaHei"/>
                        </a:rPr>
                        <a:t>G5事件</a:t>
                      </a:r>
                    </a:p>
                  </a:txBody>
                  <a:tcPr>
                    <a:solidFill>
                      <a:srgbClr val="F6F8FB"/>
                    </a:solidFill>
                  </a:tcPr>
                </a:tc>
                <a:tc>
                  <a:txBody>
                    <a:bodyPr wrap="square" lIns="36576" rIns="36576" tIns="18288" bIns="18288"/>
                    <a:lstStyle/>
                    <a:p>
                      <a:r>
                        <a:rPr sz="540" b="0">
                          <a:solidFill>
                            <a:srgbClr val="21242A"/>
                          </a:solidFill>
                          <a:latin typeface="Microsoft YaHei"/>
                        </a:rPr>
                        <a:t>8例</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摘要号：PS2082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glofitamab联合polatuzumab vedotin治疗复发/难治性（r/r）大b细胞淋巴瘤（lbcl）的持...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remissions with glofitamab plus polatuzumab vedotin in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N=129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总缓解率（ORR）：79.1%（95%CI: 71.0-85.7）</a:t>
            </a:r>
          </a:p>
          <a:p>
            <a:pPr>
              <a:lnSpc>
                <a:spcPct val="103000"/>
              </a:lnSpc>
              <a:spcAft>
                <a:spcPts val="300"/>
              </a:spcAft>
              <a:defRPr sz="800">
                <a:solidFill>
                  <a:srgbClr val="21242A"/>
                </a:solidFill>
                <a:latin typeface="Microsoft YaHei"/>
              </a:defRPr>
            </a:pPr>
            <a:r>
              <a:t>完全缓解率（CR）：60.5%（95%CI: 51.5-69.0）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登记号：NCT03533283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glofitamab联合polatuzumab vedotin治疗复发/难治性（r/r）大b细胞淋巴瘤（lbcl）的持...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remissions with glofitamab plus polatuzumab vedotin in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Despite recent advances, R/R LBCL remains clinically challenging with poor outcomes, particularly in elderly patients, necessitating durable therape</a:t>
            </a:r>
          </a:p>
          <a:p>
            <a:pPr>
              <a:lnSpc>
                <a:spcPct val="103000"/>
              </a:lnSpc>
              <a:spcAft>
                <a:spcPts val="300"/>
              </a:spcAft>
              <a:defRPr sz="570">
                <a:solidFill>
                  <a:srgbClr val="21242A"/>
                </a:solidFill>
                <a:latin typeface="Microsoft YaHei"/>
              </a:defRPr>
            </a:pPr>
            <a:r>
              <a:t>utic options.</a:t>
            </a:r>
          </a:p>
          <a:p>
            <a:pPr>
              <a:lnSpc>
                <a:spcPct val="103000"/>
              </a:lnSpc>
              <a:spcAft>
                <a:spcPts val="300"/>
              </a:spcAft>
              <a:defRPr sz="570">
                <a:solidFill>
                  <a:srgbClr val="21242A"/>
                </a:solidFill>
                <a:latin typeface="Microsoft YaHei"/>
              </a:defRPr>
            </a:pPr>
            <a:r>
              <a:t>In an open-label, multicenter, Phase 1b/2 study (NCT03533283), glofitamab plus polatuzumab vedotin (Glofit-Pola; an investigational regimen) demonstrated high r</a:t>
            </a:r>
          </a:p>
          <a:p>
            <a:pPr>
              <a:lnSpc>
                <a:spcPct val="103000"/>
              </a:lnSpc>
              <a:spcAft>
                <a:spcPts val="300"/>
              </a:spcAft>
              <a:defRPr sz="570">
                <a:solidFill>
                  <a:srgbClr val="21242A"/>
                </a:solidFill>
                <a:latin typeface="Microsoft YaHei"/>
              </a:defRPr>
            </a:pPr>
            <a:r>
              <a:t>esponse rates with durable clinical benefit, and manageable safety in patients with R/R LBCL after ≥1 prior line of therapy (LOT).</a:t>
            </a:r>
          </a:p>
          <a:p>
            <a:pPr>
              <a:lnSpc>
                <a:spcPct val="103000"/>
              </a:lnSpc>
              <a:spcAft>
                <a:spcPts val="300"/>
              </a:spcAft>
              <a:defRPr sz="570">
                <a:solidFill>
                  <a:srgbClr val="21242A"/>
                </a:solidFill>
                <a:latin typeface="Microsoft YaHei"/>
              </a:defRPr>
            </a:pPr>
            <a:r>
              <a:t>Aims: Investigate Glofit-Pola efficacy in patients with R/R LBCL, stratified by age, including outcomes for those with HGBCL.</a:t>
            </a:r>
          </a:p>
          <a:p>
            <a:pPr>
              <a:lnSpc>
                <a:spcPct val="103000"/>
              </a:lnSpc>
              <a:spcAft>
                <a:spcPts val="300"/>
              </a:spcAft>
              <a:defRPr sz="570">
                <a:solidFill>
                  <a:srgbClr val="21242A"/>
                </a:solidFill>
                <a:latin typeface="Microsoft YaHei"/>
              </a:defRPr>
            </a:pPr>
            <a:r>
              <a:t>Methods: Eligible patients were aged ≥18 years (y) with R/R LBCL after ≥1 prior LOT. Methods have been previously described (Hutchings, et al. JCO 2025).</a:t>
            </a:r>
          </a:p>
          <a:p>
            <a:pPr>
              <a:lnSpc>
                <a:spcPct val="103000"/>
              </a:lnSpc>
              <a:spcAft>
                <a:spcPts val="300"/>
              </a:spcAft>
              <a:defRPr sz="570">
                <a:solidFill>
                  <a:srgbClr val="21242A"/>
                </a:solidFill>
                <a:latin typeface="Microsoft YaHei"/>
              </a:defRPr>
            </a:pPr>
            <a:r>
              <a:t>All patients provided informed consent.</a:t>
            </a:r>
          </a:p>
          <a:p>
            <a:pPr>
              <a:lnSpc>
                <a:spcPct val="103000"/>
              </a:lnSpc>
              <a:spcAft>
                <a:spcPts val="300"/>
              </a:spcAft>
              <a:defRPr sz="570">
                <a:solidFill>
                  <a:srgbClr val="21242A"/>
                </a:solidFill>
                <a:latin typeface="Microsoft YaHei"/>
              </a:defRPr>
            </a:pPr>
            <a:r>
              <a:t>Efficacy endpoints were independent review committee-assessed overall response, durability of response, and survival outcomes.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Fixed-duration Glofit-Pola in patients with R/R LBCL demonstrated high and durable response rates in the elderly population, including those with HGBCL.</a:t>
            </a:r>
          </a:p>
          <a:p>
            <a:pPr>
              <a:lnSpc>
                <a:spcPct val="103000"/>
              </a:lnSpc>
              <a:spcAft>
                <a:spcPts val="300"/>
              </a:spcAft>
              <a:defRPr sz="590">
                <a:solidFill>
                  <a:srgbClr val="21242A"/>
                </a:solidFill>
                <a:latin typeface="Microsoft YaHei"/>
              </a:defRPr>
            </a:pPr>
            <a:r>
              <a:t>Results are comparable with the overall population.</a:t>
            </a:r>
          </a:p>
          <a:p>
            <a:pPr>
              <a:lnSpc>
                <a:spcPct val="103000"/>
              </a:lnSpc>
              <a:spcAft>
                <a:spcPts val="300"/>
              </a:spcAft>
              <a:defRPr sz="590">
                <a:solidFill>
                  <a:srgbClr val="21242A"/>
                </a:solidFill>
                <a:latin typeface="Microsoft YaHei"/>
              </a:defRPr>
            </a:pPr>
            <a:r>
              <a:t>These findings support the potential of this drug combination as an effective treatment option in elderly patients with limited therapeutic alternatives.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37490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374904">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79.1%（95%CI: 71.0-85.7）</a:t>
                      </a:r>
                    </a:p>
                  </a:txBody>
                  <a:tcPr>
                    <a:solidFill>
                      <a:srgbClr val="F6F8FB"/>
                    </a:solidFill>
                  </a:tcPr>
                </a:tc>
              </a:tr>
              <a:tr h="374904">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60.5%（95%CI: 51.5-69.0）</a:t>
                      </a:r>
                    </a:p>
                  </a:txBody>
                  <a:tcPr>
                    <a:solidFill>
                      <a:srgbClr val="FFFFFF"/>
                    </a:solidFill>
                  </a:tcPr>
                </a:tc>
              </a:tr>
              <a:tr h="374904">
                <a:tc>
                  <a:txBody>
                    <a:bodyPr wrap="square" lIns="36576" rIns="36576" tIns="18288" bIns="18288"/>
                    <a:lstStyle/>
                    <a:p>
                      <a:r>
                        <a:rPr sz="540" b="1">
                          <a:solidFill>
                            <a:srgbClr val="21242A"/>
                          </a:solidFill>
                          <a:latin typeface="Microsoft YaHei"/>
                        </a:rPr>
                        <a:t>中位无进展生存期（mPFS）</a:t>
                      </a:r>
                    </a:p>
                  </a:txBody>
                  <a:tcPr>
                    <a:solidFill>
                      <a:srgbClr val="F6F8FB"/>
                    </a:solidFill>
                  </a:tcPr>
                </a:tc>
                <a:tc>
                  <a:txBody>
                    <a:bodyPr wrap="square" lIns="36576" rIns="36576" tIns="18288" bIns="18288"/>
                    <a:lstStyle/>
                    <a:p>
                      <a:r>
                        <a:rPr sz="540" b="0">
                          <a:solidFill>
                            <a:srgbClr val="21242A"/>
                          </a:solidFill>
                          <a:latin typeface="Microsoft YaHei"/>
                        </a:rPr>
                        <a:t>15.4个月（95%CI: 8.8-29.7）</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摘要号：PS2063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odronextamab治疗弥漫性大b细胞淋巴瘤（dlbcl）和滤泡性淋巴瘤（fl）患者与细胞因子释放综合征（crs）...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proteomic signatures associated with cytokine release syndrome (cr...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滤泡性淋巴瘤</a:t>
            </a:r>
          </a:p>
          <a:p>
            <a:pPr>
              <a:lnSpc>
                <a:spcPct val="103000"/>
              </a:lnSpc>
              <a:spcAft>
                <a:spcPts val="300"/>
              </a:spcAft>
              <a:defRPr sz="800">
                <a:solidFill>
                  <a:srgbClr val="21242A"/>
                </a:solidFill>
                <a:latin typeface="Microsoft YaHei"/>
              </a:defRPr>
            </a:pPr>
            <a:r>
              <a:t>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试验药/方案：奥德罗奈昔单抗</a:t>
            </a:r>
          </a:p>
          <a:p>
            <a:pPr>
              <a:lnSpc>
                <a:spcPct val="103000"/>
              </a:lnSpc>
              <a:spcAft>
                <a:spcPts val="300"/>
              </a:spcAft>
              <a:defRPr sz="800">
                <a:solidFill>
                  <a:srgbClr val="21242A"/>
                </a:solidFill>
                <a:latin typeface="Microsoft YaHei"/>
              </a:defRPr>
            </a:pPr>
            <a:r>
              <a:t>靶点：CD3，CD20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基线（类固醇预处理后、odronextamab治疗前）：DLBCL患者细胞增殖和代谢激活相关蛋白表达显著更高</a:t>
            </a:r>
          </a:p>
          <a:p>
            <a:pPr>
              <a:lnSpc>
                <a:spcPct val="103000"/>
              </a:lnSpc>
              <a:spcAft>
                <a:spcPts val="300"/>
              </a:spcAft>
              <a:defRPr sz="800">
                <a:solidFill>
                  <a:srgbClr val="21242A"/>
                </a:solidFill>
                <a:latin typeface="Microsoft YaHei"/>
              </a:defRPr>
            </a:pPr>
            <a:r>
              <a:t>FL患者血清CD21、ADGRG2、CD1C表达更高。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人数：78</a:t>
            </a:r>
          </a:p>
          <a:p>
            <a:pPr>
              <a:lnSpc>
                <a:spcPct val="103000"/>
              </a:lnSpc>
              <a:spcAft>
                <a:spcPts val="300"/>
              </a:spcAft>
              <a:defRPr sz="810">
                <a:solidFill>
                  <a:srgbClr val="21242A"/>
                </a:solidFill>
                <a:latin typeface="Microsoft YaHei"/>
              </a:defRPr>
            </a:pPr>
            <a:r>
              <a:t>适应症：滤泡性淋巴瘤、弥漫性大B细胞淋巴瘤、B细胞非霍奇金淋巴瘤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登记号：NCT03888105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试验药/方案：奥德罗奈昔单抗</a:t>
            </a:r>
          </a:p>
          <a:p>
            <a:pPr>
              <a:lnSpc>
                <a:spcPct val="103000"/>
              </a:lnSpc>
              <a:spcAft>
                <a:spcPts val="300"/>
              </a:spcAft>
              <a:defRPr sz="810">
                <a:solidFill>
                  <a:srgbClr val="21242A"/>
                </a:solidFill>
                <a:latin typeface="Microsoft YaHei"/>
              </a:defRPr>
            </a:pPr>
            <a:r>
              <a:t>靶点：CD3、CD20</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odronextamab治疗弥漫性大b细胞淋巴瘤（dlbcl）和滤泡性淋巴瘤（fl）患者与细胞因子释放综合征（crs）...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proteomic signatures associated with cytokine release syndrome (cr...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CRS is a common adverse event associated with bispecific antibody (bsAb) therapy.</a:t>
            </a:r>
          </a:p>
          <a:p>
            <a:pPr>
              <a:lnSpc>
                <a:spcPct val="103000"/>
              </a:lnSpc>
              <a:spcAft>
                <a:spcPts val="300"/>
              </a:spcAft>
              <a:defRPr sz="570">
                <a:solidFill>
                  <a:srgbClr val="21242A"/>
                </a:solidFill>
                <a:latin typeface="Microsoft YaHei"/>
              </a:defRPr>
            </a:pPr>
            <a:r>
              <a:t>The step-up regimen for odronextamab (Odro; CD20×CD3 bsAb), was modified during the ELM‑2 study (NCT03888105) to include steroid pre-treatment (Tx) and an inter</a:t>
            </a:r>
          </a:p>
          <a:p>
            <a:pPr>
              <a:lnSpc>
                <a:spcPct val="103000"/>
              </a:lnSpc>
              <a:spcAft>
                <a:spcPts val="300"/>
              </a:spcAft>
              <a:defRPr sz="570">
                <a:solidFill>
                  <a:srgbClr val="21242A"/>
                </a:solidFill>
                <a:latin typeface="Microsoft YaHei"/>
              </a:defRPr>
            </a:pPr>
            <a:r>
              <a:t>mediate dose (0.7/4/20 mg), helping to mitigate risk of Grade (Gr)≥2 CRS (Kim et al.</a:t>
            </a:r>
          </a:p>
          <a:p>
            <a:pPr>
              <a:lnSpc>
                <a:spcPct val="103000"/>
              </a:lnSpc>
              <a:spcAft>
                <a:spcPts val="300"/>
              </a:spcAft>
              <a:defRPr sz="570">
                <a:solidFill>
                  <a:srgbClr val="21242A"/>
                </a:solidFill>
                <a:latin typeface="Microsoft YaHei"/>
              </a:defRPr>
            </a:pPr>
            <a:r>
              <a:t>Blood 2022).</a:t>
            </a:r>
          </a:p>
          <a:p>
            <a:pPr>
              <a:lnSpc>
                <a:spcPct val="103000"/>
              </a:lnSpc>
              <a:spcAft>
                <a:spcPts val="300"/>
              </a:spcAft>
              <a:defRPr sz="570">
                <a:solidFill>
                  <a:srgbClr val="21242A"/>
                </a:solidFill>
                <a:latin typeface="Microsoft YaHei"/>
              </a:defRPr>
            </a:pPr>
            <a:r>
              <a:t>Aims: To explore serum analytes in pts with relapsed/refractory DLBCL or FL treated with Odro in ELM-2, to better characterize pathways/proteomic signatures ass</a:t>
            </a:r>
          </a:p>
          <a:p>
            <a:pPr>
              <a:lnSpc>
                <a:spcPct val="103000"/>
              </a:lnSpc>
              <a:spcAft>
                <a:spcPts val="300"/>
              </a:spcAft>
              <a:defRPr sz="570">
                <a:solidFill>
                  <a:srgbClr val="21242A"/>
                </a:solidFill>
                <a:latin typeface="Microsoft YaHei"/>
              </a:defRPr>
            </a:pPr>
            <a:r>
              <a:t>ociated with CRS, and to elucidate the biological mechanisms driving CRS.</a:t>
            </a:r>
          </a:p>
          <a:p>
            <a:pPr>
              <a:lnSpc>
                <a:spcPct val="103000"/>
              </a:lnSpc>
              <a:spcAft>
                <a:spcPts val="300"/>
              </a:spcAft>
              <a:defRPr sz="570">
                <a:solidFill>
                  <a:srgbClr val="21242A"/>
                </a:solidFill>
                <a:latin typeface="Microsoft YaHei"/>
              </a:defRPr>
            </a:pPr>
            <a:r>
              <a:t>Methods: A high-throughput proteomics approach (Olink Explore HT assay) was used to analyze serum proteins at baseline (BL) and on Tx.</a:t>
            </a:r>
          </a:p>
          <a:p>
            <a:pPr>
              <a:lnSpc>
                <a:spcPct val="103000"/>
              </a:lnSpc>
              <a:spcAft>
                <a:spcPts val="300"/>
              </a:spcAft>
              <a:defRPr sz="570">
                <a:solidFill>
                  <a:srgbClr val="21242A"/>
                </a:solidFill>
                <a:latin typeface="Microsoft YaHei"/>
              </a:defRPr>
            </a:pPr>
            <a:r>
              <a:t>CRS severity (Gr≥2 vs Gr1/no CRS) was analyzed by disease type, step-up regimen, and CAR‑HEMATOTOX score (CAR-HT low [0–1] vs CAR‑HT high [≥2]; DLBCL only).</a:t>
            </a:r>
          </a:p>
          <a:p>
            <a:pPr>
              <a:lnSpc>
                <a:spcPct val="103000"/>
              </a:lnSpc>
              <a:spcAft>
                <a:spcPts val="300"/>
              </a:spcAft>
              <a:defRPr sz="570">
                <a:solidFill>
                  <a:srgbClr val="21242A"/>
                </a:solidFill>
                <a:latin typeface="Microsoft YaHei"/>
              </a:defRPr>
            </a:pPr>
            <a:r>
              <a:t>Proteins associated with CRS were investigated using differential expression analyses. Cytokine data from a standard multiplex assay were used for comparison.</a:t>
            </a:r>
          </a:p>
          <a:p>
            <a:pPr>
              <a:lnSpc>
                <a:spcPct val="103000"/>
              </a:lnSpc>
              <a:spcAft>
                <a:spcPts val="300"/>
              </a:spcAft>
              <a:defRPr sz="570">
                <a:solidFill>
                  <a:srgbClr val="21242A"/>
                </a:solidFill>
                <a:latin typeface="Microsoft YaHei"/>
              </a:defRPr>
            </a:pPr>
            <a:r>
              <a:t>Proteins were considered differentially abundant if they met minimal fold change ( 1.5) and false discovery rate (FDR)-adjusted p value criteria (p</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analysis suggests that steroid pre-Tx attenuates the allograft rejection pathway and other inflammatory markers, potentially contributing to a reduced rate </a:t>
            </a:r>
          </a:p>
          <a:p>
            <a:pPr>
              <a:lnSpc>
                <a:spcPct val="103000"/>
              </a:lnSpc>
              <a:spcAft>
                <a:spcPts val="300"/>
              </a:spcAft>
              <a:defRPr sz="590">
                <a:solidFill>
                  <a:srgbClr val="21242A"/>
                </a:solidFill>
                <a:latin typeface="Microsoft YaHei"/>
              </a:defRPr>
            </a:pPr>
            <a:r>
              <a:t>of Gr≥2 CRS in FL and DLBCL.</a:t>
            </a:r>
          </a:p>
          <a:p>
            <a:pPr>
              <a:lnSpc>
                <a:spcPct val="103000"/>
              </a:lnSpc>
              <a:spcAft>
                <a:spcPts val="300"/>
              </a:spcAft>
              <a:defRPr sz="590">
                <a:solidFill>
                  <a:srgbClr val="21242A"/>
                </a:solidFill>
                <a:latin typeface="Microsoft YaHei"/>
              </a:defRPr>
            </a:pPr>
            <a:r>
              <a:t>FL pts with an inflamed systemic BL proteome may have a higher risk of Gr≥2 CRS.</a:t>
            </a:r>
          </a:p>
          <a:p>
            <a:pPr>
              <a:lnSpc>
                <a:spcPct val="103000"/>
              </a:lnSpc>
              <a:spcAft>
                <a:spcPts val="300"/>
              </a:spcAft>
              <a:defRPr sz="590">
                <a:solidFill>
                  <a:srgbClr val="21242A"/>
                </a:solidFill>
                <a:latin typeface="Microsoft YaHei"/>
              </a:defRPr>
            </a:pPr>
            <a:r>
              <a:t>Further studies are needed to determine if proteomic profiling can identify pts at higher risk of severe CRS.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1. 基线（类固醇预处理后、odronextamab治疗前）</a:t>
                      </a:r>
                    </a:p>
                  </a:txBody>
                  <a:tcPr>
                    <a:solidFill>
                      <a:srgbClr val="F6F8FB"/>
                    </a:solidFill>
                  </a:tcPr>
                </a:tc>
                <a:tc>
                  <a:txBody>
                    <a:bodyPr wrap="square" lIns="36576" rIns="36576" tIns="18288" bIns="18288"/>
                    <a:lstStyle/>
                    <a:p>
                      <a:r>
                        <a:rPr sz="540" b="0">
                          <a:solidFill>
                            <a:srgbClr val="21242A"/>
                          </a:solidFill>
                          <a:latin typeface="Microsoft YaHei"/>
                        </a:rPr>
                        <a:t>DLBCL患者细胞增殖和代谢激活相关蛋白表达显著更高；FL患者血清CD21、ADGRG2、CD1C表达更高。</a:t>
                      </a:r>
                    </a:p>
                  </a:txBody>
                  <a:tcPr>
                    <a:solidFill>
                      <a:srgbClr val="F6F8FB"/>
                    </a:solidFill>
                  </a:tcPr>
                </a:tc>
              </a:tr>
              <a:tr h="214230">
                <a:tc>
                  <a:txBody>
                    <a:bodyPr wrap="square" lIns="36576" rIns="36576" tIns="18288" bIns="18288"/>
                    <a:lstStyle/>
                    <a:p>
                      <a:r>
                        <a:rPr sz="540" b="1">
                          <a:solidFill>
                            <a:srgbClr val="21242A"/>
                          </a:solidFill>
                          <a:latin typeface="Microsoft YaHei"/>
                        </a:rPr>
                        <a:t>2. 改良方案与原始方案比较</a:t>
                      </a:r>
                    </a:p>
                  </a:txBody>
                  <a:tcPr>
                    <a:solidFill>
                      <a:srgbClr val="FFFFFF"/>
                    </a:solidFill>
                  </a:tcPr>
                </a:tc>
                <a:tc>
                  <a:txBody>
                    <a:bodyPr wrap="square" lIns="36576" rIns="36576" tIns="18288" bIns="18288"/>
                    <a:lstStyle/>
                    <a:p>
                      <a:r>
                        <a:rPr sz="540" b="0">
                          <a:solidFill>
                            <a:srgbClr val="21242A"/>
                          </a:solidFill>
                          <a:latin typeface="Microsoft YaHei"/>
                        </a:rPr>
                        <a:t>异体移植排斥通路显著下调，凝血通路富集；血清IFNγ和IL6水平降低。</a:t>
                      </a:r>
                    </a:p>
                  </a:txBody>
                  <a:tcPr>
                    <a:solidFill>
                      <a:srgbClr val="FFFFFF"/>
                    </a:solidFill>
                  </a:tcPr>
                </a:tc>
              </a:tr>
              <a:tr h="214230">
                <a:tc>
                  <a:txBody>
                    <a:bodyPr wrap="square" lIns="36576" rIns="36576" tIns="18288" bIns="18288"/>
                    <a:lstStyle/>
                    <a:p>
                      <a:r>
                        <a:rPr sz="540" b="1">
                          <a:solidFill>
                            <a:srgbClr val="21242A"/>
                          </a:solidFill>
                          <a:latin typeface="Microsoft YaHei"/>
                        </a:rPr>
                        <a:t>3. Gr≥2 CRS vs Gr1/no CRS基线比较</a:t>
                      </a:r>
                    </a:p>
                  </a:txBody>
                  <a:tcPr>
                    <a:solidFill>
                      <a:srgbClr val="F6F8FB"/>
                    </a:solidFill>
                  </a:tcPr>
                </a:tc>
                <a:tc>
                  <a:txBody>
                    <a:bodyPr wrap="square" lIns="36576" rIns="36576" tIns="18288" bIns="18288"/>
                    <a:lstStyle/>
                    <a:p>
                      <a:r>
                        <a:rPr sz="540" b="0">
                          <a:solidFill>
                            <a:srgbClr val="21242A"/>
                          </a:solidFill>
                          <a:latin typeface="Microsoft YaHei"/>
                        </a:rPr>
                        <a:t>FL患者中多种炎症通路富集（异体移植排斥、IFNγ、炎症反应、IL6/JAK/STAT3），DLBCL患者中无。</a:t>
                      </a:r>
                    </a:p>
                  </a:txBody>
                  <a:tcPr>
                    <a:solidFill>
                      <a:srgbClr val="F6F8FB"/>
                    </a:solidFill>
                  </a:tcPr>
                </a:tc>
              </a:tr>
              <a:tr h="214230">
                <a:tc>
                  <a:txBody>
                    <a:bodyPr wrap="square" lIns="36576" rIns="36576" tIns="18288" bIns="18288"/>
                    <a:lstStyle/>
                    <a:p>
                      <a:r>
                        <a:rPr sz="540" b="1">
                          <a:solidFill>
                            <a:srgbClr val="21242A"/>
                          </a:solidFill>
                          <a:latin typeface="Microsoft YaHei"/>
                        </a:rPr>
                        <a:t>4. CAR-HThigh vs CAR-HTlow的DLBCL基线样本</a:t>
                      </a:r>
                    </a:p>
                  </a:txBody>
                  <a:tcPr>
                    <a:solidFill>
                      <a:srgbClr val="FFFFFF"/>
                    </a:solidFill>
                  </a:tcPr>
                </a:tc>
                <a:tc>
                  <a:txBody>
                    <a:bodyPr wrap="square" lIns="36576" rIns="36576" tIns="18288" bIns="18288"/>
                    <a:lstStyle/>
                    <a:p>
                      <a:r>
                        <a:rPr sz="540" b="0">
                          <a:solidFill>
                            <a:srgbClr val="21242A"/>
                          </a:solidFill>
                          <a:latin typeface="Microsoft YaHei"/>
                        </a:rPr>
                        <a:t>异体移植排斥通路富集。</a:t>
                      </a:r>
                    </a:p>
                  </a:txBody>
                  <a:tcPr>
                    <a:solidFill>
                      <a:srgbClr val="FFFFFF"/>
                    </a:solidFill>
                  </a:tcPr>
                </a:tc>
              </a:tr>
              <a:tr h="214230">
                <a:tc>
                  <a:txBody>
                    <a:bodyPr wrap="square" lIns="36576" rIns="36576" tIns="18288" bIns="18288"/>
                    <a:lstStyle/>
                    <a:p>
                      <a:r>
                        <a:rPr sz="540" b="1">
                          <a:solidFill>
                            <a:srgbClr val="21242A"/>
                          </a:solidFill>
                          <a:latin typeface="Microsoft YaHei"/>
                        </a:rPr>
                        <a:t>5. 治疗期间</a:t>
                      </a:r>
                    </a:p>
                  </a:txBody>
                  <a:tcPr>
                    <a:solidFill>
                      <a:srgbClr val="F6F8FB"/>
                    </a:solidFill>
                  </a:tcPr>
                </a:tc>
                <a:tc>
                  <a:txBody>
                    <a:bodyPr wrap="square" lIns="36576" rIns="36576" tIns="18288" bIns="18288"/>
                    <a:lstStyle/>
                    <a:p>
                      <a:r>
                        <a:rPr sz="540" b="0">
                          <a:solidFill>
                            <a:srgbClr val="21242A"/>
                          </a:solidFill>
                          <a:latin typeface="Microsoft YaHei"/>
                        </a:rPr>
                        <a:t>DLBCL患者Gr≥2 CRS时炎症通路富集，FL患者更显著；FL患者Gr≥2 CRS还持续富集细胞/代谢应激反应通路（氧化磷酸化、脂肪酸代谢、血红素代谢）。</a:t>
                      </a:r>
                    </a:p>
                  </a:txBody>
                  <a:tcPr>
                    <a:solidFill>
                      <a:srgbClr val="F6F8FB"/>
                    </a:solidFill>
                  </a:tcPr>
                </a:tc>
              </a:tr>
              <a:tr h="214236">
                <a:tc>
                  <a:txBody>
                    <a:bodyPr wrap="square" lIns="36576" rIns="36576" tIns="18288" bIns="18288"/>
                    <a:lstStyle/>
                    <a:p>
                      <a:r>
                        <a:rPr sz="540" b="1">
                          <a:solidFill>
                            <a:srgbClr val="21242A"/>
                          </a:solidFill>
                          <a:latin typeface="Microsoft YaHei"/>
                        </a:rPr>
                        <a:t>6. 与odronextamab特征不同的CRS特征</a:t>
                      </a:r>
                    </a:p>
                  </a:txBody>
                  <a:tcPr>
                    <a:solidFill>
                      <a:srgbClr val="FFFFFF"/>
                    </a:solidFill>
                  </a:tcPr>
                </a:tc>
                <a:tc>
                  <a:txBody>
                    <a:bodyPr wrap="square" lIns="36576" rIns="36576" tIns="18288" bIns="18288"/>
                    <a:lstStyle/>
                    <a:p>
                      <a:r>
                        <a:rPr sz="540" b="0">
                          <a:solidFill>
                            <a:srgbClr val="21242A"/>
                          </a:solidFill>
                          <a:latin typeface="Microsoft YaHei"/>
                        </a:rPr>
                        <a:t>Gr≥2 CRS患者中IL6、IFNγ、IL17A、IL2持续升高（第1-4周）。</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摘要号：PF1088</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epcoritamab治疗后cd20表达减少和瘤内cd3+t细胞与弥漫性大b细胞淋巴瘤和滤泡性淋巴瘤亚群的进展性疾病有关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reduced cd20 expression and intratumoral cd3+ t cells following epcoritamab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滤泡性淋巴瘤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基线CD20高表达（&gt;80%阳性肿瘤细胞）比例：89%（319/357）</a:t>
            </a:r>
          </a:p>
          <a:p>
            <a:pPr>
              <a:lnSpc>
                <a:spcPct val="103000"/>
              </a:lnSpc>
              <a:spcAft>
                <a:spcPts val="300"/>
              </a:spcAft>
              <a:defRPr sz="800">
                <a:solidFill>
                  <a:srgbClr val="21242A"/>
                </a:solidFill>
                <a:latin typeface="Microsoft YaHei"/>
              </a:defRPr>
            </a:pPr>
            <a:r>
              <a:t>在进展性疾病（PD）患者中，69%（18/26）在C2D15或EOT出现CD20表达下降（相对基线减少≥50%）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人数：357</a:t>
            </a:r>
          </a:p>
          <a:p>
            <a:pPr>
              <a:lnSpc>
                <a:spcPct val="103000"/>
              </a:lnSpc>
              <a:spcAft>
                <a:spcPts val="300"/>
              </a:spcAft>
              <a:defRPr sz="810">
                <a:solidFill>
                  <a:srgbClr val="21242A"/>
                </a:solidFill>
                <a:latin typeface="Microsoft YaHei"/>
              </a:defRPr>
            </a:pPr>
            <a:r>
              <a:t>适应症：弥漫性大B细胞淋巴瘤、滤泡性淋巴瘤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登记号：NCT03625037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epcoritamab治疗后cd20表达减少和瘤内cd3+t细胞与弥漫性大b细胞淋巴瘤和滤泡性淋巴瘤亚群的进展性疾病有关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reduced cd20 expression and intratumoral cd3+ t cells following epcoritamab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Epcoritamab (epcor), a subcutaneous CD3×CD20 bispecific antibody, has demonstrated significant clinical benefit in DLBCL and FL as a monotherapy and</a:t>
            </a:r>
          </a:p>
          <a:p>
            <a:pPr>
              <a:lnSpc>
                <a:spcPct val="103000"/>
              </a:lnSpc>
              <a:spcAft>
                <a:spcPts val="300"/>
              </a:spcAft>
              <a:defRPr sz="570">
                <a:solidFill>
                  <a:srgbClr val="21242A"/>
                </a:solidFill>
                <a:latin typeface="Microsoft YaHei"/>
              </a:defRPr>
            </a:pPr>
            <a:r>
              <a:t> in combinations.</a:t>
            </a:r>
          </a:p>
          <a:p>
            <a:pPr>
              <a:lnSpc>
                <a:spcPct val="103000"/>
              </a:lnSpc>
              <a:spcAft>
                <a:spcPts val="300"/>
              </a:spcAft>
              <a:defRPr sz="570">
                <a:solidFill>
                  <a:srgbClr val="21242A"/>
                </a:solidFill>
                <a:latin typeface="Microsoft YaHei"/>
              </a:defRPr>
            </a:pPr>
            <a:r>
              <a:t>Modulation in CD20 expression has been reported with other CD3×CD20 bispecific antibodies, most often at disease progression, although the exact timing of these</a:t>
            </a:r>
          </a:p>
          <a:p>
            <a:pPr>
              <a:lnSpc>
                <a:spcPct val="103000"/>
              </a:lnSpc>
              <a:spcAft>
                <a:spcPts val="300"/>
              </a:spcAft>
              <a:defRPr sz="570">
                <a:solidFill>
                  <a:srgbClr val="21242A"/>
                </a:solidFill>
                <a:latin typeface="Microsoft YaHei"/>
              </a:defRPr>
            </a:pPr>
            <a:r>
              <a:t> changes remains unclear.</a:t>
            </a:r>
          </a:p>
          <a:p>
            <a:pPr>
              <a:lnSpc>
                <a:spcPct val="103000"/>
              </a:lnSpc>
              <a:spcAft>
                <a:spcPts val="300"/>
              </a:spcAft>
              <a:defRPr sz="570">
                <a:solidFill>
                  <a:srgbClr val="21242A"/>
                </a:solidFill>
                <a:latin typeface="Microsoft YaHei"/>
              </a:defRPr>
            </a:pPr>
            <a:r>
              <a:t>Aims: To describe modulation in CD20 expression in patients pre- and post- treatment (tx) with epcor, evaluate the impact of mutations and transcriptional downr</a:t>
            </a:r>
          </a:p>
          <a:p>
            <a:pPr>
              <a:lnSpc>
                <a:spcPct val="103000"/>
              </a:lnSpc>
              <a:spcAft>
                <a:spcPts val="300"/>
              </a:spcAft>
              <a:defRPr sz="570">
                <a:solidFill>
                  <a:srgbClr val="21242A"/>
                </a:solidFill>
                <a:latin typeface="Microsoft YaHei"/>
              </a:defRPr>
            </a:pPr>
            <a:r>
              <a:t>egulation on CD20 expression, and assess the association between intratumoral CD3+ T cells and progressive disease in the EPCORE NHL-1 trial (NCT03625037).</a:t>
            </a:r>
          </a:p>
          <a:p>
            <a:pPr>
              <a:lnSpc>
                <a:spcPct val="103000"/>
              </a:lnSpc>
              <a:spcAft>
                <a:spcPts val="300"/>
              </a:spcAft>
              <a:defRPr sz="570">
                <a:solidFill>
                  <a:srgbClr val="21242A"/>
                </a:solidFill>
                <a:latin typeface="Microsoft YaHei"/>
              </a:defRPr>
            </a:pPr>
            <a:r>
              <a:t>Methods: Tumor biopsies from patients with R/R DLBCL or FL treated with 48-mg epcor in NHL-1 were collected.</a:t>
            </a:r>
          </a:p>
          <a:p>
            <a:pPr>
              <a:lnSpc>
                <a:spcPct val="103000"/>
              </a:lnSpc>
              <a:spcAft>
                <a:spcPts val="300"/>
              </a:spcAft>
              <a:defRPr sz="570">
                <a:solidFill>
                  <a:srgbClr val="21242A"/>
                </a:solidFill>
                <a:latin typeface="Microsoft YaHei"/>
              </a:defRPr>
            </a:pPr>
            <a:r>
              <a:t>CD20 protein expression with and without PAX5 and T cells (CD3+) was quantified by immunohistochemistry at baseline, on tx (cycle 2 day 15 [C2D15]), or at the e</a:t>
            </a:r>
          </a:p>
          <a:p>
            <a:pPr>
              <a:lnSpc>
                <a:spcPct val="103000"/>
              </a:lnSpc>
              <a:spcAft>
                <a:spcPts val="300"/>
              </a:spcAft>
              <a:defRPr sz="570">
                <a:solidFill>
                  <a:srgbClr val="21242A"/>
                </a:solidFill>
                <a:latin typeface="Microsoft YaHei"/>
              </a:defRPr>
            </a:pPr>
            <a:r>
              <a:t>nd of tx (EOT).</a:t>
            </a:r>
          </a:p>
          <a:p>
            <a:pPr>
              <a:lnSpc>
                <a:spcPct val="103000"/>
              </a:lnSpc>
              <a:spcAft>
                <a:spcPts val="300"/>
              </a:spcAft>
              <a:defRPr sz="570">
                <a:solidFill>
                  <a:srgbClr val="21242A"/>
                </a:solidFill>
                <a:latin typeface="Microsoft YaHei"/>
              </a:defRPr>
            </a:pPr>
            <a:r>
              <a:t>Whole exome sequencing and EdgeSeq were performed on available patient samples to investigate mechanisms underlying reduced CD20 expression.</a:t>
            </a:r>
          </a:p>
          <a:p>
            <a:pPr>
              <a:lnSpc>
                <a:spcPct val="103000"/>
              </a:lnSpc>
              <a:spcAft>
                <a:spcPts val="300"/>
              </a:spcAft>
              <a:defRPr sz="570">
                <a:solidFill>
                  <a:srgbClr val="21242A"/>
                </a:solidFill>
                <a:latin typeface="Microsoft YaHei"/>
              </a:defRPr>
            </a:pPr>
            <a:r>
              <a:t>Clinical responses at week 6 and EOT were assessed by investigator per Lugano criteria.</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Whilst most patients with DLBCL and FL have high baseline CD20 expression and high response rates to epcor, clinical responses were also observed in some patien</a:t>
            </a:r>
          </a:p>
          <a:p>
            <a:pPr>
              <a:lnSpc>
                <a:spcPct val="103000"/>
              </a:lnSpc>
              <a:spcAft>
                <a:spcPts val="300"/>
              </a:spcAft>
              <a:defRPr sz="590">
                <a:solidFill>
                  <a:srgbClr val="21242A"/>
                </a:solidFill>
                <a:latin typeface="Microsoft YaHei"/>
              </a:defRPr>
            </a:pPr>
            <a:r>
              <a:t>ts with baseline CD20 expression MS4A1 mutations and transcriptional downregulation in a subset of patients.</a:t>
            </a:r>
          </a:p>
          <a:p>
            <a:pPr>
              <a:lnSpc>
                <a:spcPct val="103000"/>
              </a:lnSpc>
              <a:spcAft>
                <a:spcPts val="300"/>
              </a:spcAft>
              <a:defRPr sz="590">
                <a:solidFill>
                  <a:srgbClr val="21242A"/>
                </a:solidFill>
                <a:latin typeface="Microsoft YaHei"/>
              </a:defRPr>
            </a:pPr>
            <a:r>
              <a:t>Decreased intratumoral T-cell numbers were also identified as a potential mechanism of resistance.</a:t>
            </a:r>
          </a:p>
          <a:p>
            <a:pPr>
              <a:lnSpc>
                <a:spcPct val="103000"/>
              </a:lnSpc>
              <a:spcAft>
                <a:spcPts val="300"/>
              </a:spcAft>
              <a:defRPr sz="590">
                <a:solidFill>
                  <a:srgbClr val="21242A"/>
                </a:solidFill>
                <a:latin typeface="Microsoft YaHei"/>
              </a:defRPr>
            </a:pPr>
            <a:r>
              <a:t>Similar changes in CD20 expression at progression have been reported with other CD3xCD20 bispecific antibodies, suggesting antigen modulation may contribute to </a:t>
            </a:r>
          </a:p>
          <a:p>
            <a:pPr>
              <a:lnSpc>
                <a:spcPct val="103000"/>
              </a:lnSpc>
              <a:spcAft>
                <a:spcPts val="300"/>
              </a:spcAft>
              <a:defRPr sz="590">
                <a:solidFill>
                  <a:srgbClr val="21242A"/>
                </a:solidFill>
                <a:latin typeface="Microsoft YaHei"/>
              </a:defRPr>
            </a:pPr>
            <a:r>
              <a:t>resistance in some patients.</a:t>
            </a:r>
          </a:p>
          <a:p>
            <a:pPr>
              <a:lnSpc>
                <a:spcPct val="103000"/>
              </a:lnSpc>
              <a:spcAft>
                <a:spcPts val="300"/>
              </a:spcAft>
              <a:defRPr sz="590">
                <a:solidFill>
                  <a:srgbClr val="21242A"/>
                </a:solidFill>
                <a:latin typeface="Microsoft YaHei"/>
              </a:defRPr>
            </a:pPr>
            <a:r>
              <a:t>These findings support further exploration of strategies to overcome antigen escape and restore therapeutic sensitivity.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High baseline CD20 expression (&gt; 80% positive tumor cells) was observed in 89% (319/357) of biomarker-evaluable biopsies from patients with DLBCL </a:t>
            </a:r>
          </a:p>
          <a:p>
            <a:pPr>
              <a:lnSpc>
                <a:spcPct val="103000"/>
              </a:lnSpc>
              <a:spcAft>
                <a:spcPts val="300"/>
              </a:spcAft>
              <a:defRPr sz="580">
                <a:solidFill>
                  <a:srgbClr val="21242A"/>
                </a:solidFill>
                <a:latin typeface="Microsoft YaHei"/>
              </a:defRPr>
            </a:pPr>
            <a:r>
              <a:t>and FL; CD20 expression 10% (PR, n = 3; SD, n = 2; PD, n = 18); patients with CR were excluded due to no detectable tumor at C2D15, limiting generalizabili</a:t>
            </a:r>
          </a:p>
          <a:p>
            <a:pPr>
              <a:lnSpc>
                <a:spcPct val="103000"/>
              </a:lnSpc>
              <a:spcAft>
                <a:spcPts val="300"/>
              </a:spcAft>
              <a:defRPr sz="580">
                <a:solidFill>
                  <a:srgbClr val="21242A"/>
                </a:solidFill>
                <a:latin typeface="Microsoft YaHei"/>
              </a:defRPr>
            </a:pPr>
            <a:r>
              <a:t>ty.</a:t>
            </a:r>
          </a:p>
          <a:p>
            <a:pPr>
              <a:lnSpc>
                <a:spcPct val="103000"/>
              </a:lnSpc>
              <a:spcAft>
                <a:spcPts val="300"/>
              </a:spcAft>
              <a:defRPr sz="580">
                <a:solidFill>
                  <a:srgbClr val="21242A"/>
                </a:solidFill>
                <a:latin typeface="Microsoft YaHei"/>
              </a:defRPr>
            </a:pPr>
            <a:r>
              <a:t>CD20 expression was maintained on tx in 4 of 5 patients with PR/SD.</a:t>
            </a:r>
          </a:p>
          <a:p>
            <a:pPr>
              <a:lnSpc>
                <a:spcPct val="103000"/>
              </a:lnSpc>
              <a:spcAft>
                <a:spcPts val="300"/>
              </a:spcAft>
              <a:defRPr sz="580">
                <a:solidFill>
                  <a:srgbClr val="21242A"/>
                </a:solidFill>
                <a:latin typeface="Microsoft YaHei"/>
              </a:defRPr>
            </a:pPr>
            <a:r>
              <a:t>CD20 expression MS4A1 mutations in the extracellular and transmembrane domains; transcriptional downregulation was observed in 2 (17%) patients.</a:t>
            </a:r>
          </a:p>
          <a:p>
            <a:pPr>
              <a:lnSpc>
                <a:spcPct val="103000"/>
              </a:lnSpc>
              <a:spcAft>
                <a:spcPts val="300"/>
              </a:spcAft>
              <a:defRPr sz="580">
                <a:solidFill>
                  <a:srgbClr val="21242A"/>
                </a:solidFill>
                <a:latin typeface="Microsoft YaHei"/>
              </a:defRPr>
            </a:pPr>
            <a:r>
              <a:t>Notably, 1 patient with SD who maintained CD20 expression at C2D15 harbored a pre-existing missense mutation in extracellular loop 2 that may have interfer</a:t>
            </a:r>
          </a:p>
          <a:p>
            <a:pPr>
              <a:lnSpc>
                <a:spcPct val="103000"/>
              </a:lnSpc>
              <a:spcAft>
                <a:spcPts val="300"/>
              </a:spcAft>
              <a:defRPr sz="580">
                <a:solidFill>
                  <a:srgbClr val="21242A"/>
                </a:solidFill>
                <a:latin typeface="Microsoft YaHei"/>
              </a:defRPr>
            </a:pPr>
            <a:r>
              <a:t>ed with epcor binding.</a:t>
            </a:r>
          </a:p>
          <a:p>
            <a:pPr>
              <a:lnSpc>
                <a:spcPct val="103000"/>
              </a:lnSpc>
              <a:spcAft>
                <a:spcPts val="300"/>
              </a:spcAft>
              <a:defRPr sz="580">
                <a:solidFill>
                  <a:srgbClr val="21242A"/>
                </a:solidFill>
                <a:latin typeface="Microsoft YaHei"/>
              </a:defRPr>
            </a:pPr>
            <a:r>
              <a:t>Of the 18 pts with PD, 7 maintained CD20 expression, of whom 4 showed on-tx and EOT reductions in intratumoral CD3 T cells.</a:t>
            </a:r>
          </a:p>
          <a:p>
            <a:pPr>
              <a:lnSpc>
                <a:spcPct val="103000"/>
              </a:lnSpc>
              <a:spcAft>
                <a:spcPts val="300"/>
              </a:spcAft>
              <a:defRPr sz="580">
                <a:solidFill>
                  <a:srgbClr val="21242A"/>
                </a:solidFill>
                <a:latin typeface="Microsoft YaHei"/>
              </a:defRPr>
            </a:pPr>
            <a:r>
              <a:t>Conclusion: Whilst most patients with DLBCL and FL have high baseline CD20 expression and high response rates to epcor, clinical responses were also observ</a:t>
            </a:r>
          </a:p>
          <a:p>
            <a:pPr>
              <a:lnSpc>
                <a:spcPct val="103000"/>
              </a:lnSpc>
              <a:spcAft>
                <a:spcPts val="300"/>
              </a:spcAft>
              <a:defRPr sz="580">
                <a:solidFill>
                  <a:srgbClr val="21242A"/>
                </a:solidFill>
                <a:latin typeface="Microsoft YaHei"/>
              </a:defRPr>
            </a:pPr>
            <a:r>
              <a:t>ed in some patients with baseline CD20 expression MS4A1 mutations and transcriptional downregulation in a subset of patients.</a:t>
            </a:r>
          </a:p>
          <a:p>
            <a:pPr>
              <a:lnSpc>
                <a:spcPct val="103000"/>
              </a:lnSpc>
              <a:spcAft>
                <a:spcPts val="300"/>
              </a:spcAft>
              <a:defRPr sz="580">
                <a:solidFill>
                  <a:srgbClr val="21242A"/>
                </a:solidFill>
                <a:latin typeface="Microsoft YaHei"/>
              </a:defRPr>
            </a:pPr>
            <a:r>
              <a:t>Decreased intratumoral T-cell numbers were also identified as a potential mechanism of resistance.</a:t>
            </a:r>
          </a:p>
          <a:p>
            <a:pPr>
              <a:lnSpc>
                <a:spcPct val="103000"/>
              </a:lnSpc>
              <a:spcAft>
                <a:spcPts val="300"/>
              </a:spcAft>
              <a:defRPr sz="580">
                <a:solidFill>
                  <a:srgbClr val="21242A"/>
                </a:solidFill>
                <a:latin typeface="Microsoft YaHei"/>
              </a:defRPr>
            </a:pPr>
            <a:r>
              <a:t>Similar changes in CD20 expression at progression have been reported with other CD3xCD20 bispecific antibodies, suggesting antigen modulation may contribut</a:t>
            </a:r>
          </a:p>
          <a:p>
            <a:pPr>
              <a:lnSpc>
                <a:spcPct val="103000"/>
              </a:lnSpc>
              <a:spcAft>
                <a:spcPts val="300"/>
              </a:spcAft>
              <a:defRPr sz="580">
                <a:solidFill>
                  <a:srgbClr val="21242A"/>
                </a:solidFill>
                <a:latin typeface="Microsoft YaHei"/>
              </a:defRPr>
            </a:pPr>
            <a:r>
              <a:t>e to resistance in some patients.</a:t>
            </a:r>
          </a:p>
          <a:p>
            <a:pPr>
              <a:lnSpc>
                <a:spcPct val="103000"/>
              </a:lnSpc>
              <a:spcAft>
                <a:spcPts val="300"/>
              </a:spcAft>
              <a:defRPr sz="580">
                <a:solidFill>
                  <a:srgbClr val="21242A"/>
                </a:solidFill>
                <a:latin typeface="Microsoft YaHei"/>
              </a:defRPr>
            </a:pPr>
            <a:r>
              <a:t>These findings support further exploration of strategies to overcome antigen escape and restore therapeutic sensitivity.</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摘要号：PF1069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总代谢肿瘤体积和循环肿瘤dna作为复发/难治性弥漫性大b细胞淋巴瘤早期预后因素：starglo 3期试验的结果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total metabolic tumor volume and circulating tumor dna as early prognostic fa...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N=246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对照/比较：试验组1：glofitamab, gemcitabine, oxaliplatin（Glofit-GemOx）</a:t>
            </a:r>
          </a:p>
          <a:p>
            <a:pPr>
              <a:lnSpc>
                <a:spcPct val="103000"/>
              </a:lnSpc>
              <a:spcAft>
                <a:spcPts val="300"/>
              </a:spcAft>
              <a:defRPr sz="800">
                <a:solidFill>
                  <a:srgbClr val="21242A"/>
                </a:solidFill>
                <a:latin typeface="Microsoft YaHei"/>
              </a:defRPr>
            </a:pPr>
            <a:r>
              <a:t>对照组：rituximab, gemcitabine, oxaliplatin（R-GemOx）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基线高TMTV（≥125 cm³）与较差PFS相关：HR=1.49, p=0.004</a:t>
            </a:r>
          </a:p>
          <a:p>
            <a:pPr>
              <a:lnSpc>
                <a:spcPct val="103000"/>
              </a:lnSpc>
              <a:spcAft>
                <a:spcPts val="300"/>
              </a:spcAft>
              <a:defRPr sz="800">
                <a:solidFill>
                  <a:srgbClr val="21242A"/>
                </a:solidFill>
                <a:latin typeface="Microsoft YaHei"/>
              </a:defRPr>
            </a:pPr>
            <a:r>
              <a:t>Glofit-GemOx vs R-GemOx的PFS改善：高TMTV亚组HR=0.37, p&lt;0.001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人数：246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登记号：NCT04408638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总代谢肿瘤体积和循环肿瘤dna作为复发/难治性弥漫性大b细胞淋巴瘤早期预后因素：starglo 3期试验的结果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total metabolic tumor volume and circulating tumor dna as early prognostic fa...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Phase 3 STARGLO trial (NCT04408638) demonstrated significant 3-year overall survival and progression-free survival (PFS) benefits with fixed-dur</a:t>
            </a:r>
          </a:p>
          <a:p>
            <a:pPr>
              <a:lnSpc>
                <a:spcPct val="103000"/>
              </a:lnSpc>
              <a:spcAft>
                <a:spcPts val="300"/>
              </a:spcAft>
              <a:defRPr sz="570">
                <a:solidFill>
                  <a:srgbClr val="21242A"/>
                </a:solidFill>
                <a:latin typeface="Microsoft YaHei"/>
              </a:defRPr>
            </a:pPr>
            <a:r>
              <a:t>ation glofitamab in combination with gemcitabine and oxaliplatin (GemOx; Glofit-GemOx), supporting its curative potential in autologous stem cell transplant (AS</a:t>
            </a:r>
          </a:p>
          <a:p>
            <a:pPr>
              <a:lnSpc>
                <a:spcPct val="103000"/>
              </a:lnSpc>
              <a:spcAft>
                <a:spcPts val="300"/>
              </a:spcAft>
              <a:defRPr sz="570">
                <a:solidFill>
                  <a:srgbClr val="21242A"/>
                </a:solidFill>
                <a:latin typeface="Microsoft YaHei"/>
              </a:defRPr>
            </a:pPr>
            <a:r>
              <a:t>CT)-ineligible relapsed/refractory (R/R) diffuse large B-cell lymphoma (DLBCL).</a:t>
            </a:r>
          </a:p>
          <a:p>
            <a:pPr>
              <a:lnSpc>
                <a:spcPct val="103000"/>
              </a:lnSpc>
              <a:spcAft>
                <a:spcPts val="300"/>
              </a:spcAft>
              <a:defRPr sz="570">
                <a:solidFill>
                  <a:srgbClr val="21242A"/>
                </a:solidFill>
                <a:latin typeface="Microsoft YaHei"/>
              </a:defRPr>
            </a:pPr>
            <a:r>
              <a:t>Nevertheless, identifying robust baseline and on-treatment biomarkers for the prediction of long-term outcomes remains a critical need.</a:t>
            </a:r>
          </a:p>
          <a:p>
            <a:pPr>
              <a:lnSpc>
                <a:spcPct val="103000"/>
              </a:lnSpc>
              <a:spcAft>
                <a:spcPts val="300"/>
              </a:spcAft>
              <a:defRPr sz="570">
                <a:solidFill>
                  <a:srgbClr val="21242A"/>
                </a:solidFill>
                <a:latin typeface="Microsoft YaHei"/>
              </a:defRPr>
            </a:pPr>
            <a:r>
              <a:t>Aims: To evaluate the prognostic value of baseline total metabolic tumor volume (TMTV) alongside baseline and longitudinal circulating tumor DNA (ctDNA) for the</a:t>
            </a:r>
          </a:p>
          <a:p>
            <a:pPr>
              <a:lnSpc>
                <a:spcPct val="103000"/>
              </a:lnSpc>
              <a:spcAft>
                <a:spcPts val="300"/>
              </a:spcAft>
              <a:defRPr sz="570">
                <a:solidFill>
                  <a:srgbClr val="21242A"/>
                </a:solidFill>
                <a:latin typeface="Microsoft YaHei"/>
              </a:defRPr>
            </a:pPr>
            <a:r>
              <a:t> prediction of long-term outcomes in the STARGLO trial.</a:t>
            </a:r>
          </a:p>
          <a:p>
            <a:pPr>
              <a:lnSpc>
                <a:spcPct val="103000"/>
              </a:lnSpc>
              <a:spcAft>
                <a:spcPts val="300"/>
              </a:spcAft>
              <a:defRPr sz="570">
                <a:solidFill>
                  <a:srgbClr val="21242A"/>
                </a:solidFill>
                <a:latin typeface="Microsoft YaHei"/>
              </a:defRPr>
            </a:pPr>
            <a:r>
              <a:t>Methods: Patients (pts) with ASCT-ineligible R/R DLBCL were randomized 2:1 to Glofit-GemOx or rituximab-GemOx (R-GemOx).</a:t>
            </a:r>
          </a:p>
          <a:p>
            <a:pPr>
              <a:lnSpc>
                <a:spcPct val="103000"/>
              </a:lnSpc>
              <a:spcAft>
                <a:spcPts val="300"/>
              </a:spcAft>
              <a:defRPr sz="570">
                <a:solidFill>
                  <a:srgbClr val="21242A"/>
                </a:solidFill>
                <a:latin typeface="Microsoft YaHei"/>
              </a:defRPr>
            </a:pPr>
            <a:r>
              <a:t>ctDNA was analyzed using the AVENIO Oncology Assay NHL test and a customized linked somatic variants method, where co-occurring somatic variants 175 base pairs </a:t>
            </a:r>
          </a:p>
          <a:p>
            <a:pPr>
              <a:lnSpc>
                <a:spcPct val="103000"/>
              </a:lnSpc>
              <a:spcAft>
                <a:spcPts val="300"/>
              </a:spcAft>
              <a:defRPr sz="570">
                <a:solidFill>
                  <a:srgbClr val="21242A"/>
                </a:solidFill>
                <a:latin typeface="Microsoft YaHei"/>
              </a:defRPr>
            </a:pPr>
            <a:r>
              <a:t>apart on single DNA fragments were identified.</a:t>
            </a:r>
          </a:p>
          <a:p>
            <a:pPr>
              <a:lnSpc>
                <a:spcPct val="103000"/>
              </a:lnSpc>
              <a:spcAft>
                <a:spcPts val="300"/>
              </a:spcAft>
              <a:defRPr sz="570">
                <a:solidFill>
                  <a:srgbClr val="21242A"/>
                </a:solidFill>
                <a:latin typeface="Microsoft YaHei"/>
              </a:defRPr>
            </a:pPr>
            <a:r>
              <a:t>TMTV was assessed by fluorine-18 fluorodeoxyglucose positron emission tomography-computed tomography (PET-CT).</a:t>
            </a:r>
          </a:p>
          <a:p>
            <a:pPr>
              <a:lnSpc>
                <a:spcPct val="103000"/>
              </a:lnSpc>
              <a:spcAft>
                <a:spcPts val="300"/>
              </a:spcAft>
              <a:defRPr sz="570">
                <a:solidFill>
                  <a:srgbClr val="21242A"/>
                </a:solidFill>
                <a:latin typeface="Microsoft YaHei"/>
              </a:defRPr>
            </a:pPr>
            <a:r>
              <a:t>Efficacy was assessed by PET-CT using Lugano criteria.</a:t>
            </a:r>
          </a:p>
          <a:p>
            <a:pPr>
              <a:lnSpc>
                <a:spcPct val="103000"/>
              </a:lnSpc>
              <a:spcAft>
                <a:spcPts val="300"/>
              </a:spcAft>
              <a:defRPr sz="570">
                <a:solidFill>
                  <a:srgbClr val="21242A"/>
                </a:solidFill>
                <a:latin typeface="Microsoft YaHei"/>
              </a:defRPr>
            </a:pPr>
            <a:r>
              <a:t>Multivariate Kaplan–Meier and Cox-regression analyses were inverse probability weighting-adjusted to account for potential sampling bias in the biomarker-evalua</a:t>
            </a:r>
          </a:p>
          <a:p>
            <a:pPr>
              <a:lnSpc>
                <a:spcPct val="103000"/>
              </a:lnSpc>
              <a:spcAft>
                <a:spcPts val="300"/>
              </a:spcAft>
              <a:defRPr sz="570">
                <a:solidFill>
                  <a:srgbClr val="21242A"/>
                </a:solidFill>
                <a:latin typeface="Microsoft YaHei"/>
              </a:defRPr>
            </a:pPr>
            <a:r>
              <a:t>ble population.</a:t>
            </a:r>
          </a:p>
          <a:p>
            <a:pPr>
              <a:lnSpc>
                <a:spcPct val="103000"/>
              </a:lnSpc>
              <a:spcAft>
                <a:spcPts val="300"/>
              </a:spcAft>
              <a:defRPr sz="570">
                <a:solidFill>
                  <a:srgbClr val="21242A"/>
                </a:solidFill>
                <a:latin typeface="Microsoft YaHei"/>
              </a:defRPr>
            </a:pPr>
            <a:r>
              <a:t>All pts provided written informed consent.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These results demonstrate the potential for TMTV and ctDNA as powerful prognostic tools in R/R DLBCL.</a:t>
            </a:r>
          </a:p>
          <a:p>
            <a:pPr>
              <a:lnSpc>
                <a:spcPct val="103000"/>
              </a:lnSpc>
              <a:spcAft>
                <a:spcPts val="300"/>
              </a:spcAft>
              <a:defRPr sz="590">
                <a:solidFill>
                  <a:srgbClr val="21242A"/>
                </a:solidFill>
                <a:latin typeface="Microsoft YaHei"/>
              </a:defRPr>
            </a:pPr>
            <a:r>
              <a:t>Glofit-GemOx demonstrated superior efficacy over R-GemOx regardless of tumor burden (TMTV or ctDNA).</a:t>
            </a:r>
          </a:p>
          <a:p>
            <a:pPr>
              <a:lnSpc>
                <a:spcPct val="103000"/>
              </a:lnSpc>
              <a:spcAft>
                <a:spcPts val="300"/>
              </a:spcAft>
              <a:defRPr sz="590">
                <a:solidFill>
                  <a:srgbClr val="21242A"/>
                </a:solidFill>
                <a:latin typeface="Microsoft YaHei"/>
              </a:defRPr>
            </a:pPr>
            <a:r>
              <a:t>In addition, longitudinal ctDNA monitoring supports early response assessment, with undetected ctDNA status by Cycle 3 emerging as a strong predictor of long-te</a:t>
            </a:r>
          </a:p>
          <a:p>
            <a:pPr>
              <a:lnSpc>
                <a:spcPct val="103000"/>
              </a:lnSpc>
              <a:spcAft>
                <a:spcPts val="300"/>
              </a:spcAft>
              <a:defRPr sz="590">
                <a:solidFill>
                  <a:srgbClr val="21242A"/>
                </a:solidFill>
                <a:latin typeface="Microsoft YaHei"/>
              </a:defRPr>
            </a:pPr>
            <a:r>
              <a:t>rm PFS.</a:t>
            </a:r>
          </a:p>
          <a:p>
            <a:pPr>
              <a:lnSpc>
                <a:spcPct val="103000"/>
              </a:lnSpc>
              <a:spcAft>
                <a:spcPts val="300"/>
              </a:spcAft>
              <a:defRPr sz="590">
                <a:solidFill>
                  <a:srgbClr val="21242A"/>
                </a:solidFill>
                <a:latin typeface="Microsoft YaHei"/>
              </a:defRPr>
            </a:pPr>
            <a:r>
              <a:t>Higher rates of undetectable ctDNA were observed with Glofit-GemOx vs R-GemOx, validating its clinical benefit and supporting the superior efficacy observed in </a:t>
            </a:r>
          </a:p>
          <a:p>
            <a:pPr>
              <a:lnSpc>
                <a:spcPct val="103000"/>
              </a:lnSpc>
              <a:spcAft>
                <a:spcPts val="300"/>
              </a:spcAft>
              <a:defRPr sz="590">
                <a:solidFill>
                  <a:srgbClr val="21242A"/>
                </a:solidFill>
                <a:latin typeface="Microsoft YaHei"/>
              </a:defRPr>
            </a:pPr>
            <a:r>
              <a:t>the primary analysis of STARGLO.</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As of May 1, 2025, among TMTV-evaluable pts (n=246), high baseline TMTV (≥125cm 3 , median) was prognostic for inferior PFS (hazard ratio [HR], 1.</a:t>
            </a:r>
          </a:p>
          <a:p>
            <a:pPr>
              <a:lnSpc>
                <a:spcPct val="103000"/>
              </a:lnSpc>
              <a:spcAft>
                <a:spcPts val="300"/>
              </a:spcAft>
              <a:defRPr sz="580">
                <a:solidFill>
                  <a:srgbClr val="21242A"/>
                </a:solidFill>
                <a:latin typeface="Microsoft YaHei"/>
              </a:defRPr>
            </a:pPr>
            <a:r>
              <a:t>49, p=0.004).</a:t>
            </a:r>
          </a:p>
          <a:p>
            <a:pPr>
              <a:lnSpc>
                <a:spcPct val="103000"/>
              </a:lnSpc>
              <a:spcAft>
                <a:spcPts val="300"/>
              </a:spcAft>
              <a:defRPr sz="580">
                <a:solidFill>
                  <a:srgbClr val="21242A"/>
                </a:solidFill>
                <a:latin typeface="Microsoft YaHei"/>
              </a:defRPr>
            </a:pPr>
            <a:r>
              <a:t>Glofit-GemOx showed improved PFS over R-GemOx irrespective of TMTV burden (high TMTV: HR, 0.37, p \n Longitudinal ctDNA analyses showed higher rates of und</a:t>
            </a:r>
          </a:p>
          <a:p>
            <a:pPr>
              <a:lnSpc>
                <a:spcPct val="103000"/>
              </a:lnSpc>
              <a:spcAft>
                <a:spcPts val="300"/>
              </a:spcAft>
              <a:defRPr sz="580">
                <a:solidFill>
                  <a:srgbClr val="21242A"/>
                </a:solidFill>
                <a:latin typeface="Microsoft YaHei"/>
              </a:defRPr>
            </a:pPr>
            <a:r>
              <a:t>etected ctDNA with Glofit-GemOx vs R-GemOx across all timepoints: 47.7% vs 9.5% at Days 25–65 (early treatment), 65.6% vs 32.1% at Days 65–110 (mid-treatme</a:t>
            </a:r>
          </a:p>
          <a:p>
            <a:pPr>
              <a:lnSpc>
                <a:spcPct val="103000"/>
              </a:lnSpc>
              <a:spcAft>
                <a:spcPts val="300"/>
              </a:spcAft>
              <a:defRPr sz="580">
                <a:solidFill>
                  <a:srgbClr val="21242A"/>
                </a:solidFill>
                <a:latin typeface="Microsoft YaHei"/>
              </a:defRPr>
            </a:pPr>
            <a:r>
              <a:t>nt), and 70.0% vs 31.6% at Days 110–220 ( Figure ).</a:t>
            </a:r>
          </a:p>
          <a:p>
            <a:pPr>
              <a:lnSpc>
                <a:spcPct val="103000"/>
              </a:lnSpc>
              <a:spcAft>
                <a:spcPts val="300"/>
              </a:spcAft>
              <a:defRPr sz="580">
                <a:solidFill>
                  <a:srgbClr val="21242A"/>
                </a:solidFill>
                <a:latin typeface="Microsoft YaHei"/>
              </a:defRPr>
            </a:pPr>
            <a:r>
              <a:t>Among pts treated with Glofit-GemOx, undetected ctDNA status at Cycle 3 was strongly associated with prolonged PFS (p</a:t>
            </a:r>
          </a:p>
          <a:p>
            <a:pPr>
              <a:lnSpc>
                <a:spcPct val="103000"/>
              </a:lnSpc>
              <a:spcAft>
                <a:spcPts val="300"/>
              </a:spcAft>
              <a:defRPr sz="580">
                <a:solidFill>
                  <a:srgbClr val="21242A"/>
                </a:solidFill>
                <a:latin typeface="Microsoft YaHei"/>
              </a:defRPr>
            </a:pPr>
            <a:r>
              <a:t>Conclusion: These results demonstrate the potential for TMTV and ctDNA as powerful prognostic tools in R/R DLBCL.</a:t>
            </a:r>
          </a:p>
          <a:p>
            <a:pPr>
              <a:lnSpc>
                <a:spcPct val="103000"/>
              </a:lnSpc>
              <a:spcAft>
                <a:spcPts val="300"/>
              </a:spcAft>
              <a:defRPr sz="580">
                <a:solidFill>
                  <a:srgbClr val="21242A"/>
                </a:solidFill>
                <a:latin typeface="Microsoft YaHei"/>
              </a:defRPr>
            </a:pPr>
            <a:r>
              <a:t>Glofit-GemOx demonstrated superior efficacy over R-GemOx regardless of tumor burden (TMTV or ctDNA).</a:t>
            </a:r>
          </a:p>
          <a:p>
            <a:pPr>
              <a:lnSpc>
                <a:spcPct val="103000"/>
              </a:lnSpc>
              <a:spcAft>
                <a:spcPts val="300"/>
              </a:spcAft>
              <a:defRPr sz="580">
                <a:solidFill>
                  <a:srgbClr val="21242A"/>
                </a:solidFill>
                <a:latin typeface="Microsoft YaHei"/>
              </a:defRPr>
            </a:pPr>
            <a:r>
              <a:t>In addition, longitudinal ctDNA monitoring supports early response assessment, with undetected ctDNA status by Cycle 3 emerging as a strong predictor of lo</a:t>
            </a:r>
          </a:p>
          <a:p>
            <a:pPr>
              <a:lnSpc>
                <a:spcPct val="103000"/>
              </a:lnSpc>
              <a:spcAft>
                <a:spcPts val="300"/>
              </a:spcAft>
              <a:defRPr sz="580">
                <a:solidFill>
                  <a:srgbClr val="21242A"/>
                </a:solidFill>
                <a:latin typeface="Microsoft YaHei"/>
              </a:defRPr>
            </a:pPr>
            <a:r>
              <a:t>ng-term PFS.</a:t>
            </a:r>
          </a:p>
          <a:p>
            <a:pPr>
              <a:lnSpc>
                <a:spcPct val="103000"/>
              </a:lnSpc>
              <a:spcAft>
                <a:spcPts val="300"/>
              </a:spcAft>
              <a:defRPr sz="580">
                <a:solidFill>
                  <a:srgbClr val="21242A"/>
                </a:solidFill>
                <a:latin typeface="Microsoft YaHei"/>
              </a:defRPr>
            </a:pPr>
            <a:r>
              <a:t>Higher rates of undetectable ctDNA were observed with Glofit-GemOx vs R-GemOx, validating its clinical benefit and supporting the superior efficacy observe</a:t>
            </a:r>
          </a:p>
          <a:p>
            <a:pPr>
              <a:lnSpc>
                <a:spcPct val="103000"/>
              </a:lnSpc>
              <a:spcAft>
                <a:spcPts val="300"/>
              </a:spcAft>
              <a:defRPr sz="580">
                <a:solidFill>
                  <a:srgbClr val="21242A"/>
                </a:solidFill>
                <a:latin typeface="Microsoft YaHei"/>
              </a:defRPr>
            </a:pPr>
            <a:r>
              <a:t>d in the primary analysis of STARGLO.</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摘要号：PF1061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epcoritamab+r-mini-chop治疗老年新诊断dlbcl患者2年缓解和mrd阴性率高：epcore nh...</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 r-mini-chop results in 2-year remissions and high mrd-negativit...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总缓解率（ORR）：93%</a:t>
            </a:r>
          </a:p>
          <a:p>
            <a:pPr>
              <a:lnSpc>
                <a:spcPct val="103000"/>
              </a:lnSpc>
              <a:spcAft>
                <a:spcPts val="300"/>
              </a:spcAft>
              <a:defRPr sz="800">
                <a:solidFill>
                  <a:srgbClr val="21242A"/>
                </a:solidFill>
                <a:latin typeface="Microsoft YaHei"/>
              </a:defRPr>
            </a:pPr>
            <a:r>
              <a:t>完全缓解率（CR）：86%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治疗线数：一线、二线、三线</a:t>
            </a:r>
          </a:p>
          <a:p>
            <a:pPr>
              <a:lnSpc>
                <a:spcPct val="103000"/>
              </a:lnSpc>
              <a:spcAft>
                <a:spcPts val="300"/>
              </a:spcAft>
              <a:defRPr sz="810">
                <a:solidFill>
                  <a:srgbClr val="21242A"/>
                </a:solidFill>
                <a:latin typeface="Microsoft YaHei"/>
              </a:defRPr>
            </a:pPr>
            <a:r>
              <a:t>登记号：NCT04663347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epcoritamab+r-mini-chop治疗老年新诊断dlbcl患者2年缓解和mrd阴性率高：epcore nh...</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 r-mini-chop results in 2-year remissions and high mrd-negativit...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Dose-attenuated rituximab plus cyclophosphamide, doxorubicin, vincristine, and prednisone (R-mini-CHOP) is a standard of care (SOC) for patients (pt</a:t>
            </a:r>
          </a:p>
          <a:p>
            <a:pPr>
              <a:lnSpc>
                <a:spcPct val="103000"/>
              </a:lnSpc>
              <a:spcAft>
                <a:spcPts val="300"/>
              </a:spcAft>
              <a:defRPr sz="570">
                <a:solidFill>
                  <a:srgbClr val="21242A"/>
                </a:solidFill>
                <a:latin typeface="Microsoft YaHei"/>
              </a:defRPr>
            </a:pPr>
            <a:r>
              <a:t>s) with newly diagnosed (1L) DLBCL unable to receive full-dose R-CHOP due to age or comorbidities.</a:t>
            </a:r>
          </a:p>
          <a:p>
            <a:pPr>
              <a:lnSpc>
                <a:spcPct val="103000"/>
              </a:lnSpc>
              <a:spcAft>
                <a:spcPts val="300"/>
              </a:spcAft>
              <a:defRPr sz="570">
                <a:solidFill>
                  <a:srgbClr val="21242A"/>
                </a:solidFill>
                <a:latin typeface="Microsoft YaHei"/>
              </a:defRPr>
            </a:pPr>
            <a:r>
              <a:t>Outcomes with R-mini-CHOP remain suboptimal, with 2-y PFS and OS rates of 47% and 59%, respectively.</a:t>
            </a:r>
          </a:p>
          <a:p>
            <a:pPr>
              <a:lnSpc>
                <a:spcPct val="103000"/>
              </a:lnSpc>
              <a:spcAft>
                <a:spcPts val="300"/>
              </a:spcAft>
              <a:defRPr sz="570">
                <a:solidFill>
                  <a:srgbClr val="21242A"/>
                </a:solidFill>
                <a:latin typeface="Microsoft YaHei"/>
              </a:defRPr>
            </a:pPr>
            <a:r>
              <a:t>Aims: To report &gt; 2-y follow-up results of epcoritamab, a CD3×CD20 bispecific antibody, plus R-mini-CHOP in elderly pts with 1L DLBCL ineligible for full-dose R</a:t>
            </a:r>
          </a:p>
          <a:p>
            <a:pPr>
              <a:lnSpc>
                <a:spcPct val="103000"/>
              </a:lnSpc>
              <a:spcAft>
                <a:spcPts val="300"/>
              </a:spcAft>
              <a:defRPr sz="570">
                <a:solidFill>
                  <a:srgbClr val="21242A"/>
                </a:solidFill>
                <a:latin typeface="Microsoft YaHei"/>
              </a:defRPr>
            </a:pPr>
            <a:r>
              <a:t>-CHOP from the phase 1b/2 EPCORE ® NHL-2 trial (NCT04663347).</a:t>
            </a:r>
          </a:p>
          <a:p>
            <a:pPr>
              <a:lnSpc>
                <a:spcPct val="103000"/>
              </a:lnSpc>
              <a:spcAft>
                <a:spcPts val="300"/>
              </a:spcAft>
              <a:defRPr sz="570">
                <a:solidFill>
                  <a:srgbClr val="21242A"/>
                </a:solidFill>
                <a:latin typeface="Microsoft YaHei"/>
              </a:defRPr>
            </a:pPr>
            <a:r>
              <a:t>Methods: Adults with 1L CD20+ DLBCL, ineligible for full dose R-CHOP due to age ≥ 75 y or ≥ 65 y with comorbidities, received fixed-duration SC epcoritamab 48 m</a:t>
            </a:r>
          </a:p>
          <a:p>
            <a:pPr>
              <a:lnSpc>
                <a:spcPct val="103000"/>
              </a:lnSpc>
              <a:spcAft>
                <a:spcPts val="300"/>
              </a:spcAft>
              <a:defRPr sz="570">
                <a:solidFill>
                  <a:srgbClr val="21242A"/>
                </a:solidFill>
                <a:latin typeface="Microsoft YaHei"/>
              </a:defRPr>
            </a:pPr>
            <a:r>
              <a:t>g (QW, cycle(s) [C] 1–2 [21 d each]; Q3W, C3–6 [21 d each]; Q4W, C7–8 [28 d each]; with step-up dosing in C1 [0.16 mg on C1 day 1 (D1) and 0.8 mg on C1D8]) + R-</a:t>
            </a:r>
          </a:p>
          <a:p>
            <a:pPr>
              <a:lnSpc>
                <a:spcPct val="103000"/>
              </a:lnSpc>
              <a:spcAft>
                <a:spcPts val="300"/>
              </a:spcAft>
              <a:defRPr sz="570">
                <a:solidFill>
                  <a:srgbClr val="21242A"/>
                </a:solidFill>
                <a:latin typeface="Microsoft YaHei"/>
              </a:defRPr>
            </a:pPr>
            <a:r>
              <a:t>mini-CHOP (Q3W, C1–6).</a:t>
            </a:r>
          </a:p>
          <a:p>
            <a:pPr>
              <a:lnSpc>
                <a:spcPct val="103000"/>
              </a:lnSpc>
              <a:spcAft>
                <a:spcPts val="300"/>
              </a:spcAft>
              <a:defRPr sz="570">
                <a:solidFill>
                  <a:srgbClr val="21242A"/>
                </a:solidFill>
                <a:latin typeface="Microsoft YaHei"/>
              </a:defRPr>
            </a:pPr>
            <a:r>
              <a:t>The primary endpoint was ORR per Lugano criteria. MRD negativity, defined as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Fixed-duration epcoritamab + R-mini-CHOP led to high ORR and CR rates, rapid and sustained MRD negativity, and durable remissions in elderly pts with 1L DLBCL i</a:t>
            </a:r>
          </a:p>
          <a:p>
            <a:pPr>
              <a:lnSpc>
                <a:spcPct val="103000"/>
              </a:lnSpc>
              <a:spcAft>
                <a:spcPts val="300"/>
              </a:spcAft>
              <a:defRPr sz="590">
                <a:solidFill>
                  <a:srgbClr val="21242A"/>
                </a:solidFill>
                <a:latin typeface="Microsoft YaHei"/>
              </a:defRPr>
            </a:pPr>
            <a:r>
              <a:t>neligible for full-dose R-CHOP.</a:t>
            </a:r>
          </a:p>
          <a:p>
            <a:pPr>
              <a:lnSpc>
                <a:spcPct val="103000"/>
              </a:lnSpc>
              <a:spcAft>
                <a:spcPts val="300"/>
              </a:spcAft>
              <a:defRPr sz="590">
                <a:solidFill>
                  <a:srgbClr val="21242A"/>
                </a:solidFill>
                <a:latin typeface="Microsoft YaHei"/>
              </a:defRPr>
            </a:pPr>
            <a:r>
              <a:t>These outcomes compare favorably with historical outcomes of R-mini-CHOP alone.</a:t>
            </a:r>
          </a:p>
          <a:p>
            <a:pPr>
              <a:lnSpc>
                <a:spcPct val="103000"/>
              </a:lnSpc>
              <a:spcAft>
                <a:spcPts val="300"/>
              </a:spcAft>
              <a:defRPr sz="590">
                <a:solidFill>
                  <a:srgbClr val="21242A"/>
                </a:solidFill>
                <a:latin typeface="Microsoft YaHei"/>
              </a:defRPr>
            </a:pPr>
            <a:r>
              <a:t>Safety was consistent with prior reports and the known safety profiles of epcoritamab and R-mini-CHOP.</a:t>
            </a:r>
          </a:p>
          <a:p>
            <a:pPr>
              <a:lnSpc>
                <a:spcPct val="103000"/>
              </a:lnSpc>
              <a:spcAft>
                <a:spcPts val="300"/>
              </a:spcAft>
              <a:defRPr sz="590">
                <a:solidFill>
                  <a:srgbClr val="21242A"/>
                </a:solidFill>
                <a:latin typeface="Microsoft YaHei"/>
              </a:defRPr>
            </a:pPr>
            <a:r>
              <a:t>These results, along with those from other arms of the trial, support combinations of epcoritamab with SOC across a range of disease settings and pt populations</a:t>
            </a:r>
          </a:p>
          <a:p>
            <a:pPr>
              <a:lnSpc>
                <a:spcPct val="103000"/>
              </a:lnSpc>
              <a:spcAft>
                <a:spcPts val="300"/>
              </a:spcAft>
              <a:defRPr sz="590">
                <a:solidFill>
                  <a:srgbClr val="21242A"/>
                </a:solidFill>
                <a:latin typeface="Microsoft YaHei"/>
              </a:defRPr>
            </a:pPr>
            <a:r>
              <a:t>.</a:t>
            </a:r>
          </a:p>
          <a:p>
            <a:pPr>
              <a:lnSpc>
                <a:spcPct val="103000"/>
              </a:lnSpc>
              <a:spcAft>
                <a:spcPts val="300"/>
              </a:spcAft>
              <a:defRPr sz="590">
                <a:solidFill>
                  <a:srgbClr val="21242A"/>
                </a:solidFill>
                <a:latin typeface="Microsoft YaHei"/>
              </a:defRPr>
            </a:pPr>
            <a:r>
              <a:t>© American Society of Hematology (2025). Reused with permission.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3632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36328">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93%</a:t>
                      </a:r>
                    </a:p>
                  </a:txBody>
                  <a:tcPr>
                    <a:solidFill>
                      <a:srgbClr val="F6F8FB"/>
                    </a:solidFill>
                  </a:tcPr>
                </a:tc>
              </a:tr>
              <a:tr h="136328">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86%</a:t>
                      </a:r>
                    </a:p>
                  </a:txBody>
                  <a:tcPr>
                    <a:solidFill>
                      <a:srgbClr val="FFFFFF"/>
                    </a:solidFill>
                  </a:tcPr>
                </a:tc>
              </a:tr>
              <a:tr h="136328">
                <a:tc>
                  <a:txBody>
                    <a:bodyPr wrap="square" lIns="36576" rIns="36576" tIns="18288" bIns="18288"/>
                    <a:lstStyle/>
                    <a:p>
                      <a:r>
                        <a:rPr sz="540" b="1">
                          <a:solidFill>
                            <a:srgbClr val="21242A"/>
                          </a:solidFill>
                          <a:latin typeface="Microsoft YaHei"/>
                        </a:rPr>
                        <a:t>2年缓解持续时间（DOR）率</a:t>
                      </a:r>
                    </a:p>
                  </a:txBody>
                  <a:tcPr>
                    <a:solidFill>
                      <a:srgbClr val="F6F8FB"/>
                    </a:solidFill>
                  </a:tcPr>
                </a:tc>
                <a:tc>
                  <a:txBody>
                    <a:bodyPr wrap="square" lIns="36576" rIns="36576" tIns="18288" bIns="18288"/>
                    <a:lstStyle/>
                    <a:p>
                      <a:r>
                        <a:rPr sz="540" b="0">
                          <a:solidFill>
                            <a:srgbClr val="21242A"/>
                          </a:solidFill>
                          <a:latin typeface="Microsoft YaHei"/>
                        </a:rPr>
                        <a:t>79%</a:t>
                      </a:r>
                    </a:p>
                  </a:txBody>
                  <a:tcPr>
                    <a:solidFill>
                      <a:srgbClr val="F6F8FB"/>
                    </a:solidFill>
                  </a:tcPr>
                </a:tc>
              </a:tr>
              <a:tr h="136328">
                <a:tc>
                  <a:txBody>
                    <a:bodyPr wrap="square" lIns="36576" rIns="36576" tIns="18288" bIns="18288"/>
                    <a:lstStyle/>
                    <a:p>
                      <a:r>
                        <a:rPr sz="540" b="1">
                          <a:solidFill>
                            <a:srgbClr val="21242A"/>
                          </a:solidFill>
                          <a:latin typeface="Microsoft YaHei"/>
                        </a:rPr>
                        <a:t>2年完全缓解持续时间（DOCR）率</a:t>
                      </a:r>
                    </a:p>
                  </a:txBody>
                  <a:tcPr>
                    <a:solidFill>
                      <a:srgbClr val="FFFFFF"/>
                    </a:solidFill>
                  </a:tcPr>
                </a:tc>
                <a:tc>
                  <a:txBody>
                    <a:bodyPr wrap="square" lIns="36576" rIns="36576" tIns="18288" bIns="18288"/>
                    <a:lstStyle/>
                    <a:p>
                      <a:r>
                        <a:rPr sz="540" b="0">
                          <a:solidFill>
                            <a:srgbClr val="21242A"/>
                          </a:solidFill>
                          <a:latin typeface="Microsoft YaHei"/>
                        </a:rPr>
                        <a:t>79%</a:t>
                      </a:r>
                    </a:p>
                  </a:txBody>
                  <a:tcPr>
                    <a:solidFill>
                      <a:srgbClr val="FFFFFF"/>
                    </a:solidFill>
                  </a:tcPr>
                </a:tc>
              </a:tr>
              <a:tr h="136328">
                <a:tc>
                  <a:txBody>
                    <a:bodyPr wrap="square" lIns="36576" rIns="36576" tIns="18288" bIns="18288"/>
                    <a:lstStyle/>
                    <a:p>
                      <a:r>
                        <a:rPr sz="540" b="1">
                          <a:solidFill>
                            <a:srgbClr val="21242A"/>
                          </a:solidFill>
                          <a:latin typeface="Microsoft YaHei"/>
                        </a:rPr>
                        <a:t>2年无进展生存（PFS）率</a:t>
                      </a:r>
                    </a:p>
                  </a:txBody>
                  <a:tcPr>
                    <a:solidFill>
                      <a:srgbClr val="F6F8FB"/>
                    </a:solidFill>
                  </a:tcPr>
                </a:tc>
                <a:tc>
                  <a:txBody>
                    <a:bodyPr wrap="square" lIns="36576" rIns="36576" tIns="18288" bIns="18288"/>
                    <a:lstStyle/>
                    <a:p>
                      <a:r>
                        <a:rPr sz="540" b="0">
                          <a:solidFill>
                            <a:srgbClr val="21242A"/>
                          </a:solidFill>
                          <a:latin typeface="Microsoft YaHei"/>
                        </a:rPr>
                        <a:t>76%</a:t>
                      </a:r>
                    </a:p>
                  </a:txBody>
                  <a:tcPr>
                    <a:solidFill>
                      <a:srgbClr val="F6F8FB"/>
                    </a:solidFill>
                  </a:tcPr>
                </a:tc>
              </a:tr>
              <a:tr h="136328">
                <a:tc>
                  <a:txBody>
                    <a:bodyPr wrap="square" lIns="36576" rIns="36576" tIns="18288" bIns="18288"/>
                    <a:lstStyle/>
                    <a:p>
                      <a:r>
                        <a:rPr sz="540" b="1">
                          <a:solidFill>
                            <a:srgbClr val="21242A"/>
                          </a:solidFill>
                          <a:latin typeface="Microsoft YaHei"/>
                        </a:rPr>
                        <a:t>2年总生存（OS）率</a:t>
                      </a:r>
                    </a:p>
                  </a:txBody>
                  <a:tcPr>
                    <a:solidFill>
                      <a:srgbClr val="FFFFFF"/>
                    </a:solidFill>
                  </a:tcPr>
                </a:tc>
                <a:tc>
                  <a:txBody>
                    <a:bodyPr wrap="square" lIns="36576" rIns="36576" tIns="18288" bIns="18288"/>
                    <a:lstStyle/>
                    <a:p>
                      <a:r>
                        <a:rPr sz="540" b="0">
                          <a:solidFill>
                            <a:srgbClr val="21242A"/>
                          </a:solidFill>
                          <a:latin typeface="Microsoft YaHei"/>
                        </a:rPr>
                        <a:t>82%</a:t>
                      </a:r>
                    </a:p>
                  </a:txBody>
                  <a:tcPr>
                    <a:solidFill>
                      <a:srgbClr val="FFFFFF"/>
                    </a:solidFill>
                  </a:tcPr>
                </a:tc>
              </a:tr>
              <a:tr h="136328">
                <a:tc>
                  <a:txBody>
                    <a:bodyPr wrap="square" lIns="36576" rIns="36576" tIns="18288" bIns="18288"/>
                    <a:lstStyle/>
                    <a:p>
                      <a:r>
                        <a:rPr sz="540" b="1">
                          <a:solidFill>
                            <a:srgbClr val="21242A"/>
                          </a:solidFill>
                          <a:latin typeface="Microsoft YaHei"/>
                        </a:rPr>
                        <a:t>MRD阴性率</a:t>
                      </a:r>
                    </a:p>
                  </a:txBody>
                  <a:tcPr>
                    <a:solidFill>
                      <a:srgbClr val="F6F8FB"/>
                    </a:solidFill>
                  </a:tcPr>
                </a:tc>
                <a:tc>
                  <a:txBody>
                    <a:bodyPr wrap="square" lIns="36576" rIns="36576" tIns="18288" bIns="18288"/>
                    <a:lstStyle/>
                    <a:p>
                      <a:r>
                        <a:rPr sz="540" b="0">
                          <a:solidFill>
                            <a:srgbClr val="21242A"/>
                          </a:solidFill>
                          <a:latin typeface="Microsoft YaHei"/>
                        </a:rPr>
                        <a:t>95%（20/21）</a:t>
                      </a:r>
                    </a:p>
                  </a:txBody>
                  <a:tcPr>
                    <a:solidFill>
                      <a:srgbClr val="F6F8FB"/>
                    </a:solidFill>
                  </a:tcPr>
                </a:tc>
              </a:tr>
              <a:tr h="136328">
                <a:tc>
                  <a:txBody>
                    <a:bodyPr wrap="square" lIns="36576" rIns="36576" tIns="18288" bIns="18288"/>
                    <a:lstStyle/>
                    <a:p>
                      <a:r>
                        <a:rPr sz="540" b="1">
                          <a:solidFill>
                            <a:srgbClr val="21242A"/>
                          </a:solidFill>
                          <a:latin typeface="Microsoft YaHei"/>
                        </a:rPr>
                        <a:t>≥3级中性粒细胞减少</a:t>
                      </a:r>
                    </a:p>
                  </a:txBody>
                  <a:tcPr>
                    <a:solidFill>
                      <a:srgbClr val="FFFFFF"/>
                    </a:solidFill>
                  </a:tcPr>
                </a:tc>
                <a:tc>
                  <a:txBody>
                    <a:bodyPr wrap="square" lIns="36576" rIns="36576" tIns="18288" bIns="18288"/>
                    <a:lstStyle/>
                    <a:p>
                      <a:r>
                        <a:rPr sz="540" b="0">
                          <a:solidFill>
                            <a:srgbClr val="21242A"/>
                          </a:solidFill>
                          <a:latin typeface="Microsoft YaHei"/>
                        </a:rPr>
                        <a:t>43%</a:t>
                      </a:r>
                    </a:p>
                  </a:txBody>
                  <a:tcPr>
                    <a:solidFill>
                      <a:srgbClr val="FFFFFF"/>
                    </a:solidFill>
                  </a:tcPr>
                </a:tc>
              </a:tr>
              <a:tr h="136328">
                <a:tc>
                  <a:txBody>
                    <a:bodyPr wrap="square" lIns="36576" rIns="36576" tIns="18288" bIns="18288"/>
                    <a:lstStyle/>
                    <a:p>
                      <a:r>
                        <a:rPr sz="540" b="1">
                          <a:solidFill>
                            <a:srgbClr val="21242A"/>
                          </a:solidFill>
                          <a:latin typeface="Microsoft YaHei"/>
                        </a:rPr>
                        <a:t>严重感染</a:t>
                      </a:r>
                    </a:p>
                  </a:txBody>
                  <a:tcPr>
                    <a:solidFill>
                      <a:srgbClr val="F6F8FB"/>
                    </a:solidFill>
                  </a:tcPr>
                </a:tc>
                <a:tc>
                  <a:txBody>
                    <a:bodyPr wrap="square" lIns="36576" rIns="36576" tIns="18288" bIns="18288"/>
                    <a:lstStyle/>
                    <a:p>
                      <a:r>
                        <a:rPr sz="540" b="0">
                          <a:solidFill>
                            <a:srgbClr val="21242A"/>
                          </a:solidFill>
                          <a:latin typeface="Microsoft YaHei"/>
                        </a:rPr>
                        <a:t>32%</a:t>
                      </a:r>
                    </a:p>
                  </a:txBody>
                  <a:tcPr>
                    <a:solidFill>
                      <a:srgbClr val="F6F8FB"/>
                    </a:solidFill>
                  </a:tcPr>
                </a:tc>
              </a:tr>
              <a:tr h="136336">
                <a:tc>
                  <a:txBody>
                    <a:bodyPr wrap="square" lIns="36576" rIns="36576" tIns="18288" bIns="18288"/>
                    <a:lstStyle/>
                    <a:p>
                      <a:r>
                        <a:rPr sz="540" b="1">
                          <a:solidFill>
                            <a:srgbClr val="21242A"/>
                          </a:solidFill>
                          <a:latin typeface="Microsoft YaHei"/>
                        </a:rPr>
                        <a:t>贫血</a:t>
                      </a:r>
                    </a:p>
                  </a:txBody>
                  <a:tcPr>
                    <a:solidFill>
                      <a:srgbClr val="FFFFFF"/>
                    </a:solidFill>
                  </a:tcPr>
                </a:tc>
                <a:tc>
                  <a:txBody>
                    <a:bodyPr wrap="square" lIns="36576" rIns="36576" tIns="18288" bIns="18288"/>
                    <a:lstStyle/>
                    <a:p>
                      <a:r>
                        <a:rPr sz="540" b="0">
                          <a:solidFill>
                            <a:srgbClr val="21242A"/>
                          </a:solidFill>
                          <a:latin typeface="Microsoft YaHei"/>
                        </a:rPr>
                        <a:t>14%</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摘要号：PF1007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北欧淋巴瘤组3期北极熊试验在老年或体弱弥漫性大细胞淋巴瘤患者中的安全性数据和初步合并疗效数据-r-polamini-c...</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data and initial pooled efficacy data from the nordic lymphoma group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N=300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多组/多方案比较：试验组1：R-miniCHOP（标准治疗组）</a:t>
            </a:r>
          </a:p>
          <a:p>
            <a:pPr>
              <a:lnSpc>
                <a:spcPct val="103000"/>
              </a:lnSpc>
              <a:spcAft>
                <a:spcPts val="300"/>
              </a:spcAft>
              <a:defRPr sz="800">
                <a:solidFill>
                  <a:srgbClr val="21242A"/>
                </a:solidFill>
                <a:latin typeface="Microsoft YaHei"/>
              </a:defRPr>
            </a:pPr>
            <a:r>
              <a:t>试验组2：Pola-R-miniCHP（实验组，polatuzumab vedotin替代长春新碱）</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不良事件（AE）：任何等级AE发生率未明确给出，但报告了≥3级AE在Arm A为30%，Arm B为36%</a:t>
            </a:r>
          </a:p>
          <a:p>
            <a:pPr>
              <a:lnSpc>
                <a:spcPct val="103000"/>
              </a:lnSpc>
              <a:spcAft>
                <a:spcPts val="300"/>
              </a:spcAft>
              <a:defRPr sz="800">
                <a:solidFill>
                  <a:srgbClr val="21242A"/>
                </a:solidFill>
                <a:latin typeface="Microsoft YaHei"/>
              </a:defRPr>
            </a:pPr>
            <a:r>
              <a:t>感染≥3级：Arm A 7.3%，Arm B 12.7%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人数：300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登记号：NCT04332822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北欧淋巴瘤组3期北极熊试验在老年或体弱弥漫性大细胞淋巴瘤患者中的安全性数据和初步合并疗效数据-r-polamini-c...</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data and initial pooled efficacy data from the nordic lymphoma group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For patients with diffuse large B-cell lymphoma (DLBCL), overall survival (OS) has substantially improved during the last decade.</a:t>
            </a:r>
          </a:p>
          <a:p>
            <a:pPr>
              <a:lnSpc>
                <a:spcPct val="103000"/>
              </a:lnSpc>
              <a:spcAft>
                <a:spcPts val="300"/>
              </a:spcAft>
              <a:defRPr sz="570">
                <a:solidFill>
                  <a:srgbClr val="21242A"/>
                </a:solidFill>
                <a:latin typeface="Microsoft YaHei"/>
              </a:defRPr>
            </a:pPr>
            <a:r>
              <a:t>An exception is the group of patients above 80 years of age, a group that also constitutes an increasing proportion of DLBCL patients due to a demographic shift</a:t>
            </a:r>
          </a:p>
          <a:p>
            <a:pPr>
              <a:lnSpc>
                <a:spcPct val="103000"/>
              </a:lnSpc>
              <a:spcAft>
                <a:spcPts val="300"/>
              </a:spcAft>
              <a:defRPr sz="570">
                <a:solidFill>
                  <a:srgbClr val="21242A"/>
                </a:solidFill>
                <a:latin typeface="Microsoft YaHei"/>
              </a:defRPr>
            </a:pPr>
            <a:r>
              <a:t>, with a progressively aging population.</a:t>
            </a:r>
          </a:p>
          <a:p>
            <a:pPr>
              <a:lnSpc>
                <a:spcPct val="103000"/>
              </a:lnSpc>
              <a:spcAft>
                <a:spcPts val="300"/>
              </a:spcAft>
              <a:defRPr sz="570">
                <a:solidFill>
                  <a:srgbClr val="21242A"/>
                </a:solidFill>
                <a:latin typeface="Microsoft YaHei"/>
              </a:defRPr>
            </a:pPr>
            <a:r>
              <a:t>Effective and safe treatment for this population is an obvious unmet medical need.</a:t>
            </a:r>
          </a:p>
          <a:p>
            <a:pPr>
              <a:lnSpc>
                <a:spcPct val="103000"/>
              </a:lnSpc>
              <a:spcAft>
                <a:spcPts val="300"/>
              </a:spcAft>
              <a:defRPr sz="570">
                <a:solidFill>
                  <a:srgbClr val="21242A"/>
                </a:solidFill>
                <a:latin typeface="Microsoft YaHei"/>
              </a:defRPr>
            </a:pPr>
            <a:r>
              <a:t>Aims: In this randomized phase 3 trial (NCT04332822), we evaluated tolerability and efficacy of Pola-R-mini-CHP as first line treatment for elderly/frail patien</a:t>
            </a:r>
          </a:p>
          <a:p>
            <a:pPr>
              <a:lnSpc>
                <a:spcPct val="103000"/>
              </a:lnSpc>
              <a:spcAft>
                <a:spcPts val="300"/>
              </a:spcAft>
              <a:defRPr sz="570">
                <a:solidFill>
                  <a:srgbClr val="21242A"/>
                </a:solidFill>
                <a:latin typeface="Microsoft YaHei"/>
              </a:defRPr>
            </a:pPr>
            <a:r>
              <a:t>ts with DLBCL, compared to the current treatment standard, R-mini-CHOP.</a:t>
            </a:r>
          </a:p>
          <a:p>
            <a:pPr>
              <a:lnSpc>
                <a:spcPct val="103000"/>
              </a:lnSpc>
              <a:spcAft>
                <a:spcPts val="300"/>
              </a:spcAft>
              <a:defRPr sz="570">
                <a:solidFill>
                  <a:srgbClr val="21242A"/>
                </a:solidFill>
                <a:latin typeface="Microsoft YaHei"/>
              </a:defRPr>
            </a:pPr>
            <a:r>
              <a:t>Here, we present data on safety from the 300 patients in this trial, as well as efficacy pooled across treatment arms, including subgroups.</a:t>
            </a:r>
          </a:p>
          <a:p>
            <a:pPr>
              <a:lnSpc>
                <a:spcPct val="103000"/>
              </a:lnSpc>
              <a:spcAft>
                <a:spcPts val="300"/>
              </a:spcAft>
              <a:defRPr sz="570">
                <a:solidFill>
                  <a:srgbClr val="21242A"/>
                </a:solidFill>
                <a:latin typeface="Microsoft YaHei"/>
              </a:defRPr>
            </a:pPr>
            <a:r>
              <a:t>Methods: Patients with newly diagnosed DLBCL, &gt;80 years, or 75-80 years and frail, according to a simplified Comprehensive Geriatric Assessment, were randomized</a:t>
            </a:r>
          </a:p>
          <a:p>
            <a:pPr>
              <a:lnSpc>
                <a:spcPct val="103000"/>
              </a:lnSpc>
              <a:spcAft>
                <a:spcPts val="300"/>
              </a:spcAft>
              <a:defRPr sz="570">
                <a:solidFill>
                  <a:srgbClr val="21242A"/>
                </a:solidFill>
                <a:latin typeface="Microsoft YaHei"/>
              </a:defRPr>
            </a:pPr>
            <a:r>
              <a:t> 1:1 to either the standard treatment for this population, R-miniCHOP (Arm A), or an experimental regimen, Pola-R-miniCHP (Arm B), where vincristine is substitu</a:t>
            </a:r>
          </a:p>
          <a:p>
            <a:pPr>
              <a:lnSpc>
                <a:spcPct val="103000"/>
              </a:lnSpc>
              <a:spcAft>
                <a:spcPts val="300"/>
              </a:spcAft>
              <a:defRPr sz="570">
                <a:solidFill>
                  <a:srgbClr val="21242A"/>
                </a:solidFill>
                <a:latin typeface="Microsoft YaHei"/>
              </a:defRPr>
            </a:pPr>
            <a:r>
              <a:t>ted by polatuzumab vedotin, 1.8 mg/kg, day 1, both for 6 cycles.</a:t>
            </a:r>
          </a:p>
          <a:p>
            <a:pPr>
              <a:lnSpc>
                <a:spcPct val="103000"/>
              </a:lnSpc>
              <a:spcAft>
                <a:spcPts val="300"/>
              </a:spcAft>
              <a:defRPr sz="570">
                <a:solidFill>
                  <a:srgbClr val="21242A"/>
                </a:solidFill>
                <a:latin typeface="Microsoft YaHei"/>
              </a:defRPr>
            </a:pPr>
            <a:r>
              <a:t>The sample size is based on a target HR for PFS of 0.64, and the total number of events necessary to achieve at least 80% power with type I error α=0.05, is 158</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In this report, the highest grade of adverse event for each category, according to CTCAE v 5, was reported. The data cut-off was 31-AUG-2025.</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Rituximab/anthracycline-based chemotherapy remains the standard of care for elderly and frail patients with DLBCL, demonstrating excellent outcomes with accepta</a:t>
            </a:r>
          </a:p>
          <a:p>
            <a:pPr>
              <a:lnSpc>
                <a:spcPct val="103000"/>
              </a:lnSpc>
              <a:spcAft>
                <a:spcPts val="300"/>
              </a:spcAft>
              <a:defRPr sz="590">
                <a:solidFill>
                  <a:srgbClr val="21242A"/>
                </a:solidFill>
                <a:latin typeface="Microsoft YaHei"/>
              </a:defRPr>
            </a:pPr>
            <a:r>
              <a:t>ble tolerability.</a:t>
            </a:r>
          </a:p>
          <a:p>
            <a:pPr>
              <a:lnSpc>
                <a:spcPct val="103000"/>
              </a:lnSpc>
              <a:spcAft>
                <a:spcPts val="300"/>
              </a:spcAft>
              <a:defRPr sz="590">
                <a:solidFill>
                  <a:srgbClr val="21242A"/>
                </a:solidFill>
                <a:latin typeface="Microsoft YaHei"/>
              </a:defRPr>
            </a:pPr>
            <a:r>
              <a:t>Compared to historical data with R-mini-CHOP (Peyrade 2011), showing 2 year PFS of 47% and OS of 59%—our observed pooled 2-year PFS of 67% and OS of 76% are hig</a:t>
            </a:r>
          </a:p>
          <a:p>
            <a:pPr>
              <a:lnSpc>
                <a:spcPct val="103000"/>
              </a:lnSpc>
              <a:spcAft>
                <a:spcPts val="300"/>
              </a:spcAft>
              <a:defRPr sz="590">
                <a:solidFill>
                  <a:srgbClr val="21242A"/>
                </a:solidFill>
                <a:latin typeface="Microsoft YaHei"/>
              </a:defRPr>
            </a:pPr>
            <a:r>
              <a:t>hly encouraging.</a:t>
            </a:r>
          </a:p>
          <a:p>
            <a:pPr>
              <a:lnSpc>
                <a:spcPct val="103000"/>
              </a:lnSpc>
              <a:spcAft>
                <a:spcPts val="300"/>
              </a:spcAft>
              <a:defRPr sz="590">
                <a:solidFill>
                  <a:srgbClr val="21242A"/>
                </a:solidFill>
                <a:latin typeface="Microsoft YaHei"/>
              </a:defRPr>
            </a:pPr>
            <a:r>
              <a:t>Infectious complications, gastrointestinal toxicity, and peripheral neuropathy were generally manageable, and substitution of vincristine with polatuzumab vedot</a:t>
            </a:r>
          </a:p>
          <a:p>
            <a:pPr>
              <a:lnSpc>
                <a:spcPct val="103000"/>
              </a:lnSpc>
              <a:spcAft>
                <a:spcPts val="300"/>
              </a:spcAft>
              <a:defRPr sz="590">
                <a:solidFill>
                  <a:srgbClr val="21242A"/>
                </a:solidFill>
                <a:latin typeface="Microsoft YaHei"/>
              </a:defRPr>
            </a:pPr>
            <a:r>
              <a:t>in in the R-mini-CHOP did not result in a significant increase in either the incidence or severity of toxicity .</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不良事件（AE）</a:t>
                      </a:r>
                    </a:p>
                  </a:txBody>
                  <a:tcPr>
                    <a:solidFill>
                      <a:srgbClr val="F6F8FB"/>
                    </a:solidFill>
                  </a:tcPr>
                </a:tc>
                <a:tc>
                  <a:txBody>
                    <a:bodyPr wrap="square" lIns="36576" rIns="36576" tIns="18288" bIns="18288"/>
                    <a:lstStyle/>
                    <a:p>
                      <a:r>
                        <a:rPr sz="540" b="0">
                          <a:solidFill>
                            <a:srgbClr val="21242A"/>
                          </a:solidFill>
                          <a:latin typeface="Microsoft YaHei"/>
                        </a:rPr>
                        <a:t>任何等级AE发生率未明确给出，但报告了≥3级AE在Arm A为30%，Arm B为36%</a:t>
                      </a:r>
                    </a:p>
                  </a:txBody>
                  <a:tcPr>
                    <a:solidFill>
                      <a:srgbClr val="F6F8FB"/>
                    </a:solidFill>
                  </a:tcPr>
                </a:tc>
              </a:tr>
              <a:tr h="187452">
                <a:tc>
                  <a:txBody>
                    <a:bodyPr wrap="square" lIns="36576" rIns="36576" tIns="18288" bIns="18288"/>
                    <a:lstStyle/>
                    <a:p>
                      <a:r>
                        <a:rPr sz="540" b="1">
                          <a:solidFill>
                            <a:srgbClr val="21242A"/>
                          </a:solidFill>
                          <a:latin typeface="Microsoft YaHei"/>
                        </a:rPr>
                        <a:t>感染≥3级</a:t>
                      </a:r>
                    </a:p>
                  </a:txBody>
                  <a:tcPr>
                    <a:solidFill>
                      <a:srgbClr val="FFFFFF"/>
                    </a:solidFill>
                  </a:tcPr>
                </a:tc>
                <a:tc>
                  <a:txBody>
                    <a:bodyPr wrap="square" lIns="36576" rIns="36576" tIns="18288" bIns="18288"/>
                    <a:lstStyle/>
                    <a:p>
                      <a:r>
                        <a:rPr sz="540" b="0">
                          <a:solidFill>
                            <a:srgbClr val="21242A"/>
                          </a:solidFill>
                          <a:latin typeface="Microsoft YaHei"/>
                        </a:rPr>
                        <a:t>Arm A 7.3%，Arm B 12.7%</a:t>
                      </a:r>
                    </a:p>
                  </a:txBody>
                  <a:tcPr>
                    <a:solidFill>
                      <a:srgbClr val="FFFFFF"/>
                    </a:solidFill>
                  </a:tcPr>
                </a:tc>
              </a:tr>
              <a:tr h="187452">
                <a:tc>
                  <a:txBody>
                    <a:bodyPr wrap="square" lIns="36576" rIns="36576" tIns="18288" bIns="18288"/>
                    <a:lstStyle/>
                    <a:p>
                      <a:r>
                        <a:rPr sz="540" b="1">
                          <a:solidFill>
                            <a:srgbClr val="21242A"/>
                          </a:solidFill>
                          <a:latin typeface="Microsoft YaHei"/>
                        </a:rPr>
                        <a:t>胃肠道毒性&gt;2级</a:t>
                      </a:r>
                    </a:p>
                  </a:txBody>
                  <a:tcPr>
                    <a:solidFill>
                      <a:srgbClr val="F6F8FB"/>
                    </a:solidFill>
                  </a:tcPr>
                </a:tc>
                <a:tc>
                  <a:txBody>
                    <a:bodyPr wrap="square" lIns="36576" rIns="36576" tIns="18288" bIns="18288"/>
                    <a:lstStyle/>
                    <a:p>
                      <a:r>
                        <a:rPr sz="540" b="0">
                          <a:solidFill>
                            <a:srgbClr val="21242A"/>
                          </a:solidFill>
                          <a:latin typeface="Microsoft YaHei"/>
                        </a:rPr>
                        <a:t>Arm A 3.3%，Arm B 6%</a:t>
                      </a:r>
                    </a:p>
                  </a:txBody>
                  <a:tcPr>
                    <a:solidFill>
                      <a:srgbClr val="F6F8FB"/>
                    </a:solidFill>
                  </a:tcPr>
                </a:tc>
              </a:tr>
              <a:tr h="187452">
                <a:tc>
                  <a:txBody>
                    <a:bodyPr wrap="square" lIns="36576" rIns="36576" tIns="18288" bIns="18288"/>
                    <a:lstStyle/>
                    <a:p>
                      <a:r>
                        <a:rPr sz="540" b="1">
                          <a:solidFill>
                            <a:srgbClr val="21242A"/>
                          </a:solidFill>
                          <a:latin typeface="Microsoft YaHei"/>
                        </a:rPr>
                        <a:t>周围神经病变1-2级</a:t>
                      </a:r>
                    </a:p>
                  </a:txBody>
                  <a:tcPr>
                    <a:solidFill>
                      <a:srgbClr val="FFFFFF"/>
                    </a:solidFill>
                  </a:tcPr>
                </a:tc>
                <a:tc>
                  <a:txBody>
                    <a:bodyPr wrap="square" lIns="36576" rIns="36576" tIns="18288" bIns="18288"/>
                    <a:lstStyle/>
                    <a:p>
                      <a:r>
                        <a:rPr sz="540" b="0">
                          <a:solidFill>
                            <a:srgbClr val="21242A"/>
                          </a:solidFill>
                          <a:latin typeface="Microsoft YaHei"/>
                        </a:rPr>
                        <a:t>Arm A 10.7%，Arm B 17.3%，≥3级仅Arm B 2例</a:t>
                      </a:r>
                    </a:p>
                  </a:txBody>
                  <a:tcPr>
                    <a:solidFill>
                      <a:srgbClr val="FFFFFF"/>
                    </a:solidFill>
                  </a:tcPr>
                </a:tc>
              </a:tr>
              <a:tr h="187452">
                <a:tc>
                  <a:txBody>
                    <a:bodyPr wrap="square" lIns="36576" rIns="36576" tIns="18288" bIns="18288"/>
                    <a:lstStyle/>
                    <a:p>
                      <a:r>
                        <a:rPr sz="540" b="1">
                          <a:solidFill>
                            <a:srgbClr val="21242A"/>
                          </a:solidFill>
                          <a:latin typeface="Microsoft YaHei"/>
                        </a:rPr>
                        <a:t>5级AE</a:t>
                      </a:r>
                    </a:p>
                  </a:txBody>
                  <a:tcPr>
                    <a:solidFill>
                      <a:srgbClr val="F6F8FB"/>
                    </a:solidFill>
                  </a:tcPr>
                </a:tc>
                <a:tc>
                  <a:txBody>
                    <a:bodyPr wrap="square" lIns="36576" rIns="36576" tIns="18288" bIns="18288"/>
                    <a:lstStyle/>
                    <a:p>
                      <a:r>
                        <a:rPr sz="540" b="0">
                          <a:solidFill>
                            <a:srgbClr val="21242A"/>
                          </a:solidFill>
                          <a:latin typeface="Microsoft YaHei"/>
                        </a:rPr>
                        <a:t>Arm A 2例，Arm B 8例</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血液学毒性两组无差异。</a:t>
                      </a:r>
                    </a:p>
                  </a:txBody>
                  <a:tcPr>
                    <a:solidFill>
                      <a:srgbClr val="FFFFFF"/>
                    </a:solidFill>
                  </a:tcPr>
                </a:tc>
              </a:tr>
              <a:tr h="187452">
                <a:tc>
                  <a:txBody>
                    <a:bodyPr wrap="square" lIns="36576" rIns="36576" tIns="18288" bIns="18288"/>
                    <a:lstStyle/>
                    <a:p>
                      <a:r>
                        <a:rPr sz="540" b="1">
                          <a:solidFill>
                            <a:srgbClr val="21242A"/>
                          </a:solidFill>
                          <a:latin typeface="Microsoft YaHei"/>
                        </a:rPr>
                        <a:t>疗效</a:t>
                      </a:r>
                    </a:p>
                  </a:txBody>
                  <a:tcPr>
                    <a:solidFill>
                      <a:srgbClr val="F6F8FB"/>
                    </a:solidFill>
                  </a:tcPr>
                </a:tc>
                <a:tc>
                  <a:txBody>
                    <a:bodyPr wrap="square" lIns="36576" rIns="36576" tIns="18288" bIns="18288"/>
                    <a:lstStyle/>
                    <a:p>
                      <a:r>
                        <a:rPr sz="540" b="0">
                          <a:solidFill>
                            <a:srgbClr val="21242A"/>
                          </a:solidFill>
                          <a:latin typeface="Microsoft YaHei"/>
                        </a:rPr>
                        <a:t>合并的2年无进展生存期（PFS）为67%（95%CI 60-73）；合并的2年总生存期（OS）为76%；总事件85例，其中35例死亡为首发事件。</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摘要号：S238</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克隆性造血与接受dlbcl治疗的老年患者持续贫血有关：北极熊3期试验分析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hematopoiesis is associated with persisting anemia in elderly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多组/多方案比较：试验组1：R-miniCHOP</a:t>
            </a:r>
          </a:p>
          <a:p>
            <a:pPr>
              <a:lnSpc>
                <a:spcPct val="103000"/>
              </a:lnSpc>
              <a:spcAft>
                <a:spcPts val="300"/>
              </a:spcAft>
              <a:defRPr sz="800">
                <a:solidFill>
                  <a:srgbClr val="21242A"/>
                </a:solidFill>
                <a:latin typeface="Microsoft YaHei"/>
              </a:defRPr>
            </a:pPr>
            <a:r>
              <a:t>试验组2：R-miniCHP-polatuzumab vedotin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基线CHIP检出率：40% (92/228)</a:t>
            </a:r>
          </a:p>
          <a:p>
            <a:pPr>
              <a:lnSpc>
                <a:spcPct val="103000"/>
              </a:lnSpc>
              <a:spcAft>
                <a:spcPts val="300"/>
              </a:spcAft>
              <a:defRPr sz="800">
                <a:solidFill>
                  <a:srgbClr val="21242A"/>
                </a:solidFill>
                <a:latin typeface="Microsoft YaHei"/>
              </a:defRPr>
            </a:pPr>
            <a:r>
              <a:t>常见突变基因：DNMT3A (n=55), TET2 (n=45), SF3B1 (n=15)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人数：228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登记号：NCT04332822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克隆性造血与接受dlbcl治疗的老年患者持续贫血有关：北极熊3期试验分析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hematopoiesis is associated with persisting anemia in elderly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Cytopenias are common during immunochemotherapy, particularly among elderly patients (pts), and often result in dose reductions, diminishing treatme</a:t>
            </a:r>
          </a:p>
          <a:p>
            <a:pPr>
              <a:lnSpc>
                <a:spcPct val="103000"/>
              </a:lnSpc>
              <a:spcAft>
                <a:spcPts val="300"/>
              </a:spcAft>
              <a:defRPr sz="570">
                <a:solidFill>
                  <a:srgbClr val="21242A"/>
                </a:solidFill>
                <a:latin typeface="Microsoft YaHei"/>
              </a:defRPr>
            </a:pPr>
            <a:r>
              <a:t>nt efficacy.</a:t>
            </a:r>
          </a:p>
          <a:p>
            <a:pPr>
              <a:lnSpc>
                <a:spcPct val="103000"/>
              </a:lnSpc>
              <a:spcAft>
                <a:spcPts val="300"/>
              </a:spcAft>
              <a:defRPr sz="570">
                <a:solidFill>
                  <a:srgbClr val="21242A"/>
                </a:solidFill>
                <a:latin typeface="Microsoft YaHei"/>
              </a:defRPr>
            </a:pPr>
            <a:r>
              <a:t>The factors predicting these toxicities remain to be identified.</a:t>
            </a:r>
          </a:p>
          <a:p>
            <a:pPr>
              <a:lnSpc>
                <a:spcPct val="103000"/>
              </a:lnSpc>
              <a:spcAft>
                <a:spcPts val="300"/>
              </a:spcAft>
              <a:defRPr sz="570">
                <a:solidFill>
                  <a:srgbClr val="21242A"/>
                </a:solidFill>
                <a:latin typeface="Microsoft YaHei"/>
              </a:defRPr>
            </a:pPr>
            <a:r>
              <a:t>Clonal hematopoiesis of indeterminate potential (CHIP), defined as somatic mutations in myeloid cells, in pts with lymphoma et al . Leukemia 2020).</a:t>
            </a:r>
          </a:p>
          <a:p>
            <a:pPr>
              <a:lnSpc>
                <a:spcPct val="103000"/>
              </a:lnSpc>
              <a:spcAft>
                <a:spcPts val="300"/>
              </a:spcAft>
              <a:defRPr sz="570">
                <a:solidFill>
                  <a:srgbClr val="21242A"/>
                </a:solidFill>
                <a:latin typeface="Microsoft YaHei"/>
              </a:defRPr>
            </a:pPr>
            <a:r>
              <a:t>In particular, mutations in DNA repair pathway genes have been associated with poor survival.</a:t>
            </a:r>
          </a:p>
          <a:p>
            <a:pPr>
              <a:lnSpc>
                <a:spcPct val="103000"/>
              </a:lnSpc>
              <a:spcAft>
                <a:spcPts val="300"/>
              </a:spcAft>
              <a:defRPr sz="570">
                <a:solidFill>
                  <a:srgbClr val="21242A"/>
                </a:solidFill>
                <a:latin typeface="Microsoft YaHei"/>
              </a:defRPr>
            </a:pPr>
            <a:r>
              <a:t>To our knowledge, the impact of CHIP on elderly pts with lymphoma has not been extensively studied.</a:t>
            </a:r>
          </a:p>
          <a:p>
            <a:pPr>
              <a:lnSpc>
                <a:spcPct val="103000"/>
              </a:lnSpc>
              <a:spcAft>
                <a:spcPts val="300"/>
              </a:spcAft>
              <a:defRPr sz="570">
                <a:solidFill>
                  <a:srgbClr val="21242A"/>
                </a:solidFill>
                <a:latin typeface="Microsoft YaHei"/>
              </a:defRPr>
            </a:pPr>
            <a:r>
              <a:t>Aims: To investigate the impact of clonal hematopoiesis on toxicity in elderly patients with aggressive lymphoma undergoing curative-intent chemotherapy.</a:t>
            </a:r>
          </a:p>
          <a:p>
            <a:pPr>
              <a:lnSpc>
                <a:spcPct val="103000"/>
              </a:lnSpc>
              <a:spcAft>
                <a:spcPts val="300"/>
              </a:spcAft>
              <a:defRPr sz="570">
                <a:solidFill>
                  <a:srgbClr val="21242A"/>
                </a:solidFill>
                <a:latin typeface="Microsoft YaHei"/>
              </a:defRPr>
            </a:pPr>
            <a:r>
              <a:t>Methods: A total of 393 blood samples - peripheral granulocyte pellets – from 228 pts in the phase 3 POLAR BEAR trial (NCT04332822; elderly pts with DLBCL, 1st </a:t>
            </a:r>
          </a:p>
          <a:p>
            <a:pPr>
              <a:lnSpc>
                <a:spcPct val="103000"/>
              </a:lnSpc>
              <a:spcAft>
                <a:spcPts val="300"/>
              </a:spcAft>
              <a:defRPr sz="570">
                <a:solidFill>
                  <a:srgbClr val="21242A"/>
                </a:solidFill>
                <a:latin typeface="Microsoft YaHei"/>
              </a:defRPr>
            </a:pPr>
            <a:r>
              <a:t>line, randomized 1:1 to R-miniCHOP or R-miniCHP-polatuzumab vedotin) were collected prospectively and analyzed for CHIP by targeted next-generation sequencing o</a:t>
            </a:r>
          </a:p>
          <a:p>
            <a:pPr>
              <a:lnSpc>
                <a:spcPct val="103000"/>
              </a:lnSpc>
              <a:spcAft>
                <a:spcPts val="300"/>
              </a:spcAft>
              <a:defRPr sz="570">
                <a:solidFill>
                  <a:srgbClr val="21242A"/>
                </a:solidFill>
                <a:latin typeface="Microsoft YaHei"/>
              </a:defRPr>
            </a:pPr>
            <a:r>
              <a:t>f 31 genes associated with clonal hematopoiesis (min.</a:t>
            </a:r>
          </a:p>
          <a:p>
            <a:pPr>
              <a:lnSpc>
                <a:spcPct val="103000"/>
              </a:lnSpc>
              <a:spcAft>
                <a:spcPts val="300"/>
              </a:spcAft>
              <a:defRPr sz="570">
                <a:solidFill>
                  <a:srgbClr val="21242A"/>
                </a:solidFill>
                <a:latin typeface="Microsoft YaHei"/>
              </a:defRPr>
            </a:pPr>
            <a:r>
              <a:t>depth of 1000X). The cut-off for mutation detection was variant allele frequency (VAF) 2.0%.</a:t>
            </a:r>
          </a:p>
          <a:p>
            <a:pPr>
              <a:lnSpc>
                <a:spcPct val="103000"/>
              </a:lnSpc>
              <a:spcAft>
                <a:spcPts val="300"/>
              </a:spcAft>
              <a:defRPr sz="570">
                <a:solidFill>
                  <a:srgbClr val="21242A"/>
                </a:solidFill>
                <a:latin typeface="Microsoft YaHei"/>
              </a:defRPr>
            </a:pPr>
            <a:r>
              <a:t>Paired baseline and post-treatment samples were available for 161 pts. The study arm of patients has not yet been unblinded.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CHIP is very common in elderly pts with DLBCL treated with immunochemotherapy and large clones are associated with persistent anemia.</a:t>
            </a:r>
          </a:p>
          <a:p>
            <a:pPr>
              <a:lnSpc>
                <a:spcPct val="103000"/>
              </a:lnSpc>
              <a:spcAft>
                <a:spcPts val="300"/>
              </a:spcAft>
              <a:defRPr sz="590">
                <a:solidFill>
                  <a:srgbClr val="21242A"/>
                </a:solidFill>
                <a:latin typeface="Microsoft YaHei"/>
              </a:defRPr>
            </a:pPr>
            <a:r>
              <a:t>In sequential samples we identify clonal evolutionary patterns with growth/gain of mutations associated with therapy-related leukemia.</a:t>
            </a:r>
          </a:p>
          <a:p>
            <a:pPr>
              <a:lnSpc>
                <a:spcPct val="103000"/>
              </a:lnSpc>
              <a:spcAft>
                <a:spcPts val="300"/>
              </a:spcAft>
              <a:defRPr sz="590">
                <a:solidFill>
                  <a:srgbClr val="21242A"/>
                </a:solidFill>
                <a:latin typeface="Microsoft YaHei"/>
              </a:defRPr>
            </a:pPr>
            <a:r>
              <a:t>We also find that SF3B1 -mutated CHIP clones shrink during immunochemotherapy, which to our knowledge has not been described previously.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基线CHIP检出率：40% (92/228)；常见突变基因：DNMT3A (n=55), TET2 (n=45), SF3B1 (n=15)；大CHIP克隆(VAF≥10%, n=33)患者存在持续性贫血，治疗后未恢复；治疗后出现/增长与治疗相关白血病相关的突变 (TP53和PPM1D, n=7)；SF3B1</a:t>
            </a:r>
          </a:p>
          <a:p>
            <a:pPr>
              <a:lnSpc>
                <a:spcPct val="103000"/>
              </a:lnSpc>
              <a:spcAft>
                <a:spcPts val="300"/>
              </a:spcAft>
              <a:defRPr sz="580">
                <a:solidFill>
                  <a:srgbClr val="21242A"/>
                </a:solidFill>
                <a:latin typeface="Microsoft YaHei"/>
              </a:defRPr>
            </a:pPr>
            <a:r>
              <a:t>突变克隆在免疫化疗后迅速缩小(VAF下降≥40%, n=9)</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摘要号：PS2184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基于polatuzumab vedotin的弥漫性大b细胞淋巴瘤一线治疗的真实疗效、安全性和分子特征：一项具有综合gs...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safety, and molecular characterization of polatuzumab ve...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多组/多方案比较：试验组1：Pola-R-CHP（polatuzumab vedotin, rituximab, cyclop...</a:t>
            </a:r>
          </a:p>
          <a:p>
            <a:pPr>
              <a:lnSpc>
                <a:spcPct val="103000"/>
              </a:lnSpc>
              <a:spcAft>
                <a:spcPts val="300"/>
              </a:spcAft>
              <a:defRPr sz="800">
                <a:solidFill>
                  <a:srgbClr val="21242A"/>
                </a:solidFill>
                <a:latin typeface="Microsoft YaHei"/>
              </a:defRPr>
            </a:pPr>
            <a:r>
              <a:t>试验组2：Pola-R-miniCHP（polatuzumab vedotin, rituximab, cyclophosph...</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最佳总缓解率(ORR): 90.2%</a:t>
            </a:r>
          </a:p>
          <a:p>
            <a:pPr>
              <a:lnSpc>
                <a:spcPct val="103000"/>
              </a:lnSpc>
              <a:spcAft>
                <a:spcPts val="300"/>
              </a:spcAft>
              <a:defRPr sz="800">
                <a:solidFill>
                  <a:srgbClr val="21242A"/>
                </a:solidFill>
                <a:latin typeface="Microsoft YaHei"/>
              </a:defRPr>
            </a:pPr>
            <a:r>
              <a:t>完全缓解(CR): 84.3%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基于polatuzumab vedotin的弥漫性大b细胞淋巴瘤一线治疗的真实疗效、安全性和分子特征：一项具有综合gs...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safety, and molecular characterization of polatuzumab ve...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Optimizing first-line treatment for diffuse large B-cell lymphoma (DLBCL) remains clinically challenging, particularly in older and frail patients w</a:t>
            </a:r>
          </a:p>
          <a:p>
            <a:pPr>
              <a:lnSpc>
                <a:spcPct val="103000"/>
              </a:lnSpc>
              <a:spcAft>
                <a:spcPts val="300"/>
              </a:spcAft>
              <a:defRPr sz="570">
                <a:solidFill>
                  <a:srgbClr val="21242A"/>
                </a:solidFill>
                <a:latin typeface="Microsoft YaHei"/>
              </a:defRPr>
            </a:pPr>
            <a:r>
              <a:t>ho are frequently underrepresented in prospective clinical trials.</a:t>
            </a:r>
          </a:p>
          <a:p>
            <a:pPr>
              <a:lnSpc>
                <a:spcPct val="103000"/>
              </a:lnSpc>
              <a:spcAft>
                <a:spcPts val="300"/>
              </a:spcAft>
              <a:defRPr sz="570">
                <a:solidFill>
                  <a:srgbClr val="21242A"/>
                </a:solidFill>
                <a:latin typeface="Microsoft YaHei"/>
              </a:defRPr>
            </a:pPr>
            <a:r>
              <a:t>While the POLARIX trial established polatuzumab vedotin (Pola) plus R-CHP as a new standard for selected patients, real-world evidence regarding its efficacy ac</a:t>
            </a:r>
          </a:p>
          <a:p>
            <a:pPr>
              <a:lnSpc>
                <a:spcPct val="103000"/>
              </a:lnSpc>
              <a:spcAft>
                <a:spcPts val="300"/>
              </a:spcAft>
              <a:defRPr sz="570">
                <a:solidFill>
                  <a:srgbClr val="21242A"/>
                </a:solidFill>
                <a:latin typeface="Microsoft YaHei"/>
              </a:defRPr>
            </a:pPr>
            <a:r>
              <a:t>ross diverse patient populations and the predictive value of molecular subtyping remains limited.</a:t>
            </a:r>
          </a:p>
          <a:p>
            <a:pPr>
              <a:lnSpc>
                <a:spcPct val="103000"/>
              </a:lnSpc>
              <a:spcAft>
                <a:spcPts val="300"/>
              </a:spcAft>
              <a:defRPr sz="570">
                <a:solidFill>
                  <a:srgbClr val="21242A"/>
                </a:solidFill>
                <a:latin typeface="Microsoft YaHei"/>
              </a:defRPr>
            </a:pPr>
            <a:r>
              <a:t>Integration of next-generation sequencing (NGS) may refine risk stratification and identify genetic determinants of treatment resistance.</a:t>
            </a:r>
          </a:p>
          <a:p>
            <a:pPr>
              <a:lnSpc>
                <a:spcPct val="103000"/>
              </a:lnSpc>
              <a:spcAft>
                <a:spcPts val="300"/>
              </a:spcAft>
              <a:defRPr sz="570">
                <a:solidFill>
                  <a:srgbClr val="21242A"/>
                </a:solidFill>
                <a:latin typeface="Microsoft YaHei"/>
              </a:defRPr>
            </a:pPr>
            <a:r>
              <a:t>Aims: To evaluate the real-world efficacy, safety, and progression-free survival (PFS) of Pola-based first-line regimens in an unselected DLBCL cohort, and to e</a:t>
            </a:r>
          </a:p>
          <a:p>
            <a:pPr>
              <a:lnSpc>
                <a:spcPct val="103000"/>
              </a:lnSpc>
              <a:spcAft>
                <a:spcPts val="300"/>
              </a:spcAft>
              <a:defRPr sz="570">
                <a:solidFill>
                  <a:srgbClr val="21242A"/>
                </a:solidFill>
                <a:latin typeface="Microsoft YaHei"/>
              </a:defRPr>
            </a:pPr>
            <a:r>
              <a:t>xplore associations between genetic subtypes, somatic variants, and treatment outcomes.</a:t>
            </a:r>
          </a:p>
          <a:p>
            <a:pPr>
              <a:lnSpc>
                <a:spcPct val="103000"/>
              </a:lnSpc>
              <a:spcAft>
                <a:spcPts val="300"/>
              </a:spcAft>
              <a:defRPr sz="570">
                <a:solidFill>
                  <a:srgbClr val="21242A"/>
                </a:solidFill>
                <a:latin typeface="Microsoft YaHei"/>
              </a:defRPr>
            </a:pPr>
            <a:r>
              <a:t>Methods: We conducted a single-center retrospective analysis of 51 DLBCL patients treated with Pola-based first-line therapy between April 2023 and August 2025.</a:t>
            </a:r>
          </a:p>
          <a:p>
            <a:pPr>
              <a:lnSpc>
                <a:spcPct val="103000"/>
              </a:lnSpc>
              <a:spcAft>
                <a:spcPts val="300"/>
              </a:spcAft>
              <a:defRPr sz="570">
                <a:solidFill>
                  <a:srgbClr val="21242A"/>
                </a:solidFill>
                <a:latin typeface="Microsoft YaHei"/>
              </a:defRPr>
            </a:pPr>
            <a:r>
              <a:t>Treatment allocation was stratified by age and geriatric assessment: Pola-R-CHP was administered to patients ≤60 years and fit patients &gt;60 years, while unfit/f</a:t>
            </a:r>
          </a:p>
          <a:p>
            <a:pPr>
              <a:lnSpc>
                <a:spcPct val="103000"/>
              </a:lnSpc>
              <a:spcAft>
                <a:spcPts val="300"/>
              </a:spcAft>
              <a:defRPr sz="570">
                <a:solidFill>
                  <a:srgbClr val="21242A"/>
                </a:solidFill>
                <a:latin typeface="Microsoft YaHei"/>
              </a:defRPr>
            </a:pPr>
            <a:r>
              <a:t>rail elderly patients received Pola-R-miniCHP or Pola-ZR.</a:t>
            </a:r>
          </a:p>
          <a:p>
            <a:pPr>
              <a:lnSpc>
                <a:spcPct val="103000"/>
              </a:lnSpc>
              <a:spcAft>
                <a:spcPts val="300"/>
              </a:spcAft>
              <a:defRPr sz="570">
                <a:solidFill>
                  <a:srgbClr val="21242A"/>
                </a:solidFill>
                <a:latin typeface="Microsoft YaHei"/>
              </a:defRPr>
            </a:pPr>
            <a:r>
              <a:t>Response assessment utilized whole-body 18F-FDG PET/CT after cycles 4 and 6, classified per Lugano 2014 criteria. Adverse events were graded using CTCAE v5.0.</a:t>
            </a:r>
          </a:p>
          <a:p>
            <a:pPr>
              <a:lnSpc>
                <a:spcPct val="103000"/>
              </a:lnSpc>
              <a:spcAft>
                <a:spcPts val="300"/>
              </a:spcAft>
              <a:defRPr sz="570">
                <a:solidFill>
                  <a:srgbClr val="21242A"/>
                </a:solidFill>
                <a:latin typeface="Microsoft YaHei"/>
              </a:defRPr>
            </a:pPr>
            <a:r>
              <a:t>Tumor DNA underwent targeted capture NGS using a 169-gene panel to identify coding SNVs/indels and enable LymphGen molecular subtyping.</a:t>
            </a:r>
          </a:p>
          <a:p>
            <a:pPr>
              <a:lnSpc>
                <a:spcPct val="103000"/>
              </a:lnSpc>
              <a:spcAft>
                <a:spcPts val="300"/>
              </a:spcAft>
              <a:defRPr sz="570">
                <a:solidFill>
                  <a:srgbClr val="21242A"/>
                </a:solidFill>
                <a:latin typeface="Microsoft YaHei"/>
              </a:defRPr>
            </a:pPr>
            <a:r>
              <a:t>An exploratory case-control analysis compared genomic profiles between progressors (PD) and responders (CR/PR). PFS was estimated using the Kaplan-Meier method.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real-world cohort, Pola-based first-line therapy achieved high response rates with durable disease control and manageable toxicity, extending benefit to</a:t>
            </a:r>
          </a:p>
          <a:p>
            <a:pPr>
              <a:lnSpc>
                <a:spcPct val="103000"/>
              </a:lnSpc>
              <a:spcAft>
                <a:spcPts val="300"/>
              </a:spcAft>
              <a:defRPr sz="590">
                <a:solidFill>
                  <a:srgbClr val="21242A"/>
                </a:solidFill>
                <a:latin typeface="Microsoft YaHei"/>
              </a:defRPr>
            </a:pPr>
            <a:r>
              <a:t> patients traditionally excluded from clinical trials.</a:t>
            </a:r>
          </a:p>
          <a:p>
            <a:pPr>
              <a:lnSpc>
                <a:spcPct val="103000"/>
              </a:lnSpc>
              <a:spcAft>
                <a:spcPts val="300"/>
              </a:spcAft>
              <a:defRPr sz="590">
                <a:solidFill>
                  <a:srgbClr val="21242A"/>
                </a:solidFill>
                <a:latin typeface="Microsoft YaHei"/>
              </a:defRPr>
            </a:pPr>
            <a:r>
              <a:t>The A53 molecular subtype may predict inferior outcomes, while CCND3 mutations emerge as a potential biomarker of primary resistance.</a:t>
            </a:r>
          </a:p>
          <a:p>
            <a:pPr>
              <a:lnSpc>
                <a:spcPct val="103000"/>
              </a:lnSpc>
              <a:spcAft>
                <a:spcPts val="300"/>
              </a:spcAft>
              <a:defRPr sz="590">
                <a:solidFill>
                  <a:srgbClr val="21242A"/>
                </a:solidFill>
                <a:latin typeface="Microsoft YaHei"/>
              </a:defRPr>
            </a:pPr>
            <a:r>
              <a:t>These findings support the integration of genomic profiling into treatment algorithms and warrant prospective validation in larger cohorts to personalize Pola-b</a:t>
            </a:r>
          </a:p>
          <a:p>
            <a:pPr>
              <a:lnSpc>
                <a:spcPct val="103000"/>
              </a:lnSpc>
              <a:spcAft>
                <a:spcPts val="300"/>
              </a:spcAft>
              <a:defRPr sz="590">
                <a:solidFill>
                  <a:srgbClr val="21242A"/>
                </a:solidFill>
                <a:latin typeface="Microsoft YaHei"/>
              </a:defRPr>
            </a:pPr>
            <a:r>
              <a:t>ased therapy in DLBCL.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49961">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49961">
                <a:tc>
                  <a:txBody>
                    <a:bodyPr wrap="square" lIns="36576" rIns="36576" tIns="18288" bIns="18288"/>
                    <a:lstStyle/>
                    <a:p>
                      <a:r>
                        <a:rPr sz="540" b="1">
                          <a:solidFill>
                            <a:srgbClr val="21242A"/>
                          </a:solidFill>
                          <a:latin typeface="Microsoft YaHei"/>
                        </a:rPr>
                        <a:t>最佳总缓解率(ORR)</a:t>
                      </a:r>
                    </a:p>
                  </a:txBody>
                  <a:tcPr>
                    <a:solidFill>
                      <a:srgbClr val="F6F8FB"/>
                    </a:solidFill>
                  </a:tcPr>
                </a:tc>
                <a:tc>
                  <a:txBody>
                    <a:bodyPr wrap="square" lIns="36576" rIns="36576" tIns="18288" bIns="18288"/>
                    <a:lstStyle/>
                    <a:p>
                      <a:r>
                        <a:rPr sz="540" b="0">
                          <a:solidFill>
                            <a:srgbClr val="21242A"/>
                          </a:solidFill>
                          <a:latin typeface="Microsoft YaHei"/>
                        </a:rPr>
                        <a:t>90.2%</a:t>
                      </a:r>
                    </a:p>
                  </a:txBody>
                  <a:tcPr>
                    <a:solidFill>
                      <a:srgbClr val="F6F8FB"/>
                    </a:solidFill>
                  </a:tcPr>
                </a:tc>
              </a:tr>
              <a:tr h="149961">
                <a:tc>
                  <a:txBody>
                    <a:bodyPr wrap="square" lIns="36576" rIns="36576" tIns="18288" bIns="18288"/>
                    <a:lstStyle/>
                    <a:p>
                      <a:r>
                        <a:rPr sz="540" b="1">
                          <a:solidFill>
                            <a:srgbClr val="21242A"/>
                          </a:solidFill>
                          <a:latin typeface="Microsoft YaHei"/>
                        </a:rPr>
                        <a:t>完全缓解(CR)</a:t>
                      </a:r>
                    </a:p>
                  </a:txBody>
                  <a:tcPr>
                    <a:solidFill>
                      <a:srgbClr val="FFFFFF"/>
                    </a:solidFill>
                  </a:tcPr>
                </a:tc>
                <a:tc>
                  <a:txBody>
                    <a:bodyPr wrap="square" lIns="36576" rIns="36576" tIns="18288" bIns="18288"/>
                    <a:lstStyle/>
                    <a:p>
                      <a:r>
                        <a:rPr sz="540" b="0">
                          <a:solidFill>
                            <a:srgbClr val="21242A"/>
                          </a:solidFill>
                          <a:latin typeface="Microsoft YaHei"/>
                        </a:rPr>
                        <a:t>84.3%</a:t>
                      </a:r>
                    </a:p>
                  </a:txBody>
                  <a:tcPr>
                    <a:solidFill>
                      <a:srgbClr val="FFFFFF"/>
                    </a:solidFill>
                  </a:tcPr>
                </a:tc>
              </a:tr>
              <a:tr h="149961">
                <a:tc>
                  <a:txBody>
                    <a:bodyPr wrap="square" lIns="36576" rIns="36576" tIns="18288" bIns="18288"/>
                    <a:lstStyle/>
                    <a:p>
                      <a:r>
                        <a:rPr sz="540" b="1">
                          <a:solidFill>
                            <a:srgbClr val="21242A"/>
                          </a:solidFill>
                          <a:latin typeface="Microsoft YaHei"/>
                        </a:rPr>
                        <a:t>部分缓解(PR)</a:t>
                      </a:r>
                    </a:p>
                  </a:txBody>
                  <a:tcPr>
                    <a:solidFill>
                      <a:srgbClr val="F6F8FB"/>
                    </a:solidFill>
                  </a:tcPr>
                </a:tc>
                <a:tc>
                  <a:txBody>
                    <a:bodyPr wrap="square" lIns="36576" rIns="36576" tIns="18288" bIns="18288"/>
                    <a:lstStyle/>
                    <a:p>
                      <a:r>
                        <a:rPr sz="540" b="0">
                          <a:solidFill>
                            <a:srgbClr val="21242A"/>
                          </a:solidFill>
                          <a:latin typeface="Microsoft YaHei"/>
                        </a:rPr>
                        <a:t>5.9%</a:t>
                      </a:r>
                    </a:p>
                  </a:txBody>
                  <a:tcPr>
                    <a:solidFill>
                      <a:srgbClr val="F6F8FB"/>
                    </a:solidFill>
                  </a:tcPr>
                </a:tc>
              </a:tr>
              <a:tr h="149961">
                <a:tc>
                  <a:txBody>
                    <a:bodyPr wrap="square" lIns="36576" rIns="36576" tIns="18288" bIns="18288"/>
                    <a:lstStyle/>
                    <a:p>
                      <a:r>
                        <a:rPr sz="540" b="1">
                          <a:solidFill>
                            <a:srgbClr val="21242A"/>
                          </a:solidFill>
                          <a:latin typeface="Microsoft YaHei"/>
                        </a:rPr>
                        <a:t>疾病进展(PD)</a:t>
                      </a:r>
                    </a:p>
                  </a:txBody>
                  <a:tcPr>
                    <a:solidFill>
                      <a:srgbClr val="FFFFFF"/>
                    </a:solidFill>
                  </a:tcPr>
                </a:tc>
                <a:tc>
                  <a:txBody>
                    <a:bodyPr wrap="square" lIns="36576" rIns="36576" tIns="18288" bIns="18288"/>
                    <a:lstStyle/>
                    <a:p>
                      <a:r>
                        <a:rPr sz="540" b="0">
                          <a:solidFill>
                            <a:srgbClr val="21242A"/>
                          </a:solidFill>
                          <a:latin typeface="Microsoft YaHei"/>
                        </a:rPr>
                        <a:t>9.8%</a:t>
                      </a:r>
                    </a:p>
                  </a:txBody>
                  <a:tcPr>
                    <a:solidFill>
                      <a:srgbClr val="FFFFFF"/>
                    </a:solidFill>
                  </a:tcPr>
                </a:tc>
              </a:tr>
              <a:tr h="149961">
                <a:tc>
                  <a:txBody>
                    <a:bodyPr wrap="square" lIns="36576" rIns="36576" tIns="18288" bIns="18288"/>
                    <a:lstStyle/>
                    <a:p>
                      <a:r>
                        <a:rPr sz="540" b="1">
                          <a:solidFill>
                            <a:srgbClr val="21242A"/>
                          </a:solidFill>
                          <a:latin typeface="Microsoft YaHei"/>
                        </a:rPr>
                        <a:t>12个月无进展生存期(PFS)</a:t>
                      </a:r>
                    </a:p>
                  </a:txBody>
                  <a:tcPr>
                    <a:solidFill>
                      <a:srgbClr val="F6F8FB"/>
                    </a:solidFill>
                  </a:tcPr>
                </a:tc>
                <a:tc>
                  <a:txBody>
                    <a:bodyPr wrap="square" lIns="36576" rIns="36576" tIns="18288" bIns="18288"/>
                    <a:lstStyle/>
                    <a:p>
                      <a:r>
                        <a:rPr sz="540" b="0">
                          <a:solidFill>
                            <a:srgbClr val="21242A"/>
                          </a:solidFill>
                          <a:latin typeface="Microsoft YaHei"/>
                        </a:rPr>
                        <a:t>88.6%</a:t>
                      </a:r>
                    </a:p>
                  </a:txBody>
                  <a:tcPr>
                    <a:solidFill>
                      <a:srgbClr val="F6F8FB"/>
                    </a:solidFill>
                  </a:tcPr>
                </a:tc>
              </a:tr>
              <a:tr h="149961">
                <a:tc>
                  <a:txBody>
                    <a:bodyPr wrap="square" lIns="36576" rIns="36576" tIns="18288" bIns="18288"/>
                    <a:lstStyle/>
                    <a:p>
                      <a:r>
                        <a:rPr sz="540" b="1">
                          <a:solidFill>
                            <a:srgbClr val="21242A"/>
                          </a:solidFill>
                          <a:latin typeface="Microsoft YaHei"/>
                        </a:rPr>
                        <a:t>中位随访</a:t>
                      </a:r>
                    </a:p>
                  </a:txBody>
                  <a:tcPr>
                    <a:solidFill>
                      <a:srgbClr val="FFFFFF"/>
                    </a:solidFill>
                  </a:tcPr>
                </a:tc>
                <a:tc>
                  <a:txBody>
                    <a:bodyPr wrap="square" lIns="36576" rIns="36576" tIns="18288" bIns="18288"/>
                    <a:lstStyle/>
                    <a:p>
                      <a:r>
                        <a:rPr sz="540" b="0">
                          <a:solidFill>
                            <a:srgbClr val="21242A"/>
                          </a:solidFill>
                          <a:latin typeface="Microsoft YaHei"/>
                        </a:rPr>
                        <a:t>13.2个月</a:t>
                      </a:r>
                    </a:p>
                  </a:txBody>
                  <a:tcPr>
                    <a:solidFill>
                      <a:srgbClr val="FFFFFF"/>
                    </a:solidFill>
                  </a:tcPr>
                </a:tc>
              </a:tr>
              <a:tr h="149961">
                <a:tc>
                  <a:txBody>
                    <a:bodyPr wrap="square" lIns="36576" rIns="36576" tIns="18288" bIns="18288"/>
                    <a:lstStyle/>
                    <a:p>
                      <a:r>
                        <a:rPr sz="540" b="1">
                          <a:solidFill>
                            <a:srgbClr val="21242A"/>
                          </a:solidFill>
                          <a:latin typeface="Microsoft YaHei"/>
                        </a:rPr>
                        <a:t>3-4级血液学毒性</a:t>
                      </a:r>
                    </a:p>
                  </a:txBody>
                  <a:tcPr>
                    <a:solidFill>
                      <a:srgbClr val="F6F8FB"/>
                    </a:solidFill>
                  </a:tcPr>
                </a:tc>
                <a:tc>
                  <a:txBody>
                    <a:bodyPr wrap="square" lIns="36576" rIns="36576" tIns="18288" bIns="18288"/>
                    <a:lstStyle/>
                    <a:p>
                      <a:r>
                        <a:rPr sz="540" b="0">
                          <a:solidFill>
                            <a:srgbClr val="21242A"/>
                          </a:solidFill>
                          <a:latin typeface="Microsoft YaHei"/>
                        </a:rPr>
                        <a:t>51.0%</a:t>
                      </a:r>
                    </a:p>
                  </a:txBody>
                  <a:tcPr>
                    <a:solidFill>
                      <a:srgbClr val="F6F8FB"/>
                    </a:solidFill>
                  </a:tcPr>
                </a:tc>
              </a:tr>
              <a:tr h="149961">
                <a:tc>
                  <a:txBody>
                    <a:bodyPr wrap="square" lIns="36576" rIns="36576" tIns="18288" bIns="18288"/>
                    <a:lstStyle/>
                    <a:p>
                      <a:r>
                        <a:rPr sz="540" b="1">
                          <a:solidFill>
                            <a:srgbClr val="21242A"/>
                          </a:solidFill>
                          <a:latin typeface="Microsoft YaHei"/>
                        </a:rPr>
                        <a:t>肺部感染</a:t>
                      </a:r>
                    </a:p>
                  </a:txBody>
                  <a:tcPr>
                    <a:solidFill>
                      <a:srgbClr val="FFFFFF"/>
                    </a:solidFill>
                  </a:tcPr>
                </a:tc>
                <a:tc>
                  <a:txBody>
                    <a:bodyPr wrap="square" lIns="36576" rIns="36576" tIns="18288" bIns="18288"/>
                    <a:lstStyle/>
                    <a:p>
                      <a:r>
                        <a:rPr sz="540" b="0">
                          <a:solidFill>
                            <a:srgbClr val="21242A"/>
                          </a:solidFill>
                          <a:latin typeface="Microsoft YaHei"/>
                        </a:rPr>
                        <a:t>9.8%</a:t>
                      </a:r>
                    </a:p>
                  </a:txBody>
                  <a:tcPr>
                    <a:solidFill>
                      <a:srgbClr val="FFFFFF"/>
                    </a:solidFill>
                  </a:tcPr>
                </a:tc>
              </a:tr>
              <a:tr h="149967">
                <a:tc>
                  <a:txBody>
                    <a:bodyPr wrap="square" lIns="36576" rIns="36576" tIns="18288" bIns="18288"/>
                    <a:lstStyle/>
                    <a:p>
                      <a:r>
                        <a:rPr sz="540" b="1">
                          <a:solidFill>
                            <a:srgbClr val="21242A"/>
                          </a:solidFill>
                          <a:latin typeface="Microsoft YaHei"/>
                        </a:rPr>
                        <a:t>周围神经病变(1-2级)</a:t>
                      </a:r>
                    </a:p>
                  </a:txBody>
                  <a:tcPr>
                    <a:solidFill>
                      <a:srgbClr val="F6F8FB"/>
                    </a:solidFill>
                  </a:tcPr>
                </a:tc>
                <a:tc>
                  <a:txBody>
                    <a:bodyPr wrap="square" lIns="36576" rIns="36576" tIns="18288" bIns="18288"/>
                    <a:lstStyle/>
                    <a:p>
                      <a:r>
                        <a:rPr sz="540" b="0">
                          <a:solidFill>
                            <a:srgbClr val="21242A"/>
                          </a:solidFill>
                          <a:latin typeface="Microsoft YaHei"/>
                        </a:rPr>
                        <a:t>19.6%</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摘要号：PS2120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维泊妥珠单抗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完全缓解率（CR）: 58.6% (17/29)</a:t>
            </a:r>
          </a:p>
          <a:p>
            <a:pPr>
              <a:lnSpc>
                <a:spcPct val="103000"/>
              </a:lnSpc>
              <a:spcAft>
                <a:spcPts val="300"/>
              </a:spcAft>
              <a:defRPr sz="800">
                <a:solidFill>
                  <a:srgbClr val="21242A"/>
                </a:solidFill>
                <a:latin typeface="Microsoft YaHei"/>
              </a:defRPr>
            </a:pPr>
            <a:r>
              <a:t>客观缓解率（ORR）: 96.5%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登记号：NCT06530511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试验药/方案：奥布替尼、维泊妥珠单抗、利妥昔单抗</a:t>
            </a:r>
          </a:p>
          <a:p>
            <a:pPr>
              <a:lnSpc>
                <a:spcPct val="103000"/>
              </a:lnSpc>
              <a:spcAft>
                <a:spcPts val="300"/>
              </a:spcAft>
              <a:defRPr sz="810">
                <a:solidFill>
                  <a:srgbClr val="21242A"/>
                </a:solidFill>
                <a:latin typeface="Microsoft YaHei"/>
              </a:defRPr>
            </a:pPr>
            <a:r>
              <a:t>靶点：BTK、CD79B、CD20</a:t>
            </a:r>
          </a:p>
          <a:p>
            <a:pPr>
              <a:lnSpc>
                <a:spcPct val="103000"/>
              </a:lnSpc>
              <a:spcAft>
                <a:spcPts val="300"/>
              </a:spcAft>
              <a:defRPr sz="810">
                <a:solidFill>
                  <a:srgbClr val="21242A"/>
                </a:solidFill>
                <a:latin typeface="Microsoft YaHei"/>
              </a:defRPr>
            </a:pPr>
            <a:r>
              <a:t>药物/技术类别：化药、缬氨酸-瓜氨酸 VC、MMAE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management of very elderly patients (aged ≥75-80 years) with diffuse large B-cell lymphoma (DLBCL) remains a significant clinical challenge due </a:t>
            </a:r>
          </a:p>
          <a:p>
            <a:pPr>
              <a:lnSpc>
                <a:spcPct val="103000"/>
              </a:lnSpc>
              <a:spcAft>
                <a:spcPts val="300"/>
              </a:spcAft>
              <a:defRPr sz="570">
                <a:solidFill>
                  <a:srgbClr val="21242A"/>
                </a:solidFill>
                <a:latin typeface="Microsoft YaHei"/>
              </a:defRPr>
            </a:pPr>
            <a:r>
              <a:t>to comorbidities, frailty, and poor tolerance to standard immunochemotherapy.</a:t>
            </a:r>
          </a:p>
          <a:p>
            <a:pPr>
              <a:lnSpc>
                <a:spcPct val="103000"/>
              </a:lnSpc>
              <a:spcAft>
                <a:spcPts val="300"/>
              </a:spcAft>
              <a:defRPr sz="570">
                <a:solidFill>
                  <a:srgbClr val="21242A"/>
                </a:solidFill>
                <a:latin typeface="Microsoft YaHei"/>
              </a:defRPr>
            </a:pPr>
            <a:r>
              <a:t>There is a critical need for effective, reduced-intensity, or chemotherapy-free regimens.</a:t>
            </a:r>
          </a:p>
          <a:p>
            <a:pPr>
              <a:lnSpc>
                <a:spcPct val="103000"/>
              </a:lnSpc>
              <a:spcAft>
                <a:spcPts val="300"/>
              </a:spcAft>
              <a:defRPr sz="570">
                <a:solidFill>
                  <a:srgbClr val="21242A"/>
                </a:solidFill>
                <a:latin typeface="Microsoft YaHei"/>
              </a:defRPr>
            </a:pPr>
            <a:r>
              <a:t>Aims: The PRO regimen (Polatuzumab vedotin, Orelabrutinib, and Rituximab) was designed to address this unmet need.</a:t>
            </a:r>
          </a:p>
          <a:p>
            <a:pPr>
              <a:lnSpc>
                <a:spcPct val="103000"/>
              </a:lnSpc>
              <a:spcAft>
                <a:spcPts val="300"/>
              </a:spcAft>
              <a:defRPr sz="570">
                <a:solidFill>
                  <a:srgbClr val="21242A"/>
                </a:solidFill>
                <a:latin typeface="Microsoft YaHei"/>
              </a:defRPr>
            </a:pPr>
            <a:r>
              <a:t>We present updated results from an ongoing Phase II study focusing on this vulnerable population.</a:t>
            </a:r>
          </a:p>
          <a:p>
            <a:pPr>
              <a:lnSpc>
                <a:spcPct val="103000"/>
              </a:lnSpc>
              <a:spcAft>
                <a:spcPts val="300"/>
              </a:spcAft>
              <a:defRPr sz="570">
                <a:solidFill>
                  <a:srgbClr val="21242A"/>
                </a:solidFill>
                <a:latin typeface="Microsoft YaHei"/>
              </a:defRPr>
            </a:pPr>
            <a:r>
              <a:t>Methods: This open-label, multicenter Phase II study enrolled previously untreated elderly and frail patients with DLBCL.</a:t>
            </a:r>
          </a:p>
          <a:p>
            <a:pPr>
              <a:lnSpc>
                <a:spcPct val="103000"/>
              </a:lnSpc>
              <a:spcAft>
                <a:spcPts val="300"/>
              </a:spcAft>
              <a:defRPr sz="570">
                <a:solidFill>
                  <a:srgbClr val="21242A"/>
                </a:solidFill>
                <a:latin typeface="Microsoft YaHei"/>
              </a:defRPr>
            </a:pPr>
            <a:r>
              <a:t>Patients received Polatuzumab vedotin (1.8 mg/kg), Orelabrutinib (150 mg daily), and Rituximab (375 mg/m²) every 3 weeks for up to six cycles, followed by two a</a:t>
            </a:r>
          </a:p>
          <a:p>
            <a:pPr>
              <a:lnSpc>
                <a:spcPct val="103000"/>
              </a:lnSpc>
              <a:spcAft>
                <a:spcPts val="300"/>
              </a:spcAft>
              <a:defRPr sz="570">
                <a:solidFill>
                  <a:srgbClr val="21242A"/>
                </a:solidFill>
                <a:latin typeface="Microsoft YaHei"/>
              </a:defRPr>
            </a:pPr>
            <a:r>
              <a:t>dditional Rituximab cycles in responders.</a:t>
            </a:r>
          </a:p>
          <a:p>
            <a:pPr>
              <a:lnSpc>
                <a:spcPct val="103000"/>
              </a:lnSpc>
              <a:spcAft>
                <a:spcPts val="300"/>
              </a:spcAft>
              <a:defRPr sz="570">
                <a:solidFill>
                  <a:srgbClr val="21242A"/>
                </a:solidFill>
                <a:latin typeface="Microsoft YaHei"/>
              </a:defRPr>
            </a:pPr>
            <a:r>
              <a:t>Tumor response was evaluated every three cycles by PET/CT or contrast-enhanced CT according to Lugano 2014 criteria.</a:t>
            </a:r>
          </a:p>
          <a:p>
            <a:pPr>
              <a:lnSpc>
                <a:spcPct val="103000"/>
              </a:lnSpc>
              <a:spcAft>
                <a:spcPts val="300"/>
              </a:spcAft>
              <a:defRPr sz="570">
                <a:solidFill>
                  <a:srgbClr val="21242A"/>
                </a:solidFill>
                <a:latin typeface="Microsoft YaHei"/>
              </a:defRPr>
            </a:pPr>
            <a:r>
              <a:t>The primary endpoint was end-of-treatment CR rate; secondary endpoints included ORR, PFS, DoR, OS, and safety.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summary, despite a high comorbidity burden (74.3%), updated data from 39 patients indicate that the chemotherapy-free PRO regimen is an effective and tolerab</a:t>
            </a:r>
          </a:p>
          <a:p>
            <a:pPr>
              <a:lnSpc>
                <a:spcPct val="103000"/>
              </a:lnSpc>
              <a:spcAft>
                <a:spcPts val="300"/>
              </a:spcAft>
              <a:defRPr sz="590">
                <a:solidFill>
                  <a:srgbClr val="21242A"/>
                </a:solidFill>
                <a:latin typeface="Microsoft YaHei"/>
              </a:defRPr>
            </a:pPr>
            <a:r>
              <a:t>le frontline option for elderly and frail DLBCL patients.</a:t>
            </a:r>
          </a:p>
          <a:p>
            <a:pPr>
              <a:lnSpc>
                <a:spcPct val="103000"/>
              </a:lnSpc>
              <a:spcAft>
                <a:spcPts val="300"/>
              </a:spcAft>
              <a:defRPr sz="590">
                <a:solidFill>
                  <a:srgbClr val="21242A"/>
                </a:solidFill>
                <a:latin typeface="Microsoft YaHei"/>
              </a:defRPr>
            </a:pPr>
            <a:r>
              <a:t>It achieved a 91.7% CR rate at treatment completion and an estimated 9-month PFS of 92.8%, with 100% ORR in the MCD subtype.</a:t>
            </a:r>
          </a:p>
          <a:p>
            <a:pPr>
              <a:lnSpc>
                <a:spcPct val="103000"/>
              </a:lnSpc>
              <a:spcAft>
                <a:spcPts val="300"/>
              </a:spcAft>
              <a:defRPr sz="590">
                <a:solidFill>
                  <a:srgbClr val="21242A"/>
                </a:solidFill>
                <a:latin typeface="Microsoft YaHei"/>
              </a:defRPr>
            </a:pPr>
            <a:r>
              <a:t>These results support PRO as a feasible strategy for vulnerable patients, including those ≥80 years who are unfit for intensive immunochemotherapy.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By February 2026, 39 patients with a median age of 78.0 years (IQR: 75.0–84.0) were evaluable, including 43.6% (n=17) aged ≥80.</a:t>
            </a:r>
          </a:p>
          <a:p>
            <a:pPr>
              <a:lnSpc>
                <a:spcPct val="103000"/>
              </a:lnSpc>
              <a:spcAft>
                <a:spcPts val="300"/>
              </a:spcAft>
              <a:defRPr sz="580">
                <a:solidFill>
                  <a:srgbClr val="21242A"/>
                </a:solidFill>
                <a:latin typeface="Microsoft YaHei"/>
              </a:defRPr>
            </a:pPr>
            <a:r>
              <a:t>High-risk features were prevalent: 69.2% each presented with an IPI score of 3–5, stage III–IV disease, or elevated LDH.</a:t>
            </a:r>
          </a:p>
          <a:p>
            <a:pPr>
              <a:lnSpc>
                <a:spcPct val="103000"/>
              </a:lnSpc>
              <a:spcAft>
                <a:spcPts val="300"/>
              </a:spcAft>
              <a:defRPr sz="580">
                <a:solidFill>
                  <a:srgbClr val="21242A"/>
                </a:solidFill>
                <a:latin typeface="Microsoft YaHei"/>
              </a:defRPr>
            </a:pPr>
            <a:r>
              <a:t>Histologically, 97.4% had DLBCL, and one (2.6%) had primary cutaneous DLBCL, leg type (PCDLBCL, LT); 77.0% were of the non-GCB/ABC subtype.</a:t>
            </a:r>
          </a:p>
          <a:p>
            <a:pPr>
              <a:lnSpc>
                <a:spcPct val="103000"/>
              </a:lnSpc>
              <a:spcAft>
                <a:spcPts val="300"/>
              </a:spcAft>
              <a:defRPr sz="580">
                <a:solidFill>
                  <a:srgbClr val="21242A"/>
                </a:solidFill>
                <a:latin typeface="Microsoft YaHei"/>
              </a:defRPr>
            </a:pPr>
            <a:r>
              <a:t>Comorbidities affected 74.3% (29/39) of this ultra-elderly cohort, most commonly cardiovascular diseases (41.0%), hypertension (35.9%), diabetes (15.4%), c</a:t>
            </a:r>
          </a:p>
          <a:p>
            <a:pPr>
              <a:lnSpc>
                <a:spcPct val="103000"/>
              </a:lnSpc>
              <a:spcAft>
                <a:spcPts val="300"/>
              </a:spcAft>
              <a:defRPr sz="580">
                <a:solidFill>
                  <a:srgbClr val="21242A"/>
                </a:solidFill>
                <a:latin typeface="Microsoft YaHei"/>
              </a:defRPr>
            </a:pPr>
            <a:r>
              <a:t>erebrovascular diseases (15.4%), and prostatic hypertrophy (5.1%).</a:t>
            </a:r>
          </a:p>
          <a:p>
            <a:pPr>
              <a:lnSpc>
                <a:spcPct val="103000"/>
              </a:lnSpc>
              <a:spcAft>
                <a:spcPts val="300"/>
              </a:spcAft>
              <a:defRPr sz="580">
                <a:solidFill>
                  <a:srgbClr val="21242A"/>
                </a:solidFill>
                <a:latin typeface="Microsoft YaHei"/>
              </a:defRPr>
            </a:pPr>
            <a:r>
              <a:t>\n At the data cutoff, of the 39 enrolled patients, 29 have completed the interim efficacy assessment, the CR rate was 58.6% (17/29), with an ORR of 96.5%.</a:t>
            </a:r>
          </a:p>
          <a:p>
            <a:pPr>
              <a:lnSpc>
                <a:spcPct val="103000"/>
              </a:lnSpc>
              <a:spcAft>
                <a:spcPts val="300"/>
              </a:spcAft>
              <a:defRPr sz="580">
                <a:solidFill>
                  <a:srgbClr val="21242A"/>
                </a:solidFill>
                <a:latin typeface="Microsoft YaHei"/>
              </a:defRPr>
            </a:pPr>
            <a:r>
              <a:t>Among these, 37.9% (11/29) achieved a partial response, while 3.4% (1/29) experienced disease progression.</a:t>
            </a:r>
          </a:p>
          <a:p>
            <a:pPr>
              <a:lnSpc>
                <a:spcPct val="103000"/>
              </a:lnSpc>
              <a:spcAft>
                <a:spcPts val="300"/>
              </a:spcAft>
              <a:defRPr sz="580">
                <a:solidFill>
                  <a:srgbClr val="21242A"/>
                </a:solidFill>
                <a:latin typeface="Microsoft YaHei"/>
              </a:defRPr>
            </a:pPr>
            <a:r>
              <a:t>Notably, in the 12 patients identified with the MCD subtype, the ORR rate was 100% (12/12), the CR rate was 66.7% (8/12).</a:t>
            </a:r>
          </a:p>
          <a:p>
            <a:pPr>
              <a:lnSpc>
                <a:spcPct val="103000"/>
              </a:lnSpc>
              <a:spcAft>
                <a:spcPts val="300"/>
              </a:spcAft>
              <a:defRPr sz="580">
                <a:solidFill>
                  <a:srgbClr val="21242A"/>
                </a:solidFill>
                <a:latin typeface="Microsoft YaHei"/>
              </a:defRPr>
            </a:pPr>
            <a:r>
              <a:t>At the completion of combination therapy (C6-response), the CR rate was 91.7% (22/24), the ORR rate was 95.8 % (23/24).</a:t>
            </a:r>
          </a:p>
          <a:p>
            <a:pPr>
              <a:lnSpc>
                <a:spcPct val="103000"/>
              </a:lnSpc>
              <a:spcAft>
                <a:spcPts val="300"/>
              </a:spcAft>
              <a:defRPr sz="580">
                <a:solidFill>
                  <a:srgbClr val="21242A"/>
                </a:solidFill>
                <a:latin typeface="Microsoft YaHei"/>
              </a:defRPr>
            </a:pPr>
            <a:r>
              <a:t>With a median follow-up of 7.0 months (range, 0.4–21.5), neither the median progression-free survival (PFS) nor the median overall survival (OS) has been r</a:t>
            </a:r>
          </a:p>
          <a:p>
            <a:pPr>
              <a:lnSpc>
                <a:spcPct val="103000"/>
              </a:lnSpc>
              <a:spcAft>
                <a:spcPts val="300"/>
              </a:spcAft>
              <a:defRPr sz="580">
                <a:solidFill>
                  <a:srgbClr val="21242A"/>
                </a:solidFill>
                <a:latin typeface="Microsoft YaHei"/>
              </a:defRPr>
            </a:pPr>
            <a:r>
              <a:t>eached.</a:t>
            </a:r>
          </a:p>
          <a:p>
            <a:pPr>
              <a:lnSpc>
                <a:spcPct val="103000"/>
              </a:lnSpc>
              <a:spcAft>
                <a:spcPts val="300"/>
              </a:spcAft>
              <a:defRPr sz="580">
                <a:solidFill>
                  <a:srgbClr val="21242A"/>
                </a:solidFill>
                <a:latin typeface="Microsoft YaHei"/>
              </a:defRPr>
            </a:pPr>
            <a:r>
              <a:t>The estimated 9-month PFS rate was 92.8%.</a:t>
            </a:r>
          </a:p>
          <a:p>
            <a:pPr>
              <a:lnSpc>
                <a:spcPct val="103000"/>
              </a:lnSpc>
              <a:spcAft>
                <a:spcPts val="300"/>
              </a:spcAft>
              <a:defRPr sz="580">
                <a:solidFill>
                  <a:srgbClr val="21242A"/>
                </a:solidFill>
                <a:latin typeface="Microsoft YaHei"/>
              </a:defRPr>
            </a:pPr>
            <a:r>
              <a:t>Subgroup analysis of patients aged ≥80 years (n=17) demonstrated survival outcomes comparable to the overall cohort, suggesting the sustained benefit of th</a:t>
            </a:r>
          </a:p>
          <a:p>
            <a:pPr>
              <a:lnSpc>
                <a:spcPct val="103000"/>
              </a:lnSpc>
              <a:spcAft>
                <a:spcPts val="300"/>
              </a:spcAft>
              <a:defRPr sz="580">
                <a:solidFill>
                  <a:srgbClr val="21242A"/>
                </a:solidFill>
                <a:latin typeface="Microsoft YaHei"/>
              </a:defRPr>
            </a:pPr>
            <a:r>
              <a:t>e chemo-free PRO regimen in the oldest-old.</a:t>
            </a:r>
          </a:p>
          <a:p>
            <a:pPr>
              <a:lnSpc>
                <a:spcPct val="103000"/>
              </a:lnSpc>
              <a:spcAft>
                <a:spcPts val="300"/>
              </a:spcAft>
              <a:defRPr sz="580">
                <a:solidFill>
                  <a:srgbClr val="21242A"/>
                </a:solidFill>
                <a:latin typeface="Microsoft YaHei"/>
              </a:defRPr>
            </a:pPr>
            <a:r>
              <a:t>\n The PRO regimen demonstrated a manageable safety profile in this ultra-elderly and frail population.</a:t>
            </a:r>
          </a:p>
          <a:p>
            <a:pPr>
              <a:lnSpc>
                <a:spcPct val="103000"/>
              </a:lnSpc>
              <a:spcAft>
                <a:spcPts val="300"/>
              </a:spcAft>
              <a:defRPr sz="580">
                <a:solidFill>
                  <a:srgbClr val="21242A"/>
                </a:solidFill>
                <a:latin typeface="Microsoft YaHei"/>
              </a:defRPr>
            </a:pPr>
            <a:r>
              <a:t>Grade 3-4 adverse events (AEs) were primarily pulmonary infections (17.9%) and neutropenia (10.3%).</a:t>
            </a:r>
          </a:p>
          <a:p>
            <a:pPr>
              <a:lnSpc>
                <a:spcPct val="103000"/>
              </a:lnSpc>
              <a:spcAft>
                <a:spcPts val="300"/>
              </a:spcAft>
              <a:defRPr sz="580">
                <a:solidFill>
                  <a:srgbClr val="21242A"/>
                </a:solidFill>
                <a:latin typeface="Microsoft YaHei"/>
              </a:defRPr>
            </a:pPr>
            <a:r>
              <a:t>Most other hematological and non-hematological toxicities were confined to Grade 1-2 and were clinically manageable with supportive care.</a:t>
            </a:r>
          </a:p>
          <a:p>
            <a:pPr>
              <a:lnSpc>
                <a:spcPct val="103000"/>
              </a:lnSpc>
              <a:spcAft>
                <a:spcPts val="300"/>
              </a:spcAft>
              <a:defRPr sz="580">
                <a:solidFill>
                  <a:srgbClr val="21242A"/>
                </a:solidFill>
                <a:latin typeface="Microsoft YaHei"/>
              </a:defRPr>
            </a:pPr>
            <a:r>
              <a:t>Conclusion: In summary, despite a high comorbidity burden (74.3%), updated data from 39 patients indicate that the chemotherapy-free PRO regimen is an effe</a:t>
            </a:r>
          </a:p>
          <a:p>
            <a:pPr>
              <a:lnSpc>
                <a:spcPct val="103000"/>
              </a:lnSpc>
              <a:spcAft>
                <a:spcPts val="300"/>
              </a:spcAft>
              <a:defRPr sz="580">
                <a:solidFill>
                  <a:srgbClr val="21242A"/>
                </a:solidFill>
                <a:latin typeface="Microsoft YaHei"/>
              </a:defRPr>
            </a:pPr>
            <a:r>
              <a:t>ctive and tolerable frontline option for elderly and frail DLBCL patients.</a:t>
            </a:r>
          </a:p>
          <a:p>
            <a:pPr>
              <a:lnSpc>
                <a:spcPct val="103000"/>
              </a:lnSpc>
              <a:spcAft>
                <a:spcPts val="300"/>
              </a:spcAft>
              <a:defRPr sz="580">
                <a:solidFill>
                  <a:srgbClr val="21242A"/>
                </a:solidFill>
                <a:latin typeface="Microsoft YaHei"/>
              </a:defRPr>
            </a:pPr>
            <a:r>
              <a:t>It achieved a 91.7% CR rate at treatment completion and an estimated 9-month PFS of 92.8%, with 100% ORR in the MCD subtype.</a:t>
            </a:r>
          </a:p>
          <a:p>
            <a:pPr>
              <a:lnSpc>
                <a:spcPct val="103000"/>
              </a:lnSpc>
              <a:spcAft>
                <a:spcPts val="300"/>
              </a:spcAft>
              <a:defRPr sz="580">
                <a:solidFill>
                  <a:srgbClr val="21242A"/>
                </a:solidFill>
                <a:latin typeface="Microsoft YaHei"/>
              </a:defRPr>
            </a:pPr>
            <a:r>
              <a:t>These results support PRO as a feasible strategy for vulnerable patients, including those ≥80 years who are unfit for intensive immunochemotherapy.</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缩短ctdna的初步结果：弥漫性大b细胞淋巴瘤一线治疗可测量的残余疾病适应降级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preliminary results from shorten-ctdna: measurable residual disease-adapted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环磷酰胺</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多组/多方案比较：试验组1：R-CHOP（rituximab, cyclophosphamide, doxorubicin,...</a:t>
            </a:r>
          </a:p>
          <a:p>
            <a:pPr>
              <a:lnSpc>
                <a:spcPct val="103000"/>
              </a:lnSpc>
              <a:spcAft>
                <a:spcPts val="300"/>
              </a:spcAft>
              <a:defRPr sz="800">
                <a:solidFill>
                  <a:srgbClr val="21242A"/>
                </a:solidFill>
                <a:latin typeface="Microsoft YaHei"/>
              </a:defRPr>
            </a:pPr>
            <a:r>
              <a:t>试验组2：R-pola-CHP（polatuzumab vedotin, rituximab, cyclophosphamid...</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实时ctDNA-MRD检测成功率：13/14 (93%) 患者成功鉴定PV并进行检测</a:t>
            </a:r>
          </a:p>
          <a:p>
            <a:pPr>
              <a:lnSpc>
                <a:spcPct val="103000"/>
              </a:lnSpc>
              <a:spcAft>
                <a:spcPts val="300"/>
              </a:spcAft>
              <a:defRPr sz="800">
                <a:solidFill>
                  <a:srgbClr val="21242A"/>
                </a:solidFill>
                <a:latin typeface="Microsoft YaHei"/>
              </a:defRPr>
            </a:pPr>
            <a:r>
              <a:t>C4D1 ctDNA-MRD未检测到率：9/13 (69%)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登记号：NCT06693830</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试验药/方案：维泊妥珠单抗、环磷酰胺、泼尼松、长春新碱</a:t>
            </a:r>
          </a:p>
          <a:p>
            <a:pPr>
              <a:lnSpc>
                <a:spcPct val="103000"/>
              </a:lnSpc>
              <a:spcAft>
                <a:spcPts val="300"/>
              </a:spcAft>
              <a:defRPr sz="810">
                <a:solidFill>
                  <a:srgbClr val="21242A"/>
                </a:solidFill>
                <a:latin typeface="Microsoft YaHei"/>
              </a:defRPr>
            </a:pPr>
            <a:r>
              <a:t>靶点：CD79B、DNA、GR、Tubulin</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缩短ctdna的初步结果：弥漫性大b细胞淋巴瘤一线治疗可测量的残余疾病适应降级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preliminary results from shorten-ctdna: measurable residual disease-adapted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Detection of circulating tumor DNA (ctDNA)-based measurable/molecular residual disease (MRD) with phased variant (PV) enrichment and detection seque</a:t>
            </a:r>
          </a:p>
          <a:p>
            <a:pPr>
              <a:lnSpc>
                <a:spcPct val="103000"/>
              </a:lnSpc>
              <a:spcAft>
                <a:spcPts val="300"/>
              </a:spcAft>
              <a:defRPr sz="570">
                <a:solidFill>
                  <a:srgbClr val="21242A"/>
                </a:solidFill>
                <a:latin typeface="Microsoft YaHei"/>
              </a:defRPr>
            </a:pPr>
            <a:r>
              <a:t>ncing (PhasED-seq) is a minimally invasive, clinically validated method of response assessment in diffuse large B-cell lymphoma (DLBCL).</a:t>
            </a:r>
          </a:p>
          <a:p>
            <a:pPr>
              <a:lnSpc>
                <a:spcPct val="103000"/>
              </a:lnSpc>
              <a:spcAft>
                <a:spcPts val="300"/>
              </a:spcAft>
              <a:defRPr sz="570">
                <a:solidFill>
                  <a:srgbClr val="21242A"/>
                </a:solidFill>
                <a:latin typeface="Microsoft YaHei"/>
              </a:defRPr>
            </a:pPr>
            <a:r>
              <a:t>Patients (pts) with undetected ctDNA-MRD by PhasED-seq after 2 cycles of frontline therapy experienced a 2-year progression-free survival rate of 96% (Roschewsk</a:t>
            </a:r>
          </a:p>
          <a:p>
            <a:pPr>
              <a:lnSpc>
                <a:spcPct val="103000"/>
              </a:lnSpc>
              <a:spcAft>
                <a:spcPts val="300"/>
              </a:spcAft>
              <a:defRPr sz="570">
                <a:solidFill>
                  <a:srgbClr val="21242A"/>
                </a:solidFill>
                <a:latin typeface="Microsoft YaHei"/>
              </a:defRPr>
            </a:pPr>
            <a:r>
              <a:t>i JCO 2025).</a:t>
            </a:r>
          </a:p>
          <a:p>
            <a:pPr>
              <a:lnSpc>
                <a:spcPct val="103000"/>
              </a:lnSpc>
              <a:spcAft>
                <a:spcPts val="300"/>
              </a:spcAft>
              <a:defRPr sz="570">
                <a:solidFill>
                  <a:srgbClr val="21242A"/>
                </a:solidFill>
                <a:latin typeface="Microsoft YaHei"/>
              </a:defRPr>
            </a:pPr>
            <a:r>
              <a:t>Real-time ctDNA-MRD testing with the PhasED-seq-based Foresight CLARITY assay to guide de-escalation of frontline DLBCL therapy has not previously been performe</a:t>
            </a:r>
          </a:p>
          <a:p>
            <a:pPr>
              <a:lnSpc>
                <a:spcPct val="103000"/>
              </a:lnSpc>
              <a:spcAft>
                <a:spcPts val="300"/>
              </a:spcAft>
              <a:defRPr sz="570">
                <a:solidFill>
                  <a:srgbClr val="21242A"/>
                </a:solidFill>
                <a:latin typeface="Microsoft YaHei"/>
              </a:defRPr>
            </a:pPr>
            <a:r>
              <a:t>d.</a:t>
            </a:r>
          </a:p>
          <a:p>
            <a:pPr>
              <a:lnSpc>
                <a:spcPct val="103000"/>
              </a:lnSpc>
              <a:spcAft>
                <a:spcPts val="300"/>
              </a:spcAft>
              <a:defRPr sz="570">
                <a:solidFill>
                  <a:srgbClr val="21242A"/>
                </a:solidFill>
                <a:latin typeface="Microsoft YaHei"/>
              </a:defRPr>
            </a:pPr>
            <a:r>
              <a:t>Aims: The co-primary aims were to 1) evaluate the feasibility of real-time ctDNA-MRD testing during frontline DLBCL treatment and 2) determine the outcomes of p</a:t>
            </a:r>
          </a:p>
          <a:p>
            <a:pPr>
              <a:lnSpc>
                <a:spcPct val="103000"/>
              </a:lnSpc>
              <a:spcAft>
                <a:spcPts val="300"/>
              </a:spcAft>
              <a:defRPr sz="570">
                <a:solidFill>
                  <a:srgbClr val="21242A"/>
                </a:solidFill>
                <a:latin typeface="Microsoft YaHei"/>
              </a:defRPr>
            </a:pPr>
            <a:r>
              <a:t>ts who became undetectable for ctDNA-MRD mid-treatment and discontinued chemotherapy early.</a:t>
            </a:r>
          </a:p>
          <a:p>
            <a:pPr>
              <a:lnSpc>
                <a:spcPct val="103000"/>
              </a:lnSpc>
              <a:spcAft>
                <a:spcPts val="300"/>
              </a:spcAft>
              <a:defRPr sz="570">
                <a:solidFill>
                  <a:srgbClr val="21242A"/>
                </a:solidFill>
                <a:latin typeface="Microsoft YaHei"/>
              </a:defRPr>
            </a:pPr>
            <a:r>
              <a:t>Methods: We performed a single-center investigator-initiated feasibility study (NCT06693830) for pts with newly diagnosed stage II-IV DLBCL.</a:t>
            </a:r>
          </a:p>
          <a:p>
            <a:pPr>
              <a:lnSpc>
                <a:spcPct val="103000"/>
              </a:lnSpc>
              <a:spcAft>
                <a:spcPts val="300"/>
              </a:spcAft>
              <a:defRPr sz="570">
                <a:solidFill>
                  <a:srgbClr val="21242A"/>
                </a:solidFill>
                <a:latin typeface="Microsoft YaHei"/>
              </a:defRPr>
            </a:pPr>
            <a:r>
              <a:t>Pts received 4 cycles of standard rituximab, cyclophosphamide, doxorubicin, prednisone, and vincristine (R-CHOP) or polatuzumab vedotin (R-pola-CHP).</a:t>
            </a:r>
          </a:p>
          <a:p>
            <a:pPr>
              <a:lnSpc>
                <a:spcPct val="103000"/>
              </a:lnSpc>
              <a:spcAft>
                <a:spcPts val="300"/>
              </a:spcAft>
              <a:defRPr sz="570">
                <a:solidFill>
                  <a:srgbClr val="21242A"/>
                </a:solidFill>
                <a:latin typeface="Microsoft YaHei"/>
              </a:defRPr>
            </a:pPr>
            <a:r>
              <a:t>Whole blood samples were drawn on cycle 4 day 1 (C4D1) for real-time ctDNA-MRD testing.</a:t>
            </a:r>
          </a:p>
          <a:p>
            <a:pPr>
              <a:lnSpc>
                <a:spcPct val="103000"/>
              </a:lnSpc>
              <a:spcAft>
                <a:spcPts val="300"/>
              </a:spcAft>
              <a:defRPr sz="570">
                <a:solidFill>
                  <a:srgbClr val="21242A"/>
                </a:solidFill>
                <a:latin typeface="Microsoft YaHei"/>
              </a:defRPr>
            </a:pPr>
            <a:r>
              <a:t>These samples, alongside biopsy tissue to identify patient-specific PVs, were shipped to and analyzed at Foresight Diagnostics, Inc. (Boulder, CO).</a:t>
            </a:r>
          </a:p>
          <a:p>
            <a:pPr>
              <a:lnSpc>
                <a:spcPct val="103000"/>
              </a:lnSpc>
              <a:spcAft>
                <a:spcPts val="300"/>
              </a:spcAft>
              <a:defRPr sz="570">
                <a:solidFill>
                  <a:srgbClr val="21242A"/>
                </a:solidFill>
                <a:latin typeface="Microsoft YaHei"/>
              </a:defRPr>
            </a:pPr>
            <a:r>
              <a:t>PET scans were performed on C4D15 (iPET4).</a:t>
            </a:r>
          </a:p>
          <a:p>
            <a:pPr>
              <a:lnSpc>
                <a:spcPct val="103000"/>
              </a:lnSpc>
              <a:spcAft>
                <a:spcPts val="300"/>
              </a:spcAft>
              <a:defRPr sz="570">
                <a:solidFill>
                  <a:srgbClr val="21242A"/>
                </a:solidFill>
                <a:latin typeface="Microsoft YaHei"/>
              </a:defRPr>
            </a:pPr>
            <a:r>
              <a:t>Pts with undetected ctDNA-MRD on C4D1 and complete metabolic response (CMR) on iPET4 received rituximab alone for C5-6.</a:t>
            </a:r>
          </a:p>
          <a:p>
            <a:pPr>
              <a:lnSpc>
                <a:spcPct val="103000"/>
              </a:lnSpc>
              <a:spcAft>
                <a:spcPts val="300"/>
              </a:spcAft>
              <a:defRPr sz="570">
                <a:solidFill>
                  <a:srgbClr val="21242A"/>
                </a:solidFill>
                <a:latin typeface="Microsoft YaHei"/>
              </a:defRPr>
            </a:pPr>
            <a:r>
              <a:t>All other pts continued standard therapy. Equivocal iPET4 response could be confirmed with biopsy.</a:t>
            </a:r>
          </a:p>
          <a:p>
            <a:pPr>
              <a:lnSpc>
                <a:spcPct val="103000"/>
              </a:lnSpc>
              <a:spcAft>
                <a:spcPts val="300"/>
              </a:spcAft>
              <a:defRPr sz="570">
                <a:solidFill>
                  <a:srgbClr val="21242A"/>
                </a:solidFill>
                <a:latin typeface="Microsoft YaHei"/>
              </a:defRPr>
            </a:pPr>
            <a:r>
              <a:t>An end-of-treatment (EOT) PET was performed 10-14 weeks after C6D1. ctDNA-MRD was also evaluated in a batched manner from other timepoints.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Preliminary results from SHORTEN-ctDNA suggest that real-time ctDNA-MRD assessment with Foresight CLARITY to de-escalate frontline therapy in DLBCL is feasible.</a:t>
            </a:r>
          </a:p>
          <a:p>
            <a:pPr>
              <a:lnSpc>
                <a:spcPct val="103000"/>
              </a:lnSpc>
              <a:spcAft>
                <a:spcPts val="300"/>
              </a:spcAft>
              <a:defRPr sz="590">
                <a:solidFill>
                  <a:srgbClr val="21242A"/>
                </a:solidFill>
                <a:latin typeface="Microsoft YaHei"/>
              </a:defRPr>
            </a:pPr>
            <a:r>
              <a:t>Short-term clinical outcomes and molecular remissions for pts with undetected mid-treatment ctDNA-MRD who stop chemotherapy early are excellent.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实时ctDNA-MRD检测成功率</a:t>
                      </a:r>
                    </a:p>
                  </a:txBody>
                  <a:tcPr>
                    <a:solidFill>
                      <a:srgbClr val="F6F8FB"/>
                    </a:solidFill>
                  </a:tcPr>
                </a:tc>
                <a:tc>
                  <a:txBody>
                    <a:bodyPr wrap="square" lIns="36576" rIns="36576" tIns="18288" bIns="18288"/>
                    <a:lstStyle/>
                    <a:p>
                      <a:r>
                        <a:rPr sz="540" b="0">
                          <a:solidFill>
                            <a:srgbClr val="21242A"/>
                          </a:solidFill>
                          <a:latin typeface="Microsoft YaHei"/>
                        </a:rPr>
                        <a:t>13/14 (93%) 患者成功鉴定PV并进行检测</a:t>
                      </a:r>
                    </a:p>
                  </a:txBody>
                  <a:tcPr>
                    <a:solidFill>
                      <a:srgbClr val="F6F8FB"/>
                    </a:solidFill>
                  </a:tcPr>
                </a:tc>
              </a:tr>
              <a:tr h="299923">
                <a:tc>
                  <a:txBody>
                    <a:bodyPr wrap="square" lIns="36576" rIns="36576" tIns="18288" bIns="18288"/>
                    <a:lstStyle/>
                    <a:p>
                      <a:r>
                        <a:rPr sz="540" b="1">
                          <a:solidFill>
                            <a:srgbClr val="21242A"/>
                          </a:solidFill>
                          <a:latin typeface="Microsoft YaHei"/>
                        </a:rPr>
                        <a:t>C4D1 ctDNA-MRD未检测到率</a:t>
                      </a:r>
                    </a:p>
                  </a:txBody>
                  <a:tcPr>
                    <a:solidFill>
                      <a:srgbClr val="FFFFFF"/>
                    </a:solidFill>
                  </a:tcPr>
                </a:tc>
                <a:tc>
                  <a:txBody>
                    <a:bodyPr wrap="square" lIns="36576" rIns="36576" tIns="18288" bIns="18288"/>
                    <a:lstStyle/>
                    <a:p>
                      <a:r>
                        <a:rPr sz="540" b="0">
                          <a:solidFill>
                            <a:srgbClr val="21242A"/>
                          </a:solidFill>
                          <a:latin typeface="Microsoft YaHei"/>
                        </a:rPr>
                        <a:t>9/13 (69%)</a:t>
                      </a:r>
                    </a:p>
                  </a:txBody>
                  <a:tcPr>
                    <a:solidFill>
                      <a:srgbClr val="FFFFFF"/>
                    </a:solidFill>
                  </a:tcPr>
                </a:tc>
              </a:tr>
              <a:tr h="299923">
                <a:tc>
                  <a:txBody>
                    <a:bodyPr wrap="square" lIns="36576" rIns="36576" tIns="18288" bIns="18288"/>
                    <a:lstStyle/>
                    <a:p>
                      <a:r>
                        <a:rPr sz="540" b="1">
                          <a:solidFill>
                            <a:srgbClr val="21242A"/>
                          </a:solidFill>
                          <a:latin typeface="Microsoft YaHei"/>
                        </a:rPr>
                        <a:t>iPET4结果</a:t>
                      </a:r>
                    </a:p>
                  </a:txBody>
                  <a:tcPr>
                    <a:solidFill>
                      <a:srgbClr val="F6F8FB"/>
                    </a:solidFill>
                  </a:tcPr>
                </a:tc>
                <a:tc>
                  <a:txBody>
                    <a:bodyPr wrap="square" lIns="36576" rIns="36576" tIns="18288" bIns="18288"/>
                    <a:lstStyle/>
                    <a:p>
                      <a:r>
                        <a:rPr sz="540" b="0">
                          <a:solidFill>
                            <a:srgbClr val="21242A"/>
                          </a:solidFill>
                          <a:latin typeface="Microsoft YaHei"/>
                        </a:rPr>
                        <a:t>5/9明确CMR，4/9模棱两可但活检证实CMR</a:t>
                      </a:r>
                    </a:p>
                  </a:txBody>
                  <a:tcPr>
                    <a:solidFill>
                      <a:srgbClr val="F6F8FB"/>
                    </a:solidFill>
                  </a:tcPr>
                </a:tc>
              </a:tr>
              <a:tr h="299924">
                <a:tc>
                  <a:txBody>
                    <a:bodyPr wrap="square" lIns="36576" rIns="36576" tIns="18288" bIns="18288"/>
                    <a:lstStyle/>
                    <a:p>
                      <a:r>
                        <a:rPr sz="540" b="1">
                          <a:solidFill>
                            <a:srgbClr val="21242A"/>
                          </a:solidFill>
                          <a:latin typeface="Microsoft YaHei"/>
                        </a:rPr>
                        <a:t>降阶梯结果</a:t>
                      </a:r>
                    </a:p>
                  </a:txBody>
                  <a:tcPr>
                    <a:solidFill>
                      <a:srgbClr val="FFFFFF"/>
                    </a:solidFill>
                  </a:tcPr>
                </a:tc>
                <a:tc>
                  <a:txBody>
                    <a:bodyPr wrap="square" lIns="36576" rIns="36576" tIns="18288" bIns="18288"/>
                    <a:lstStyle/>
                    <a:p>
                      <a:r>
                        <a:rPr sz="540" b="0">
                          <a:solidFill>
                            <a:srgbClr val="21242A"/>
                          </a:solidFill>
                          <a:latin typeface="Microsoft YaHei"/>
                        </a:rPr>
                        <a:t>8例降阶梯至利妥昔单抗单药（另1例等待中），前6例EOT PET均为CMR，所有降阶梯患者保持缓解，中位随访6.4个月</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pola-rchp治疗结外受累的dlbcl患者：代表性不足人群的真实证据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for dlbcl patients with extranodal involvement: real-world evidence...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客观缓解率（ORR）：86%|完全缓解率（CR）：81%|6个月无进展生存率：85.9%|12个月无进展生存率：77.3%|6...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pola-rchp治疗结外受累的dlbcl患者：代表性不足人群的真实证据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for dlbcl patients with extranodal involvement: real-world evidence...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POLARIX trial established polatuzumab vedotin in combination with rituximab, cyclophosphamide, doxorubicin, and prednisone (pola-R-CHP) as a new</a:t>
            </a:r>
          </a:p>
          <a:p>
            <a:pPr>
              <a:lnSpc>
                <a:spcPct val="103000"/>
              </a:lnSpc>
              <a:spcAft>
                <a:spcPts val="300"/>
              </a:spcAft>
              <a:defRPr sz="570">
                <a:solidFill>
                  <a:srgbClr val="21242A"/>
                </a:solidFill>
                <a:latin typeface="Microsoft YaHei"/>
              </a:defRPr>
            </a:pPr>
            <a:r>
              <a:t> standard for first-line treatment of diffuse large B-cell lymphoma (DLBCL).</a:t>
            </a:r>
          </a:p>
          <a:p>
            <a:pPr>
              <a:lnSpc>
                <a:spcPct val="103000"/>
              </a:lnSpc>
              <a:spcAft>
                <a:spcPts val="300"/>
              </a:spcAft>
              <a:defRPr sz="570">
                <a:solidFill>
                  <a:srgbClr val="21242A"/>
                </a:solidFill>
                <a:latin typeface="Microsoft YaHei"/>
              </a:defRPr>
            </a:pPr>
            <a:r>
              <a:t>However, patients with extranodal involvement—a well-recognized adverse prognostic factor—were underrepresented in that study, and data on the efficacy and safe</a:t>
            </a:r>
          </a:p>
          <a:p>
            <a:pPr>
              <a:lnSpc>
                <a:spcPct val="103000"/>
              </a:lnSpc>
              <a:spcAft>
                <a:spcPts val="300"/>
              </a:spcAft>
              <a:defRPr sz="570">
                <a:solidFill>
                  <a:srgbClr val="21242A"/>
                </a:solidFill>
                <a:latin typeface="Microsoft YaHei"/>
              </a:defRPr>
            </a:pPr>
            <a:r>
              <a:t>ty of this regimen in the real-world population remain scarce.</a:t>
            </a:r>
          </a:p>
          <a:p>
            <a:pPr>
              <a:lnSpc>
                <a:spcPct val="103000"/>
              </a:lnSpc>
              <a:spcAft>
                <a:spcPts val="300"/>
              </a:spcAft>
              <a:defRPr sz="570">
                <a:solidFill>
                  <a:srgbClr val="21242A"/>
                </a:solidFill>
                <a:latin typeface="Microsoft YaHei"/>
              </a:defRPr>
            </a:pPr>
            <a:r>
              <a:t>To address this gap, we conducted a single-center retrospective analysis of DLBCL patients with extranodal involvement treated with pola-R-CHP.</a:t>
            </a:r>
          </a:p>
          <a:p>
            <a:pPr>
              <a:lnSpc>
                <a:spcPct val="103000"/>
              </a:lnSpc>
              <a:spcAft>
                <a:spcPts val="300"/>
              </a:spcAft>
              <a:defRPr sz="570">
                <a:solidFill>
                  <a:srgbClr val="21242A"/>
                </a:solidFill>
                <a:latin typeface="Microsoft YaHei"/>
              </a:defRPr>
            </a:pPr>
            <a:r>
              <a:t>Aims: The primary objectives were to assess overall response rate (ORR), complete response (CR) rate, and short-term survival outcomes; secondary objectives inc</a:t>
            </a:r>
          </a:p>
          <a:p>
            <a:pPr>
              <a:lnSpc>
                <a:spcPct val="103000"/>
              </a:lnSpc>
              <a:spcAft>
                <a:spcPts val="300"/>
              </a:spcAft>
              <a:defRPr sz="570">
                <a:solidFill>
                  <a:srgbClr val="21242A"/>
                </a:solidFill>
                <a:latin typeface="Microsoft YaHei"/>
              </a:defRPr>
            </a:pPr>
            <a:r>
              <a:t>luded safety evaluation and exploration of whether the pattern of extranodal involvement (single-site versus multi-site) influenced treatment outcomes.</a:t>
            </a:r>
          </a:p>
          <a:p>
            <a:pPr>
              <a:lnSpc>
                <a:spcPct val="103000"/>
              </a:lnSpc>
              <a:spcAft>
                <a:spcPts val="300"/>
              </a:spcAft>
              <a:defRPr sz="570">
                <a:solidFill>
                  <a:srgbClr val="21242A"/>
                </a:solidFill>
                <a:latin typeface="Microsoft YaHei"/>
              </a:defRPr>
            </a:pPr>
            <a:r>
              <a:t>Methods: Eligible patients had pathologically confirmed DLBCL with at least one extranodal site, completed ≥2 cycles of pola-R-CHP followed by response assessme</a:t>
            </a:r>
          </a:p>
          <a:p>
            <a:pPr>
              <a:lnSpc>
                <a:spcPct val="103000"/>
              </a:lnSpc>
              <a:spcAft>
                <a:spcPts val="300"/>
              </a:spcAft>
              <a:defRPr sz="570">
                <a:solidFill>
                  <a:srgbClr val="21242A"/>
                </a:solidFill>
                <a:latin typeface="Microsoft YaHei"/>
              </a:defRPr>
            </a:pPr>
            <a:r>
              <a:t>nt, and had no prior anti-lymphoma therapy.</a:t>
            </a:r>
          </a:p>
          <a:p>
            <a:pPr>
              <a:lnSpc>
                <a:spcPct val="103000"/>
              </a:lnSpc>
              <a:spcAft>
                <a:spcPts val="300"/>
              </a:spcAft>
              <a:defRPr sz="570">
                <a:solidFill>
                  <a:srgbClr val="21242A"/>
                </a:solidFill>
                <a:latin typeface="Microsoft YaHei"/>
              </a:defRPr>
            </a:pPr>
            <a:r>
              <a:t>All patients were scheduled to receive six cycles of pola-R-CHP and two additional cycles of rituximab monotherapy.</a:t>
            </a:r>
          </a:p>
          <a:p>
            <a:pPr>
              <a:lnSpc>
                <a:spcPct val="103000"/>
              </a:lnSpc>
              <a:spcAft>
                <a:spcPts val="300"/>
              </a:spcAft>
              <a:defRPr sz="570">
                <a:solidFill>
                  <a:srgbClr val="21242A"/>
                </a:solidFill>
                <a:latin typeface="Microsoft YaHei"/>
              </a:defRPr>
            </a:pPr>
            <a:r>
              <a:t>Efficacy and safety were assessed per Lugano 2014 criteria and CTCAE version 5.0, respectively.</a:t>
            </a:r>
          </a:p>
          <a:p>
            <a:pPr>
              <a:lnSpc>
                <a:spcPct val="103000"/>
              </a:lnSpc>
              <a:spcAft>
                <a:spcPts val="300"/>
              </a:spcAft>
              <a:defRPr sz="570">
                <a:solidFill>
                  <a:srgbClr val="21242A"/>
                </a:solidFill>
                <a:latin typeface="Microsoft YaHei"/>
              </a:defRPr>
            </a:pPr>
            <a:r>
              <a:t>Survival was estimated using the Kaplan-Meier method, with data censored as of January 31, 2026.</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To our knowledge, this represents the first real-world evidence demonstrating that pola-R-CHP is both highly active and well tolerated in DLBCL patients with ex</a:t>
            </a:r>
          </a:p>
          <a:p>
            <a:pPr>
              <a:lnSpc>
                <a:spcPct val="103000"/>
              </a:lnSpc>
              <a:spcAft>
                <a:spcPts val="300"/>
              </a:spcAft>
              <a:defRPr sz="590">
                <a:solidFill>
                  <a:srgbClr val="21242A"/>
                </a:solidFill>
                <a:latin typeface="Microsoft YaHei"/>
              </a:defRPr>
            </a:pPr>
            <a:r>
              <a:t>tranodal involvement.</a:t>
            </a:r>
          </a:p>
          <a:p>
            <a:pPr>
              <a:lnSpc>
                <a:spcPct val="103000"/>
              </a:lnSpc>
              <a:spcAft>
                <a:spcPts val="300"/>
              </a:spcAft>
              <a:defRPr sz="590">
                <a:solidFill>
                  <a:srgbClr val="21242A"/>
                </a:solidFill>
                <a:latin typeface="Microsoft YaHei"/>
              </a:defRPr>
            </a:pPr>
            <a:r>
              <a:t>Despite the uniformly high-risk features of this cohort, the observed CRR of 81% compares favorably with the 78% CRR reported in the overall POLARIX population.</a:t>
            </a:r>
          </a:p>
          <a:p>
            <a:pPr>
              <a:lnSpc>
                <a:spcPct val="103000"/>
              </a:lnSpc>
              <a:spcAft>
                <a:spcPts val="300"/>
              </a:spcAft>
              <a:defRPr sz="590">
                <a:solidFill>
                  <a:srgbClr val="21242A"/>
                </a:solidFill>
                <a:latin typeface="Microsoft YaHei"/>
              </a:defRPr>
            </a:pPr>
            <a:r>
              <a:t>These findings support the use of pola-R-CHP in this challenging subgroup and underscore the need for larger prospective studies to further delineate outcomes a</a:t>
            </a:r>
          </a:p>
          <a:p>
            <a:pPr>
              <a:lnSpc>
                <a:spcPct val="103000"/>
              </a:lnSpc>
              <a:spcAft>
                <a:spcPts val="300"/>
              </a:spcAft>
              <a:defRPr sz="590">
                <a:solidFill>
                  <a:srgbClr val="21242A"/>
                </a:solidFill>
                <a:latin typeface="Microsoft YaHei"/>
              </a:defRPr>
            </a:pPr>
            <a:r>
              <a:t>ccording to specific extranodal sites.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客观缓解率（ORR）：86%|完全缓解率（CR）：81%|6个月无进展生存率：85.9%|12个月无进展生存率：77.3%|6个月总生存率：100%|12个月总生存率：97.4%|任何级别不良事件：中性粒细胞减少32%，恶心25%，周围神经病变20%|≥3级不良事件：中性粒细胞减少24%，感染10%，贫血9%</a:t>
            </a:r>
          </a:p>
          <a:p>
            <a:pPr>
              <a:lnSpc>
                <a:spcPct val="103000"/>
              </a:lnSpc>
              <a:spcAft>
                <a:spcPts val="300"/>
              </a:spcAft>
              <a:defRPr sz="580">
                <a:solidFill>
                  <a:srgbClr val="21242A"/>
                </a:solidFill>
                <a:latin typeface="Microsoft YaHei"/>
              </a:defRPr>
            </a:pPr>
            <a:r>
              <a:t>|无治疗相关死亡</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布鲁顿酪氨酸激酶抑制剂维持治疗一线弥漫性大b细胞淋巴瘤：一项挑战传统范式的多中心现实研究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bruton tyrosine kinase inhibitor maintenance therapy in first-line diffuse 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泽布替尼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对照/比较：试验组：BTKi维持治疗（zanubrutinib或orelabrutinib）</a:t>
            </a:r>
          </a:p>
          <a:p>
            <a:pPr>
              <a:lnSpc>
                <a:spcPct val="103000"/>
              </a:lnSpc>
              <a:spcAft>
                <a:spcPts val="300"/>
              </a:spcAft>
              <a:defRPr sz="800">
                <a:solidFill>
                  <a:srgbClr val="21242A"/>
                </a:solidFill>
                <a:latin typeface="Microsoft YaHei"/>
              </a:defRPr>
            </a:pPr>
            <a:r>
              <a:t>对照组：PSM匹配对照组（来自REMOL-B数据库）</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2年PFS率：90%</a:t>
            </a:r>
          </a:p>
          <a:p>
            <a:pPr>
              <a:lnSpc>
                <a:spcPct val="103000"/>
              </a:lnSpc>
              <a:spcAft>
                <a:spcPts val="300"/>
              </a:spcAft>
              <a:defRPr sz="800">
                <a:solidFill>
                  <a:srgbClr val="21242A"/>
                </a:solidFill>
                <a:latin typeface="Microsoft YaHei"/>
              </a:defRPr>
            </a:pPr>
            <a:r>
              <a:t>2年OS率：98%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治疗线数：一线、维持</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布鲁顿酪氨酸激酶抑制剂维持治疗一线弥漫性大b细胞淋巴瘤：一项挑战传统范式的多中心现实研究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bruton tyrosine kinase inhibitor maintenance therapy in first-line diffuse 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remains the most common aggressive non-Hodgkin lymphoma, with approximately 30% of patients experiencing relap</a:t>
            </a:r>
          </a:p>
          <a:p>
            <a:pPr>
              <a:lnSpc>
                <a:spcPct val="103000"/>
              </a:lnSpc>
              <a:spcAft>
                <a:spcPts val="300"/>
              </a:spcAft>
              <a:defRPr sz="570">
                <a:solidFill>
                  <a:srgbClr val="21242A"/>
                </a:solidFill>
                <a:latin typeface="Microsoft YaHei"/>
              </a:defRPr>
            </a:pPr>
            <a:r>
              <a:t>se following standard R-CHOP induction therapy.The role of maintenance strategies in DLBCL has been controversial, with rituximab and lenalidomide maintenance f</a:t>
            </a:r>
          </a:p>
          <a:p>
            <a:pPr>
              <a:lnSpc>
                <a:spcPct val="103000"/>
              </a:lnSpc>
              <a:spcAft>
                <a:spcPts val="300"/>
              </a:spcAft>
              <a:defRPr sz="570">
                <a:solidFill>
                  <a:srgbClr val="21242A"/>
                </a:solidFill>
                <a:latin typeface="Microsoft YaHei"/>
              </a:defRPr>
            </a:pPr>
            <a:r>
              <a:t>ailing to demonstrate consistent overall survival (OS) benefits.</a:t>
            </a:r>
          </a:p>
          <a:p>
            <a:pPr>
              <a:lnSpc>
                <a:spcPct val="103000"/>
              </a:lnSpc>
              <a:spcAft>
                <a:spcPts val="300"/>
              </a:spcAft>
              <a:defRPr sz="570">
                <a:solidFill>
                  <a:srgbClr val="21242A"/>
                </a:solidFill>
                <a:latin typeface="Microsoft YaHei"/>
              </a:defRPr>
            </a:pPr>
            <a:r>
              <a:t>The emergence of novel targeted agents, particularly Bruton tyrosine kinase inhibitors (BTKi), has potentially reshaped first-line treatment paradigms, yet thei</a:t>
            </a:r>
          </a:p>
          <a:p>
            <a:pPr>
              <a:lnSpc>
                <a:spcPct val="103000"/>
              </a:lnSpc>
              <a:spcAft>
                <a:spcPts val="300"/>
              </a:spcAft>
              <a:defRPr sz="570">
                <a:solidFill>
                  <a:srgbClr val="21242A"/>
                </a:solidFill>
                <a:latin typeface="Microsoft YaHei"/>
              </a:defRPr>
            </a:pPr>
            <a:r>
              <a:t>r efficacy as maintenance therapy remains inadequately characterized.</a:t>
            </a:r>
          </a:p>
          <a:p>
            <a:pPr>
              <a:lnSpc>
                <a:spcPct val="103000"/>
              </a:lnSpc>
              <a:spcAft>
                <a:spcPts val="300"/>
              </a:spcAft>
              <a:defRPr sz="570">
                <a:solidFill>
                  <a:srgbClr val="21242A"/>
                </a:solidFill>
                <a:latin typeface="Microsoft YaHei"/>
              </a:defRPr>
            </a:pPr>
            <a:r>
              <a:t>Aims: This multicenter retrospective study aims to evaluate the prognostic impact of BTKi-based maintenance therapy in the context of modern DLBCL treatment.</a:t>
            </a:r>
          </a:p>
          <a:p>
            <a:pPr>
              <a:lnSpc>
                <a:spcPct val="103000"/>
              </a:lnSpc>
              <a:spcAft>
                <a:spcPts val="300"/>
              </a:spcAft>
              <a:defRPr sz="570">
                <a:solidFill>
                  <a:srgbClr val="21242A"/>
                </a:solidFill>
                <a:latin typeface="Microsoft YaHei"/>
              </a:defRPr>
            </a:pPr>
            <a:r>
              <a:t>Methods: We conducted a retrospective analysis of 106 DLBCL patients who received first-line maintenance therapy.</a:t>
            </a:r>
          </a:p>
          <a:p>
            <a:pPr>
              <a:lnSpc>
                <a:spcPct val="103000"/>
              </a:lnSpc>
              <a:spcAft>
                <a:spcPts val="300"/>
              </a:spcAft>
              <a:defRPr sz="570">
                <a:solidFill>
                  <a:srgbClr val="21242A"/>
                </a:solidFill>
                <a:latin typeface="Microsoft YaHei"/>
              </a:defRPr>
            </a:pPr>
            <a:r>
              <a:t>Eligible patients achieved complete (CR) or partial response (PR) following induction therapy.</a:t>
            </a:r>
          </a:p>
          <a:p>
            <a:pPr>
              <a:lnSpc>
                <a:spcPct val="103000"/>
              </a:lnSpc>
              <a:spcAft>
                <a:spcPts val="300"/>
              </a:spcAft>
              <a:defRPr sz="570">
                <a:solidFill>
                  <a:srgbClr val="21242A"/>
                </a:solidFill>
                <a:latin typeface="Microsoft YaHei"/>
              </a:defRPr>
            </a:pPr>
            <a:r>
              <a:t>BTKi maintenance (zanubrutinib or orelabrutinib) was administered to 73.6% of patients.</a:t>
            </a:r>
          </a:p>
          <a:p>
            <a:pPr>
              <a:lnSpc>
                <a:spcPct val="103000"/>
              </a:lnSpc>
              <a:spcAft>
                <a:spcPts val="300"/>
              </a:spcAft>
              <a:defRPr sz="570">
                <a:solidFill>
                  <a:srgbClr val="21242A"/>
                </a:solidFill>
                <a:latin typeface="Microsoft YaHei"/>
              </a:defRPr>
            </a:pPr>
            <a:r>
              <a:t>Using propensity score matching (PSM), we selected 44 patients from the publicly available REMoDL-B trial database as a control group.</a:t>
            </a:r>
          </a:p>
          <a:p>
            <a:pPr>
              <a:lnSpc>
                <a:spcPct val="103000"/>
              </a:lnSpc>
              <a:spcAft>
                <a:spcPts val="300"/>
              </a:spcAft>
              <a:defRPr sz="570">
                <a:solidFill>
                  <a:srgbClr val="21242A"/>
                </a:solidFill>
                <a:latin typeface="Microsoft YaHei"/>
              </a:defRPr>
            </a:pPr>
            <a:r>
              <a:t>Next-generation sequencing was performed for molecular subtyping according to Wright's \"seven-gene\" model.</a:t>
            </a:r>
          </a:p>
          <a:p>
            <a:pPr>
              <a:lnSpc>
                <a:spcPct val="103000"/>
              </a:lnSpc>
              <a:spcAft>
                <a:spcPts val="300"/>
              </a:spcAft>
              <a:defRPr sz="570">
                <a:solidFill>
                  <a:srgbClr val="21242A"/>
                </a:solidFill>
                <a:latin typeface="Microsoft YaHei"/>
              </a:defRPr>
            </a:pPr>
            <a:r>
              <a:t>Survival outcomes were analyzed using Kaplan-Meier methods and Cox proportional hazards regression.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real-world study challenges established dogma by demonstrating that BTKi-based maintenance therapy significantly improves PFS and OS in DLBCL, particularly</a:t>
            </a:r>
          </a:p>
          <a:p>
            <a:pPr>
              <a:lnSpc>
                <a:spcPct val="103000"/>
              </a:lnSpc>
              <a:spcAft>
                <a:spcPts val="300"/>
              </a:spcAft>
              <a:defRPr sz="590">
                <a:solidFill>
                  <a:srgbClr val="21242A"/>
                </a:solidFill>
                <a:latin typeface="Microsoft YaHei"/>
              </a:defRPr>
            </a:pPr>
            <a:r>
              <a:t> for high-risk patients and those achieving suboptimal responses to induction therapy.</a:t>
            </a:r>
          </a:p>
          <a:p>
            <a:pPr>
              <a:lnSpc>
                <a:spcPct val="103000"/>
              </a:lnSpc>
              <a:spcAft>
                <a:spcPts val="300"/>
              </a:spcAft>
              <a:defRPr sz="590">
                <a:solidFill>
                  <a:srgbClr val="21242A"/>
                </a:solidFill>
                <a:latin typeface="Microsoft YaHei"/>
              </a:defRPr>
            </a:pPr>
            <a:r>
              <a:t>The absence of CNS relapses in high-risk patients and potential enhanced efficacy in MCD molecular subtype support BTKi maintenance as a promising strategy.</a:t>
            </a:r>
          </a:p>
          <a:p>
            <a:pPr>
              <a:lnSpc>
                <a:spcPct val="103000"/>
              </a:lnSpc>
              <a:spcAft>
                <a:spcPts val="300"/>
              </a:spcAft>
              <a:defRPr sz="590">
                <a:solidFill>
                  <a:srgbClr val="21242A"/>
                </a:solidFill>
                <a:latin typeface="Microsoft YaHei"/>
              </a:defRPr>
            </a:pPr>
            <a:r>
              <a:t>These findings warrant prospective validation in randomized trials and suggest reconsideration of maintenance therapy's role in modern DLBCL management.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15355">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15355">
                <a:tc>
                  <a:txBody>
                    <a:bodyPr wrap="square" lIns="36576" rIns="36576" tIns="18288" bIns="18288"/>
                    <a:lstStyle/>
                    <a:p>
                      <a:r>
                        <a:rPr sz="540" b="1">
                          <a:solidFill>
                            <a:srgbClr val="21242A"/>
                          </a:solidFill>
                          <a:latin typeface="Microsoft YaHei"/>
                        </a:rPr>
                        <a:t>2年PFS率</a:t>
                      </a:r>
                    </a:p>
                  </a:txBody>
                  <a:tcPr>
                    <a:solidFill>
                      <a:srgbClr val="F6F8FB"/>
                    </a:solidFill>
                  </a:tcPr>
                </a:tc>
                <a:tc>
                  <a:txBody>
                    <a:bodyPr wrap="square" lIns="36576" rIns="36576" tIns="18288" bIns="18288"/>
                    <a:lstStyle/>
                    <a:p>
                      <a:r>
                        <a:rPr sz="540" b="0">
                          <a:solidFill>
                            <a:srgbClr val="21242A"/>
                          </a:solidFill>
                          <a:latin typeface="Microsoft YaHei"/>
                        </a:rPr>
                        <a:t>90%</a:t>
                      </a:r>
                    </a:p>
                  </a:txBody>
                  <a:tcPr>
                    <a:solidFill>
                      <a:srgbClr val="F6F8FB"/>
                    </a:solidFill>
                  </a:tcPr>
                </a:tc>
              </a:tr>
              <a:tr h="115355">
                <a:tc>
                  <a:txBody>
                    <a:bodyPr wrap="square" lIns="36576" rIns="36576" tIns="18288" bIns="18288"/>
                    <a:lstStyle/>
                    <a:p>
                      <a:r>
                        <a:rPr sz="540" b="1">
                          <a:solidFill>
                            <a:srgbClr val="21242A"/>
                          </a:solidFill>
                          <a:latin typeface="Microsoft YaHei"/>
                        </a:rPr>
                        <a:t>2年OS率</a:t>
                      </a:r>
                    </a:p>
                  </a:txBody>
                  <a:tcPr>
                    <a:solidFill>
                      <a:srgbClr val="FFFFFF"/>
                    </a:solidFill>
                  </a:tcPr>
                </a:tc>
                <a:tc>
                  <a:txBody>
                    <a:bodyPr wrap="square" lIns="36576" rIns="36576" tIns="18288" bIns="18288"/>
                    <a:lstStyle/>
                    <a:p>
                      <a:r>
                        <a:rPr sz="540" b="0">
                          <a:solidFill>
                            <a:srgbClr val="21242A"/>
                          </a:solidFill>
                          <a:latin typeface="Microsoft YaHei"/>
                        </a:rPr>
                        <a:t>98%</a:t>
                      </a:r>
                    </a:p>
                  </a:txBody>
                  <a:tcPr>
                    <a:solidFill>
                      <a:srgbClr val="FFFFFF"/>
                    </a:solidFill>
                  </a:tcPr>
                </a:tc>
              </a:tr>
              <a:tr h="115355">
                <a:tc>
                  <a:txBody>
                    <a:bodyPr wrap="square" lIns="36576" rIns="36576" tIns="18288" bIns="18288"/>
                    <a:lstStyle/>
                    <a:p>
                      <a:r>
                        <a:rPr sz="540" b="1">
                          <a:solidFill>
                            <a:srgbClr val="21242A"/>
                          </a:solidFill>
                          <a:latin typeface="Microsoft YaHei"/>
                        </a:rPr>
                        <a:t>高危（IPI≥3）2年PFS</a:t>
                      </a:r>
                    </a:p>
                  </a:txBody>
                  <a:tcPr>
                    <a:solidFill>
                      <a:srgbClr val="F6F8FB"/>
                    </a:solidFill>
                  </a:tcPr>
                </a:tc>
                <a:tc>
                  <a:txBody>
                    <a:bodyPr wrap="square" lIns="36576" rIns="36576" tIns="18288" bIns="18288"/>
                    <a:lstStyle/>
                    <a:p>
                      <a:r>
                        <a:rPr sz="540" b="0">
                          <a:solidFill>
                            <a:srgbClr val="21242A"/>
                          </a:solidFill>
                          <a:latin typeface="Microsoft YaHei"/>
                        </a:rPr>
                        <a:t>87.0%</a:t>
                      </a:r>
                    </a:p>
                  </a:txBody>
                  <a:tcPr>
                    <a:solidFill>
                      <a:srgbClr val="F6F8FB"/>
                    </a:solidFill>
                  </a:tcPr>
                </a:tc>
              </a:tr>
              <a:tr h="115355">
                <a:tc>
                  <a:txBody>
                    <a:bodyPr wrap="square" lIns="36576" rIns="36576" tIns="18288" bIns="18288"/>
                    <a:lstStyle/>
                    <a:p>
                      <a:r>
                        <a:rPr sz="540" b="1">
                          <a:solidFill>
                            <a:srgbClr val="21242A"/>
                          </a:solidFill>
                          <a:latin typeface="Microsoft YaHei"/>
                        </a:rPr>
                        <a:t>高危（CNS-IPI≥4）2年PFS</a:t>
                      </a:r>
                    </a:p>
                  </a:txBody>
                  <a:tcPr>
                    <a:solidFill>
                      <a:srgbClr val="FFFFFF"/>
                    </a:solidFill>
                  </a:tcPr>
                </a:tc>
                <a:tc>
                  <a:txBody>
                    <a:bodyPr wrap="square" lIns="36576" rIns="36576" tIns="18288" bIns="18288"/>
                    <a:lstStyle/>
                    <a:p>
                      <a:r>
                        <a:rPr sz="540" b="0">
                          <a:solidFill>
                            <a:srgbClr val="21242A"/>
                          </a:solidFill>
                          <a:latin typeface="Microsoft YaHei"/>
                        </a:rPr>
                        <a:t>86.5%</a:t>
                      </a:r>
                    </a:p>
                  </a:txBody>
                  <a:tcPr>
                    <a:solidFill>
                      <a:srgbClr val="FFFFFF"/>
                    </a:solidFill>
                  </a:tcPr>
                </a:tc>
              </a:tr>
              <a:tr h="11535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多因素分析维持治疗为PFS独立预后因素（HR 0.42, 95% CI 0.20-0.88</a:t>
                      </a:r>
                    </a:p>
                  </a:txBody>
                  <a:tcPr>
                    <a:solidFill>
                      <a:srgbClr val="F6F8FB"/>
                    </a:solidFill>
                  </a:tcPr>
                </a:tc>
              </a:tr>
              <a:tr h="11535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P=0.019）</a:t>
                      </a:r>
                    </a:p>
                  </a:txBody>
                  <a:tcPr>
                    <a:solidFill>
                      <a:srgbClr val="FFFFFF"/>
                    </a:solidFill>
                  </a:tcPr>
                </a:tc>
              </a:tr>
              <a:tr h="115355">
                <a:tc>
                  <a:txBody>
                    <a:bodyPr wrap="square" lIns="36576" rIns="36576" tIns="18288" bIns="18288"/>
                    <a:lstStyle/>
                    <a:p>
                      <a:r>
                        <a:rPr sz="540" b="1">
                          <a:solidFill>
                            <a:srgbClr val="21242A"/>
                          </a:solidFill>
                          <a:latin typeface="Microsoft YaHei"/>
                        </a:rPr>
                        <a:t>BTKi治疗组（n=78）2年PFS</a:t>
                      </a:r>
                    </a:p>
                  </a:txBody>
                  <a:tcPr>
                    <a:solidFill>
                      <a:srgbClr val="F6F8FB"/>
                    </a:solidFill>
                  </a:tcPr>
                </a:tc>
                <a:tc>
                  <a:txBody>
                    <a:bodyPr wrap="square" lIns="36576" rIns="36576" tIns="18288" bIns="18288"/>
                    <a:lstStyle/>
                    <a:p>
                      <a:r>
                        <a:rPr sz="540" b="0">
                          <a:solidFill>
                            <a:srgbClr val="21242A"/>
                          </a:solidFill>
                          <a:latin typeface="Microsoft YaHei"/>
                        </a:rPr>
                        <a:t>87.6%，2年OS：97.2%</a:t>
                      </a:r>
                    </a:p>
                  </a:txBody>
                  <a:tcPr>
                    <a:solidFill>
                      <a:srgbClr val="F6F8FB"/>
                    </a:solidFill>
                  </a:tcPr>
                </a:tc>
              </a:tr>
              <a:tr h="11535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无CNS复发（高危患者中）</a:t>
                      </a:r>
                    </a:p>
                  </a:txBody>
                  <a:tcPr>
                    <a:solidFill>
                      <a:srgbClr val="FFFFFF"/>
                    </a:solidFill>
                  </a:tcPr>
                </a:tc>
              </a:tr>
              <a:tr h="11535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维持时间≥12个月与更好PFS相关（P=0.042）</a:t>
                      </a:r>
                    </a:p>
                  </a:txBody>
                  <a:tcPr>
                    <a:solidFill>
                      <a:srgbClr val="F6F8FB"/>
                    </a:solidFill>
                  </a:tcPr>
                </a:tc>
              </a:tr>
              <a:tr h="11535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仅PR患者接受维持后PFS与CR患者相当</a:t>
                      </a:r>
                    </a:p>
                  </a:txBody>
                  <a:tcPr>
                    <a:solidFill>
                      <a:srgbClr val="FFFFFF"/>
                    </a:solidFill>
                  </a:tcPr>
                </a:tc>
              </a:tr>
              <a:tr h="11535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MCD亚型PFS优于A53亚型（P=0.078）</a:t>
                      </a:r>
                    </a:p>
                  </a:txBody>
                  <a:tcPr>
                    <a:solidFill>
                      <a:srgbClr val="F6F8FB"/>
                    </a:solidFill>
                  </a:tcPr>
                </a:tc>
              </a:tr>
              <a:tr h="11535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≥3级血小板减少发生率2.6%，无≥3级非血液学毒性</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摘要号：PS2127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myc/bcl-2双表达弥漫性大b细胞淋巴瘤的临床特征和疗效：来自believe研究的真实数据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characteristics and efficacy of myc/bcl-2 double-expressing diffuse...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N=1088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BTK抑制剂</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多组/多方案比较：试验组1：R-CHOP-like方案</a:t>
            </a:r>
          </a:p>
          <a:p>
            <a:pPr>
              <a:lnSpc>
                <a:spcPct val="103000"/>
              </a:lnSpc>
              <a:spcAft>
                <a:spcPts val="300"/>
              </a:spcAft>
              <a:defRPr sz="800">
                <a:solidFill>
                  <a:srgbClr val="21242A"/>
                </a:solidFill>
                <a:latin typeface="Microsoft YaHei"/>
              </a:defRPr>
            </a:pPr>
            <a:r>
              <a:t>试验组2：R-CHOP加靶向药物（包括BTK抑制剂等）</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客观缓解率（ORR）：在可评估的1051例DEL-DLBCL患者中为75.9%</a:t>
            </a:r>
          </a:p>
          <a:p>
            <a:pPr>
              <a:lnSpc>
                <a:spcPct val="103000"/>
              </a:lnSpc>
              <a:spcAft>
                <a:spcPts val="300"/>
              </a:spcAft>
              <a:defRPr sz="800">
                <a:solidFill>
                  <a:srgbClr val="21242A"/>
                </a:solidFill>
                <a:latin typeface="Microsoft YaHei"/>
              </a:defRPr>
            </a:pPr>
            <a:r>
              <a:t>完全缓解率（CRR）：57.5%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人数：1088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登记号：NCT06026488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试验药/方案：奥布替尼、BTK抑制剂</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myc/bcl-2双表达弥漫性大b细胞淋巴瘤的临床特征和疗效：来自believe研究的真实数据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characteristics and efficacy of myc/bcl-2 double-expressing diffuse...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displays marked molecular heterogeneity.</a:t>
            </a:r>
          </a:p>
          <a:p>
            <a:pPr>
              <a:lnSpc>
                <a:spcPct val="103000"/>
              </a:lnSpc>
              <a:spcAft>
                <a:spcPts val="300"/>
              </a:spcAft>
              <a:defRPr sz="570">
                <a:solidFill>
                  <a:srgbClr val="21242A"/>
                </a:solidFill>
                <a:latin typeface="Microsoft YaHei"/>
              </a:defRPr>
            </a:pPr>
            <a:r>
              <a:t>The phase Ⅱ GUIDANCE-01 trial showed that subtype-guided immunochemotherapy (R-CHOP-X) improves anti-tumor efficacy with manageable safety (Cancer Cell 2023:41:</a:t>
            </a:r>
          </a:p>
          <a:p>
            <a:pPr>
              <a:lnSpc>
                <a:spcPct val="103000"/>
              </a:lnSpc>
              <a:spcAft>
                <a:spcPts val="300"/>
              </a:spcAft>
              <a:defRPr sz="570">
                <a:solidFill>
                  <a:srgbClr val="21242A"/>
                </a:solidFill>
                <a:latin typeface="Microsoft YaHei"/>
              </a:defRPr>
            </a:pPr>
            <a:r>
              <a:t>1705-1716) .</a:t>
            </a:r>
          </a:p>
          <a:p>
            <a:pPr>
              <a:lnSpc>
                <a:spcPct val="103000"/>
              </a:lnSpc>
              <a:spcAft>
                <a:spcPts val="300"/>
              </a:spcAft>
              <a:defRPr sz="570">
                <a:solidFill>
                  <a:srgbClr val="21242A"/>
                </a:solidFill>
                <a:latin typeface="Microsoft YaHei"/>
              </a:defRPr>
            </a:pPr>
            <a:r>
              <a:t>The phase Ⅲ DEB trial confirmed that R-CHOP plus chidamide significantly prolongs survival in MYC/BCL-2 double-expressing DLBCL (DEL-DLBCL) (ASH 2025 oral 475) </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Aims: We present the large‑scale Chinese real‑world BELIEVE study (NCT06026488) to assess the effectiveness of different therapeutic strategies in DEL‑DLBCL and</a:t>
            </a:r>
          </a:p>
          <a:p>
            <a:pPr>
              <a:lnSpc>
                <a:spcPct val="103000"/>
              </a:lnSpc>
              <a:spcAft>
                <a:spcPts val="300"/>
              </a:spcAft>
              <a:defRPr sz="570">
                <a:solidFill>
                  <a:srgbClr val="21242A"/>
                </a:solidFill>
                <a:latin typeface="Microsoft YaHei"/>
              </a:defRPr>
            </a:pPr>
            <a:r>
              <a:t> generate real‑world evidence to support clinical decision‑making.</a:t>
            </a:r>
          </a:p>
          <a:p>
            <a:pPr>
              <a:lnSpc>
                <a:spcPct val="103000"/>
              </a:lnSpc>
              <a:spcAft>
                <a:spcPts val="300"/>
              </a:spcAft>
              <a:defRPr sz="570">
                <a:solidFill>
                  <a:srgbClr val="21242A"/>
                </a:solidFill>
                <a:latin typeface="Microsoft YaHei"/>
              </a:defRPr>
            </a:pPr>
            <a:r>
              <a:t>Methods: This retrospective study enrolled DLBCL patients who underwent next‑generation sequencing (NGS).</a:t>
            </a:r>
          </a:p>
          <a:p>
            <a:pPr>
              <a:lnSpc>
                <a:spcPct val="103000"/>
              </a:lnSpc>
              <a:spcAft>
                <a:spcPts val="300"/>
              </a:spcAft>
              <a:defRPr sz="570">
                <a:solidFill>
                  <a:srgbClr val="21242A"/>
                </a:solidFill>
                <a:latin typeface="Microsoft YaHei"/>
              </a:defRPr>
            </a:pPr>
            <a:r>
              <a:t>Baseline characteristics, treatments, efficacy, and survival data were collected.</a:t>
            </a:r>
          </a:p>
          <a:p>
            <a:pPr>
              <a:lnSpc>
                <a:spcPct val="103000"/>
              </a:lnSpc>
              <a:spcAft>
                <a:spcPts val="300"/>
              </a:spcAft>
              <a:defRPr sz="570">
                <a:solidFill>
                  <a:srgbClr val="21242A"/>
                </a:solidFill>
                <a:latin typeface="Microsoft YaHei"/>
              </a:defRPr>
            </a:pPr>
            <a:r>
              <a:t>The primary endpoint was progression‑free survival (PFS); key secondary endpoints included objective response rate (ORR), complete response rate (CRR), and over</a:t>
            </a:r>
          </a:p>
          <a:p>
            <a:pPr>
              <a:lnSpc>
                <a:spcPct val="103000"/>
              </a:lnSpc>
              <a:spcAft>
                <a:spcPts val="300"/>
              </a:spcAft>
              <a:defRPr sz="570">
                <a:solidFill>
                  <a:srgbClr val="21242A"/>
                </a:solidFill>
                <a:latin typeface="Microsoft YaHei"/>
              </a:defRPr>
            </a:pPr>
            <a:r>
              <a:t>all survival (OS).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large Chinese real‑world cohort, DEL‑DLBCL accounts for ~30% of DLBCL and is characterized by aggressive clinicopathological features and inferior outco</a:t>
            </a:r>
          </a:p>
          <a:p>
            <a:pPr>
              <a:lnSpc>
                <a:spcPct val="103000"/>
              </a:lnSpc>
              <a:spcAft>
                <a:spcPts val="300"/>
              </a:spcAft>
              <a:defRPr sz="590">
                <a:solidFill>
                  <a:srgbClr val="21242A"/>
                </a:solidFill>
                <a:latin typeface="Microsoft YaHei"/>
              </a:defRPr>
            </a:pPr>
            <a:r>
              <a:t>mes compared with non‑DEL DLBCL, confirming its high‑risk nature.</a:t>
            </a:r>
          </a:p>
          <a:p>
            <a:pPr>
              <a:lnSpc>
                <a:spcPct val="103000"/>
              </a:lnSpc>
              <a:spcAft>
                <a:spcPts val="300"/>
              </a:spcAft>
              <a:defRPr sz="590">
                <a:solidFill>
                  <a:srgbClr val="21242A"/>
                </a:solidFill>
                <a:latin typeface="Microsoft YaHei"/>
              </a:defRPr>
            </a:pPr>
            <a:r>
              <a:t>R‑CHOP‑like therapy shows limited efficacy in DEL‑DLBCL, whereas R‑CHOP plus BTKi show promising efficacy, supporting individualized, evidence‑based treatment o</a:t>
            </a:r>
          </a:p>
          <a:p>
            <a:pPr>
              <a:lnSpc>
                <a:spcPct val="103000"/>
              </a:lnSpc>
              <a:spcAft>
                <a:spcPts val="300"/>
              </a:spcAft>
              <a:defRPr sz="590">
                <a:solidFill>
                  <a:srgbClr val="21242A"/>
                </a:solidFill>
                <a:latin typeface="Microsoft YaHei"/>
              </a:defRPr>
            </a:pPr>
            <a:r>
              <a:t>ptions for DEL‑DLBCL.</a:t>
            </a:r>
          </a:p>
          <a:p>
            <a:pPr>
              <a:lnSpc>
                <a:spcPct val="103000"/>
              </a:lnSpc>
              <a:spcAft>
                <a:spcPts val="300"/>
              </a:spcAft>
              <a:defRPr sz="590">
                <a:solidFill>
                  <a:srgbClr val="21242A"/>
                </a:solidFill>
                <a:latin typeface="Microsoft YaHei"/>
              </a:defRPr>
            </a:pPr>
            <a:r>
              <a:t>This study provides real‑world evidence to optimize DEL‑DLBCL management. Long‑term survival analyses including PFS are ongoing.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客观缓解率（ORR）：在可评估的1051例DEL-DLBCL患者中为75.9%；完全缓解率（CRR）：57.5%；R-CHOP加靶向药物组的ORR为84.2%；R-CHOP+BTKi组（n=69）的ORR为88.4%，CRR为75.4%；奥布替尼组（n=43）的ORR为88.3%，CRR为76.7%</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orelabrutinib联合r-chop治疗新诊断的非gcb双表达弥漫性大b细胞淋巴瘤：一项多中心、单臂、ii期研究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plus r-chop for the treatment of newly diagnosed non-gcb double...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主要终点：事件无进展生存期（EFS）未达到</a:t>
            </a:r>
          </a:p>
          <a:p>
            <a:pPr>
              <a:lnSpc>
                <a:spcPct val="103000"/>
              </a:lnSpc>
              <a:spcAft>
                <a:spcPts val="300"/>
              </a:spcAft>
              <a:defRPr sz="800">
                <a:solidFill>
                  <a:srgbClr val="21242A"/>
                </a:solidFill>
                <a:latin typeface="Microsoft YaHei"/>
              </a:defRPr>
            </a:pPr>
            <a:r>
              <a:t>次要终点：</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orelabrutinib联合r-chop治疗新诊断的非gcb双表达弥漫性大b细胞淋巴瘤：一项多中心、单臂、ii期研究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plus r-chop for the treatment of newly diagnosed non-gcb double...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patients with co-expression of MYC (≥40%) and BCL2 (≥50%), defined as double-expressor DLBCL (DE-DLBCL), typic</a:t>
            </a:r>
          </a:p>
          <a:p>
            <a:pPr>
              <a:lnSpc>
                <a:spcPct val="103000"/>
              </a:lnSpc>
              <a:spcAft>
                <a:spcPts val="300"/>
              </a:spcAft>
              <a:defRPr sz="570">
                <a:solidFill>
                  <a:srgbClr val="21242A"/>
                </a:solidFill>
                <a:latin typeface="Microsoft YaHei"/>
              </a:defRPr>
            </a:pPr>
            <a:r>
              <a:t>ally have poor outcomes with the traditional first-line R-CHOP regimen.</a:t>
            </a:r>
          </a:p>
          <a:p>
            <a:pPr>
              <a:lnSpc>
                <a:spcPct val="103000"/>
              </a:lnSpc>
              <a:spcAft>
                <a:spcPts val="300"/>
              </a:spcAft>
              <a:defRPr sz="570">
                <a:solidFill>
                  <a:srgbClr val="21242A"/>
                </a:solidFill>
                <a:latin typeface="Microsoft YaHei"/>
              </a:defRPr>
            </a:pPr>
            <a:r>
              <a:t>Given that the optimal first-line treatment strategy for DE-DLBCL patients remains unclear, there is an urgent need to explore more effective and therapeutic ap</a:t>
            </a:r>
          </a:p>
          <a:p>
            <a:pPr>
              <a:lnSpc>
                <a:spcPct val="103000"/>
              </a:lnSpc>
              <a:spcAft>
                <a:spcPts val="300"/>
              </a:spcAft>
              <a:defRPr sz="570">
                <a:solidFill>
                  <a:srgbClr val="21242A"/>
                </a:solidFill>
                <a:latin typeface="Microsoft YaHei"/>
              </a:defRPr>
            </a:pPr>
            <a:r>
              <a:t>proaches.</a:t>
            </a:r>
          </a:p>
          <a:p>
            <a:pPr>
              <a:lnSpc>
                <a:spcPct val="103000"/>
              </a:lnSpc>
              <a:spcAft>
                <a:spcPts val="300"/>
              </a:spcAft>
              <a:defRPr sz="570">
                <a:solidFill>
                  <a:srgbClr val="21242A"/>
                </a:solidFill>
                <a:latin typeface="Microsoft YaHei"/>
              </a:defRPr>
            </a:pPr>
            <a:r>
              <a:t>Orelabrutinib (O), a novel, potent, and highly selective Bruton’s tyrosine kinase (BTK) inhibitor, has demonstrated encouraging therapeutic potential in patient</a:t>
            </a:r>
          </a:p>
          <a:p>
            <a:pPr>
              <a:lnSpc>
                <a:spcPct val="103000"/>
              </a:lnSpc>
              <a:spcAft>
                <a:spcPts val="300"/>
              </a:spcAft>
              <a:defRPr sz="570">
                <a:solidFill>
                  <a:srgbClr val="21242A"/>
                </a:solidFill>
                <a:latin typeface="Microsoft YaHei"/>
              </a:defRPr>
            </a:pPr>
            <a:r>
              <a:t>s with DLBCL when combined with the R-CHOP regimen.</a:t>
            </a:r>
          </a:p>
          <a:p>
            <a:pPr>
              <a:lnSpc>
                <a:spcPct val="103000"/>
              </a:lnSpc>
              <a:spcAft>
                <a:spcPts val="300"/>
              </a:spcAft>
              <a:defRPr sz="570">
                <a:solidFill>
                  <a:srgbClr val="21242A"/>
                </a:solidFill>
                <a:latin typeface="Microsoft YaHei"/>
              </a:defRPr>
            </a:pPr>
            <a:r>
              <a:t>Aims: We conducted a multicenter, single-arm, phase II study to evaluate the efficacy and safety of the O plus R-CHOP (O-RCHOP) regimen in newly diagnosed patie</a:t>
            </a:r>
          </a:p>
          <a:p>
            <a:pPr>
              <a:lnSpc>
                <a:spcPct val="103000"/>
              </a:lnSpc>
              <a:spcAft>
                <a:spcPts val="300"/>
              </a:spcAft>
              <a:defRPr sz="570">
                <a:solidFill>
                  <a:srgbClr val="21242A"/>
                </a:solidFill>
                <a:latin typeface="Microsoft YaHei"/>
              </a:defRPr>
            </a:pPr>
            <a:r>
              <a:t>nts with non-germinal center B-cell-like (non-GCB) DE-DLBCL.</a:t>
            </a:r>
          </a:p>
          <a:p>
            <a:pPr>
              <a:lnSpc>
                <a:spcPct val="103000"/>
              </a:lnSpc>
              <a:spcAft>
                <a:spcPts val="300"/>
              </a:spcAft>
              <a:defRPr sz="570">
                <a:solidFill>
                  <a:srgbClr val="21242A"/>
                </a:solidFill>
                <a:latin typeface="Microsoft YaHei"/>
              </a:defRPr>
            </a:pPr>
            <a:r>
              <a:t>Methods: All eligible patients received 6-8 cycles of 21-day treatment, including O 150 mg once daily on days 1-14 combined with R-CHOP (rituximab 375 mg/m 2 on</a:t>
            </a:r>
          </a:p>
          <a:p>
            <a:pPr>
              <a:lnSpc>
                <a:spcPct val="103000"/>
              </a:lnSpc>
              <a:spcAft>
                <a:spcPts val="300"/>
              </a:spcAft>
              <a:defRPr sz="570">
                <a:solidFill>
                  <a:srgbClr val="21242A"/>
                </a:solidFill>
                <a:latin typeface="Microsoft YaHei"/>
              </a:defRPr>
            </a:pPr>
            <a:r>
              <a:t> day 0; cyclophosphamide 750 mg/m 2 on day 1; doxorubicin 50 mg/m 2 on day 1; vindesine 4 mg on day 1; prednisone 100 mg on days 1-5).</a:t>
            </a:r>
          </a:p>
          <a:p>
            <a:pPr>
              <a:lnSpc>
                <a:spcPct val="103000"/>
              </a:lnSpc>
              <a:spcAft>
                <a:spcPts val="300"/>
              </a:spcAft>
              <a:defRPr sz="570">
                <a:solidFill>
                  <a:srgbClr val="21242A"/>
                </a:solidFill>
                <a:latin typeface="Microsoft YaHei"/>
              </a:defRPr>
            </a:pPr>
            <a:r>
              <a:t>The primary endpoint was event-free survival (EFS).</a:t>
            </a:r>
          </a:p>
          <a:p>
            <a:pPr>
              <a:lnSpc>
                <a:spcPct val="103000"/>
              </a:lnSpc>
              <a:spcAft>
                <a:spcPts val="300"/>
              </a:spcAft>
              <a:defRPr sz="570">
                <a:solidFill>
                  <a:srgbClr val="21242A"/>
                </a:solidFill>
                <a:latin typeface="Microsoft YaHei"/>
              </a:defRPr>
            </a:pPr>
            <a:r>
              <a:t>The secondary endpoints included progression-free survival (PFS), complete response rate (CRR), objective response rate (ORR), 3-year overall survival (OS) rate</a:t>
            </a:r>
          </a:p>
          <a:p>
            <a:pPr>
              <a:lnSpc>
                <a:spcPct val="103000"/>
              </a:lnSpc>
              <a:spcAft>
                <a:spcPts val="300"/>
              </a:spcAft>
              <a:defRPr sz="570">
                <a:solidFill>
                  <a:srgbClr val="21242A"/>
                </a:solidFill>
                <a:latin typeface="Microsoft YaHei"/>
              </a:defRPr>
            </a:pPr>
            <a:r>
              <a:t>, and safety.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previously untreated non-GCB DE-DLBCL patients, O-RCHOP achieved promising efficacy with a manageable safety profile, supporting its promise as a feasible fi</a:t>
            </a:r>
          </a:p>
          <a:p>
            <a:pPr>
              <a:lnSpc>
                <a:spcPct val="103000"/>
              </a:lnSpc>
              <a:spcAft>
                <a:spcPts val="300"/>
              </a:spcAft>
              <a:defRPr sz="590">
                <a:solidFill>
                  <a:srgbClr val="21242A"/>
                </a:solidFill>
                <a:latin typeface="Microsoft YaHei"/>
              </a:defRPr>
            </a:pPr>
            <a:r>
              <a:t>rst-line regimen.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07115">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07115">
                <a:tc>
                  <a:txBody>
                    <a:bodyPr wrap="square" lIns="36576" rIns="36576" tIns="18288" bIns="18288"/>
                    <a:lstStyle/>
                    <a:p>
                      <a:r>
                        <a:rPr sz="540" b="1">
                          <a:solidFill>
                            <a:srgbClr val="21242A"/>
                          </a:solidFill>
                          <a:latin typeface="Microsoft YaHei"/>
                        </a:rPr>
                        <a:t>主要终点</a:t>
                      </a:r>
                    </a:p>
                  </a:txBody>
                  <a:tcPr>
                    <a:solidFill>
                      <a:srgbClr val="F6F8FB"/>
                    </a:solidFill>
                  </a:tcPr>
                </a:tc>
                <a:tc>
                  <a:txBody>
                    <a:bodyPr wrap="square" lIns="36576" rIns="36576" tIns="18288" bIns="18288"/>
                    <a:lstStyle/>
                    <a:p>
                      <a:r>
                        <a:rPr sz="540" b="0">
                          <a:solidFill>
                            <a:srgbClr val="21242A"/>
                          </a:solidFill>
                          <a:latin typeface="Microsoft YaHei"/>
                        </a:rPr>
                        <a:t>事件无进展生存期（EFS）未达到</a:t>
                      </a:r>
                    </a:p>
                  </a:txBody>
                  <a:tcPr>
                    <a:solidFill>
                      <a:srgbClr val="F6F8FB"/>
                    </a:solidFill>
                  </a:tcPr>
                </a:tc>
              </a:tr>
              <a:tr h="107115">
                <a:tc>
                  <a:txBody>
                    <a:bodyPr wrap="square" lIns="36576" rIns="36576" tIns="18288" bIns="18288"/>
                    <a:lstStyle/>
                    <a:p>
                      <a:r>
                        <a:rPr sz="540" b="1">
                          <a:solidFill>
                            <a:srgbClr val="21242A"/>
                          </a:solidFill>
                          <a:latin typeface="Microsoft YaHei"/>
                        </a:rPr>
                        <a:t>次要终点</a:t>
                      </a:r>
                    </a:p>
                  </a:txBody>
                  <a:tcPr>
                    <a:solidFill>
                      <a:srgbClr val="FFFFFF"/>
                    </a:solidFill>
                  </a:tcPr>
                </a:tc>
                <a:tc>
                  <a:txBody>
                    <a:bodyPr wrap="square" lIns="36576" rIns="36576" tIns="18288" bIns="18288"/>
                    <a:lstStyle/>
                    <a:p>
                      <a:r>
                        <a:rPr sz="540" b="0">
                          <a:solidFill>
                            <a:srgbClr val="21242A"/>
                          </a:solidFill>
                          <a:latin typeface="Microsoft YaHei"/>
                        </a:rPr>
                        <a:t/>
                      </a:r>
                    </a:p>
                  </a:txBody>
                  <a:tcPr>
                    <a:solidFill>
                      <a:srgbClr val="FFFFFF"/>
                    </a:solidFill>
                  </a:tcPr>
                </a:tc>
              </a:tr>
              <a:tr h="10711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- 4周期后完全缓解率（CRR）75.5%（37/49）</a:t>
                      </a:r>
                    </a:p>
                  </a:txBody>
                  <a:tcPr>
                    <a:solidFill>
                      <a:srgbClr val="F6F8FB"/>
                    </a:solidFill>
                  </a:tcPr>
                </a:tc>
              </a:tr>
              <a:tr h="10711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- 4周期后客观缓解率（ORR）98.0%（48/49）</a:t>
                      </a:r>
                    </a:p>
                  </a:txBody>
                  <a:tcPr>
                    <a:solidFill>
                      <a:srgbClr val="FFFFFF"/>
                    </a:solidFill>
                  </a:tcPr>
                </a:tc>
              </a:tr>
              <a:tr h="10711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- 8周期后CRR 89.8%（44/49）</a:t>
                      </a:r>
                    </a:p>
                  </a:txBody>
                  <a:tcPr>
                    <a:solidFill>
                      <a:srgbClr val="F6F8FB"/>
                    </a:solidFill>
                  </a:tcPr>
                </a:tc>
              </a:tr>
              <a:tr h="10711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- 8周期后ORR 95.9%（47/49）</a:t>
                      </a:r>
                    </a:p>
                  </a:txBody>
                  <a:tcPr>
                    <a:solidFill>
                      <a:srgbClr val="FFFFFF"/>
                    </a:solidFill>
                  </a:tcPr>
                </a:tc>
              </a:tr>
              <a:tr h="10711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 中位PFS未达到</a:t>
                      </a:r>
                    </a:p>
                  </a:txBody>
                  <a:tcPr>
                    <a:solidFill>
                      <a:srgbClr val="F6F8FB"/>
                    </a:solidFill>
                  </a:tcPr>
                </a:tc>
              </a:tr>
              <a:tr h="10711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 中位OS未达到</a:t>
                      </a:r>
                    </a:p>
                  </a:txBody>
                  <a:tcPr>
                    <a:solidFill>
                      <a:srgbClr val="FFFFFF"/>
                    </a:solidFill>
                  </a:tcPr>
                </a:tc>
              </a:tr>
              <a:tr h="107115">
                <a:tc>
                  <a:txBody>
                    <a:bodyPr wrap="square" lIns="36576" rIns="36576" tIns="18288" bIns="18288"/>
                    <a:lstStyle/>
                    <a:p>
                      <a:r>
                        <a:rPr sz="540" b="1">
                          <a:solidFill>
                            <a:srgbClr val="21242A"/>
                          </a:solidFill>
                          <a:latin typeface="Microsoft YaHei"/>
                        </a:rPr>
                        <a:t>- 2年EFS率82.0%（95%CI</a:t>
                      </a:r>
                    </a:p>
                  </a:txBody>
                  <a:tcPr>
                    <a:solidFill>
                      <a:srgbClr val="F6F8FB"/>
                    </a:solidFill>
                  </a:tcPr>
                </a:tc>
                <a:tc>
                  <a:txBody>
                    <a:bodyPr wrap="square" lIns="36576" rIns="36576" tIns="18288" bIns="18288"/>
                    <a:lstStyle/>
                    <a:p>
                      <a:r>
                        <a:rPr sz="540" b="0">
                          <a:solidFill>
                            <a:srgbClr val="21242A"/>
                          </a:solidFill>
                          <a:latin typeface="Microsoft YaHei"/>
                        </a:rPr>
                        <a:t>71.2-94.3%）</a:t>
                      </a:r>
                    </a:p>
                  </a:txBody>
                  <a:tcPr>
                    <a:solidFill>
                      <a:srgbClr val="F6F8FB"/>
                    </a:solidFill>
                  </a:tcPr>
                </a:tc>
              </a:tr>
              <a:tr h="107115">
                <a:tc>
                  <a:txBody>
                    <a:bodyPr wrap="square" lIns="36576" rIns="36576" tIns="18288" bIns="18288"/>
                    <a:lstStyle/>
                    <a:p>
                      <a:r>
                        <a:rPr sz="540" b="1">
                          <a:solidFill>
                            <a:srgbClr val="21242A"/>
                          </a:solidFill>
                          <a:latin typeface="Microsoft YaHei"/>
                        </a:rPr>
                        <a:t>- 2年PFS率82.0%（95%CI</a:t>
                      </a:r>
                    </a:p>
                  </a:txBody>
                  <a:tcPr>
                    <a:solidFill>
                      <a:srgbClr val="FFFFFF"/>
                    </a:solidFill>
                  </a:tcPr>
                </a:tc>
                <a:tc>
                  <a:txBody>
                    <a:bodyPr wrap="square" lIns="36576" rIns="36576" tIns="18288" bIns="18288"/>
                    <a:lstStyle/>
                    <a:p>
                      <a:r>
                        <a:rPr sz="540" b="0">
                          <a:solidFill>
                            <a:srgbClr val="21242A"/>
                          </a:solidFill>
                          <a:latin typeface="Microsoft YaHei"/>
                        </a:rPr>
                        <a:t>71.2-94.3%）</a:t>
                      </a:r>
                    </a:p>
                  </a:txBody>
                  <a:tcPr>
                    <a:solidFill>
                      <a:srgbClr val="FFFFFF"/>
                    </a:solidFill>
                  </a:tcPr>
                </a:tc>
              </a:tr>
              <a:tr h="107115">
                <a:tc>
                  <a:txBody>
                    <a:bodyPr wrap="square" lIns="36576" rIns="36576" tIns="18288" bIns="18288"/>
                    <a:lstStyle/>
                    <a:p>
                      <a:r>
                        <a:rPr sz="540" b="1">
                          <a:solidFill>
                            <a:srgbClr val="21242A"/>
                          </a:solidFill>
                          <a:latin typeface="Microsoft YaHei"/>
                        </a:rPr>
                        <a:t>- 2年OS率97.9%（95%CI</a:t>
                      </a:r>
                    </a:p>
                  </a:txBody>
                  <a:tcPr>
                    <a:solidFill>
                      <a:srgbClr val="F6F8FB"/>
                    </a:solidFill>
                  </a:tcPr>
                </a:tc>
                <a:tc>
                  <a:txBody>
                    <a:bodyPr wrap="square" lIns="36576" rIns="36576" tIns="18288" bIns="18288"/>
                    <a:lstStyle/>
                    <a:p>
                      <a:r>
                        <a:rPr sz="540" b="0">
                          <a:solidFill>
                            <a:srgbClr val="21242A"/>
                          </a:solidFill>
                          <a:latin typeface="Microsoft YaHei"/>
                        </a:rPr>
                        <a:t>94.0-100.0%）</a:t>
                      </a:r>
                    </a:p>
                  </a:txBody>
                  <a:tcPr>
                    <a:solidFill>
                      <a:srgbClr val="F6F8FB"/>
                    </a:solidFill>
                  </a:tcPr>
                </a:tc>
              </a:tr>
              <a:tr h="10711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 中枢神经系统复发2例（4.1%），1年和2年累积发生率分别为2.1%和5.6%</a:t>
                      </a:r>
                    </a:p>
                  </a:txBody>
                  <a:tcPr>
                    <a:solidFill>
                      <a:srgbClr val="FFFFFF"/>
                    </a:solidFill>
                  </a:tcPr>
                </a:tc>
              </a:tr>
              <a:tr h="10712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 ≥3级不良事件51.0%，最常见为中性粒细胞减少症（38.8%）</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N=291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分组：ASCT组/非ASCT组</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主要终点：无进展生存期（PFS），ASCT组优于非ASCT组（p=0.023）</a:t>
            </a:r>
          </a:p>
          <a:p>
            <a:pPr>
              <a:lnSpc>
                <a:spcPct val="103000"/>
              </a:lnSpc>
              <a:spcAft>
                <a:spcPts val="300"/>
              </a:spcAft>
              <a:defRPr sz="800">
                <a:solidFill>
                  <a:srgbClr val="21242A"/>
                </a:solidFill>
                <a:latin typeface="Microsoft YaHei"/>
              </a:defRPr>
            </a:pPr>
            <a:r>
              <a:t>次要终点：总生存期（OS），ASCT组有获益趋势但未达统计学意义（p=0.085）。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人数：291</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分组/治疗流程：ASCT组/非ASCT组</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role of autologous stem cell transplantation (ASCT) in primary central nervous system diffuse large B-cell lymphoma (PCNS-DLBCL) is being re-eva</a:t>
            </a:r>
          </a:p>
          <a:p>
            <a:pPr>
              <a:lnSpc>
                <a:spcPct val="103000"/>
              </a:lnSpc>
              <a:spcAft>
                <a:spcPts val="300"/>
              </a:spcAft>
              <a:defRPr sz="570">
                <a:solidFill>
                  <a:srgbClr val="21242A"/>
                </a:solidFill>
                <a:latin typeface="Microsoft YaHei"/>
              </a:defRPr>
            </a:pPr>
            <a:r>
              <a:t>luated, particularly in newly diagnosed patients, as BTK inhibitors (BTKi) and lenalidomide are increasingly used in induction, salvage, and maintenance therapy</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In real-world clinical practice, ASCT allocation is influenced by baseline fitness and disease characteristics, highlighting the need for confounding control to</a:t>
            </a:r>
          </a:p>
          <a:p>
            <a:pPr>
              <a:lnSpc>
                <a:spcPct val="103000"/>
              </a:lnSpc>
              <a:spcAft>
                <a:spcPts val="300"/>
              </a:spcAft>
              <a:defRPr sz="570">
                <a:solidFill>
                  <a:srgbClr val="21242A"/>
                </a:solidFill>
                <a:latin typeface="Microsoft YaHei"/>
              </a:defRPr>
            </a:pPr>
            <a:r>
              <a:t> assess outcomes and clarify whether post-induction consolidation strategies are key to long-term results in the Targeted Therapy era.</a:t>
            </a:r>
          </a:p>
          <a:p>
            <a:pPr>
              <a:lnSpc>
                <a:spcPct val="103000"/>
              </a:lnSpc>
              <a:spcAft>
                <a:spcPts val="300"/>
              </a:spcAft>
              <a:defRPr sz="570">
                <a:solidFill>
                  <a:srgbClr val="21242A"/>
                </a:solidFill>
                <a:latin typeface="Microsoft YaHei"/>
              </a:defRPr>
            </a:pPr>
            <a:r>
              <a:t>Aims: This study aimed to evaluate the association between ASCT and progression-free survival (PFS) and overall survival (OS) in patients with PCNS-DLBCL treate</a:t>
            </a:r>
          </a:p>
          <a:p>
            <a:pPr>
              <a:lnSpc>
                <a:spcPct val="103000"/>
              </a:lnSpc>
              <a:spcAft>
                <a:spcPts val="300"/>
              </a:spcAft>
              <a:defRPr sz="570">
                <a:solidFill>
                  <a:srgbClr val="21242A"/>
                </a:solidFill>
                <a:latin typeface="Microsoft YaHei"/>
              </a:defRPr>
            </a:pPr>
            <a:r>
              <a:t>d in the BTKi/lenalidomide era, using propensity score matching (PSM) to adjust for confounding factors.</a:t>
            </a:r>
          </a:p>
          <a:p>
            <a:pPr>
              <a:lnSpc>
                <a:spcPct val="103000"/>
              </a:lnSpc>
              <a:spcAft>
                <a:spcPts val="300"/>
              </a:spcAft>
              <a:defRPr sz="570">
                <a:solidFill>
                  <a:srgbClr val="21242A"/>
                </a:solidFill>
                <a:latin typeface="Microsoft YaHei"/>
              </a:defRPr>
            </a:pPr>
            <a:r>
              <a:t>We also examined whether post-induction consolidation strategies (ASCT and/or maintenance) and BTKi/lenalidomide treatment pathways stratify outcomes, including</a:t>
            </a:r>
          </a:p>
          <a:p>
            <a:pPr>
              <a:lnSpc>
                <a:spcPct val="103000"/>
              </a:lnSpc>
              <a:spcAft>
                <a:spcPts val="300"/>
              </a:spcAft>
              <a:defRPr sz="570">
                <a:solidFill>
                  <a:srgbClr val="21242A"/>
                </a:solidFill>
                <a:latin typeface="Microsoft YaHei"/>
              </a:defRPr>
            </a:pPr>
            <a:r>
              <a:t> among treatment responders.</a:t>
            </a:r>
          </a:p>
          <a:p>
            <a:pPr>
              <a:lnSpc>
                <a:spcPct val="103000"/>
              </a:lnSpc>
              <a:spcAft>
                <a:spcPts val="300"/>
              </a:spcAft>
              <a:defRPr sz="570">
                <a:solidFill>
                  <a:srgbClr val="21242A"/>
                </a:solidFill>
                <a:latin typeface="Microsoft YaHei"/>
              </a:defRPr>
            </a:pPr>
            <a:r>
              <a:t>Methods: We conducted a retrospective, three-centre cohort study of PCNS-DLBCL patients treated in routine practice. The primary exposure was ASCT (yes vs no).</a:t>
            </a:r>
          </a:p>
          <a:p>
            <a:pPr>
              <a:lnSpc>
                <a:spcPct val="103000"/>
              </a:lnSpc>
              <a:spcAft>
                <a:spcPts val="300"/>
              </a:spcAft>
              <a:defRPr sz="570">
                <a:solidFill>
                  <a:srgbClr val="21242A"/>
                </a:solidFill>
                <a:latin typeface="Microsoft YaHei"/>
              </a:defRPr>
            </a:pPr>
            <a:r>
              <a:t>PSM was performed using nearest-neighbour matching with a target ratio of 1:2 and caliper width of 0.1, adjusting for covariates listed in Table 1.</a:t>
            </a:r>
          </a:p>
          <a:p>
            <a:pPr>
              <a:lnSpc>
                <a:spcPct val="103000"/>
              </a:lnSpc>
              <a:spcAft>
                <a:spcPts val="300"/>
              </a:spcAft>
              <a:defRPr sz="570">
                <a:solidFill>
                  <a:srgbClr val="21242A"/>
                </a:solidFill>
                <a:latin typeface="Microsoft YaHei"/>
              </a:defRPr>
            </a:pPr>
            <a:r>
              <a:t>Balance was assessed using standardized mean differences. Endpoints were PFS and OS, analyzed by Kaplan–Meier methods with log-rank comparisons.</a:t>
            </a:r>
          </a:p>
          <a:p>
            <a:pPr>
              <a:lnSpc>
                <a:spcPct val="103000"/>
              </a:lnSpc>
              <a:spcAft>
                <a:spcPts val="300"/>
              </a:spcAft>
              <a:defRPr sz="570">
                <a:solidFill>
                  <a:srgbClr val="21242A"/>
                </a:solidFill>
                <a:latin typeface="Microsoft YaHei"/>
              </a:defRPr>
            </a:pPr>
            <a:r>
              <a:t>Prespecified exploratory analyses evaluated six subgroups based on regimen category (BTKi, lenalidomide, or neither) and ASCT status; four subgroups based on AS</a:t>
            </a:r>
          </a:p>
          <a:p>
            <a:pPr>
              <a:lnSpc>
                <a:spcPct val="103000"/>
              </a:lnSpc>
              <a:spcAft>
                <a:spcPts val="300"/>
              </a:spcAft>
              <a:defRPr sz="570">
                <a:solidFill>
                  <a:srgbClr val="21242A"/>
                </a:solidFill>
                <a:latin typeface="Microsoft YaHei"/>
              </a:defRPr>
            </a:pPr>
            <a:r>
              <a:t>CT and maintenance therapy; and responder subsets (CR/PR and CR).</a:t>
            </a:r>
          </a:p>
          <a:p>
            <a:pPr>
              <a:lnSpc>
                <a:spcPct val="103000"/>
              </a:lnSpc>
              <a:spcAft>
                <a:spcPts val="300"/>
              </a:spcAft>
              <a:defRPr sz="570">
                <a:solidFill>
                  <a:srgbClr val="21242A"/>
                </a:solidFill>
                <a:latin typeface="Microsoft YaHei"/>
              </a:defRPr>
            </a:pPr>
            <a:r>
              <a:t>All analyses were hypothesis-generating.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patients with PCNS-DLBCL treated in the BTKi/lenalidomide era, ASCT was associated with improved PFS after PSM, while OS showed a favorable trend.</a:t>
            </a:r>
          </a:p>
          <a:p>
            <a:pPr>
              <a:lnSpc>
                <a:spcPct val="103000"/>
              </a:lnSpc>
              <a:spcAft>
                <a:spcPts val="300"/>
              </a:spcAft>
              <a:defRPr sz="590">
                <a:solidFill>
                  <a:srgbClr val="21242A"/>
                </a:solidFill>
                <a:latin typeface="Microsoft YaHei"/>
              </a:defRPr>
            </a:pPr>
            <a:r>
              <a:t>Post-induction consolidation strategies most strongly differentiated long-term outcomes, with maintenance therapy being particularly beneficial for patients not</a:t>
            </a:r>
          </a:p>
          <a:p>
            <a:pPr>
              <a:lnSpc>
                <a:spcPct val="103000"/>
              </a:lnSpc>
              <a:spcAft>
                <a:spcPts val="300"/>
              </a:spcAft>
              <a:defRPr sz="590">
                <a:solidFill>
                  <a:srgbClr val="21242A"/>
                </a:solidFill>
                <a:latin typeface="Microsoft YaHei"/>
              </a:defRPr>
            </a:pPr>
            <a:r>
              <a:t> receiving ASCT.</a:t>
            </a:r>
          </a:p>
          <a:p>
            <a:pPr>
              <a:lnSpc>
                <a:spcPct val="103000"/>
              </a:lnSpc>
              <a:spcAft>
                <a:spcPts val="300"/>
              </a:spcAft>
              <a:defRPr sz="590">
                <a:solidFill>
                  <a:srgbClr val="21242A"/>
                </a:solidFill>
                <a:latin typeface="Microsoft YaHei"/>
              </a:defRPr>
            </a:pPr>
            <a:r>
              <a:t>Outcomes also varied by regimen type (BTKi-based, lenalidomide-based, or neither) and ASCT status.</a:t>
            </a:r>
          </a:p>
          <a:p>
            <a:pPr>
              <a:lnSpc>
                <a:spcPct val="103000"/>
              </a:lnSpc>
              <a:spcAft>
                <a:spcPts val="300"/>
              </a:spcAft>
              <a:defRPr sz="590">
                <a:solidFill>
                  <a:srgbClr val="21242A"/>
                </a:solidFill>
                <a:latin typeface="Microsoft YaHei"/>
              </a:defRPr>
            </a:pPr>
            <a:r>
              <a:t>These findings support a risk-adapted approach for selecting ASCT and/or maintenance therapy, highlighting the need for prospective validation.</a:t>
            </a:r>
          </a:p>
          <a:p>
            <a:pPr>
              <a:lnSpc>
                <a:spcPct val="103000"/>
              </a:lnSpc>
              <a:spcAft>
                <a:spcPts val="300"/>
              </a:spcAft>
              <a:defRPr sz="590">
                <a:solidFill>
                  <a:srgbClr val="21242A"/>
                </a:solidFill>
                <a:latin typeface="Microsoft YaHei"/>
              </a:defRPr>
            </a:pPr>
            <a:r>
              <a:t>Key survival curves are presented in the submitted figure.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主要终点：无进展生存期（PFS），ASCT组优于非ASCT组（p=0.023）；次要终点：总生存期（OS），ASCT组有获益趋势但未达统计学意义（p=0.085）。</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比列替尼在弥漫性大b细胞淋巴瘤中显示出可控的安全性和跨分子亚型的普遍抗肿瘤活性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birelentinib demonstrates manageable safety profile and universal antitumor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试验药/方案：比瑞替尼</a:t>
            </a:r>
          </a:p>
          <a:p>
            <a:pPr>
              <a:lnSpc>
                <a:spcPct val="103000"/>
              </a:lnSpc>
              <a:spcAft>
                <a:spcPts val="300"/>
              </a:spcAft>
              <a:defRPr sz="800">
                <a:solidFill>
                  <a:srgbClr val="21242A"/>
                </a:solidFill>
                <a:latin typeface="Microsoft YaHei"/>
              </a:defRPr>
            </a:pPr>
            <a:r>
              <a:t>靶点：BTK，BTK C481S，LYN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多组/多方案比较：试验组1：birelentinib 25mg每日一次</a:t>
            </a:r>
          </a:p>
          <a:p>
            <a:pPr>
              <a:lnSpc>
                <a:spcPct val="103000"/>
              </a:lnSpc>
              <a:spcAft>
                <a:spcPts val="300"/>
              </a:spcAft>
              <a:defRPr sz="800">
                <a:solidFill>
                  <a:srgbClr val="21242A"/>
                </a:solidFill>
                <a:latin typeface="Microsoft YaHei"/>
              </a:defRPr>
            </a:pPr>
            <a:r>
              <a:t>试验组2：birelentinib 50mg每日一次</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总客观缓解率（ORR）在50mg和75mg剂量组中为47.6%（20/42）</a:t>
            </a:r>
          </a:p>
          <a:p>
            <a:pPr>
              <a:lnSpc>
                <a:spcPct val="103000"/>
              </a:lnSpc>
              <a:spcAft>
                <a:spcPts val="300"/>
              </a:spcAft>
              <a:defRPr sz="800">
                <a:solidFill>
                  <a:srgbClr val="21242A"/>
                </a:solidFill>
                <a:latin typeface="Microsoft YaHei"/>
              </a:defRPr>
            </a:pPr>
            <a:r>
              <a:t>完全缓解率（CRR）为31.0%（13/42）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登记号：NCT06539195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试验药/方案：比瑞替尼</a:t>
            </a:r>
          </a:p>
          <a:p>
            <a:pPr>
              <a:lnSpc>
                <a:spcPct val="103000"/>
              </a:lnSpc>
              <a:spcAft>
                <a:spcPts val="300"/>
              </a:spcAft>
              <a:defRPr sz="810">
                <a:solidFill>
                  <a:srgbClr val="21242A"/>
                </a:solidFill>
                <a:latin typeface="Microsoft YaHei"/>
              </a:defRPr>
            </a:pPr>
            <a:r>
              <a:t>靶点：BTK、BTK C481S、LYN</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比列替尼在弥漫性大b细胞淋巴瘤中显示出可控的安全性和跨分子亚型的普遍抗肿瘤活性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birelentinib demonstrates manageable safety profile and universal antitumor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 major hurdle in treating DLBCL is its high molecular heterogeneity.</a:t>
            </a:r>
          </a:p>
          <a:p>
            <a:pPr>
              <a:lnSpc>
                <a:spcPct val="103000"/>
              </a:lnSpc>
              <a:spcAft>
                <a:spcPts val="300"/>
              </a:spcAft>
              <a:defRPr sz="570">
                <a:solidFill>
                  <a:srgbClr val="21242A"/>
                </a:solidFill>
                <a:latin typeface="Microsoft YaHei"/>
              </a:defRPr>
            </a:pPr>
            <a:r>
              <a:t>BTK inhibitors show efficacy primarily in the non-GCB (ABC) subtype and certain genomic clusters.</a:t>
            </a:r>
          </a:p>
          <a:p>
            <a:pPr>
              <a:lnSpc>
                <a:spcPct val="103000"/>
              </a:lnSpc>
              <a:spcAft>
                <a:spcPts val="300"/>
              </a:spcAft>
              <a:defRPr sz="570">
                <a:solidFill>
                  <a:srgbClr val="21242A"/>
                </a:solidFill>
                <a:latin typeface="Microsoft YaHei"/>
              </a:defRPr>
            </a:pPr>
            <a:r>
              <a:t>T-cell-directed therapies expand the treatment landscape but are constrained by a challenging toxicity profile, including severe adverse events like CRS and ICA</a:t>
            </a:r>
          </a:p>
          <a:p>
            <a:pPr>
              <a:lnSpc>
                <a:spcPct val="103000"/>
              </a:lnSpc>
              <a:spcAft>
                <a:spcPts val="300"/>
              </a:spcAft>
              <a:defRPr sz="570">
                <a:solidFill>
                  <a:srgbClr val="21242A"/>
                </a:solidFill>
                <a:latin typeface="Microsoft YaHei"/>
              </a:defRPr>
            </a:pPr>
            <a:r>
              <a:t>NS.</a:t>
            </a:r>
          </a:p>
          <a:p>
            <a:pPr>
              <a:lnSpc>
                <a:spcPct val="103000"/>
              </a:lnSpc>
              <a:spcAft>
                <a:spcPts val="300"/>
              </a:spcAft>
              <a:defRPr sz="570">
                <a:solidFill>
                  <a:srgbClr val="21242A"/>
                </a:solidFill>
                <a:latin typeface="Microsoft YaHei"/>
              </a:defRPr>
            </a:pPr>
            <a:r>
              <a:t>Therefore, there is a critical need for next-generation targeted agents that provide broad-spectrum activity across molecular subtypes and coupled with a favora</a:t>
            </a:r>
          </a:p>
          <a:p>
            <a:pPr>
              <a:lnSpc>
                <a:spcPct val="103000"/>
              </a:lnSpc>
              <a:spcAft>
                <a:spcPts val="300"/>
              </a:spcAft>
              <a:defRPr sz="570">
                <a:solidFill>
                  <a:srgbClr val="21242A"/>
                </a:solidFill>
                <a:latin typeface="Microsoft YaHei"/>
              </a:defRPr>
            </a:pPr>
            <a:r>
              <a:t>ble safety profile.</a:t>
            </a:r>
          </a:p>
          <a:p>
            <a:pPr>
              <a:lnSpc>
                <a:spcPct val="103000"/>
              </a:lnSpc>
              <a:spcAft>
                <a:spcPts val="300"/>
              </a:spcAft>
              <a:defRPr sz="570">
                <a:solidFill>
                  <a:srgbClr val="21242A"/>
                </a:solidFill>
                <a:latin typeface="Microsoft YaHei"/>
              </a:defRPr>
            </a:pPr>
            <a:r>
              <a:t>LYN and BTK are critical mediators of B-cell receptor (BCR) signalling, driving lymphomagenesis across diverse molecular profiles.</a:t>
            </a:r>
          </a:p>
          <a:p>
            <a:pPr>
              <a:lnSpc>
                <a:spcPct val="103000"/>
              </a:lnSpc>
              <a:spcAft>
                <a:spcPts val="300"/>
              </a:spcAft>
              <a:defRPr sz="570">
                <a:solidFill>
                  <a:srgbClr val="21242A"/>
                </a:solidFill>
                <a:latin typeface="Microsoft YaHei"/>
              </a:defRPr>
            </a:pPr>
            <a:r>
              <a:t>Birelentinib (DZD8586), a novel LYN/BTK dual inhibitor with excellent blood-brain barrier (BBB) penetration, is designed to overcome these barriers by targeting</a:t>
            </a:r>
          </a:p>
          <a:p>
            <a:pPr>
              <a:lnSpc>
                <a:spcPct val="103000"/>
              </a:lnSpc>
              <a:spcAft>
                <a:spcPts val="300"/>
              </a:spcAft>
              <a:defRPr sz="570">
                <a:solidFill>
                  <a:srgbClr val="21242A"/>
                </a:solidFill>
                <a:latin typeface="Microsoft YaHei"/>
              </a:defRPr>
            </a:pPr>
            <a:r>
              <a:t> multiple components of the BCR signalling pathway.</a:t>
            </a:r>
          </a:p>
          <a:p>
            <a:pPr>
              <a:lnSpc>
                <a:spcPct val="103000"/>
              </a:lnSpc>
              <a:spcAft>
                <a:spcPts val="300"/>
              </a:spcAft>
              <a:defRPr sz="570">
                <a:solidFill>
                  <a:srgbClr val="21242A"/>
                </a:solidFill>
                <a:latin typeface="Microsoft YaHei"/>
              </a:defRPr>
            </a:pPr>
            <a:r>
              <a:t>Here, we report updated results from the ongoing Phase 2 TAI-SHAN9 study (NCT06539195) for birelentinib in r/r DLBCL, including an analysis of activity across g</a:t>
            </a:r>
          </a:p>
          <a:p>
            <a:pPr>
              <a:lnSpc>
                <a:spcPct val="103000"/>
              </a:lnSpc>
              <a:spcAft>
                <a:spcPts val="300"/>
              </a:spcAft>
              <a:defRPr sz="570">
                <a:solidFill>
                  <a:srgbClr val="21242A"/>
                </a:solidFill>
                <a:latin typeface="Microsoft YaHei"/>
              </a:defRPr>
            </a:pPr>
            <a:r>
              <a:t>enetic subtypes.</a:t>
            </a:r>
          </a:p>
          <a:p>
            <a:pPr>
              <a:lnSpc>
                <a:spcPct val="103000"/>
              </a:lnSpc>
              <a:spcAft>
                <a:spcPts val="300"/>
              </a:spcAft>
              <a:defRPr sz="570">
                <a:solidFill>
                  <a:srgbClr val="21242A"/>
                </a:solidFill>
                <a:latin typeface="Microsoft YaHei"/>
              </a:defRPr>
            </a:pPr>
            <a:r>
              <a:t>\n Methods: Adult patients aged ≥18 years with histologically confirmed DLBCL and prior standard chemoimmunotherapy were enrolled.</a:t>
            </a:r>
          </a:p>
          <a:p>
            <a:pPr>
              <a:lnSpc>
                <a:spcPct val="103000"/>
              </a:lnSpc>
              <a:spcAft>
                <a:spcPts val="300"/>
              </a:spcAft>
              <a:defRPr sz="570">
                <a:solidFill>
                  <a:srgbClr val="21242A"/>
                </a:solidFill>
                <a:latin typeface="Microsoft YaHei"/>
              </a:defRPr>
            </a:pPr>
            <a:r>
              <a:t>Birelentinib was administered orally as monotherapy until disease progression, unacceptable toxicity, or patient withdrawal.</a:t>
            </a:r>
          </a:p>
          <a:p>
            <a:pPr>
              <a:lnSpc>
                <a:spcPct val="103000"/>
              </a:lnSpc>
              <a:spcAft>
                <a:spcPts val="300"/>
              </a:spcAft>
              <a:defRPr sz="570">
                <a:solidFill>
                  <a:srgbClr val="21242A"/>
                </a:solidFill>
                <a:latin typeface="Microsoft YaHei"/>
              </a:defRPr>
            </a:pPr>
            <a:r>
              <a:t>Investigators assessed antitumor efficacy per Lugano 2014 criteria using PET and contrast-enhanced CT scans. Adverse events (AEs) were graded using CTCAE v5.0.</a:t>
            </a:r>
          </a:p>
          <a:p>
            <a:pPr>
              <a:lnSpc>
                <a:spcPct val="103000"/>
              </a:lnSpc>
              <a:spcAft>
                <a:spcPts val="300"/>
              </a:spcAft>
              <a:defRPr sz="570">
                <a:solidFill>
                  <a:srgbClr val="21242A"/>
                </a:solidFill>
                <a:latin typeface="Microsoft YaHei"/>
              </a:defRPr>
            </a:pPr>
            <a:r>
              <a:t>Based on targeted sequencing, LymphPlex algorithm was applied to assign genetic subtypes, and clinical efficacy was analyzed across genetic subtypes.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Birelentinib demonstrated universal and potentially durable activity across molecular subtypes, with a manageable safety profile.</a:t>
            </a:r>
          </a:p>
          <a:p>
            <a:pPr>
              <a:lnSpc>
                <a:spcPct val="103000"/>
              </a:lnSpc>
              <a:spcAft>
                <a:spcPts val="300"/>
              </a:spcAft>
              <a:defRPr sz="590">
                <a:solidFill>
                  <a:srgbClr val="21242A"/>
                </a:solidFill>
                <a:latin typeface="Microsoft YaHei"/>
              </a:defRPr>
            </a:pPr>
            <a:r>
              <a:t>These findings suggest broad therapeutic potential for birelentinib in DLBCL.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49961">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总客观缓解率（ORR）在50mg和75mg剂量组中为47.6%（20/42）</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完全缓解率（CRR）为31.0%（13/42）</a:t>
                      </a:r>
                    </a:p>
                  </a:txBody>
                  <a:tcPr>
                    <a:solidFill>
                      <a:srgbClr val="FFFFFF"/>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GCB亚型ORR 58.3%（7/12），CRR 41.7%（5/12）</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非GCB亚型ORR 44.8%（13/29），CRR 27.6%（8/29）</a:t>
                      </a:r>
                    </a:p>
                  </a:txBody>
                  <a:tcPr>
                    <a:solidFill>
                      <a:srgbClr val="FFFFFF"/>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完全缓解患者中位缓解持续时间（DoR）未达到，最长CR超过9.3个月</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MCD-like亚型ORR 50.0%（6/12），CRR 33.3%（4/12）</a:t>
                      </a:r>
                    </a:p>
                  </a:txBody>
                  <a:tcPr>
                    <a:solidFill>
                      <a:srgbClr val="FFFFFF"/>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TP53-mut亚型ORR 50.0%（5/10），CRR 30.0%（3/10）</a:t>
                      </a:r>
                    </a:p>
                  </a:txBody>
                  <a:tcPr>
                    <a:solidFill>
                      <a:srgbClr val="F6F8FB"/>
                    </a:solidFill>
                  </a:tcPr>
                </a:tc>
              </a:tr>
              <a:tr h="149961">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NOS亚型ORR 50.0%（7/14），CRR 35.7%（5/14）</a:t>
                      </a:r>
                    </a:p>
                  </a:txBody>
                  <a:tcPr>
                    <a:solidFill>
                      <a:srgbClr val="FFFFFF"/>
                    </a:solidFill>
                  </a:tcPr>
                </a:tc>
              </a:tr>
              <a:tr h="149967">
                <a:tc>
                  <a:txBody>
                    <a:bodyPr wrap="square" lIns="36576" rIns="36576" tIns="18288" bIns="18288"/>
                    <a:lstStyle/>
                    <a:p>
                      <a:r>
                        <a:rPr sz="540" b="1">
                          <a:solidFill>
                            <a:srgbClr val="21242A"/>
                          </a:solidFill>
                          <a:latin typeface="Microsoft YaHei"/>
                        </a:rPr>
                        <a:t>常见3/4级药物相关不良事件</a:t>
                      </a:r>
                    </a:p>
                  </a:txBody>
                  <a:tcPr>
                    <a:solidFill>
                      <a:srgbClr val="F6F8FB"/>
                    </a:solidFill>
                  </a:tcPr>
                </a:tc>
                <a:tc>
                  <a:txBody>
                    <a:bodyPr wrap="square" lIns="36576" rIns="36576" tIns="18288" bIns="18288"/>
                    <a:lstStyle/>
                    <a:p>
                      <a:r>
                        <a:rPr sz="540" b="0">
                          <a:solidFill>
                            <a:srgbClr val="21242A"/>
                          </a:solidFill>
                          <a:latin typeface="Microsoft YaHei"/>
                        </a:rPr>
                        <a:t>血小板减少（20.7%）、中性粒细胞减少（12.1%）、肺炎（5.2%）</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摘要号：PF973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多组/多方案比较：队列A（R/R systemic non-GCB DLBCL）：zanubrutinib 160mg每日联合...</a:t>
            </a:r>
          </a:p>
          <a:p>
            <a:pPr>
              <a:lnSpc>
                <a:spcPct val="103000"/>
              </a:lnSpc>
              <a:spcAft>
                <a:spcPts val="300"/>
              </a:spcAft>
              <a:defRPr sz="800">
                <a:solidFill>
                  <a:srgbClr val="21242A"/>
                </a:solidFill>
                <a:latin typeface="Microsoft YaHei"/>
              </a:defRPr>
            </a:pPr>
            <a:r>
              <a:t>队列B（R/R CNS淋巴瘤）：zanubrutinib 160mg每日联合R-ICE方案（利妥昔单抗、异环磷酰胺、卡铂、依托...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总人群：ORR 90.9%，CR率72.7%</a:t>
            </a:r>
          </a:p>
          <a:p>
            <a:pPr>
              <a:lnSpc>
                <a:spcPct val="103000"/>
              </a:lnSpc>
              <a:spcAft>
                <a:spcPts val="300"/>
              </a:spcAft>
              <a:defRPr sz="800">
                <a:solidFill>
                  <a:srgbClr val="21242A"/>
                </a:solidFill>
                <a:latin typeface="Microsoft YaHei"/>
              </a:defRPr>
            </a:pPr>
            <a:r>
              <a:t>队列A：ORR 90.3%，CR率74.2%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人数：52</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prognosis of relapsed or refractory diffuse large B-cell lymphoma (R/R DLBCL) is poor, and outcomes are particularly dismal for R/R CNS lymphoma</a:t>
            </a:r>
          </a:p>
          <a:p>
            <a:pPr>
              <a:lnSpc>
                <a:spcPct val="103000"/>
              </a:lnSpc>
              <a:spcAft>
                <a:spcPts val="300"/>
              </a:spcAft>
              <a:defRPr sz="570">
                <a:solidFill>
                  <a:srgbClr val="21242A"/>
                </a:solidFill>
                <a:latin typeface="Microsoft YaHei"/>
              </a:defRPr>
            </a:pPr>
            <a:r>
              <a:t>s (primary [PCNSL] or secondary [SCNSL]).</a:t>
            </a:r>
          </a:p>
          <a:p>
            <a:pPr>
              <a:lnSpc>
                <a:spcPct val="103000"/>
              </a:lnSpc>
              <a:spcAft>
                <a:spcPts val="300"/>
              </a:spcAft>
              <a:defRPr sz="570">
                <a:solidFill>
                  <a:srgbClr val="21242A"/>
                </a:solidFill>
                <a:latin typeface="Microsoft YaHei"/>
              </a:defRPr>
            </a:pPr>
            <a:r>
              <a:t>R-ICE (rituximab, ifosfamide, carboplatin, and etoposide) chemotherapy has shown efficacy in these patients (pts) but the durability of response is limited.</a:t>
            </a:r>
          </a:p>
          <a:p>
            <a:pPr>
              <a:lnSpc>
                <a:spcPct val="103000"/>
              </a:lnSpc>
              <a:spcAft>
                <a:spcPts val="300"/>
              </a:spcAft>
              <a:defRPr sz="570">
                <a:solidFill>
                  <a:srgbClr val="21242A"/>
                </a:solidFill>
                <a:latin typeface="Microsoft YaHei"/>
              </a:defRPr>
            </a:pPr>
            <a:r>
              <a:t>Recently, BTK inhibitors have demonstrated encouraging efficacy outcomes in systemic R/R non-GCB DLBCL and R/R CNS lymphomas.</a:t>
            </a:r>
          </a:p>
          <a:p>
            <a:pPr>
              <a:lnSpc>
                <a:spcPct val="103000"/>
              </a:lnSpc>
              <a:spcAft>
                <a:spcPts val="300"/>
              </a:spcAft>
              <a:defRPr sz="570">
                <a:solidFill>
                  <a:srgbClr val="21242A"/>
                </a:solidFill>
                <a:latin typeface="Microsoft YaHei"/>
              </a:defRPr>
            </a:pPr>
            <a:r>
              <a:t>Aims: This phase I/II study aims to evaluate the efficacy, safety, and feasibility of combining zanubrutinib, a second-generation BTK inhibitor, with R-ICE (ZR-</a:t>
            </a:r>
          </a:p>
          <a:p>
            <a:pPr>
              <a:lnSpc>
                <a:spcPct val="103000"/>
              </a:lnSpc>
              <a:spcAft>
                <a:spcPts val="300"/>
              </a:spcAft>
              <a:defRPr sz="570">
                <a:solidFill>
                  <a:srgbClr val="21242A"/>
                </a:solidFill>
                <a:latin typeface="Microsoft YaHei"/>
              </a:defRPr>
            </a:pPr>
            <a:r>
              <a:t>ICE) in pts with R/R systemic non-GCB DLBCL or R/R CNS lymphomas.</a:t>
            </a:r>
          </a:p>
          <a:p>
            <a:pPr>
              <a:lnSpc>
                <a:spcPct val="103000"/>
              </a:lnSpc>
              <a:spcAft>
                <a:spcPts val="300"/>
              </a:spcAft>
              <a:defRPr sz="570">
                <a:solidFill>
                  <a:srgbClr val="21242A"/>
                </a:solidFill>
                <a:latin typeface="Microsoft YaHei"/>
              </a:defRPr>
            </a:pPr>
            <a:r>
              <a:t>Here we report the interim efficacy and safety results from the phase II part.</a:t>
            </a:r>
          </a:p>
          <a:p>
            <a:pPr>
              <a:lnSpc>
                <a:spcPct val="103000"/>
              </a:lnSpc>
              <a:spcAft>
                <a:spcPts val="300"/>
              </a:spcAft>
              <a:defRPr sz="570">
                <a:solidFill>
                  <a:srgbClr val="21242A"/>
                </a:solidFill>
                <a:latin typeface="Microsoft YaHei"/>
              </a:defRPr>
            </a:pPr>
            <a:r>
              <a:t>Methods: In the phase I part, zanubrutinib 160 mg daily was established as the recommended phase 2 dose based on a standard 3+3 dose escalation design.</a:t>
            </a:r>
          </a:p>
          <a:p>
            <a:pPr>
              <a:lnSpc>
                <a:spcPct val="103000"/>
              </a:lnSpc>
              <a:spcAft>
                <a:spcPts val="300"/>
              </a:spcAft>
              <a:defRPr sz="570">
                <a:solidFill>
                  <a:srgbClr val="21242A"/>
                </a:solidFill>
                <a:latin typeface="Microsoft YaHei"/>
              </a:defRPr>
            </a:pPr>
            <a:r>
              <a:t>In the phase II part, pts with R/R systemic non-GCB DLBCL (cohort A) or R/R CNS lymphomas (PCNSL or SCNSL) (cohort B) received zanubrutinib 160 mg daily in comb</a:t>
            </a:r>
          </a:p>
          <a:p>
            <a:pPr>
              <a:lnSpc>
                <a:spcPct val="103000"/>
              </a:lnSpc>
              <a:spcAft>
                <a:spcPts val="300"/>
              </a:spcAft>
              <a:defRPr sz="570">
                <a:solidFill>
                  <a:srgbClr val="21242A"/>
                </a:solidFill>
                <a:latin typeface="Microsoft YaHei"/>
              </a:defRPr>
            </a:pPr>
            <a:r>
              <a:t>ination with R-ICE.</a:t>
            </a:r>
          </a:p>
          <a:p>
            <a:pPr>
              <a:lnSpc>
                <a:spcPct val="103000"/>
              </a:lnSpc>
              <a:spcAft>
                <a:spcPts val="300"/>
              </a:spcAft>
              <a:defRPr sz="570">
                <a:solidFill>
                  <a:srgbClr val="21242A"/>
                </a:solidFill>
                <a:latin typeface="Microsoft YaHei"/>
              </a:defRPr>
            </a:pPr>
            <a:r>
              <a:t>The R-ICE regimen consisted of rituximab 375 mg/m² IV (D1), ifosfamide 1670 mg/m² IV (D1–3), etoposide 100 mg/m²/day IV (D1–3), and carboplatin AUC 5 IV (D2).</a:t>
            </a:r>
          </a:p>
          <a:p>
            <a:pPr>
              <a:lnSpc>
                <a:spcPct val="103000"/>
              </a:lnSpc>
              <a:spcAft>
                <a:spcPts val="300"/>
              </a:spcAft>
              <a:defRPr sz="570">
                <a:solidFill>
                  <a:srgbClr val="21242A"/>
                </a:solidFill>
                <a:latin typeface="Microsoft YaHei"/>
              </a:defRPr>
            </a:pPr>
            <a:r>
              <a:t>Pts who were candidates for upfront autologous stem cell transplantation (ASCT) and achieved CR or PR after 3 cycles proceeded to ASCT.</a:t>
            </a:r>
          </a:p>
          <a:p>
            <a:pPr>
              <a:lnSpc>
                <a:spcPct val="103000"/>
              </a:lnSpc>
              <a:spcAft>
                <a:spcPts val="300"/>
              </a:spcAft>
              <a:defRPr sz="570">
                <a:solidFill>
                  <a:srgbClr val="21242A"/>
                </a:solidFill>
                <a:latin typeface="Microsoft YaHei"/>
              </a:defRPr>
            </a:pPr>
            <a:r>
              <a:t>Pts who were not candidates for upfront ASCT received up to 6 cycles of ZR-ICE.</a:t>
            </a:r>
          </a:p>
          <a:p>
            <a:pPr>
              <a:lnSpc>
                <a:spcPct val="103000"/>
              </a:lnSpc>
              <a:spcAft>
                <a:spcPts val="300"/>
              </a:spcAft>
              <a:defRPr sz="570">
                <a:solidFill>
                  <a:srgbClr val="21242A"/>
                </a:solidFill>
                <a:latin typeface="Microsoft YaHei"/>
              </a:defRPr>
            </a:pPr>
            <a:r>
              <a:t>Cohort B pts achieving CR or PR after 6 cycles of ZR-ICE or 3 cycles of ZR-ICE followed by ASCT received zanubrutinib 320 mg daily as maintenance for up to 24 m</a:t>
            </a:r>
          </a:p>
          <a:p>
            <a:pPr>
              <a:lnSpc>
                <a:spcPct val="103000"/>
              </a:lnSpc>
              <a:spcAft>
                <a:spcPts val="300"/>
              </a:spcAft>
              <a:defRPr sz="570">
                <a:solidFill>
                  <a:srgbClr val="21242A"/>
                </a:solidFill>
                <a:latin typeface="Microsoft YaHei"/>
              </a:defRPr>
            </a:pPr>
            <a:r>
              <a:t>onths.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ZR-ICE demonstrated promising efficacy with a manageable safety profile in R/R systemic non-GCB DLBCL and R/R CNS lymphomas.</a:t>
            </a:r>
          </a:p>
          <a:p>
            <a:pPr>
              <a:lnSpc>
                <a:spcPct val="103000"/>
              </a:lnSpc>
              <a:spcAft>
                <a:spcPts val="300"/>
              </a:spcAft>
              <a:defRPr sz="590">
                <a:solidFill>
                  <a:srgbClr val="21242A"/>
                </a:solidFill>
                <a:latin typeface="Microsoft YaHei"/>
              </a:defRPr>
            </a:pPr>
            <a:r>
              <a:t>These interim results support continued enrollment of this ongoing phase II study.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3632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36328">
                <a:tc>
                  <a:txBody>
                    <a:bodyPr wrap="square" lIns="36576" rIns="36576" tIns="18288" bIns="18288"/>
                    <a:lstStyle/>
                    <a:p>
                      <a:r>
                        <a:rPr sz="540" b="1">
                          <a:solidFill>
                            <a:srgbClr val="21242A"/>
                          </a:solidFill>
                          <a:latin typeface="Microsoft YaHei"/>
                        </a:rPr>
                        <a:t>总人群</a:t>
                      </a:r>
                    </a:p>
                  </a:txBody>
                  <a:tcPr>
                    <a:solidFill>
                      <a:srgbClr val="F6F8FB"/>
                    </a:solidFill>
                  </a:tcPr>
                </a:tc>
                <a:tc>
                  <a:txBody>
                    <a:bodyPr wrap="square" lIns="36576" rIns="36576" tIns="18288" bIns="18288"/>
                    <a:lstStyle/>
                    <a:p>
                      <a:r>
                        <a:rPr sz="540" b="0">
                          <a:solidFill>
                            <a:srgbClr val="21242A"/>
                          </a:solidFill>
                          <a:latin typeface="Microsoft YaHei"/>
                        </a:rPr>
                        <a:t>ORR 90.9%，CR率72.7%</a:t>
                      </a:r>
                    </a:p>
                  </a:txBody>
                  <a:tcPr>
                    <a:solidFill>
                      <a:srgbClr val="F6F8FB"/>
                    </a:solidFill>
                  </a:tcPr>
                </a:tc>
              </a:tr>
              <a:tr h="136328">
                <a:tc>
                  <a:txBody>
                    <a:bodyPr wrap="square" lIns="36576" rIns="36576" tIns="18288" bIns="18288"/>
                    <a:lstStyle/>
                    <a:p>
                      <a:r>
                        <a:rPr sz="540" b="1">
                          <a:solidFill>
                            <a:srgbClr val="21242A"/>
                          </a:solidFill>
                          <a:latin typeface="Microsoft YaHei"/>
                        </a:rPr>
                        <a:t>队列A</a:t>
                      </a:r>
                    </a:p>
                  </a:txBody>
                  <a:tcPr>
                    <a:solidFill>
                      <a:srgbClr val="FFFFFF"/>
                    </a:solidFill>
                  </a:tcPr>
                </a:tc>
                <a:tc>
                  <a:txBody>
                    <a:bodyPr wrap="square" lIns="36576" rIns="36576" tIns="18288" bIns="18288"/>
                    <a:lstStyle/>
                    <a:p>
                      <a:r>
                        <a:rPr sz="540" b="0">
                          <a:solidFill>
                            <a:srgbClr val="21242A"/>
                          </a:solidFill>
                          <a:latin typeface="Microsoft YaHei"/>
                        </a:rPr>
                        <a:t>ORR 90.3%，CR率74.2%</a:t>
                      </a:r>
                    </a:p>
                  </a:txBody>
                  <a:tcPr>
                    <a:solidFill>
                      <a:srgbClr val="FFFFFF"/>
                    </a:solidFill>
                  </a:tcPr>
                </a:tc>
              </a:tr>
              <a:tr h="136328">
                <a:tc>
                  <a:txBody>
                    <a:bodyPr wrap="square" lIns="36576" rIns="36576" tIns="18288" bIns="18288"/>
                    <a:lstStyle/>
                    <a:p>
                      <a:r>
                        <a:rPr sz="540" b="1">
                          <a:solidFill>
                            <a:srgbClr val="21242A"/>
                          </a:solidFill>
                          <a:latin typeface="Microsoft YaHei"/>
                        </a:rPr>
                        <a:t>队列B</a:t>
                      </a:r>
                    </a:p>
                  </a:txBody>
                  <a:tcPr>
                    <a:solidFill>
                      <a:srgbClr val="F6F8FB"/>
                    </a:solidFill>
                  </a:tcPr>
                </a:tc>
                <a:tc>
                  <a:txBody>
                    <a:bodyPr wrap="square" lIns="36576" rIns="36576" tIns="18288" bIns="18288"/>
                    <a:lstStyle/>
                    <a:p>
                      <a:r>
                        <a:rPr sz="540" b="0">
                          <a:solidFill>
                            <a:srgbClr val="21242A"/>
                          </a:solidFill>
                          <a:latin typeface="Microsoft YaHei"/>
                        </a:rPr>
                        <a:t>ORR 92.3%，CR率69.2%</a:t>
                      </a:r>
                    </a:p>
                  </a:txBody>
                  <a:tcPr>
                    <a:solidFill>
                      <a:srgbClr val="F6F8FB"/>
                    </a:solidFill>
                  </a:tcPr>
                </a:tc>
              </a:tr>
              <a:tr h="136328">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中位随访5.8个月，6个月PFS率76.3%，6个月OS率90.0%</a:t>
                      </a:r>
                    </a:p>
                  </a:txBody>
                  <a:tcPr>
                    <a:solidFill>
                      <a:srgbClr val="FFFFFF"/>
                    </a:solidFill>
                  </a:tcPr>
                </a:tc>
              </a:tr>
              <a:tr h="136328">
                <a:tc>
                  <a:txBody>
                    <a:bodyPr wrap="square" lIns="36576" rIns="36576" tIns="18288" bIns="18288"/>
                    <a:lstStyle/>
                    <a:p>
                      <a:r>
                        <a:rPr sz="540" b="1">
                          <a:solidFill>
                            <a:srgbClr val="21242A"/>
                          </a:solidFill>
                          <a:latin typeface="Microsoft YaHei"/>
                        </a:rPr>
                        <a:t>队列A</a:t>
                      </a:r>
                    </a:p>
                  </a:txBody>
                  <a:tcPr>
                    <a:solidFill>
                      <a:srgbClr val="F6F8FB"/>
                    </a:solidFill>
                  </a:tcPr>
                </a:tc>
                <a:tc>
                  <a:txBody>
                    <a:bodyPr wrap="square" lIns="36576" rIns="36576" tIns="18288" bIns="18288"/>
                    <a:lstStyle/>
                    <a:p>
                      <a:r>
                        <a:rPr sz="540" b="0">
                          <a:solidFill>
                            <a:srgbClr val="21242A"/>
                          </a:solidFill>
                          <a:latin typeface="Microsoft YaHei"/>
                        </a:rPr>
                        <a:t>6个月PFS率83.2%，6个月OS率100.0%</a:t>
                      </a:r>
                    </a:p>
                  </a:txBody>
                  <a:tcPr>
                    <a:solidFill>
                      <a:srgbClr val="F6F8FB"/>
                    </a:solidFill>
                  </a:tcPr>
                </a:tc>
              </a:tr>
              <a:tr h="136328">
                <a:tc>
                  <a:txBody>
                    <a:bodyPr wrap="square" lIns="36576" rIns="36576" tIns="18288" bIns="18288"/>
                    <a:lstStyle/>
                    <a:p>
                      <a:r>
                        <a:rPr sz="540" b="1">
                          <a:solidFill>
                            <a:srgbClr val="21242A"/>
                          </a:solidFill>
                          <a:latin typeface="Microsoft YaHei"/>
                        </a:rPr>
                        <a:t>队列B</a:t>
                      </a:r>
                    </a:p>
                  </a:txBody>
                  <a:tcPr>
                    <a:solidFill>
                      <a:srgbClr val="FFFFFF"/>
                    </a:solidFill>
                  </a:tcPr>
                </a:tc>
                <a:tc>
                  <a:txBody>
                    <a:bodyPr wrap="square" lIns="36576" rIns="36576" tIns="18288" bIns="18288"/>
                    <a:lstStyle/>
                    <a:p>
                      <a:r>
                        <a:rPr sz="540" b="0">
                          <a:solidFill>
                            <a:srgbClr val="21242A"/>
                          </a:solidFill>
                          <a:latin typeface="Microsoft YaHei"/>
                        </a:rPr>
                        <a:t>6个月PFS率62.3%，6个月OS率71.6%</a:t>
                      </a:r>
                    </a:p>
                  </a:txBody>
                  <a:tcPr>
                    <a:solidFill>
                      <a:srgbClr val="FFFFFF"/>
                    </a:solidFill>
                  </a:tcPr>
                </a:tc>
              </a:tr>
              <a:tr h="136328">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11例患者（均来自队列A）接受了前期ASCT，截至数据截止无事件</a:t>
                      </a:r>
                    </a:p>
                  </a:txBody>
                  <a:tcPr>
                    <a:solidFill>
                      <a:srgbClr val="F6F8FB"/>
                    </a:solidFill>
                  </a:tcPr>
                </a:tc>
              </a:tr>
              <a:tr h="136328">
                <a:tc>
                  <a:txBody>
                    <a:bodyPr wrap="square" lIns="36576" rIns="36576" tIns="18288" bIns="18288"/>
                    <a:lstStyle/>
                    <a:p>
                      <a:r>
                        <a:rPr sz="540" b="1">
                          <a:solidFill>
                            <a:srgbClr val="21242A"/>
                          </a:solidFill>
                          <a:latin typeface="Microsoft YaHei"/>
                        </a:rPr>
                        <a:t>最常见≥3级不良事件</a:t>
                      </a:r>
                    </a:p>
                  </a:txBody>
                  <a:tcPr>
                    <a:solidFill>
                      <a:srgbClr val="FFFFFF"/>
                    </a:solidFill>
                  </a:tcPr>
                </a:tc>
                <a:tc>
                  <a:txBody>
                    <a:bodyPr wrap="square" lIns="36576" rIns="36576" tIns="18288" bIns="18288"/>
                    <a:lstStyle/>
                    <a:p>
                      <a:r>
                        <a:rPr sz="540" b="0">
                          <a:solidFill>
                            <a:srgbClr val="21242A"/>
                          </a:solidFill>
                          <a:latin typeface="Microsoft YaHei"/>
                        </a:rPr>
                        <a:t>中性粒细胞减少46.0%，血小板减少46.0%，贫血29.0%</a:t>
                      </a:r>
                    </a:p>
                  </a:txBody>
                  <a:tcPr>
                    <a:solidFill>
                      <a:srgbClr val="FFFFFF"/>
                    </a:solidFill>
                  </a:tcPr>
                </a:tc>
              </a:tr>
              <a:tr h="136328">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发热性中性粒细胞减少5例(10.0%)</a:t>
                      </a:r>
                    </a:p>
                  </a:txBody>
                  <a:tcPr>
                    <a:solidFill>
                      <a:srgbClr val="F6F8FB"/>
                    </a:solidFill>
                  </a:tcPr>
                </a:tc>
              </a:tr>
              <a:tr h="1363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1例死于治疗相关脓毒症，无患者因AE停止治疗</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摘要号：PF972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zanubrutinib联合r-chop作为myd88（l265p）/cd79b突变（mcd）弥漫性大b细胞淋巴瘤的一...</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as frontline therapy for myd88（l265p）/cd79b-mutated...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 95%</a:t>
            </a:r>
          </a:p>
          <a:p>
            <a:pPr>
              <a:lnSpc>
                <a:spcPct val="103000"/>
              </a:lnSpc>
              <a:spcAft>
                <a:spcPts val="300"/>
              </a:spcAft>
              <a:defRPr sz="800">
                <a:solidFill>
                  <a:srgbClr val="21242A"/>
                </a:solidFill>
                <a:latin typeface="Microsoft YaHei"/>
              </a:defRPr>
            </a:pPr>
            <a:r>
              <a:t>完全缓解率(CR): 87.5% (35/40)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zanubrutinib联合r-chop作为myd88（l265p）/cd79b突变（mcd）弥漫性大b细胞淋巴瘤的一...</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as frontline therapy for myd88（l265p）/cd79b-mutated...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MCD-subtype DLBCL characterized by concurrent MYD88(L265P) and CD79B mutations is driven by chronic active B-cell receptor/NF- κ B signaling and is </a:t>
            </a:r>
          </a:p>
          <a:p>
            <a:pPr>
              <a:lnSpc>
                <a:spcPct val="103000"/>
              </a:lnSpc>
              <a:spcAft>
                <a:spcPts val="300"/>
              </a:spcAft>
              <a:defRPr sz="570">
                <a:solidFill>
                  <a:srgbClr val="21242A"/>
                </a:solidFill>
                <a:latin typeface="Microsoft YaHei"/>
              </a:defRPr>
            </a:pPr>
            <a:r>
              <a:t>associated with suboptimal outcomes with standard R-CHOP.</a:t>
            </a:r>
          </a:p>
          <a:p>
            <a:pPr>
              <a:lnSpc>
                <a:spcPct val="103000"/>
              </a:lnSpc>
              <a:spcAft>
                <a:spcPts val="300"/>
              </a:spcAft>
              <a:defRPr sz="570">
                <a:solidFill>
                  <a:srgbClr val="21242A"/>
                </a:solidFill>
                <a:latin typeface="Microsoft YaHei"/>
              </a:defRPr>
            </a:pPr>
            <a:r>
              <a:t>BTK inhibition represents a rational, biomarker-enriched strategy for this population.</a:t>
            </a:r>
          </a:p>
          <a:p>
            <a:pPr>
              <a:lnSpc>
                <a:spcPct val="103000"/>
              </a:lnSpc>
              <a:spcAft>
                <a:spcPts val="300"/>
              </a:spcAft>
              <a:defRPr sz="570">
                <a:solidFill>
                  <a:srgbClr val="21242A"/>
                </a:solidFill>
                <a:latin typeface="Microsoft YaHei"/>
              </a:defRPr>
            </a:pPr>
            <a:r>
              <a:t>Aims: The present study aimed to investigate the efficacy and safety of Zanubrutinib in combination with R-CHOP in previously untreated DLBCL patients harboring</a:t>
            </a:r>
          </a:p>
          <a:p>
            <a:pPr>
              <a:lnSpc>
                <a:spcPct val="103000"/>
              </a:lnSpc>
              <a:spcAft>
                <a:spcPts val="300"/>
              </a:spcAft>
              <a:defRPr sz="570">
                <a:solidFill>
                  <a:srgbClr val="21242A"/>
                </a:solidFill>
                <a:latin typeface="Microsoft YaHei"/>
              </a:defRPr>
            </a:pPr>
            <a:r>
              <a:t> both MYD88(L265P) and CD79B mutations.</a:t>
            </a:r>
          </a:p>
          <a:p>
            <a:pPr>
              <a:lnSpc>
                <a:spcPct val="103000"/>
              </a:lnSpc>
              <a:spcAft>
                <a:spcPts val="300"/>
              </a:spcAft>
              <a:defRPr sz="570">
                <a:solidFill>
                  <a:srgbClr val="21242A"/>
                </a:solidFill>
                <a:latin typeface="Microsoft YaHei"/>
              </a:defRPr>
            </a:pPr>
            <a:r>
              <a:t>Methods: Eligible patients with previously untreated DLBCL harboring concurrent MYD88L265P and CD79B mutations (MCD subtype), identified by next-generation sequ</a:t>
            </a:r>
          </a:p>
          <a:p>
            <a:pPr>
              <a:lnSpc>
                <a:spcPct val="103000"/>
              </a:lnSpc>
              <a:spcAft>
                <a:spcPts val="300"/>
              </a:spcAft>
              <a:defRPr sz="570">
                <a:solidFill>
                  <a:srgbClr val="21242A"/>
                </a:solidFill>
                <a:latin typeface="Microsoft YaHei"/>
              </a:defRPr>
            </a:pPr>
            <a:r>
              <a:t>encing (NGS), and an ECOG performance status of 0 – 3 received Zanubrutinib 160 mg orally twice daily plus R-CHOP every 21 days.</a:t>
            </a:r>
          </a:p>
          <a:p>
            <a:pPr>
              <a:lnSpc>
                <a:spcPct val="103000"/>
              </a:lnSpc>
              <a:spcAft>
                <a:spcPts val="300"/>
              </a:spcAft>
              <a:defRPr sz="570">
                <a:solidFill>
                  <a:srgbClr val="21242A"/>
                </a:solidFill>
                <a:latin typeface="Microsoft YaHei"/>
              </a:defRPr>
            </a:pPr>
            <a:r>
              <a:t>Treatment was response-adapted after four cycles based on interim response: patients achieving complete remission (CR) received two additional cycles of ZR-CHOP</a:t>
            </a:r>
          </a:p>
          <a:p>
            <a:pPr>
              <a:lnSpc>
                <a:spcPct val="103000"/>
              </a:lnSpc>
              <a:spcAft>
                <a:spcPts val="300"/>
              </a:spcAft>
              <a:defRPr sz="570">
                <a:solidFill>
                  <a:srgbClr val="21242A"/>
                </a:solidFill>
                <a:latin typeface="Microsoft YaHei"/>
              </a:defRPr>
            </a:pPr>
            <a:r>
              <a:t> followed by rituximab consolidation, whereas patients with non-CR could receive up to four additional cycles of ZR-CHOP.</a:t>
            </a:r>
          </a:p>
          <a:p>
            <a:pPr>
              <a:lnSpc>
                <a:spcPct val="103000"/>
              </a:lnSpc>
              <a:spcAft>
                <a:spcPts val="300"/>
              </a:spcAft>
              <a:defRPr sz="570">
                <a:solidFill>
                  <a:srgbClr val="21242A"/>
                </a:solidFill>
                <a:latin typeface="Microsoft YaHei"/>
              </a:defRPr>
            </a:pPr>
            <a:r>
              <a:t>The primary endpoint was progression-free survival (PFS). Secondary endpoints included overall response rate (ORR), overall survival (OS), and safety.</a:t>
            </a:r>
          </a:p>
          <a:p>
            <a:pPr>
              <a:lnSpc>
                <a:spcPct val="103000"/>
              </a:lnSpc>
              <a:spcAft>
                <a:spcPts val="300"/>
              </a:spcAft>
              <a:defRPr sz="570">
                <a:solidFill>
                  <a:srgbClr val="21242A"/>
                </a:solidFill>
                <a:latin typeface="Microsoft YaHei"/>
              </a:defRPr>
            </a:pPr>
            <a:r>
              <a:t>Responses were investigator-assessed based on best overall response. Time-to-event endpoints were estimated using the Kaplan – Meier method.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Frontline ZR-CHOP demonstrated high CR rates and encouraging long-term PFS/OS with few progression events and no CNS relapse in previously untreated MYD88(L265P</a:t>
            </a:r>
          </a:p>
          <a:p>
            <a:pPr>
              <a:lnSpc>
                <a:spcPct val="103000"/>
              </a:lnSpc>
              <a:spcAft>
                <a:spcPts val="300"/>
              </a:spcAft>
              <a:defRPr sz="590">
                <a:solidFill>
                  <a:srgbClr val="21242A"/>
                </a:solidFill>
                <a:latin typeface="Microsoft YaHei"/>
              </a:defRPr>
            </a:pPr>
            <a:r>
              <a:t>)/CD79B-mutated (MCD) DLBCL, including durable disease control in IPI 3 – 5 high-risk patients, with a manageable safety profile.</a:t>
            </a:r>
          </a:p>
          <a:p>
            <a:pPr>
              <a:lnSpc>
                <a:spcPct val="103000"/>
              </a:lnSpc>
              <a:spcAft>
                <a:spcPts val="300"/>
              </a:spcAft>
              <a:defRPr sz="590">
                <a:solidFill>
                  <a:srgbClr val="21242A"/>
                </a:solidFill>
                <a:latin typeface="Microsoft YaHei"/>
              </a:defRPr>
            </a:pPr>
            <a:r>
              <a:t>These findings support a biomarker-driven BTK inhibitor – based frontline approach for this molecularly high-risk DLBCL subtype and warrant validation in a larg</a:t>
            </a:r>
          </a:p>
          <a:p>
            <a:pPr>
              <a:lnSpc>
                <a:spcPct val="103000"/>
              </a:lnSpc>
              <a:spcAft>
                <a:spcPts val="300"/>
              </a:spcAft>
              <a:defRPr sz="590">
                <a:solidFill>
                  <a:srgbClr val="21242A"/>
                </a:solidFill>
                <a:latin typeface="Microsoft YaHei"/>
              </a:defRPr>
            </a:pPr>
            <a:r>
              <a:t>er prospective study.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95%</a:t>
                      </a:r>
                    </a:p>
                  </a:txBody>
                  <a:tcPr>
                    <a:solidFill>
                      <a:srgbClr val="F6F8FB"/>
                    </a:solidFill>
                  </a:tcPr>
                </a:tc>
              </a:tr>
              <a:tr h="166624">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87.5% (35/40)</a:t>
                      </a:r>
                    </a:p>
                  </a:txBody>
                  <a:tcPr>
                    <a:solidFill>
                      <a:srgbClr val="FFFFFF"/>
                    </a:solidFill>
                  </a:tcPr>
                </a:tc>
              </a:tr>
              <a:tr h="166624">
                <a:tc>
                  <a:txBody>
                    <a:bodyPr wrap="square" lIns="36576" rIns="36576" tIns="18288" bIns="18288"/>
                    <a:lstStyle/>
                    <a:p>
                      <a:r>
                        <a:rPr sz="540" b="1">
                          <a:solidFill>
                            <a:srgbClr val="21242A"/>
                          </a:solidFill>
                          <a:latin typeface="Microsoft YaHei"/>
                        </a:rPr>
                        <a:t>3年无进展生存率(PFS)</a:t>
                      </a:r>
                    </a:p>
                  </a:txBody>
                  <a:tcPr>
                    <a:solidFill>
                      <a:srgbClr val="F6F8FB"/>
                    </a:solidFill>
                  </a:tcPr>
                </a:tc>
                <a:tc>
                  <a:txBody>
                    <a:bodyPr wrap="square" lIns="36576" rIns="36576" tIns="18288" bIns="18288"/>
                    <a:lstStyle/>
                    <a:p>
                      <a:r>
                        <a:rPr sz="540" b="0">
                          <a:solidFill>
                            <a:srgbClr val="21242A"/>
                          </a:solidFill>
                          <a:latin typeface="Microsoft YaHei"/>
                        </a:rPr>
                        <a:t>88.5% (95% CI, 71.4–95.7)</a:t>
                      </a:r>
                    </a:p>
                  </a:txBody>
                  <a:tcPr>
                    <a:solidFill>
                      <a:srgbClr val="F6F8FB"/>
                    </a:solidFill>
                  </a:tcPr>
                </a:tc>
              </a:tr>
              <a:tr h="166624">
                <a:tc>
                  <a:txBody>
                    <a:bodyPr wrap="square" lIns="36576" rIns="36576" tIns="18288" bIns="18288"/>
                    <a:lstStyle/>
                    <a:p>
                      <a:r>
                        <a:rPr sz="540" b="1">
                          <a:solidFill>
                            <a:srgbClr val="21242A"/>
                          </a:solidFill>
                          <a:latin typeface="Microsoft YaHei"/>
                        </a:rPr>
                        <a:t>3年总生存率(OS)</a:t>
                      </a:r>
                    </a:p>
                  </a:txBody>
                  <a:tcPr>
                    <a:solidFill>
                      <a:srgbClr val="FFFFFF"/>
                    </a:solidFill>
                  </a:tcPr>
                </a:tc>
                <a:tc>
                  <a:txBody>
                    <a:bodyPr wrap="square" lIns="36576" rIns="36576" tIns="18288" bIns="18288"/>
                    <a:lstStyle/>
                    <a:p>
                      <a:r>
                        <a:rPr sz="540" b="0">
                          <a:solidFill>
                            <a:srgbClr val="21242A"/>
                          </a:solidFill>
                          <a:latin typeface="Microsoft YaHei"/>
                        </a:rPr>
                        <a:t>97.5% (95% CI, 83.5–99.6)</a:t>
                      </a:r>
                    </a:p>
                  </a:txBody>
                  <a:tcPr>
                    <a:solidFill>
                      <a:srgbClr val="FFFFFF"/>
                    </a:solidFill>
                  </a:tcPr>
                </a:tc>
              </a:tr>
              <a:tr h="166624">
                <a:tc>
                  <a:txBody>
                    <a:bodyPr wrap="square" lIns="36576" rIns="36576" tIns="18288" bIns="18288"/>
                    <a:lstStyle/>
                    <a:p>
                      <a:r>
                        <a:rPr sz="540" b="1">
                          <a:solidFill>
                            <a:srgbClr val="21242A"/>
                          </a:solidFill>
                          <a:latin typeface="Microsoft YaHei"/>
                        </a:rPr>
                        <a:t>中枢神经系统复发</a:t>
                      </a:r>
                    </a:p>
                  </a:txBody>
                  <a:tcPr>
                    <a:solidFill>
                      <a:srgbClr val="F6F8FB"/>
                    </a:solidFill>
                  </a:tcPr>
                </a:tc>
                <a:tc>
                  <a:txBody>
                    <a:bodyPr wrap="square" lIns="36576" rIns="36576" tIns="18288" bIns="18288"/>
                    <a:lstStyle/>
                    <a:p>
                      <a:r>
                        <a:rPr sz="540" b="0">
                          <a:solidFill>
                            <a:srgbClr val="21242A"/>
                          </a:solidFill>
                          <a:latin typeface="Microsoft YaHei"/>
                        </a:rPr>
                        <a:t>0</a:t>
                      </a:r>
                    </a:p>
                  </a:txBody>
                  <a:tcPr>
                    <a:solidFill>
                      <a:srgbClr val="F6F8FB"/>
                    </a:solidFill>
                  </a:tcPr>
                </a:tc>
              </a:tr>
              <a:tr h="166624">
                <a:tc>
                  <a:txBody>
                    <a:bodyPr wrap="square" lIns="36576" rIns="36576" tIns="18288" bIns="18288"/>
                    <a:lstStyle/>
                    <a:p>
                      <a:r>
                        <a:rPr sz="540" b="1">
                          <a:solidFill>
                            <a:srgbClr val="21242A"/>
                          </a:solidFill>
                          <a:latin typeface="Microsoft YaHei"/>
                        </a:rPr>
                        <a:t>3级及以上不良事件发生率</a:t>
                      </a:r>
                    </a:p>
                  </a:txBody>
                  <a:tcPr>
                    <a:solidFill>
                      <a:srgbClr val="FFFFFF"/>
                    </a:solidFill>
                  </a:tcPr>
                </a:tc>
                <a:tc>
                  <a:txBody>
                    <a:bodyPr wrap="square" lIns="36576" rIns="36576" tIns="18288" bIns="18288"/>
                    <a:lstStyle/>
                    <a:p>
                      <a:r>
                        <a:rPr sz="540" b="0">
                          <a:solidFill>
                            <a:srgbClr val="21242A"/>
                          </a:solidFill>
                          <a:latin typeface="Microsoft YaHei"/>
                        </a:rPr>
                        <a:t>62.5%</a:t>
                      </a:r>
                    </a:p>
                  </a:txBody>
                  <a:tcPr>
                    <a:solidFill>
                      <a:srgbClr val="FFFFFF"/>
                    </a:solidFill>
                  </a:tcPr>
                </a:tc>
              </a:tr>
              <a:tr h="166624">
                <a:tc>
                  <a:txBody>
                    <a:bodyPr wrap="square" lIns="36576" rIns="36576" tIns="18288" bIns="18288"/>
                    <a:lstStyle/>
                    <a:p>
                      <a:r>
                        <a:rPr sz="540" b="1">
                          <a:solidFill>
                            <a:srgbClr val="21242A"/>
                          </a:solidFill>
                          <a:latin typeface="Microsoft YaHei"/>
                        </a:rPr>
                        <a:t>最常见不良事件(所有级别)</a:t>
                      </a:r>
                    </a:p>
                  </a:txBody>
                  <a:tcPr>
                    <a:solidFill>
                      <a:srgbClr val="F6F8FB"/>
                    </a:solidFill>
                  </a:tcPr>
                </a:tc>
                <a:tc>
                  <a:txBody>
                    <a:bodyPr wrap="square" lIns="36576" rIns="36576" tIns="18288" bIns="18288"/>
                    <a:lstStyle/>
                    <a:p>
                      <a:r>
                        <a:rPr sz="540" b="0">
                          <a:solidFill>
                            <a:srgbClr val="21242A"/>
                          </a:solidFill>
                          <a:latin typeface="Microsoft YaHei"/>
                        </a:rPr>
                        <a:t>中性粒细胞减少95%, 肺部感染20%, 贫血10%, 血小板减少8%</a:t>
                      </a:r>
                    </a:p>
                  </a:txBody>
                  <a:tcPr>
                    <a:solidFill>
                      <a:srgbClr val="F6F8FB"/>
                    </a:solidFill>
                  </a:tcPr>
                </a:tc>
              </a:tr>
              <a:tr h="166624">
                <a:tc>
                  <a:txBody>
                    <a:bodyPr wrap="square" lIns="36576" rIns="36576" tIns="18288" bIns="18288"/>
                    <a:lstStyle/>
                    <a:p>
                      <a:r>
                        <a:rPr sz="540" b="1">
                          <a:solidFill>
                            <a:srgbClr val="21242A"/>
                          </a:solidFill>
                          <a:latin typeface="Microsoft YaHei"/>
                        </a:rPr>
                        <a:t>最常见的3-4级不良事件</a:t>
                      </a:r>
                    </a:p>
                  </a:txBody>
                  <a:tcPr>
                    <a:solidFill>
                      <a:srgbClr val="FFFFFF"/>
                    </a:solidFill>
                  </a:tcPr>
                </a:tc>
                <a:tc>
                  <a:txBody>
                    <a:bodyPr wrap="square" lIns="36576" rIns="36576" tIns="18288" bIns="18288"/>
                    <a:lstStyle/>
                    <a:p>
                      <a:r>
                        <a:rPr sz="540" b="0">
                          <a:solidFill>
                            <a:srgbClr val="21242A"/>
                          </a:solidFill>
                          <a:latin typeface="Microsoft YaHei"/>
                        </a:rPr>
                        <a:t>中性粒细胞减少</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摘要号：PF964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扎努布替尼联合r-chop（zr-chop）治疗非生发中心b细胞样（非gcb）弥漫性大b细胞淋巴瘤患者，这些患者在两个...</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(zr-chop) in non-germinal center b-cell-like (non-gc...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中位随访28.3个月</a:t>
            </a:r>
          </a:p>
          <a:p>
            <a:pPr>
              <a:lnSpc>
                <a:spcPct val="103000"/>
              </a:lnSpc>
              <a:spcAft>
                <a:spcPts val="300"/>
              </a:spcAft>
              <a:defRPr sz="800">
                <a:solidFill>
                  <a:srgbClr val="21242A"/>
                </a:solidFill>
                <a:latin typeface="Microsoft YaHei"/>
              </a:defRPr>
            </a:pPr>
            <a:r>
              <a:t>2年无事件生存（EFS）率38.2%（95%CI 18.4-57.9）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扎努布替尼联合r-chop（zr-chop）治疗非生发中心b细胞样（非gcb）弥漫性大b细胞淋巴瘤患者，这些患者在两个...</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(zr-chop) in non-germinal center b-cell-like (non-gc...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R-CHOP is a standard treatment for previously untreated diffuse large B-cell lymphoma (DLBCL), however, more than one-third of patients are not cure</a:t>
            </a:r>
          </a:p>
          <a:p>
            <a:pPr>
              <a:lnSpc>
                <a:spcPct val="103000"/>
              </a:lnSpc>
              <a:spcAft>
                <a:spcPts val="300"/>
              </a:spcAft>
              <a:defRPr sz="570">
                <a:solidFill>
                  <a:srgbClr val="21242A"/>
                </a:solidFill>
                <a:latin typeface="Microsoft YaHei"/>
              </a:defRPr>
            </a:pPr>
            <a:r>
              <a:t>d by R-CHOP.</a:t>
            </a:r>
          </a:p>
          <a:p>
            <a:pPr>
              <a:lnSpc>
                <a:spcPct val="103000"/>
              </a:lnSpc>
              <a:spcAft>
                <a:spcPts val="300"/>
              </a:spcAft>
              <a:defRPr sz="570">
                <a:solidFill>
                  <a:srgbClr val="21242A"/>
                </a:solidFill>
                <a:latin typeface="Microsoft YaHei"/>
              </a:defRPr>
            </a:pPr>
            <a:r>
              <a:t>There is a clear need to improve the prognosis of patients, especially for those with factors associated with poor prognosis, such as non-GCB subtype and positi</a:t>
            </a:r>
          </a:p>
          <a:p>
            <a:pPr>
              <a:lnSpc>
                <a:spcPct val="103000"/>
              </a:lnSpc>
              <a:spcAft>
                <a:spcPts val="300"/>
              </a:spcAft>
              <a:defRPr sz="570">
                <a:solidFill>
                  <a:srgbClr val="21242A"/>
                </a:solidFill>
                <a:latin typeface="Microsoft YaHei"/>
              </a:defRPr>
            </a:pPr>
            <a:r>
              <a:t>ve interim positron emission tomography (PET).</a:t>
            </a:r>
          </a:p>
          <a:p>
            <a:pPr>
              <a:lnSpc>
                <a:spcPct val="103000"/>
              </a:lnSpc>
              <a:spcAft>
                <a:spcPts val="300"/>
              </a:spcAft>
              <a:defRPr sz="570">
                <a:solidFill>
                  <a:srgbClr val="21242A"/>
                </a:solidFill>
                <a:latin typeface="Microsoft YaHei"/>
              </a:defRPr>
            </a:pPr>
            <a:r>
              <a:t>Bruton's tyrosine kinase inhibitors (BTKi) have established therapeutic activity in B-cell malignancies, with modest activity in DLBCL.</a:t>
            </a:r>
          </a:p>
          <a:p>
            <a:pPr>
              <a:lnSpc>
                <a:spcPct val="103000"/>
              </a:lnSpc>
              <a:spcAft>
                <a:spcPts val="300"/>
              </a:spcAft>
              <a:defRPr sz="570">
                <a:solidFill>
                  <a:srgbClr val="21242A"/>
                </a:solidFill>
                <a:latin typeface="Microsoft YaHei"/>
              </a:defRPr>
            </a:pPr>
            <a:r>
              <a:t>Zanubrutinib, a potent and selective BTKi, was evaluated in patients with relapsed or refractory (R/R) non-GCB DLBCL.</a:t>
            </a:r>
          </a:p>
          <a:p>
            <a:pPr>
              <a:lnSpc>
                <a:spcPct val="103000"/>
              </a:lnSpc>
              <a:spcAft>
                <a:spcPts val="300"/>
              </a:spcAft>
              <a:defRPr sz="570">
                <a:solidFill>
                  <a:srgbClr val="21242A"/>
                </a:solidFill>
                <a:latin typeface="Microsoft YaHei"/>
              </a:defRPr>
            </a:pPr>
            <a:r>
              <a:t>Zanubrutinib showed minimized off-target activities against interleukin-2-inducible T cell kinase (ITK) and reduced interference of ITK-mediated, rituximab-indu</a:t>
            </a:r>
          </a:p>
          <a:p>
            <a:pPr>
              <a:lnSpc>
                <a:spcPct val="103000"/>
              </a:lnSpc>
              <a:spcAft>
                <a:spcPts val="300"/>
              </a:spcAft>
              <a:defRPr sz="570">
                <a:solidFill>
                  <a:srgbClr val="21242A"/>
                </a:solidFill>
                <a:latin typeface="Microsoft YaHei"/>
              </a:defRPr>
            </a:pPr>
            <a:r>
              <a:t>ced, antibody-dependent cellular cytotoxicity.</a:t>
            </a:r>
          </a:p>
          <a:p>
            <a:pPr>
              <a:lnSpc>
                <a:spcPct val="103000"/>
              </a:lnSpc>
              <a:spcAft>
                <a:spcPts val="300"/>
              </a:spcAft>
              <a:defRPr sz="570">
                <a:solidFill>
                  <a:srgbClr val="21242A"/>
                </a:solidFill>
                <a:latin typeface="Microsoft YaHei"/>
              </a:defRPr>
            </a:pPr>
            <a:r>
              <a:t>Therefore, ZR-CHOP is a potentially effective regimen.</a:t>
            </a:r>
          </a:p>
          <a:p>
            <a:pPr>
              <a:lnSpc>
                <a:spcPct val="103000"/>
              </a:lnSpc>
              <a:spcAft>
                <a:spcPts val="300"/>
              </a:spcAft>
              <a:defRPr sz="570">
                <a:solidFill>
                  <a:srgbClr val="21242A"/>
                </a:solidFill>
                <a:latin typeface="Microsoft YaHei"/>
              </a:defRPr>
            </a:pPr>
            <a:r>
              <a:t>Aims: We designed a treatment escalation regimen with ZR-CHOP, followed by zanubrutinib maintenance, for non-GCB DLBCL patients who were PET positive after two </a:t>
            </a:r>
          </a:p>
          <a:p>
            <a:pPr>
              <a:lnSpc>
                <a:spcPct val="103000"/>
              </a:lnSpc>
              <a:spcAft>
                <a:spcPts val="300"/>
              </a:spcAft>
              <a:defRPr sz="570">
                <a:solidFill>
                  <a:srgbClr val="21242A"/>
                </a:solidFill>
                <a:latin typeface="Microsoft YaHei"/>
              </a:defRPr>
            </a:pPr>
            <a:r>
              <a:t>cycles of R-CHOP.</a:t>
            </a:r>
          </a:p>
          <a:p>
            <a:pPr>
              <a:lnSpc>
                <a:spcPct val="103000"/>
              </a:lnSpc>
              <a:spcAft>
                <a:spcPts val="300"/>
              </a:spcAft>
              <a:defRPr sz="570">
                <a:solidFill>
                  <a:srgbClr val="21242A"/>
                </a:solidFill>
                <a:latin typeface="Microsoft YaHei"/>
              </a:defRPr>
            </a:pPr>
            <a:r>
              <a:t>Methods: This was a single arm, multicenter, phase II study.</a:t>
            </a:r>
          </a:p>
          <a:p>
            <a:pPr>
              <a:lnSpc>
                <a:spcPct val="103000"/>
              </a:lnSpc>
              <a:spcAft>
                <a:spcPts val="300"/>
              </a:spcAft>
              <a:defRPr sz="570">
                <a:solidFill>
                  <a:srgbClr val="21242A"/>
                </a:solidFill>
                <a:latin typeface="Microsoft YaHei"/>
              </a:defRPr>
            </a:pPr>
            <a:r>
              <a:t>Patients with non-GCB DLBCL who were PET positive (Deauville scores 4 or 5) after two cycles of R-CHOP were enrolled.</a:t>
            </a:r>
          </a:p>
          <a:p>
            <a:pPr>
              <a:lnSpc>
                <a:spcPct val="103000"/>
              </a:lnSpc>
              <a:spcAft>
                <a:spcPts val="300"/>
              </a:spcAft>
              <a:defRPr sz="570">
                <a:solidFill>
                  <a:srgbClr val="21242A"/>
                </a:solidFill>
                <a:latin typeface="Microsoft YaHei"/>
              </a:defRPr>
            </a:pPr>
            <a:r>
              <a:t>Patients with PET negative or PD were excluded.</a:t>
            </a:r>
          </a:p>
          <a:p>
            <a:pPr>
              <a:lnSpc>
                <a:spcPct val="103000"/>
              </a:lnSpc>
              <a:spcAft>
                <a:spcPts val="300"/>
              </a:spcAft>
              <a:defRPr sz="570">
                <a:solidFill>
                  <a:srgbClr val="21242A"/>
                </a:solidFill>
                <a:latin typeface="Microsoft YaHei"/>
              </a:defRPr>
            </a:pPr>
            <a:r>
              <a:t>Patients received ZR-CHOP in a 21-day cycle for 6 cycles (induction), followed by zanubrutinib monotherapy as maintenance up to 6 months for patients who achiev</a:t>
            </a:r>
          </a:p>
          <a:p>
            <a:pPr>
              <a:lnSpc>
                <a:spcPct val="103000"/>
              </a:lnSpc>
              <a:spcAft>
                <a:spcPts val="300"/>
              </a:spcAft>
              <a:defRPr sz="570">
                <a:solidFill>
                  <a:srgbClr val="21242A"/>
                </a:solidFill>
                <a:latin typeface="Microsoft YaHei"/>
              </a:defRPr>
            </a:pPr>
            <a:r>
              <a:t>ed PR or CR.</a:t>
            </a:r>
          </a:p>
          <a:p>
            <a:pPr>
              <a:lnSpc>
                <a:spcPct val="103000"/>
              </a:lnSpc>
              <a:spcAft>
                <a:spcPts val="300"/>
              </a:spcAft>
              <a:defRPr sz="570">
                <a:solidFill>
                  <a:srgbClr val="21242A"/>
                </a:solidFill>
                <a:latin typeface="Microsoft YaHei"/>
              </a:defRPr>
            </a:pPr>
            <a:r>
              <a:t>Zanubrutinib was administered orally twice daily at 160 mg.</a:t>
            </a:r>
          </a:p>
          <a:p>
            <a:pPr>
              <a:lnSpc>
                <a:spcPct val="103000"/>
              </a:lnSpc>
              <a:spcAft>
                <a:spcPts val="300"/>
              </a:spcAft>
              <a:defRPr sz="570">
                <a:solidFill>
                  <a:srgbClr val="21242A"/>
                </a:solidFill>
                <a:latin typeface="Microsoft YaHei"/>
              </a:defRPr>
            </a:pPr>
            <a:r>
              <a:t>The primary endpoint was 2-year event-free survival (EFS) from start of RCHOP treatment, defined as disease progression, relapse from CR, initiation of subseque</a:t>
            </a:r>
          </a:p>
          <a:p>
            <a:pPr>
              <a:lnSpc>
                <a:spcPct val="103000"/>
              </a:lnSpc>
              <a:spcAft>
                <a:spcPts val="300"/>
              </a:spcAft>
              <a:defRPr sz="570">
                <a:solidFill>
                  <a:srgbClr val="21242A"/>
                </a:solidFill>
                <a:latin typeface="Microsoft YaHei"/>
              </a:defRPr>
            </a:pPr>
            <a:r>
              <a:t>nt systemic antilymphoma therapy for either PET-positive or biopsy-proven residual disease upon completion of at least 6 cycles of ZR-CHOP therapy, or death, wh</a:t>
            </a:r>
          </a:p>
          <a:p>
            <a:pPr>
              <a:lnSpc>
                <a:spcPct val="103000"/>
              </a:lnSpc>
              <a:spcAft>
                <a:spcPts val="300"/>
              </a:spcAft>
              <a:defRPr sz="570">
                <a:solidFill>
                  <a:srgbClr val="21242A"/>
                </a:solidFill>
                <a:latin typeface="Microsoft YaHei"/>
              </a:defRPr>
            </a:pPr>
            <a:r>
              <a:t>ichever occurred first.</a:t>
            </a:r>
          </a:p>
          <a:p>
            <a:pPr>
              <a:lnSpc>
                <a:spcPct val="103000"/>
              </a:lnSpc>
              <a:spcAft>
                <a:spcPts val="300"/>
              </a:spcAft>
              <a:defRPr sz="570">
                <a:solidFill>
                  <a:srgbClr val="21242A"/>
                </a:solidFill>
                <a:latin typeface="Microsoft YaHei"/>
              </a:defRPr>
            </a:pPr>
            <a:r>
              <a:t>Secondary endpoints included overall remission rate (ORR), complete remission rate, response improvement rate (defined as the proportion of patients whose respo</a:t>
            </a:r>
          </a:p>
          <a:p>
            <a:pPr>
              <a:lnSpc>
                <a:spcPct val="103000"/>
              </a:lnSpc>
              <a:spcAft>
                <a:spcPts val="300"/>
              </a:spcAft>
              <a:defRPr sz="570">
                <a:solidFill>
                  <a:srgbClr val="21242A"/>
                </a:solidFill>
                <a:latin typeface="Microsoft YaHei"/>
              </a:defRPr>
            </a:pPr>
            <a:r>
              <a:t>nse was improved from PR to CR or from SD to CR or PR during ZR-CHOP induction), and safety.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results showed that ZR-CHOP was a safe and effective scheme for non-GCB DLBCL patients who were PET positive after two-cycle R-CHOP.</a:t>
            </a:r>
          </a:p>
          <a:p>
            <a:pPr>
              <a:lnSpc>
                <a:spcPct val="103000"/>
              </a:lnSpc>
              <a:spcAft>
                <a:spcPts val="300"/>
              </a:spcAft>
              <a:defRPr sz="590">
                <a:solidFill>
                  <a:srgbClr val="21242A"/>
                </a:solidFill>
                <a:latin typeface="Microsoft YaHei"/>
              </a:defRPr>
            </a:pPr>
            <a:r>
              <a:t>It indicates that adding zanubrutinib to escalate the treatment under the guidance of dynamic PET-CT can improve the remission and median EFS of these patients </a:t>
            </a:r>
          </a:p>
          <a:p>
            <a:pPr>
              <a:lnSpc>
                <a:spcPct val="103000"/>
              </a:lnSpc>
              <a:spcAft>
                <a:spcPts val="300"/>
              </a:spcAft>
              <a:defRPr sz="590">
                <a:solidFill>
                  <a:srgbClr val="21242A"/>
                </a:solidFill>
                <a:latin typeface="Microsoft YaHei"/>
              </a:defRPr>
            </a:pPr>
            <a:r>
              <a:t>without significantly increasing toxicity.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中位随访28.3个月；2年无事件生存（EFS）率38.2%（95%CI 18.4-57.9）；中位EFS 17.6个月（8.3-NE）；最佳总缓解率（ORR）89.3%（CR 42.9%，PR 46.4%）；反应改善率54.2%（13/24，95%CI 32.8-74.5）；任意级别治疗期间不良事件（TEAE</a:t>
            </a:r>
          </a:p>
          <a:p>
            <a:pPr>
              <a:lnSpc>
                <a:spcPct val="103000"/>
              </a:lnSpc>
              <a:spcAft>
                <a:spcPts val="300"/>
              </a:spcAft>
              <a:defRPr sz="580">
                <a:solidFill>
                  <a:srgbClr val="21242A"/>
                </a:solidFill>
                <a:latin typeface="Microsoft YaHei"/>
              </a:defRPr>
            </a:pPr>
            <a:r>
              <a:t>）发生率96.4%；≥3级TEAE发生率77.8%；严重不良事件（SAE）发生率18.5%。</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利用循环肿瘤dna双链体对侵袭性大b细胞淋巴瘤进行分子监测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molecular surveillance of aggressive large b-cell lymphoma using circulating...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前瞻性临床研究结果：molecular surveillance of aggressive large b-cell lym...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5年无进展生存率：82%</a:t>
            </a:r>
          </a:p>
          <a:p>
            <a:pPr>
              <a:lnSpc>
                <a:spcPct val="103000"/>
              </a:lnSpc>
              <a:spcAft>
                <a:spcPts val="300"/>
              </a:spcAft>
              <a:defRPr sz="800">
                <a:solidFill>
                  <a:srgbClr val="21242A"/>
                </a:solidFill>
                <a:latin typeface="Microsoft YaHei"/>
              </a:defRPr>
            </a:pPr>
            <a:r>
              <a:t>5年总生存率：90%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研究主题：molecular surveillance of aggressive large b-cell lymphoma using circulating tumor dna duplexes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利用循环肿瘤dna双链体对侵袭性大b细胞淋巴瘤进行分子监测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molecular surveillance of aggressive large b-cell lymphoma using circulating...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Treatment failure occurs in one-third of patients with aggressive large B-cell lymphoma (LBCL), and current tools are insufficient for determining r</a:t>
            </a:r>
          </a:p>
          <a:p>
            <a:pPr>
              <a:lnSpc>
                <a:spcPct val="103000"/>
              </a:lnSpc>
              <a:spcAft>
                <a:spcPts val="300"/>
              </a:spcAft>
              <a:defRPr sz="570">
                <a:solidFill>
                  <a:srgbClr val="21242A"/>
                </a:solidFill>
                <a:latin typeface="Microsoft YaHei"/>
              </a:defRPr>
            </a:pPr>
            <a:r>
              <a:t>emission.</a:t>
            </a:r>
          </a:p>
          <a:p>
            <a:pPr>
              <a:lnSpc>
                <a:spcPct val="103000"/>
              </a:lnSpc>
              <a:spcAft>
                <a:spcPts val="300"/>
              </a:spcAft>
              <a:defRPr sz="570">
                <a:solidFill>
                  <a:srgbClr val="21242A"/>
                </a:solidFill>
                <a:latin typeface="Microsoft YaHei"/>
              </a:defRPr>
            </a:pPr>
            <a:r>
              <a:t>Liquid biopsies using plasma circulating tumor DNA (ctDNA) complement diagnostics, predict treatment response and survival, and are expected to transform treatm</a:t>
            </a:r>
          </a:p>
          <a:p>
            <a:pPr>
              <a:lnSpc>
                <a:spcPct val="103000"/>
              </a:lnSpc>
              <a:spcAft>
                <a:spcPts val="300"/>
              </a:spcAft>
              <a:defRPr sz="570">
                <a:solidFill>
                  <a:srgbClr val="21242A"/>
                </a:solidFill>
                <a:latin typeface="Microsoft YaHei"/>
              </a:defRPr>
            </a:pPr>
            <a:r>
              <a:t>ent decision-making.</a:t>
            </a:r>
          </a:p>
          <a:p>
            <a:pPr>
              <a:lnSpc>
                <a:spcPct val="103000"/>
              </a:lnSpc>
              <a:spcAft>
                <a:spcPts val="300"/>
              </a:spcAft>
              <a:defRPr sz="570">
                <a:solidFill>
                  <a:srgbClr val="21242A"/>
                </a:solidFill>
                <a:latin typeface="Microsoft YaHei"/>
              </a:defRPr>
            </a:pPr>
            <a:r>
              <a:t>Aims: We aimed to assess the added clinical benefit of longitudinal ctDNA monitoring by duplex sequencing in plasma samples from patients with primary high-risk</a:t>
            </a:r>
          </a:p>
          <a:p>
            <a:pPr>
              <a:lnSpc>
                <a:spcPct val="103000"/>
              </a:lnSpc>
              <a:spcAft>
                <a:spcPts val="300"/>
              </a:spcAft>
              <a:defRPr sz="570">
                <a:solidFill>
                  <a:srgbClr val="21242A"/>
                </a:solidFill>
                <a:latin typeface="Microsoft YaHei"/>
              </a:defRPr>
            </a:pPr>
            <a:r>
              <a:t> LBCL.</a:t>
            </a:r>
          </a:p>
          <a:p>
            <a:pPr>
              <a:lnSpc>
                <a:spcPct val="103000"/>
              </a:lnSpc>
              <a:spcAft>
                <a:spcPts val="300"/>
              </a:spcAft>
              <a:defRPr sz="570">
                <a:solidFill>
                  <a:srgbClr val="21242A"/>
                </a:solidFill>
                <a:latin typeface="Microsoft YaHei"/>
              </a:defRPr>
            </a:pPr>
            <a:r>
              <a:t>Methods: We used a targeted duplex sequencing-based ctDNA assay on 447 longitudinal plasma cfDNA samples to analyze measurable residual disease (MRD) from 123 p</a:t>
            </a:r>
          </a:p>
          <a:p>
            <a:pPr>
              <a:lnSpc>
                <a:spcPct val="103000"/>
              </a:lnSpc>
              <a:spcAft>
                <a:spcPts val="300"/>
              </a:spcAft>
              <a:defRPr sz="570">
                <a:solidFill>
                  <a:srgbClr val="21242A"/>
                </a:solidFill>
                <a:latin typeface="Microsoft YaHei"/>
              </a:defRPr>
            </a:pPr>
            <a:r>
              <a:t>atients with primary LBCL at various time points during treatment and follow-up as part of the Nordic LBC-06 phase II trial (Leppä et al., 2025).</a:t>
            </a:r>
          </a:p>
          <a:p>
            <a:pPr>
              <a:lnSpc>
                <a:spcPct val="103000"/>
              </a:lnSpc>
              <a:spcAft>
                <a:spcPts val="300"/>
              </a:spcAft>
              <a:defRPr sz="570">
                <a:solidFill>
                  <a:srgbClr val="21242A"/>
                </a:solidFill>
                <a:latin typeface="Microsoft YaHei"/>
              </a:defRPr>
            </a:pPr>
            <a:r>
              <a:t>The patients were young (aged 18-64 years), had clinically high-risk LBCL, and were treated with dose-intensified immunochemotherapy.</a:t>
            </a:r>
          </a:p>
          <a:p>
            <a:pPr>
              <a:lnSpc>
                <a:spcPct val="103000"/>
              </a:lnSpc>
              <a:spcAft>
                <a:spcPts val="300"/>
              </a:spcAft>
              <a:defRPr sz="570">
                <a:solidFill>
                  <a:srgbClr val="21242A"/>
                </a:solidFill>
                <a:latin typeface="Microsoft YaHei"/>
              </a:defRPr>
            </a:pPr>
            <a:r>
              <a:t>The lowest ctDNA fractions detected were in the parts-per-million (ppm) range, and the median limit of detection was 1.69*10 -5, with 26% of the samples having </a:t>
            </a:r>
          </a:p>
          <a:p>
            <a:pPr>
              <a:lnSpc>
                <a:spcPct val="103000"/>
              </a:lnSpc>
              <a:spcAft>
                <a:spcPts val="300"/>
              </a:spcAft>
              <a:defRPr sz="570">
                <a:solidFill>
                  <a:srgbClr val="21242A"/>
                </a:solidFill>
                <a:latin typeface="Microsoft YaHei"/>
              </a:defRPr>
            </a:pPr>
            <a:r>
              <a:t>a limit of detection in the ppm range.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Longitudinal plasma ctDNA detection during treatment and follow-up with duplex sequencing identifies refractory disease, predicts survival, determines therapy r</a:t>
            </a:r>
          </a:p>
          <a:p>
            <a:pPr>
              <a:lnSpc>
                <a:spcPct val="103000"/>
              </a:lnSpc>
              <a:spcAft>
                <a:spcPts val="300"/>
              </a:spcAft>
              <a:defRPr sz="590">
                <a:solidFill>
                  <a:srgbClr val="21242A"/>
                </a:solidFill>
                <a:latin typeface="Microsoft YaHei"/>
              </a:defRPr>
            </a:pPr>
            <a:r>
              <a:t>esponses, and provides lead time before clinical progression.</a:t>
            </a:r>
          </a:p>
          <a:p>
            <a:pPr>
              <a:lnSpc>
                <a:spcPct val="103000"/>
              </a:lnSpc>
              <a:spcAft>
                <a:spcPts val="300"/>
              </a:spcAft>
              <a:defRPr sz="590">
                <a:solidFill>
                  <a:srgbClr val="21242A"/>
                </a:solidFill>
                <a:latin typeface="Microsoft YaHei"/>
              </a:defRPr>
            </a:pPr>
            <a:r>
              <a:t>Overall, the results support incorporating molecular remission into LBCL response criteria to complement imaging and provide a dynamic molecular tool to guide c</a:t>
            </a:r>
          </a:p>
          <a:p>
            <a:pPr>
              <a:lnSpc>
                <a:spcPct val="103000"/>
              </a:lnSpc>
              <a:spcAft>
                <a:spcPts val="300"/>
              </a:spcAft>
              <a:defRPr sz="590">
                <a:solidFill>
                  <a:srgbClr val="21242A"/>
                </a:solidFill>
                <a:latin typeface="Microsoft YaHei"/>
              </a:defRPr>
            </a:pPr>
            <a:r>
              <a:t>linical decision-making.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5年无进展生存率</a:t>
                      </a:r>
                    </a:p>
                  </a:txBody>
                  <a:tcPr>
                    <a:solidFill>
                      <a:srgbClr val="F6F8FB"/>
                    </a:solidFill>
                  </a:tcPr>
                </a:tc>
                <a:tc>
                  <a:txBody>
                    <a:bodyPr wrap="square" lIns="36576" rIns="36576" tIns="18288" bIns="18288"/>
                    <a:lstStyle/>
                    <a:p>
                      <a:r>
                        <a:rPr sz="540" b="0">
                          <a:solidFill>
                            <a:srgbClr val="21242A"/>
                          </a:solidFill>
                          <a:latin typeface="Microsoft YaHei"/>
                        </a:rPr>
                        <a:t>82%</a:t>
                      </a:r>
                    </a:p>
                  </a:txBody>
                  <a:tcPr>
                    <a:solidFill>
                      <a:srgbClr val="F6F8FB"/>
                    </a:solidFill>
                  </a:tcPr>
                </a:tc>
              </a:tr>
              <a:tr h="187452">
                <a:tc>
                  <a:txBody>
                    <a:bodyPr wrap="square" lIns="36576" rIns="36576" tIns="18288" bIns="18288"/>
                    <a:lstStyle/>
                    <a:p>
                      <a:r>
                        <a:rPr sz="540" b="1">
                          <a:solidFill>
                            <a:srgbClr val="21242A"/>
                          </a:solidFill>
                          <a:latin typeface="Microsoft YaHei"/>
                        </a:rPr>
                        <a:t>5年总生存率</a:t>
                      </a:r>
                    </a:p>
                  </a:txBody>
                  <a:tcPr>
                    <a:solidFill>
                      <a:srgbClr val="FFFFFF"/>
                    </a:solidFill>
                  </a:tcPr>
                </a:tc>
                <a:tc>
                  <a:txBody>
                    <a:bodyPr wrap="square" lIns="36576" rIns="36576" tIns="18288" bIns="18288"/>
                    <a:lstStyle/>
                    <a:p>
                      <a:r>
                        <a:rPr sz="540" b="0">
                          <a:solidFill>
                            <a:srgbClr val="21242A"/>
                          </a:solidFill>
                          <a:latin typeface="Microsoft YaHei"/>
                        </a:rPr>
                        <a:t>90%</a:t>
                      </a:r>
                    </a:p>
                  </a:txBody>
                  <a:tcPr>
                    <a:solidFill>
                      <a:srgbClr val="FFFFFF"/>
                    </a:solidFill>
                  </a:tcPr>
                </a:tc>
              </a:tr>
              <a:tr h="187452">
                <a:tc>
                  <a:txBody>
                    <a:bodyPr wrap="square" lIns="36576" rIns="36576" tIns="18288" bIns="18288"/>
                    <a:lstStyle/>
                    <a:p>
                      <a:r>
                        <a:rPr sz="540" b="1">
                          <a:solidFill>
                            <a:srgbClr val="21242A"/>
                          </a:solidFill>
                          <a:latin typeface="Microsoft YaHei"/>
                        </a:rPr>
                        <a:t>两个周期化疗后分子缓解率</a:t>
                      </a:r>
                    </a:p>
                  </a:txBody>
                  <a:tcPr>
                    <a:solidFill>
                      <a:srgbClr val="F6F8FB"/>
                    </a:solidFill>
                  </a:tcPr>
                </a:tc>
                <a:tc>
                  <a:txBody>
                    <a:bodyPr wrap="square" lIns="36576" rIns="36576" tIns="18288" bIns="18288"/>
                    <a:lstStyle/>
                    <a:p>
                      <a:r>
                        <a:rPr sz="540" b="0">
                          <a:solidFill>
                            <a:srgbClr val="21242A"/>
                          </a:solidFill>
                          <a:latin typeface="Microsoft YaHei"/>
                        </a:rPr>
                        <a:t>67%</a:t>
                      </a:r>
                    </a:p>
                  </a:txBody>
                  <a:tcPr>
                    <a:solidFill>
                      <a:srgbClr val="F6F8FB"/>
                    </a:solidFill>
                  </a:tcPr>
                </a:tc>
              </a:tr>
              <a:tr h="187452">
                <a:tc>
                  <a:txBody>
                    <a:bodyPr wrap="square" lIns="36576" rIns="36576" tIns="18288" bIns="18288"/>
                    <a:lstStyle/>
                    <a:p>
                      <a:r>
                        <a:rPr sz="540" b="1">
                          <a:solidFill>
                            <a:srgbClr val="21242A"/>
                          </a:solidFill>
                          <a:latin typeface="Microsoft YaHei"/>
                        </a:rPr>
                        <a:t>两个周期后MRD阳性患者5年OS</a:t>
                      </a:r>
                    </a:p>
                  </a:txBody>
                  <a:tcPr>
                    <a:solidFill>
                      <a:srgbClr val="FFFFFF"/>
                    </a:solidFill>
                  </a:tcPr>
                </a:tc>
                <a:tc>
                  <a:txBody>
                    <a:bodyPr wrap="square" lIns="36576" rIns="36576" tIns="18288" bIns="18288"/>
                    <a:lstStyle/>
                    <a:p>
                      <a:r>
                        <a:rPr sz="540" b="0">
                          <a:solidFill>
                            <a:srgbClr val="21242A"/>
                          </a:solidFill>
                          <a:latin typeface="Microsoft YaHei"/>
                        </a:rPr>
                        <a:t>97% vs 75%</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四个周期后MRD阳性患者中52%转为阴性</a:t>
                      </a:r>
                    </a:p>
                  </a:txBody>
                  <a:tcPr>
                    <a:solidFill>
                      <a:srgbClr val="F6F8FB"/>
                    </a:solidFill>
                  </a:tcPr>
                </a:tc>
              </a:tr>
              <a:tr h="187452">
                <a:tc>
                  <a:txBody>
                    <a:bodyPr wrap="square" lIns="36576" rIns="36576" tIns="18288" bIns="18288"/>
                    <a:lstStyle/>
                    <a:p>
                      <a:r>
                        <a:rPr sz="540" b="1">
                          <a:solidFill>
                            <a:srgbClr val="21242A"/>
                          </a:solidFill>
                          <a:latin typeface="Microsoft YaHei"/>
                        </a:rPr>
                        <a:t>治疗结束时MRD阴性患者5年OS</a:t>
                      </a:r>
                    </a:p>
                  </a:txBody>
                  <a:tcPr>
                    <a:solidFill>
                      <a:srgbClr val="FFFFFF"/>
                    </a:solidFill>
                  </a:tcPr>
                </a:tc>
                <a:tc>
                  <a:txBody>
                    <a:bodyPr wrap="square" lIns="36576" rIns="36576" tIns="18288" bIns="18288"/>
                    <a:lstStyle/>
                    <a:p>
                      <a:r>
                        <a:rPr sz="540" b="0">
                          <a:solidFill>
                            <a:srgbClr val="21242A"/>
                          </a:solidFill>
                          <a:latin typeface="Microsoft YaHei"/>
                        </a:rPr>
                        <a:t>96% vs 30%</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随访中92%的患者在临床进展前ctDNA转为阳性（中位提前6个月）</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摘要号：S259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外周循环免疫细胞亚群在初发弥漫性大b细胞淋巴瘤治疗中的预后价值及其与临床特征的相关性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circulating immune cell subsets: prognostic value and correlation...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前瞻性临床研究结果：peripheral circulating immune cell subsets: prognosti...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高IPI风险患者：DNB I更高，CD4+/CD8+比值、辅助诱导T细胞、初始CD8+ T细胞、DNB II和过渡性B细胞更低...</a:t>
            </a:r>
          </a:p>
          <a:p>
            <a:pPr>
              <a:lnSpc>
                <a:spcPct val="103000"/>
              </a:lnSpc>
              <a:spcAft>
                <a:spcPts val="300"/>
              </a:spcAft>
              <a:defRPr sz="800">
                <a:solidFill>
                  <a:srgbClr val="21242A"/>
                </a:solidFill>
                <a:latin typeface="Microsoft YaHei"/>
              </a:defRPr>
            </a:pPr>
            <a:r>
              <a:t>化疗后感染患者：效应记忆CD4+/CD8+ T细胞增加，初始和中央记忆CD4+ T细胞减少，感染是独立不良预后因素</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研究主题：peripheral circulating immune cell subsets: prognostic value and correlation with clinical features in treatment-naive...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外周循环免疫细胞亚群在初发弥漫性大b细胞淋巴瘤治疗中的预后价值及其与临床特征的相关性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circulating immune cell subsets: prognostic value and correlation...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the most common aggressive non-Hodgkin lymphoma with marked clinical heterogeneity.</a:t>
            </a:r>
          </a:p>
          <a:p>
            <a:pPr>
              <a:lnSpc>
                <a:spcPct val="103000"/>
              </a:lnSpc>
              <a:spcAft>
                <a:spcPts val="300"/>
              </a:spcAft>
              <a:defRPr sz="570">
                <a:solidFill>
                  <a:srgbClr val="21242A"/>
                </a:solidFill>
                <a:latin typeface="Microsoft YaHei"/>
              </a:defRPr>
            </a:pPr>
            <a:r>
              <a:t>Despite R-CHOP-improved survival, 30%-40% of patients have primary resistance or early relapse.</a:t>
            </a:r>
          </a:p>
          <a:p>
            <a:pPr>
              <a:lnSpc>
                <a:spcPct val="103000"/>
              </a:lnSpc>
              <a:spcAft>
                <a:spcPts val="300"/>
              </a:spcAft>
              <a:defRPr sz="570">
                <a:solidFill>
                  <a:srgbClr val="21242A"/>
                </a:solidFill>
                <a:latin typeface="Microsoft YaHei"/>
              </a:defRPr>
            </a:pPr>
            <a:r>
              <a:t>TME imbalance drives progression; refined T/B subset correlations with DLBCL clinical features remain unclear, and IPI lacks immune parameters, making exploring</a:t>
            </a:r>
          </a:p>
          <a:p>
            <a:pPr>
              <a:lnSpc>
                <a:spcPct val="103000"/>
              </a:lnSpc>
              <a:spcAft>
                <a:spcPts val="300"/>
              </a:spcAft>
              <a:defRPr sz="570">
                <a:solidFill>
                  <a:srgbClr val="21242A"/>
                </a:solidFill>
                <a:latin typeface="Microsoft YaHei"/>
              </a:defRPr>
            </a:pPr>
            <a:r>
              <a:t> immune subsets and developing tools for screening immune-related prognostic markers critical.</a:t>
            </a:r>
          </a:p>
          <a:p>
            <a:pPr>
              <a:lnSpc>
                <a:spcPct val="103000"/>
              </a:lnSpc>
              <a:spcAft>
                <a:spcPts val="300"/>
              </a:spcAft>
              <a:defRPr sz="570">
                <a:solidFill>
                  <a:srgbClr val="21242A"/>
                </a:solidFill>
                <a:latin typeface="Microsoft YaHei"/>
              </a:defRPr>
            </a:pPr>
            <a:r>
              <a:t>Aims: This study aimed to characterize circulating T/B subsets in treatment-naive DLBCL, clarify their correlations with clinical features, and establish a \"cl</a:t>
            </a:r>
          </a:p>
          <a:p>
            <a:pPr>
              <a:lnSpc>
                <a:spcPct val="103000"/>
              </a:lnSpc>
              <a:spcAft>
                <a:spcPts val="300"/>
              </a:spcAft>
              <a:defRPr sz="570">
                <a:solidFill>
                  <a:srgbClr val="21242A"/>
                </a:solidFill>
                <a:latin typeface="Microsoft YaHei"/>
              </a:defRPr>
            </a:pPr>
            <a:r>
              <a:t>inical-immune\" prognostic model.</a:t>
            </a:r>
          </a:p>
          <a:p>
            <a:pPr>
              <a:lnSpc>
                <a:spcPct val="103000"/>
              </a:lnSpc>
              <a:spcAft>
                <a:spcPts val="300"/>
              </a:spcAft>
              <a:defRPr sz="570">
                <a:solidFill>
                  <a:srgbClr val="21242A"/>
                </a:solidFill>
                <a:latin typeface="Microsoft YaHei"/>
              </a:defRPr>
            </a:pPr>
            <a:r>
              <a:t>Methods: One hundred and eleven treatment-naive DLBCL patients were enrolled and stratified by IPI risk, post-chemotherapy infection, and treatment response (CR</a:t>
            </a:r>
          </a:p>
          <a:p>
            <a:pPr>
              <a:lnSpc>
                <a:spcPct val="103000"/>
              </a:lnSpc>
              <a:spcAft>
                <a:spcPts val="300"/>
              </a:spcAft>
              <a:defRPr sz="570">
                <a:solidFill>
                  <a:srgbClr val="21242A"/>
                </a:solidFill>
                <a:latin typeface="Microsoft YaHei"/>
              </a:defRPr>
            </a:pPr>
            <a:r>
              <a:t>/PD).</a:t>
            </a:r>
          </a:p>
          <a:p>
            <a:pPr>
              <a:lnSpc>
                <a:spcPct val="103000"/>
              </a:lnSpc>
              <a:spcAft>
                <a:spcPts val="300"/>
              </a:spcAft>
              <a:defRPr sz="570">
                <a:solidFill>
                  <a:srgbClr val="21242A"/>
                </a:solidFill>
                <a:latin typeface="Microsoft YaHei"/>
              </a:defRPr>
            </a:pPr>
            <a:r>
              <a:t>Over 30 T/B lymphocyte subsets in peripheral blood were detected by multicolor flow cytometry.</a:t>
            </a:r>
          </a:p>
          <a:p>
            <a:pPr>
              <a:lnSpc>
                <a:spcPct val="103000"/>
              </a:lnSpc>
              <a:spcAft>
                <a:spcPts val="300"/>
              </a:spcAft>
              <a:defRPr sz="570">
                <a:solidFill>
                  <a:srgbClr val="21242A"/>
                </a:solidFill>
                <a:latin typeface="Microsoft YaHei"/>
              </a:defRPr>
            </a:pPr>
            <a:r>
              <a:t>Group comparisons, univariate Logistic and multivariate COX analyses were performed to screen prognostic immune indicators.</a:t>
            </a:r>
          </a:p>
          <a:p>
            <a:pPr>
              <a:lnSpc>
                <a:spcPct val="103000"/>
              </a:lnSpc>
              <a:spcAft>
                <a:spcPts val="300"/>
              </a:spcAft>
              <a:defRPr sz="570">
                <a:solidFill>
                  <a:srgbClr val="21242A"/>
                </a:solidFill>
                <a:latin typeface="Microsoft YaHei"/>
              </a:defRPr>
            </a:pPr>
            <a:r>
              <a:t>A prognostic nomogram integrating core immune markers and IPI score was established and validated by ROC, calibration curves and K-M analysis. P</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study examined the relationship between immune subsets and clinical outcomes in diffuse large B-cell lymphoma.</a:t>
            </a:r>
          </a:p>
          <a:p>
            <a:pPr>
              <a:lnSpc>
                <a:spcPct val="103000"/>
              </a:lnSpc>
              <a:spcAft>
                <a:spcPts val="300"/>
              </a:spcAft>
              <a:defRPr sz="590">
                <a:solidFill>
                  <a:srgbClr val="21242A"/>
                </a:solidFill>
                <a:latin typeface="Microsoft YaHei"/>
              </a:defRPr>
            </a:pPr>
            <a:r>
              <a:t>High IPI risk was associated with higher DNB I but lower CD4+/CD8+ ratio, helper-inducer T cells, naive CD8+ T cells, DNB II and transitional B cells, accompani</a:t>
            </a:r>
          </a:p>
          <a:p>
            <a:pPr>
              <a:lnSpc>
                <a:spcPct val="103000"/>
              </a:lnSpc>
              <a:spcAft>
                <a:spcPts val="300"/>
              </a:spcAft>
              <a:defRPr sz="590">
                <a:solidFill>
                  <a:srgbClr val="21242A"/>
                </a:solidFill>
                <a:latin typeface="Microsoft YaHei"/>
              </a:defRPr>
            </a:pPr>
            <a:r>
              <a:t>ed by a higher relapse rate.</a:t>
            </a:r>
          </a:p>
          <a:p>
            <a:pPr>
              <a:lnSpc>
                <a:spcPct val="103000"/>
              </a:lnSpc>
              <a:spcAft>
                <a:spcPts val="300"/>
              </a:spcAft>
              <a:defRPr sz="590">
                <a:solidFill>
                  <a:srgbClr val="21242A"/>
                </a:solidFill>
                <a:latin typeface="Microsoft YaHei"/>
              </a:defRPr>
            </a:pPr>
            <a:r>
              <a:t>These immune markers were negatively correlated with high IPI risk.</a:t>
            </a:r>
          </a:p>
          <a:p>
            <a:pPr>
              <a:lnSpc>
                <a:spcPct val="103000"/>
              </a:lnSpc>
              <a:spcAft>
                <a:spcPts val="300"/>
              </a:spcAft>
              <a:defRPr sz="590">
                <a:solidFill>
                  <a:srgbClr val="21242A"/>
                </a:solidFill>
                <a:latin typeface="Microsoft YaHei"/>
              </a:defRPr>
            </a:pPr>
            <a:r>
              <a:t>Patients with post-chemotherapy infection showed increased effector memory CD4+/CD8+ T cells and decreased naive and central memory CD4+ T cells; infection was </a:t>
            </a:r>
          </a:p>
          <a:p>
            <a:pPr>
              <a:lnSpc>
                <a:spcPct val="103000"/>
              </a:lnSpc>
              <a:spcAft>
                <a:spcPts val="300"/>
              </a:spcAft>
              <a:defRPr sz="590">
                <a:solidFill>
                  <a:srgbClr val="21242A"/>
                </a:solidFill>
                <a:latin typeface="Microsoft YaHei"/>
              </a:defRPr>
            </a:pPr>
            <a:r>
              <a:t>an independent poor prognostic factor.</a:t>
            </a:r>
          </a:p>
          <a:p>
            <a:pPr>
              <a:lnSpc>
                <a:spcPct val="103000"/>
              </a:lnSpc>
              <a:spcAft>
                <a:spcPts val="300"/>
              </a:spcAft>
              <a:defRPr sz="590">
                <a:solidFill>
                  <a:srgbClr val="21242A"/>
                </a:solidFill>
                <a:latin typeface="Microsoft YaHei"/>
              </a:defRPr>
            </a:pPr>
            <a:r>
              <a:t>CR patients had higher naive CD8+ and cytotoxic T cells, while PD patients had higher DNB and Tph levels.</a:t>
            </a:r>
          </a:p>
          <a:p>
            <a:pPr>
              <a:lnSpc>
                <a:spcPct val="103000"/>
              </a:lnSpc>
              <a:spcAft>
                <a:spcPts val="300"/>
              </a:spcAft>
              <a:defRPr sz="590">
                <a:solidFill>
                  <a:srgbClr val="21242A"/>
                </a:solidFill>
                <a:latin typeface="Microsoft YaHei"/>
              </a:defRPr>
            </a:pPr>
            <a:r>
              <a:t>We established a prognostic nomogram combining five immune indicators and IPI score, which showed satisfactory predictive efficacy with good calibration, well-s</a:t>
            </a:r>
          </a:p>
          <a:p>
            <a:pPr>
              <a:lnSpc>
                <a:spcPct val="103000"/>
              </a:lnSpc>
              <a:spcAft>
                <a:spcPts val="300"/>
              </a:spcAft>
              <a:defRPr sz="590">
                <a:solidFill>
                  <a:srgbClr val="21242A"/>
                </a:solidFill>
                <a:latin typeface="Microsoft YaHei"/>
              </a:defRPr>
            </a:pPr>
            <a:r>
              <a:t>tratified PFS and a C-index of 0.805.</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高IPI风险患者</a:t>
                      </a:r>
                    </a:p>
                  </a:txBody>
                  <a:tcPr>
                    <a:solidFill>
                      <a:srgbClr val="F6F8FB"/>
                    </a:solidFill>
                  </a:tcPr>
                </a:tc>
                <a:tc>
                  <a:txBody>
                    <a:bodyPr wrap="square" lIns="36576" rIns="36576" tIns="18288" bIns="18288"/>
                    <a:lstStyle/>
                    <a:p>
                      <a:r>
                        <a:rPr sz="540" b="0">
                          <a:solidFill>
                            <a:srgbClr val="21242A"/>
                          </a:solidFill>
                          <a:latin typeface="Microsoft YaHei"/>
                        </a:rPr>
                        <a:t>DNB I更高，CD4+/CD8+比值、辅助诱导T细胞、初始CD8+ T细胞、DNB II和过渡性B细胞更低，复发率更高</a:t>
                      </a:r>
                    </a:p>
                  </a:txBody>
                  <a:tcPr>
                    <a:solidFill>
                      <a:srgbClr val="F6F8FB"/>
                    </a:solidFill>
                  </a:tcPr>
                </a:tc>
              </a:tr>
              <a:tr h="249936">
                <a:tc>
                  <a:txBody>
                    <a:bodyPr wrap="square" lIns="36576" rIns="36576" tIns="18288" bIns="18288"/>
                    <a:lstStyle/>
                    <a:p>
                      <a:r>
                        <a:rPr sz="540" b="1">
                          <a:solidFill>
                            <a:srgbClr val="21242A"/>
                          </a:solidFill>
                          <a:latin typeface="Microsoft YaHei"/>
                        </a:rPr>
                        <a:t>化疗后感染患者</a:t>
                      </a:r>
                    </a:p>
                  </a:txBody>
                  <a:tcPr>
                    <a:solidFill>
                      <a:srgbClr val="FFFFFF"/>
                    </a:solidFill>
                  </a:tcPr>
                </a:tc>
                <a:tc>
                  <a:txBody>
                    <a:bodyPr wrap="square" lIns="36576" rIns="36576" tIns="18288" bIns="18288"/>
                    <a:lstStyle/>
                    <a:p>
                      <a:r>
                        <a:rPr sz="540" b="0">
                          <a:solidFill>
                            <a:srgbClr val="21242A"/>
                          </a:solidFill>
                          <a:latin typeface="Microsoft YaHei"/>
                        </a:rPr>
                        <a:t>效应记忆CD4+/CD8+ T细胞增加，初始和中央记忆CD4+ T细胞减少，感染是独立不良预后因素</a:t>
                      </a:r>
                    </a:p>
                  </a:txBody>
                  <a:tcPr>
                    <a:solidFill>
                      <a:srgbClr val="FFFFFF"/>
                    </a:solidFill>
                  </a:tcPr>
                </a:tc>
              </a:tr>
              <a:tr h="249936">
                <a:tc>
                  <a:txBody>
                    <a:bodyPr wrap="square" lIns="36576" rIns="36576" tIns="18288" bIns="18288"/>
                    <a:lstStyle/>
                    <a:p>
                      <a:r>
                        <a:rPr sz="540" b="1">
                          <a:solidFill>
                            <a:srgbClr val="21242A"/>
                          </a:solidFill>
                          <a:latin typeface="Microsoft YaHei"/>
                        </a:rPr>
                        <a:t>CR患者</a:t>
                      </a:r>
                    </a:p>
                  </a:txBody>
                  <a:tcPr>
                    <a:solidFill>
                      <a:srgbClr val="F6F8FB"/>
                    </a:solidFill>
                  </a:tcPr>
                </a:tc>
                <a:tc>
                  <a:txBody>
                    <a:bodyPr wrap="square" lIns="36576" rIns="36576" tIns="18288" bIns="18288"/>
                    <a:lstStyle/>
                    <a:p>
                      <a:r>
                        <a:rPr sz="540" b="0">
                          <a:solidFill>
                            <a:srgbClr val="21242A"/>
                          </a:solidFill>
                          <a:latin typeface="Microsoft YaHei"/>
                        </a:rPr>
                        <a:t>初始CD8+ T细胞和细胞毒性T细胞更高</a:t>
                      </a:r>
                    </a:p>
                  </a:txBody>
                  <a:tcPr>
                    <a:solidFill>
                      <a:srgbClr val="F6F8FB"/>
                    </a:solidFill>
                  </a:tcPr>
                </a:tc>
              </a:tr>
              <a:tr h="249936">
                <a:tc>
                  <a:txBody>
                    <a:bodyPr wrap="square" lIns="36576" rIns="36576" tIns="18288" bIns="18288"/>
                    <a:lstStyle/>
                    <a:p>
                      <a:r>
                        <a:rPr sz="540" b="1">
                          <a:solidFill>
                            <a:srgbClr val="21242A"/>
                          </a:solidFill>
                          <a:latin typeface="Microsoft YaHei"/>
                        </a:rPr>
                        <a:t>PD患者</a:t>
                      </a:r>
                    </a:p>
                  </a:txBody>
                  <a:tcPr>
                    <a:solidFill>
                      <a:srgbClr val="FFFFFF"/>
                    </a:solidFill>
                  </a:tcPr>
                </a:tc>
                <a:tc>
                  <a:txBody>
                    <a:bodyPr wrap="square" lIns="36576" rIns="36576" tIns="18288" bIns="18288"/>
                    <a:lstStyle/>
                    <a:p>
                      <a:r>
                        <a:rPr sz="540" b="0">
                          <a:solidFill>
                            <a:srgbClr val="21242A"/>
                          </a:solidFill>
                          <a:latin typeface="Microsoft YaHei"/>
                        </a:rPr>
                        <a:t>DNB和Tph水平更高</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建立了包含五个免疫指标和IPI评分的预后列线图，C-index为0.805</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摘要号：PS2207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弥漫性大b细胞淋巴瘤中cd20阳性细胞外囊泡充当抗原诱饵并降低利妥昔单抗活性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cd20-positive extracellular vesicles act as antigen decoys and reduce rituxim...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试验药/方案：利妥昔单抗</a:t>
            </a:r>
          </a:p>
          <a:p>
            <a:pPr>
              <a:lnSpc>
                <a:spcPct val="103000"/>
              </a:lnSpc>
              <a:spcAft>
                <a:spcPts val="300"/>
              </a:spcAft>
              <a:defRPr sz="800">
                <a:solidFill>
                  <a:srgbClr val="21242A"/>
                </a:solidFill>
                <a:latin typeface="Microsoft YaHei"/>
              </a:defRPr>
            </a:pPr>
            <a:r>
              <a:t>靶点：CD20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在训练队列（n=26）中，高CD20阳性大EV组患者疾病特异性生存（DSS）和总生存（OS）显著更差</a:t>
            </a:r>
          </a:p>
          <a:p>
            <a:pPr>
              <a:lnSpc>
                <a:spcPct val="103000"/>
              </a:lnSpc>
              <a:spcAft>
                <a:spcPts val="300"/>
              </a:spcAft>
              <a:defRPr sz="800">
                <a:solidFill>
                  <a:srgbClr val="21242A"/>
                </a:solidFill>
                <a:latin typeface="Microsoft YaHei"/>
              </a:defRPr>
            </a:pPr>
            <a:r>
              <a:t>在验证队列（n=90）中，高CD20阳性大EV水平与更多疾病进展、更差的DSS和OS显著相关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试验药/方案：利妥昔单抗</a:t>
            </a:r>
          </a:p>
          <a:p>
            <a:pPr>
              <a:lnSpc>
                <a:spcPct val="103000"/>
              </a:lnSpc>
              <a:spcAft>
                <a:spcPts val="300"/>
              </a:spcAft>
              <a:defRPr sz="810">
                <a:solidFill>
                  <a:srgbClr val="21242A"/>
                </a:solidFill>
                <a:latin typeface="Microsoft YaHei"/>
              </a:defRPr>
            </a:pPr>
            <a:r>
              <a:t>靶点：CD20</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弥漫性大b细胞淋巴瘤中cd20阳性细胞外囊泡充当抗原诱饵并降低利妥昔单抗活性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cd20-positive extracellular vesicles act as antigen decoys and reduce rituxim...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Loss or downregulation of CD20 has been considered a major mechanism of resistance to rituximab, an anti-CD20 monoclonal antibody in diffuse large B</a:t>
            </a:r>
          </a:p>
          <a:p>
            <a:pPr>
              <a:lnSpc>
                <a:spcPct val="103000"/>
              </a:lnSpc>
              <a:spcAft>
                <a:spcPts val="300"/>
              </a:spcAft>
              <a:defRPr sz="570">
                <a:solidFill>
                  <a:srgbClr val="21242A"/>
                </a:solidFill>
                <a:latin typeface="Microsoft YaHei"/>
              </a:defRPr>
            </a:pPr>
            <a:r>
              <a:t>-cell lymphoma (DLBCL).</a:t>
            </a:r>
          </a:p>
          <a:p>
            <a:pPr>
              <a:lnSpc>
                <a:spcPct val="103000"/>
              </a:lnSpc>
              <a:spcAft>
                <a:spcPts val="300"/>
              </a:spcAft>
              <a:defRPr sz="570">
                <a:solidFill>
                  <a:srgbClr val="21242A"/>
                </a:solidFill>
                <a:latin typeface="Microsoft YaHei"/>
              </a:defRPr>
            </a:pPr>
            <a:r>
              <a:t>However, tumor-derived extracellular vesicles (EVs) may also contribute to antibody resistance.</a:t>
            </a:r>
          </a:p>
          <a:p>
            <a:pPr>
              <a:lnSpc>
                <a:spcPct val="103000"/>
              </a:lnSpc>
              <a:spcAft>
                <a:spcPts val="300"/>
              </a:spcAft>
              <a:defRPr sz="570">
                <a:solidFill>
                  <a:srgbClr val="21242A"/>
                </a:solidFill>
                <a:latin typeface="Microsoft YaHei"/>
              </a:defRPr>
            </a:pPr>
            <a:r>
              <a:t>EVs are operationally categorized by size into small EVs ( 200 nm).</a:t>
            </a:r>
          </a:p>
          <a:p>
            <a:pPr>
              <a:lnSpc>
                <a:spcPct val="103000"/>
              </a:lnSpc>
              <a:spcAft>
                <a:spcPts val="300"/>
              </a:spcAft>
              <a:defRPr sz="570">
                <a:solidFill>
                  <a:srgbClr val="21242A"/>
                </a:solidFill>
                <a:latin typeface="Microsoft YaHei"/>
              </a:defRPr>
            </a:pPr>
            <a:r>
              <a:t>Because large EVs are shed directly from the plasma membrane, tumor-derived large EVs circulating in the bloodstream may reflect tumor burden and contribute to </a:t>
            </a:r>
          </a:p>
          <a:p>
            <a:pPr>
              <a:lnSpc>
                <a:spcPct val="103000"/>
              </a:lnSpc>
              <a:spcAft>
                <a:spcPts val="300"/>
              </a:spcAft>
              <a:defRPr sz="570">
                <a:solidFill>
                  <a:srgbClr val="21242A"/>
                </a:solidFill>
                <a:latin typeface="Microsoft YaHei"/>
              </a:defRPr>
            </a:pPr>
            <a:r>
              <a:t>treatment resistance.</a:t>
            </a:r>
          </a:p>
          <a:p>
            <a:pPr>
              <a:lnSpc>
                <a:spcPct val="103000"/>
              </a:lnSpc>
              <a:spcAft>
                <a:spcPts val="300"/>
              </a:spcAft>
              <a:defRPr sz="570">
                <a:solidFill>
                  <a:srgbClr val="21242A"/>
                </a:solidFill>
                <a:latin typeface="Microsoft YaHei"/>
              </a:defRPr>
            </a:pPr>
            <a:r>
              <a:t>Given that CD20 is abundantly expressed on DLBCL cells, tumor-derived CD20-positive large EVs may act as antigen sinks for rituximab and thereby reduce effectiv</a:t>
            </a:r>
          </a:p>
          <a:p>
            <a:pPr>
              <a:lnSpc>
                <a:spcPct val="103000"/>
              </a:lnSpc>
              <a:spcAft>
                <a:spcPts val="300"/>
              </a:spcAft>
              <a:defRPr sz="570">
                <a:solidFill>
                  <a:srgbClr val="21242A"/>
                </a:solidFill>
                <a:latin typeface="Microsoft YaHei"/>
              </a:defRPr>
            </a:pPr>
            <a:r>
              <a:t>e antibody exposure to malignant B cells.</a:t>
            </a:r>
          </a:p>
          <a:p>
            <a:pPr>
              <a:lnSpc>
                <a:spcPct val="103000"/>
              </a:lnSpc>
              <a:spcAft>
                <a:spcPts val="300"/>
              </a:spcAft>
              <a:defRPr sz="570">
                <a:solidFill>
                  <a:srgbClr val="21242A"/>
                </a:solidFill>
                <a:latin typeface="Microsoft YaHei"/>
              </a:defRPr>
            </a:pPr>
            <a:r>
              <a:t>We therefore hypothesized that circulating CD20-positive large EVs attenuate rituximab activity and predict treatment outcomes.</a:t>
            </a:r>
          </a:p>
          <a:p>
            <a:pPr>
              <a:lnSpc>
                <a:spcPct val="103000"/>
              </a:lnSpc>
              <a:spcAft>
                <a:spcPts val="300"/>
              </a:spcAft>
              <a:defRPr sz="570">
                <a:solidFill>
                  <a:srgbClr val="21242A"/>
                </a:solidFill>
                <a:latin typeface="Microsoft YaHei"/>
              </a:defRPr>
            </a:pPr>
            <a:r>
              <a:t>Accordingly, we investigated the association between circulating CD20-positive large EVs and clinical outcomes in newly diagnosed DLBCL patients treated with R-</a:t>
            </a:r>
          </a:p>
          <a:p>
            <a:pPr>
              <a:lnSpc>
                <a:spcPct val="103000"/>
              </a:lnSpc>
              <a:spcAft>
                <a:spcPts val="300"/>
              </a:spcAft>
              <a:defRPr sz="570">
                <a:solidFill>
                  <a:srgbClr val="21242A"/>
                </a:solidFill>
                <a:latin typeface="Microsoft YaHei"/>
              </a:defRPr>
            </a:pPr>
            <a:r>
              <a:t>CHOP.</a:t>
            </a:r>
          </a:p>
          <a:p>
            <a:pPr>
              <a:lnSpc>
                <a:spcPct val="103000"/>
              </a:lnSpc>
              <a:spcAft>
                <a:spcPts val="300"/>
              </a:spcAft>
              <a:defRPr sz="570">
                <a:solidFill>
                  <a:srgbClr val="21242A"/>
                </a:solidFill>
                <a:latin typeface="Microsoft YaHei"/>
              </a:defRPr>
            </a:pPr>
            <a:r>
              <a:t>Aims: The aim of this study was to evaluate the prognostic impact of circulating CD20-positive large EVs in newly diagnosed DLBCL patients treated with standard</a:t>
            </a:r>
          </a:p>
          <a:p>
            <a:pPr>
              <a:lnSpc>
                <a:spcPct val="103000"/>
              </a:lnSpc>
              <a:spcAft>
                <a:spcPts val="300"/>
              </a:spcAft>
              <a:defRPr sz="570">
                <a:solidFill>
                  <a:srgbClr val="21242A"/>
                </a:solidFill>
                <a:latin typeface="Microsoft YaHei"/>
              </a:defRPr>
            </a:pPr>
            <a:r>
              <a:t> R-CHOP therapy in routine clinical practice.</a:t>
            </a:r>
          </a:p>
          <a:p>
            <a:pPr>
              <a:lnSpc>
                <a:spcPct val="103000"/>
              </a:lnSpc>
              <a:spcAft>
                <a:spcPts val="300"/>
              </a:spcAft>
              <a:defRPr sz="570">
                <a:solidFill>
                  <a:srgbClr val="21242A"/>
                </a:solidFill>
                <a:latin typeface="Microsoft YaHei"/>
              </a:defRPr>
            </a:pPr>
            <a:r>
              <a:t>Methods: CD20-positive large and small EVs were isolated from archived serum samples of patients with DLBCL and from supernatants of cultured primary tumor cell</a:t>
            </a:r>
          </a:p>
          <a:p>
            <a:pPr>
              <a:lnSpc>
                <a:spcPct val="103000"/>
              </a:lnSpc>
              <a:spcAft>
                <a:spcPts val="300"/>
              </a:spcAft>
              <a:defRPr sz="570">
                <a:solidFill>
                  <a:srgbClr val="21242A"/>
                </a:solidFill>
                <a:latin typeface="Microsoft YaHei"/>
              </a:defRPr>
            </a:pPr>
            <a:r>
              <a:t>s.</a:t>
            </a:r>
          </a:p>
          <a:p>
            <a:pPr>
              <a:lnSpc>
                <a:spcPct val="103000"/>
              </a:lnSpc>
              <a:spcAft>
                <a:spcPts val="300"/>
              </a:spcAft>
              <a:defRPr sz="570">
                <a:solidFill>
                  <a:srgbClr val="21242A"/>
                </a:solidFill>
                <a:latin typeface="Microsoft YaHei"/>
              </a:defRPr>
            </a:pPr>
            <a:r>
              <a:t>The training cohort consisted of 26 patients selected from our second prospective cohort study (2012–2017).</a:t>
            </a:r>
          </a:p>
          <a:p>
            <a:pPr>
              <a:lnSpc>
                <a:spcPct val="103000"/>
              </a:lnSpc>
              <a:spcAft>
                <a:spcPts val="300"/>
              </a:spcAft>
              <a:defRPr sz="570">
                <a:solidFill>
                  <a:srgbClr val="21242A"/>
                </a:solidFill>
                <a:latin typeface="Microsoft YaHei"/>
              </a:defRPr>
            </a:pPr>
            <a:r>
              <a:t>Patients were dichotomized into high and low groups according to the median levels of CD20-positive large EVs and small EVs.</a:t>
            </a:r>
          </a:p>
          <a:p>
            <a:pPr>
              <a:lnSpc>
                <a:spcPct val="103000"/>
              </a:lnSpc>
              <a:spcAft>
                <a:spcPts val="300"/>
              </a:spcAft>
              <a:defRPr sz="570">
                <a:solidFill>
                  <a:srgbClr val="21242A"/>
                </a:solidFill>
                <a:latin typeface="Microsoft YaHei"/>
              </a:defRPr>
            </a:pPr>
            <a:r>
              <a:t>The prognostic value of circulating EVs was evaluated in an independent validation cohort with long-term clinical follow-up from our first prospective cohort st</a:t>
            </a:r>
          </a:p>
          <a:p>
            <a:pPr>
              <a:lnSpc>
                <a:spcPct val="103000"/>
              </a:lnSpc>
              <a:spcAft>
                <a:spcPts val="300"/>
              </a:spcAft>
              <a:defRPr sz="570">
                <a:solidFill>
                  <a:srgbClr val="21242A"/>
                </a:solidFill>
                <a:latin typeface="Microsoft YaHei"/>
              </a:defRPr>
            </a:pPr>
            <a:r>
              <a:t>udy (n = 90, 2008–2011).</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CD20-positive large EVs act as decoys that neutralize rituximab and suppress immune cytotoxicity, promoting resistance and immune evasion in DLBCL.</a:t>
            </a:r>
          </a:p>
          <a:p>
            <a:pPr>
              <a:lnSpc>
                <a:spcPct val="103000"/>
              </a:lnSpc>
              <a:spcAft>
                <a:spcPts val="300"/>
              </a:spcAft>
              <a:defRPr sz="590">
                <a:solidFill>
                  <a:srgbClr val="21242A"/>
                </a:solidFill>
                <a:latin typeface="Microsoft YaHei"/>
              </a:defRPr>
            </a:pPr>
            <a:r>
              <a:t>Their serum levels may serve as a novel biomarker for predicting treatment response and prognosis.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在训练队列（n=26）中，高CD20阳性大EV组患者疾病特异性生存（DSS）和总生存（OS）显著更差；在验证队列（n=90）中，高CD20阳性大EV水平与更多疾病进展、更差的DSS和OS显著相关；多因素调整后CD20阳性大EV仍是独立预后因素。功能实验显示患者来源的CD20阳性大EV增强肿瘤细胞增殖、减弱利妥</a:t>
            </a:r>
          </a:p>
          <a:p>
            <a:pPr>
              <a:lnSpc>
                <a:spcPct val="103000"/>
              </a:lnSpc>
              <a:spcAft>
                <a:spcPts val="300"/>
              </a:spcAft>
              <a:defRPr sz="580">
                <a:solidFill>
                  <a:srgbClr val="21242A"/>
                </a:solidFill>
                <a:latin typeface="Microsoft YaHei"/>
              </a:defRPr>
            </a:pPr>
            <a:r>
              <a:t>昔单抗介导的生长抑制和细胞毒性。</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摘要号：PS2190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连续扩散，而非血行扩散：原发性经鼻dlbcl-94例患者中枢神经系统风险和治疗强度的再思考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contiguous spread, not hematogenous dissemination: rethinking cns risk and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分组：试验组1：R-CHOP方案</a:t>
            </a:r>
          </a:p>
          <a:p>
            <a:pPr>
              <a:lnSpc>
                <a:spcPct val="103000"/>
              </a:lnSpc>
              <a:spcAft>
                <a:spcPts val="300"/>
              </a:spcAft>
              <a:defRPr sz="800">
                <a:solidFill>
                  <a:srgbClr val="21242A"/>
                </a:solidFill>
                <a:latin typeface="Microsoft YaHei"/>
              </a:defRPr>
            </a:pPr>
            <a:r>
              <a:t>试验组2：da-R-EPOCH方案</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多组/多方案比较：试验组1：R-CHOP方案</a:t>
            </a:r>
          </a:p>
          <a:p>
            <a:pPr>
              <a:lnSpc>
                <a:spcPct val="103000"/>
              </a:lnSpc>
              <a:spcAft>
                <a:spcPts val="300"/>
              </a:spcAft>
              <a:defRPr sz="800">
                <a:solidFill>
                  <a:srgbClr val="21242A"/>
                </a:solidFill>
                <a:latin typeface="Microsoft YaHei"/>
              </a:defRPr>
            </a:pPr>
            <a:r>
              <a:t>试验组2：da-R-EPOCH方案</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5年无进展生存率（PFS）: 67.0%</a:t>
            </a:r>
          </a:p>
          <a:p>
            <a:pPr>
              <a:lnSpc>
                <a:spcPct val="103000"/>
              </a:lnSpc>
              <a:spcAft>
                <a:spcPts val="300"/>
              </a:spcAft>
              <a:defRPr sz="800">
                <a:solidFill>
                  <a:srgbClr val="21242A"/>
                </a:solidFill>
                <a:latin typeface="Microsoft YaHei"/>
              </a:defRPr>
            </a:pPr>
            <a:r>
              <a:t>5年总生存率（OS）: 73.1%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分组/治疗流程：试验组1：R-CHOP方案、试验组2：da-R-EPOCH方案、试验组3：Pola-R-CHP方案</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连续扩散，而非血行扩散：原发性经鼻dlbcl-94例患者中枢神经系统风险和治疗强度的再思考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contiguous spread, not hematogenous dissemination: rethinking cns risk and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sinonasal diffuse large B-cell lymphoma (PSN-DLBCL) is an exceptionally rare extranodal lymphoma (incidence ~1 per million) with undefined o</a:t>
            </a:r>
          </a:p>
          <a:p>
            <a:pPr>
              <a:lnSpc>
                <a:spcPct val="103000"/>
              </a:lnSpc>
              <a:spcAft>
                <a:spcPts val="300"/>
              </a:spcAft>
              <a:defRPr sz="570">
                <a:solidFill>
                  <a:srgbClr val="21242A"/>
                </a:solidFill>
                <a:latin typeface="Microsoft YaHei"/>
              </a:defRPr>
            </a:pPr>
            <a:r>
              <a:t>ptimal management.</a:t>
            </a:r>
          </a:p>
          <a:p>
            <a:pPr>
              <a:lnSpc>
                <a:spcPct val="103000"/>
              </a:lnSpc>
              <a:spcAft>
                <a:spcPts val="300"/>
              </a:spcAft>
              <a:defRPr sz="570">
                <a:solidFill>
                  <a:srgbClr val="21242A"/>
                </a:solidFill>
                <a:latin typeface="Microsoft YaHei"/>
              </a:defRPr>
            </a:pPr>
            <a:r>
              <a:t>Critical uncertainties persist regarding treatment intensity and central nervous system (CNS) prophylaxis necessity.</a:t>
            </a:r>
          </a:p>
          <a:p>
            <a:pPr>
              <a:lnSpc>
                <a:spcPct val="103000"/>
              </a:lnSpc>
              <a:spcAft>
                <a:spcPts val="300"/>
              </a:spcAft>
              <a:defRPr sz="570">
                <a:solidFill>
                  <a:srgbClr val="21242A"/>
                </a:solidFill>
                <a:latin typeface="Microsoft YaHei"/>
              </a:defRPr>
            </a:pPr>
            <a:r>
              <a:t>Notably, CNS involvement at diagnosis appears more frequent than in nodal DLBCL, yet the mechanism—hematogenous versus direct extension—and appropriate prophyla</a:t>
            </a:r>
          </a:p>
          <a:p>
            <a:pPr>
              <a:lnSpc>
                <a:spcPct val="103000"/>
              </a:lnSpc>
              <a:spcAft>
                <a:spcPts val="300"/>
              </a:spcAft>
              <a:defRPr sz="570">
                <a:solidFill>
                  <a:srgbClr val="21242A"/>
                </a:solidFill>
                <a:latin typeface="Microsoft YaHei"/>
              </a:defRPr>
            </a:pPr>
            <a:r>
              <a:t>ctic strategy remain uncharacterized.</a:t>
            </a:r>
          </a:p>
          <a:p>
            <a:pPr>
              <a:lnSpc>
                <a:spcPct val="103000"/>
              </a:lnSpc>
              <a:spcAft>
                <a:spcPts val="300"/>
              </a:spcAft>
              <a:defRPr sz="570">
                <a:solidFill>
                  <a:srgbClr val="21242A"/>
                </a:solidFill>
                <a:latin typeface="Microsoft YaHei"/>
              </a:defRPr>
            </a:pPr>
            <a:r>
              <a:t>Aims: We conducted this large single-center retrospective study to delineate clinical features, CNS risk patterns, and real-world treatment outcomes.</a:t>
            </a:r>
          </a:p>
          <a:p>
            <a:pPr>
              <a:lnSpc>
                <a:spcPct val="103000"/>
              </a:lnSpc>
              <a:spcAft>
                <a:spcPts val="300"/>
              </a:spcAft>
              <a:defRPr sz="570">
                <a:solidFill>
                  <a:srgbClr val="21242A"/>
                </a:solidFill>
                <a:latin typeface="Microsoft YaHei"/>
              </a:defRPr>
            </a:pPr>
            <a:r>
              <a:t>Methods: We enrolled 94 treatment-naïve PSN-DLBCL patients diagnosed at Beijing Tongren Hospital (2009–2024).</a:t>
            </a:r>
          </a:p>
          <a:p>
            <a:pPr>
              <a:lnSpc>
                <a:spcPct val="103000"/>
              </a:lnSpc>
              <a:spcAft>
                <a:spcPts val="300"/>
              </a:spcAft>
              <a:defRPr sz="570">
                <a:solidFill>
                  <a:srgbClr val="21242A"/>
                </a:solidFill>
                <a:latin typeface="Microsoft YaHei"/>
              </a:defRPr>
            </a:pPr>
            <a:r>
              <a:t>CNS involvement required positive CSF flow cytometry or parenchymal brain lesions.</a:t>
            </a:r>
          </a:p>
          <a:p>
            <a:pPr>
              <a:lnSpc>
                <a:spcPct val="103000"/>
              </a:lnSpc>
              <a:spcAft>
                <a:spcPts val="300"/>
              </a:spcAft>
              <a:defRPr sz="570">
                <a:solidFill>
                  <a:srgbClr val="21242A"/>
                </a:solidFill>
                <a:latin typeface="Microsoft YaHei"/>
              </a:defRPr>
            </a:pPr>
            <a:r>
              <a:t>Extensive local invasion (ELI) was defined as tumor extension beyond sinonasal bony confines into ≥2 adjacent structures.</a:t>
            </a:r>
          </a:p>
          <a:p>
            <a:pPr>
              <a:lnSpc>
                <a:spcPct val="103000"/>
              </a:lnSpc>
              <a:spcAft>
                <a:spcPts val="300"/>
              </a:spcAft>
              <a:defRPr sz="570">
                <a:solidFill>
                  <a:srgbClr val="21242A"/>
                </a:solidFill>
                <a:latin typeface="Microsoft YaHei"/>
              </a:defRPr>
            </a:pPr>
            <a:r>
              <a:t>Treatment regimens included R-CHOP (60.6%), da-R-EPOCH (25.5%), and Pola-R-CHP (6.4%).</a:t>
            </a:r>
          </a:p>
          <a:p>
            <a:pPr>
              <a:lnSpc>
                <a:spcPct val="103000"/>
              </a:lnSpc>
              <a:spcAft>
                <a:spcPts val="300"/>
              </a:spcAft>
              <a:defRPr sz="570">
                <a:solidFill>
                  <a:srgbClr val="21242A"/>
                </a:solidFill>
                <a:latin typeface="Microsoft YaHei"/>
              </a:defRPr>
            </a:pPr>
            <a:r>
              <a:t>CNS-directed strategies comprised intrathecal chemotherapy (52.1%), high-dose methotrexate (HD-MTX, 21.3%), or both.</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study provides substantive real-world evidence that PSN-DLBCL achieves excellent outcomes with standard R-CHOP immunochemotherapy, without incremental bene</a:t>
            </a:r>
          </a:p>
          <a:p>
            <a:pPr>
              <a:lnSpc>
                <a:spcPct val="103000"/>
              </a:lnSpc>
              <a:spcAft>
                <a:spcPts val="300"/>
              </a:spcAft>
              <a:defRPr sz="590">
                <a:solidFill>
                  <a:srgbClr val="21242A"/>
                </a:solidFill>
                <a:latin typeface="Microsoft YaHei"/>
              </a:defRPr>
            </a:pPr>
            <a:r>
              <a:t>fit from intensified regimens.</a:t>
            </a:r>
          </a:p>
          <a:p>
            <a:pPr>
              <a:lnSpc>
                <a:spcPct val="103000"/>
              </a:lnSpc>
              <a:spcAft>
                <a:spcPts val="300"/>
              </a:spcAft>
              <a:defRPr sz="590">
                <a:solidFill>
                  <a:srgbClr val="21242A"/>
                </a:solidFill>
                <a:latin typeface="Microsoft YaHei"/>
              </a:defRPr>
            </a:pPr>
            <a:r>
              <a:t>The dissociation between relatively common baseline CNS involvement (9.6%) and rare CNS relapse (3.2%) suggests contiguous anatomical extension—via skull base e</a:t>
            </a:r>
          </a:p>
          <a:p>
            <a:pPr>
              <a:lnSpc>
                <a:spcPct val="103000"/>
              </a:lnSpc>
              <a:spcAft>
                <a:spcPts val="300"/>
              </a:spcAft>
              <a:defRPr sz="590">
                <a:solidFill>
                  <a:srgbClr val="21242A"/>
                </a:solidFill>
                <a:latin typeface="Microsoft YaHei"/>
              </a:defRPr>
            </a:pPr>
            <a:r>
              <a:t>rosion and cranial foramina—rather than hematogenous dissemination as the predominant mechanism.</a:t>
            </a:r>
          </a:p>
          <a:p>
            <a:pPr>
              <a:lnSpc>
                <a:spcPct val="103000"/>
              </a:lnSpc>
              <a:spcAft>
                <a:spcPts val="300"/>
              </a:spcAft>
              <a:defRPr sz="590">
                <a:solidFill>
                  <a:srgbClr val="21242A"/>
                </a:solidFill>
                <a:latin typeface="Microsoft YaHei"/>
              </a:defRPr>
            </a:pPr>
            <a:r>
              <a:t>This pathophysiological insight carries direct therapeutic implications: intrathecal chemotherapy, which achieves limited parenchymal penetration, should not su</a:t>
            </a:r>
          </a:p>
          <a:p>
            <a:pPr>
              <a:lnSpc>
                <a:spcPct val="103000"/>
              </a:lnSpc>
              <a:spcAft>
                <a:spcPts val="300"/>
              </a:spcAft>
              <a:defRPr sz="590">
                <a:solidFill>
                  <a:srgbClr val="21242A"/>
                </a:solidFill>
                <a:latin typeface="Microsoft YaHei"/>
              </a:defRPr>
            </a:pPr>
            <a:r>
              <a:t>bstitute for systemic HD-MTX when CNS-directed therapy is indicated.</a:t>
            </a:r>
          </a:p>
          <a:p>
            <a:pPr>
              <a:lnSpc>
                <a:spcPct val="103000"/>
              </a:lnSpc>
              <a:spcAft>
                <a:spcPts val="300"/>
              </a:spcAft>
              <a:defRPr sz="590">
                <a:solidFill>
                  <a:srgbClr val="21242A"/>
                </a:solidFill>
                <a:latin typeface="Microsoft YaHei"/>
              </a:defRPr>
            </a:pPr>
            <a:r>
              <a:t>The favorable prognosis of ELI challenges conventional assumptions about local aggression.</a:t>
            </a:r>
          </a:p>
          <a:p>
            <a:pPr>
              <a:lnSpc>
                <a:spcPct val="103000"/>
              </a:lnSpc>
              <a:spcAft>
                <a:spcPts val="300"/>
              </a:spcAft>
              <a:defRPr sz="590">
                <a:solidFill>
                  <a:srgbClr val="21242A"/>
                </a:solidFill>
                <a:latin typeface="Microsoft YaHei"/>
              </a:defRPr>
            </a:pPr>
            <a:r>
              <a:t>These findings support de-escalation strategies for most patients while highlighting the need for prospective studies to refine risk-adapted CNS prophylaxis in </a:t>
            </a:r>
          </a:p>
          <a:p>
            <a:pPr>
              <a:lnSpc>
                <a:spcPct val="103000"/>
              </a:lnSpc>
              <a:spcAft>
                <a:spcPts val="300"/>
              </a:spcAft>
              <a:defRPr sz="590">
                <a:solidFill>
                  <a:srgbClr val="21242A"/>
                </a:solidFill>
                <a:latin typeface="Microsoft YaHei"/>
              </a:defRPr>
            </a:pPr>
            <a:r>
              <a:t>this rare extranodal subtype.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5年无进展生存率（PFS）</a:t>
                      </a:r>
                    </a:p>
                  </a:txBody>
                  <a:tcPr>
                    <a:solidFill>
                      <a:srgbClr val="F6F8FB"/>
                    </a:solidFill>
                  </a:tcPr>
                </a:tc>
                <a:tc>
                  <a:txBody>
                    <a:bodyPr wrap="square" lIns="36576" rIns="36576" tIns="18288" bIns="18288"/>
                    <a:lstStyle/>
                    <a:p>
                      <a:r>
                        <a:rPr sz="540" b="0">
                          <a:solidFill>
                            <a:srgbClr val="21242A"/>
                          </a:solidFill>
                          <a:latin typeface="Microsoft YaHei"/>
                        </a:rPr>
                        <a:t>67.0%</a:t>
                      </a:r>
                    </a:p>
                  </a:txBody>
                  <a:tcPr>
                    <a:solidFill>
                      <a:srgbClr val="F6F8FB"/>
                    </a:solidFill>
                  </a:tcPr>
                </a:tc>
              </a:tr>
              <a:tr h="249936">
                <a:tc>
                  <a:txBody>
                    <a:bodyPr wrap="square" lIns="36576" rIns="36576" tIns="18288" bIns="18288"/>
                    <a:lstStyle/>
                    <a:p>
                      <a:r>
                        <a:rPr sz="540" b="1">
                          <a:solidFill>
                            <a:srgbClr val="21242A"/>
                          </a:solidFill>
                          <a:latin typeface="Microsoft YaHei"/>
                        </a:rPr>
                        <a:t>5年总生存率（OS）</a:t>
                      </a:r>
                    </a:p>
                  </a:txBody>
                  <a:tcPr>
                    <a:solidFill>
                      <a:srgbClr val="FFFFFF"/>
                    </a:solidFill>
                  </a:tcPr>
                </a:tc>
                <a:tc>
                  <a:txBody>
                    <a:bodyPr wrap="square" lIns="36576" rIns="36576" tIns="18288" bIns="18288"/>
                    <a:lstStyle/>
                    <a:p>
                      <a:r>
                        <a:rPr sz="540" b="0">
                          <a:solidFill>
                            <a:srgbClr val="21242A"/>
                          </a:solidFill>
                          <a:latin typeface="Microsoft YaHei"/>
                        </a:rPr>
                        <a:t>73.1%</a:t>
                      </a:r>
                    </a:p>
                  </a:txBody>
                  <a:tcPr>
                    <a:solidFill>
                      <a:srgbClr val="FFFFFF"/>
                    </a:solidFill>
                  </a:tcPr>
                </a:tc>
              </a:tr>
              <a:tr h="249936">
                <a:tc>
                  <a:txBody>
                    <a:bodyPr wrap="square" lIns="36576" rIns="36576" tIns="18288" bIns="18288"/>
                    <a:lstStyle/>
                    <a:p>
                      <a:r>
                        <a:rPr sz="540" b="1">
                          <a:solidFill>
                            <a:srgbClr val="21242A"/>
                          </a:solidFill>
                          <a:latin typeface="Microsoft YaHei"/>
                        </a:rPr>
                        <a:t>基线CNS受累</a:t>
                      </a:r>
                    </a:p>
                  </a:txBody>
                  <a:tcPr>
                    <a:solidFill>
                      <a:srgbClr val="F6F8FB"/>
                    </a:solidFill>
                  </a:tcPr>
                </a:tc>
                <a:tc>
                  <a:txBody>
                    <a:bodyPr wrap="square" lIns="36576" rIns="36576" tIns="18288" bIns="18288"/>
                    <a:lstStyle/>
                    <a:p>
                      <a:r>
                        <a:rPr sz="540" b="0">
                          <a:solidFill>
                            <a:srgbClr val="21242A"/>
                          </a:solidFill>
                          <a:latin typeface="Microsoft YaHei"/>
                        </a:rPr>
                        <a:t>9.6%</a:t>
                      </a:r>
                    </a:p>
                  </a:txBody>
                  <a:tcPr>
                    <a:solidFill>
                      <a:srgbClr val="F6F8FB"/>
                    </a:solidFill>
                  </a:tcPr>
                </a:tc>
              </a:tr>
              <a:tr h="249936">
                <a:tc>
                  <a:txBody>
                    <a:bodyPr wrap="square" lIns="36576" rIns="36576" tIns="18288" bIns="18288"/>
                    <a:lstStyle/>
                    <a:p>
                      <a:r>
                        <a:rPr sz="540" b="1">
                          <a:solidFill>
                            <a:srgbClr val="21242A"/>
                          </a:solidFill>
                          <a:latin typeface="Microsoft YaHei"/>
                        </a:rPr>
                        <a:t>CNS进展率</a:t>
                      </a:r>
                    </a:p>
                  </a:txBody>
                  <a:tcPr>
                    <a:solidFill>
                      <a:srgbClr val="FFFFFF"/>
                    </a:solidFill>
                  </a:tcPr>
                </a:tc>
                <a:tc>
                  <a:txBody>
                    <a:bodyPr wrap="square" lIns="36576" rIns="36576" tIns="18288" bIns="18288"/>
                    <a:lstStyle/>
                    <a:p>
                      <a:r>
                        <a:rPr sz="540" b="0">
                          <a:solidFill>
                            <a:srgbClr val="21242A"/>
                          </a:solidFill>
                          <a:latin typeface="Microsoft YaHei"/>
                        </a:rPr>
                        <a:t>3.2%</a:t>
                      </a:r>
                    </a:p>
                  </a:txBody>
                  <a:tcPr>
                    <a:solidFill>
                      <a:srgbClr val="FFFFFF"/>
                    </a:solidFill>
                  </a:tcPr>
                </a:tc>
              </a:tr>
              <a:tr h="249936">
                <a:tc>
                  <a:txBody>
                    <a:bodyPr wrap="square" lIns="36576" rIns="36576" tIns="18288" bIns="18288"/>
                    <a:lstStyle/>
                    <a:p>
                      <a:r>
                        <a:rPr sz="540" b="1">
                          <a:solidFill>
                            <a:srgbClr val="21242A"/>
                          </a:solidFill>
                          <a:latin typeface="Microsoft YaHei"/>
                        </a:rPr>
                        <a:t>≥3级中性粒细胞减少</a:t>
                      </a:r>
                    </a:p>
                  </a:txBody>
                  <a:tcPr>
                    <a:solidFill>
                      <a:srgbClr val="F6F8FB"/>
                    </a:solidFill>
                  </a:tcPr>
                </a:tc>
                <a:tc>
                  <a:txBody>
                    <a:bodyPr wrap="square" lIns="36576" rIns="36576" tIns="18288" bIns="18288"/>
                    <a:lstStyle/>
                    <a:p>
                      <a:r>
                        <a:rPr sz="540" b="0">
                          <a:solidFill>
                            <a:srgbClr val="21242A"/>
                          </a:solidFill>
                          <a:latin typeface="Microsoft YaHei"/>
                        </a:rPr>
                        <a:t>83.0%</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摘要号：PS2125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血清mir-155-3p、mir-142-3p和mir-22-3p作为大b细胞淋巴瘤（lbcl）患者诊断和预后生物标志...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serum mir-155-3p, mir-142-3p and mir-22-3p as diagnostic and prognostic bioma...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N=45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前瞻性临床研究结果：serum mir-155-3p, mir-142-3p and mir-22-3p as diagnos...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血清miR-22-3p在LBCL患者中显著升高（p&lt;0.001），但与OS无关</a:t>
            </a:r>
          </a:p>
          <a:p>
            <a:pPr>
              <a:lnSpc>
                <a:spcPct val="103000"/>
              </a:lnSpc>
              <a:spcAft>
                <a:spcPts val="300"/>
              </a:spcAft>
              <a:defRPr sz="800">
                <a:solidFill>
                  <a:srgbClr val="21242A"/>
                </a:solidFill>
                <a:latin typeface="Microsoft YaHei"/>
              </a:defRPr>
            </a:pPr>
            <a:r>
              <a:t>高miR-155-3p和低miR-142-3p是独立的不良预后因素。</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人数：45</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研究主题：serum mir-155-3p, mir-142-3p and mir-22-3p as diagnostic and prognostic biomarkers in patients with large b-cell lympho...</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血清mir-155-3p、mir-142-3p和mir-22-3p作为大b细胞淋巴瘤（lbcl）患者诊断和预后生物标志...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serum mir-155-3p, mir-142-3p and mir-22-3p as diagnostic and prognostic bioma...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Large B-cell lymphoma (LBCL) is a biologically and clinically heterogeneous disease, with many patients relapsing despite standard immunochemotherap</a:t>
            </a:r>
          </a:p>
          <a:p>
            <a:pPr>
              <a:lnSpc>
                <a:spcPct val="103000"/>
              </a:lnSpc>
              <a:spcAft>
                <a:spcPts val="300"/>
              </a:spcAft>
              <a:defRPr sz="570">
                <a:solidFill>
                  <a:srgbClr val="21242A"/>
                </a:solidFill>
                <a:latin typeface="Microsoft YaHei"/>
              </a:defRPr>
            </a:pPr>
            <a:r>
              <a:t>y such as R-CHOP.</a:t>
            </a:r>
          </a:p>
          <a:p>
            <a:pPr>
              <a:lnSpc>
                <a:spcPct val="103000"/>
              </a:lnSpc>
              <a:spcAft>
                <a:spcPts val="300"/>
              </a:spcAft>
              <a:defRPr sz="570">
                <a:solidFill>
                  <a:srgbClr val="21242A"/>
                </a:solidFill>
                <a:latin typeface="Microsoft YaHei"/>
              </a:defRPr>
            </a:pPr>
            <a:r>
              <a:t>Prognosis relies on the IPI and biological markers (e.g., GCB/ABC subtype and MYC/BCL2 expression), but new non-invasive biomarkers are needed.</a:t>
            </a:r>
          </a:p>
          <a:p>
            <a:pPr>
              <a:lnSpc>
                <a:spcPct val="103000"/>
              </a:lnSpc>
              <a:spcAft>
                <a:spcPts val="300"/>
              </a:spcAft>
              <a:defRPr sz="570">
                <a:solidFill>
                  <a:srgbClr val="21242A"/>
                </a:solidFill>
                <a:latin typeface="Microsoft YaHei"/>
              </a:defRPr>
            </a:pPr>
            <a:r>
              <a:t>MicroRNAs (miRNAs) are small (~22-nucleotide) regulatory molecules that modulate gene expression at the post-transcriptional level and circulating miRNAs have b</a:t>
            </a:r>
          </a:p>
          <a:p>
            <a:pPr>
              <a:lnSpc>
                <a:spcPct val="103000"/>
              </a:lnSpc>
              <a:spcAft>
                <a:spcPts val="300"/>
              </a:spcAft>
              <a:defRPr sz="570">
                <a:solidFill>
                  <a:srgbClr val="21242A"/>
                </a:solidFill>
                <a:latin typeface="Microsoft YaHei"/>
              </a:defRPr>
            </a:pPr>
            <a:r>
              <a:t>een proposed as potential diagnostic and prognostic biomarkers in LBCL.</a:t>
            </a:r>
          </a:p>
          <a:p>
            <a:pPr>
              <a:lnSpc>
                <a:spcPct val="103000"/>
              </a:lnSpc>
              <a:spcAft>
                <a:spcPts val="300"/>
              </a:spcAft>
              <a:defRPr sz="570">
                <a:solidFill>
                  <a:srgbClr val="21242A"/>
                </a:solidFill>
                <a:latin typeface="Microsoft YaHei"/>
              </a:defRPr>
            </a:pPr>
            <a:r>
              <a:t>Aims: The aim of this study was to evaluate serum expression levels of miR-155-3p, miR-142-3p, and miR-22-3p at diagnosis and to investigate their associations </a:t>
            </a:r>
          </a:p>
          <a:p>
            <a:pPr>
              <a:lnSpc>
                <a:spcPct val="103000"/>
              </a:lnSpc>
              <a:spcAft>
                <a:spcPts val="300"/>
              </a:spcAft>
              <a:defRPr sz="570">
                <a:solidFill>
                  <a:srgbClr val="21242A"/>
                </a:solidFill>
                <a:latin typeface="Microsoft YaHei"/>
              </a:defRPr>
            </a:pPr>
            <a:r>
              <a:t>with clinicopathological parameters, progression-free survival (PFS) and overall survival (OS).</a:t>
            </a:r>
          </a:p>
          <a:p>
            <a:pPr>
              <a:lnSpc>
                <a:spcPct val="103000"/>
              </a:lnSpc>
              <a:spcAft>
                <a:spcPts val="300"/>
              </a:spcAft>
              <a:defRPr sz="570">
                <a:solidFill>
                  <a:srgbClr val="21242A"/>
                </a:solidFill>
                <a:latin typeface="Microsoft YaHei"/>
              </a:defRPr>
            </a:pPr>
            <a:r>
              <a:t>Methods: Serum samples were prospectively collected and analyzed from 45 newly diagnosed LBCL patients (age range 34–84 years; 26 males) treated at our center o</a:t>
            </a:r>
          </a:p>
          <a:p>
            <a:pPr>
              <a:lnSpc>
                <a:spcPct val="103000"/>
              </a:lnSpc>
              <a:spcAft>
                <a:spcPts val="300"/>
              </a:spcAft>
              <a:defRPr sz="570">
                <a:solidFill>
                  <a:srgbClr val="21242A"/>
                </a:solidFill>
                <a:latin typeface="Microsoft YaHei"/>
              </a:defRPr>
            </a:pPr>
            <a:r>
              <a:t>ver a 4.5-year period, along with 26 healthy controls.</a:t>
            </a:r>
          </a:p>
          <a:p>
            <a:pPr>
              <a:lnSpc>
                <a:spcPct val="103000"/>
              </a:lnSpc>
              <a:spcAft>
                <a:spcPts val="300"/>
              </a:spcAft>
              <a:defRPr sz="570">
                <a:solidFill>
                  <a:srgbClr val="21242A"/>
                </a:solidFill>
                <a:latin typeface="Microsoft YaHei"/>
              </a:defRPr>
            </a:pPr>
            <a:r>
              <a:t>All patients received immunochemotherapy.</a:t>
            </a:r>
          </a:p>
          <a:p>
            <a:pPr>
              <a:lnSpc>
                <a:spcPct val="103000"/>
              </a:lnSpc>
              <a:spcAft>
                <a:spcPts val="300"/>
              </a:spcAft>
              <a:defRPr sz="570">
                <a:solidFill>
                  <a:srgbClr val="21242A"/>
                </a:solidFill>
                <a:latin typeface="Microsoft YaHei"/>
              </a:defRPr>
            </a:pPr>
            <a:r>
              <a:t>RNA isolation was performed using the miRNeasy Serum/Plasma Kit, and cDNA synthesis using the TaqMan Advanced miRNA cDNA Synthesis Kit (Applied Biosystems).</a:t>
            </a:r>
          </a:p>
          <a:p>
            <a:pPr>
              <a:lnSpc>
                <a:spcPct val="103000"/>
              </a:lnSpc>
              <a:spcAft>
                <a:spcPts val="300"/>
              </a:spcAft>
              <a:defRPr sz="570">
                <a:solidFill>
                  <a:srgbClr val="21242A"/>
                </a:solidFill>
                <a:latin typeface="Microsoft YaHei"/>
              </a:defRPr>
            </a:pPr>
            <a:r>
              <a:t>Quantitative RT-PCR was conducted on a LightCycler 480 platform using TaqMan™ Advanced miRNA assays for miR-155-3p, miR-142-3p, and miR-22-3p.</a:t>
            </a:r>
          </a:p>
          <a:p>
            <a:pPr>
              <a:lnSpc>
                <a:spcPct val="103000"/>
              </a:lnSpc>
              <a:spcAft>
                <a:spcPts val="300"/>
              </a:spcAft>
              <a:defRPr sz="570">
                <a:solidFill>
                  <a:srgbClr val="21242A"/>
                </a:solidFill>
                <a:latin typeface="Microsoft YaHei"/>
              </a:defRPr>
            </a:pPr>
            <a:r>
              <a:t>Exogenous spike-in Ath-miR-159 from Arabidopsis thaliana was used for normalization, and all samples were analyzed in duplicate.</a:t>
            </a:r>
          </a:p>
          <a:p>
            <a:pPr>
              <a:lnSpc>
                <a:spcPct val="103000"/>
              </a:lnSpc>
              <a:spcAft>
                <a:spcPts val="300"/>
              </a:spcAft>
              <a:defRPr sz="570">
                <a:solidFill>
                  <a:srgbClr val="21242A"/>
                </a:solidFill>
                <a:latin typeface="Microsoft YaHei"/>
              </a:defRPr>
            </a:pPr>
            <a:r>
              <a:t>The 25th and 75th percentiles of controls were used as cutoffs for low and high expression. ROC curve analysis assessed the diagnostic accuracy of miRNAs.</a:t>
            </a:r>
          </a:p>
          <a:p>
            <a:pPr>
              <a:lnSpc>
                <a:spcPct val="103000"/>
              </a:lnSpc>
              <a:spcAft>
                <a:spcPts val="300"/>
              </a:spcAft>
              <a:defRPr sz="570">
                <a:solidFill>
                  <a:srgbClr val="21242A"/>
                </a:solidFill>
                <a:latin typeface="Microsoft YaHei"/>
              </a:defRPr>
            </a:pPr>
            <a:r>
              <a:t>Statistical analyses included Mann–Whitney U and χ² tests, Kaplan–Meier survival analysis with log-rank testing, and multivariable Cox proportional hazards mode</a:t>
            </a:r>
          </a:p>
          <a:p>
            <a:pPr>
              <a:lnSpc>
                <a:spcPct val="103000"/>
              </a:lnSpc>
              <a:spcAft>
                <a:spcPts val="300"/>
              </a:spcAft>
              <a:defRPr sz="570">
                <a:solidFill>
                  <a:srgbClr val="21242A"/>
                </a:solidFill>
                <a:latin typeface="Microsoft YaHei"/>
              </a:defRPr>
            </a:pPr>
            <a:r>
              <a:t>ling for variables with p</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Elevated serum miR-22-3p is characteristic of LBCL but not linked to OS, while high miR-155-3p and low miR-142-3p are independent adverse prognostic factors, su</a:t>
            </a:r>
          </a:p>
          <a:p>
            <a:pPr>
              <a:lnSpc>
                <a:spcPct val="103000"/>
              </a:lnSpc>
              <a:spcAft>
                <a:spcPts val="300"/>
              </a:spcAft>
              <a:defRPr sz="590">
                <a:solidFill>
                  <a:srgbClr val="21242A"/>
                </a:solidFill>
                <a:latin typeface="Microsoft YaHei"/>
              </a:defRPr>
            </a:pPr>
            <a:r>
              <a:t>pporting their potential as circulating risk-stratification biomarkers.</a:t>
            </a:r>
          </a:p>
          <a:p>
            <a:pPr>
              <a:lnSpc>
                <a:spcPct val="103000"/>
              </a:lnSpc>
              <a:spcAft>
                <a:spcPts val="300"/>
              </a:spcAft>
              <a:defRPr sz="590">
                <a:solidFill>
                  <a:srgbClr val="21242A"/>
                </a:solidFill>
                <a:latin typeface="Microsoft YaHei"/>
              </a:defRPr>
            </a:pPr>
            <a:r>
              <a:t>These preliminary findings require validation in larger multicenter studies and further exploration of their integration into existing prognostic models.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median patient age was 67 years (58% male), with a median follow-up of 26 months; 13 patients died during the study period.</a:t>
            </a:r>
          </a:p>
          <a:p>
            <a:pPr>
              <a:lnSpc>
                <a:spcPct val="103000"/>
              </a:lnSpc>
              <a:spcAft>
                <a:spcPts val="300"/>
              </a:spcAft>
              <a:defRPr sz="580">
                <a:solidFill>
                  <a:srgbClr val="21242A"/>
                </a:solidFill>
                <a:latin typeface="Microsoft YaHei"/>
              </a:defRPr>
            </a:pPr>
            <a:r>
              <a:t>Serum miR-155-3p and miR-142-3p levels did not differ significantly between patients and controls, whereas miR-22-3p was significantly elevated in LBCL pat</a:t>
            </a:r>
          </a:p>
          <a:p>
            <a:pPr>
              <a:lnSpc>
                <a:spcPct val="103000"/>
              </a:lnSpc>
              <a:spcAft>
                <a:spcPts val="300"/>
              </a:spcAft>
              <a:defRPr sz="580">
                <a:solidFill>
                  <a:srgbClr val="21242A"/>
                </a:solidFill>
                <a:latin typeface="Microsoft YaHei"/>
              </a:defRPr>
            </a:pPr>
            <a:r>
              <a:t>ients (p</a:t>
            </a:r>
          </a:p>
          <a:p>
            <a:pPr>
              <a:lnSpc>
                <a:spcPct val="103000"/>
              </a:lnSpc>
              <a:spcAft>
                <a:spcPts val="300"/>
              </a:spcAft>
              <a:defRPr sz="580">
                <a:solidFill>
                  <a:srgbClr val="21242A"/>
                </a:solidFill>
                <a:latin typeface="Microsoft YaHei"/>
              </a:defRPr>
            </a:pPr>
            <a:r>
              <a:t>Conclusion: Elevated serum miR-22-3p is characteristic of LBCL but not linked to OS, while high miR-155-3p and low miR-142-3p are independent adverse progn</a:t>
            </a:r>
          </a:p>
          <a:p>
            <a:pPr>
              <a:lnSpc>
                <a:spcPct val="103000"/>
              </a:lnSpc>
              <a:spcAft>
                <a:spcPts val="300"/>
              </a:spcAft>
              <a:defRPr sz="580">
                <a:solidFill>
                  <a:srgbClr val="21242A"/>
                </a:solidFill>
                <a:latin typeface="Microsoft YaHei"/>
              </a:defRPr>
            </a:pPr>
            <a:r>
              <a:t>ostic factors, supporting their potential as circulating risk-stratification biomarkers.</a:t>
            </a:r>
          </a:p>
          <a:p>
            <a:pPr>
              <a:lnSpc>
                <a:spcPct val="103000"/>
              </a:lnSpc>
              <a:spcAft>
                <a:spcPts val="300"/>
              </a:spcAft>
              <a:defRPr sz="580">
                <a:solidFill>
                  <a:srgbClr val="21242A"/>
                </a:solidFill>
                <a:latin typeface="Microsoft YaHei"/>
              </a:defRPr>
            </a:pPr>
            <a:r>
              <a:t>These preliminary findings require validation in larger multicenter studies and further exploration of their integration into existing prognostic models.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一线selinexor联合r-chop治疗ebv阳性弥漫性大b细胞淋巴瘤（xplore）：单臂ib/ii期试验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first-line selinexor in combination with r-chop for ebv-positive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试验药/方案：塞利尼索</a:t>
            </a:r>
          </a:p>
          <a:p>
            <a:pPr>
              <a:lnSpc>
                <a:spcPct val="103000"/>
              </a:lnSpc>
              <a:spcAft>
                <a:spcPts val="300"/>
              </a:spcAft>
              <a:defRPr sz="800">
                <a:solidFill>
                  <a:srgbClr val="21242A"/>
                </a:solidFill>
                <a:latin typeface="Microsoft YaHei"/>
              </a:defRPr>
            </a:pPr>
            <a:r>
              <a:t>靶点：XPO1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最佳完全缓解率（CR）: 72.0%（18/25）</a:t>
            </a:r>
          </a:p>
          <a:p>
            <a:pPr>
              <a:lnSpc>
                <a:spcPct val="103000"/>
              </a:lnSpc>
              <a:spcAft>
                <a:spcPts val="300"/>
              </a:spcAft>
              <a:defRPr sz="800">
                <a:solidFill>
                  <a:srgbClr val="21242A"/>
                </a:solidFill>
                <a:latin typeface="Microsoft YaHei"/>
              </a:defRPr>
            </a:pPr>
            <a:r>
              <a:t>最佳总缓解率（ORR）: 96.0%（24/25）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登记号：NCT05577364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试验药/方案：塞利尼索</a:t>
            </a:r>
          </a:p>
          <a:p>
            <a:pPr>
              <a:lnSpc>
                <a:spcPct val="103000"/>
              </a:lnSpc>
              <a:spcAft>
                <a:spcPts val="300"/>
              </a:spcAft>
              <a:defRPr sz="810">
                <a:solidFill>
                  <a:srgbClr val="21242A"/>
                </a:solidFill>
                <a:latin typeface="Microsoft YaHei"/>
              </a:defRPr>
            </a:pPr>
            <a:r>
              <a:t>靶点：XPO1</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一线selinexor联合r-chop治疗ebv阳性弥漫性大b细胞淋巴瘤（xplore）：单臂ib/ii期试验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first-line selinexor in combination with r-chop for ebv-positive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genetically and clinically heterogeneous.</a:t>
            </a:r>
          </a:p>
          <a:p>
            <a:pPr>
              <a:lnSpc>
                <a:spcPct val="103000"/>
              </a:lnSpc>
              <a:spcAft>
                <a:spcPts val="300"/>
              </a:spcAft>
              <a:defRPr sz="570">
                <a:solidFill>
                  <a:srgbClr val="21242A"/>
                </a:solidFill>
                <a:latin typeface="Microsoft YaHei"/>
              </a:defRPr>
            </a:pPr>
            <a:r>
              <a:t>Epstein–Barr virus (EBV)–positive DLBCL accounts for ~8% of cases and is associated with inferior outcomes.</a:t>
            </a:r>
          </a:p>
          <a:p>
            <a:pPr>
              <a:lnSpc>
                <a:spcPct val="103000"/>
              </a:lnSpc>
              <a:spcAft>
                <a:spcPts val="300"/>
              </a:spcAft>
              <a:defRPr sz="570">
                <a:solidFill>
                  <a:srgbClr val="21242A"/>
                </a:solidFill>
                <a:latin typeface="Microsoft YaHei"/>
              </a:defRPr>
            </a:pPr>
            <a:r>
              <a:t>Selinexor, an oral selective inhibitor of nuclear export (XPO1), has demonstrated activity in non-Hodgkin lymphoma and showed encouraging efficacy when combined</a:t>
            </a:r>
          </a:p>
          <a:p>
            <a:pPr>
              <a:lnSpc>
                <a:spcPct val="103000"/>
              </a:lnSpc>
              <a:spcAft>
                <a:spcPts val="300"/>
              </a:spcAft>
              <a:defRPr sz="570">
                <a:solidFill>
                  <a:srgbClr val="21242A"/>
                </a:solidFill>
                <a:latin typeface="Microsoft YaHei"/>
              </a:defRPr>
            </a:pPr>
            <a:r>
              <a:t> with R-CHOP in early-phase clinical studies.</a:t>
            </a:r>
          </a:p>
          <a:p>
            <a:pPr>
              <a:lnSpc>
                <a:spcPct val="103000"/>
              </a:lnSpc>
              <a:spcAft>
                <a:spcPts val="300"/>
              </a:spcAft>
              <a:defRPr sz="570">
                <a:solidFill>
                  <a:srgbClr val="21242A"/>
                </a:solidFill>
                <a:latin typeface="Microsoft YaHei"/>
              </a:defRPr>
            </a:pPr>
            <a:r>
              <a:t>This multicenter, single-arm phase Ib/II study (NCT05577364) aimed to assess the efficacy and safety of selinexor plus R-CHOP as frontline therapy in patients w</a:t>
            </a:r>
          </a:p>
          <a:p>
            <a:pPr>
              <a:lnSpc>
                <a:spcPct val="103000"/>
              </a:lnSpc>
              <a:spcAft>
                <a:spcPts val="300"/>
              </a:spcAft>
              <a:defRPr sz="570">
                <a:solidFill>
                  <a:srgbClr val="21242A"/>
                </a:solidFill>
                <a:latin typeface="Microsoft YaHei"/>
              </a:defRPr>
            </a:pPr>
            <a:r>
              <a:t>ith EBV-positive DLBCL.</a:t>
            </a:r>
          </a:p>
          <a:p>
            <a:pPr>
              <a:lnSpc>
                <a:spcPct val="103000"/>
              </a:lnSpc>
              <a:spcAft>
                <a:spcPts val="300"/>
              </a:spcAft>
              <a:defRPr sz="570">
                <a:solidFill>
                  <a:srgbClr val="21242A"/>
                </a:solidFill>
                <a:latin typeface="Microsoft YaHei"/>
              </a:defRPr>
            </a:pPr>
            <a:r>
              <a:t>Aims: To evaluate the safety and effectiveness of selinexor in combination with R-CHOP as first-line treatment in patients with EBV-positive DLBCL.</a:t>
            </a:r>
          </a:p>
          <a:p>
            <a:pPr>
              <a:lnSpc>
                <a:spcPct val="103000"/>
              </a:lnSpc>
              <a:spcAft>
                <a:spcPts val="300"/>
              </a:spcAft>
              <a:defRPr sz="570">
                <a:solidFill>
                  <a:srgbClr val="21242A"/>
                </a:solidFill>
                <a:latin typeface="Microsoft YaHei"/>
              </a:defRPr>
            </a:pPr>
            <a:r>
              <a:t>Methods: Eligible patients were aged 18–80 years with pathologically confirmed DLBCL and EBV positivity defined by EBER in situ hybridization.</a:t>
            </a:r>
          </a:p>
          <a:p>
            <a:pPr>
              <a:lnSpc>
                <a:spcPct val="103000"/>
              </a:lnSpc>
              <a:spcAft>
                <a:spcPts val="300"/>
              </a:spcAft>
              <a:defRPr sz="570">
                <a:solidFill>
                  <a:srgbClr val="21242A"/>
                </a:solidFill>
                <a:latin typeface="Microsoft YaHei"/>
              </a:defRPr>
            </a:pPr>
            <a:r>
              <a:t>Previously untreated patients with EBV-positive DLBCL received standard-dose R-CHOP every 21 days for up to six cycles, with selinexor initiated from cycle 2.</a:t>
            </a:r>
          </a:p>
          <a:p>
            <a:pPr>
              <a:lnSpc>
                <a:spcPct val="103000"/>
              </a:lnSpc>
              <a:spcAft>
                <a:spcPts val="300"/>
              </a:spcAft>
              <a:defRPr sz="570">
                <a:solidFill>
                  <a:srgbClr val="21242A"/>
                </a:solidFill>
                <a:latin typeface="Microsoft YaHei"/>
              </a:defRPr>
            </a:pPr>
            <a:r>
              <a:t>The phase Ib portion followed a standard 3+3 dose-escalation design: selinexor was administered at an initial dose of 40 mg once weekly during cycle 2 and incre</a:t>
            </a:r>
          </a:p>
          <a:p>
            <a:pPr>
              <a:lnSpc>
                <a:spcPct val="103000"/>
              </a:lnSpc>
              <a:spcAft>
                <a:spcPts val="300"/>
              </a:spcAft>
              <a:defRPr sz="570">
                <a:solidFill>
                  <a:srgbClr val="21242A"/>
                </a:solidFill>
                <a:latin typeface="Microsoft YaHei"/>
              </a:defRPr>
            </a:pPr>
            <a:r>
              <a:t>ased to 60 mg once weekly from cycle 3 onward in the absence of dose-limiting toxicities (DLTs).</a:t>
            </a:r>
          </a:p>
          <a:p>
            <a:pPr>
              <a:lnSpc>
                <a:spcPct val="103000"/>
              </a:lnSpc>
              <a:spcAft>
                <a:spcPts val="300"/>
              </a:spcAft>
              <a:defRPr sz="570">
                <a:solidFill>
                  <a:srgbClr val="21242A"/>
                </a:solidFill>
                <a:latin typeface="Microsoft YaHei"/>
              </a:defRPr>
            </a:pPr>
            <a:r>
              <a:t>Following induction, patients received two consolidation cycles of rituximab plus selinexor.</a:t>
            </a:r>
          </a:p>
          <a:p>
            <a:pPr>
              <a:lnSpc>
                <a:spcPct val="103000"/>
              </a:lnSpc>
              <a:spcAft>
                <a:spcPts val="300"/>
              </a:spcAft>
              <a:defRPr sz="570">
                <a:solidFill>
                  <a:srgbClr val="21242A"/>
                </a:solidFill>
                <a:latin typeface="Microsoft YaHei"/>
              </a:defRPr>
            </a:pPr>
            <a:r>
              <a:t>Patients achieving complete response (CR) after induction therapy proceeded to selinexor maintenance, with the overall treatment duration up to 2 years.</a:t>
            </a:r>
          </a:p>
          <a:p>
            <a:pPr>
              <a:lnSpc>
                <a:spcPct val="103000"/>
              </a:lnSpc>
              <a:spcAft>
                <a:spcPts val="300"/>
              </a:spcAft>
              <a:defRPr sz="570">
                <a:solidFill>
                  <a:srgbClr val="21242A"/>
                </a:solidFill>
                <a:latin typeface="Microsoft YaHei"/>
              </a:defRPr>
            </a:pPr>
            <a:r>
              <a:t>Primary endpoints were the maximum tolerated dose (MTD) and recommended phase II dose (RP2D) for phase Ib, and the CR rate for phase II.</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Frontline selinexor plus R-CHOP showed promising antitumor activity with a manageable safety profile in patients with EBV-positive DLBCL.</a:t>
            </a:r>
          </a:p>
          <a:p>
            <a:pPr>
              <a:lnSpc>
                <a:spcPct val="103000"/>
              </a:lnSpc>
              <a:spcAft>
                <a:spcPts val="300"/>
              </a:spcAft>
              <a:defRPr sz="590">
                <a:solidFill>
                  <a:srgbClr val="21242A"/>
                </a:solidFill>
                <a:latin typeface="Microsoft YaHei"/>
              </a:defRPr>
            </a:pPr>
            <a:r>
              <a:t>Continued monitoring and optimized management of selinexor-related toxicities are warranted, and patient enrollment is ongoing to further validate these finding</a:t>
            </a:r>
          </a:p>
          <a:p>
            <a:pPr>
              <a:lnSpc>
                <a:spcPct val="103000"/>
              </a:lnSpc>
              <a:spcAft>
                <a:spcPts val="300"/>
              </a:spcAft>
              <a:defRPr sz="590">
                <a:solidFill>
                  <a:srgbClr val="21242A"/>
                </a:solidFill>
                <a:latin typeface="Microsoft YaHei"/>
              </a:defRPr>
            </a:pPr>
            <a:r>
              <a: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最佳完全缓解率（CR）</a:t>
                      </a:r>
                    </a:p>
                  </a:txBody>
                  <a:tcPr>
                    <a:solidFill>
                      <a:srgbClr val="F6F8FB"/>
                    </a:solidFill>
                  </a:tcPr>
                </a:tc>
                <a:tc>
                  <a:txBody>
                    <a:bodyPr wrap="square" lIns="36576" rIns="36576" tIns="18288" bIns="18288"/>
                    <a:lstStyle/>
                    <a:p>
                      <a:r>
                        <a:rPr sz="540" b="0">
                          <a:solidFill>
                            <a:srgbClr val="21242A"/>
                          </a:solidFill>
                          <a:latin typeface="Microsoft YaHei"/>
                        </a:rPr>
                        <a:t>72.0%（18/25）</a:t>
                      </a:r>
                    </a:p>
                  </a:txBody>
                  <a:tcPr>
                    <a:solidFill>
                      <a:srgbClr val="F6F8FB"/>
                    </a:solidFill>
                  </a:tcPr>
                </a:tc>
              </a:tr>
              <a:tr h="214230">
                <a:tc>
                  <a:txBody>
                    <a:bodyPr wrap="square" lIns="36576" rIns="36576" tIns="18288" bIns="18288"/>
                    <a:lstStyle/>
                    <a:p>
                      <a:r>
                        <a:rPr sz="540" b="1">
                          <a:solidFill>
                            <a:srgbClr val="21242A"/>
                          </a:solidFill>
                          <a:latin typeface="Microsoft YaHei"/>
                        </a:rPr>
                        <a:t>最佳总缓解率（ORR）</a:t>
                      </a:r>
                    </a:p>
                  </a:txBody>
                  <a:tcPr>
                    <a:solidFill>
                      <a:srgbClr val="FFFFFF"/>
                    </a:solidFill>
                  </a:tcPr>
                </a:tc>
                <a:tc>
                  <a:txBody>
                    <a:bodyPr wrap="square" lIns="36576" rIns="36576" tIns="18288" bIns="18288"/>
                    <a:lstStyle/>
                    <a:p>
                      <a:r>
                        <a:rPr sz="540" b="0">
                          <a:solidFill>
                            <a:srgbClr val="21242A"/>
                          </a:solidFill>
                          <a:latin typeface="Microsoft YaHei"/>
                        </a:rPr>
                        <a:t>96.0%（24/25）</a:t>
                      </a:r>
                    </a:p>
                  </a:txBody>
                  <a:tcPr>
                    <a:solidFill>
                      <a:srgbClr val="FFFFFF"/>
                    </a:solidFill>
                  </a:tcPr>
                </a:tc>
              </a:tr>
              <a:tr h="214230">
                <a:tc>
                  <a:txBody>
                    <a:bodyPr wrap="square" lIns="36576" rIns="36576" tIns="18288" bIns="18288"/>
                    <a:lstStyle/>
                    <a:p>
                      <a:r>
                        <a:rPr sz="540" b="1">
                          <a:solidFill>
                            <a:srgbClr val="21242A"/>
                          </a:solidFill>
                          <a:latin typeface="Microsoft YaHei"/>
                        </a:rPr>
                        <a:t>任意级别治疗相关不良事件（TRAEs）</a:t>
                      </a:r>
                    </a:p>
                  </a:txBody>
                  <a:tcPr>
                    <a:solidFill>
                      <a:srgbClr val="F6F8FB"/>
                    </a:solidFill>
                  </a:tcPr>
                </a:tc>
                <a:tc>
                  <a:txBody>
                    <a:bodyPr wrap="square" lIns="36576" rIns="36576" tIns="18288" bIns="18288"/>
                    <a:lstStyle/>
                    <a:p>
                      <a:r>
                        <a:rPr sz="540" b="0">
                          <a:solidFill>
                            <a:srgbClr val="21242A"/>
                          </a:solidFill>
                          <a:latin typeface="Microsoft YaHei"/>
                        </a:rPr>
                        <a:t>白细胞减少92.5%，中性粒细胞减少92.5%，血小板减少74.0%，贫血77.8%，恶心55.6%</a:t>
                      </a:r>
                    </a:p>
                  </a:txBody>
                  <a:tcPr>
                    <a:solidFill>
                      <a:srgbClr val="F6F8FB"/>
                    </a:solidFill>
                  </a:tcPr>
                </a:tc>
              </a:tr>
              <a:tr h="214230">
                <a:tc>
                  <a:txBody>
                    <a:bodyPr wrap="square" lIns="36576" rIns="36576" tIns="18288" bIns="18288"/>
                    <a:lstStyle/>
                    <a:p>
                      <a:r>
                        <a:rPr sz="540" b="1">
                          <a:solidFill>
                            <a:srgbClr val="21242A"/>
                          </a:solidFill>
                          <a:latin typeface="Microsoft YaHei"/>
                        </a:rPr>
                        <a:t>3-4级TRAEs</a:t>
                      </a:r>
                    </a:p>
                  </a:txBody>
                  <a:tcPr>
                    <a:solidFill>
                      <a:srgbClr val="FFFFFF"/>
                    </a:solidFill>
                  </a:tcPr>
                </a:tc>
                <a:tc>
                  <a:txBody>
                    <a:bodyPr wrap="square" lIns="36576" rIns="36576" tIns="18288" bIns="18288"/>
                    <a:lstStyle/>
                    <a:p>
                      <a:r>
                        <a:rPr sz="540" b="0">
                          <a:solidFill>
                            <a:srgbClr val="21242A"/>
                          </a:solidFill>
                          <a:latin typeface="Microsoft YaHei"/>
                        </a:rPr>
                        <a:t>白细胞减少77.8%，中性粒细胞减少74.0%</a:t>
                      </a:r>
                    </a:p>
                  </a:txBody>
                  <a:tcPr>
                    <a:solidFill>
                      <a:srgbClr val="FFFFFF"/>
                    </a:solidFill>
                  </a:tcPr>
                </a:tc>
              </a:tr>
              <a:tr h="214230">
                <a:tc>
                  <a:txBody>
                    <a:bodyPr wrap="square" lIns="36576" rIns="36576" tIns="18288" bIns="18288"/>
                    <a:lstStyle/>
                    <a:p>
                      <a:r>
                        <a:rPr sz="540" b="1">
                          <a:solidFill>
                            <a:srgbClr val="21242A"/>
                          </a:solidFill>
                          <a:latin typeface="Microsoft YaHei"/>
                        </a:rPr>
                        <a:t>TRAE相关治疗中断</a:t>
                      </a:r>
                    </a:p>
                  </a:txBody>
                  <a:tcPr>
                    <a:solidFill>
                      <a:srgbClr val="F6F8FB"/>
                    </a:solidFill>
                  </a:tcPr>
                </a:tc>
                <a:tc>
                  <a:txBody>
                    <a:bodyPr wrap="square" lIns="36576" rIns="36576" tIns="18288" bIns="18288"/>
                    <a:lstStyle/>
                    <a:p>
                      <a:r>
                        <a:rPr sz="540" b="0">
                          <a:solidFill>
                            <a:srgbClr val="21242A"/>
                          </a:solidFill>
                          <a:latin typeface="Microsoft YaHei"/>
                        </a:rPr>
                        <a:t>29.6%</a:t>
                      </a:r>
                    </a:p>
                  </a:txBody>
                  <a:tcPr>
                    <a:solidFill>
                      <a:srgbClr val="F6F8FB"/>
                    </a:solidFill>
                  </a:tcPr>
                </a:tc>
              </a:tr>
              <a:tr h="214236">
                <a:tc>
                  <a:txBody>
                    <a:bodyPr wrap="square" lIns="36576" rIns="36576" tIns="18288" bIns="18288"/>
                    <a:lstStyle/>
                    <a:p>
                      <a:r>
                        <a:rPr sz="540" b="1">
                          <a:solidFill>
                            <a:srgbClr val="21242A"/>
                          </a:solidFill>
                          <a:latin typeface="Microsoft YaHei"/>
                        </a:rPr>
                        <a:t>治疗相关死亡</a:t>
                      </a:r>
                    </a:p>
                  </a:txBody>
                  <a:tcPr>
                    <a:solidFill>
                      <a:srgbClr val="FFFFFF"/>
                    </a:solidFill>
                  </a:tcPr>
                </a:tc>
                <a:tc>
                  <a:txBody>
                    <a:bodyPr wrap="square" lIns="36576" rIns="36576" tIns="18288" bIns="18288"/>
                    <a:lstStyle/>
                    <a:p>
                      <a:r>
                        <a:rPr sz="540" b="0">
                          <a:solidFill>
                            <a:srgbClr val="21242A"/>
                          </a:solidFill>
                          <a:latin typeface="Microsoft YaHei"/>
                        </a:rPr>
                        <a:t>0</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selinexor联合r-chop方案作为高危gcb亚型弥漫性大b细胞淋巴瘤患者的一线治疗：一项多中心、单臂、ii期研究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selinexor in combination with the r-chop regimen as a first-line treatment fo...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试验药/方案：塞利尼索</a:t>
            </a:r>
          </a:p>
          <a:p>
            <a:pPr>
              <a:lnSpc>
                <a:spcPct val="103000"/>
              </a:lnSpc>
              <a:spcAft>
                <a:spcPts val="300"/>
              </a:spcAft>
              <a:defRPr sz="800">
                <a:solidFill>
                  <a:srgbClr val="21242A"/>
                </a:solidFill>
                <a:latin typeface="Microsoft YaHei"/>
              </a:defRPr>
            </a:pPr>
            <a:r>
              <a:t>靶点：XPO1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完全缓解率(CR): 76.2%</a:t>
            </a:r>
          </a:p>
          <a:p>
            <a:pPr>
              <a:lnSpc>
                <a:spcPct val="103000"/>
              </a:lnSpc>
              <a:spcAft>
                <a:spcPts val="300"/>
              </a:spcAft>
              <a:defRPr sz="800">
                <a:solidFill>
                  <a:srgbClr val="21242A"/>
                </a:solidFill>
                <a:latin typeface="Microsoft YaHei"/>
              </a:defRPr>
            </a:pPr>
            <a:r>
              <a:t>客观缓解率(ORR): 100.0%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登记号：NCT05422066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试验药/方案：塞利尼索</a:t>
            </a:r>
          </a:p>
          <a:p>
            <a:pPr>
              <a:lnSpc>
                <a:spcPct val="103000"/>
              </a:lnSpc>
              <a:spcAft>
                <a:spcPts val="300"/>
              </a:spcAft>
              <a:defRPr sz="810">
                <a:solidFill>
                  <a:srgbClr val="21242A"/>
                </a:solidFill>
                <a:latin typeface="Microsoft YaHei"/>
              </a:defRPr>
            </a:pPr>
            <a:r>
              <a:t>靶点：XPO1</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selinexor联合r-chop方案作为高危gcb亚型弥漫性大b细胞淋巴瘤患者的一线治疗：一项多中心、单臂、ii期研究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selinexor in combination with the r-chop regimen as a first-line treatment fo...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germinal center B-cell-like (GCB) subtype is the most common molecular classification of diffuse large B-cell lymphoma (DLBCL).</a:t>
            </a:r>
          </a:p>
          <a:p>
            <a:pPr>
              <a:lnSpc>
                <a:spcPct val="103000"/>
              </a:lnSpc>
              <a:spcAft>
                <a:spcPts val="300"/>
              </a:spcAft>
              <a:defRPr sz="570">
                <a:solidFill>
                  <a:srgbClr val="21242A"/>
                </a:solidFill>
                <a:latin typeface="Microsoft YaHei"/>
              </a:defRPr>
            </a:pPr>
            <a:r>
              <a:t>Approximately 30% of patients with GCB-DLBCL show resistance to R-CHOP therapy.</a:t>
            </a:r>
          </a:p>
          <a:p>
            <a:pPr>
              <a:lnSpc>
                <a:spcPct val="103000"/>
              </a:lnSpc>
              <a:spcAft>
                <a:spcPts val="300"/>
              </a:spcAft>
              <a:defRPr sz="570">
                <a:solidFill>
                  <a:srgbClr val="21242A"/>
                </a:solidFill>
                <a:latin typeface="Microsoft YaHei"/>
              </a:defRPr>
            </a:pPr>
            <a:r>
              <a:t>An International Prognostic Index (IPI) score of 3-5 is recognized as one of the high-risk factors in patients with DLBCL.</a:t>
            </a:r>
          </a:p>
          <a:p>
            <a:pPr>
              <a:lnSpc>
                <a:spcPct val="103000"/>
              </a:lnSpc>
              <a:spcAft>
                <a:spcPts val="300"/>
              </a:spcAft>
              <a:defRPr sz="570">
                <a:solidFill>
                  <a:srgbClr val="21242A"/>
                </a:solidFill>
                <a:latin typeface="Microsoft YaHei"/>
              </a:defRPr>
            </a:pPr>
            <a:r>
              <a:t>Current therapeutic strategies for high-risk GCB-DLBCL remain insufficiently defined , underscoring a critical unmet need in first-line treatment approaches.</a:t>
            </a:r>
          </a:p>
          <a:p>
            <a:pPr>
              <a:lnSpc>
                <a:spcPct val="103000"/>
              </a:lnSpc>
              <a:spcAft>
                <a:spcPts val="300"/>
              </a:spcAft>
              <a:defRPr sz="570">
                <a:solidFill>
                  <a:srgbClr val="21242A"/>
                </a:solidFill>
                <a:latin typeface="Microsoft YaHei"/>
              </a:defRPr>
            </a:pPr>
            <a:r>
              <a:t>Selinexor, an oral selective inhibitor of nuclear export (SINE), targets exportin 1 (XPO1), leading to nuclear retention and reactivation of tumor suppressor pr</a:t>
            </a:r>
          </a:p>
          <a:p>
            <a:pPr>
              <a:lnSpc>
                <a:spcPct val="103000"/>
              </a:lnSpc>
              <a:spcAft>
                <a:spcPts val="300"/>
              </a:spcAft>
              <a:defRPr sz="570">
                <a:solidFill>
                  <a:srgbClr val="21242A"/>
                </a:solidFill>
                <a:latin typeface="Microsoft YaHei"/>
              </a:defRPr>
            </a:pPr>
            <a:r>
              <a:t>oteins.</a:t>
            </a:r>
          </a:p>
          <a:p>
            <a:pPr>
              <a:lnSpc>
                <a:spcPct val="103000"/>
              </a:lnSpc>
              <a:spcAft>
                <a:spcPts val="300"/>
              </a:spcAft>
              <a:defRPr sz="570">
                <a:solidFill>
                  <a:srgbClr val="21242A"/>
                </a:solidFill>
                <a:latin typeface="Microsoft YaHei"/>
              </a:defRPr>
            </a:pPr>
            <a:r>
              <a:t>In a real-world study involving 17 patients, Selinexor in combination with R-CHOP has shown promising results in treating high-risk GCB DLBCL.</a:t>
            </a:r>
          </a:p>
          <a:p>
            <a:pPr>
              <a:lnSpc>
                <a:spcPct val="103000"/>
              </a:lnSpc>
              <a:spcAft>
                <a:spcPts val="300"/>
              </a:spcAft>
              <a:defRPr sz="570">
                <a:solidFill>
                  <a:srgbClr val="21242A"/>
                </a:solidFill>
                <a:latin typeface="Microsoft YaHei"/>
              </a:defRPr>
            </a:pPr>
            <a:r>
              <a:t>Aims: This phase II trial (NCT05422066) aims to evaluate the efficacy and safety of selinexor in combination with the R-CHOP regimen as a first-line treatment f</a:t>
            </a:r>
          </a:p>
          <a:p>
            <a:pPr>
              <a:lnSpc>
                <a:spcPct val="103000"/>
              </a:lnSpc>
              <a:spcAft>
                <a:spcPts val="300"/>
              </a:spcAft>
              <a:defRPr sz="570">
                <a:solidFill>
                  <a:srgbClr val="21242A"/>
                </a:solidFill>
                <a:latin typeface="Microsoft YaHei"/>
              </a:defRPr>
            </a:pPr>
            <a:r>
              <a:t>or patients with high-risk (IPI 3-5) GCB-DLBCL.</a:t>
            </a:r>
          </a:p>
          <a:p>
            <a:pPr>
              <a:lnSpc>
                <a:spcPct val="103000"/>
              </a:lnSpc>
              <a:spcAft>
                <a:spcPts val="300"/>
              </a:spcAft>
              <a:defRPr sz="570">
                <a:solidFill>
                  <a:srgbClr val="21242A"/>
                </a:solidFill>
                <a:latin typeface="Microsoft YaHei"/>
              </a:defRPr>
            </a:pPr>
            <a:r>
              <a:t>Methods: P atients n ewly diagnosed with untreated GCB-DLBCL (IPI 3-5) were enrolled in this study.</a:t>
            </a:r>
          </a:p>
          <a:p>
            <a:pPr>
              <a:lnSpc>
                <a:spcPct val="103000"/>
              </a:lnSpc>
              <a:spcAft>
                <a:spcPts val="300"/>
              </a:spcAft>
              <a:defRPr sz="570">
                <a:solidFill>
                  <a:srgbClr val="21242A"/>
                </a:solidFill>
                <a:latin typeface="Microsoft YaHei"/>
              </a:defRPr>
            </a:pPr>
            <a:r>
              <a:t>P atients will be treated with six cyclesof R-CHOP and selinexor (60 mg qw), with each cycle lasting three weeks .</a:t>
            </a:r>
          </a:p>
          <a:p>
            <a:pPr>
              <a:lnSpc>
                <a:spcPct val="103000"/>
              </a:lnSpc>
              <a:spcAft>
                <a:spcPts val="300"/>
              </a:spcAft>
              <a:defRPr sz="570">
                <a:solidFill>
                  <a:srgbClr val="21242A"/>
                </a:solidFill>
                <a:latin typeface="Microsoft YaHei"/>
              </a:defRPr>
            </a:pPr>
            <a:r>
              <a:t>Treatment continue d for six cycles, or until intolerability, inadequate response, disease progression, consent withdrawal or death .</a:t>
            </a:r>
          </a:p>
          <a:p>
            <a:pPr>
              <a:lnSpc>
                <a:spcPct val="103000"/>
              </a:lnSpc>
              <a:spcAft>
                <a:spcPts val="300"/>
              </a:spcAft>
              <a:defRPr sz="570">
                <a:solidFill>
                  <a:srgbClr val="21242A"/>
                </a:solidFill>
                <a:latin typeface="Microsoft YaHei"/>
              </a:defRPr>
            </a:pPr>
            <a:r>
              <a:t>Efficacy was evaluated according to the Lugano 2014 criteria.</a:t>
            </a:r>
          </a:p>
          <a:p>
            <a:pPr>
              <a:lnSpc>
                <a:spcPct val="103000"/>
              </a:lnSpc>
              <a:spcAft>
                <a:spcPts val="300"/>
              </a:spcAft>
              <a:defRPr sz="570">
                <a:solidFill>
                  <a:srgbClr val="21242A"/>
                </a:solidFill>
                <a:latin typeface="Microsoft YaHei"/>
              </a:defRPr>
            </a:pPr>
            <a:r>
              <a:t>The primary endpoint was the complete response (CR) rate, and the secondary endpoints included the objective response rate (ORR), progression-free survival (PFS</a:t>
            </a:r>
          </a:p>
          <a:p>
            <a:pPr>
              <a:lnSpc>
                <a:spcPct val="103000"/>
              </a:lnSpc>
              <a:spcAft>
                <a:spcPts val="300"/>
              </a:spcAft>
              <a:defRPr sz="570">
                <a:solidFill>
                  <a:srgbClr val="21242A"/>
                </a:solidFill>
                <a:latin typeface="Microsoft YaHei"/>
              </a:defRPr>
            </a:pPr>
            <a:r>
              <a:t>), disease-free survival (DFS), overall survival (OS), as well as safety and tolerability.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combination of selinexor with the R-CHOP as a first-line treatment for high-risk (IPI 3-5) GCB-DLBCL demonstrates encouraging efficacy and and a manageable </a:t>
            </a:r>
          </a:p>
          <a:p>
            <a:pPr>
              <a:lnSpc>
                <a:spcPct val="103000"/>
              </a:lnSpc>
              <a:spcAft>
                <a:spcPts val="300"/>
              </a:spcAft>
              <a:defRPr sz="590">
                <a:solidFill>
                  <a:srgbClr val="21242A"/>
                </a:solidFill>
                <a:latin typeface="Microsoft YaHei"/>
              </a:defRPr>
            </a:pPr>
            <a:r>
              <a:t>safety profile.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Between August 2022 and February 2026 , a total of 45 patients were enrolled , with a median age of 59 years (range, 26-79).</a:t>
            </a:r>
          </a:p>
          <a:p>
            <a:pPr>
              <a:lnSpc>
                <a:spcPct val="103000"/>
              </a:lnSpc>
              <a:spcAft>
                <a:spcPts val="300"/>
              </a:spcAft>
              <a:defRPr sz="580">
                <a:solidFill>
                  <a:srgbClr val="21242A"/>
                </a:solidFill>
                <a:latin typeface="Microsoft YaHei"/>
              </a:defRPr>
            </a:pPr>
            <a:r>
              <a:t>T he majority o f patients (9 7 . 8 %) presented with stage III-IV disease, and 4 2.2 % were over 60 years.</a:t>
            </a:r>
          </a:p>
          <a:p>
            <a:pPr>
              <a:lnSpc>
                <a:spcPct val="103000"/>
              </a:lnSpc>
              <a:spcAft>
                <a:spcPts val="300"/>
              </a:spcAft>
              <a:defRPr sz="580">
                <a:solidFill>
                  <a:srgbClr val="21242A"/>
                </a:solidFill>
                <a:latin typeface="Microsoft YaHei"/>
              </a:defRPr>
            </a:pPr>
            <a:r>
              <a:t>Additionally, 68.9% of patients presented with two or more extranodal involvement , and 5 1.1 % had elevated lactate dehydrogenase levels .</a:t>
            </a:r>
          </a:p>
          <a:p>
            <a:pPr>
              <a:lnSpc>
                <a:spcPct val="103000"/>
              </a:lnSpc>
              <a:spcAft>
                <a:spcPts val="300"/>
              </a:spcAft>
              <a:defRPr sz="580">
                <a:solidFill>
                  <a:srgbClr val="21242A"/>
                </a:solidFill>
                <a:latin typeface="Microsoft YaHei"/>
              </a:defRPr>
            </a:pPr>
            <a:r>
              <a:t>The double expression of MYC and BCL2 was detected in 20.0 % of patients .</a:t>
            </a:r>
          </a:p>
          <a:p>
            <a:pPr>
              <a:lnSpc>
                <a:spcPct val="103000"/>
              </a:lnSpc>
              <a:spcAft>
                <a:spcPts val="300"/>
              </a:spcAft>
              <a:defRPr sz="580">
                <a:solidFill>
                  <a:srgbClr val="21242A"/>
                </a:solidFill>
                <a:latin typeface="Microsoft YaHei"/>
              </a:defRPr>
            </a:pPr>
            <a:r>
              <a:t>The median follow-up period was 21.0 months (95% CI: 16.1 - 25.9), with 42 patients being evaluable for response.</a:t>
            </a:r>
          </a:p>
          <a:p>
            <a:pPr>
              <a:lnSpc>
                <a:spcPct val="103000"/>
              </a:lnSpc>
              <a:spcAft>
                <a:spcPts val="300"/>
              </a:spcAft>
              <a:defRPr sz="580">
                <a:solidFill>
                  <a:srgbClr val="21242A"/>
                </a:solidFill>
                <a:latin typeface="Microsoft YaHei"/>
              </a:defRPr>
            </a:pPr>
            <a:r>
              <a:t>The CR rate was 76.2 %, and the ORR was 100.0%.</a:t>
            </a:r>
          </a:p>
          <a:p>
            <a:pPr>
              <a:lnSpc>
                <a:spcPct val="103000"/>
              </a:lnSpc>
              <a:spcAft>
                <a:spcPts val="300"/>
              </a:spcAft>
              <a:defRPr sz="580">
                <a:solidFill>
                  <a:srgbClr val="21242A"/>
                </a:solidFill>
                <a:latin typeface="Microsoft YaHei"/>
              </a:defRPr>
            </a:pPr>
            <a:r>
              <a:t>The 2-year OS, PFS and DFS rate were 97.6 % (95% CI: 93.1 %- 100 %) , 6 6.7 % (95% CI: 50.4 %- 88.1 %) and 82.4 % (95% CI: 63.9 %-100%), respectively.</a:t>
            </a:r>
          </a:p>
          <a:p>
            <a:pPr>
              <a:lnSpc>
                <a:spcPct val="103000"/>
              </a:lnSpc>
              <a:spcAft>
                <a:spcPts val="300"/>
              </a:spcAft>
              <a:defRPr sz="580">
                <a:solidFill>
                  <a:srgbClr val="21242A"/>
                </a:solidFill>
                <a:latin typeface="Microsoft YaHei"/>
              </a:defRPr>
            </a:pPr>
            <a:r>
              <a:t>The median PFS, DFS and OS have not yet been reached. The majority of adverse events (AEs) were of grade 1-2.</a:t>
            </a:r>
          </a:p>
          <a:p>
            <a:pPr>
              <a:lnSpc>
                <a:spcPct val="103000"/>
              </a:lnSpc>
              <a:spcAft>
                <a:spcPts val="300"/>
              </a:spcAft>
              <a:defRPr sz="580">
                <a:solidFill>
                  <a:srgbClr val="21242A"/>
                </a:solidFill>
                <a:latin typeface="Microsoft YaHei"/>
              </a:defRPr>
            </a:pPr>
            <a:r>
              <a:t>Grade 3-4 AEs included neutropenia (71.1%), leukopenia (60.0%), decreased lymphocyte count (31.1%), and thrombocytopenia (26.7%).</a:t>
            </a:r>
          </a:p>
          <a:p>
            <a:pPr>
              <a:lnSpc>
                <a:spcPct val="103000"/>
              </a:lnSpc>
              <a:spcAft>
                <a:spcPts val="300"/>
              </a:spcAft>
              <a:defRPr sz="580">
                <a:solidFill>
                  <a:srgbClr val="21242A"/>
                </a:solidFill>
                <a:latin typeface="Microsoft YaHei"/>
              </a:defRPr>
            </a:pPr>
            <a:r>
              <a:t>All AEs were effectively managed with supportive care and subsequently resolved. \n Table 1: Baseline Characteristics of the Study Population.</a:t>
            </a:r>
          </a:p>
          <a:p>
            <a:pPr>
              <a:lnSpc>
                <a:spcPct val="103000"/>
              </a:lnSpc>
              <a:spcAft>
                <a:spcPts val="300"/>
              </a:spcAft>
              <a:defRPr sz="580">
                <a:solidFill>
                  <a:srgbClr val="21242A"/>
                </a:solidFill>
                <a:latin typeface="Microsoft YaHei"/>
              </a:defRPr>
            </a:pPr>
            <a:r>
              <a:t>\n \n \n \n \n Baseline characteristics</a:t>
            </a:r>
          </a:p>
          <a:p>
            <a:pPr>
              <a:lnSpc>
                <a:spcPct val="103000"/>
              </a:lnSpc>
              <a:spcAft>
                <a:spcPts val="300"/>
              </a:spcAft>
              <a:defRPr sz="580">
                <a:solidFill>
                  <a:srgbClr val="21242A"/>
                </a:solidFill>
                <a:latin typeface="Microsoft YaHei"/>
              </a:defRPr>
            </a:pPr>
            <a:r>
              <a:t>Conclusion: The combination of selinexor with the R-CHOP as a first-line treatment for high-risk (IPI 3-5) GCB-DLBCL demonstrates encouraging efficacy and </a:t>
            </a:r>
          </a:p>
          <a:p>
            <a:pPr>
              <a:lnSpc>
                <a:spcPct val="103000"/>
              </a:lnSpc>
              <a:spcAft>
                <a:spcPts val="300"/>
              </a:spcAft>
              <a:defRPr sz="580">
                <a:solidFill>
                  <a:srgbClr val="21242A"/>
                </a:solidFill>
                <a:latin typeface="Microsoft YaHei"/>
              </a:defRPr>
            </a:pPr>
            <a:r>
              <a:t>and a manageable safety profile.</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摘要号：PS2065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前瞻性临床研究结果：profiling the csf-ctdna mutational landscape in a lar...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CSF-ctDNA阳性率：23.9%（98/410）</a:t>
            </a:r>
          </a:p>
          <a:p>
            <a:pPr>
              <a:lnSpc>
                <a:spcPct val="103000"/>
              </a:lnSpc>
              <a:spcAft>
                <a:spcPts val="300"/>
              </a:spcAft>
              <a:defRPr sz="800">
                <a:solidFill>
                  <a:srgbClr val="21242A"/>
                </a:solidFill>
                <a:latin typeface="Microsoft YaHei"/>
              </a:defRPr>
            </a:pPr>
            <a:r>
              <a:t>CSF(+)患者中前10个最常突变基因：MYD88 35.8%, PIM1 34.6%, CD79B 28.8%, KMT2D...</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人数：410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研究主题：profiling the csf-ctdna mutational landscape in a large cohort of dlbcl: implications for predicting cns relapse and 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Central nervous system involvement (CNSi) is a rare but often fatal event in systemic diffuse large B-cell lymphoma (DLBCL) patients.</a:t>
            </a:r>
          </a:p>
          <a:p>
            <a:pPr>
              <a:lnSpc>
                <a:spcPct val="103000"/>
              </a:lnSpc>
              <a:spcAft>
                <a:spcPts val="300"/>
              </a:spcAft>
              <a:defRPr sz="570">
                <a:solidFill>
                  <a:srgbClr val="21242A"/>
                </a:solidFill>
                <a:latin typeface="Microsoft YaHei"/>
              </a:defRPr>
            </a:pPr>
            <a:r>
              <a:t>Circulating tumor DNA from cerebrospinal fluid (CSF-ctDNA) has played an important part in the application of liquid biopsy in CNS cancers.</a:t>
            </a:r>
          </a:p>
          <a:p>
            <a:pPr>
              <a:lnSpc>
                <a:spcPct val="103000"/>
              </a:lnSpc>
              <a:spcAft>
                <a:spcPts val="300"/>
              </a:spcAft>
              <a:defRPr sz="570">
                <a:solidFill>
                  <a:srgbClr val="21242A"/>
                </a:solidFill>
                <a:latin typeface="Microsoft YaHei"/>
              </a:defRPr>
            </a:pPr>
            <a:r>
              <a:t>Nevertheless, larger-scale studies are needed to further characterize the mutational landscape of CSF-ctDNA and validate its clinical relevance in newly diagnos</a:t>
            </a:r>
          </a:p>
          <a:p>
            <a:pPr>
              <a:lnSpc>
                <a:spcPct val="103000"/>
              </a:lnSpc>
              <a:spcAft>
                <a:spcPts val="300"/>
              </a:spcAft>
              <a:defRPr sz="570">
                <a:solidFill>
                  <a:srgbClr val="21242A"/>
                </a:solidFill>
                <a:latin typeface="Microsoft YaHei"/>
              </a:defRPr>
            </a:pPr>
            <a:r>
              <a:t>ed (ND) DLBCL (ND-DLBCL).</a:t>
            </a:r>
          </a:p>
          <a:p>
            <a:pPr>
              <a:lnSpc>
                <a:spcPct val="103000"/>
              </a:lnSpc>
              <a:spcAft>
                <a:spcPts val="300"/>
              </a:spcAft>
              <a:defRPr sz="570">
                <a:solidFill>
                  <a:srgbClr val="21242A"/>
                </a:solidFill>
                <a:latin typeface="Microsoft YaHei"/>
              </a:defRPr>
            </a:pPr>
            <a:r>
              <a:t>Aims: To thoroughly profile the mutational landscape of CSF-ctDNA and to explore its clinical significance in a large ND-DLBCL cohort.</a:t>
            </a:r>
          </a:p>
          <a:p>
            <a:pPr>
              <a:lnSpc>
                <a:spcPct val="103000"/>
              </a:lnSpc>
              <a:spcAft>
                <a:spcPts val="300"/>
              </a:spcAft>
              <a:defRPr sz="570">
                <a:solidFill>
                  <a:srgbClr val="21242A"/>
                </a:solidFill>
                <a:latin typeface="Microsoft YaHei"/>
              </a:defRPr>
            </a:pPr>
            <a:r>
              <a:t>Methods: Between December, 2021 and January, 2026, 410 ND-DLBCL patients treated in our center were enrolled in the cohort.</a:t>
            </a:r>
          </a:p>
          <a:p>
            <a:pPr>
              <a:lnSpc>
                <a:spcPct val="103000"/>
              </a:lnSpc>
              <a:spcAft>
                <a:spcPts val="300"/>
              </a:spcAft>
              <a:defRPr sz="570">
                <a:solidFill>
                  <a:srgbClr val="21242A"/>
                </a:solidFill>
                <a:latin typeface="Microsoft YaHei"/>
              </a:defRPr>
            </a:pPr>
            <a:r>
              <a:t>Baseline CSF, tissue and plasma samples were sequenced using a 475-gene lymphoma-specific panel. All patients were treated with R-CHOP or Pola-R-CHP regimen.</a:t>
            </a:r>
          </a:p>
          <a:p>
            <a:pPr>
              <a:lnSpc>
                <a:spcPct val="103000"/>
              </a:lnSpc>
              <a:spcAft>
                <a:spcPts val="300"/>
              </a:spcAft>
              <a:defRPr sz="570">
                <a:solidFill>
                  <a:srgbClr val="21242A"/>
                </a:solidFill>
                <a:latin typeface="Microsoft YaHei"/>
              </a:defRPr>
            </a:pPr>
            <a:r>
              <a:t>Patients were identiﬁed as CSF-ctDNA positive (CSF(+)) based on two criteria: (1) at least one mutant variant detected in CSF-ctDNA was shared with tissue; (2) </a:t>
            </a:r>
          </a:p>
          <a:p>
            <a:pPr>
              <a:lnSpc>
                <a:spcPct val="103000"/>
              </a:lnSpc>
              <a:spcAft>
                <a:spcPts val="300"/>
              </a:spcAft>
              <a:defRPr sz="570">
                <a:solidFill>
                  <a:srgbClr val="21242A"/>
                </a:solidFill>
                <a:latin typeface="Microsoft YaHei"/>
              </a:defRPr>
            </a:pPr>
            <a:r>
              <a:t>at least one mutant variant detected in CSF-ctDNA was canonical driver mutation in DLBCL ( Figure 1A ).</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To conclude, in this large-scale cohort, we comprehensively depicted the mutational landscape of CSF-ctDNA, explored the biological characteristics of CSF(+) pa</a:t>
            </a:r>
          </a:p>
          <a:p>
            <a:pPr>
              <a:lnSpc>
                <a:spcPct val="103000"/>
              </a:lnSpc>
              <a:spcAft>
                <a:spcPts val="300"/>
              </a:spcAft>
              <a:defRPr sz="590">
                <a:solidFill>
                  <a:srgbClr val="21242A"/>
                </a:solidFill>
                <a:latin typeface="Microsoft YaHei"/>
              </a:defRPr>
            </a:pPr>
            <a:r>
              <a:t>tients, and highlighted the importance of CSF-ctDNA in predicting clinical outcome and CNS relapse in ND-DLBCL patients.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Of the 410 ND-DLBCL patients, 98 (23.9%) were identified as CSF(+), among which 63 (64.3%) fulfilled both criteria, while 17 (17.3%) only met crit</a:t>
            </a:r>
          </a:p>
          <a:p>
            <a:pPr>
              <a:lnSpc>
                <a:spcPct val="103000"/>
              </a:lnSpc>
              <a:spcAft>
                <a:spcPts val="300"/>
              </a:spcAft>
              <a:defRPr sz="580">
                <a:solidFill>
                  <a:srgbClr val="21242A"/>
                </a:solidFill>
                <a:latin typeface="Microsoft YaHei"/>
              </a:defRPr>
            </a:pPr>
            <a:r>
              <a:t>erion 1 and 18 (18.4%) only met criterion 2 ( Figure 1B ).</a:t>
            </a:r>
          </a:p>
          <a:p>
            <a:pPr>
              <a:lnSpc>
                <a:spcPct val="103000"/>
              </a:lnSpc>
              <a:spcAft>
                <a:spcPts val="300"/>
              </a:spcAft>
              <a:defRPr sz="580">
                <a:solidFill>
                  <a:srgbClr val="21242A"/>
                </a:solidFill>
                <a:latin typeface="Microsoft YaHei"/>
              </a:defRPr>
            </a:pPr>
            <a:r>
              <a:t>Among the 80 CSF(+) patients with matched tissue, plasma and CSF samples, the top 10 frequently mutated genes were MYD88 (35.8%), PIM1 (34.6%), CD79B (28.8</a:t>
            </a:r>
          </a:p>
          <a:p>
            <a:pPr>
              <a:lnSpc>
                <a:spcPct val="103000"/>
              </a:lnSpc>
              <a:spcAft>
                <a:spcPts val="300"/>
              </a:spcAft>
              <a:defRPr sz="580">
                <a:solidFill>
                  <a:srgbClr val="21242A"/>
                </a:solidFill>
                <a:latin typeface="Microsoft YaHei"/>
              </a:defRPr>
            </a:pPr>
            <a:r>
              <a:t>%), KMT2D (24.2%), BTG2 (23.3%), TP53 (23.3%), H1-4 (23.3%), BTG1 (22.1%), BCL6 (20.8%) and ETV6 (19.6%) ( Figure 1C ).</a:t>
            </a:r>
          </a:p>
          <a:p>
            <a:pPr>
              <a:lnSpc>
                <a:spcPct val="103000"/>
              </a:lnSpc>
              <a:spcAft>
                <a:spcPts val="300"/>
              </a:spcAft>
              <a:defRPr sz="580">
                <a:solidFill>
                  <a:srgbClr val="21242A"/>
                </a:solidFill>
                <a:latin typeface="Microsoft YaHei"/>
              </a:defRPr>
            </a:pPr>
            <a:r>
              <a:t>The mean variant allele frequency was significantly lower in CSF than in tissue and plasma samples ( Figure 1D ).</a:t>
            </a:r>
          </a:p>
          <a:p>
            <a:pPr>
              <a:lnSpc>
                <a:spcPct val="103000"/>
              </a:lnSpc>
              <a:spcAft>
                <a:spcPts val="300"/>
              </a:spcAft>
              <a:defRPr sz="580">
                <a:solidFill>
                  <a:srgbClr val="21242A"/>
                </a:solidFill>
                <a:latin typeface="Microsoft YaHei"/>
              </a:defRPr>
            </a:pPr>
            <a:r>
              <a:t>As to genetic subtypes, CSF(+) patients were mostly distributed in MCD (N=37), Other (N=29), ST2 (N=10), BN2 (N=8) and TP53-disrupted subtypes (N=7), while</a:t>
            </a:r>
          </a:p>
          <a:p>
            <a:pPr>
              <a:lnSpc>
                <a:spcPct val="103000"/>
              </a:lnSpc>
              <a:spcAft>
                <a:spcPts val="300"/>
              </a:spcAft>
              <a:defRPr sz="580">
                <a:solidFill>
                  <a:srgbClr val="21242A"/>
                </a:solidFill>
                <a:latin typeface="Microsoft YaHei"/>
              </a:defRPr>
            </a:pPr>
            <a:r>
              <a:t> TP53-disrupted (36.8%) and MCD (34.3%) subtypes showed highest CSF(+) ratio ( Figure 1E ).</a:t>
            </a:r>
          </a:p>
          <a:p>
            <a:pPr>
              <a:lnSpc>
                <a:spcPct val="103000"/>
              </a:lnSpc>
              <a:spcAft>
                <a:spcPts val="300"/>
              </a:spcAft>
              <a:defRPr sz="580">
                <a:solidFill>
                  <a:srgbClr val="21242A"/>
                </a:solidFill>
                <a:latin typeface="Microsoft YaHei"/>
              </a:defRPr>
            </a:pPr>
            <a:r>
              <a:t>However, no difference in CSF-ctDNA burden was observed across genetic subtypes ( Figure 1F ).</a:t>
            </a:r>
          </a:p>
          <a:p>
            <a:pPr>
              <a:lnSpc>
                <a:spcPct val="103000"/>
              </a:lnSpc>
              <a:spcAft>
                <a:spcPts val="300"/>
              </a:spcAft>
              <a:defRPr sz="580">
                <a:solidFill>
                  <a:srgbClr val="21242A"/>
                </a:solidFill>
                <a:latin typeface="Microsoft YaHei"/>
              </a:defRPr>
            </a:pPr>
            <a:r>
              <a:t>Furthermore, CSF(+) patients exhibited higher plasma ctDNA burden ( Figure 1G ).</a:t>
            </a:r>
          </a:p>
          <a:p>
            <a:pPr>
              <a:lnSpc>
                <a:spcPct val="103000"/>
              </a:lnSpc>
              <a:spcAft>
                <a:spcPts val="300"/>
              </a:spcAft>
              <a:defRPr sz="580">
                <a:solidFill>
                  <a:srgbClr val="21242A"/>
                </a:solidFill>
                <a:latin typeface="Microsoft YaHei"/>
              </a:defRPr>
            </a:pPr>
            <a:r>
              <a:t>Patients with MCD subtype, non-GCB orign, specific extranodal sites involvement (reproductive system, kidney/adrenal gland, bone marrow) and higher IPI sco</a:t>
            </a:r>
          </a:p>
          <a:p>
            <a:pPr>
              <a:lnSpc>
                <a:spcPct val="103000"/>
              </a:lnSpc>
              <a:spcAft>
                <a:spcPts val="300"/>
              </a:spcAft>
              <a:defRPr sz="580">
                <a:solidFill>
                  <a:srgbClr val="21242A"/>
                </a:solidFill>
                <a:latin typeface="Microsoft YaHei"/>
              </a:defRPr>
            </a:pPr>
            <a:r>
              <a:t>re were correlated with higher CSF(+) rate, while gastrointestinal tract involvement seemed negatively associated with CSF(+) ( Figure 1H ).</a:t>
            </a:r>
          </a:p>
          <a:p>
            <a:pPr>
              <a:lnSpc>
                <a:spcPct val="103000"/>
              </a:lnSpc>
              <a:spcAft>
                <a:spcPts val="300"/>
              </a:spcAft>
              <a:defRPr sz="580">
                <a:solidFill>
                  <a:srgbClr val="21242A"/>
                </a:solidFill>
                <a:latin typeface="Microsoft YaHei"/>
              </a:defRPr>
            </a:pPr>
            <a:r>
              <a:t>In plasma samples, MYD88, CD79B, ETV6, IGLL5, CDKN2A, CARD11, CD274 mutations were associated with higher CSF(+) rate ( Figure 1I ), while in tissue sample</a:t>
            </a:r>
          </a:p>
          <a:p>
            <a:pPr>
              <a:lnSpc>
                <a:spcPct val="103000"/>
              </a:lnSpc>
              <a:spcAft>
                <a:spcPts val="300"/>
              </a:spcAft>
              <a:defRPr sz="580">
                <a:solidFill>
                  <a:srgbClr val="21242A"/>
                </a:solidFill>
                <a:latin typeface="Microsoft YaHei"/>
              </a:defRPr>
            </a:pPr>
            <a:r>
              <a:t>s, CARD11, PRDM1, MCL1 mutations seemed correlated with higher CSF(+) rate ( Figure 1J ).</a:t>
            </a:r>
          </a:p>
          <a:p>
            <a:pPr>
              <a:lnSpc>
                <a:spcPct val="103000"/>
              </a:lnSpc>
              <a:spcAft>
                <a:spcPts val="300"/>
              </a:spcAft>
              <a:defRPr sz="580">
                <a:solidFill>
                  <a:srgbClr val="21242A"/>
                </a:solidFill>
                <a:latin typeface="Microsoft YaHei"/>
              </a:defRPr>
            </a:pPr>
            <a:r>
              <a:t>In RNA level, the dysregulated genes of CSF(+) patients were enriched in cytokine-cytokine receptor interaction, focal adhesion, cytoskeleton, and PI3K-AKT</a:t>
            </a:r>
          </a:p>
          <a:p>
            <a:pPr>
              <a:lnSpc>
                <a:spcPct val="103000"/>
              </a:lnSpc>
              <a:spcAft>
                <a:spcPts val="300"/>
              </a:spcAft>
              <a:defRPr sz="580">
                <a:solidFill>
                  <a:srgbClr val="21242A"/>
                </a:solidFill>
                <a:latin typeface="Microsoft YaHei"/>
              </a:defRPr>
            </a:pPr>
            <a:r>
              <a:t> signaling pathways, potentially promoting CNSi in ND-DLBCL ( Figure 1K ).</a:t>
            </a:r>
          </a:p>
          <a:p>
            <a:pPr>
              <a:lnSpc>
                <a:spcPct val="103000"/>
              </a:lnSpc>
              <a:spcAft>
                <a:spcPts val="300"/>
              </a:spcAft>
              <a:defRPr sz="580">
                <a:solidFill>
                  <a:srgbClr val="21242A"/>
                </a:solidFill>
                <a:latin typeface="Microsoft YaHei"/>
              </a:defRPr>
            </a:pPr>
            <a:r>
              <a:t>Moreover, CSF(+) significantly correlated with inferior response to initial treatment and worse survival in ND-DLBCL patients ( Figure 1L-1N ).</a:t>
            </a:r>
          </a:p>
          <a:p>
            <a:pPr>
              <a:lnSpc>
                <a:spcPct val="103000"/>
              </a:lnSpc>
              <a:spcAft>
                <a:spcPts val="300"/>
              </a:spcAft>
              <a:defRPr sz="580">
                <a:solidFill>
                  <a:srgbClr val="21242A"/>
                </a:solidFill>
                <a:latin typeface="Microsoft YaHei"/>
              </a:defRPr>
            </a:pPr>
            <a:r>
              <a:t>Besides, CSF-ctDNA(+) demonstrated superior prediction capability for CNS relapse compared with high-risk CNS-IPI in ND-DLBCL ( Figure 1O ).</a:t>
            </a:r>
          </a:p>
          <a:p>
            <a:pPr>
              <a:lnSpc>
                <a:spcPct val="103000"/>
              </a:lnSpc>
              <a:spcAft>
                <a:spcPts val="300"/>
              </a:spcAft>
              <a:defRPr sz="580">
                <a:solidFill>
                  <a:srgbClr val="21242A"/>
                </a:solidFill>
                <a:latin typeface="Microsoft YaHei"/>
              </a:defRPr>
            </a:pPr>
            <a:r>
              <a:t>Conclusion: To conclude, in this large-scale cohort, we comprehensively depicted the mutational landscape of CSF-ctDNA, explored the biological characteris</a:t>
            </a:r>
          </a:p>
          <a:p>
            <a:pPr>
              <a:lnSpc>
                <a:spcPct val="103000"/>
              </a:lnSpc>
              <a:spcAft>
                <a:spcPts val="300"/>
              </a:spcAft>
              <a:defRPr sz="580">
                <a:solidFill>
                  <a:srgbClr val="21242A"/>
                </a:solidFill>
                <a:latin typeface="Microsoft YaHei"/>
              </a:defRPr>
            </a:pPr>
            <a:r>
              <a:t>tics of CSF(+) patients, and highlighted the importance of CSF-ctDNA in predicting clinical outcome and CNS relapse in ND-DLBCL patients.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摘要号：PS2062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r-gemox+nivolumab与r-gemox作为移植不合格患者大b细胞淋巴瘤二线治疗的比较：对agmt、gla、...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r-gemox+nivolumab vs r-gemox as 2nd-line therapy for large b-cell lymphoma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a:t>
            </a:r>
          </a:p>
          <a:p>
            <a:pPr>
              <a:lnSpc>
                <a:spcPct val="103000"/>
              </a:lnSpc>
              <a:spcAft>
                <a:spcPts val="300"/>
              </a:spcAft>
              <a:defRPr sz="800">
                <a:solidFill>
                  <a:srgbClr val="21242A"/>
                </a:solidFill>
                <a:latin typeface="Microsoft YaHei"/>
              </a:defRPr>
            </a:pPr>
            <a:r>
              <a:t>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试验药/方案：纳武利尤单抗</a:t>
            </a:r>
          </a:p>
          <a:p>
            <a:pPr>
              <a:lnSpc>
                <a:spcPct val="103000"/>
              </a:lnSpc>
              <a:spcAft>
                <a:spcPts val="300"/>
              </a:spcAft>
              <a:defRPr sz="800">
                <a:solidFill>
                  <a:srgbClr val="21242A"/>
                </a:solidFill>
                <a:latin typeface="Microsoft YaHei"/>
              </a:defRPr>
            </a:pPr>
            <a:r>
              <a:t>靶点：PD-1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多组/多方案比较：试验组1：R-GEMOX（利妥昔单抗、吉西他滨、奥沙利铂）</a:t>
            </a:r>
          </a:p>
          <a:p>
            <a:pPr>
              <a:lnSpc>
                <a:spcPct val="103000"/>
              </a:lnSpc>
              <a:spcAft>
                <a:spcPts val="300"/>
              </a:spcAft>
              <a:defRPr sz="800">
                <a:solidFill>
                  <a:srgbClr val="21242A"/>
                </a:solidFill>
                <a:latin typeface="Microsoft YaHei"/>
              </a:defRPr>
            </a:pPr>
            <a:r>
              <a:t>试验组2：R-GEMOX + 纳武利尤单抗，随后纳武利尤单抗维持治疗（最多1年）</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1年无进展生存期（PFS）：试验组A 27% vs 试验组B 23%，p=0.686</a:t>
            </a:r>
          </a:p>
          <a:p>
            <a:pPr>
              <a:lnSpc>
                <a:spcPct val="103000"/>
              </a:lnSpc>
              <a:spcAft>
                <a:spcPts val="300"/>
              </a:spcAft>
              <a:defRPr sz="800">
                <a:solidFill>
                  <a:srgbClr val="21242A"/>
                </a:solidFill>
                <a:latin typeface="Microsoft YaHei"/>
              </a:defRPr>
            </a:pPr>
            <a:r>
              <a:t>1年无事件生存期（EFS）：试验组A 22% vs 试验组B 22%，p=0.897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人数：267</a:t>
            </a:r>
          </a:p>
          <a:p>
            <a:pPr>
              <a:lnSpc>
                <a:spcPct val="103000"/>
              </a:lnSpc>
              <a:spcAft>
                <a:spcPts val="300"/>
              </a:spcAft>
              <a:defRPr sz="810">
                <a:solidFill>
                  <a:srgbClr val="21242A"/>
                </a:solidFill>
                <a:latin typeface="Microsoft YaHei"/>
              </a:defRPr>
            </a:pPr>
            <a:r>
              <a:t>适应症：B细胞非霍奇金淋巴瘤、弥漫性大B细胞淋巴瘤、大B细胞淋巴瘤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登记号：NCT03366272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试验药/方案：纳武利尤单抗</a:t>
            </a:r>
          </a:p>
          <a:p>
            <a:pPr>
              <a:lnSpc>
                <a:spcPct val="103000"/>
              </a:lnSpc>
              <a:spcAft>
                <a:spcPts val="300"/>
              </a:spcAft>
              <a:defRPr sz="810">
                <a:solidFill>
                  <a:srgbClr val="21242A"/>
                </a:solidFill>
                <a:latin typeface="Microsoft YaHei"/>
              </a:defRPr>
            </a:pPr>
            <a:r>
              <a:t>靶点：PD-1</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r-gemox+nivolumab与r-gemox作为移植不合格患者大b细胞淋巴瘤二线治疗的比较：对agmt、gla、...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r-gemox+nivolumab vs r-gemox as 2nd-line therapy for large b-cell lymphoma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Patients (pts) with relapsed or refractory ( R / R ) large B-cell lymphoma (LBCL) after first-line treatment, who are ineligible for high-dose chemo</a:t>
            </a:r>
          </a:p>
          <a:p>
            <a:pPr>
              <a:lnSpc>
                <a:spcPct val="103000"/>
              </a:lnSpc>
              <a:spcAft>
                <a:spcPts val="300"/>
              </a:spcAft>
              <a:defRPr sz="570">
                <a:solidFill>
                  <a:srgbClr val="21242A"/>
                </a:solidFill>
                <a:latin typeface="Microsoft YaHei"/>
              </a:defRPr>
            </a:pPr>
            <a:r>
              <a:t>therapy (HDCT) and hematopoietic stem cell transplantation (HSCT) have poor outcomes.</a:t>
            </a:r>
          </a:p>
          <a:p>
            <a:pPr>
              <a:lnSpc>
                <a:spcPct val="103000"/>
              </a:lnSpc>
              <a:spcAft>
                <a:spcPts val="300"/>
              </a:spcAft>
              <a:defRPr sz="570">
                <a:solidFill>
                  <a:srgbClr val="21242A"/>
                </a:solidFill>
                <a:latin typeface="Microsoft YaHei"/>
              </a:defRPr>
            </a:pPr>
            <a:r>
              <a:t>Rituximab, gemcitabine and oxaliplatin (R-GemOx) is a common regimen used in this setting.</a:t>
            </a:r>
          </a:p>
          <a:p>
            <a:pPr>
              <a:lnSpc>
                <a:spcPct val="103000"/>
              </a:lnSpc>
              <a:spcAft>
                <a:spcPts val="300"/>
              </a:spcAft>
              <a:defRPr sz="570">
                <a:solidFill>
                  <a:srgbClr val="21242A"/>
                </a:solidFill>
                <a:latin typeface="Microsoft YaHei"/>
              </a:defRPr>
            </a:pPr>
            <a:r>
              <a:t>Aims: The objective of the open-label, randomized, phase 3 NIVEAU study (NCT03366272) was to evaluate efficacy and safety of Nivolumab added to R-GemOx.</a:t>
            </a:r>
          </a:p>
          <a:p>
            <a:pPr>
              <a:lnSpc>
                <a:spcPct val="103000"/>
              </a:lnSpc>
              <a:spcAft>
                <a:spcPts val="300"/>
              </a:spcAft>
              <a:defRPr sz="570">
                <a:solidFill>
                  <a:srgbClr val="21242A"/>
                </a:solidFill>
                <a:latin typeface="Microsoft YaHei"/>
              </a:defRPr>
            </a:pPr>
            <a:r>
              <a:t>Methods: Adult pts with R/R LBCL after 1st-line therapy and not eligible for HDCT/HSCT based on of one of the following criteria: age ≥65 years; age ≥18 years a</a:t>
            </a:r>
          </a:p>
          <a:p>
            <a:pPr>
              <a:lnSpc>
                <a:spcPct val="103000"/>
              </a:lnSpc>
              <a:spcAft>
                <a:spcPts val="300"/>
              </a:spcAft>
              <a:defRPr sz="570">
                <a:solidFill>
                  <a:srgbClr val="21242A"/>
                </a:solidFill>
                <a:latin typeface="Microsoft YaHei"/>
              </a:defRPr>
            </a:pPr>
            <a:r>
              <a:t>nd Hematopoietic Cell Transplantation-specific Comorbidity Index (HCT-CI) score ≥3; or age ≥18 years and prior ASCT (as 1st-line consolidation).</a:t>
            </a:r>
          </a:p>
          <a:p>
            <a:pPr>
              <a:lnSpc>
                <a:spcPct val="103000"/>
              </a:lnSpc>
              <a:spcAft>
                <a:spcPts val="300"/>
              </a:spcAft>
              <a:defRPr sz="570">
                <a:solidFill>
                  <a:srgbClr val="21242A"/>
                </a:solidFill>
                <a:latin typeface="Microsoft YaHei"/>
              </a:defRPr>
            </a:pPr>
            <a:r>
              <a:t>Therapy consisted 8 cycles R-GemOx (arm A) or 8 cycles of R-GemOx + nivolumab followed by nivolumab as maintenance for a maximum of 1 year or until progression </a:t>
            </a:r>
          </a:p>
          <a:p>
            <a:pPr>
              <a:lnSpc>
                <a:spcPct val="103000"/>
              </a:lnSpc>
              <a:spcAft>
                <a:spcPts val="300"/>
              </a:spcAft>
              <a:defRPr sz="570">
                <a:solidFill>
                  <a:srgbClr val="21242A"/>
                </a:solidFill>
                <a:latin typeface="Microsoft YaHei"/>
              </a:defRPr>
            </a:pPr>
            <a:r>
              <a:t>or unacceptable toxicity (arm B).</a:t>
            </a:r>
          </a:p>
          <a:p>
            <a:pPr>
              <a:lnSpc>
                <a:spcPct val="103000"/>
              </a:lnSpc>
              <a:spcAft>
                <a:spcPts val="300"/>
              </a:spcAft>
              <a:defRPr sz="570">
                <a:solidFill>
                  <a:srgbClr val="21242A"/>
                </a:solidFill>
                <a:latin typeface="Microsoft YaHei"/>
              </a:defRPr>
            </a:pPr>
            <a:r>
              <a:t>Primary endpoint was progression-free survival (PFS) after 1 year.</a:t>
            </a:r>
          </a:p>
          <a:p>
            <a:pPr>
              <a:lnSpc>
                <a:spcPct val="103000"/>
              </a:lnSpc>
              <a:spcAft>
                <a:spcPts val="300"/>
              </a:spcAft>
              <a:defRPr sz="570">
                <a:solidFill>
                  <a:srgbClr val="21242A"/>
                </a:solidFill>
                <a:latin typeface="Microsoft YaHei"/>
              </a:defRPr>
            </a:pPr>
            <a:r>
              <a:t>Major secondary endpoints were response rates, event-free-survival (EFS) (defined as progression, relapse, death or unplanned lymphoma treatment), overall survi</a:t>
            </a:r>
          </a:p>
          <a:p>
            <a:pPr>
              <a:lnSpc>
                <a:spcPct val="103000"/>
              </a:lnSpc>
              <a:spcAft>
                <a:spcPts val="300"/>
              </a:spcAft>
              <a:defRPr sz="570">
                <a:solidFill>
                  <a:srgbClr val="21242A"/>
                </a:solidFill>
                <a:latin typeface="Microsoft YaHei"/>
              </a:defRPr>
            </a:pPr>
            <a:r>
              <a:t>val (OS) and toxicity.</a:t>
            </a:r>
          </a:p>
          <a:p>
            <a:pPr>
              <a:lnSpc>
                <a:spcPct val="103000"/>
              </a:lnSpc>
              <a:spcAft>
                <a:spcPts val="300"/>
              </a:spcAft>
              <a:defRPr sz="570">
                <a:solidFill>
                  <a:srgbClr val="21242A"/>
                </a:solidFill>
                <a:latin typeface="Microsoft YaHei"/>
              </a:defRPr>
            </a:pPr>
            <a:r>
              <a:t>\n Recruitment was stopped in March 2023, because a planned interim analysis revealed futility to demonstrate superiority for the primary endpoint.</a:t>
            </a:r>
          </a:p>
          <a:p>
            <a:pPr>
              <a:lnSpc>
                <a:spcPct val="103000"/>
              </a:lnSpc>
              <a:spcAft>
                <a:spcPts val="300"/>
              </a:spcAft>
              <a:defRPr sz="570">
                <a:solidFill>
                  <a:srgbClr val="21242A"/>
                </a:solidFill>
                <a:latin typeface="Microsoft YaHei"/>
              </a:defRPr>
            </a:pPr>
            <a:r>
              <a:t>However, a trend for a better OS was observed in arm B ( Blood (2023)142(Suppl. 1):435). In total, 270 of 310 initially intended pts have been recruited.</a:t>
            </a:r>
          </a:p>
          <a:p>
            <a:pPr>
              <a:lnSpc>
                <a:spcPct val="103000"/>
              </a:lnSpc>
              <a:spcAft>
                <a:spcPts val="300"/>
              </a:spcAft>
              <a:defRPr sz="570">
                <a:solidFill>
                  <a:srgbClr val="21242A"/>
                </a:solidFill>
                <a:latin typeface="Microsoft YaHei"/>
              </a:defRPr>
            </a:pPr>
            <a:r>
              <a:t>Here, we present the final analysis of the NIVEAU trial after a median follow-up of 42 months.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pts with R/R LBCL, the addition of nivolumab to R-GemOx followed by nivolumab maintenance is feasible without relevant additive toxicity.</a:t>
            </a:r>
          </a:p>
          <a:p>
            <a:pPr>
              <a:lnSpc>
                <a:spcPct val="103000"/>
              </a:lnSpc>
              <a:spcAft>
                <a:spcPts val="300"/>
              </a:spcAft>
              <a:defRPr sz="590">
                <a:solidFill>
                  <a:srgbClr val="21242A"/>
                </a:solidFill>
                <a:latin typeface="Microsoft YaHei"/>
              </a:defRPr>
            </a:pPr>
            <a:r>
              <a:t>The addition of Nivolumab did not improve PFS, EFS nor OS.</a:t>
            </a:r>
          </a:p>
          <a:p>
            <a:pPr>
              <a:lnSpc>
                <a:spcPct val="103000"/>
              </a:lnSpc>
              <a:spcAft>
                <a:spcPts val="300"/>
              </a:spcAft>
              <a:defRPr sz="590">
                <a:solidFill>
                  <a:srgbClr val="21242A"/>
                </a:solidFill>
                <a:latin typeface="Microsoft YaHei"/>
              </a:defRPr>
            </a:pPr>
            <a:r>
              <a:t>The trend towards improved survival observed in the interim analysis was not confirmed in the final analysis.</a:t>
            </a:r>
          </a:p>
          <a:p>
            <a:pPr>
              <a:lnSpc>
                <a:spcPct val="103000"/>
              </a:lnSpc>
              <a:spcAft>
                <a:spcPts val="300"/>
              </a:spcAft>
              <a:defRPr sz="590">
                <a:solidFill>
                  <a:srgbClr val="21242A"/>
                </a:solidFill>
                <a:latin typeface="Microsoft YaHei"/>
              </a:defRPr>
            </a:pPr>
            <a:r>
              <a:t>These results demonstrate that addition of checkpoint inhibition to immunochemotherapy does not improve the outcome in these patients.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15355">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15355">
                <a:tc>
                  <a:txBody>
                    <a:bodyPr wrap="square" lIns="36576" rIns="36576" tIns="18288" bIns="18288"/>
                    <a:lstStyle/>
                    <a:p>
                      <a:r>
                        <a:rPr sz="540" b="1">
                          <a:solidFill>
                            <a:srgbClr val="21242A"/>
                          </a:solidFill>
                          <a:latin typeface="Microsoft YaHei"/>
                        </a:rPr>
                        <a:t>1年无进展生存期（PFS）</a:t>
                      </a:r>
                    </a:p>
                  </a:txBody>
                  <a:tcPr>
                    <a:solidFill>
                      <a:srgbClr val="F6F8FB"/>
                    </a:solidFill>
                  </a:tcPr>
                </a:tc>
                <a:tc>
                  <a:txBody>
                    <a:bodyPr wrap="square" lIns="36576" rIns="36576" tIns="18288" bIns="18288"/>
                    <a:lstStyle/>
                    <a:p>
                      <a:r>
                        <a:rPr sz="540" b="0">
                          <a:solidFill>
                            <a:srgbClr val="21242A"/>
                          </a:solidFill>
                          <a:latin typeface="Microsoft YaHei"/>
                        </a:rPr>
                        <a:t>试验组A 27% vs 试验组B 23%，p=0.686</a:t>
                      </a:r>
                    </a:p>
                  </a:txBody>
                  <a:tcPr>
                    <a:solidFill>
                      <a:srgbClr val="F6F8FB"/>
                    </a:solidFill>
                  </a:tcPr>
                </a:tc>
              </a:tr>
              <a:tr h="115355">
                <a:tc>
                  <a:txBody>
                    <a:bodyPr wrap="square" lIns="36576" rIns="36576" tIns="18288" bIns="18288"/>
                    <a:lstStyle/>
                    <a:p>
                      <a:r>
                        <a:rPr sz="540" b="1">
                          <a:solidFill>
                            <a:srgbClr val="21242A"/>
                          </a:solidFill>
                          <a:latin typeface="Microsoft YaHei"/>
                        </a:rPr>
                        <a:t>1年无事件生存期（EFS）</a:t>
                      </a:r>
                    </a:p>
                  </a:txBody>
                  <a:tcPr>
                    <a:solidFill>
                      <a:srgbClr val="FFFFFF"/>
                    </a:solidFill>
                  </a:tcPr>
                </a:tc>
                <a:tc>
                  <a:txBody>
                    <a:bodyPr wrap="square" lIns="36576" rIns="36576" tIns="18288" bIns="18288"/>
                    <a:lstStyle/>
                    <a:p>
                      <a:r>
                        <a:rPr sz="540" b="0">
                          <a:solidFill>
                            <a:srgbClr val="21242A"/>
                          </a:solidFill>
                          <a:latin typeface="Microsoft YaHei"/>
                        </a:rPr>
                        <a:t>试验组A 22% vs 试验组B 22%，p=0.897</a:t>
                      </a:r>
                    </a:p>
                  </a:txBody>
                  <a:tcPr>
                    <a:solidFill>
                      <a:srgbClr val="FFFFFF"/>
                    </a:solidFill>
                  </a:tcPr>
                </a:tc>
              </a:tr>
              <a:tr h="115355">
                <a:tc>
                  <a:txBody>
                    <a:bodyPr wrap="square" lIns="36576" rIns="36576" tIns="18288" bIns="18288"/>
                    <a:lstStyle/>
                    <a:p>
                      <a:r>
                        <a:rPr sz="540" b="1">
                          <a:solidFill>
                            <a:srgbClr val="21242A"/>
                          </a:solidFill>
                          <a:latin typeface="Microsoft YaHei"/>
                        </a:rPr>
                        <a:t>1年总生存期（OS）</a:t>
                      </a:r>
                    </a:p>
                  </a:txBody>
                  <a:tcPr>
                    <a:solidFill>
                      <a:srgbClr val="F6F8FB"/>
                    </a:solidFill>
                  </a:tcPr>
                </a:tc>
                <a:tc>
                  <a:txBody>
                    <a:bodyPr wrap="square" lIns="36576" rIns="36576" tIns="18288" bIns="18288"/>
                    <a:lstStyle/>
                    <a:p>
                      <a:r>
                        <a:rPr sz="540" b="0">
                          <a:solidFill>
                            <a:srgbClr val="21242A"/>
                          </a:solidFill>
                          <a:latin typeface="Microsoft YaHei"/>
                        </a:rPr>
                        <a:t>试验组A 51% vs 试验组B 58%，p=0.884</a:t>
                      </a:r>
                    </a:p>
                  </a:txBody>
                  <a:tcPr>
                    <a:solidFill>
                      <a:srgbClr val="F6F8FB"/>
                    </a:solidFill>
                  </a:tcPr>
                </a:tc>
              </a:tr>
              <a:tr h="115355">
                <a:tc>
                  <a:txBody>
                    <a:bodyPr wrap="square" lIns="36576" rIns="36576" tIns="18288" bIns="18288"/>
                    <a:lstStyle/>
                    <a:p>
                      <a:r>
                        <a:rPr sz="540" b="1">
                          <a:solidFill>
                            <a:srgbClr val="21242A"/>
                          </a:solidFill>
                          <a:latin typeface="Microsoft YaHei"/>
                        </a:rPr>
                        <a:t>2年PFS</a:t>
                      </a:r>
                    </a:p>
                  </a:txBody>
                  <a:tcPr>
                    <a:solidFill>
                      <a:srgbClr val="FFFFFF"/>
                    </a:solidFill>
                  </a:tcPr>
                </a:tc>
                <a:tc>
                  <a:txBody>
                    <a:bodyPr wrap="square" lIns="36576" rIns="36576" tIns="18288" bIns="18288"/>
                    <a:lstStyle/>
                    <a:p>
                      <a:r>
                        <a:rPr sz="540" b="0">
                          <a:solidFill>
                            <a:srgbClr val="21242A"/>
                          </a:solidFill>
                          <a:latin typeface="Microsoft YaHei"/>
                        </a:rPr>
                        <a:t>19% vs 18%</a:t>
                      </a:r>
                    </a:p>
                  </a:txBody>
                  <a:tcPr>
                    <a:solidFill>
                      <a:srgbClr val="FFFFFF"/>
                    </a:solidFill>
                  </a:tcPr>
                </a:tc>
              </a:tr>
              <a:tr h="115355">
                <a:tc>
                  <a:txBody>
                    <a:bodyPr wrap="square" lIns="36576" rIns="36576" tIns="18288" bIns="18288"/>
                    <a:lstStyle/>
                    <a:p>
                      <a:r>
                        <a:rPr sz="540" b="1">
                          <a:solidFill>
                            <a:srgbClr val="21242A"/>
                          </a:solidFill>
                          <a:latin typeface="Microsoft YaHei"/>
                        </a:rPr>
                        <a:t>2年EFS</a:t>
                      </a:r>
                    </a:p>
                  </a:txBody>
                  <a:tcPr>
                    <a:solidFill>
                      <a:srgbClr val="F6F8FB"/>
                    </a:solidFill>
                  </a:tcPr>
                </a:tc>
                <a:tc>
                  <a:txBody>
                    <a:bodyPr wrap="square" lIns="36576" rIns="36576" tIns="18288" bIns="18288"/>
                    <a:lstStyle/>
                    <a:p>
                      <a:r>
                        <a:rPr sz="540" b="0">
                          <a:solidFill>
                            <a:srgbClr val="21242A"/>
                          </a:solidFill>
                          <a:latin typeface="Microsoft YaHei"/>
                        </a:rPr>
                        <a:t>17% vs 17%</a:t>
                      </a:r>
                    </a:p>
                  </a:txBody>
                  <a:tcPr>
                    <a:solidFill>
                      <a:srgbClr val="F6F8FB"/>
                    </a:solidFill>
                  </a:tcPr>
                </a:tc>
              </a:tr>
              <a:tr h="115355">
                <a:tc>
                  <a:txBody>
                    <a:bodyPr wrap="square" lIns="36576" rIns="36576" tIns="18288" bIns="18288"/>
                    <a:lstStyle/>
                    <a:p>
                      <a:r>
                        <a:rPr sz="540" b="1">
                          <a:solidFill>
                            <a:srgbClr val="21242A"/>
                          </a:solidFill>
                          <a:latin typeface="Microsoft YaHei"/>
                        </a:rPr>
                        <a:t>2年OS</a:t>
                      </a:r>
                    </a:p>
                  </a:txBody>
                  <a:tcPr>
                    <a:solidFill>
                      <a:srgbClr val="FFFFFF"/>
                    </a:solidFill>
                  </a:tcPr>
                </a:tc>
                <a:tc>
                  <a:txBody>
                    <a:bodyPr wrap="square" lIns="36576" rIns="36576" tIns="18288" bIns="18288"/>
                    <a:lstStyle/>
                    <a:p>
                      <a:r>
                        <a:rPr sz="540" b="0">
                          <a:solidFill>
                            <a:srgbClr val="21242A"/>
                          </a:solidFill>
                          <a:latin typeface="Microsoft YaHei"/>
                        </a:rPr>
                        <a:t>39% vs 42%</a:t>
                      </a:r>
                    </a:p>
                  </a:txBody>
                  <a:tcPr>
                    <a:solidFill>
                      <a:srgbClr val="FFFFFF"/>
                    </a:solidFill>
                  </a:tcPr>
                </a:tc>
              </a:tr>
              <a:tr h="115355">
                <a:tc>
                  <a:txBody>
                    <a:bodyPr wrap="square" lIns="36576" rIns="36576" tIns="18288" bIns="18288"/>
                    <a:lstStyle/>
                    <a:p>
                      <a:r>
                        <a:rPr sz="540" b="1">
                          <a:solidFill>
                            <a:srgbClr val="21242A"/>
                          </a:solidFill>
                          <a:latin typeface="Microsoft YaHei"/>
                        </a:rPr>
                        <a:t>客观缓解率（OR）</a:t>
                      </a:r>
                    </a:p>
                  </a:txBody>
                  <a:tcPr>
                    <a:solidFill>
                      <a:srgbClr val="F6F8FB"/>
                    </a:solidFill>
                  </a:tcPr>
                </a:tc>
                <a:tc>
                  <a:txBody>
                    <a:bodyPr wrap="square" lIns="36576" rIns="36576" tIns="18288" bIns="18288"/>
                    <a:lstStyle/>
                    <a:p>
                      <a:r>
                        <a:rPr sz="540" b="0">
                          <a:solidFill>
                            <a:srgbClr val="21242A"/>
                          </a:solidFill>
                          <a:latin typeface="Microsoft YaHei"/>
                        </a:rPr>
                        <a:t>37% vs 34%</a:t>
                      </a:r>
                    </a:p>
                  </a:txBody>
                  <a:tcPr>
                    <a:solidFill>
                      <a:srgbClr val="F6F8FB"/>
                    </a:solidFill>
                  </a:tcPr>
                </a:tc>
              </a:tr>
              <a:tr h="115355">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22% vs 22%</a:t>
                      </a:r>
                    </a:p>
                  </a:txBody>
                  <a:tcPr>
                    <a:solidFill>
                      <a:srgbClr val="FFFFFF"/>
                    </a:solidFill>
                  </a:tcPr>
                </a:tc>
              </a:tr>
              <a:tr h="115355">
                <a:tc>
                  <a:txBody>
                    <a:bodyPr wrap="square" lIns="36576" rIns="36576" tIns="18288" bIns="18288"/>
                    <a:lstStyle/>
                    <a:p>
                      <a:r>
                        <a:rPr sz="540" b="1">
                          <a:solidFill>
                            <a:srgbClr val="21242A"/>
                          </a:solidFill>
                          <a:latin typeface="Microsoft YaHei"/>
                        </a:rPr>
                        <a:t>疾病进展率（PD）</a:t>
                      </a:r>
                    </a:p>
                  </a:txBody>
                  <a:tcPr>
                    <a:solidFill>
                      <a:srgbClr val="F6F8FB"/>
                    </a:solidFill>
                  </a:tcPr>
                </a:tc>
                <a:tc>
                  <a:txBody>
                    <a:bodyPr wrap="square" lIns="36576" rIns="36576" tIns="18288" bIns="18288"/>
                    <a:lstStyle/>
                    <a:p>
                      <a:r>
                        <a:rPr sz="540" b="0">
                          <a:solidFill>
                            <a:srgbClr val="21242A"/>
                          </a:solidFill>
                          <a:latin typeface="Microsoft YaHei"/>
                        </a:rPr>
                        <a:t>53% vs 45%</a:t>
                      </a:r>
                    </a:p>
                  </a:txBody>
                  <a:tcPr>
                    <a:solidFill>
                      <a:srgbClr val="F6F8FB"/>
                    </a:solidFill>
                  </a:tcPr>
                </a:tc>
              </a:tr>
              <a:tr h="115355">
                <a:tc>
                  <a:txBody>
                    <a:bodyPr wrap="square" lIns="36576" rIns="36576" tIns="18288" bIns="18288"/>
                    <a:lstStyle/>
                    <a:p>
                      <a:r>
                        <a:rPr sz="540" b="1">
                          <a:solidFill>
                            <a:srgbClr val="21242A"/>
                          </a:solidFill>
                          <a:latin typeface="Microsoft YaHei"/>
                        </a:rPr>
                        <a:t>3-5级不良事件</a:t>
                      </a:r>
                    </a:p>
                  </a:txBody>
                  <a:tcPr>
                    <a:solidFill>
                      <a:srgbClr val="FFFFFF"/>
                    </a:solidFill>
                  </a:tcPr>
                </a:tc>
                <a:tc>
                  <a:txBody>
                    <a:bodyPr wrap="square" lIns="36576" rIns="36576" tIns="18288" bIns="18288"/>
                    <a:lstStyle/>
                    <a:p>
                      <a:r>
                        <a:rPr sz="540" b="0">
                          <a:solidFill>
                            <a:srgbClr val="21242A"/>
                          </a:solidFill>
                          <a:latin typeface="Microsoft YaHei"/>
                        </a:rPr>
                        <a:t>胃肠道4% vs 8%</a:t>
                      </a:r>
                    </a:p>
                  </a:txBody>
                  <a:tcPr>
                    <a:solidFill>
                      <a:srgbClr val="FFFFFF"/>
                    </a:solidFill>
                  </a:tcPr>
                </a:tc>
              </a:tr>
              <a:tr h="11535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肝胆系统19% vs 23%</a:t>
                      </a:r>
                    </a:p>
                  </a:txBody>
                  <a:tcPr>
                    <a:solidFill>
                      <a:srgbClr val="F6F8FB"/>
                    </a:solidFill>
                  </a:tcPr>
                </a:tc>
              </a:tr>
              <a:tr h="115356">
                <a:tc>
                  <a:txBody>
                    <a:bodyPr wrap="square" lIns="36576" rIns="36576" tIns="18288" bIns="18288"/>
                    <a:lstStyle/>
                    <a:p>
                      <a:r>
                        <a:rPr sz="540" b="1">
                          <a:solidFill>
                            <a:srgbClr val="21242A"/>
                          </a:solidFill>
                          <a:latin typeface="Microsoft YaHei"/>
                        </a:rPr>
                        <a:t>治疗相关死亡</a:t>
                      </a:r>
                    </a:p>
                  </a:txBody>
                  <a:tcPr>
                    <a:solidFill>
                      <a:srgbClr val="FFFFFF"/>
                    </a:solidFill>
                  </a:tcPr>
                </a:tc>
                <a:tc>
                  <a:txBody>
                    <a:bodyPr wrap="square" lIns="36576" rIns="36576" tIns="18288" bIns="18288"/>
                    <a:lstStyle/>
                    <a:p>
                      <a:r>
                        <a:rPr sz="540" b="0">
                          <a:solidFill>
                            <a:srgbClr val="21242A"/>
                          </a:solidFill>
                          <a:latin typeface="Microsoft YaHei"/>
                        </a:rPr>
                        <a:t>6例(4%) vs 12例(9%)</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不同分子亚型弥漫性大b细胞淋巴瘤的大规模现实临床特征和疗效：来自believe研究的中期数据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large-scale real-world clinical characteristics and efficacy of diffuse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N=3773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前瞻性临床研究结果：large-scale real-world clinical characteristics and 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总体客观缓解率（ORR）为81.3%</a:t>
            </a:r>
          </a:p>
          <a:p>
            <a:pPr>
              <a:lnSpc>
                <a:spcPct val="103000"/>
              </a:lnSpc>
              <a:spcAft>
                <a:spcPts val="300"/>
              </a:spcAft>
              <a:defRPr sz="800">
                <a:solidFill>
                  <a:srgbClr val="21242A"/>
                </a:solidFill>
                <a:latin typeface="Microsoft YaHei"/>
              </a:defRPr>
            </a:pPr>
            <a:r>
              <a:t>完全缓解率（CRR）为64.1%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人数：3773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登记号：NCT06026488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研究主题：large-scale real-world clinical characteristics and efficacy of diffuse large b-cell lymphoma across distinct molecular...</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不同分子亚型弥漫性大b细胞淋巴瘤的大规模现实临床特征和疗效：来自believe研究的中期数据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large-scale real-world clinical characteristics and efficacy of diffuse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shows extensive molecular heterogeneity.</a:t>
            </a:r>
          </a:p>
          <a:p>
            <a:pPr>
              <a:lnSpc>
                <a:spcPct val="103000"/>
              </a:lnSpc>
              <a:spcAft>
                <a:spcPts val="300"/>
              </a:spcAft>
              <a:defRPr sz="570">
                <a:solidFill>
                  <a:srgbClr val="21242A"/>
                </a:solidFill>
                <a:latin typeface="Microsoft YaHei"/>
              </a:defRPr>
            </a:pPr>
            <a:r>
              <a:t>Molecular subtypes can be identified by LymphGen (MCD, BN2, N1, EZB, A53, ST2) and the simplified 38‑gene LymphPlex ( TP53 Mut , MCD‑like, BN2‑like, N1‑like, EZ</a:t>
            </a:r>
          </a:p>
          <a:p>
            <a:pPr>
              <a:lnSpc>
                <a:spcPct val="103000"/>
              </a:lnSpc>
              <a:spcAft>
                <a:spcPts val="300"/>
              </a:spcAft>
              <a:defRPr sz="570">
                <a:solidFill>
                  <a:srgbClr val="21242A"/>
                </a:solidFill>
                <a:latin typeface="Microsoft YaHei"/>
              </a:defRPr>
            </a:pPr>
            <a:r>
              <a:t>B‑like, ST2‑like).</a:t>
            </a:r>
          </a:p>
          <a:p>
            <a:pPr>
              <a:lnSpc>
                <a:spcPct val="103000"/>
              </a:lnSpc>
              <a:spcAft>
                <a:spcPts val="300"/>
              </a:spcAft>
              <a:defRPr sz="570">
                <a:solidFill>
                  <a:srgbClr val="21242A"/>
                </a:solidFill>
                <a:latin typeface="Microsoft YaHei"/>
              </a:defRPr>
            </a:pPr>
            <a:r>
              <a:t>LymphPlex showed high concordance with LymphGen (Sig Transduct Target Ther 2023:8:145) .</a:t>
            </a:r>
          </a:p>
          <a:p>
            <a:pPr>
              <a:lnSpc>
                <a:spcPct val="103000"/>
              </a:lnSpc>
              <a:spcAft>
                <a:spcPts val="300"/>
              </a:spcAft>
              <a:defRPr sz="570">
                <a:solidFill>
                  <a:srgbClr val="21242A"/>
                </a:solidFill>
                <a:latin typeface="Microsoft YaHei"/>
              </a:defRPr>
            </a:pPr>
            <a:r>
              <a:t>These subtypes differ greatly in clinical features, treatment response and prognosis, but large‑sample real‑world evidence to guide subtype‑tailored management </a:t>
            </a:r>
          </a:p>
          <a:p>
            <a:pPr>
              <a:lnSpc>
                <a:spcPct val="103000"/>
              </a:lnSpc>
              <a:spcAft>
                <a:spcPts val="300"/>
              </a:spcAft>
              <a:defRPr sz="570">
                <a:solidFill>
                  <a:srgbClr val="21242A"/>
                </a:solidFill>
                <a:latin typeface="Microsoft YaHei"/>
              </a:defRPr>
            </a:pPr>
            <a:r>
              <a:t>is still limited.</a:t>
            </a:r>
          </a:p>
          <a:p>
            <a:pPr>
              <a:lnSpc>
                <a:spcPct val="103000"/>
              </a:lnSpc>
              <a:spcAft>
                <a:spcPts val="300"/>
              </a:spcAft>
              <a:defRPr sz="570">
                <a:solidFill>
                  <a:srgbClr val="21242A"/>
                </a:solidFill>
                <a:latin typeface="Microsoft YaHei"/>
              </a:defRPr>
            </a:pPr>
            <a:r>
              <a:t>The BELIEVE study (NCT 06026488) is a large Chinese real‑world registry.</a:t>
            </a:r>
          </a:p>
          <a:p>
            <a:pPr>
              <a:lnSpc>
                <a:spcPct val="103000"/>
              </a:lnSpc>
              <a:spcAft>
                <a:spcPts val="300"/>
              </a:spcAft>
              <a:defRPr sz="570">
                <a:solidFill>
                  <a:srgbClr val="21242A"/>
                </a:solidFill>
                <a:latin typeface="Microsoft YaHei"/>
              </a:defRPr>
            </a:pPr>
            <a:r>
              <a:t>Aims: To clarify clinical characteristics, treatment patterns and efficacy differences across DLBCL molecular subtypes, and to generate high‑quality real‑world </a:t>
            </a:r>
          </a:p>
          <a:p>
            <a:pPr>
              <a:lnSpc>
                <a:spcPct val="103000"/>
              </a:lnSpc>
              <a:spcAft>
                <a:spcPts val="300"/>
              </a:spcAft>
              <a:defRPr sz="570">
                <a:solidFill>
                  <a:srgbClr val="21242A"/>
                </a:solidFill>
                <a:latin typeface="Microsoft YaHei"/>
              </a:defRPr>
            </a:pPr>
            <a:r>
              <a:t>evidence for personalized therapy.</a:t>
            </a:r>
          </a:p>
          <a:p>
            <a:pPr>
              <a:lnSpc>
                <a:spcPct val="103000"/>
              </a:lnSpc>
              <a:spcAft>
                <a:spcPts val="300"/>
              </a:spcAft>
              <a:defRPr sz="570">
                <a:solidFill>
                  <a:srgbClr val="21242A"/>
                </a:solidFill>
                <a:latin typeface="Microsoft YaHei"/>
              </a:defRPr>
            </a:pPr>
            <a:r>
              <a:t>Methods: A total of 3773 DLBCL patients from 35 centers were enrolled.</a:t>
            </a:r>
          </a:p>
          <a:p>
            <a:pPr>
              <a:lnSpc>
                <a:spcPct val="103000"/>
              </a:lnSpc>
              <a:spcAft>
                <a:spcPts val="300"/>
              </a:spcAft>
              <a:defRPr sz="570">
                <a:solidFill>
                  <a:srgbClr val="21242A"/>
                </a:solidFill>
                <a:latin typeface="Microsoft YaHei"/>
              </a:defRPr>
            </a:pPr>
            <a:r>
              <a:t>All patients were classified into seven molecular subtypes (BN2-like, EZB-like, MCD-like, N1-like, ST2-like, TP53 Mut and Others) by NGS.</a:t>
            </a:r>
          </a:p>
          <a:p>
            <a:pPr>
              <a:lnSpc>
                <a:spcPct val="103000"/>
              </a:lnSpc>
              <a:spcAft>
                <a:spcPts val="300"/>
              </a:spcAft>
              <a:defRPr sz="570">
                <a:solidFill>
                  <a:srgbClr val="21242A"/>
                </a:solidFill>
                <a:latin typeface="Microsoft YaHei"/>
              </a:defRPr>
            </a:pPr>
            <a:r>
              <a:t>Baseline characteristics, treatment regimens and efficacy were collected.</a:t>
            </a:r>
          </a:p>
          <a:p>
            <a:pPr>
              <a:lnSpc>
                <a:spcPct val="103000"/>
              </a:lnSpc>
              <a:spcAft>
                <a:spcPts val="300"/>
              </a:spcAft>
              <a:defRPr sz="570">
                <a:solidFill>
                  <a:srgbClr val="21242A"/>
                </a:solidFill>
                <a:latin typeface="Microsoft YaHei"/>
              </a:defRPr>
            </a:pPr>
            <a:r>
              <a:t>Endpoints included progression-free survival (PFS), complete response rate (CRR), objective response rate (ORR), and overall survival (OS).</a:t>
            </a:r>
          </a:p>
          <a:p>
            <a:pPr>
              <a:lnSpc>
                <a:spcPct val="103000"/>
              </a:lnSpc>
              <a:spcAft>
                <a:spcPts val="300"/>
              </a:spcAft>
              <a:defRPr sz="570">
                <a:solidFill>
                  <a:srgbClr val="21242A"/>
                </a:solidFill>
                <a:latin typeface="Microsoft YaHei"/>
              </a:defRPr>
            </a:pPr>
            <a:r>
              <a:t>Herein, efficacy was analyzed across molecular subtypes and first-line regimens.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Chinese DLBCL patients, the most prevalent LymphPlex subtypes are Others, MCD‑like and TP53 Mut subtypes, with marked efficacy heterogeneity.</a:t>
            </a:r>
          </a:p>
          <a:p>
            <a:pPr>
              <a:lnSpc>
                <a:spcPct val="103000"/>
              </a:lnSpc>
              <a:spcAft>
                <a:spcPts val="300"/>
              </a:spcAft>
              <a:defRPr sz="590">
                <a:solidFill>
                  <a:srgbClr val="21242A"/>
                </a:solidFill>
                <a:latin typeface="Microsoft YaHei"/>
              </a:defRPr>
            </a:pPr>
            <a:r>
              <a:t>R‑CHOP plus target agents significantly improves CRR across multiple subtypes. These data support molecular subtype‑tailored personalized treatment for DLBCL.</a:t>
            </a:r>
          </a:p>
          <a:p>
            <a:pPr>
              <a:lnSpc>
                <a:spcPct val="103000"/>
              </a:lnSpc>
              <a:spcAft>
                <a:spcPts val="300"/>
              </a:spcAft>
              <a:defRPr sz="590">
                <a:solidFill>
                  <a:srgbClr val="21242A"/>
                </a:solidFill>
                <a:latin typeface="Microsoft YaHei"/>
              </a:defRPr>
            </a:pPr>
            <a:r>
              <a:t>Updated survival and safety data will be presented.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总体客观缓解率（ORR）为81.3%；完全缓解率（CRR）为64.1%；R-CHOP联合靶向药物亚组ORR为88.4%，CRR为74.6%；BN2-like和N1-like亚型疗效较好，TP53Mut亚型疗效最差</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大剂量甲氨蝶呤不能降低超高危大b细胞淋巴瘤中枢神经系统复发的风险：1923例患者的国际回顾性分析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high-dose methotrexate does not reduce risk of cns relapse in ultra high-risk...</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N=1923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分组：未接受HDMTX组（no HDMTX）</a:t>
            </a:r>
          </a:p>
          <a:p>
            <a:pPr>
              <a:lnSpc>
                <a:spcPct val="103000"/>
              </a:lnSpc>
              <a:spcAft>
                <a:spcPts val="300"/>
              </a:spcAft>
              <a:defRPr sz="800">
                <a:solidFill>
                  <a:srgbClr val="21242A"/>
                </a:solidFill>
                <a:latin typeface="Microsoft YaHei"/>
              </a:defRPr>
            </a:pPr>
            <a:r>
              <a:t>接受HDMTX组（HDMTX）</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多组/多方案比较：未接受HDMTX组（no HDMTX）</a:t>
            </a:r>
          </a:p>
          <a:p>
            <a:pPr>
              <a:lnSpc>
                <a:spcPct val="103000"/>
              </a:lnSpc>
              <a:spcAft>
                <a:spcPts val="300"/>
              </a:spcAft>
              <a:defRPr sz="800">
                <a:solidFill>
                  <a:srgbClr val="21242A"/>
                </a:solidFill>
                <a:latin typeface="Microsoft YaHei"/>
              </a:defRPr>
            </a:pPr>
            <a:r>
              <a:t>接受HDMTX组（HDMTX）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所有超高危患者3年CNS复发率：未接受HDMTX组 vs 接受HDMTX组 = 9.3% vs 8.1%，调整后HR 1.10...</a:t>
            </a:r>
          </a:p>
          <a:p>
            <a:pPr>
              <a:lnSpc>
                <a:spcPct val="103000"/>
              </a:lnSpc>
              <a:spcAft>
                <a:spcPts val="300"/>
              </a:spcAft>
              <a:defRPr sz="800">
                <a:solidFill>
                  <a:srgbClr val="21242A"/>
                </a:solidFill>
                <a:latin typeface="Microsoft YaHei"/>
              </a:defRPr>
            </a:pPr>
            <a:r>
              <a:t>孤立性CNS复发率：5.9% vs 5.7%，调整后HR 1.01 (95% CI 0.68-1.50)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人数：1923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分组/治疗流程：未接受HDMTX组（no HDMTX）、接受HDMTX组（HDMTX）</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大剂量甲氨蝶呤不能降低超高危大b细胞淋巴瘤中枢神经系统复发的风险：1923例患者的国际回顾性分析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high-dose methotrexate does not reduce risk of cns relapse in ultra high-risk...</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role of high-dose methotrexate (HDMTX) as CNS prophylaxis in high-risk large B-cell lymphoma (LBCL) remains controversial.</a:t>
            </a:r>
          </a:p>
          <a:p>
            <a:pPr>
              <a:lnSpc>
                <a:spcPct val="103000"/>
              </a:lnSpc>
              <a:spcAft>
                <a:spcPts val="300"/>
              </a:spcAft>
              <a:defRPr sz="570">
                <a:solidFill>
                  <a:srgbClr val="21242A"/>
                </a:solidFill>
                <a:latin typeface="Microsoft YaHei"/>
              </a:defRPr>
            </a:pPr>
            <a:r>
              <a:t>There are no large prospective RCTs supporting its use. Two recent retrospective studies suggested minimal impact on CNS relapse (CNSr).</a:t>
            </a:r>
          </a:p>
          <a:p>
            <a:pPr>
              <a:lnSpc>
                <a:spcPct val="103000"/>
              </a:lnSpc>
              <a:spcAft>
                <a:spcPts val="300"/>
              </a:spcAft>
              <a:defRPr sz="570">
                <a:solidFill>
                  <a:srgbClr val="21242A"/>
                </a:solidFill>
                <a:latin typeface="Microsoft YaHei"/>
              </a:defRPr>
            </a:pPr>
            <a:r>
              <a:t>However, guidelines continue to recommend consideration of HDMTX in pts with ‘ultra high-risk’ (UHR) features due to a lack of robust data in these subgroups, w</a:t>
            </a:r>
          </a:p>
          <a:p>
            <a:pPr>
              <a:lnSpc>
                <a:spcPct val="103000"/>
              </a:lnSpc>
              <a:spcAft>
                <a:spcPts val="300"/>
              </a:spcAft>
              <a:defRPr sz="570">
                <a:solidFill>
                  <a:srgbClr val="21242A"/>
                </a:solidFill>
                <a:latin typeface="Microsoft YaHei"/>
              </a:defRPr>
            </a:pPr>
            <a:r>
              <a:t>here CNSr risk is 10-25%.</a:t>
            </a:r>
          </a:p>
          <a:p>
            <a:pPr>
              <a:lnSpc>
                <a:spcPct val="103000"/>
              </a:lnSpc>
              <a:spcAft>
                <a:spcPts val="300"/>
              </a:spcAft>
              <a:defRPr sz="570">
                <a:solidFill>
                  <a:srgbClr val="21242A"/>
                </a:solidFill>
                <a:latin typeface="Microsoft YaHei"/>
              </a:defRPr>
            </a:pPr>
            <a:r>
              <a:t>Aims: To analyse the impact of HDMTX on LBCL pts considered UHR for CNSr.</a:t>
            </a:r>
          </a:p>
          <a:p>
            <a:pPr>
              <a:lnSpc>
                <a:spcPct val="103000"/>
              </a:lnSpc>
              <a:spcAft>
                <a:spcPts val="300"/>
              </a:spcAft>
              <a:defRPr sz="570">
                <a:solidFill>
                  <a:srgbClr val="21242A"/>
                </a:solidFill>
                <a:latin typeface="Microsoft YaHei"/>
              </a:defRPr>
            </a:pPr>
            <a:r>
              <a:t>Methods: This multicentre, retrospective analysis combined data from 56 sites who contributed to the aforementioned studies ( Wilson et al, Blood 2022; Lewis et</a:t>
            </a:r>
          </a:p>
          <a:p>
            <a:pPr>
              <a:lnSpc>
                <a:spcPct val="103000"/>
              </a:lnSpc>
              <a:spcAft>
                <a:spcPts val="300"/>
              </a:spcAft>
              <a:defRPr sz="570">
                <a:solidFill>
                  <a:srgbClr val="21242A"/>
                </a:solidFill>
                <a:latin typeface="Microsoft YaHei"/>
              </a:defRPr>
            </a:pPr>
            <a:r>
              <a:t> al, JCO 2023 ).</a:t>
            </a:r>
          </a:p>
          <a:p>
            <a:pPr>
              <a:lnSpc>
                <a:spcPct val="103000"/>
              </a:lnSpc>
              <a:spcAft>
                <a:spcPts val="300"/>
              </a:spcAft>
              <a:defRPr sz="570">
                <a:solidFill>
                  <a:srgbClr val="21242A"/>
                </a:solidFill>
                <a:latin typeface="Microsoft YaHei"/>
              </a:defRPr>
            </a:pPr>
            <a:r>
              <a:t>All pts received curative intent chemo-immunotherapy. Wilson et al recruited LBCL pts who had received HDMTX, regardless of risk.</a:t>
            </a:r>
          </a:p>
          <a:p>
            <a:pPr>
              <a:lnSpc>
                <a:spcPct val="103000"/>
              </a:lnSpc>
              <a:spcAft>
                <a:spcPts val="300"/>
              </a:spcAft>
              <a:defRPr sz="570">
                <a:solidFill>
                  <a:srgbClr val="21242A"/>
                </a:solidFill>
                <a:latin typeface="Microsoft YaHei"/>
              </a:defRPr>
            </a:pPr>
            <a:r>
              <a:t>Lewis et al recruited pts with ≥1 of these high-risk criteria: CNS-IPI 4-6; high grade B-cell lymphoma with MYC+BCL2+/-BCL6 rearrangements; testicular/breast/re</a:t>
            </a:r>
          </a:p>
          <a:p>
            <a:pPr>
              <a:lnSpc>
                <a:spcPct val="103000"/>
              </a:lnSpc>
              <a:spcAft>
                <a:spcPts val="300"/>
              </a:spcAft>
              <a:defRPr sz="570">
                <a:solidFill>
                  <a:srgbClr val="21242A"/>
                </a:solidFill>
                <a:latin typeface="Microsoft YaHei"/>
              </a:defRPr>
            </a:pPr>
            <a:r>
              <a:t>nal/adrenal extranodal (EN) involvement.</a:t>
            </a:r>
          </a:p>
          <a:p>
            <a:pPr>
              <a:lnSpc>
                <a:spcPct val="103000"/>
              </a:lnSpc>
              <a:spcAft>
                <a:spcPts val="300"/>
              </a:spcAft>
              <a:defRPr sz="570">
                <a:solidFill>
                  <a:srgbClr val="21242A"/>
                </a:solidFill>
                <a:latin typeface="Microsoft YaHei"/>
              </a:defRPr>
            </a:pPr>
            <a:r>
              <a:t>\n For this analysis, pts were deemed UHR if they met ≥1 of the following: CNS-IPI 5-6; testicular, renal/adrenal or breast involvement; ≥3 EN sites.</a:t>
            </a:r>
          </a:p>
          <a:p>
            <a:pPr>
              <a:lnSpc>
                <a:spcPct val="103000"/>
              </a:lnSpc>
              <a:spcAft>
                <a:spcPts val="300"/>
              </a:spcAft>
              <a:defRPr sz="570">
                <a:solidFill>
                  <a:srgbClr val="21242A"/>
                </a:solidFill>
                <a:latin typeface="Microsoft YaHei"/>
              </a:defRPr>
            </a:pPr>
            <a:r>
              <a:t>Time to CNSr was measured from diagnosis (or landmark) until first event (CNSr) or competing event (systemic relapse, stable disease at EOT or death); pts not e</a:t>
            </a:r>
          </a:p>
          <a:p>
            <a:pPr>
              <a:lnSpc>
                <a:spcPct val="103000"/>
              </a:lnSpc>
              <a:spcAft>
                <a:spcPts val="300"/>
              </a:spcAft>
              <a:defRPr sz="570">
                <a:solidFill>
                  <a:srgbClr val="21242A"/>
                </a:solidFill>
                <a:latin typeface="Microsoft YaHei"/>
              </a:defRPr>
            </a:pPr>
            <a:r>
              <a:t>xperiencing an event were censored at last follow up.</a:t>
            </a:r>
          </a:p>
          <a:p>
            <a:pPr>
              <a:lnSpc>
                <a:spcPct val="103000"/>
              </a:lnSpc>
              <a:spcAft>
                <a:spcPts val="300"/>
              </a:spcAft>
              <a:defRPr sz="570">
                <a:solidFill>
                  <a:srgbClr val="21242A"/>
                </a:solidFill>
                <a:latin typeface="Microsoft YaHei"/>
              </a:defRPr>
            </a:pPr>
            <a:r>
              <a:t>Groups were compared using competing risks survival analysis (Fine and Grey).</a:t>
            </a:r>
          </a:p>
          <a:p>
            <a:pPr>
              <a:lnSpc>
                <a:spcPct val="103000"/>
              </a:lnSpc>
              <a:spcAft>
                <a:spcPts val="300"/>
              </a:spcAft>
              <a:defRPr sz="570">
                <a:solidFill>
                  <a:srgbClr val="21242A"/>
                </a:solidFill>
                <a:latin typeface="Microsoft YaHei"/>
              </a:defRPr>
            </a:pPr>
            <a:r>
              <a:t>Time to isolated CNSr was also analysed with synchronous events included as competing risks.</a:t>
            </a:r>
          </a:p>
          <a:p>
            <a:pPr>
              <a:lnSpc>
                <a:spcPct val="103000"/>
              </a:lnSpc>
              <a:spcAft>
                <a:spcPts val="300"/>
              </a:spcAft>
              <a:defRPr sz="570">
                <a:solidFill>
                  <a:srgbClr val="21242A"/>
                </a:solidFill>
                <a:latin typeface="Microsoft YaHei"/>
              </a:defRPr>
            </a:pPr>
            <a:r>
              <a:t>A landmark analysis (LMA) was performed for all pts who had no event at 6 months.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is the largest international comparative dataset of UHR LBCL pts treated with or without HDMTX prophylaxis, showing no significant reduction in CNSr with H</a:t>
            </a:r>
          </a:p>
          <a:p>
            <a:pPr>
              <a:lnSpc>
                <a:spcPct val="103000"/>
              </a:lnSpc>
              <a:spcAft>
                <a:spcPts val="300"/>
              </a:spcAft>
              <a:defRPr sz="590">
                <a:solidFill>
                  <a:srgbClr val="21242A"/>
                </a:solidFill>
                <a:latin typeface="Microsoft YaHei"/>
              </a:defRPr>
            </a:pPr>
            <a:r>
              <a:t>DMTX in all UHR pts or in any individual high-risk subgroup.</a:t>
            </a:r>
          </a:p>
          <a:p>
            <a:pPr>
              <a:lnSpc>
                <a:spcPct val="103000"/>
              </a:lnSpc>
              <a:spcAft>
                <a:spcPts val="300"/>
              </a:spcAft>
              <a:defRPr sz="590">
                <a:solidFill>
                  <a:srgbClr val="21242A"/>
                </a:solidFill>
                <a:latin typeface="Microsoft YaHei"/>
              </a:defRPr>
            </a:pPr>
            <a:r>
              <a:t>Despite inherent limitations, the data suggest HDMTX prophylaxis has no benefit and future studies should focus on alternative approaches to reduce risk in UHR </a:t>
            </a:r>
          </a:p>
          <a:p>
            <a:pPr>
              <a:lnSpc>
                <a:spcPct val="103000"/>
              </a:lnSpc>
              <a:spcAft>
                <a:spcPts val="300"/>
              </a:spcAft>
              <a:defRPr sz="590">
                <a:solidFill>
                  <a:srgbClr val="21242A"/>
                </a:solidFill>
                <a:latin typeface="Microsoft YaHei"/>
              </a:defRPr>
            </a:pPr>
            <a:r>
              <a:t>pts.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所有超高危患者3年CNS复发率</a:t>
                      </a:r>
                    </a:p>
                  </a:txBody>
                  <a:tcPr>
                    <a:solidFill>
                      <a:srgbClr val="F6F8FB"/>
                    </a:solidFill>
                  </a:tcPr>
                </a:tc>
                <a:tc>
                  <a:txBody>
                    <a:bodyPr wrap="square" lIns="36576" rIns="36576" tIns="18288" bIns="18288"/>
                    <a:lstStyle/>
                    <a:p>
                      <a:r>
                        <a:rPr sz="540" b="0">
                          <a:solidFill>
                            <a:srgbClr val="21242A"/>
                          </a:solidFill>
                          <a:latin typeface="Microsoft YaHei"/>
                        </a:rPr>
                        <a:t>未接受HDMTX组 vs 接受HDMTX组 = 9.3% vs 8.1%，调整后HR 1.10 (95%CI 0.80-1.53)</a:t>
                      </a:r>
                    </a:p>
                  </a:txBody>
                  <a:tcPr>
                    <a:solidFill>
                      <a:srgbClr val="F6F8FB"/>
                    </a:solidFill>
                  </a:tcPr>
                </a:tc>
              </a:tr>
              <a:tr h="249936">
                <a:tc>
                  <a:txBody>
                    <a:bodyPr wrap="square" lIns="36576" rIns="36576" tIns="18288" bIns="18288"/>
                    <a:lstStyle/>
                    <a:p>
                      <a:r>
                        <a:rPr sz="540" b="1">
                          <a:solidFill>
                            <a:srgbClr val="21242A"/>
                          </a:solidFill>
                          <a:latin typeface="Microsoft YaHei"/>
                        </a:rPr>
                        <a:t>孤立性CNS复发率</a:t>
                      </a:r>
                    </a:p>
                  </a:txBody>
                  <a:tcPr>
                    <a:solidFill>
                      <a:srgbClr val="FFFFFF"/>
                    </a:solidFill>
                  </a:tcPr>
                </a:tc>
                <a:tc>
                  <a:txBody>
                    <a:bodyPr wrap="square" lIns="36576" rIns="36576" tIns="18288" bIns="18288"/>
                    <a:lstStyle/>
                    <a:p>
                      <a:r>
                        <a:rPr sz="540" b="0">
                          <a:solidFill>
                            <a:srgbClr val="21242A"/>
                          </a:solidFill>
                          <a:latin typeface="Microsoft YaHei"/>
                        </a:rPr>
                        <a:t>5.9% vs 5.7%，调整后HR 1.01 (95% CI 0.68-1.50)</a:t>
                      </a:r>
                    </a:p>
                  </a:txBody>
                  <a:tcPr>
                    <a:solidFill>
                      <a:srgbClr val="FFFFFF"/>
                    </a:solidFill>
                  </a:tcPr>
                </a:tc>
              </a:tr>
              <a:tr h="249936">
                <a:tc>
                  <a:txBody>
                    <a:bodyPr wrap="square" lIns="36576" rIns="36576" tIns="18288" bIns="18288"/>
                    <a:lstStyle/>
                    <a:p>
                      <a:r>
                        <a:rPr sz="540" b="1">
                          <a:solidFill>
                            <a:srgbClr val="21242A"/>
                          </a:solidFill>
                          <a:latin typeface="Microsoft YaHei"/>
                        </a:rPr>
                        <a:t>6个月地标分析（n=1529）</a:t>
                      </a:r>
                    </a:p>
                  </a:txBody>
                  <a:tcPr>
                    <a:solidFill>
                      <a:srgbClr val="F6F8FB"/>
                    </a:solidFill>
                  </a:tcPr>
                </a:tc>
                <a:tc>
                  <a:txBody>
                    <a:bodyPr wrap="square" lIns="36576" rIns="36576" tIns="18288" bIns="18288"/>
                    <a:lstStyle/>
                    <a:p>
                      <a:r>
                        <a:rPr sz="540" b="0">
                          <a:solidFill>
                            <a:srgbClr val="21242A"/>
                          </a:solidFill>
                          <a:latin typeface="Microsoft YaHei"/>
                        </a:rPr>
                        <a:t>3年OS：79.7% vs 83.8%</a:t>
                      </a:r>
                    </a:p>
                  </a:txBody>
                  <a:tcPr>
                    <a:solidFill>
                      <a:srgbClr val="F6F8FB"/>
                    </a:solidFill>
                  </a:tcPr>
                </a:tc>
              </a:tr>
              <a:tr h="249936">
                <a:tc>
                  <a:txBody>
                    <a:bodyPr wrap="square" lIns="36576" rIns="36576" tIns="18288" bIns="18288"/>
                    <a:lstStyle/>
                    <a:p>
                      <a:r>
                        <a:rPr sz="540" b="1">
                          <a:solidFill>
                            <a:srgbClr val="21242A"/>
                          </a:solidFill>
                          <a:latin typeface="Microsoft YaHei"/>
                        </a:rPr>
                        <a:t>3年CNS复发率</a:t>
                      </a:r>
                    </a:p>
                  </a:txBody>
                  <a:tcPr>
                    <a:solidFill>
                      <a:srgbClr val="FFFFFF"/>
                    </a:solidFill>
                  </a:tcPr>
                </a:tc>
                <a:tc>
                  <a:txBody>
                    <a:bodyPr wrap="square" lIns="36576" rIns="36576" tIns="18288" bIns="18288"/>
                    <a:lstStyle/>
                    <a:p>
                      <a:r>
                        <a:rPr sz="540" b="0">
                          <a:solidFill>
                            <a:srgbClr val="21242A"/>
                          </a:solidFill>
                          <a:latin typeface="Microsoft YaHei"/>
                        </a:rPr>
                        <a:t>6.7% vs 6.6%，调整后HR 0.89 (95%CI 0.58-1.35)</a:t>
                      </a:r>
                    </a:p>
                  </a:txBody>
                  <a:tcPr>
                    <a:solidFill>
                      <a:srgbClr val="FFFFFF"/>
                    </a:solidFill>
                  </a:tcPr>
                </a:tc>
              </a:tr>
              <a:tr h="249936">
                <a:tc>
                  <a:txBody>
                    <a:bodyPr wrap="square" lIns="36576" rIns="36576" tIns="18288" bIns="18288"/>
                    <a:lstStyle/>
                    <a:p>
                      <a:r>
                        <a:rPr sz="540" b="1">
                          <a:solidFill>
                            <a:srgbClr val="21242A"/>
                          </a:solidFill>
                          <a:latin typeface="Microsoft YaHei"/>
                        </a:rPr>
                        <a:t>睾丸受累亚组</a:t>
                      </a:r>
                    </a:p>
                  </a:txBody>
                  <a:tcPr>
                    <a:solidFill>
                      <a:srgbClr val="F6F8FB"/>
                    </a:solidFill>
                  </a:tcPr>
                </a:tc>
                <a:tc>
                  <a:txBody>
                    <a:bodyPr wrap="square" lIns="36576" rIns="36576" tIns="18288" bIns="18288"/>
                    <a:lstStyle/>
                    <a:p>
                      <a:r>
                        <a:rPr sz="540" b="0">
                          <a:solidFill>
                            <a:srgbClr val="21242A"/>
                          </a:solidFill>
                          <a:latin typeface="Microsoft YaHei"/>
                        </a:rPr>
                        <a:t>任何CNS复发率9.4% vs 6.8%，HR 1.54 (95%CI 0.78-3.03)；孤立性CNS复发6.1% vs 6.3%，HR 1.08 (95%CI 0.51-2.31)</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摘要号：S249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药物/技术：CNS穿透/放疗/MTX策略</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综合血浆ctdna基因组分析对侵袭性dlbcl的诊断潜力评估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evaluating the diagnostic potential of comprehensive plasma ctdna genomic pro...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前瞻性临床研究结果：evaluating the diagnostic potential of comprehensive...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在56例DLBCL患者中，40例（71.4%）检测到体细胞变异，被定义为ctDNA阳性。</a:t>
            </a:r>
          </a:p>
          <a:p>
            <a:pPr>
              <a:lnSpc>
                <a:spcPct val="103000"/>
              </a:lnSpc>
              <a:spcAft>
                <a:spcPts val="300"/>
              </a:spcAft>
              <a:defRPr sz="800">
                <a:solidFill>
                  <a:srgbClr val="21242A"/>
                </a:solidFill>
                <a:latin typeface="Microsoft YaHei"/>
              </a:defRPr>
            </a:pPr>
            <a:r>
              <a:t>ctDNA阳性病例中共鉴定出972个体细胞变异，中位数为每个患者12个变异（IQR: 6-20），中位变异等位基因频率（VAF...</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登记号：ISRCTN12948913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研究主题：evaluating the diagnostic potential of comprehensive plasma ctdna genomic profiling in aggressive dlbcl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综合血浆ctdna基因组分析对侵袭性dlbcl的诊断潜力评估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evaluating the diagnostic potential of comprehensive plasma ctdna genomic pro...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Genetic profiling for patient risk stratification is routinely performed on tumor tissue biopsies that are invasive, carry procedural risks and are </a:t>
            </a:r>
          </a:p>
          <a:p>
            <a:pPr>
              <a:lnSpc>
                <a:spcPct val="103000"/>
              </a:lnSpc>
              <a:spcAft>
                <a:spcPts val="300"/>
              </a:spcAft>
              <a:defRPr sz="570">
                <a:solidFill>
                  <a:srgbClr val="21242A"/>
                </a:solidFill>
                <a:latin typeface="Microsoft YaHei"/>
              </a:defRPr>
            </a:pPr>
            <a:r>
              <a:t>limited in capturing spatial tumor heterogeneity.</a:t>
            </a:r>
          </a:p>
          <a:p>
            <a:pPr>
              <a:lnSpc>
                <a:spcPct val="103000"/>
              </a:lnSpc>
              <a:spcAft>
                <a:spcPts val="300"/>
              </a:spcAft>
              <a:defRPr sz="570">
                <a:solidFill>
                  <a:srgbClr val="21242A"/>
                </a:solidFill>
                <a:latin typeface="Microsoft YaHei"/>
              </a:defRPr>
            </a:pPr>
            <a:r>
              <a:t>Analyzing circulating cell-free tumor DNA (ctDNA) from liquid biopsies such as plasma offers a promising, non-invasive approach for detecting somatic aberration</a:t>
            </a:r>
          </a:p>
          <a:p>
            <a:pPr>
              <a:lnSpc>
                <a:spcPct val="103000"/>
              </a:lnSpc>
              <a:spcAft>
                <a:spcPts val="300"/>
              </a:spcAft>
              <a:defRPr sz="570">
                <a:solidFill>
                  <a:srgbClr val="21242A"/>
                </a:solidFill>
                <a:latin typeface="Microsoft YaHei"/>
              </a:defRPr>
            </a:pPr>
            <a:r>
              <a:t>s, potentially also from spatially distal lesions.</a:t>
            </a:r>
          </a:p>
          <a:p>
            <a:pPr>
              <a:lnSpc>
                <a:spcPct val="103000"/>
              </a:lnSpc>
              <a:spcAft>
                <a:spcPts val="300"/>
              </a:spcAft>
              <a:defRPr sz="570">
                <a:solidFill>
                  <a:srgbClr val="21242A"/>
                </a:solidFill>
                <a:latin typeface="Microsoft YaHei"/>
              </a:defRPr>
            </a:pPr>
            <a:r>
              <a:t>Aims: This ongoing study aims to assess the diagnostic performance of plasma-based comprehensive genomic profiling in aggressive diffuse large B-cell lymphoma (</a:t>
            </a:r>
          </a:p>
          <a:p>
            <a:pPr>
              <a:lnSpc>
                <a:spcPct val="103000"/>
              </a:lnSpc>
              <a:spcAft>
                <a:spcPts val="300"/>
              </a:spcAft>
              <a:defRPr sz="570">
                <a:solidFill>
                  <a:srgbClr val="21242A"/>
                </a:solidFill>
                <a:latin typeface="Microsoft YaHei"/>
              </a:defRPr>
            </a:pPr>
            <a:r>
              <a:t>DLBCL) and evaluate the concordance with paired paraffin-embedded tumor tissue biopsies.</a:t>
            </a:r>
          </a:p>
          <a:p>
            <a:pPr>
              <a:lnSpc>
                <a:spcPct val="103000"/>
              </a:lnSpc>
              <a:spcAft>
                <a:spcPts val="300"/>
              </a:spcAft>
              <a:defRPr sz="570">
                <a:solidFill>
                  <a:srgbClr val="21242A"/>
                </a:solidFill>
                <a:latin typeface="Microsoft YaHei"/>
              </a:defRPr>
            </a:pPr>
            <a:r>
              <a:t>Methods: A total of 56 patients with DLBCL diagnosed at Karolinska University Hospital and enrolled in the ongoing prospective BioLymph study (ISRCTN12948913) (</a:t>
            </a:r>
          </a:p>
          <a:p>
            <a:pPr>
              <a:lnSpc>
                <a:spcPct val="103000"/>
              </a:lnSpc>
              <a:spcAft>
                <a:spcPts val="300"/>
              </a:spcAft>
              <a:defRPr sz="570">
                <a:solidFill>
                  <a:srgbClr val="21242A"/>
                </a:solidFill>
                <a:latin typeface="Microsoft YaHei"/>
              </a:defRPr>
            </a:pPr>
            <a:r>
              <a:t>PMID: 37415362) were included, of whom 25 (44.6%) presented with advanced stage disease (IIE-IV).</a:t>
            </a:r>
          </a:p>
          <a:p>
            <a:pPr>
              <a:lnSpc>
                <a:spcPct val="103000"/>
              </a:lnSpc>
              <a:spcAft>
                <a:spcPts val="300"/>
              </a:spcAft>
              <a:defRPr sz="570">
                <a:solidFill>
                  <a:srgbClr val="21242A"/>
                </a:solidFill>
                <a:latin typeface="Microsoft YaHei"/>
              </a:defRPr>
            </a:pPr>
            <a:r>
              <a:t>Routine genetic profiling of diagnostic tissue biopsies was conducted by targeted sequencing using Genomic Medicine Sweden Lymphoid Gene Panel (GMS-LGP) (Twist </a:t>
            </a:r>
          </a:p>
          <a:p>
            <a:pPr>
              <a:lnSpc>
                <a:spcPct val="103000"/>
              </a:lnSpc>
              <a:spcAft>
                <a:spcPts val="300"/>
              </a:spcAft>
              <a:defRPr sz="570">
                <a:solidFill>
                  <a:srgbClr val="21242A"/>
                </a:solidFill>
                <a:latin typeface="Microsoft YaHei"/>
              </a:defRPr>
            </a:pPr>
            <a:r>
              <a:t>Bioscience, CA, US) according to the BioLymph protocol.</a:t>
            </a:r>
          </a:p>
          <a:p>
            <a:pPr>
              <a:lnSpc>
                <a:spcPct val="103000"/>
              </a:lnSpc>
              <a:spcAft>
                <a:spcPts val="300"/>
              </a:spcAft>
              <a:defRPr sz="570">
                <a:solidFill>
                  <a:srgbClr val="21242A"/>
                </a:solidFill>
                <a:latin typeface="Microsoft YaHei"/>
              </a:defRPr>
            </a:pPr>
            <a:r>
              <a:t>Pre-treatment plasma ctDNA samples and matched germline DNA from peripheral blood, along with plasma samples from healthy individuals (n=6) were sequenced using</a:t>
            </a:r>
          </a:p>
          <a:p>
            <a:pPr>
              <a:lnSpc>
                <a:spcPct val="103000"/>
              </a:lnSpc>
              <a:spcAft>
                <a:spcPts val="300"/>
              </a:spcAft>
              <a:defRPr sz="570">
                <a:solidFill>
                  <a:srgbClr val="21242A"/>
                </a:solidFill>
                <a:latin typeface="Microsoft YaHei"/>
              </a:defRPr>
            </a:pPr>
            <a:r>
              <a:t> GMS-LGP, incorporating unique molecular indices.</a:t>
            </a:r>
          </a:p>
          <a:p>
            <a:pPr>
              <a:lnSpc>
                <a:spcPct val="103000"/>
              </a:lnSpc>
              <a:spcAft>
                <a:spcPts val="300"/>
              </a:spcAft>
              <a:defRPr sz="570">
                <a:solidFill>
                  <a:srgbClr val="21242A"/>
                </a:solidFill>
                <a:latin typeface="Microsoft YaHei"/>
              </a:defRPr>
            </a:pPr>
            <a:r>
              <a:t>Libraries were sequenced at a depth of 100 million read pairs on NovaSeq X (Illumina, CA, US) and unique duplex consensus reads were employed for somatic varian</a:t>
            </a:r>
          </a:p>
          <a:p>
            <a:pPr>
              <a:lnSpc>
                <a:spcPct val="103000"/>
              </a:lnSpc>
              <a:spcAft>
                <a:spcPts val="300"/>
              </a:spcAft>
              <a:defRPr sz="570">
                <a:solidFill>
                  <a:srgbClr val="21242A"/>
                </a:solidFill>
                <a:latin typeface="Microsoft YaHei"/>
              </a:defRPr>
            </a:pPr>
            <a:r>
              <a:t>t calling using BALSAMIC pipeline.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results so far demonstrate expected biological and technical contrasts between tissue and plasma sequencing for diagnostic profiling despite which the detec</a:t>
            </a:r>
          </a:p>
          <a:p>
            <a:pPr>
              <a:lnSpc>
                <a:spcPct val="103000"/>
              </a:lnSpc>
              <a:spcAft>
                <a:spcPts val="300"/>
              </a:spcAft>
              <a:defRPr sz="590">
                <a:solidFill>
                  <a:srgbClr val="21242A"/>
                </a:solidFill>
                <a:latin typeface="Microsoft YaHei"/>
              </a:defRPr>
            </a:pPr>
            <a:r>
              <a:t>tion of overlapping variants across both biopsy types supports the utility of ctDNA as a complementary and minimally invasive tool for genomic profiling in DLBC</a:t>
            </a:r>
          </a:p>
          <a:p>
            <a:pPr>
              <a:lnSpc>
                <a:spcPct val="103000"/>
              </a:lnSpc>
              <a:spcAft>
                <a:spcPts val="300"/>
              </a:spcAft>
              <a:defRPr sz="590">
                <a:solidFill>
                  <a:srgbClr val="21242A"/>
                </a:solidFill>
                <a:latin typeface="Microsoft YaHei"/>
              </a:defRPr>
            </a:pPr>
            <a:r>
              <a:t>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median target coverage of unique duplex reads across patient ctDNA samples was 717X (interquartile range (IQR): 623-798X), with &gt;88% of target</a:t>
            </a:r>
          </a:p>
          <a:p>
            <a:pPr>
              <a:lnSpc>
                <a:spcPct val="103000"/>
              </a:lnSpc>
              <a:spcAft>
                <a:spcPts val="300"/>
              </a:spcAft>
              <a:defRPr sz="580">
                <a:solidFill>
                  <a:srgbClr val="21242A"/>
                </a:solidFill>
                <a:latin typeface="Microsoft YaHei"/>
              </a:defRPr>
            </a:pPr>
            <a:r>
              <a:t>s achieving ≥250X coverage.</a:t>
            </a:r>
          </a:p>
          <a:p>
            <a:pPr>
              <a:lnSpc>
                <a:spcPct val="103000"/>
              </a:lnSpc>
              <a:spcAft>
                <a:spcPts val="300"/>
              </a:spcAft>
              <a:defRPr sz="580">
                <a:solidFill>
                  <a:srgbClr val="21242A"/>
                </a:solidFill>
                <a:latin typeface="Microsoft YaHei"/>
              </a:defRPr>
            </a:pPr>
            <a:r>
              <a:t>Somatic variants were detected in 40/56 patients (71.4%), classifying them as ctDNA positive (ctDNA+).</a:t>
            </a:r>
          </a:p>
          <a:p>
            <a:pPr>
              <a:lnSpc>
                <a:spcPct val="103000"/>
              </a:lnSpc>
              <a:spcAft>
                <a:spcPts val="300"/>
              </a:spcAft>
              <a:defRPr sz="580">
                <a:solidFill>
                  <a:srgbClr val="21242A"/>
                </a:solidFill>
                <a:latin typeface="Microsoft YaHei"/>
              </a:defRPr>
            </a:pPr>
            <a:r>
              <a:t>Across ctDNA+ cases, 972 somatic variants were identified with a median of 12 variants per patient (IQR: 6-20) and a median variant allele fraction (VAF) o</a:t>
            </a:r>
          </a:p>
          <a:p>
            <a:pPr>
              <a:lnSpc>
                <a:spcPct val="103000"/>
              </a:lnSpc>
              <a:spcAft>
                <a:spcPts val="300"/>
              </a:spcAft>
              <a:defRPr sz="580">
                <a:solidFill>
                  <a:srgbClr val="21242A"/>
                </a:solidFill>
                <a:latin typeface="Microsoft YaHei"/>
              </a:defRPr>
            </a:pPr>
            <a:r>
              <a:t>f 3%.</a:t>
            </a:r>
          </a:p>
          <a:p>
            <a:pPr>
              <a:lnSpc>
                <a:spcPct val="103000"/>
              </a:lnSpc>
              <a:spcAft>
                <a:spcPts val="300"/>
              </a:spcAft>
              <a:defRPr sz="580">
                <a:solidFill>
                  <a:srgbClr val="21242A"/>
                </a:solidFill>
                <a:latin typeface="Microsoft YaHei"/>
              </a:defRPr>
            </a:pPr>
            <a:r>
              <a:t>Stage I cases were significantly associated with ctDNA negativity (8/16 vs. 8/32 in stages II–IV; Fisher’s exact P= 0.047).</a:t>
            </a:r>
          </a:p>
          <a:p>
            <a:pPr>
              <a:lnSpc>
                <a:spcPct val="103000"/>
              </a:lnSpc>
              <a:spcAft>
                <a:spcPts val="300"/>
              </a:spcAft>
              <a:defRPr sz="580">
                <a:solidFill>
                  <a:srgbClr val="21242A"/>
                </a:solidFill>
                <a:latin typeface="Microsoft YaHei"/>
              </a:defRPr>
            </a:pPr>
            <a:r>
              <a:t>\n In matching tissue biopsies, somatic variants were detected in 54/56 patients (96.4%) with median 15.5 variants per patient (IQR: 10-27) and median VAF </a:t>
            </a:r>
          </a:p>
          <a:p>
            <a:pPr>
              <a:lnSpc>
                <a:spcPct val="103000"/>
              </a:lnSpc>
              <a:spcAft>
                <a:spcPts val="300"/>
              </a:spcAft>
              <a:defRPr sz="580">
                <a:solidFill>
                  <a:srgbClr val="21242A"/>
                </a:solidFill>
                <a:latin typeface="Microsoft YaHei"/>
              </a:defRPr>
            </a:pPr>
            <a:r>
              <a:t>of 23.6% (IQR: 12.7-36.4%).</a:t>
            </a:r>
          </a:p>
          <a:p>
            <a:pPr>
              <a:lnSpc>
                <a:spcPct val="103000"/>
              </a:lnSpc>
              <a:spcAft>
                <a:spcPts val="300"/>
              </a:spcAft>
              <a:defRPr sz="580">
                <a:solidFill>
                  <a:srgbClr val="21242A"/>
                </a:solidFill>
                <a:latin typeface="Microsoft YaHei"/>
              </a:defRPr>
            </a:pPr>
            <a:r>
              <a:t>Concordance analysis in 38 ctDNA+ patients with variants detected in paired tissue biopsies a median Jaccard Index of 0.62 (IQR: 0.24-0.76).</a:t>
            </a:r>
          </a:p>
          <a:p>
            <a:pPr>
              <a:lnSpc>
                <a:spcPct val="103000"/>
              </a:lnSpc>
              <a:spcAft>
                <a:spcPts val="300"/>
              </a:spcAft>
              <a:defRPr sz="580">
                <a:solidFill>
                  <a:srgbClr val="21242A"/>
                </a:solidFill>
                <a:latin typeface="Microsoft YaHei"/>
              </a:defRPr>
            </a:pPr>
            <a:r>
              <a:t>Shared variants exhibited significantly higher median VAFs in paraffin-embedded tissue compared with plasma (18.6% vs. 3.2%; Wilcoxon signed-rank test, P</a:t>
            </a:r>
          </a:p>
          <a:p>
            <a:pPr>
              <a:lnSpc>
                <a:spcPct val="103000"/>
              </a:lnSpc>
              <a:spcAft>
                <a:spcPts val="300"/>
              </a:spcAft>
              <a:defRPr sz="580">
                <a:solidFill>
                  <a:srgbClr val="21242A"/>
                </a:solidFill>
                <a:latin typeface="Microsoft YaHei"/>
              </a:defRPr>
            </a:pPr>
            <a:r>
              <a:t>Conclusion: Our results so far demonstrate expected biological and technical contrasts between tissue and plasma sequencing for diagnostic profiling despit</a:t>
            </a:r>
          </a:p>
          <a:p>
            <a:pPr>
              <a:lnSpc>
                <a:spcPct val="103000"/>
              </a:lnSpc>
              <a:spcAft>
                <a:spcPts val="300"/>
              </a:spcAft>
              <a:defRPr sz="580">
                <a:solidFill>
                  <a:srgbClr val="21242A"/>
                </a:solidFill>
                <a:latin typeface="Microsoft YaHei"/>
              </a:defRPr>
            </a:pPr>
            <a:r>
              <a:t>e which the detection of overlapping variants across both biopsy types supports the utility of ctDNA as a complementary and minimally invasive tool for gen</a:t>
            </a:r>
          </a:p>
          <a:p>
            <a:pPr>
              <a:lnSpc>
                <a:spcPct val="103000"/>
              </a:lnSpc>
              <a:spcAft>
                <a:spcPts val="300"/>
              </a:spcAft>
              <a:defRPr sz="580">
                <a:solidFill>
                  <a:srgbClr val="21242A"/>
                </a:solidFill>
                <a:latin typeface="Microsoft YaHei"/>
              </a:defRPr>
            </a:pPr>
            <a:r>
              <a:t>omic profiling in DLBCL.</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摘要号：PS2534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ctdna测序揭示lbcl患者具有预后相关性的突变特征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ctdna sequencing reveals mutational signatures with prognostic relevance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前瞻性临床研究结果：ctdna sequencing reveals mutational signatures with 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PFS: AID-associated subgroup vs diverse signature subgroup, HR=...</a:t>
            </a:r>
          </a:p>
          <a:p>
            <a:pPr>
              <a:lnSpc>
                <a:spcPct val="103000"/>
              </a:lnSpc>
              <a:spcAft>
                <a:spcPts val="300"/>
              </a:spcAft>
              <a:defRPr sz="800">
                <a:solidFill>
                  <a:srgbClr val="21242A"/>
                </a:solidFill>
                <a:latin typeface="Microsoft YaHei"/>
              </a:defRPr>
            </a:pPr>
            <a:r>
              <a:t>验证队列LBC-06中PFS: HR=1.73, p=0.044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人数：310</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研究主题：ctdna sequencing reveals mutational signatures with prognostic relevance in lbcl patients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ctdna测序揭示lbcl患者具有预后相关性的突变特征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ctdna sequencing reveals mutational signatures with prognostic relevance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Despite recent advances in treatment strategies, patients with relapsed/refractory (R/R) large B-cell lymphoma (LBCL) are at high risk of further re</a:t>
            </a:r>
          </a:p>
          <a:p>
            <a:pPr>
              <a:lnSpc>
                <a:spcPct val="103000"/>
              </a:lnSpc>
              <a:spcAft>
                <a:spcPts val="300"/>
              </a:spcAft>
              <a:defRPr sz="570">
                <a:solidFill>
                  <a:srgbClr val="21242A"/>
                </a:solidFill>
                <a:latin typeface="Microsoft YaHei"/>
              </a:defRPr>
            </a:pPr>
            <a:r>
              <a:t>lapses and death.</a:t>
            </a:r>
          </a:p>
          <a:p>
            <a:pPr>
              <a:lnSpc>
                <a:spcPct val="103000"/>
              </a:lnSpc>
              <a:spcAft>
                <a:spcPts val="300"/>
              </a:spcAft>
              <a:defRPr sz="570">
                <a:solidFill>
                  <a:srgbClr val="21242A"/>
                </a:solidFill>
                <a:latin typeface="Microsoft YaHei"/>
              </a:defRPr>
            </a:pPr>
            <a:r>
              <a:t>Accordingly, the development of novel biomarkers and the identification of patients who might benefit from alternative treatment strategies remain important unm</a:t>
            </a:r>
          </a:p>
          <a:p>
            <a:pPr>
              <a:lnSpc>
                <a:spcPct val="103000"/>
              </a:lnSpc>
              <a:spcAft>
                <a:spcPts val="300"/>
              </a:spcAft>
              <a:defRPr sz="570">
                <a:solidFill>
                  <a:srgbClr val="21242A"/>
                </a:solidFill>
                <a:latin typeface="Microsoft YaHei"/>
              </a:defRPr>
            </a:pPr>
            <a:r>
              <a:t>et medical needs.</a:t>
            </a:r>
          </a:p>
          <a:p>
            <a:pPr>
              <a:lnSpc>
                <a:spcPct val="103000"/>
              </a:lnSpc>
              <a:spcAft>
                <a:spcPts val="300"/>
              </a:spcAft>
              <a:defRPr sz="570">
                <a:solidFill>
                  <a:srgbClr val="21242A"/>
                </a:solidFill>
                <a:latin typeface="Microsoft YaHei"/>
              </a:defRPr>
            </a:pPr>
            <a:r>
              <a:t>Circulating tumor (ct)DNA sequencing has emerged as a reliable tool for genotyping and response assessment in patients with LBCL.</a:t>
            </a:r>
          </a:p>
          <a:p>
            <a:pPr>
              <a:lnSpc>
                <a:spcPct val="103000"/>
              </a:lnSpc>
              <a:spcAft>
                <a:spcPts val="300"/>
              </a:spcAft>
              <a:defRPr sz="570">
                <a:solidFill>
                  <a:srgbClr val="21242A"/>
                </a:solidFill>
                <a:latin typeface="Microsoft YaHei"/>
              </a:defRPr>
            </a:pPr>
            <a:r>
              <a:t>Its prognostic value could be further enhanced by integrating mutational signatures that reveal the underlying biological processes.</a:t>
            </a:r>
          </a:p>
          <a:p>
            <a:pPr>
              <a:lnSpc>
                <a:spcPct val="103000"/>
              </a:lnSpc>
              <a:spcAft>
                <a:spcPts val="300"/>
              </a:spcAft>
              <a:defRPr sz="570">
                <a:solidFill>
                  <a:srgbClr val="21242A"/>
                </a:solidFill>
                <a:latin typeface="Microsoft YaHei"/>
              </a:defRPr>
            </a:pPr>
            <a:r>
              <a:t>Aims: The aim of this study is to extract and characterize single base substitution (SBS) mutational signatures from ctDNA in patients with LBCL, to identify di</a:t>
            </a:r>
          </a:p>
          <a:p>
            <a:pPr>
              <a:lnSpc>
                <a:spcPct val="103000"/>
              </a:lnSpc>
              <a:spcAft>
                <a:spcPts val="300"/>
              </a:spcAft>
              <a:defRPr sz="570">
                <a:solidFill>
                  <a:srgbClr val="21242A"/>
                </a:solidFill>
                <a:latin typeface="Microsoft YaHei"/>
              </a:defRPr>
            </a:pPr>
            <a:r>
              <a:t>stinct patterns and to assess their impact on progression free survival (PFS).</a:t>
            </a:r>
          </a:p>
          <a:p>
            <a:pPr>
              <a:lnSpc>
                <a:spcPct val="103000"/>
              </a:lnSpc>
              <a:spcAft>
                <a:spcPts val="300"/>
              </a:spcAft>
              <a:defRPr sz="570">
                <a:solidFill>
                  <a:srgbClr val="21242A"/>
                </a:solidFill>
                <a:latin typeface="Microsoft YaHei"/>
              </a:defRPr>
            </a:pPr>
            <a:r>
              <a:t>Methods: We applied our previously published ctDNA sequencing approach (Sobesky et al., 2021; Heger et al., 2024) to 124 blood samples obtained from 88 patients</a:t>
            </a:r>
          </a:p>
          <a:p>
            <a:pPr>
              <a:lnSpc>
                <a:spcPct val="103000"/>
              </a:lnSpc>
              <a:spcAft>
                <a:spcPts val="300"/>
              </a:spcAft>
              <a:defRPr sz="570">
                <a:solidFill>
                  <a:srgbClr val="21242A"/>
                </a:solidFill>
                <a:latin typeface="Microsoft YaHei"/>
              </a:defRPr>
            </a:pPr>
            <a:r>
              <a:t> with R/R LBCL across multiple treatment lines.</a:t>
            </a:r>
          </a:p>
          <a:p>
            <a:pPr>
              <a:lnSpc>
                <a:spcPct val="103000"/>
              </a:lnSpc>
              <a:spcAft>
                <a:spcPts val="300"/>
              </a:spcAft>
              <a:defRPr sz="570">
                <a:solidFill>
                  <a:srgbClr val="21242A"/>
                </a:solidFill>
                <a:latin typeface="Microsoft YaHei"/>
              </a:defRPr>
            </a:pPr>
            <a:r>
              <a:t>All samples were obtained prior to treatment initiation and constituted the discovery cohort.</a:t>
            </a:r>
          </a:p>
          <a:p>
            <a:pPr>
              <a:lnSpc>
                <a:spcPct val="103000"/>
              </a:lnSpc>
              <a:spcAft>
                <a:spcPts val="300"/>
              </a:spcAft>
              <a:defRPr sz="570">
                <a:solidFill>
                  <a:srgbClr val="21242A"/>
                </a:solidFill>
                <a:latin typeface="Microsoft YaHei"/>
              </a:defRPr>
            </a:pPr>
            <a:r>
              <a:t>Mutational signature analysis was performed with a customized pipeline developed around SigProfiler (Díaz-Gay et al., 2023).</a:t>
            </a:r>
          </a:p>
          <a:p>
            <a:pPr>
              <a:lnSpc>
                <a:spcPct val="103000"/>
              </a:lnSpc>
              <a:spcAft>
                <a:spcPts val="300"/>
              </a:spcAft>
              <a:defRPr sz="570">
                <a:solidFill>
                  <a:srgbClr val="21242A"/>
                </a:solidFill>
                <a:latin typeface="Microsoft YaHei"/>
              </a:defRPr>
            </a:pPr>
            <a:r>
              <a:t>The prognostic impact of identified mutational signature subgroups was validated in two independent cohorts of patients with previously untreated LBCL from the </a:t>
            </a:r>
          </a:p>
          <a:p>
            <a:pPr>
              <a:lnSpc>
                <a:spcPct val="103000"/>
              </a:lnSpc>
              <a:spcAft>
                <a:spcPts val="300"/>
              </a:spcAft>
              <a:defRPr sz="570">
                <a:solidFill>
                  <a:srgbClr val="21242A"/>
                </a:solidFill>
                <a:latin typeface="Microsoft YaHei"/>
              </a:defRPr>
            </a:pPr>
            <a:r>
              <a:t>Nordic phase II LBC-06 (n = 123; Leppä et al., 2025) and LBC-05 (n = 99; Leppä et al., 2020) trials.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ctDNA sequencing enables robust and reproducible identification of distinct mutational signature patterns, independent of technical workflows and targeted gene </a:t>
            </a:r>
          </a:p>
          <a:p>
            <a:pPr>
              <a:lnSpc>
                <a:spcPct val="103000"/>
              </a:lnSpc>
              <a:spcAft>
                <a:spcPts val="300"/>
              </a:spcAft>
              <a:defRPr sz="590">
                <a:solidFill>
                  <a:srgbClr val="21242A"/>
                </a:solidFill>
                <a:latin typeface="Microsoft YaHei"/>
              </a:defRPr>
            </a:pPr>
            <a:r>
              <a:t>panel designs.</a:t>
            </a:r>
          </a:p>
          <a:p>
            <a:pPr>
              <a:lnSpc>
                <a:spcPct val="103000"/>
              </a:lnSpc>
              <a:spcAft>
                <a:spcPts val="300"/>
              </a:spcAft>
              <a:defRPr sz="590">
                <a:solidFill>
                  <a:srgbClr val="21242A"/>
                </a:solidFill>
                <a:latin typeface="Microsoft YaHei"/>
              </a:defRPr>
            </a:pPr>
            <a:r>
              <a:t>Classification based on these signatures delineates two distinct subgroups that are reproducible and independently associated with PFS.</a:t>
            </a:r>
          </a:p>
          <a:p>
            <a:pPr>
              <a:lnSpc>
                <a:spcPct val="103000"/>
              </a:lnSpc>
              <a:spcAft>
                <a:spcPts val="300"/>
              </a:spcAft>
              <a:defRPr sz="590">
                <a:solidFill>
                  <a:srgbClr val="21242A"/>
                </a:solidFill>
                <a:latin typeface="Microsoft YaHei"/>
              </a:defRPr>
            </a:pPr>
            <a:r>
              <a:t>Overall, incorporating the biological context of mutations could further enhance the prognostic power of ctDNA profiling, enabling earlier and more precise iden</a:t>
            </a:r>
          </a:p>
          <a:p>
            <a:pPr>
              <a:lnSpc>
                <a:spcPct val="103000"/>
              </a:lnSpc>
              <a:spcAft>
                <a:spcPts val="300"/>
              </a:spcAft>
              <a:defRPr sz="590">
                <a:solidFill>
                  <a:srgbClr val="21242A"/>
                </a:solidFill>
                <a:latin typeface="Microsoft YaHei"/>
              </a:defRPr>
            </a:pPr>
            <a:r>
              <a:t>tification of patients at high risk for progressive disease.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We identified four distinct mutational signatures: SBS1 and SBS5 both indicative of age, SBS39 of unknown etiology, and SBS84 induced by cytidine </a:t>
            </a:r>
          </a:p>
          <a:p>
            <a:pPr>
              <a:lnSpc>
                <a:spcPct val="103000"/>
              </a:lnSpc>
              <a:spcAft>
                <a:spcPts val="300"/>
              </a:spcAft>
              <a:defRPr sz="580">
                <a:solidFill>
                  <a:srgbClr val="21242A"/>
                </a:solidFill>
                <a:latin typeface="Microsoft YaHei"/>
              </a:defRPr>
            </a:pPr>
            <a:r>
              <a:t>deaminase (AID) activity.</a:t>
            </a:r>
          </a:p>
          <a:p>
            <a:pPr>
              <a:lnSpc>
                <a:spcPct val="103000"/>
              </a:lnSpc>
              <a:spcAft>
                <a:spcPts val="300"/>
              </a:spcAft>
              <a:defRPr sz="580">
                <a:solidFill>
                  <a:srgbClr val="21242A"/>
                </a:solidFill>
                <a:latin typeface="Microsoft YaHei"/>
              </a:defRPr>
            </a:pPr>
            <a:r>
              <a:t>Unsupervised k-means clustering of mutational signature profiles revealed two distinct molecular subgroups.</a:t>
            </a:r>
          </a:p>
          <a:p>
            <a:pPr>
              <a:lnSpc>
                <a:spcPct val="103000"/>
              </a:lnSpc>
              <a:spcAft>
                <a:spcPts val="300"/>
              </a:spcAft>
              <a:defRPr sz="580">
                <a:solidFill>
                  <a:srgbClr val="21242A"/>
                </a:solidFill>
                <a:latin typeface="Microsoft YaHei"/>
              </a:defRPr>
            </a:pPr>
            <a:r>
              <a:t>The first subgroup, termed “AID-associated” is characterized by a predominance of the AID-related mutational signature, whereas the second “diverse signatu</a:t>
            </a:r>
          </a:p>
          <a:p>
            <a:pPr>
              <a:lnSpc>
                <a:spcPct val="103000"/>
              </a:lnSpc>
              <a:spcAft>
                <a:spcPts val="300"/>
              </a:spcAft>
              <a:defRPr sz="580">
                <a:solidFill>
                  <a:srgbClr val="21242A"/>
                </a:solidFill>
                <a:latin typeface="Microsoft YaHei"/>
              </a:defRPr>
            </a:pPr>
            <a:r>
              <a:t>re” subgroup exhibited lower proportion of the AID related signature SBS84 (mean 23% vs 68% SBS84 proportion/sample, p</a:t>
            </a:r>
          </a:p>
          <a:p>
            <a:pPr>
              <a:lnSpc>
                <a:spcPct val="103000"/>
              </a:lnSpc>
              <a:spcAft>
                <a:spcPts val="300"/>
              </a:spcAft>
              <a:defRPr sz="580">
                <a:solidFill>
                  <a:srgbClr val="21242A"/>
                </a:solidFill>
                <a:latin typeface="Microsoft YaHei"/>
              </a:defRPr>
            </a:pPr>
            <a:r>
              <a:t>Conclusion: ctDNA sequencing enables robust and reproducible identification of distinct mutational signature patterns, independent of technical workflows a</a:t>
            </a:r>
          </a:p>
          <a:p>
            <a:pPr>
              <a:lnSpc>
                <a:spcPct val="103000"/>
              </a:lnSpc>
              <a:spcAft>
                <a:spcPts val="300"/>
              </a:spcAft>
              <a:defRPr sz="580">
                <a:solidFill>
                  <a:srgbClr val="21242A"/>
                </a:solidFill>
                <a:latin typeface="Microsoft YaHei"/>
              </a:defRPr>
            </a:pPr>
            <a:r>
              <a:t>nd targeted gene panel designs.</a:t>
            </a:r>
          </a:p>
          <a:p>
            <a:pPr>
              <a:lnSpc>
                <a:spcPct val="103000"/>
              </a:lnSpc>
              <a:spcAft>
                <a:spcPts val="300"/>
              </a:spcAft>
              <a:defRPr sz="580">
                <a:solidFill>
                  <a:srgbClr val="21242A"/>
                </a:solidFill>
                <a:latin typeface="Microsoft YaHei"/>
              </a:defRPr>
            </a:pPr>
            <a:r>
              <a:t>Classification based on these signatures delineates two distinct subgroups that are reproducible and independently associated with PFS.</a:t>
            </a:r>
          </a:p>
          <a:p>
            <a:pPr>
              <a:lnSpc>
                <a:spcPct val="103000"/>
              </a:lnSpc>
              <a:spcAft>
                <a:spcPts val="300"/>
              </a:spcAft>
              <a:defRPr sz="580">
                <a:solidFill>
                  <a:srgbClr val="21242A"/>
                </a:solidFill>
                <a:latin typeface="Microsoft YaHei"/>
              </a:defRPr>
            </a:pPr>
            <a:r>
              <a:t>Overall, incorporating the biological context of mutations could further enhance the prognostic power of ctDNA profiling, enabling earlier and more precise</a:t>
            </a:r>
          </a:p>
          <a:p>
            <a:pPr>
              <a:lnSpc>
                <a:spcPct val="103000"/>
              </a:lnSpc>
              <a:spcAft>
                <a:spcPts val="300"/>
              </a:spcAft>
              <a:defRPr sz="580">
                <a:solidFill>
                  <a:srgbClr val="21242A"/>
                </a:solidFill>
                <a:latin typeface="Microsoft YaHei"/>
              </a:defRPr>
            </a:pPr>
            <a:r>
              <a:t> identification of patients at high risk for progressive disease.</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摘要号：PS2179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血浆铜作为弥漫性大b细胞淋巴瘤的预后标志物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plasma copper as prognostic biomarker in diffuse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N=600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前瞻性临床研究结果：plasma copper as prognostic biomarker in diffuse larg...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中位无进展生存期：高铜组467天，低铜组3295天，P&lt;0.001</a:t>
            </a:r>
          </a:p>
          <a:p>
            <a:pPr>
              <a:lnSpc>
                <a:spcPct val="103000"/>
              </a:lnSpc>
              <a:spcAft>
                <a:spcPts val="300"/>
              </a:spcAft>
              <a:defRPr sz="800">
                <a:solidFill>
                  <a:srgbClr val="21242A"/>
                </a:solidFill>
                <a:latin typeface="Microsoft YaHei"/>
              </a:defRPr>
            </a:pPr>
            <a:r>
              <a:t>中位总生存期：高铜组1156天，低铜组4323天，P&lt;0.001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人数：600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研究主题：plasma copper as prognostic biomarker in diffuse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血浆铜作为弥漫性大b细胞淋巴瘤的预后标志物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plasma copper as prognostic biomarker in diffuse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exhibits significant clinical heterogeneity, necessitating improved prognostic biomarkers beyond conventional </a:t>
            </a:r>
          </a:p>
          <a:p>
            <a:pPr>
              <a:lnSpc>
                <a:spcPct val="103000"/>
              </a:lnSpc>
              <a:spcAft>
                <a:spcPts val="300"/>
              </a:spcAft>
              <a:defRPr sz="570">
                <a:solidFill>
                  <a:srgbClr val="21242A"/>
                </a:solidFill>
                <a:latin typeface="Microsoft YaHei"/>
              </a:defRPr>
            </a:pPr>
            <a:r>
              <a:t>risk stratification systems.Recent research highlights cuproptosis, a novel form of regulated cell death triggered by abnormal intracellular copper accumulation</a:t>
            </a:r>
          </a:p>
          <a:p>
            <a:pPr>
              <a:lnSpc>
                <a:spcPct val="103000"/>
              </a:lnSpc>
              <a:spcAft>
                <a:spcPts val="300"/>
              </a:spcAft>
              <a:defRPr sz="570">
                <a:solidFill>
                  <a:srgbClr val="21242A"/>
                </a:solidFill>
                <a:latin typeface="Microsoft YaHei"/>
              </a:defRPr>
            </a:pPr>
            <a:r>
              <a:t> affecting mitochondrial function, as a promising target in cancer therapy.</a:t>
            </a:r>
          </a:p>
          <a:p>
            <a:pPr>
              <a:lnSpc>
                <a:spcPct val="103000"/>
              </a:lnSpc>
              <a:spcAft>
                <a:spcPts val="300"/>
              </a:spcAft>
              <a:defRPr sz="570">
                <a:solidFill>
                  <a:srgbClr val="21242A"/>
                </a:solidFill>
                <a:latin typeface="Microsoft YaHei"/>
              </a:defRPr>
            </a:pPr>
            <a:r>
              <a:t>Its susceptibility depends on tumor metabolism and microenvironmental factors, including inflammatory signals.</a:t>
            </a:r>
          </a:p>
          <a:p>
            <a:pPr>
              <a:lnSpc>
                <a:spcPct val="103000"/>
              </a:lnSpc>
              <a:spcAft>
                <a:spcPts val="300"/>
              </a:spcAft>
              <a:defRPr sz="570">
                <a:solidFill>
                  <a:srgbClr val="21242A"/>
                </a:solidFill>
                <a:latin typeface="Microsoft YaHei"/>
              </a:defRPr>
            </a:pPr>
            <a:r>
              <a:t>In DLBCL, cuproptosis-related genes and copper transporters influence prognosis and treatment response, but the role of systemic plasma copper levels remains un</a:t>
            </a:r>
          </a:p>
          <a:p>
            <a:pPr>
              <a:lnSpc>
                <a:spcPct val="103000"/>
              </a:lnSpc>
              <a:spcAft>
                <a:spcPts val="300"/>
              </a:spcAft>
              <a:defRPr sz="570">
                <a:solidFill>
                  <a:srgbClr val="21242A"/>
                </a:solidFill>
                <a:latin typeface="Microsoft YaHei"/>
              </a:defRPr>
            </a:pPr>
            <a:r>
              <a:t>clear.</a:t>
            </a:r>
          </a:p>
          <a:p>
            <a:pPr>
              <a:lnSpc>
                <a:spcPct val="103000"/>
              </a:lnSpc>
              <a:spcAft>
                <a:spcPts val="300"/>
              </a:spcAft>
              <a:defRPr sz="570">
                <a:solidFill>
                  <a:srgbClr val="21242A"/>
                </a:solidFill>
                <a:latin typeface="Microsoft YaHei"/>
              </a:defRPr>
            </a:pPr>
            <a:r>
              <a:t>This research aims to establish plasma copper as a prognostic biomarker and inform therapeutic strategies targeting cuproptosis and copper homeostasis to improv</a:t>
            </a:r>
          </a:p>
          <a:p>
            <a:pPr>
              <a:lnSpc>
                <a:spcPct val="103000"/>
              </a:lnSpc>
              <a:spcAft>
                <a:spcPts val="300"/>
              </a:spcAft>
              <a:defRPr sz="570">
                <a:solidFill>
                  <a:srgbClr val="21242A"/>
                </a:solidFill>
                <a:latin typeface="Microsoft YaHei"/>
              </a:defRPr>
            </a:pPr>
            <a:r>
              <a:t>e patient outcomes.</a:t>
            </a:r>
          </a:p>
          <a:p>
            <a:pPr>
              <a:lnSpc>
                <a:spcPct val="103000"/>
              </a:lnSpc>
              <a:spcAft>
                <a:spcPts val="300"/>
              </a:spcAft>
              <a:defRPr sz="570">
                <a:solidFill>
                  <a:srgbClr val="21242A"/>
                </a:solidFill>
                <a:latin typeface="Microsoft YaHei"/>
              </a:defRPr>
            </a:pPr>
            <a:r>
              <a:t>Aims: This study aims to evaluate plasma copper levels as a prognostic biomarker in DLBCL.</a:t>
            </a:r>
          </a:p>
          <a:p>
            <a:pPr>
              <a:lnSpc>
                <a:spcPct val="103000"/>
              </a:lnSpc>
              <a:spcAft>
                <a:spcPts val="300"/>
              </a:spcAft>
              <a:defRPr sz="570">
                <a:solidFill>
                  <a:srgbClr val="21242A"/>
                </a:solidFill>
                <a:latin typeface="Microsoft YaHei"/>
              </a:defRPr>
            </a:pPr>
            <a:r>
              <a:t>By integrating published genetic datasets and our patiients' cytokine profiling, it seeks to enhance understanding of copper’s role in lymphoma progression and </a:t>
            </a:r>
          </a:p>
          <a:p>
            <a:pPr>
              <a:lnSpc>
                <a:spcPct val="103000"/>
              </a:lnSpc>
              <a:spcAft>
                <a:spcPts val="300"/>
              </a:spcAft>
              <a:defRPr sz="570">
                <a:solidFill>
                  <a:srgbClr val="21242A"/>
                </a:solidFill>
                <a:latin typeface="Microsoft YaHei"/>
              </a:defRPr>
            </a:pPr>
            <a:r>
              <a:t>guide novel therapeutic strategies.</a:t>
            </a:r>
          </a:p>
          <a:p>
            <a:pPr>
              <a:lnSpc>
                <a:spcPct val="103000"/>
              </a:lnSpc>
              <a:spcAft>
                <a:spcPts val="300"/>
              </a:spcAft>
              <a:defRPr sz="570">
                <a:solidFill>
                  <a:srgbClr val="21242A"/>
                </a:solidFill>
                <a:latin typeface="Microsoft YaHei"/>
              </a:defRPr>
            </a:pPr>
            <a:r>
              <a:t>Methods: We analyzed 600 newly diagnosed DLBCL patients divided into training (n=360) and validation (n=240) cohorts.</a:t>
            </a:r>
          </a:p>
          <a:p>
            <a:pPr>
              <a:lnSpc>
                <a:spcPct val="103000"/>
              </a:lnSpc>
              <a:spcAft>
                <a:spcPts val="300"/>
              </a:spcAft>
              <a:defRPr sz="570">
                <a:solidFill>
                  <a:srgbClr val="21242A"/>
                </a:solidFill>
                <a:latin typeface="Microsoft YaHei"/>
              </a:defRPr>
            </a:pPr>
            <a:r>
              <a:t>plasma copper levels were evaluated alongside comprehensive clinical, molecular, and inflammatory parameters.</a:t>
            </a:r>
          </a:p>
          <a:p>
            <a:pPr>
              <a:lnSpc>
                <a:spcPct val="103000"/>
              </a:lnSpc>
              <a:spcAft>
                <a:spcPts val="300"/>
              </a:spcAft>
              <a:defRPr sz="570">
                <a:solidFill>
                  <a:srgbClr val="21242A"/>
                </a:solidFill>
                <a:latin typeface="Microsoft YaHei"/>
              </a:defRPr>
            </a:pPr>
            <a:r>
              <a:t>Copper chelator-related genes were systematically identified through bioinformatic analysis, with meta-analysis performed across six independent cohorts.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Plasma copper represents a novel, independent prognostic biomarker in DLBCL that captures unique disease biology through its association with inflammatory signa</a:t>
            </a:r>
          </a:p>
          <a:p>
            <a:pPr>
              <a:lnSpc>
                <a:spcPct val="103000"/>
              </a:lnSpc>
              <a:spcAft>
                <a:spcPts val="300"/>
              </a:spcAft>
              <a:defRPr sz="590">
                <a:solidFill>
                  <a:srgbClr val="21242A"/>
                </a:solidFill>
                <a:latin typeface="Microsoft YaHei"/>
              </a:defRPr>
            </a:pPr>
            <a:r>
              <a:t>ling.</a:t>
            </a:r>
          </a:p>
          <a:p>
            <a:pPr>
              <a:lnSpc>
                <a:spcPct val="103000"/>
              </a:lnSpc>
              <a:spcAft>
                <a:spcPts val="300"/>
              </a:spcAft>
              <a:defRPr sz="590">
                <a:solidFill>
                  <a:srgbClr val="21242A"/>
                </a:solidFill>
                <a:latin typeface="Microsoft YaHei"/>
              </a:defRPr>
            </a:pPr>
            <a:r>
              <a:t>Integration of copper assessment into clinical practice could guide personalized treatment strategies in DLBCL.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Elevated plasma copper levels independently predicted inferior survival outcomes in both cohorts.</a:t>
            </a:r>
          </a:p>
          <a:p>
            <a:pPr>
              <a:lnSpc>
                <a:spcPct val="103000"/>
              </a:lnSpc>
              <a:spcAft>
                <a:spcPts val="300"/>
              </a:spcAft>
              <a:defRPr sz="580">
                <a:solidFill>
                  <a:srgbClr val="21242A"/>
                </a:solidFill>
                <a:latin typeface="Microsoft YaHei"/>
              </a:defRPr>
            </a:pPr>
            <a:r>
              <a:t>High copper patients demonstrated dramatically shorter median PFS (467 vs 3,295 days, P</a:t>
            </a:r>
          </a:p>
          <a:p>
            <a:pPr>
              <a:lnSpc>
                <a:spcPct val="103000"/>
              </a:lnSpc>
              <a:spcAft>
                <a:spcPts val="300"/>
              </a:spcAft>
              <a:defRPr sz="580">
                <a:solidFill>
                  <a:srgbClr val="21242A"/>
                </a:solidFill>
                <a:latin typeface="Microsoft YaHei"/>
              </a:defRPr>
            </a:pPr>
            <a:r>
              <a:t>Conclusion: Plasma copper represents a novel, independent prognostic biomarker in DLBCL that captures unique disease biology through its association with i</a:t>
            </a:r>
          </a:p>
          <a:p>
            <a:pPr>
              <a:lnSpc>
                <a:spcPct val="103000"/>
              </a:lnSpc>
              <a:spcAft>
                <a:spcPts val="300"/>
              </a:spcAft>
              <a:defRPr sz="580">
                <a:solidFill>
                  <a:srgbClr val="21242A"/>
                </a:solidFill>
                <a:latin typeface="Microsoft YaHei"/>
              </a:defRPr>
            </a:pPr>
            <a:r>
              <a:t>nflammatory signaling.</a:t>
            </a:r>
          </a:p>
          <a:p>
            <a:pPr>
              <a:lnSpc>
                <a:spcPct val="103000"/>
              </a:lnSpc>
              <a:spcAft>
                <a:spcPts val="300"/>
              </a:spcAft>
              <a:defRPr sz="580">
                <a:solidFill>
                  <a:srgbClr val="21242A"/>
                </a:solidFill>
                <a:latin typeface="Microsoft YaHei"/>
              </a:defRPr>
            </a:pPr>
            <a:r>
              <a:t>Integration of copper assessment into clinical practice could guide personalized treatment strategies in DLBCL.</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摘要号：PS2122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复发/难治性lbcl的年龄无关结果和竞争风险动态：一项现实世界分析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age-independent outcomes and competing risk dynamics in relapsed/refractory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N=401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回顾性临床研究结果：age-independent outcomes and competing risk dynamics...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中位OS：≥70岁组24个月 vs &lt;70岁组91个月，p=0.008</a:t>
            </a:r>
          </a:p>
          <a:p>
            <a:pPr>
              <a:lnSpc>
                <a:spcPct val="103000"/>
              </a:lnSpc>
              <a:spcAft>
                <a:spcPts val="300"/>
              </a:spcAft>
              <a:defRPr sz="800">
                <a:solidFill>
                  <a:srgbClr val="21242A"/>
                </a:solidFill>
                <a:latin typeface="Microsoft YaHei"/>
              </a:defRPr>
            </a:pPr>
            <a:r>
              <a:t>中位PFS：7个月 vs 8个月，p=0.068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人数：401</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研究主题：age-independent outcomes and competing risk dynamics in relapsed/refractory lbcl: a real-world analysis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复发/难治性lbcl的年龄无关结果和竞争风险动态：一项现实世界分析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age-independent outcomes and competing risk dynamics in relapsed/refractory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In relapsed/refractory large B-cell lymphoma (R/R LBCL), age is a standard surrogate for “fitness for curative therapy”.</a:t>
            </a:r>
          </a:p>
          <a:p>
            <a:pPr>
              <a:lnSpc>
                <a:spcPct val="103000"/>
              </a:lnSpc>
              <a:spcAft>
                <a:spcPts val="300"/>
              </a:spcAft>
              <a:defRPr sz="570">
                <a:solidFill>
                  <a:srgbClr val="21242A"/>
                </a:solidFill>
                <a:latin typeface="Microsoft YaHei"/>
              </a:defRPr>
            </a:pPr>
            <a:r>
              <a:t>However, the degree to which age-related survival differences reflect competing risk dynamics—specifically disease relapse/progression (R/PD), lymphoma-related </a:t>
            </a:r>
          </a:p>
          <a:p>
            <a:pPr>
              <a:lnSpc>
                <a:spcPct val="103000"/>
              </a:lnSpc>
              <a:spcAft>
                <a:spcPts val="300"/>
              </a:spcAft>
              <a:defRPr sz="570">
                <a:solidFill>
                  <a:srgbClr val="21242A"/>
                </a:solidFill>
                <a:latin typeface="Microsoft YaHei"/>
              </a:defRPr>
            </a:pPr>
            <a:r>
              <a:t>and non-lymphoma related death —versus treatment selection remains unclear.</a:t>
            </a:r>
          </a:p>
          <a:p>
            <a:pPr>
              <a:lnSpc>
                <a:spcPct val="103000"/>
              </a:lnSpc>
              <a:spcAft>
                <a:spcPts val="300"/>
              </a:spcAft>
              <a:defRPr sz="570">
                <a:solidFill>
                  <a:srgbClr val="21242A"/>
                </a:solidFill>
                <a:latin typeface="Microsoft YaHei"/>
              </a:defRPr>
            </a:pPr>
            <a:r>
              <a:t>Aims: We aimed to characterize this relationship by investigating if age independently influences the trajectory of R/R LBCL outcomes through an analysis of cau</a:t>
            </a:r>
          </a:p>
          <a:p>
            <a:pPr>
              <a:lnSpc>
                <a:spcPct val="103000"/>
              </a:lnSpc>
              <a:spcAft>
                <a:spcPts val="300"/>
              </a:spcAft>
              <a:defRPr sz="570">
                <a:solidFill>
                  <a:srgbClr val="21242A"/>
                </a:solidFill>
                <a:latin typeface="Microsoft YaHei"/>
              </a:defRPr>
            </a:pPr>
            <a:r>
              <a:t>ses of mortality in a large real-world cohort.</a:t>
            </a:r>
          </a:p>
          <a:p>
            <a:pPr>
              <a:lnSpc>
                <a:spcPct val="103000"/>
              </a:lnSpc>
              <a:spcAft>
                <a:spcPts val="300"/>
              </a:spcAft>
              <a:defRPr sz="570">
                <a:solidFill>
                  <a:srgbClr val="21242A"/>
                </a:solidFill>
                <a:latin typeface="Microsoft YaHei"/>
              </a:defRPr>
            </a:pPr>
            <a:r>
              <a:t>Methods: We performed a retrospective analysis of patients (pts) with R/R LBCL treated at Princess Margaret between 2017-2024.</a:t>
            </a:r>
          </a:p>
          <a:p>
            <a:pPr>
              <a:lnSpc>
                <a:spcPct val="103000"/>
              </a:lnSpc>
              <a:spcAft>
                <a:spcPts val="300"/>
              </a:spcAft>
              <a:defRPr sz="570">
                <a:solidFill>
                  <a:srgbClr val="21242A"/>
                </a:solidFill>
                <a:latin typeface="Microsoft YaHei"/>
              </a:defRPr>
            </a:pPr>
            <a:r>
              <a:t>Pts were stratified by age ( progression-free survival (PFS), competing risk estimates of lymphoma-related vs.</a:t>
            </a:r>
          </a:p>
          <a:p>
            <a:pPr>
              <a:lnSpc>
                <a:spcPct val="103000"/>
              </a:lnSpc>
              <a:spcAft>
                <a:spcPts val="300"/>
              </a:spcAft>
              <a:defRPr sz="570">
                <a:solidFill>
                  <a:srgbClr val="21242A"/>
                </a:solidFill>
                <a:latin typeface="Microsoft YaHei"/>
              </a:defRPr>
            </a:pPr>
            <a:r>
              <a:t>non-lymphoma-related death, and non-relapse mortality (NRM) defined as time from first R/PD to death without secondary R/PD, and overall survival (OS) post-auto</a:t>
            </a:r>
          </a:p>
          <a:p>
            <a:pPr>
              <a:lnSpc>
                <a:spcPct val="103000"/>
              </a:lnSpc>
              <a:spcAft>
                <a:spcPts val="300"/>
              </a:spcAft>
              <a:defRPr sz="570">
                <a:solidFill>
                  <a:srgbClr val="21242A"/>
                </a:solidFill>
                <a:latin typeface="Microsoft YaHei"/>
              </a:defRPr>
            </a:pPr>
            <a:r>
              <a:t>logous stem cell transplantation (ASCT).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Factors influencing competing risk dynamics for R/R LBCL pts include disease, treatment toxicity, and comorbidities.</a:t>
            </a:r>
          </a:p>
          <a:p>
            <a:pPr>
              <a:lnSpc>
                <a:spcPct val="103000"/>
              </a:lnSpc>
              <a:spcAft>
                <a:spcPts val="300"/>
              </a:spcAft>
              <a:defRPr sz="590">
                <a:solidFill>
                  <a:srgbClr val="21242A"/>
                </a:solidFill>
                <a:latin typeface="Microsoft YaHei"/>
              </a:defRPr>
            </a:pPr>
            <a:r>
              <a:t>In our cohort, lymphoma remains the primary cause of death regardless of age.</a:t>
            </a:r>
          </a:p>
          <a:p>
            <a:pPr>
              <a:lnSpc>
                <a:spcPct val="103000"/>
              </a:lnSpc>
              <a:spcAft>
                <a:spcPts val="300"/>
              </a:spcAft>
              <a:defRPr sz="590">
                <a:solidFill>
                  <a:srgbClr val="21242A"/>
                </a:solidFill>
                <a:latin typeface="Microsoft YaHei"/>
              </a:defRPr>
            </a:pPr>
            <a:r>
              <a:t>Results were similar in lymphoma-related or non-lymphoma mortality between age groups; however, results may be influenced by sample size.</a:t>
            </a:r>
          </a:p>
          <a:p>
            <a:pPr>
              <a:lnSpc>
                <a:spcPct val="103000"/>
              </a:lnSpc>
              <a:spcAft>
                <a:spcPts val="300"/>
              </a:spcAft>
              <a:defRPr sz="590">
                <a:solidFill>
                  <a:srgbClr val="21242A"/>
                </a:solidFill>
                <a:latin typeface="Microsoft YaHei"/>
              </a:defRPr>
            </a:pPr>
            <a:r>
              <a:t>While non-lymphoma related mortality and NRM appear numerically higher in Older, these results do not appear prohibitive - PFS outcomes also look inferior.</a:t>
            </a:r>
          </a:p>
          <a:p>
            <a:pPr>
              <a:lnSpc>
                <a:spcPct val="103000"/>
              </a:lnSpc>
              <a:spcAft>
                <a:spcPts val="300"/>
              </a:spcAft>
              <a:defRPr sz="590">
                <a:solidFill>
                  <a:srgbClr val="21242A"/>
                </a:solidFill>
                <a:latin typeface="Microsoft YaHei"/>
              </a:defRPr>
            </a:pPr>
            <a:r>
              <a:t>Prospective controlled data are needed to better define the benefit of 2L curative approaches in older 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中位OS</a:t>
                      </a:r>
                    </a:p>
                  </a:txBody>
                  <a:tcPr>
                    <a:solidFill>
                      <a:srgbClr val="F6F8FB"/>
                    </a:solidFill>
                  </a:tcPr>
                </a:tc>
                <a:tc>
                  <a:txBody>
                    <a:bodyPr wrap="square" lIns="36576" rIns="36576" tIns="18288" bIns="18288"/>
                    <a:lstStyle/>
                    <a:p>
                      <a:r>
                        <a:rPr sz="540" b="0">
                          <a:solidFill>
                            <a:srgbClr val="21242A"/>
                          </a:solidFill>
                          <a:latin typeface="Microsoft YaHei"/>
                        </a:rPr>
                        <a:t>≥70岁组24个月 vs &lt;70岁组91个月，p=0.008</a:t>
                      </a:r>
                    </a:p>
                  </a:txBody>
                  <a:tcPr>
                    <a:solidFill>
                      <a:srgbClr val="F6F8FB"/>
                    </a:solidFill>
                  </a:tcPr>
                </a:tc>
              </a:tr>
              <a:tr h="214230">
                <a:tc>
                  <a:txBody>
                    <a:bodyPr wrap="square" lIns="36576" rIns="36576" tIns="18288" bIns="18288"/>
                    <a:lstStyle/>
                    <a:p>
                      <a:r>
                        <a:rPr sz="540" b="1">
                          <a:solidFill>
                            <a:srgbClr val="21242A"/>
                          </a:solidFill>
                          <a:latin typeface="Microsoft YaHei"/>
                        </a:rPr>
                        <a:t>中位PFS</a:t>
                      </a:r>
                    </a:p>
                  </a:txBody>
                  <a:tcPr>
                    <a:solidFill>
                      <a:srgbClr val="FFFFFF"/>
                    </a:solidFill>
                  </a:tcPr>
                </a:tc>
                <a:tc>
                  <a:txBody>
                    <a:bodyPr wrap="square" lIns="36576" rIns="36576" tIns="18288" bIns="18288"/>
                    <a:lstStyle/>
                    <a:p>
                      <a:r>
                        <a:rPr sz="540" b="0">
                          <a:solidFill>
                            <a:srgbClr val="21242A"/>
                          </a:solidFill>
                          <a:latin typeface="Microsoft YaHei"/>
                        </a:rPr>
                        <a:t>7个月 vs 8个月，p=0.068</a:t>
                      </a:r>
                    </a:p>
                  </a:txBody>
                  <a:tcPr>
                    <a:solidFill>
                      <a:srgbClr val="FFFFFF"/>
                    </a:solidFill>
                  </a:tcPr>
                </a:tc>
              </a:tr>
              <a:tr h="214230">
                <a:tc>
                  <a:txBody>
                    <a:bodyPr wrap="square" lIns="36576" rIns="36576" tIns="18288" bIns="18288"/>
                    <a:lstStyle/>
                    <a:p>
                      <a:r>
                        <a:rPr sz="540" b="1">
                          <a:solidFill>
                            <a:srgbClr val="21242A"/>
                          </a:solidFill>
                          <a:latin typeface="Microsoft YaHei"/>
                        </a:rPr>
                        <a:t>2年淋巴瘤相关死亡率</a:t>
                      </a:r>
                    </a:p>
                  </a:txBody>
                  <a:tcPr>
                    <a:solidFill>
                      <a:srgbClr val="F6F8FB"/>
                    </a:solidFill>
                  </a:tcPr>
                </a:tc>
                <a:tc>
                  <a:txBody>
                    <a:bodyPr wrap="square" lIns="36576" rIns="36576" tIns="18288" bIns="18288"/>
                    <a:lstStyle/>
                    <a:p>
                      <a:r>
                        <a:rPr sz="540" b="0">
                          <a:solidFill>
                            <a:srgbClr val="21242A"/>
                          </a:solidFill>
                          <a:latin typeface="Microsoft YaHei"/>
                        </a:rPr>
                        <a:t>37% vs 31%，p=0.4</a:t>
                      </a:r>
                    </a:p>
                  </a:txBody>
                  <a:tcPr>
                    <a:solidFill>
                      <a:srgbClr val="F6F8FB"/>
                    </a:solidFill>
                  </a:tcPr>
                </a:tc>
              </a:tr>
              <a:tr h="214230">
                <a:tc>
                  <a:txBody>
                    <a:bodyPr wrap="square" lIns="36576" rIns="36576" tIns="18288" bIns="18288"/>
                    <a:lstStyle/>
                    <a:p>
                      <a:r>
                        <a:rPr sz="540" b="1">
                          <a:solidFill>
                            <a:srgbClr val="21242A"/>
                          </a:solidFill>
                          <a:latin typeface="Microsoft YaHei"/>
                        </a:rPr>
                        <a:t>2年非淋巴瘤死亡率</a:t>
                      </a:r>
                    </a:p>
                  </a:txBody>
                  <a:tcPr>
                    <a:solidFill>
                      <a:srgbClr val="FFFFFF"/>
                    </a:solidFill>
                  </a:tcPr>
                </a:tc>
                <a:tc>
                  <a:txBody>
                    <a:bodyPr wrap="square" lIns="36576" rIns="36576" tIns="18288" bIns="18288"/>
                    <a:lstStyle/>
                    <a:p>
                      <a:r>
                        <a:rPr sz="540" b="0">
                          <a:solidFill>
                            <a:srgbClr val="21242A"/>
                          </a:solidFill>
                          <a:latin typeface="Microsoft YaHei"/>
                        </a:rPr>
                        <a:t>13% vs 7.3%，p=0.1</a:t>
                      </a:r>
                    </a:p>
                  </a:txBody>
                  <a:tcPr>
                    <a:solidFill>
                      <a:srgbClr val="FFFFFF"/>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多变量分析中年龄与淋巴瘤相关死亡无关（HR 0.67, 95%CI 0.31-1.43, p=0.3）</a:t>
                      </a:r>
                    </a:p>
                  </a:txBody>
                  <a:tcPr>
                    <a:solidFill>
                      <a:srgbClr val="F6F8FB"/>
                    </a:solidFill>
                  </a:tcPr>
                </a:tc>
              </a:tr>
              <a:tr h="214236">
                <a:tc>
                  <a:txBody>
                    <a:bodyPr wrap="square" lIns="36576" rIns="36576" tIns="18288" bIns="18288"/>
                    <a:lstStyle/>
                    <a:p>
                      <a:r>
                        <a:rPr sz="540" b="1">
                          <a:solidFill>
                            <a:srgbClr val="21242A"/>
                          </a:solidFill>
                          <a:latin typeface="Microsoft YaHei"/>
                        </a:rPr>
                        <a:t>接受ASCT患者2年OS</a:t>
                      </a:r>
                    </a:p>
                  </a:txBody>
                  <a:tcPr>
                    <a:solidFill>
                      <a:srgbClr val="FFFFFF"/>
                    </a:solidFill>
                  </a:tcPr>
                </a:tc>
                <a:tc>
                  <a:txBody>
                    <a:bodyPr wrap="square" lIns="36576" rIns="36576" tIns="18288" bIns="18288"/>
                    <a:lstStyle/>
                    <a:p>
                      <a:r>
                        <a:rPr sz="540" b="0">
                          <a:solidFill>
                            <a:srgbClr val="21242A"/>
                          </a:solidFill>
                          <a:latin typeface="Microsoft YaHei"/>
                        </a:rPr>
                        <a:t>53% vs 73%，p=0.15</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摘要号：PS2121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单核细胞cfdna谱的动态变化可识别大b细胞淋巴瘤的高危患者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 changes in mononucleosomal cfdna profiles identify high-risk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前瞻性临床研究结果：dynamic changes in mononucleosomal cfdna profiles ide...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FSR分类与无进展生存期显著相关（p=0.00023）</a:t>
            </a:r>
          </a:p>
          <a:p>
            <a:pPr>
              <a:lnSpc>
                <a:spcPct val="103000"/>
              </a:lnSpc>
              <a:spcAft>
                <a:spcPts val="300"/>
              </a:spcAft>
              <a:defRPr sz="800">
                <a:solidFill>
                  <a:srgbClr val="21242A"/>
                </a:solidFill>
                <a:latin typeface="Microsoft YaHei"/>
              </a:defRPr>
            </a:pPr>
            <a:r>
              <a:t>FSR分类与总生存期显著相关（p&lt;0.0001）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研究主题：dynamic changes in mononucleosomal cfdna profiles identify high-risk patients with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单核细胞cfdna谱的动态变化可识别大b细胞淋巴瘤的高危患者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 changes in mononucleosomal cfdna profiles identify high-risk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Large B-cell lymphoma (LBCL) represents a heterogeneous group of aggressive lymphoid malignancies with diverse molecular features and clinical outco</a:t>
            </a:r>
          </a:p>
          <a:p>
            <a:pPr>
              <a:lnSpc>
                <a:spcPct val="103000"/>
              </a:lnSpc>
              <a:spcAft>
                <a:spcPts val="300"/>
              </a:spcAft>
              <a:defRPr sz="570">
                <a:solidFill>
                  <a:srgbClr val="21242A"/>
                </a:solidFill>
                <a:latin typeface="Microsoft YaHei"/>
              </a:defRPr>
            </a:pPr>
            <a:r>
              <a:t>mes.</a:t>
            </a:r>
          </a:p>
          <a:p>
            <a:pPr>
              <a:lnSpc>
                <a:spcPct val="103000"/>
              </a:lnSpc>
              <a:spcAft>
                <a:spcPts val="300"/>
              </a:spcAft>
              <a:defRPr sz="570">
                <a:solidFill>
                  <a:srgbClr val="21242A"/>
                </a:solidFill>
                <a:latin typeface="Microsoft YaHei"/>
              </a:defRPr>
            </a:pPr>
            <a:r>
              <a:t>Approximately 30% of patients develop relapsed or refractory disease.</a:t>
            </a:r>
          </a:p>
          <a:p>
            <a:pPr>
              <a:lnSpc>
                <a:spcPct val="103000"/>
              </a:lnSpc>
              <a:spcAft>
                <a:spcPts val="300"/>
              </a:spcAft>
              <a:defRPr sz="570">
                <a:solidFill>
                  <a:srgbClr val="21242A"/>
                </a:solidFill>
                <a:latin typeface="Microsoft YaHei"/>
              </a:defRPr>
            </a:pPr>
            <a:r>
              <a:t>Current diagnostic approaches rely on invasive tissue biopsy, which captures only a single tumor site and time point, and thus fail to capture the full heteroge</a:t>
            </a:r>
          </a:p>
          <a:p>
            <a:pPr>
              <a:lnSpc>
                <a:spcPct val="103000"/>
              </a:lnSpc>
              <a:spcAft>
                <a:spcPts val="300"/>
              </a:spcAft>
              <a:defRPr sz="570">
                <a:solidFill>
                  <a:srgbClr val="21242A"/>
                </a:solidFill>
                <a:latin typeface="Microsoft YaHei"/>
              </a:defRPr>
            </a:pPr>
            <a:r>
              <a:t>neity of the disease.</a:t>
            </a:r>
          </a:p>
          <a:p>
            <a:pPr>
              <a:lnSpc>
                <a:spcPct val="103000"/>
              </a:lnSpc>
              <a:spcAft>
                <a:spcPts val="300"/>
              </a:spcAft>
              <a:defRPr sz="570">
                <a:solidFill>
                  <a:srgbClr val="21242A"/>
                </a:solidFill>
                <a:latin typeface="Microsoft YaHei"/>
              </a:defRPr>
            </a:pPr>
            <a:r>
              <a:t>Liquid biopsy approaches based on circulating tumor DNA (ctDNA) allow non-invasive disease monitoring but require ultra-sensitive sequencing to detect tumor-der</a:t>
            </a:r>
          </a:p>
          <a:p>
            <a:pPr>
              <a:lnSpc>
                <a:spcPct val="103000"/>
              </a:lnSpc>
              <a:spcAft>
                <a:spcPts val="300"/>
              </a:spcAft>
              <a:defRPr sz="570">
                <a:solidFill>
                  <a:srgbClr val="21242A"/>
                </a:solidFill>
                <a:latin typeface="Microsoft YaHei"/>
              </a:defRPr>
            </a:pPr>
            <a:r>
              <a:t>ived fragments among abundant cell-free DNA (cfDNA).</a:t>
            </a:r>
          </a:p>
          <a:p>
            <a:pPr>
              <a:lnSpc>
                <a:spcPct val="103000"/>
              </a:lnSpc>
              <a:spcAft>
                <a:spcPts val="300"/>
              </a:spcAft>
              <a:defRPr sz="570">
                <a:solidFill>
                  <a:srgbClr val="21242A"/>
                </a:solidFill>
                <a:latin typeface="Microsoft YaHei"/>
              </a:defRPr>
            </a:pPr>
            <a:r>
              <a:t>Length distribution of cfDNA, reflecting the underlying chromatin architecture and fragmentation biology, is non-random, typically peaking at ~166 base pairs (b</a:t>
            </a:r>
          </a:p>
          <a:p>
            <a:pPr>
              <a:lnSpc>
                <a:spcPct val="103000"/>
              </a:lnSpc>
              <a:spcAft>
                <a:spcPts val="300"/>
              </a:spcAft>
              <a:defRPr sz="570">
                <a:solidFill>
                  <a:srgbClr val="21242A"/>
                </a:solidFill>
                <a:latin typeface="Microsoft YaHei"/>
              </a:defRPr>
            </a:pPr>
            <a:r>
              <a:t>p).</a:t>
            </a:r>
          </a:p>
          <a:p>
            <a:pPr>
              <a:lnSpc>
                <a:spcPct val="103000"/>
              </a:lnSpc>
              <a:spcAft>
                <a:spcPts val="300"/>
              </a:spcAft>
              <a:defRPr sz="570">
                <a:solidFill>
                  <a:srgbClr val="21242A"/>
                </a:solidFill>
                <a:latin typeface="Microsoft YaHei"/>
              </a:defRPr>
            </a:pPr>
            <a:r>
              <a:t>Tumor-derived DNA fragment distributions tend to be enriched with shorter fragments, suggesting that cfDNA fragment length profiles may provide additional biolo</a:t>
            </a:r>
          </a:p>
          <a:p>
            <a:pPr>
              <a:lnSpc>
                <a:spcPct val="103000"/>
              </a:lnSpc>
              <a:spcAft>
                <a:spcPts val="300"/>
              </a:spcAft>
              <a:defRPr sz="570">
                <a:solidFill>
                  <a:srgbClr val="21242A"/>
                </a:solidFill>
                <a:latin typeface="Microsoft YaHei"/>
              </a:defRPr>
            </a:pPr>
            <a:r>
              <a:t>gically and clinically relevant information for cancer care.</a:t>
            </a:r>
          </a:p>
          <a:p>
            <a:pPr>
              <a:lnSpc>
                <a:spcPct val="103000"/>
              </a:lnSpc>
              <a:spcAft>
                <a:spcPts val="300"/>
              </a:spcAft>
              <a:defRPr sz="570">
                <a:solidFill>
                  <a:srgbClr val="21242A"/>
                </a:solidFill>
                <a:latin typeface="Microsoft YaHei"/>
              </a:defRPr>
            </a:pPr>
            <a:r>
              <a:t>Aims: The aim of the study was to investigate whether cfDNA fragment length profiles and their temporal changes during therapy are associated with clinical outc</a:t>
            </a:r>
          </a:p>
          <a:p>
            <a:pPr>
              <a:lnSpc>
                <a:spcPct val="103000"/>
              </a:lnSpc>
              <a:spcAft>
                <a:spcPts val="300"/>
              </a:spcAft>
              <a:defRPr sz="570">
                <a:solidFill>
                  <a:srgbClr val="21242A"/>
                </a:solidFill>
                <a:latin typeface="Microsoft YaHei"/>
              </a:defRPr>
            </a:pPr>
            <a:r>
              <a:t>omes in high-risk LBCL patients.</a:t>
            </a:r>
          </a:p>
          <a:p>
            <a:pPr>
              <a:lnSpc>
                <a:spcPct val="103000"/>
              </a:lnSpc>
              <a:spcAft>
                <a:spcPts val="300"/>
              </a:spcAft>
              <a:defRPr sz="570">
                <a:solidFill>
                  <a:srgbClr val="21242A"/>
                </a:solidFill>
                <a:latin typeface="Microsoft YaHei"/>
              </a:defRPr>
            </a:pPr>
            <a:r>
              <a:t>Methods: Plasma samples from 123 high-risk LBCL patients enrolled in the Nordic Lymphoma Group LBC-06 trial were collected before treatment (BL), during therapy</a:t>
            </a:r>
          </a:p>
          <a:p>
            <a:pPr>
              <a:lnSpc>
                <a:spcPct val="103000"/>
              </a:lnSpc>
              <a:spcAft>
                <a:spcPts val="300"/>
              </a:spcAft>
              <a:defRPr sz="570">
                <a:solidFill>
                  <a:srgbClr val="21242A"/>
                </a:solidFill>
                <a:latin typeface="Microsoft YaHei"/>
              </a:defRPr>
            </a:pPr>
            <a:r>
              <a:t>, at end-of-treatment (EOT), and during follow-up.</a:t>
            </a:r>
          </a:p>
          <a:p>
            <a:pPr>
              <a:lnSpc>
                <a:spcPct val="103000"/>
              </a:lnSpc>
              <a:spcAft>
                <a:spcPts val="300"/>
              </a:spcAft>
              <a:defRPr sz="570">
                <a:solidFill>
                  <a:srgbClr val="21242A"/>
                </a:solidFill>
                <a:latin typeface="Microsoft YaHei"/>
              </a:defRPr>
            </a:pPr>
            <a:r>
              <a:t>cfDNA was sequenced using a targeted ~750 kb panel. Analyses of fragment length distributions were performed in R environment.</a:t>
            </a:r>
          </a:p>
          <a:p>
            <a:pPr>
              <a:lnSpc>
                <a:spcPct val="103000"/>
              </a:lnSpc>
              <a:spcAft>
                <a:spcPts val="300"/>
              </a:spcAft>
              <a:defRPr sz="570">
                <a:solidFill>
                  <a:srgbClr val="21242A"/>
                </a:solidFill>
                <a:latin typeface="Microsoft YaHei"/>
              </a:defRPr>
            </a:pPr>
            <a:r>
              <a:t>Fragment counts were Z-standardized to enable profile shape comparisons across timepoints.</a:t>
            </a:r>
          </a:p>
          <a:p>
            <a:pPr>
              <a:lnSpc>
                <a:spcPct val="103000"/>
              </a:lnSpc>
              <a:spcAft>
                <a:spcPts val="300"/>
              </a:spcAft>
              <a:defRPr sz="570">
                <a:solidFill>
                  <a:srgbClr val="21242A"/>
                </a:solidFill>
                <a:latin typeface="Microsoft YaHei"/>
              </a:defRPr>
            </a:pPr>
            <a:r>
              <a:t>The short fragment fraction (SFF) was defined as the proportion of fragments +12.3%) in SFF.</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proposed fragmentome shift risk (FSR) metric may represent a novel non-invasive biomarker for outcome prediction.</a:t>
            </a:r>
          </a:p>
          <a:p>
            <a:pPr>
              <a:lnSpc>
                <a:spcPct val="103000"/>
              </a:lnSpc>
              <a:spcAft>
                <a:spcPts val="300"/>
              </a:spcAft>
              <a:defRPr sz="590">
                <a:solidFill>
                  <a:srgbClr val="21242A"/>
                </a:solidFill>
                <a:latin typeface="Microsoft YaHei"/>
              </a:defRPr>
            </a:pPr>
            <a:r>
              <a:t>Integration of cfDNA fragmentomics with ctDNA mutation profiling and minimal residual disease assessment could improve disease monitoring and risk stratificatio</a:t>
            </a:r>
          </a:p>
          <a:p>
            <a:pPr>
              <a:lnSpc>
                <a:spcPct val="103000"/>
              </a:lnSpc>
              <a:spcAft>
                <a:spcPts val="300"/>
              </a:spcAft>
              <a:defRPr sz="590">
                <a:solidFill>
                  <a:srgbClr val="21242A"/>
                </a:solidFill>
                <a:latin typeface="Microsoft YaHei"/>
              </a:defRPr>
            </a:pPr>
            <a:r>
              <a:t>n in LBCL.</a:t>
            </a:r>
          </a:p>
          <a:p>
            <a:pPr>
              <a:lnSpc>
                <a:spcPct val="103000"/>
              </a:lnSpc>
              <a:spcAft>
                <a:spcPts val="300"/>
              </a:spcAft>
              <a:defRPr sz="590">
                <a:solidFill>
                  <a:srgbClr val="21242A"/>
                </a:solidFill>
                <a:latin typeface="Microsoft YaHei"/>
              </a:defRPr>
            </a:pPr>
            <a:r>
              <a:t>Independent validation in additional cohorts is needed.</a:t>
            </a:r>
          </a:p>
          <a:p>
            <a:pPr>
              <a:lnSpc>
                <a:spcPct val="103000"/>
              </a:lnSpc>
              <a:spcAft>
                <a:spcPts val="300"/>
              </a:spcAft>
              <a:defRPr sz="590">
                <a:solidFill>
                  <a:srgbClr val="21242A"/>
                </a:solidFill>
                <a:latin typeface="Microsoft YaHei"/>
              </a:defRPr>
            </a:pPr>
            <a:r>
              <a:t>Further insight into differences in fragmentation could be provided by studying the end-motif enrichment across distinct fragment lengths.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Fragment length profiles showed marked inter-patient heterogeneity and dynamic changes during treatment.</a:t>
            </a:r>
          </a:p>
          <a:p>
            <a:pPr>
              <a:lnSpc>
                <a:spcPct val="103000"/>
              </a:lnSpc>
              <a:spcAft>
                <a:spcPts val="300"/>
              </a:spcAft>
              <a:defRPr sz="580">
                <a:solidFill>
                  <a:srgbClr val="21242A"/>
                </a:solidFill>
                <a:latin typeface="Microsoft YaHei"/>
              </a:defRPr>
            </a:pPr>
            <a:r>
              <a:t>Both large decreases and increases in SFF between baseline and EOT were associated with inferior survival.</a:t>
            </a:r>
          </a:p>
          <a:p>
            <a:pPr>
              <a:lnSpc>
                <a:spcPct val="103000"/>
              </a:lnSpc>
              <a:spcAft>
                <a:spcPts val="300"/>
              </a:spcAft>
              <a:defRPr sz="580">
                <a:solidFill>
                  <a:srgbClr val="21242A"/>
                </a:solidFill>
                <a:latin typeface="Microsoft YaHei"/>
              </a:defRPr>
            </a:pPr>
            <a:r>
              <a:t>Patients classified as FSR had significantly worse progression-free survival (PFS) (p=0.00023) and overall survival (OS) (p</a:t>
            </a:r>
          </a:p>
          <a:p>
            <a:pPr>
              <a:lnSpc>
                <a:spcPct val="103000"/>
              </a:lnSpc>
              <a:spcAft>
                <a:spcPts val="300"/>
              </a:spcAft>
              <a:defRPr sz="580">
                <a:solidFill>
                  <a:srgbClr val="21242A"/>
                </a:solidFill>
                <a:latin typeface="Microsoft YaHei"/>
              </a:defRPr>
            </a:pPr>
            <a:r>
              <a:t>Conclusion: The proposed fragmentome shift risk (FSR) metric may represent a novel non-invasive biomarker for outcome prediction.</a:t>
            </a:r>
          </a:p>
          <a:p>
            <a:pPr>
              <a:lnSpc>
                <a:spcPct val="103000"/>
              </a:lnSpc>
              <a:spcAft>
                <a:spcPts val="300"/>
              </a:spcAft>
              <a:defRPr sz="580">
                <a:solidFill>
                  <a:srgbClr val="21242A"/>
                </a:solidFill>
                <a:latin typeface="Microsoft YaHei"/>
              </a:defRPr>
            </a:pPr>
            <a:r>
              <a:t>Integration of cfDNA fragmentomics with ctDNA mutation profiling and minimal residual disease assessment could improve disease monitoring and risk stratifi</a:t>
            </a:r>
          </a:p>
          <a:p>
            <a:pPr>
              <a:lnSpc>
                <a:spcPct val="103000"/>
              </a:lnSpc>
              <a:spcAft>
                <a:spcPts val="300"/>
              </a:spcAft>
              <a:defRPr sz="580">
                <a:solidFill>
                  <a:srgbClr val="21242A"/>
                </a:solidFill>
                <a:latin typeface="Microsoft YaHei"/>
              </a:defRPr>
            </a:pPr>
            <a:r>
              <a:t>cation in LBCL.</a:t>
            </a:r>
          </a:p>
          <a:p>
            <a:pPr>
              <a:lnSpc>
                <a:spcPct val="103000"/>
              </a:lnSpc>
              <a:spcAft>
                <a:spcPts val="300"/>
              </a:spcAft>
              <a:defRPr sz="580">
                <a:solidFill>
                  <a:srgbClr val="21242A"/>
                </a:solidFill>
                <a:latin typeface="Microsoft YaHei"/>
              </a:defRPr>
            </a:pPr>
            <a:r>
              <a:t>Independent validation in additional cohorts is needed.</a:t>
            </a:r>
          </a:p>
          <a:p>
            <a:pPr>
              <a:lnSpc>
                <a:spcPct val="103000"/>
              </a:lnSpc>
              <a:spcAft>
                <a:spcPts val="300"/>
              </a:spcAft>
              <a:defRPr sz="580">
                <a:solidFill>
                  <a:srgbClr val="21242A"/>
                </a:solidFill>
                <a:latin typeface="Microsoft YaHei"/>
              </a:defRPr>
            </a:pPr>
            <a:r>
              <a:t>Further insight into differences in fragmentation could be provided by studying the end-motif enrichment across distinct fragment lengths.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营养参数作为老年弥漫性大b细胞淋巴瘤患者的预后标志物：意大利林福美基金会老年项目的事后分析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nutritional parameters as prognostic markers in older patients with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N=688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回顾性临床研究结果：nutritional parameters as prognostic markers in older...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白蛋白对3年OS的影响：单因素分析HR=0.43, 95%CI 0.34-0.55, P&lt;0.001</a:t>
            </a:r>
          </a:p>
          <a:p>
            <a:pPr>
              <a:lnSpc>
                <a:spcPct val="103000"/>
              </a:lnSpc>
              <a:spcAft>
                <a:spcPts val="300"/>
              </a:spcAft>
              <a:defRPr sz="800">
                <a:solidFill>
                  <a:srgbClr val="21242A"/>
                </a:solidFill>
                <a:latin typeface="Microsoft YaHei"/>
              </a:defRPr>
            </a:pPr>
            <a:r>
              <a:t>白蛋白&gt;3.5g/dl组3年OS优于≤3.5g/dl组，P&lt;0.001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人数：688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研究主题：nutritional parameters as prognostic markers in older patients with diffuse large b-cell lymphoma: a post-hoc analysis...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营养参数作为老年弥漫性大b细胞淋巴瘤患者的预后标志物：意大利林福美基金会老年项目的事后分析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nutritional parameters as prognostic markers in older patients with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 Cell Lymphoma (DLBCL) is the most common lymphoma in the elderly, with variable response to immunochemotherapy.</a:t>
            </a:r>
          </a:p>
          <a:p>
            <a:pPr>
              <a:lnSpc>
                <a:spcPct val="103000"/>
              </a:lnSpc>
              <a:spcAft>
                <a:spcPts val="300"/>
              </a:spcAft>
              <a:defRPr sz="570">
                <a:solidFill>
                  <a:srgbClr val="21242A"/>
                </a:solidFill>
                <a:latin typeface="Microsoft YaHei"/>
              </a:defRPr>
            </a:pPr>
            <a:r>
              <a:t>Several prognostic systems have been developed to guide treatment.</a:t>
            </a:r>
          </a:p>
          <a:p>
            <a:pPr>
              <a:lnSpc>
                <a:spcPct val="103000"/>
              </a:lnSpc>
              <a:spcAft>
                <a:spcPts val="300"/>
              </a:spcAft>
              <a:defRPr sz="570">
                <a:solidFill>
                  <a:srgbClr val="21242A"/>
                </a:solidFill>
                <a:latin typeface="Microsoft YaHei"/>
              </a:defRPr>
            </a:pPr>
            <a:r>
              <a:t>In this setting, comprehensive geriatric assessment (CGA) enables risk stratification and correlates with outcomes, with nutritional status representing a key e</a:t>
            </a:r>
          </a:p>
          <a:p>
            <a:pPr>
              <a:lnSpc>
                <a:spcPct val="103000"/>
              </a:lnSpc>
              <a:spcAft>
                <a:spcPts val="300"/>
              </a:spcAft>
              <a:defRPr sz="570">
                <a:solidFill>
                  <a:srgbClr val="21242A"/>
                </a:solidFill>
                <a:latin typeface="Microsoft YaHei"/>
              </a:defRPr>
            </a:pPr>
            <a:r>
              <a:t>valuated component.Albumin, Body Mass index (BMI) and Geriatric Nutritional Risk Index (GNRI) are indices that reflect nutritional status and have been variably</a:t>
            </a:r>
          </a:p>
          <a:p>
            <a:pPr>
              <a:lnSpc>
                <a:spcPct val="103000"/>
              </a:lnSpc>
              <a:spcAft>
                <a:spcPts val="300"/>
              </a:spcAft>
              <a:defRPr sz="570">
                <a:solidFill>
                  <a:srgbClr val="21242A"/>
                </a:solidFill>
                <a:latin typeface="Microsoft YaHei"/>
              </a:defRPr>
            </a:pPr>
            <a:r>
              <a:t> employed across different disease settings to explore their prognostic significance.To date, few studies have investigated the prognostic potential of these pa</a:t>
            </a:r>
          </a:p>
          <a:p>
            <a:pPr>
              <a:lnSpc>
                <a:spcPct val="103000"/>
              </a:lnSpc>
              <a:spcAft>
                <a:spcPts val="300"/>
              </a:spcAft>
              <a:defRPr sz="570">
                <a:solidFill>
                  <a:srgbClr val="21242A"/>
                </a:solidFill>
                <a:latin typeface="Microsoft YaHei"/>
              </a:defRPr>
            </a:pPr>
            <a:r>
              <a:t>rameters in the elderly population undergoing treatment for DLBCL.</a:t>
            </a:r>
          </a:p>
          <a:p>
            <a:pPr>
              <a:lnSpc>
                <a:spcPct val="103000"/>
              </a:lnSpc>
              <a:spcAft>
                <a:spcPts val="300"/>
              </a:spcAft>
              <a:defRPr sz="570">
                <a:solidFill>
                  <a:srgbClr val="21242A"/>
                </a:solidFill>
                <a:latin typeface="Microsoft YaHei"/>
              </a:defRPr>
            </a:pPr>
            <a:r>
              <a:t>Aims: To evaluate the predictive value of albumin, BMI and GNRI on outcomes of patients aged &gt; 65 years undergoing first-line therapy for DLBCL.</a:t>
            </a:r>
          </a:p>
          <a:p>
            <a:pPr>
              <a:lnSpc>
                <a:spcPct val="103000"/>
              </a:lnSpc>
              <a:spcAft>
                <a:spcPts val="300"/>
              </a:spcAft>
              <a:defRPr sz="570">
                <a:solidFill>
                  <a:srgbClr val="21242A"/>
                </a:solidFill>
                <a:latin typeface="Microsoft YaHei"/>
              </a:defRPr>
            </a:pPr>
            <a:r>
              <a:t>Methods: This is an ancillary analysis of Elderly Project of the Fondazione Italiana Linfomi, a prospective multicenter observational study aimed at validating </a:t>
            </a:r>
          </a:p>
          <a:p>
            <a:pPr>
              <a:lnSpc>
                <a:spcPct val="103000"/>
              </a:lnSpc>
              <a:spcAft>
                <a:spcPts val="300"/>
              </a:spcAft>
              <a:defRPr sz="570">
                <a:solidFill>
                  <a:srgbClr val="21242A"/>
                </a:solidFill>
                <a:latin typeface="Microsoft YaHei"/>
              </a:defRPr>
            </a:pPr>
            <a:r>
              <a:t>a simplified geriatric assessment tool and a new prognostic score, the EPI.</a:t>
            </a:r>
          </a:p>
          <a:p>
            <a:pPr>
              <a:lnSpc>
                <a:spcPct val="103000"/>
              </a:lnSpc>
              <a:spcAft>
                <a:spcPts val="300"/>
              </a:spcAft>
              <a:defRPr sz="570">
                <a:solidFill>
                  <a:srgbClr val="21242A"/>
                </a:solidFill>
                <a:latin typeface="Microsoft YaHei"/>
              </a:defRPr>
            </a:pPr>
            <a:r>
              <a:t>In this study, we selected patients whose complete anthropometric and laboratory parameters were available at baseline.The primary endpoint was the correlation </a:t>
            </a:r>
          </a:p>
          <a:p>
            <a:pPr>
              <a:lnSpc>
                <a:spcPct val="103000"/>
              </a:lnSpc>
              <a:spcAft>
                <a:spcPts val="300"/>
              </a:spcAft>
              <a:defRPr sz="570">
                <a:solidFill>
                  <a:srgbClr val="21242A"/>
                </a:solidFill>
                <a:latin typeface="Microsoft YaHei"/>
              </a:defRPr>
            </a:pPr>
            <a:r>
              <a:t>between serum albumin levels, BMI and GNRI and overall survival</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the current therapeutic landscape, treatment personalization requires accurate risk stratification.</a:t>
            </a:r>
          </a:p>
          <a:p>
            <a:pPr>
              <a:lnSpc>
                <a:spcPct val="103000"/>
              </a:lnSpc>
              <a:spcAft>
                <a:spcPts val="300"/>
              </a:spcAft>
              <a:defRPr sz="590">
                <a:solidFill>
                  <a:srgbClr val="21242A"/>
                </a:solidFill>
                <a:latin typeface="Microsoft YaHei"/>
              </a:defRPr>
            </a:pPr>
            <a:r>
              <a:t>In elderly patients with DLBCL undergoing antineoplastic treatment, albumin, BMI and GNRI represent independent prognostic parameters for survival, which are si</a:t>
            </a:r>
          </a:p>
          <a:p>
            <a:pPr>
              <a:lnSpc>
                <a:spcPct val="103000"/>
              </a:lnSpc>
              <a:spcAft>
                <a:spcPts val="300"/>
              </a:spcAft>
              <a:defRPr sz="590">
                <a:solidFill>
                  <a:srgbClr val="21242A"/>
                </a:solidFill>
                <a:latin typeface="Microsoft YaHei"/>
              </a:defRPr>
            </a:pPr>
            <a:r>
              <a:t>mple and easily applicable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Based on the inclusion criteria, 688 out of total of 1207 patients (59%) were deemed eligible, with median age of 75 years.In univariate analysis,</a:t>
            </a:r>
          </a:p>
          <a:p>
            <a:pPr>
              <a:lnSpc>
                <a:spcPct val="103000"/>
              </a:lnSpc>
              <a:spcAft>
                <a:spcPts val="300"/>
              </a:spcAft>
              <a:defRPr sz="580">
                <a:solidFill>
                  <a:srgbClr val="21242A"/>
                </a:solidFill>
                <a:latin typeface="Microsoft YaHei"/>
              </a:defRPr>
            </a:pPr>
            <a:r>
              <a:t> albumin showed statistical correlation with 3-yr OS (HR, 0.43; 95% CI, 0.34-0.55; P 3,5 gr/dl (P 98), low risk (GNRI 92-98), moderate (GNRI 82-92), high r</a:t>
            </a:r>
          </a:p>
          <a:p>
            <a:pPr>
              <a:lnSpc>
                <a:spcPct val="103000"/>
              </a:lnSpc>
              <a:spcAft>
                <a:spcPts val="300"/>
              </a:spcAft>
              <a:defRPr sz="580">
                <a:solidFill>
                  <a:srgbClr val="21242A"/>
                </a:solidFill>
                <a:latin typeface="Microsoft YaHei"/>
              </a:defRPr>
            </a:pPr>
            <a:r>
              <a:t>isk (GNRI Tab.</a:t>
            </a:r>
          </a:p>
          <a:p>
            <a:pPr>
              <a:lnSpc>
                <a:spcPct val="103000"/>
              </a:lnSpc>
              <a:spcAft>
                <a:spcPts val="300"/>
              </a:spcAft>
              <a:defRPr sz="580">
                <a:solidFill>
                  <a:srgbClr val="21242A"/>
                </a:solidFill>
                <a:latin typeface="Microsoft YaHei"/>
              </a:defRPr>
            </a:pPr>
            <a:r>
              <a:t>1: GNRI in DLBCL \n \n \n \n \n GNRI \n \n \n N (fail) \n \n \n 3-yr OS % (95%CI) \n \n \n HR (95%CI) \n \n \n p-value \n \n \n \n \n Overall Survival \n \</a:t>
            </a:r>
          </a:p>
          <a:p>
            <a:pPr>
              <a:lnSpc>
                <a:spcPct val="103000"/>
              </a:lnSpc>
              <a:spcAft>
                <a:spcPts val="300"/>
              </a:spcAft>
              <a:defRPr sz="580">
                <a:solidFill>
                  <a:srgbClr val="21242A"/>
                </a:solidFill>
                <a:latin typeface="Microsoft YaHei"/>
              </a:defRPr>
            </a:pPr>
            <a:r>
              <a:t>n \n 688 (184) \n \n \n 68 (63-72) \n \n \n - \n \n \n - \n \n \n \n \n Continuous (increase 10 points) \n \n \n - \n \n \n - \n \n \n 0.65 (0.58-0.74) \n </a:t>
            </a:r>
          </a:p>
          <a:p>
            <a:pPr>
              <a:lnSpc>
                <a:spcPct val="103000"/>
              </a:lnSpc>
              <a:spcAft>
                <a:spcPts val="300"/>
              </a:spcAft>
              <a:defRPr sz="580">
                <a:solidFill>
                  <a:srgbClr val="21242A"/>
                </a:solidFill>
                <a:latin typeface="Microsoft YaHei"/>
              </a:defRPr>
            </a:pPr>
            <a:r>
              <a:t>\n \n \n \n \n \n \n Adjusted by EPI \n \n \n \n \n \n \n \n \n 0,73 (0,64-0,83) \n \n \n \n \n \n \n \n GNRI group \n \n \n N (%) [fail] \n \n \n 3-yr OS </a:t>
            </a:r>
          </a:p>
          <a:p>
            <a:pPr>
              <a:lnSpc>
                <a:spcPct val="103000"/>
              </a:lnSpc>
              <a:spcAft>
                <a:spcPts val="300"/>
              </a:spcAft>
              <a:defRPr sz="580">
                <a:solidFill>
                  <a:srgbClr val="21242A"/>
                </a:solidFill>
                <a:latin typeface="Microsoft YaHei"/>
              </a:defRPr>
            </a:pPr>
            <a:r>
              <a:t>% (95%CI) \n \n \n HR (95%CI) \n \n \n p-value \n \n \n \n \n None \n \n \n 408 (59) [79] \n \n \n 76 (70-80) \n \n \n 1.00 \n \n \n \n \n \n \n \n Low \n </a:t>
            </a:r>
          </a:p>
          <a:p>
            <a:pPr>
              <a:lnSpc>
                <a:spcPct val="103000"/>
              </a:lnSpc>
              <a:spcAft>
                <a:spcPts val="300"/>
              </a:spcAft>
              <a:defRPr sz="580">
                <a:solidFill>
                  <a:srgbClr val="21242A"/>
                </a:solidFill>
                <a:latin typeface="Microsoft YaHei"/>
              </a:defRPr>
            </a:pPr>
            <a:r>
              <a:t>\n \n 131 (39) [39] \n \n \n 67 (57-75) \n \n \n 1.62 (1.10-2.38) \n \n \n 0.013 \n \n \n \n \n Moderate \n \n \n 109 (16) [47] \n \n \n 50 (39-75) \n \n \</a:t>
            </a:r>
          </a:p>
          <a:p>
            <a:pPr>
              <a:lnSpc>
                <a:spcPct val="103000"/>
              </a:lnSpc>
              <a:spcAft>
                <a:spcPts val="300"/>
              </a:spcAft>
              <a:defRPr sz="580">
                <a:solidFill>
                  <a:srgbClr val="21242A"/>
                </a:solidFill>
                <a:latin typeface="Microsoft YaHei"/>
              </a:defRPr>
            </a:pPr>
            <a:r>
              <a:t>n 2.70 (1.88-3.87) \n \n \n \n \n \n \n \n High \n \n \n 40 (6) [19] \n \n \n 35 (13-58) \n \n \n 3.65 (2.21-6.03) \n \n \n \n \n \n \n \n</a:t>
            </a:r>
          </a:p>
          <a:p>
            <a:pPr>
              <a:lnSpc>
                <a:spcPct val="103000"/>
              </a:lnSpc>
              <a:spcAft>
                <a:spcPts val="300"/>
              </a:spcAft>
              <a:defRPr sz="580">
                <a:solidFill>
                  <a:srgbClr val="21242A"/>
                </a:solidFill>
                <a:latin typeface="Microsoft YaHei"/>
              </a:defRPr>
            </a:pPr>
            <a:r>
              <a:t>Conclusion: In the current therapeutic landscape, treatment personalization requires accurate risk stratification.</a:t>
            </a:r>
          </a:p>
          <a:p>
            <a:pPr>
              <a:lnSpc>
                <a:spcPct val="103000"/>
              </a:lnSpc>
              <a:spcAft>
                <a:spcPts val="300"/>
              </a:spcAft>
              <a:defRPr sz="580">
                <a:solidFill>
                  <a:srgbClr val="21242A"/>
                </a:solidFill>
                <a:latin typeface="Microsoft YaHei"/>
              </a:defRPr>
            </a:pPr>
            <a:r>
              <a:t>In elderly patients with DLBCL undergoing antineoplastic treatment, albumin, BMI and GNRI represent independent prognostic parameters for survival, which a</a:t>
            </a:r>
          </a:p>
          <a:p>
            <a:pPr>
              <a:lnSpc>
                <a:spcPct val="103000"/>
              </a:lnSpc>
              <a:spcAft>
                <a:spcPts val="300"/>
              </a:spcAft>
              <a:defRPr sz="580">
                <a:solidFill>
                  <a:srgbClr val="21242A"/>
                </a:solidFill>
                <a:latin typeface="Microsoft YaHei"/>
              </a:defRPr>
            </a:pPr>
            <a:r>
              <a:t>re simple and easily applicable</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摘要号：PS2078</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早期出现增殖性cd8+t细胞与接受自体造血干细胞移植加脐带血输注治疗的r/r dlbcl患者预后改善有关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earlier emergence of proliferative cd8+ t cells is associated with improved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分组：试验组1：自体造血干细胞移植+脐带血输注</a:t>
            </a:r>
          </a:p>
          <a:p>
            <a:pPr>
              <a:lnSpc>
                <a:spcPct val="103000"/>
              </a:lnSpc>
              <a:spcAft>
                <a:spcPts val="300"/>
              </a:spcAft>
              <a:defRPr sz="800">
                <a:solidFill>
                  <a:srgbClr val="21242A"/>
                </a:solidFill>
                <a:latin typeface="Microsoft YaHei"/>
              </a:defRPr>
            </a:pPr>
            <a:r>
              <a:t>对照组：单纯自体造血干细胞移植</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对照/比较：试验组1：自体造血干细胞移植+脐带血输注||对照组：单纯自体造血干细胞移植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联合组中性粒细胞植入中位时间11天（范围10-21天），血小板植入中位时间14天（范围12-31天）</a:t>
            </a:r>
          </a:p>
          <a:p>
            <a:pPr>
              <a:lnSpc>
                <a:spcPct val="103000"/>
              </a:lnSpc>
              <a:spcAft>
                <a:spcPts val="300"/>
              </a:spcAft>
              <a:defRPr sz="800">
                <a:solidFill>
                  <a:srgbClr val="21242A"/>
                </a:solidFill>
                <a:latin typeface="Microsoft YaHei"/>
              </a:defRPr>
            </a:pPr>
            <a:r>
              <a:t>对照组中性粒细胞植入中位时间11天（范围10-19天），血小板植入中位时间12天（范围10-20天）</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分组/治疗流程：试验组1：自体造血干细胞移植+脐带血输注、对照组：单纯自体造血干细胞移植</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早期出现增殖性cd8+t细胞与接受自体造血干细胞移植加脐带血输注治疗的r/r dlbcl患者预后改善有关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earlier emergence of proliferative cd8+ t cells is associated with improved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Autologous hematopoietic stem cell transplantation (Auto-HSCT) remains a potentially curative treatment for patients with relapsed/refractory diffus</a:t>
            </a:r>
          </a:p>
          <a:p>
            <a:pPr>
              <a:lnSpc>
                <a:spcPct val="103000"/>
              </a:lnSpc>
              <a:spcAft>
                <a:spcPts val="300"/>
              </a:spcAft>
              <a:defRPr sz="570">
                <a:solidFill>
                  <a:srgbClr val="21242A"/>
                </a:solidFill>
                <a:latin typeface="Microsoft YaHei"/>
              </a:defRPr>
            </a:pPr>
            <a:r>
              <a:t>e large B-cell lymphoma (R/R DLBCL); however, disease relapse still occurs in a subset of patients following transplantation.</a:t>
            </a:r>
          </a:p>
          <a:p>
            <a:pPr>
              <a:lnSpc>
                <a:spcPct val="103000"/>
              </a:lnSpc>
              <a:spcAft>
                <a:spcPts val="300"/>
              </a:spcAft>
              <a:defRPr sz="570">
                <a:solidFill>
                  <a:srgbClr val="21242A"/>
                </a:solidFill>
                <a:latin typeface="Microsoft YaHei"/>
              </a:defRPr>
            </a:pPr>
            <a:r>
              <a:t>A critical vulnerability period exists after Auto-HSCT between the decline of chemotherapy-induced cytotoxic effects and the reconstitution of host antitumor im</a:t>
            </a:r>
          </a:p>
          <a:p>
            <a:pPr>
              <a:lnSpc>
                <a:spcPct val="103000"/>
              </a:lnSpc>
              <a:spcAft>
                <a:spcPts val="300"/>
              </a:spcAft>
              <a:defRPr sz="570">
                <a:solidFill>
                  <a:srgbClr val="21242A"/>
                </a:solidFill>
                <a:latin typeface="Microsoft YaHei"/>
              </a:defRPr>
            </a:pPr>
            <a:r>
              <a:t>munity, creating a window for tumor recurrence.</a:t>
            </a:r>
          </a:p>
          <a:p>
            <a:pPr>
              <a:lnSpc>
                <a:spcPct val="103000"/>
              </a:lnSpc>
              <a:spcAft>
                <a:spcPts val="300"/>
              </a:spcAft>
              <a:defRPr sz="570">
                <a:solidFill>
                  <a:srgbClr val="21242A"/>
                </a:solidFill>
                <a:latin typeface="Microsoft YaHei"/>
              </a:defRPr>
            </a:pPr>
            <a:r>
              <a:t>Human umbilical cord blood stem cells (hUCBSCs) represent a potential cellular source capable of mediating a graft-versus-tumor (GVT) effect.</a:t>
            </a:r>
          </a:p>
          <a:p>
            <a:pPr>
              <a:lnSpc>
                <a:spcPct val="103000"/>
              </a:lnSpc>
              <a:spcAft>
                <a:spcPts val="300"/>
              </a:spcAft>
              <a:defRPr sz="570">
                <a:solidFill>
                  <a:srgbClr val="21242A"/>
                </a:solidFill>
                <a:latin typeface="Microsoft YaHei"/>
              </a:defRPr>
            </a:pPr>
            <a:r>
              <a:t>Based on this rationale, we conducted a clinical study evaluating a novel strategy combining Auto-HSCT with unrelated hUCBSC infusion in patients with R/R DLBCL</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In our cohort of 44 patients, the 2-year overall survival (OS) and progression-free survival (PFS) rates were 90.9% and 86.3%, respectively.</a:t>
            </a:r>
          </a:p>
          <a:p>
            <a:pPr>
              <a:lnSpc>
                <a:spcPct val="103000"/>
              </a:lnSpc>
              <a:spcAft>
                <a:spcPts val="300"/>
              </a:spcAft>
              <a:defRPr sz="570">
                <a:solidFill>
                  <a:srgbClr val="21242A"/>
                </a:solidFill>
                <a:latin typeface="Microsoft YaHei"/>
              </a:defRPr>
            </a:pPr>
            <a:r>
              <a:t>Although these outcomes compare favorably with historical data, the biological mechanisms by which Auto-HSCT combined with hUCBSC infusion may prevent relapse r</a:t>
            </a:r>
          </a:p>
          <a:p>
            <a:pPr>
              <a:lnSpc>
                <a:spcPct val="103000"/>
              </a:lnSpc>
              <a:spcAft>
                <a:spcPts val="300"/>
              </a:spcAft>
              <a:defRPr sz="570">
                <a:solidFill>
                  <a:srgbClr val="21242A"/>
                </a:solidFill>
                <a:latin typeface="Microsoft YaHei"/>
              </a:defRPr>
            </a:pPr>
            <a:r>
              <a:t>emain unclear.</a:t>
            </a:r>
          </a:p>
          <a:p>
            <a:pPr>
              <a:lnSpc>
                <a:spcPct val="103000"/>
              </a:lnSpc>
              <a:spcAft>
                <a:spcPts val="300"/>
              </a:spcAft>
              <a:defRPr sz="570">
                <a:solidFill>
                  <a:srgbClr val="21242A"/>
                </a:solidFill>
                <a:latin typeface="Microsoft YaHei"/>
              </a:defRPr>
            </a:pPr>
            <a:r>
              <a:t>Aims: To investigate the immune mechanisms associated with improved survival in R/R DLBCL patients undergoing auto-HSCT plus unrelated hUCBSC infusion (the comb</a:t>
            </a:r>
          </a:p>
          <a:p>
            <a:pPr>
              <a:lnSpc>
                <a:spcPct val="103000"/>
              </a:lnSpc>
              <a:spcAft>
                <a:spcPts val="300"/>
              </a:spcAft>
              <a:defRPr sz="570">
                <a:solidFill>
                  <a:srgbClr val="21242A"/>
                </a:solidFill>
                <a:latin typeface="Microsoft YaHei"/>
              </a:defRPr>
            </a:pPr>
            <a:r>
              <a:t>ined strategy).</a:t>
            </a:r>
          </a:p>
          <a:p>
            <a:pPr>
              <a:lnSpc>
                <a:spcPct val="103000"/>
              </a:lnSpc>
              <a:spcAft>
                <a:spcPts val="300"/>
              </a:spcAft>
              <a:defRPr sz="570">
                <a:solidFill>
                  <a:srgbClr val="21242A"/>
                </a:solidFill>
                <a:latin typeface="Microsoft YaHei"/>
              </a:defRPr>
            </a:pPr>
            <a:r>
              <a:t>Methods: We enrolled 24 R/R DLBCL patients (14 relapsed and 10 refractory; median age 35 years).</a:t>
            </a:r>
          </a:p>
          <a:p>
            <a:pPr>
              <a:lnSpc>
                <a:spcPct val="103000"/>
              </a:lnSpc>
              <a:spcAft>
                <a:spcPts val="300"/>
              </a:spcAft>
              <a:defRPr sz="570">
                <a:solidFill>
                  <a:srgbClr val="21242A"/>
                </a:solidFill>
                <a:latin typeface="Microsoft YaHei"/>
              </a:defRPr>
            </a:pPr>
            <a:r>
              <a:t>Among them, 12 patients underwent the combined strategy, and 12 patients received auto-HSCT strategy alone. Both strategy utilized the BEAM conditioning.</a:t>
            </a:r>
          </a:p>
          <a:p>
            <a:pPr>
              <a:lnSpc>
                <a:spcPct val="103000"/>
              </a:lnSpc>
              <a:spcAft>
                <a:spcPts val="300"/>
              </a:spcAft>
              <a:defRPr sz="570">
                <a:solidFill>
                  <a:srgbClr val="21242A"/>
                </a:solidFill>
                <a:latin typeface="Microsoft YaHei"/>
              </a:defRPr>
            </a:pPr>
            <a:r>
              <a:t>The combined strategy protocol was conducted as follows: after conditioning, patients received Auto-HSCT followed by a single infusion of unrelated hUCBSCs on d</a:t>
            </a:r>
          </a:p>
          <a:p>
            <a:pPr>
              <a:lnSpc>
                <a:spcPct val="103000"/>
              </a:lnSpc>
              <a:spcAft>
                <a:spcPts val="300"/>
              </a:spcAft>
              <a:defRPr sz="570">
                <a:solidFill>
                  <a:srgbClr val="21242A"/>
                </a:solidFill>
                <a:latin typeface="Microsoft YaHei"/>
              </a:defRPr>
            </a:pPr>
            <a:r>
              <a:t>ay +2.</a:t>
            </a:r>
          </a:p>
          <a:p>
            <a:pPr>
              <a:lnSpc>
                <a:spcPct val="103000"/>
              </a:lnSpc>
              <a:spcAft>
                <a:spcPts val="300"/>
              </a:spcAft>
              <a:defRPr sz="570">
                <a:solidFill>
                  <a:srgbClr val="21242A"/>
                </a:solidFill>
                <a:latin typeface="Microsoft YaHei"/>
              </a:defRPr>
            </a:pPr>
            <a:r>
              <a:t>The unrelated hUCBSCs units must satisfy the requirement of HLA matching ≥ 5/10 loci and blood type-compatible units will be prioritized for selection.</a:t>
            </a:r>
          </a:p>
          <a:p>
            <a:pPr>
              <a:lnSpc>
                <a:spcPct val="103000"/>
              </a:lnSpc>
              <a:spcAft>
                <a:spcPts val="300"/>
              </a:spcAft>
              <a:defRPr sz="570">
                <a:solidFill>
                  <a:srgbClr val="21242A"/>
                </a:solidFill>
                <a:latin typeface="Microsoft YaHei"/>
              </a:defRPr>
            </a:pPr>
            <a:r>
              <a:t>Unrelated hUCBSCs was infused as a single dose, with the total nucleated cell (TNC) count ranging from 5 - 15 × 10⁸ and CD34⁺ cell count from 1.5 - 3.5 × 10⁶.</a:t>
            </a:r>
          </a:p>
          <a:p>
            <a:pPr>
              <a:lnSpc>
                <a:spcPct val="103000"/>
              </a:lnSpc>
              <a:spcAft>
                <a:spcPts val="300"/>
              </a:spcAft>
              <a:defRPr sz="570">
                <a:solidFill>
                  <a:srgbClr val="21242A"/>
                </a:solidFill>
                <a:latin typeface="Microsoft YaHei"/>
              </a:defRPr>
            </a:pPr>
            <a:r>
              <a:t>Peripheral blood samples were collected from patients on transplantation Day 0, Day 7, Day 21, and Day 28 for flow cytometric analysis and single-cell transcrip</a:t>
            </a:r>
          </a:p>
          <a:p>
            <a:pPr>
              <a:lnSpc>
                <a:spcPct val="103000"/>
              </a:lnSpc>
              <a:spcAft>
                <a:spcPts val="300"/>
              </a:spcAft>
              <a:defRPr sz="570">
                <a:solidFill>
                  <a:srgbClr val="21242A"/>
                </a:solidFill>
                <a:latin typeface="Microsoft YaHei"/>
              </a:defRPr>
            </a:pPr>
            <a:r>
              <a:t>tomic sequencing.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Infusion of unrelated hUCBSCs may compensate for the lack of a graft-versus-tumor (GVT) effect in Auto-HSCT.</a:t>
            </a:r>
          </a:p>
          <a:p>
            <a:pPr>
              <a:lnSpc>
                <a:spcPct val="103000"/>
              </a:lnSpc>
              <a:spcAft>
                <a:spcPts val="300"/>
              </a:spcAft>
              <a:defRPr sz="590">
                <a:solidFill>
                  <a:srgbClr val="21242A"/>
                </a:solidFill>
                <a:latin typeface="Microsoft YaHei"/>
              </a:defRPr>
            </a:pPr>
            <a:r>
              <a:t>The GVT observed in the combined strategy appears to be associated with the earlier emergence of CD8⁺ Tprolif cells, CD8⁺ Tscm cells, and the accelerated activa</a:t>
            </a:r>
          </a:p>
          <a:p>
            <a:pPr>
              <a:lnSpc>
                <a:spcPct val="103000"/>
              </a:lnSpc>
              <a:spcAft>
                <a:spcPts val="300"/>
              </a:spcAft>
              <a:defRPr sz="590">
                <a:solidFill>
                  <a:srgbClr val="21242A"/>
                </a:solidFill>
                <a:latin typeface="Microsoft YaHei"/>
              </a:defRPr>
            </a:pPr>
            <a:r>
              <a:t>tion of CD8⁺ T cells following unrelated hUCBSC infusion.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联合组中性粒细胞植入中位时间11天（范围10-21天），血小板植入中位时间14天（范围12-31天）</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对照组中性粒细胞植入中位时间11天（范围10-19天），血小板植入中位时间12天（范围10-20天）</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联合组增殖性CD8+ T细胞出现中位时间比对照组早4天（2-5天）</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联合组干细胞样记忆CD8+ T细胞出现中位时间比对照组早9天（8-10天）</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联合组总队列2年总生存率90.9%，2年无进展生存率86.3%</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摘要号：PF1113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阶段性变体揭示dlbcl原癌基因启动子高突变和cfdna断裂模式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phased variants reveal proto-oncogene promoter hypermutation and cfdna fragme...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前瞻性临床研究结果：phased variants reveal proto-oncogene promoter hyperm...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LymphGen分类成功率：50.8%（FFPE），加入cfDNA后提升至62.9%</a:t>
            </a:r>
          </a:p>
          <a:p>
            <a:pPr>
              <a:lnSpc>
                <a:spcPct val="103000"/>
              </a:lnSpc>
              <a:spcAft>
                <a:spcPts val="300"/>
              </a:spcAft>
              <a:defRPr sz="800">
                <a:solidFill>
                  <a:srgbClr val="21242A"/>
                </a:solidFill>
                <a:latin typeface="Microsoft YaHei"/>
              </a:defRPr>
            </a:pPr>
            <a:r>
              <a:t>未分类病例中7/57重新分类为MCD，4/57重新分类为EZB</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研究主题：phased variants reveal proto-oncogene promoter hypermutation and cfdna fragmentation patterns in dlbcl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阶段性变体揭示dlbcl原癌基因启动子高突变和cfdna断裂模式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phased variants reveal proto-oncogene promoter hypermutation and cfdna fragme...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a clinically and molecularly heterogeneous disease for which robust, widely applicable patient-stratificati</a:t>
            </a:r>
          </a:p>
          <a:p>
            <a:pPr>
              <a:lnSpc>
                <a:spcPct val="103000"/>
              </a:lnSpc>
              <a:spcAft>
                <a:spcPts val="300"/>
              </a:spcAft>
              <a:defRPr sz="570">
                <a:solidFill>
                  <a:srgbClr val="21242A"/>
                </a:solidFill>
                <a:latin typeface="Microsoft YaHei"/>
              </a:defRPr>
            </a:pPr>
            <a:r>
              <a:t>on tools are still lacking.</a:t>
            </a:r>
          </a:p>
          <a:p>
            <a:pPr>
              <a:lnSpc>
                <a:spcPct val="103000"/>
              </a:lnSpc>
              <a:spcAft>
                <a:spcPts val="300"/>
              </a:spcAft>
              <a:defRPr sz="570">
                <a:solidFill>
                  <a:srgbClr val="21242A"/>
                </a:solidFill>
                <a:latin typeface="Microsoft YaHei"/>
              </a:defRPr>
            </a:pPr>
            <a:r>
              <a:t>Analysis of circulating tumor DNA (ctDNA) has emerged as a promising approach for disease monitoring, yet its utility for molecular characterization and stratif</a:t>
            </a:r>
          </a:p>
          <a:p>
            <a:pPr>
              <a:lnSpc>
                <a:spcPct val="103000"/>
              </a:lnSpc>
              <a:spcAft>
                <a:spcPts val="300"/>
              </a:spcAft>
              <a:defRPr sz="570">
                <a:solidFill>
                  <a:srgbClr val="21242A"/>
                </a:solidFill>
                <a:latin typeface="Microsoft YaHei"/>
              </a:defRPr>
            </a:pPr>
            <a:r>
              <a:t>ication remains incompletely understood.</a:t>
            </a:r>
          </a:p>
          <a:p>
            <a:pPr>
              <a:lnSpc>
                <a:spcPct val="103000"/>
              </a:lnSpc>
              <a:spcAft>
                <a:spcPts val="300"/>
              </a:spcAft>
              <a:defRPr sz="570">
                <a:solidFill>
                  <a:srgbClr val="21242A"/>
                </a:solidFill>
                <a:latin typeface="Microsoft YaHei"/>
              </a:defRPr>
            </a:pPr>
            <a:r>
              <a:t>Phased variants (PVs) – closely spaced somatic mutations occurring in cis – represent stable, region-specific genomic features that may provide additional insig</a:t>
            </a:r>
          </a:p>
          <a:p>
            <a:pPr>
              <a:lnSpc>
                <a:spcPct val="103000"/>
              </a:lnSpc>
              <a:spcAft>
                <a:spcPts val="300"/>
              </a:spcAft>
              <a:defRPr sz="570">
                <a:solidFill>
                  <a:srgbClr val="21242A"/>
                </a:solidFill>
                <a:latin typeface="Microsoft YaHei"/>
              </a:defRPr>
            </a:pPr>
            <a:r>
              <a:t>ht into DLBCL biology and improve ctDNA-based stratification.</a:t>
            </a:r>
          </a:p>
          <a:p>
            <a:pPr>
              <a:lnSpc>
                <a:spcPct val="103000"/>
              </a:lnSpc>
              <a:spcAft>
                <a:spcPts val="300"/>
              </a:spcAft>
              <a:defRPr sz="570">
                <a:solidFill>
                  <a:srgbClr val="21242A"/>
                </a:solidFill>
                <a:latin typeface="Microsoft YaHei"/>
              </a:defRPr>
            </a:pPr>
            <a:r>
              <a:t>Aims: Our goal was to characterise a nationwide real-world DLBCL cohort to improve our understanding of the disease’s molecular landscape and investigate the ap</a:t>
            </a:r>
          </a:p>
          <a:p>
            <a:pPr>
              <a:lnSpc>
                <a:spcPct val="103000"/>
              </a:lnSpc>
              <a:spcAft>
                <a:spcPts val="300"/>
              </a:spcAft>
              <a:defRPr sz="570">
                <a:solidFill>
                  <a:srgbClr val="21242A"/>
                </a:solidFill>
                <a:latin typeface="Microsoft YaHei"/>
              </a:defRPr>
            </a:pPr>
            <a:r>
              <a:t>plicability of cfDNA for molecular profiling and patient stratification.</a:t>
            </a:r>
          </a:p>
          <a:p>
            <a:pPr>
              <a:lnSpc>
                <a:spcPct val="103000"/>
              </a:lnSpc>
              <a:spcAft>
                <a:spcPts val="300"/>
              </a:spcAft>
              <a:defRPr sz="570">
                <a:solidFill>
                  <a:srgbClr val="21242A"/>
                </a:solidFill>
                <a:latin typeface="Microsoft YaHei"/>
              </a:defRPr>
            </a:pPr>
            <a:r>
              <a:t>Methods: In Hungarian oncohematological centres 138 newly diagnosed DLBCL patients were prospectively enrolled in liquid biopsy collection between 2021-2023, of</a:t>
            </a:r>
          </a:p>
          <a:p>
            <a:pPr>
              <a:lnSpc>
                <a:spcPct val="103000"/>
              </a:lnSpc>
              <a:spcAft>
                <a:spcPts val="300"/>
              </a:spcAft>
              <a:defRPr sz="570">
                <a:solidFill>
                  <a:srgbClr val="21242A"/>
                </a:solidFill>
                <a:latin typeface="Microsoft YaHei"/>
              </a:defRPr>
            </a:pPr>
            <a:r>
              <a:t> which 116 had corresponding diagnostic FFPE samples available.</a:t>
            </a:r>
          </a:p>
          <a:p>
            <a:pPr>
              <a:lnSpc>
                <a:spcPct val="103000"/>
              </a:lnSpc>
              <a:spcAft>
                <a:spcPts val="300"/>
              </a:spcAft>
              <a:defRPr sz="570">
                <a:solidFill>
                  <a:srgbClr val="21242A"/>
                </a:solidFill>
                <a:latin typeface="Microsoft YaHei"/>
              </a:defRPr>
            </a:pPr>
            <a:r>
              <a:t>We performed targeted next generation DNA sequencing using a hybrid-capture Agilent XT HS2 panel spanning 251 genes, 4 translocation breakpoints and genome-wide</a:t>
            </a:r>
          </a:p>
          <a:p>
            <a:pPr>
              <a:lnSpc>
                <a:spcPct val="103000"/>
              </a:lnSpc>
              <a:spcAft>
                <a:spcPts val="300"/>
              </a:spcAft>
              <a:defRPr sz="570">
                <a:solidFill>
                  <a:srgbClr val="21242A"/>
                </a:solidFill>
                <a:latin typeface="Microsoft YaHei"/>
              </a:defRPr>
            </a:pPr>
            <a:r>
              <a:t> CNA calling using off-target reads on FFPE samples and a smaller, 98 gene panel for ctDNA profiling involving highly-mutated regions in &gt;5% of lymphoma genomes</a:t>
            </a:r>
          </a:p>
          <a:p>
            <a:pPr>
              <a:lnSpc>
                <a:spcPct val="103000"/>
              </a:lnSpc>
              <a:spcAft>
                <a:spcPts val="300"/>
              </a:spcAft>
              <a:defRPr sz="570">
                <a:solidFill>
                  <a:srgbClr val="21242A"/>
                </a:solidFill>
                <a:latin typeface="Microsoft YaHei"/>
              </a:defRPr>
            </a:pPr>
            <a:r>
              <a:t> (Kurtz et al., 2021) for phased variant identification.</a:t>
            </a:r>
          </a:p>
          <a:p>
            <a:pPr>
              <a:lnSpc>
                <a:spcPct val="103000"/>
              </a:lnSpc>
              <a:spcAft>
                <a:spcPts val="300"/>
              </a:spcAft>
              <a:defRPr sz="570">
                <a:solidFill>
                  <a:srgbClr val="21242A"/>
                </a:solidFill>
                <a:latin typeface="Microsoft YaHei"/>
              </a:defRPr>
            </a:pPr>
            <a:r>
              <a:t>Variant calling and analysis were performed using a custom pipeline.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CfDNA has been shown to be a viable and robust tool to help patient care in several cancers.</a:t>
            </a:r>
          </a:p>
          <a:p>
            <a:pPr>
              <a:lnSpc>
                <a:spcPct val="103000"/>
              </a:lnSpc>
              <a:spcAft>
                <a:spcPts val="300"/>
              </a:spcAft>
              <a:defRPr sz="590">
                <a:solidFill>
                  <a:srgbClr val="21242A"/>
                </a:solidFill>
                <a:latin typeface="Microsoft YaHei"/>
              </a:defRPr>
            </a:pPr>
            <a:r>
              <a:t>CtDNA carries potentially relevant information on the disease; in our case, LymphGen classification improved with the use of ctDNA variants and parallel analysi</a:t>
            </a:r>
          </a:p>
          <a:p>
            <a:pPr>
              <a:lnSpc>
                <a:spcPct val="103000"/>
              </a:lnSpc>
              <a:spcAft>
                <a:spcPts val="300"/>
              </a:spcAft>
              <a:defRPr sz="590">
                <a:solidFill>
                  <a:srgbClr val="21242A"/>
                </a:solidFill>
                <a:latin typeface="Microsoft YaHei"/>
              </a:defRPr>
            </a:pPr>
            <a:r>
              <a:t>s of ctDNA and tumor tissue DNA allocated cases to therapeutically relevant LymphGen subtypes.</a:t>
            </a:r>
          </a:p>
          <a:p>
            <a:pPr>
              <a:lnSpc>
                <a:spcPct val="103000"/>
              </a:lnSpc>
              <a:spcAft>
                <a:spcPts val="300"/>
              </a:spcAft>
              <a:defRPr sz="590">
                <a:solidFill>
                  <a:srgbClr val="21242A"/>
                </a:solidFill>
                <a:latin typeface="Microsoft YaHei"/>
              </a:defRPr>
            </a:pPr>
            <a:r>
              <a:t>Aberrant hypermutation in proto-oncogene promoter sites have been described in DLBCL and utilised as PVs for disease monitoring.</a:t>
            </a:r>
          </a:p>
          <a:p>
            <a:pPr>
              <a:lnSpc>
                <a:spcPct val="103000"/>
              </a:lnSpc>
              <a:spcAft>
                <a:spcPts val="300"/>
              </a:spcAft>
              <a:defRPr sz="590">
                <a:solidFill>
                  <a:srgbClr val="21242A"/>
                </a:solidFill>
                <a:latin typeface="Microsoft YaHei"/>
              </a:defRPr>
            </a:pPr>
            <a:r>
              <a:t>We demonstrated that regions with lower cfDNA fragmentation and higher cfDNA amounts have worse PV recall, highlighting caveats to improve further in the non-in</a:t>
            </a:r>
          </a:p>
          <a:p>
            <a:pPr>
              <a:lnSpc>
                <a:spcPct val="103000"/>
              </a:lnSpc>
              <a:spcAft>
                <a:spcPts val="300"/>
              </a:spcAft>
              <a:defRPr sz="590">
                <a:solidFill>
                  <a:srgbClr val="21242A"/>
                </a:solidFill>
                <a:latin typeface="Microsoft YaHei"/>
              </a:defRPr>
            </a:pPr>
            <a:r>
              <a:t>vasive genotyping of DLBCL.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LymphGen分类成功率：50.8%（FFPE），加入cfDNA后提升至62.9%；未分类病例中7/57重新分类为MCD，4/57重新分类为EZB；肿瘤组织样本中位PVs数111.5（范围17-286）；86/116例cfDNA中可召回PVs，中位召回率58.4%；PVs常见于IGK、IGHM、BCL6、B</a:t>
            </a:r>
          </a:p>
          <a:p>
            <a:pPr>
              <a:lnSpc>
                <a:spcPct val="103000"/>
              </a:lnSpc>
              <a:spcAft>
                <a:spcPts val="300"/>
              </a:spcAft>
              <a:defRPr sz="580">
                <a:solidFill>
                  <a:srgbClr val="21242A"/>
                </a:solidFill>
                <a:latin typeface="Microsoft YaHei"/>
              </a:defRPr>
            </a:pPr>
            <a:r>
              <a:t>CL2、PIM1、MYC、BCL7A、CXCR4、TMSB4X基因，除MYC外多数影响5'UTR或启动子区；ctDNA片段化程度显著高于野生型DNA和总cfDNA；BCL2和MYC的PV召回率低与血液中低表达、淋巴细胞中高表达相关。</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摘要号：PF1106</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N=184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前瞻性临床研究结果：pretreatment ctdna-based risk prediction in dlbcl: pa...</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基于CNA的肿瘤分数&gt;0.1定义高风险，对TTP的HR为4.97 (95% CI 2.52-9.83, p&lt;0.001)</a:t>
            </a:r>
          </a:p>
          <a:p>
            <a:pPr>
              <a:lnSpc>
                <a:spcPct val="103000"/>
              </a:lnSpc>
              <a:spcAft>
                <a:spcPts val="300"/>
              </a:spcAft>
              <a:defRPr sz="800">
                <a:solidFill>
                  <a:srgbClr val="21242A"/>
                </a:solidFill>
                <a:latin typeface="Microsoft YaHei"/>
              </a:defRPr>
            </a:pPr>
            <a:r>
              <a:t>对PFS的HR为3.02 (95% CI 1.56-5.85, p=0.001)。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人数：184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研究主题：pretreatment ctdna-based risk prediction in dlbcl: panel-independent copy-number analysis overcomes inter-assay thresho...</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Large B-cell lymphoma (LBCL), is the commonest aggressive non-Hodgkin lymphoma.</a:t>
            </a:r>
          </a:p>
          <a:p>
            <a:pPr>
              <a:lnSpc>
                <a:spcPct val="103000"/>
              </a:lnSpc>
              <a:spcAft>
                <a:spcPts val="300"/>
              </a:spcAft>
              <a:defRPr sz="570">
                <a:solidFill>
                  <a:srgbClr val="21242A"/>
                </a:solidFill>
                <a:latin typeface="Microsoft YaHei"/>
              </a:defRPr>
            </a:pPr>
            <a:r>
              <a:t>A plethora of emerging novel therapeutic modalities creates exciting opportunities to intensify first-line therapy.</a:t>
            </a:r>
          </a:p>
          <a:p>
            <a:pPr>
              <a:lnSpc>
                <a:spcPct val="103000"/>
              </a:lnSpc>
              <a:spcAft>
                <a:spcPts val="300"/>
              </a:spcAft>
              <a:defRPr sz="570">
                <a:solidFill>
                  <a:srgbClr val="21242A"/>
                </a:solidFill>
                <a:latin typeface="Microsoft YaHei"/>
              </a:defRPr>
            </a:pPr>
            <a:r>
              <a:t>Such escalation would ideally be reserved for patients at highest risk to avoid unnecessary additional toxicity to standard risk patients who already achieve ex</a:t>
            </a:r>
          </a:p>
          <a:p>
            <a:pPr>
              <a:lnSpc>
                <a:spcPct val="103000"/>
              </a:lnSpc>
              <a:spcAft>
                <a:spcPts val="300"/>
              </a:spcAft>
              <a:defRPr sz="570">
                <a:solidFill>
                  <a:srgbClr val="21242A"/>
                </a:solidFill>
                <a:latin typeface="Microsoft YaHei"/>
              </a:defRPr>
            </a:pPr>
            <a:r>
              <a:t>cellent outcomes with conventional immunochemotherapy.</a:t>
            </a:r>
          </a:p>
          <a:p>
            <a:pPr>
              <a:lnSpc>
                <a:spcPct val="103000"/>
              </a:lnSpc>
              <a:spcAft>
                <a:spcPts val="300"/>
              </a:spcAft>
              <a:defRPr sz="570">
                <a:solidFill>
                  <a:srgbClr val="21242A"/>
                </a:solidFill>
                <a:latin typeface="Microsoft YaHei"/>
              </a:defRPr>
            </a:pPr>
            <a:r>
              <a:t>Circulating tumour DNA (ctDNA) is a promising pre-treatment risk stratification tool; however, implementation is limited by poor standardisation and substantial</a:t>
            </a:r>
          </a:p>
          <a:p>
            <a:pPr>
              <a:lnSpc>
                <a:spcPct val="103000"/>
              </a:lnSpc>
              <a:spcAft>
                <a:spcPts val="300"/>
              </a:spcAft>
              <a:defRPr sz="570">
                <a:solidFill>
                  <a:srgbClr val="21242A"/>
                </a:solidFill>
                <a:latin typeface="Microsoft YaHei"/>
              </a:defRPr>
            </a:pPr>
            <a:r>
              <a:t> inter-assay variability in ctDNA thresholds.</a:t>
            </a:r>
          </a:p>
          <a:p>
            <a:pPr>
              <a:lnSpc>
                <a:spcPct val="103000"/>
              </a:lnSpc>
              <a:spcAft>
                <a:spcPts val="300"/>
              </a:spcAft>
              <a:defRPr sz="570">
                <a:solidFill>
                  <a:srgbClr val="21242A"/>
                </a:solidFill>
                <a:latin typeface="Microsoft YaHei"/>
              </a:defRPr>
            </a:pPr>
            <a:r>
              <a:t>Methods: We benchmarked pretreatment ctDNA-based risk prediction in 184 prospectively recruited patients receiving first-line therapy for LBCL.</a:t>
            </a:r>
          </a:p>
          <a:p>
            <a:pPr>
              <a:lnSpc>
                <a:spcPct val="103000"/>
              </a:lnSpc>
              <a:spcAft>
                <a:spcPts val="300"/>
              </a:spcAft>
              <a:defRPr sz="570">
                <a:solidFill>
                  <a:srgbClr val="21242A"/>
                </a:solidFill>
                <a:latin typeface="Microsoft YaHei"/>
              </a:defRPr>
            </a:pPr>
            <a:r>
              <a:t>We compared the predictive performance of pretreatment ctDNA burden estimated using single-nucleotide variants (SNVs) identified by multiple variant-calling wor</a:t>
            </a:r>
          </a:p>
          <a:p>
            <a:pPr>
              <a:lnSpc>
                <a:spcPct val="103000"/>
              </a:lnSpc>
              <a:spcAft>
                <a:spcPts val="300"/>
              </a:spcAft>
              <a:defRPr sz="570">
                <a:solidFill>
                  <a:srgbClr val="21242A"/>
                </a:solidFill>
                <a:latin typeface="Microsoft YaHei"/>
              </a:defRPr>
            </a:pPr>
            <a:r>
              <a:t>kflows, or genome-wide copy-number aberrations (CNAs) inferred using ichorCNA.</a:t>
            </a:r>
          </a:p>
          <a:p>
            <a:pPr>
              <a:lnSpc>
                <a:spcPct val="103000"/>
              </a:lnSpc>
              <a:spcAft>
                <a:spcPts val="300"/>
              </a:spcAft>
              <a:defRPr sz="570">
                <a:solidFill>
                  <a:srgbClr val="21242A"/>
                </a:solidFill>
                <a:latin typeface="Microsoft YaHei"/>
              </a:defRPr>
            </a:pPr>
            <a:r>
              <a:t>Clinical outcomes were evaluated for time to tumour progression (TTP) and progression-free survival (PFS).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conclusion, CNA-based estimation of ctDNA tumour fraction provides a technically robust, panel-independent approach to pretreatment risk stratification in LB</a:t>
            </a:r>
          </a:p>
          <a:p>
            <a:pPr>
              <a:lnSpc>
                <a:spcPct val="103000"/>
              </a:lnSpc>
              <a:spcAft>
                <a:spcPts val="300"/>
              </a:spcAft>
              <a:defRPr sz="590">
                <a:solidFill>
                  <a:srgbClr val="21242A"/>
                </a:solidFill>
                <a:latin typeface="Microsoft YaHei"/>
              </a:defRPr>
            </a:pPr>
            <a:r>
              <a:t>CL.</a:t>
            </a:r>
          </a:p>
          <a:p>
            <a:pPr>
              <a:lnSpc>
                <a:spcPct val="103000"/>
              </a:lnSpc>
              <a:spcAft>
                <a:spcPts val="300"/>
              </a:spcAft>
              <a:defRPr sz="590">
                <a:solidFill>
                  <a:srgbClr val="21242A"/>
                </a:solidFill>
                <a:latin typeface="Microsoft YaHei"/>
              </a:defRPr>
            </a:pPr>
            <a:r>
              <a:t>Application of this computationally simple approach facilitates harmonisation of risk prediction without the requirement for individual centres to standardise s</a:t>
            </a:r>
          </a:p>
          <a:p>
            <a:pPr>
              <a:lnSpc>
                <a:spcPct val="103000"/>
              </a:lnSpc>
              <a:spcAft>
                <a:spcPts val="300"/>
              </a:spcAft>
              <a:defRPr sz="590">
                <a:solidFill>
                  <a:srgbClr val="21242A"/>
                </a:solidFill>
                <a:latin typeface="Microsoft YaHei"/>
              </a:defRPr>
            </a:pPr>
            <a:r>
              <a:t>equencing panels and variant calling pipelines.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All SNV-based approaches predicted clinical risk, but absolute ctDNA quantification varied markedly.</a:t>
            </a:r>
          </a:p>
          <a:p>
            <a:pPr>
              <a:lnSpc>
                <a:spcPct val="103000"/>
              </a:lnSpc>
              <a:spcAft>
                <a:spcPts val="300"/>
              </a:spcAft>
              <a:defRPr sz="580">
                <a:solidFill>
                  <a:srgbClr val="21242A"/>
                </a:solidFill>
                <a:latin typeface="Microsoft YaHei"/>
              </a:defRPr>
            </a:pPr>
            <a:r>
              <a:t>Even within the same cohort, thresholds defining high-risk disease required separate optimisation for each SNV calling strategy and differed by &gt;10-fold.</a:t>
            </a:r>
          </a:p>
          <a:p>
            <a:pPr>
              <a:lnSpc>
                <a:spcPct val="103000"/>
              </a:lnSpc>
              <a:spcAft>
                <a:spcPts val="300"/>
              </a:spcAft>
              <a:defRPr sz="580">
                <a:solidFill>
                  <a:srgbClr val="21242A"/>
                </a:solidFill>
                <a:latin typeface="Microsoft YaHei"/>
              </a:defRPr>
            </a:pPr>
            <a:r>
              <a:t>This variation arose partly from different detection limits for low-allele-fraction variants leading to substantial differences in average mutant allele fr</a:t>
            </a:r>
          </a:p>
          <a:p>
            <a:pPr>
              <a:lnSpc>
                <a:spcPct val="103000"/>
              </a:lnSpc>
              <a:spcAft>
                <a:spcPts val="300"/>
              </a:spcAft>
              <a:defRPr sz="580">
                <a:solidFill>
                  <a:srgbClr val="21242A"/>
                </a:solidFill>
                <a:latin typeface="Microsoft YaHei"/>
              </a:defRPr>
            </a:pPr>
            <a:r>
              <a:t>action across different variant calling approaches (matched-germline, unmatched-germline and tumour-only strategies employing different variant calling too</a:t>
            </a:r>
          </a:p>
          <a:p>
            <a:pPr>
              <a:lnSpc>
                <a:spcPct val="103000"/>
              </a:lnSpc>
              <a:spcAft>
                <a:spcPts val="300"/>
              </a:spcAft>
              <a:defRPr sz="580">
                <a:solidFill>
                  <a:srgbClr val="21242A"/>
                </a:solidFill>
                <a:latin typeface="Microsoft YaHei"/>
              </a:defRPr>
            </a:pPr>
            <a:r>
              <a:t>ls).</a:t>
            </a:r>
          </a:p>
          <a:p>
            <a:pPr>
              <a:lnSpc>
                <a:spcPct val="103000"/>
              </a:lnSpc>
              <a:spcAft>
                <a:spcPts val="300"/>
              </a:spcAft>
              <a:defRPr sz="580">
                <a:solidFill>
                  <a:srgbClr val="21242A"/>
                </a:solidFill>
                <a:latin typeface="Microsoft YaHei"/>
              </a:defRPr>
            </a:pPr>
            <a:r>
              <a:t>This variability presents a practical barrier to deploying SNV-based risk stratification across centres, sequencing pipelines and panel designs.</a:t>
            </a:r>
          </a:p>
          <a:p>
            <a:pPr>
              <a:lnSpc>
                <a:spcPct val="103000"/>
              </a:lnSpc>
              <a:spcAft>
                <a:spcPts val="300"/>
              </a:spcAft>
              <a:defRPr sz="580">
                <a:solidFill>
                  <a:srgbClr val="21242A"/>
                </a:solidFill>
                <a:latin typeface="Microsoft YaHei"/>
              </a:defRPr>
            </a:pPr>
            <a:r>
              <a:t>\n As an alternative, we derived tumour fraction from genome-wide CNAs.</a:t>
            </a:r>
          </a:p>
          <a:p>
            <a:pPr>
              <a:lnSpc>
                <a:spcPct val="103000"/>
              </a:lnSpc>
              <a:spcAft>
                <a:spcPts val="300"/>
              </a:spcAft>
              <a:defRPr sz="580">
                <a:solidFill>
                  <a:srgbClr val="21242A"/>
                </a:solidFill>
                <a:latin typeface="Microsoft YaHei"/>
              </a:defRPr>
            </a:pPr>
            <a:r>
              <a:t>Panel-based sequencing profiles including off-target reads were normalised to cfDNA from 51 healthy individuals.</a:t>
            </a:r>
          </a:p>
          <a:p>
            <a:pPr>
              <a:lnSpc>
                <a:spcPct val="103000"/>
              </a:lnSpc>
              <a:spcAft>
                <a:spcPts val="300"/>
              </a:spcAft>
              <a:defRPr sz="580">
                <a:solidFill>
                  <a:srgbClr val="21242A"/>
                </a:solidFill>
                <a:latin typeface="Microsoft YaHei"/>
              </a:defRPr>
            </a:pPr>
            <a:r>
              <a:t>A tumour fraction &gt;0.1 was identified as optimal to define high risk.</a:t>
            </a:r>
          </a:p>
          <a:p>
            <a:pPr>
              <a:lnSpc>
                <a:spcPct val="103000"/>
              </a:lnSpc>
              <a:spcAft>
                <a:spcPts val="300"/>
              </a:spcAft>
              <a:defRPr sz="580">
                <a:solidFill>
                  <a:srgbClr val="21242A"/>
                </a:solidFill>
                <a:latin typeface="Microsoft YaHei"/>
              </a:defRPr>
            </a:pPr>
            <a:r>
              <a:t>In univariate analyses, CNA-based stratification strongly predicted TTP (HR 4.97, 95% CI 2.52–9.83, p \n We then assessed technical robustness to variables</a:t>
            </a:r>
          </a:p>
          <a:p>
            <a:pPr>
              <a:lnSpc>
                <a:spcPct val="103000"/>
              </a:lnSpc>
              <a:spcAft>
                <a:spcPts val="300"/>
              </a:spcAft>
              <a:defRPr sz="580">
                <a:solidFill>
                  <a:srgbClr val="21242A"/>
                </a:solidFill>
                <a:latin typeface="Microsoft YaHei"/>
              </a:defRPr>
            </a:pPr>
            <a:r>
              <a:t> that typically differ across ctDNA platforms, including genomic regions analysed and reference panel size.</a:t>
            </a:r>
          </a:p>
          <a:p>
            <a:pPr>
              <a:lnSpc>
                <a:spcPct val="103000"/>
              </a:lnSpc>
              <a:spcAft>
                <a:spcPts val="300"/>
              </a:spcAft>
              <a:defRPr sz="580">
                <a:solidFill>
                  <a:srgbClr val="21242A"/>
                </a:solidFill>
                <a:latin typeface="Microsoft YaHei"/>
              </a:defRPr>
            </a:pPr>
            <a:r>
              <a:t>Tumour fraction from panel-based sequencing showed strong concordance with low-pass whole-genome sequencing (Pearson’s r &gt;0.9).</a:t>
            </a:r>
          </a:p>
          <a:p>
            <a:pPr>
              <a:lnSpc>
                <a:spcPct val="103000"/>
              </a:lnSpc>
              <a:spcAft>
                <a:spcPts val="300"/>
              </a:spcAft>
              <a:defRPr sz="580">
                <a:solidFill>
                  <a:srgbClr val="21242A"/>
                </a:solidFill>
                <a:latin typeface="Microsoft YaHei"/>
              </a:defRPr>
            </a:pPr>
            <a:r>
              <a:t>Tumour fraction remained stable when chromosome arms were iteratively excluded to simulate alternative panel design, suggesting that risk prediction was dr</a:t>
            </a:r>
          </a:p>
          <a:p>
            <a:pPr>
              <a:lnSpc>
                <a:spcPct val="103000"/>
              </a:lnSpc>
              <a:spcAft>
                <a:spcPts val="300"/>
              </a:spcAft>
              <a:defRPr sz="580">
                <a:solidFill>
                  <a:srgbClr val="21242A"/>
                </a:solidFill>
                <a:latin typeface="Microsoft YaHei"/>
              </a:defRPr>
            </a:pPr>
            <a:r>
              <a:t>iven by global tumour-burden signal rather than individual copy number aberrations.</a:t>
            </a:r>
          </a:p>
          <a:p>
            <a:pPr>
              <a:lnSpc>
                <a:spcPct val="103000"/>
              </a:lnSpc>
              <a:spcAft>
                <a:spcPts val="300"/>
              </a:spcAft>
              <a:defRPr sz="580">
                <a:solidFill>
                  <a:srgbClr val="21242A"/>
                </a:solidFill>
                <a:latin typeface="Microsoft YaHei"/>
              </a:defRPr>
            </a:pPr>
            <a:r>
              <a:t>Quantification was also stable when at least 20 healthy cfDNA samples were used as reference.</a:t>
            </a:r>
          </a:p>
          <a:p>
            <a:pPr>
              <a:lnSpc>
                <a:spcPct val="103000"/>
              </a:lnSpc>
              <a:spcAft>
                <a:spcPts val="300"/>
              </a:spcAft>
              <a:defRPr sz="580">
                <a:solidFill>
                  <a:srgbClr val="21242A"/>
                </a:solidFill>
                <a:latin typeface="Microsoft YaHei"/>
              </a:defRPr>
            </a:pPr>
            <a:r>
              <a:t>Conclusion: In conclusion, CNA-based estimation of ctDNA tumour fraction provides a technically robust, panel-independent approach to pretreatment risk str</a:t>
            </a:r>
          </a:p>
          <a:p>
            <a:pPr>
              <a:lnSpc>
                <a:spcPct val="103000"/>
              </a:lnSpc>
              <a:spcAft>
                <a:spcPts val="300"/>
              </a:spcAft>
              <a:defRPr sz="580">
                <a:solidFill>
                  <a:srgbClr val="21242A"/>
                </a:solidFill>
                <a:latin typeface="Microsoft YaHei"/>
              </a:defRPr>
            </a:pPr>
            <a:r>
              <a:t>atification in LBCL.</a:t>
            </a:r>
          </a:p>
          <a:p>
            <a:pPr>
              <a:lnSpc>
                <a:spcPct val="103000"/>
              </a:lnSpc>
              <a:spcAft>
                <a:spcPts val="300"/>
              </a:spcAft>
              <a:defRPr sz="580">
                <a:solidFill>
                  <a:srgbClr val="21242A"/>
                </a:solidFill>
                <a:latin typeface="Microsoft YaHei"/>
              </a:defRPr>
            </a:pPr>
            <a:r>
              <a:t>Application of this computationally simple approach facilitates harmonisation of risk prediction without the requirement for individual centres to standard</a:t>
            </a:r>
          </a:p>
          <a:p>
            <a:pPr>
              <a:lnSpc>
                <a:spcPct val="103000"/>
              </a:lnSpc>
              <a:spcAft>
                <a:spcPts val="300"/>
              </a:spcAft>
              <a:defRPr sz="580">
                <a:solidFill>
                  <a:srgbClr val="21242A"/>
                </a:solidFill>
                <a:latin typeface="Microsoft YaHei"/>
              </a:defRPr>
            </a:pPr>
            <a:r>
              <a:t>ise sequencing panels and variant calling pipelines.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摘要号：PF1089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弥漫性大b细胞淋巴瘤肠道微生物组代谢组动态变化的宏基因组学研究：基于患者健康同居者作为对照的队列分析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metagenomic study on the dynamic changes of gut microbiome-metabolome in diff...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分组：组1：新诊断DLBCL患者</a:t>
            </a:r>
          </a:p>
          <a:p>
            <a:pPr>
              <a:lnSpc>
                <a:spcPct val="103000"/>
              </a:lnSpc>
              <a:spcAft>
                <a:spcPts val="300"/>
              </a:spcAft>
              <a:defRPr sz="800">
                <a:solidFill>
                  <a:srgbClr val="21242A"/>
                </a:solidFill>
                <a:latin typeface="Microsoft YaHei"/>
              </a:defRPr>
            </a:pPr>
            <a:r>
              <a:t>组2：完全缓解DLBCL患者</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多组/多方案比较：组1：新诊断DLBCL患者</a:t>
            </a:r>
          </a:p>
          <a:p>
            <a:pPr>
              <a:lnSpc>
                <a:spcPct val="103000"/>
              </a:lnSpc>
              <a:spcAft>
                <a:spcPts val="300"/>
              </a:spcAft>
              <a:defRPr sz="800">
                <a:solidFill>
                  <a:srgbClr val="21242A"/>
                </a:solidFill>
                <a:latin typeface="Microsoft YaHei"/>
              </a:defRPr>
            </a:pPr>
            <a:r>
              <a:t>组2：完全缓解DLBCL患者</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肠道微生物多样性：新诊断患者显著降低（更少的独有基因，受损的稳定性）</a:t>
            </a:r>
          </a:p>
          <a:p>
            <a:pPr>
              <a:lnSpc>
                <a:spcPct val="103000"/>
              </a:lnSpc>
              <a:spcAft>
                <a:spcPts val="300"/>
              </a:spcAft>
              <a:defRPr sz="800">
                <a:solidFill>
                  <a:srgbClr val="21242A"/>
                </a:solidFill>
                <a:latin typeface="Microsoft YaHei"/>
              </a:defRPr>
            </a:pPr>
            <a:r>
              <a:t>核心菌群失调：新诊断患者拟杆菌门相对丰度升高（46.3%），厚壁菌门及其衍生分类群减少（Clostridia, Clostri...</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分组/治疗流程：组1：新诊断DLBCL患者、组2：完全缓解DLBCL患者、组3：健康同居者</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弥漫性大b细胞淋巴瘤肠道微生物组代谢组动态变化的宏基因组学研究：基于患者健康同居者作为对照的队列分析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metagenomic study on the dynamic changes of gut microbiome-metabolome in diff...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the most common type of non-Hodgkin lymphoma.</a:t>
            </a:r>
          </a:p>
          <a:p>
            <a:pPr>
              <a:lnSpc>
                <a:spcPct val="103000"/>
              </a:lnSpc>
              <a:spcAft>
                <a:spcPts val="300"/>
              </a:spcAft>
              <a:defRPr sz="570">
                <a:solidFill>
                  <a:srgbClr val="21242A"/>
                </a:solidFill>
                <a:latin typeface="Microsoft YaHei"/>
              </a:defRPr>
            </a:pPr>
            <a:r>
              <a:t>Despite numerous studies focusing on its genomic characteristics and molecular pathogenesis, systematic elucidation of the dynamic changes of gut microbiota dur</a:t>
            </a:r>
          </a:p>
          <a:p>
            <a:pPr>
              <a:lnSpc>
                <a:spcPct val="103000"/>
              </a:lnSpc>
              <a:spcAft>
                <a:spcPts val="300"/>
              </a:spcAft>
              <a:defRPr sz="570">
                <a:solidFill>
                  <a:srgbClr val="21242A"/>
                </a:solidFill>
                <a:latin typeface="Microsoft YaHei"/>
              </a:defRPr>
            </a:pPr>
            <a:r>
              <a:t>ing the course of DLBCL remains scarce.</a:t>
            </a:r>
          </a:p>
          <a:p>
            <a:pPr>
              <a:lnSpc>
                <a:spcPct val="103000"/>
              </a:lnSpc>
              <a:spcAft>
                <a:spcPts val="300"/>
              </a:spcAft>
              <a:defRPr sz="570">
                <a:solidFill>
                  <a:srgbClr val="21242A"/>
                </a:solidFill>
                <a:latin typeface="Microsoft YaHei"/>
              </a:defRPr>
            </a:pPr>
            <a:r>
              <a:t>Aims: This study aims to investigate the dynamic changes of gut microbiome-metabolome in diffuse large B-cell lymphoma.</a:t>
            </a:r>
          </a:p>
          <a:p>
            <a:pPr>
              <a:lnSpc>
                <a:spcPct val="103000"/>
              </a:lnSpc>
              <a:spcAft>
                <a:spcPts val="300"/>
              </a:spcAft>
              <a:defRPr sz="570">
                <a:solidFill>
                  <a:srgbClr val="21242A"/>
                </a:solidFill>
                <a:latin typeface="Microsoft YaHei"/>
              </a:defRPr>
            </a:pPr>
            <a:r>
              <a:t>Methods: This study compared fecal gut microbiota samples from 9 patients with DLBCL at initial diagnosis, samples from these patients after achieving complete </a:t>
            </a:r>
          </a:p>
          <a:p>
            <a:pPr>
              <a:lnSpc>
                <a:spcPct val="103000"/>
              </a:lnSpc>
              <a:spcAft>
                <a:spcPts val="300"/>
              </a:spcAft>
              <a:defRPr sz="570">
                <a:solidFill>
                  <a:srgbClr val="21242A"/>
                </a:solidFill>
                <a:latin typeface="Microsoft YaHei"/>
              </a:defRPr>
            </a:pPr>
            <a:r>
              <a:t>remission (CR) through standard first-line chemotherapy, and samples from their healthy cohabitants living in the same environment as the patients.</a:t>
            </a:r>
          </a:p>
          <a:p>
            <a:pPr>
              <a:lnSpc>
                <a:spcPct val="103000"/>
              </a:lnSpc>
              <a:spcAft>
                <a:spcPts val="300"/>
              </a:spcAft>
              <a:defRPr sz="570">
                <a:solidFill>
                  <a:srgbClr val="21242A"/>
                </a:solidFill>
                <a:latin typeface="Microsoft YaHei"/>
              </a:defRPr>
            </a:pPr>
            <a:r>
              <a:t>Differences in microbial composition and metabolic pathways among the 3 groups were investigated through metagenomic and metabolomic analysis.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study demonstrates the dynamic remodeling of gut microbiota mediated by disease and treatment in DLBCL patients, supporting the characteristic dysbiosis an</a:t>
            </a:r>
          </a:p>
          <a:p>
            <a:pPr>
              <a:lnSpc>
                <a:spcPct val="103000"/>
              </a:lnSpc>
              <a:spcAft>
                <a:spcPts val="300"/>
              </a:spcAft>
              <a:defRPr sz="590">
                <a:solidFill>
                  <a:srgbClr val="21242A"/>
                </a:solidFill>
                <a:latin typeface="Microsoft YaHei"/>
              </a:defRPr>
            </a:pPr>
            <a:r>
              <a:t>d metabolic disorders of gut microbiota in untreated newly diagnosed DLBCL patients.</a:t>
            </a:r>
          </a:p>
          <a:p>
            <a:pPr>
              <a:lnSpc>
                <a:spcPct val="103000"/>
              </a:lnSpc>
              <a:spcAft>
                <a:spcPts val="300"/>
              </a:spcAft>
              <a:defRPr sz="590">
                <a:solidFill>
                  <a:srgbClr val="21242A"/>
                </a:solidFill>
                <a:latin typeface="Microsoft YaHei"/>
              </a:defRPr>
            </a:pPr>
            <a:r>
              <a:t>After achieving complete remission through standard first-line chemotherapy, the gut microbiota structure of patients approximates the state of their healthy co</a:t>
            </a:r>
          </a:p>
          <a:p>
            <a:pPr>
              <a:lnSpc>
                <a:spcPct val="103000"/>
              </a:lnSpc>
              <a:spcAft>
                <a:spcPts val="300"/>
              </a:spcAft>
              <a:defRPr sz="590">
                <a:solidFill>
                  <a:srgbClr val="21242A"/>
                </a:solidFill>
                <a:latin typeface="Microsoft YaHei"/>
              </a:defRPr>
            </a:pPr>
            <a:r>
              <a:t>habitants.</a:t>
            </a:r>
          </a:p>
          <a:p>
            <a:pPr>
              <a:lnSpc>
                <a:spcPct val="103000"/>
              </a:lnSpc>
              <a:spcAft>
                <a:spcPts val="300"/>
              </a:spcAft>
              <a:defRPr sz="590">
                <a:solidFill>
                  <a:srgbClr val="21242A"/>
                </a:solidFill>
                <a:latin typeface="Microsoft YaHei"/>
              </a:defRPr>
            </a:pPr>
            <a:r>
              <a:t>These findings characterize the changes in gut microbiota during the course of DLBCL, suggesting potential insights for the study of the pathogenesis of DLBCL a</a:t>
            </a:r>
          </a:p>
          <a:p>
            <a:pPr>
              <a:lnSpc>
                <a:spcPct val="103000"/>
              </a:lnSpc>
              <a:spcAft>
                <a:spcPts val="300"/>
              </a:spcAft>
              <a:defRPr sz="590">
                <a:solidFill>
                  <a:srgbClr val="21242A"/>
                </a:solidFill>
                <a:latin typeface="Microsoft YaHei"/>
              </a:defRPr>
            </a:pPr>
            <a:r>
              <a:t>nd the development of new therapies.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肠道微生物多样性</a:t>
                      </a:r>
                    </a:p>
                  </a:txBody>
                  <a:tcPr>
                    <a:solidFill>
                      <a:srgbClr val="F6F8FB"/>
                    </a:solidFill>
                  </a:tcPr>
                </a:tc>
                <a:tc>
                  <a:txBody>
                    <a:bodyPr wrap="square" lIns="36576" rIns="36576" tIns="18288" bIns="18288"/>
                    <a:lstStyle/>
                    <a:p>
                      <a:r>
                        <a:rPr sz="540" b="0">
                          <a:solidFill>
                            <a:srgbClr val="21242A"/>
                          </a:solidFill>
                          <a:latin typeface="Microsoft YaHei"/>
                        </a:rPr>
                        <a:t>新诊断患者显著降低（更少的独有基因，受损的稳定性）</a:t>
                      </a:r>
                    </a:p>
                  </a:txBody>
                  <a:tcPr>
                    <a:solidFill>
                      <a:srgbClr val="F6F8FB"/>
                    </a:solidFill>
                  </a:tcPr>
                </a:tc>
              </a:tr>
              <a:tr h="299923">
                <a:tc>
                  <a:txBody>
                    <a:bodyPr wrap="square" lIns="36576" rIns="36576" tIns="18288" bIns="18288"/>
                    <a:lstStyle/>
                    <a:p>
                      <a:r>
                        <a:rPr sz="540" b="1">
                          <a:solidFill>
                            <a:srgbClr val="21242A"/>
                          </a:solidFill>
                          <a:latin typeface="Microsoft YaHei"/>
                        </a:rPr>
                        <a:t>核心菌群失调</a:t>
                      </a:r>
                    </a:p>
                  </a:txBody>
                  <a:tcPr>
                    <a:solidFill>
                      <a:srgbClr val="FFFFFF"/>
                    </a:solidFill>
                  </a:tcPr>
                </a:tc>
                <a:tc>
                  <a:txBody>
                    <a:bodyPr wrap="square" lIns="36576" rIns="36576" tIns="18288" bIns="18288"/>
                    <a:lstStyle/>
                    <a:p>
                      <a:r>
                        <a:rPr sz="540" b="0">
                          <a:solidFill>
                            <a:srgbClr val="21242A"/>
                          </a:solidFill>
                          <a:latin typeface="Microsoft YaHei"/>
                        </a:rPr>
                        <a:t>新诊断患者拟杆菌门相对丰度升高（46.3%），厚壁菌门及其衍生分类群减少（Clostridia, Clostridiales, Lachnospiraceae, Eubacteriaceae）</a:t>
                      </a:r>
                    </a:p>
                  </a:txBody>
                  <a:tcPr>
                    <a:solidFill>
                      <a:srgbClr val="FFFFFF"/>
                    </a:solidFill>
                  </a:tcPr>
                </a:tc>
              </a:tr>
              <a:tr h="299923">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有益产短链脂肪酸菌属（Blautia, Roseburia, Ruminococcus）减少，厚壁菌门/拟杆菌门比值降低——这些在完全缓解后恢复</a:t>
                      </a:r>
                    </a:p>
                  </a:txBody>
                  <a:tcPr>
                    <a:solidFill>
                      <a:srgbClr val="F6F8FB"/>
                    </a:solidFill>
                  </a:tcPr>
                </a:tc>
              </a:tr>
              <a:tr h="299924">
                <a:tc>
                  <a:txBody>
                    <a:bodyPr wrap="square" lIns="36576" rIns="36576" tIns="18288" bIns="18288"/>
                    <a:lstStyle/>
                    <a:p>
                      <a:r>
                        <a:rPr sz="540" b="1">
                          <a:solidFill>
                            <a:srgbClr val="21242A"/>
                          </a:solidFill>
                          <a:latin typeface="Microsoft YaHei"/>
                        </a:rPr>
                        <a:t>代谢通路</a:t>
                      </a:r>
                    </a:p>
                  </a:txBody>
                  <a:tcPr>
                    <a:solidFill>
                      <a:srgbClr val="FFFFFF"/>
                    </a:solidFill>
                  </a:tcPr>
                </a:tc>
                <a:tc>
                  <a:txBody>
                    <a:bodyPr wrap="square" lIns="36576" rIns="36576" tIns="18288" bIns="18288"/>
                    <a:lstStyle/>
                    <a:p>
                      <a:r>
                        <a:rPr sz="540" b="0">
                          <a:solidFill>
                            <a:srgbClr val="21242A"/>
                          </a:solidFill>
                          <a:latin typeface="Microsoft YaHei"/>
                        </a:rPr>
                        <a:t>新诊断患者中功能K06147（细菌ATP结合盒B亚家族）降低，功能K03088（RNA聚合酶sigma-70因子ECF亚家族）和K21572（淀粉结合外膜蛋白SusD/RagB家族）升高</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前瞻性研究：亚洲、欧洲和美国dlbcl患者静脉血栓栓塞风险模型分层的国际现实队列研究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predic-to study: an international, real-world cohort study of venous thro...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N=1504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回顾性临床研究结果：the predic-to study: an international, real-world coh...</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VTE发生率：14.6%（219/1504）</a:t>
            </a:r>
          </a:p>
          <a:p>
            <a:pPr>
              <a:lnSpc>
                <a:spcPct val="103000"/>
              </a:lnSpc>
              <a:spcAft>
                <a:spcPts val="300"/>
              </a:spcAft>
              <a:defRPr sz="800">
                <a:solidFill>
                  <a:srgbClr val="21242A"/>
                </a:solidFill>
                <a:latin typeface="Microsoft YaHei"/>
              </a:defRPr>
            </a:pPr>
            <a:r>
              <a:t>1年累积发病率：3.3%（95% CI 2.4-4.2）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人数：1504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登记号：NCT06694779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研究主题：the predic-to study: an international, real-world cohort study of venous thromboembolism risk model stratification in d...</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前瞻性研究：亚洲、欧洲和美国dlbcl患者静脉血栓栓塞风险模型分层的国际现实队列研究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predic-to study: an international, real-world cohort study of venous thro...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Venous thromboembolism (VTE) represents a major cause of morbidity and mortality in diffuse large B-cell lymphoma (DLBCL).</a:t>
            </a:r>
          </a:p>
          <a:p>
            <a:pPr>
              <a:lnSpc>
                <a:spcPct val="103000"/>
              </a:lnSpc>
              <a:spcAft>
                <a:spcPts val="300"/>
              </a:spcAft>
              <a:defRPr sz="570">
                <a:solidFill>
                  <a:srgbClr val="21242A"/>
                </a:solidFill>
                <a:latin typeface="Microsoft YaHei"/>
              </a:defRPr>
            </a:pPr>
            <a:r>
              <a:t>Several predictive models, Khorana, ThroLy, and Model IX were developed to stratify thrombotic risk, yet their comparative performance in a DLBCL-exclusive popu</a:t>
            </a:r>
          </a:p>
          <a:p>
            <a:pPr>
              <a:lnSpc>
                <a:spcPct val="103000"/>
              </a:lnSpc>
              <a:spcAft>
                <a:spcPts val="300"/>
              </a:spcAft>
              <a:defRPr sz="570">
                <a:solidFill>
                  <a:srgbClr val="21242A"/>
                </a:solidFill>
                <a:latin typeface="Microsoft YaHei"/>
              </a:defRPr>
            </a:pPr>
            <a:r>
              <a:t>lation remains unclear.</a:t>
            </a:r>
          </a:p>
          <a:p>
            <a:pPr>
              <a:lnSpc>
                <a:spcPct val="103000"/>
              </a:lnSpc>
              <a:spcAft>
                <a:spcPts val="300"/>
              </a:spcAft>
              <a:defRPr sz="570">
                <a:solidFill>
                  <a:srgbClr val="21242A"/>
                </a:solidFill>
                <a:latin typeface="Microsoft YaHei"/>
              </a:defRPr>
            </a:pPr>
            <a:r>
              <a:t>Aims: To comparatively assess the discriminative performance of Khorana, ThroLy, Model IX, and R-IPI for VTE occurrence and overall survival (OS) in a large, re</a:t>
            </a:r>
          </a:p>
          <a:p>
            <a:pPr>
              <a:lnSpc>
                <a:spcPct val="103000"/>
              </a:lnSpc>
              <a:spcAft>
                <a:spcPts val="300"/>
              </a:spcAft>
              <a:defRPr sz="570">
                <a:solidFill>
                  <a:srgbClr val="21242A"/>
                </a:solidFill>
                <a:latin typeface="Microsoft YaHei"/>
              </a:defRPr>
            </a:pPr>
            <a:r>
              <a:t>al-world, international DLBCL cohort.</a:t>
            </a:r>
          </a:p>
          <a:p>
            <a:pPr>
              <a:lnSpc>
                <a:spcPct val="103000"/>
              </a:lnSpc>
              <a:spcAft>
                <a:spcPts val="300"/>
              </a:spcAft>
              <a:defRPr sz="570">
                <a:solidFill>
                  <a:srgbClr val="21242A"/>
                </a:solidFill>
                <a:latin typeface="Microsoft YaHei"/>
              </a:defRPr>
            </a:pPr>
            <a:r>
              <a:t>Methods: We retrospectively analyzed 1,504 consecutive DLBCL patients diagnosed between 2004 and 2024 at two European, two Asian and one United States center (C</a:t>
            </a:r>
          </a:p>
          <a:p>
            <a:pPr>
              <a:lnSpc>
                <a:spcPct val="103000"/>
              </a:lnSpc>
              <a:spcAft>
                <a:spcPts val="300"/>
              </a:spcAft>
              <a:defRPr sz="570">
                <a:solidFill>
                  <a:srgbClr val="21242A"/>
                </a:solidFill>
                <a:latin typeface="Microsoft YaHei"/>
              </a:defRPr>
            </a:pPr>
            <a:r>
              <a:t>linicalTrials ID NCT06694779) .</a:t>
            </a:r>
          </a:p>
          <a:p>
            <a:pPr>
              <a:lnSpc>
                <a:spcPct val="103000"/>
              </a:lnSpc>
              <a:spcAft>
                <a:spcPts val="300"/>
              </a:spcAft>
              <a:defRPr sz="570">
                <a:solidFill>
                  <a:srgbClr val="21242A"/>
                </a:solidFill>
                <a:latin typeface="Microsoft YaHei"/>
              </a:defRPr>
            </a:pPr>
            <a:r>
              <a:t>VTE was defined as any objectively confirmed deep vein thrombosis or pulmonary embolism occurring after diagnosis.</a:t>
            </a:r>
          </a:p>
          <a:p>
            <a:pPr>
              <a:lnSpc>
                <a:spcPct val="103000"/>
              </a:lnSpc>
              <a:spcAft>
                <a:spcPts val="300"/>
              </a:spcAft>
              <a:defRPr sz="570">
                <a:solidFill>
                  <a:srgbClr val="21242A"/>
                </a:solidFill>
                <a:latin typeface="Microsoft YaHei"/>
              </a:defRPr>
            </a:pPr>
            <a:r>
              <a:t>Model performance was evaluated using Cox regression and Harrell’s concordance index (c-index) with bootstrap-based estimation of 95% confidence intervals.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VTE is a frequent early complication in DLBCL and is associated with inferior survival.</a:t>
            </a:r>
          </a:p>
          <a:p>
            <a:pPr>
              <a:lnSpc>
                <a:spcPct val="103000"/>
              </a:lnSpc>
              <a:spcAft>
                <a:spcPts val="300"/>
              </a:spcAft>
              <a:defRPr sz="590">
                <a:solidFill>
                  <a:srgbClr val="21242A"/>
                </a:solidFill>
                <a:latin typeface="Microsoft YaHei"/>
              </a:defRPr>
            </a:pPr>
            <a:r>
              <a:t>Model IX showed the best discrimination for VTE and outperformed the other models for OS, supporting its role as the most informative risk stratification tool i</a:t>
            </a:r>
          </a:p>
          <a:p>
            <a:pPr>
              <a:lnSpc>
                <a:spcPct val="103000"/>
              </a:lnSpc>
              <a:spcAft>
                <a:spcPts val="300"/>
              </a:spcAft>
              <a:defRPr sz="590">
                <a:solidFill>
                  <a:srgbClr val="21242A"/>
                </a:solidFill>
                <a:latin typeface="Microsoft YaHei"/>
              </a:defRPr>
            </a:pPr>
            <a:r>
              <a:t>n this setting.</a:t>
            </a:r>
          </a:p>
          <a:p>
            <a:pPr>
              <a:lnSpc>
                <a:spcPct val="103000"/>
              </a:lnSpc>
              <a:spcAft>
                <a:spcPts val="300"/>
              </a:spcAft>
              <a:defRPr sz="590">
                <a:solidFill>
                  <a:srgbClr val="21242A"/>
                </a:solidFill>
                <a:latin typeface="Microsoft YaHei"/>
              </a:defRPr>
            </a:pPr>
            <a:r>
              <a:t>* PC, CGP and IC contributed equally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VTE occurred in 219/1504 patients (14.6%), with a 1-year cumulative incidence of 3.3% (95% CI 2.4–4.2).</a:t>
            </a:r>
          </a:p>
          <a:p>
            <a:pPr>
              <a:lnSpc>
                <a:spcPct val="103000"/>
              </a:lnSpc>
              <a:spcAft>
                <a:spcPts val="300"/>
              </a:spcAft>
              <a:defRPr sz="580">
                <a:solidFill>
                  <a:srgbClr val="21242A"/>
                </a:solidFill>
                <a:latin typeface="Microsoft YaHei"/>
              </a:defRPr>
            </a:pPr>
            <a:r>
              <a:t>Median time to VTE was 72 days, confirming the early clustering of thrombotic events. VTE independently predicts inferior OS (38.5 vs 172.3 months).</a:t>
            </a:r>
          </a:p>
          <a:p>
            <a:pPr>
              <a:lnSpc>
                <a:spcPct val="103000"/>
              </a:lnSpc>
              <a:spcAft>
                <a:spcPts val="300"/>
              </a:spcAft>
              <a:defRPr sz="580">
                <a:solidFill>
                  <a:srgbClr val="21242A"/>
                </a:solidFill>
                <a:latin typeface="Microsoft YaHei"/>
              </a:defRPr>
            </a:pPr>
            <a:r>
              <a:t>In univariate analysis, hemoglobin (hb) level, leukocytosis, hypoalbuminemia, body mass index (BMI) &gt; 30, bulky disease, and deep vein compression, were si</a:t>
            </a:r>
          </a:p>
          <a:p>
            <a:pPr>
              <a:lnSpc>
                <a:spcPct val="103000"/>
              </a:lnSpc>
              <a:spcAft>
                <a:spcPts val="300"/>
              </a:spcAft>
              <a:defRPr sz="580">
                <a:solidFill>
                  <a:srgbClr val="21242A"/>
                </a:solidFill>
                <a:latin typeface="Microsoft YaHei"/>
              </a:defRPr>
            </a:pPr>
            <a:r>
              <a:t>gnificantly associated with increased VTE risk (p 30 (96.6%), hb level (92.8%), neutrophil count (77.9%), and R-IPI (65.8%), while higher albumin levels sh</a:t>
            </a:r>
          </a:p>
          <a:p>
            <a:pPr>
              <a:lnSpc>
                <a:spcPct val="103000"/>
              </a:lnSpc>
              <a:spcAft>
                <a:spcPts val="300"/>
              </a:spcAft>
              <a:defRPr sz="580">
                <a:solidFill>
                  <a:srgbClr val="21242A"/>
                </a:solidFill>
                <a:latin typeface="Microsoft YaHei"/>
              </a:defRPr>
            </a:pPr>
            <a:r>
              <a:t>owed a consistent protective association (96.1% negative selection).</a:t>
            </a:r>
          </a:p>
          <a:p>
            <a:pPr>
              <a:lnSpc>
                <a:spcPct val="103000"/>
              </a:lnSpc>
              <a:spcAft>
                <a:spcPts val="300"/>
              </a:spcAft>
              <a:defRPr sz="580">
                <a:solidFill>
                  <a:srgbClr val="21242A"/>
                </a:solidFill>
                <a:latin typeface="Microsoft YaHei"/>
              </a:defRPr>
            </a:pPr>
            <a:r>
              <a:t>These findings suggest residual multidimensional risk information in our cohort, not fully captured by the composite Model IX weighting.</a:t>
            </a:r>
          </a:p>
          <a:p>
            <a:pPr>
              <a:lnSpc>
                <a:spcPct val="103000"/>
              </a:lnSpc>
              <a:spcAft>
                <a:spcPts val="300"/>
              </a:spcAft>
              <a:defRPr sz="580">
                <a:solidFill>
                  <a:srgbClr val="21242A"/>
                </a:solidFill>
                <a:latin typeface="Microsoft YaHei"/>
              </a:defRPr>
            </a:pPr>
            <a:r>
              <a:t>Regarding OS prediction, Model IX again showed superior performance (c-index 0.67, 95% CI 0.65–0.69), outperforming ThroLy, R-IPI, and Khorana.</a:t>
            </a:r>
          </a:p>
          <a:p>
            <a:pPr>
              <a:lnSpc>
                <a:spcPct val="103000"/>
              </a:lnSpc>
              <a:spcAft>
                <a:spcPts val="300"/>
              </a:spcAft>
              <a:defRPr sz="580">
                <a:solidFill>
                  <a:srgbClr val="21242A"/>
                </a:solidFill>
                <a:latin typeface="Microsoft YaHei"/>
              </a:defRPr>
            </a:pPr>
            <a:r>
              <a:t>While R-IPI retained strong prognostic value for survival, its discriminatory ability for VTE was limited (see Tab. 1).</a:t>
            </a:r>
          </a:p>
          <a:p>
            <a:pPr>
              <a:lnSpc>
                <a:spcPct val="103000"/>
              </a:lnSpc>
              <a:spcAft>
                <a:spcPts val="300"/>
              </a:spcAft>
              <a:defRPr sz="580">
                <a:solidFill>
                  <a:srgbClr val="21242A"/>
                </a:solidFill>
                <a:latin typeface="Microsoft YaHei"/>
              </a:defRPr>
            </a:pPr>
            <a:r>
              <a:t>Conversely, VTE-oriented models, particularly Model IX, captured prognostic information relevant to both thrombotic risk and survival, highlighting a parti</a:t>
            </a:r>
          </a:p>
          <a:p>
            <a:pPr>
              <a:lnSpc>
                <a:spcPct val="103000"/>
              </a:lnSpc>
              <a:spcAft>
                <a:spcPts val="300"/>
              </a:spcAft>
              <a:defRPr sz="580">
                <a:solidFill>
                  <a:srgbClr val="21242A"/>
                </a:solidFill>
                <a:latin typeface="Microsoft YaHei"/>
              </a:defRPr>
            </a:pPr>
            <a:r>
              <a:t>al biological overlap between disease aggressiveness and thrombotic propensity.</a:t>
            </a:r>
          </a:p>
          <a:p>
            <a:pPr>
              <a:lnSpc>
                <a:spcPct val="103000"/>
              </a:lnSpc>
              <a:spcAft>
                <a:spcPts val="300"/>
              </a:spcAft>
              <a:defRPr sz="580">
                <a:solidFill>
                  <a:srgbClr val="21242A"/>
                </a:solidFill>
                <a:latin typeface="Microsoft YaHei"/>
              </a:defRPr>
            </a:pPr>
            <a:r>
              <a:t>Conclusion: VTE is a frequent early complication in DLBCL and is associated with inferior survival.</a:t>
            </a:r>
          </a:p>
          <a:p>
            <a:pPr>
              <a:lnSpc>
                <a:spcPct val="103000"/>
              </a:lnSpc>
              <a:spcAft>
                <a:spcPts val="300"/>
              </a:spcAft>
              <a:defRPr sz="580">
                <a:solidFill>
                  <a:srgbClr val="21242A"/>
                </a:solidFill>
                <a:latin typeface="Microsoft YaHei"/>
              </a:defRPr>
            </a:pPr>
            <a:r>
              <a:t>Model IX showed the best discrimination for VTE and outperformed the other models for OS, supporting its role as the most informative risk stratification t</a:t>
            </a:r>
          </a:p>
          <a:p>
            <a:pPr>
              <a:lnSpc>
                <a:spcPct val="103000"/>
              </a:lnSpc>
              <a:spcAft>
                <a:spcPts val="300"/>
              </a:spcAft>
              <a:defRPr sz="580">
                <a:solidFill>
                  <a:srgbClr val="21242A"/>
                </a:solidFill>
                <a:latin typeface="Microsoft YaHei"/>
              </a:defRPr>
            </a:pPr>
            <a:r>
              <a:t>ool in this setting.</a:t>
            </a:r>
          </a:p>
          <a:p>
            <a:pPr>
              <a:lnSpc>
                <a:spcPct val="103000"/>
              </a:lnSpc>
              <a:spcAft>
                <a:spcPts val="300"/>
              </a:spcAft>
              <a:defRPr sz="580">
                <a:solidFill>
                  <a:srgbClr val="21242A"/>
                </a:solidFill>
                <a:latin typeface="Microsoft YaHei"/>
              </a:defRPr>
            </a:pPr>
            <a:r>
              <a:t>* PC, CGP and IC contributed equally</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摘要号：PF1002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vedotin联合利妥昔单抗、异环磷酰胺、卡铂、依托泊苷（pola-r-ice）与r-ice作...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plus rituximab, ifosfamide, carboplatin, etoposide (pola-...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a:t>
            </a:r>
          </a:p>
          <a:p>
            <a:pPr>
              <a:lnSpc>
                <a:spcPct val="103000"/>
              </a:lnSpc>
              <a:spcAft>
                <a:spcPts val="300"/>
              </a:spcAft>
              <a:defRPr sz="800">
                <a:solidFill>
                  <a:srgbClr val="21242A"/>
                </a:solidFill>
                <a:latin typeface="Microsoft YaHei"/>
              </a:defRPr>
            </a:pPr>
            <a:r>
              <a:t>N=294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对照/比较：试验组：polatuzumab vedotin，rituximab，ifosfamide，carboplatin，...</a:t>
            </a:r>
          </a:p>
          <a:p>
            <a:pPr>
              <a:lnSpc>
                <a:spcPct val="103000"/>
              </a:lnSpc>
              <a:spcAft>
                <a:spcPts val="300"/>
              </a:spcAft>
              <a:defRPr sz="800">
                <a:solidFill>
                  <a:srgbClr val="21242A"/>
                </a:solidFill>
                <a:latin typeface="Microsoft YaHei"/>
              </a:defRPr>
            </a:pPr>
            <a:r>
              <a:t>对照组：rituximab，ifosfamide，carboplatin，etoposide</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2年EFS: 26% vs 30%, HR=1.0, p=0.901</a:t>
            </a:r>
          </a:p>
          <a:p>
            <a:pPr>
              <a:lnSpc>
                <a:spcPct val="103000"/>
              </a:lnSpc>
              <a:spcAft>
                <a:spcPts val="300"/>
              </a:spcAft>
              <a:defRPr sz="800">
                <a:solidFill>
                  <a:srgbClr val="21242A"/>
                </a:solidFill>
                <a:latin typeface="Microsoft YaHei"/>
              </a:defRPr>
            </a:pPr>
            <a:r>
              <a:t>2年PFS: 47% vs 41%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人数：294</a:t>
            </a:r>
          </a:p>
          <a:p>
            <a:pPr>
              <a:lnSpc>
                <a:spcPct val="103000"/>
              </a:lnSpc>
              <a:spcAft>
                <a:spcPts val="300"/>
              </a:spcAft>
              <a:defRPr sz="810">
                <a:solidFill>
                  <a:srgbClr val="21242A"/>
                </a:solidFill>
                <a:latin typeface="Microsoft YaHei"/>
              </a:defRPr>
            </a:pPr>
            <a:r>
              <a:t>适应症：弥漫性大B细胞淋巴瘤、原发纵隔大B细胞淋巴瘤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登记号：NCT04833114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vedotin联合利妥昔单抗、异环磷酰胺、卡铂、依托泊苷（pola-r-ice）与r-ice作...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plus rituximab, ifosfamide, carboplatin, etoposide (pola-...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R-ICE is one of the standard induction regimens prior to autologous stem cell transplantation (ASCT) in the treatment of patients (pts) with relapse</a:t>
            </a:r>
          </a:p>
          <a:p>
            <a:pPr>
              <a:lnSpc>
                <a:spcPct val="103000"/>
              </a:lnSpc>
              <a:spcAft>
                <a:spcPts val="300"/>
              </a:spcAft>
              <a:defRPr sz="570">
                <a:solidFill>
                  <a:srgbClr val="21242A"/>
                </a:solidFill>
                <a:latin typeface="Microsoft YaHei"/>
              </a:defRPr>
            </a:pPr>
            <a:r>
              <a:t>d and refractory (r/r) LBCL after first line therapy and is also used as bridging therapy prior to CAR T-cell therapy (CART) in this situation.</a:t>
            </a:r>
          </a:p>
          <a:p>
            <a:pPr>
              <a:lnSpc>
                <a:spcPct val="103000"/>
              </a:lnSpc>
              <a:spcAft>
                <a:spcPts val="300"/>
              </a:spcAft>
              <a:defRPr sz="570">
                <a:solidFill>
                  <a:srgbClr val="21242A"/>
                </a:solidFill>
                <a:latin typeface="Microsoft YaHei"/>
              </a:defRPr>
            </a:pPr>
            <a:r>
              <a:t>However, further improvement of induction and bridging regimens is needed.</a:t>
            </a:r>
          </a:p>
          <a:p>
            <a:pPr>
              <a:lnSpc>
                <a:spcPct val="103000"/>
              </a:lnSpc>
              <a:spcAft>
                <a:spcPts val="300"/>
              </a:spcAft>
              <a:defRPr sz="570">
                <a:solidFill>
                  <a:srgbClr val="21242A"/>
                </a:solidFill>
                <a:latin typeface="Microsoft YaHei"/>
              </a:defRPr>
            </a:pPr>
            <a:r>
              <a:t>Polatuzumab vedotin is a CD-79b directed antibody-drug conjugate with proven efficacy in r/r LBCL.</a:t>
            </a:r>
          </a:p>
          <a:p>
            <a:pPr>
              <a:lnSpc>
                <a:spcPct val="103000"/>
              </a:lnSpc>
              <a:spcAft>
                <a:spcPts val="300"/>
              </a:spcAft>
              <a:defRPr sz="570">
                <a:solidFill>
                  <a:srgbClr val="21242A"/>
                </a:solidFill>
                <a:latin typeface="Microsoft YaHei"/>
              </a:defRPr>
            </a:pPr>
            <a:r>
              <a:t>Aims: This open label, multinational, randomized phase III clinical study compared safety and efficacy of polatuzumab vedotin plus R-ICE (Pola-R-ICE; arm E) wit</a:t>
            </a:r>
          </a:p>
          <a:p>
            <a:pPr>
              <a:lnSpc>
                <a:spcPct val="103000"/>
              </a:lnSpc>
              <a:spcAft>
                <a:spcPts val="300"/>
              </a:spcAft>
              <a:defRPr sz="570">
                <a:solidFill>
                  <a:srgbClr val="21242A"/>
                </a:solidFill>
                <a:latin typeface="Microsoft YaHei"/>
              </a:defRPr>
            </a:pPr>
            <a:r>
              <a:t>h R-ICE (arm S).</a:t>
            </a:r>
          </a:p>
          <a:p>
            <a:pPr>
              <a:lnSpc>
                <a:spcPct val="103000"/>
              </a:lnSpc>
              <a:spcAft>
                <a:spcPts val="300"/>
              </a:spcAft>
              <a:defRPr sz="570">
                <a:solidFill>
                  <a:srgbClr val="21242A"/>
                </a:solidFill>
                <a:latin typeface="Microsoft YaHei"/>
              </a:defRPr>
            </a:pPr>
            <a:r>
              <a:t>Methods: Key inclusion criteria were diagnosis of first relapse or progression of LBCL, ECOG PS ≤ 2 and adequate organ function.</a:t>
            </a:r>
          </a:p>
          <a:p>
            <a:pPr>
              <a:lnSpc>
                <a:spcPct val="103000"/>
              </a:lnSpc>
              <a:spcAft>
                <a:spcPts val="300"/>
              </a:spcAft>
              <a:defRPr sz="570">
                <a:solidFill>
                  <a:srgbClr val="21242A"/>
                </a:solidFill>
                <a:latin typeface="Microsoft YaHei"/>
              </a:defRPr>
            </a:pPr>
            <a:r>
              <a:t>Pts in arm E received polatuzumab vedotin 1.8 mg/kg at d1, in addition to SOC R-ICE.</a:t>
            </a:r>
          </a:p>
          <a:p>
            <a:pPr>
              <a:lnSpc>
                <a:spcPct val="103000"/>
              </a:lnSpc>
              <a:spcAft>
                <a:spcPts val="300"/>
              </a:spcAft>
              <a:defRPr sz="570">
                <a:solidFill>
                  <a:srgbClr val="21242A"/>
                </a:solidFill>
                <a:latin typeface="Microsoft YaHei"/>
              </a:defRPr>
            </a:pPr>
            <a:r>
              <a:t>Pts went to consolidation therapy by ASCT or CART by decision of the investigator outside the clinical study.</a:t>
            </a:r>
          </a:p>
          <a:p>
            <a:pPr>
              <a:lnSpc>
                <a:spcPct val="103000"/>
              </a:lnSpc>
              <a:spcAft>
                <a:spcPts val="300"/>
              </a:spcAft>
              <a:defRPr sz="570">
                <a:solidFill>
                  <a:srgbClr val="21242A"/>
                </a:solidFill>
                <a:latin typeface="Microsoft YaHei"/>
              </a:defRPr>
            </a:pPr>
            <a:r>
              <a:t>The primary endpoint was event-free survival (EFS). Key secondary endpoints included progression-free survival (PFS) and overall survival (OS).</a:t>
            </a:r>
          </a:p>
          <a:p>
            <a:pPr>
              <a:lnSpc>
                <a:spcPct val="103000"/>
              </a:lnSpc>
              <a:spcAft>
                <a:spcPts val="300"/>
              </a:spcAft>
              <a:defRPr sz="570">
                <a:solidFill>
                  <a:srgbClr val="21242A"/>
                </a:solidFill>
                <a:latin typeface="Microsoft YaHei"/>
              </a:defRPr>
            </a:pPr>
            <a:r>
              <a:t>The threshold to reject the null hypothesis was a hazard ratio (HR) of 0.663 with a power of 80% and alpha 5% (two-sided).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study could not detect a benefit of applying Pola-R-ICE over R-ICE as second line treatment for pts with LBCL.</a:t>
            </a:r>
          </a:p>
          <a:p>
            <a:pPr>
              <a:lnSpc>
                <a:spcPct val="103000"/>
              </a:lnSpc>
              <a:spcAft>
                <a:spcPts val="300"/>
              </a:spcAft>
              <a:defRPr sz="590">
                <a:solidFill>
                  <a:srgbClr val="21242A"/>
                </a:solidFill>
                <a:latin typeface="Microsoft YaHei"/>
              </a:defRPr>
            </a:pPr>
            <a:r>
              <a:t>However, pts with DLBCL, relapsed disease (in contrast to those with primary refractory disease) and those with high tumour burden (bulky disease, high LDH) may</a:t>
            </a:r>
          </a:p>
          <a:p>
            <a:pPr>
              <a:lnSpc>
                <a:spcPct val="103000"/>
              </a:lnSpc>
              <a:spcAft>
                <a:spcPts val="300"/>
              </a:spcAft>
              <a:defRPr sz="590">
                <a:solidFill>
                  <a:srgbClr val="21242A"/>
                </a:solidFill>
                <a:latin typeface="Microsoft YaHei"/>
              </a:defRPr>
            </a:pPr>
            <a:r>
              <a:t> clinically benefit from Pola-R-ICE instead of R-ICE when given prior to consolidative therapy with ASCT or CART.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15355">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15355">
                <a:tc>
                  <a:txBody>
                    <a:bodyPr wrap="square" lIns="36576" rIns="36576" tIns="18288" bIns="18288"/>
                    <a:lstStyle/>
                    <a:p>
                      <a:r>
                        <a:rPr sz="540" b="1">
                          <a:solidFill>
                            <a:srgbClr val="21242A"/>
                          </a:solidFill>
                          <a:latin typeface="Microsoft YaHei"/>
                        </a:rPr>
                        <a:t>2年EFS</a:t>
                      </a:r>
                    </a:p>
                  </a:txBody>
                  <a:tcPr>
                    <a:solidFill>
                      <a:srgbClr val="F6F8FB"/>
                    </a:solidFill>
                  </a:tcPr>
                </a:tc>
                <a:tc>
                  <a:txBody>
                    <a:bodyPr wrap="square" lIns="36576" rIns="36576" tIns="18288" bIns="18288"/>
                    <a:lstStyle/>
                    <a:p>
                      <a:r>
                        <a:rPr sz="540" b="0">
                          <a:solidFill>
                            <a:srgbClr val="21242A"/>
                          </a:solidFill>
                          <a:latin typeface="Microsoft YaHei"/>
                        </a:rPr>
                        <a:t>26% vs 30%, HR=1.0, p=0.901</a:t>
                      </a:r>
                    </a:p>
                  </a:txBody>
                  <a:tcPr>
                    <a:solidFill>
                      <a:srgbClr val="F6F8FB"/>
                    </a:solidFill>
                  </a:tcPr>
                </a:tc>
              </a:tr>
              <a:tr h="115355">
                <a:tc>
                  <a:txBody>
                    <a:bodyPr wrap="square" lIns="36576" rIns="36576" tIns="18288" bIns="18288"/>
                    <a:lstStyle/>
                    <a:p>
                      <a:r>
                        <a:rPr sz="540" b="1">
                          <a:solidFill>
                            <a:srgbClr val="21242A"/>
                          </a:solidFill>
                          <a:latin typeface="Microsoft YaHei"/>
                        </a:rPr>
                        <a:t>2年PFS</a:t>
                      </a:r>
                    </a:p>
                  </a:txBody>
                  <a:tcPr>
                    <a:solidFill>
                      <a:srgbClr val="FFFFFF"/>
                    </a:solidFill>
                  </a:tcPr>
                </a:tc>
                <a:tc>
                  <a:txBody>
                    <a:bodyPr wrap="square" lIns="36576" rIns="36576" tIns="18288" bIns="18288"/>
                    <a:lstStyle/>
                    <a:p>
                      <a:r>
                        <a:rPr sz="540" b="0">
                          <a:solidFill>
                            <a:srgbClr val="21242A"/>
                          </a:solidFill>
                          <a:latin typeface="Microsoft YaHei"/>
                        </a:rPr>
                        <a:t>47% vs 41%</a:t>
                      </a:r>
                    </a:p>
                  </a:txBody>
                  <a:tcPr>
                    <a:solidFill>
                      <a:srgbClr val="FFFFFF"/>
                    </a:solidFill>
                  </a:tcPr>
                </a:tc>
              </a:tr>
              <a:tr h="115355">
                <a:tc>
                  <a:txBody>
                    <a:bodyPr wrap="square" lIns="36576" rIns="36576" tIns="18288" bIns="18288"/>
                    <a:lstStyle/>
                    <a:p>
                      <a:r>
                        <a:rPr sz="540" b="1">
                          <a:solidFill>
                            <a:srgbClr val="21242A"/>
                          </a:solidFill>
                          <a:latin typeface="Microsoft YaHei"/>
                        </a:rPr>
                        <a:t>2年OS</a:t>
                      </a:r>
                    </a:p>
                  </a:txBody>
                  <a:tcPr>
                    <a:solidFill>
                      <a:srgbClr val="F6F8FB"/>
                    </a:solidFill>
                  </a:tcPr>
                </a:tc>
                <a:tc>
                  <a:txBody>
                    <a:bodyPr wrap="square" lIns="36576" rIns="36576" tIns="18288" bIns="18288"/>
                    <a:lstStyle/>
                    <a:p>
                      <a:r>
                        <a:rPr sz="540" b="0">
                          <a:solidFill>
                            <a:srgbClr val="21242A"/>
                          </a:solidFill>
                          <a:latin typeface="Microsoft YaHei"/>
                        </a:rPr>
                        <a:t>75% vs 64%</a:t>
                      </a:r>
                    </a:p>
                  </a:txBody>
                  <a:tcPr>
                    <a:solidFill>
                      <a:srgbClr val="F6F8FB"/>
                    </a:solidFill>
                  </a:tcPr>
                </a:tc>
              </a:tr>
              <a:tr h="115355">
                <a:tc>
                  <a:txBody>
                    <a:bodyPr wrap="square" lIns="36576" rIns="36576" tIns="18288" bIns="18288"/>
                    <a:lstStyle/>
                    <a:p>
                      <a:r>
                        <a:rPr sz="540" b="1">
                          <a:solidFill>
                            <a:srgbClr val="21242A"/>
                          </a:solidFill>
                          <a:latin typeface="Microsoft YaHei"/>
                        </a:rPr>
                        <a:t>DLBCL亚组2年PFS</a:t>
                      </a:r>
                    </a:p>
                  </a:txBody>
                  <a:tcPr>
                    <a:solidFill>
                      <a:srgbClr val="FFFFFF"/>
                    </a:solidFill>
                  </a:tcPr>
                </a:tc>
                <a:tc>
                  <a:txBody>
                    <a:bodyPr wrap="square" lIns="36576" rIns="36576" tIns="18288" bIns="18288"/>
                    <a:lstStyle/>
                    <a:p>
                      <a:r>
                        <a:rPr sz="540" b="0">
                          <a:solidFill>
                            <a:srgbClr val="21242A"/>
                          </a:solidFill>
                          <a:latin typeface="Microsoft YaHei"/>
                        </a:rPr>
                        <a:t>52% vs 42%, p=0.040</a:t>
                      </a:r>
                    </a:p>
                  </a:txBody>
                  <a:tcPr>
                    <a:solidFill>
                      <a:srgbClr val="FFFFFF"/>
                    </a:solidFill>
                  </a:tcPr>
                </a:tc>
              </a:tr>
              <a:tr h="115355">
                <a:tc>
                  <a:txBody>
                    <a:bodyPr wrap="square" lIns="36576" rIns="36576" tIns="18288" bIns="18288"/>
                    <a:lstStyle/>
                    <a:p>
                      <a:r>
                        <a:rPr sz="540" b="1">
                          <a:solidFill>
                            <a:srgbClr val="21242A"/>
                          </a:solidFill>
                          <a:latin typeface="Microsoft YaHei"/>
                        </a:rPr>
                        <a:t>DLBCL亚组2年OS</a:t>
                      </a:r>
                    </a:p>
                  </a:txBody>
                  <a:tcPr>
                    <a:solidFill>
                      <a:srgbClr val="F6F8FB"/>
                    </a:solidFill>
                  </a:tcPr>
                </a:tc>
                <a:tc>
                  <a:txBody>
                    <a:bodyPr wrap="square" lIns="36576" rIns="36576" tIns="18288" bIns="18288"/>
                    <a:lstStyle/>
                    <a:p>
                      <a:r>
                        <a:rPr sz="540" b="0">
                          <a:solidFill>
                            <a:srgbClr val="21242A"/>
                          </a:solidFill>
                          <a:latin typeface="Microsoft YaHei"/>
                        </a:rPr>
                        <a:t>77% vs 61%, p=0.033</a:t>
                      </a:r>
                    </a:p>
                  </a:txBody>
                  <a:tcPr>
                    <a:solidFill>
                      <a:srgbClr val="F6F8FB"/>
                    </a:solidFill>
                  </a:tcPr>
                </a:tc>
              </a:tr>
              <a:tr h="115355">
                <a:tc>
                  <a:txBody>
                    <a:bodyPr wrap="square" lIns="36576" rIns="36576" tIns="18288" bIns="18288"/>
                    <a:lstStyle/>
                    <a:p>
                      <a:r>
                        <a:rPr sz="540" b="1">
                          <a:solidFill>
                            <a:srgbClr val="21242A"/>
                          </a:solidFill>
                          <a:latin typeface="Microsoft YaHei"/>
                        </a:rPr>
                        <a:t>复发疾病亚组2年PFS</a:t>
                      </a:r>
                    </a:p>
                  </a:txBody>
                  <a:tcPr>
                    <a:solidFill>
                      <a:srgbClr val="FFFFFF"/>
                    </a:solidFill>
                  </a:tcPr>
                </a:tc>
                <a:tc>
                  <a:txBody>
                    <a:bodyPr wrap="square" lIns="36576" rIns="36576" tIns="18288" bIns="18288"/>
                    <a:lstStyle/>
                    <a:p>
                      <a:r>
                        <a:rPr sz="540" b="0">
                          <a:solidFill>
                            <a:srgbClr val="21242A"/>
                          </a:solidFill>
                          <a:latin typeface="Microsoft YaHei"/>
                        </a:rPr>
                        <a:t>66% vs 46%, p=0.004</a:t>
                      </a:r>
                    </a:p>
                  </a:txBody>
                  <a:tcPr>
                    <a:solidFill>
                      <a:srgbClr val="FFFFFF"/>
                    </a:solidFill>
                  </a:tcPr>
                </a:tc>
              </a:tr>
              <a:tr h="115355">
                <a:tc>
                  <a:txBody>
                    <a:bodyPr wrap="square" lIns="36576" rIns="36576" tIns="18288" bIns="18288"/>
                    <a:lstStyle/>
                    <a:p>
                      <a:r>
                        <a:rPr sz="540" b="1">
                          <a:solidFill>
                            <a:srgbClr val="21242A"/>
                          </a:solidFill>
                          <a:latin typeface="Microsoft YaHei"/>
                        </a:rPr>
                        <a:t>复发疾病亚组2年OS</a:t>
                      </a:r>
                    </a:p>
                  </a:txBody>
                  <a:tcPr>
                    <a:solidFill>
                      <a:srgbClr val="F6F8FB"/>
                    </a:solidFill>
                  </a:tcPr>
                </a:tc>
                <a:tc>
                  <a:txBody>
                    <a:bodyPr wrap="square" lIns="36576" rIns="36576" tIns="18288" bIns="18288"/>
                    <a:lstStyle/>
                    <a:p>
                      <a:r>
                        <a:rPr sz="540" b="0">
                          <a:solidFill>
                            <a:srgbClr val="21242A"/>
                          </a:solidFill>
                          <a:latin typeface="Microsoft YaHei"/>
                        </a:rPr>
                        <a:t>87% vs 71%, p=0.015</a:t>
                      </a:r>
                    </a:p>
                  </a:txBody>
                  <a:tcPr>
                    <a:solidFill>
                      <a:srgbClr val="F6F8FB"/>
                    </a:solidFill>
                  </a:tcPr>
                </a:tc>
              </a:tr>
              <a:tr h="115355">
                <a:tc>
                  <a:txBody>
                    <a:bodyPr wrap="square" lIns="36576" rIns="36576" tIns="18288" bIns="18288"/>
                    <a:lstStyle/>
                    <a:p>
                      <a:r>
                        <a:rPr sz="540" b="1">
                          <a:solidFill>
                            <a:srgbClr val="21242A"/>
                          </a:solidFill>
                          <a:latin typeface="Microsoft YaHei"/>
                        </a:rPr>
                        <a:t>巨大肿块亚组2年PFS</a:t>
                      </a:r>
                    </a:p>
                  </a:txBody>
                  <a:tcPr>
                    <a:solidFill>
                      <a:srgbClr val="FFFFFF"/>
                    </a:solidFill>
                  </a:tcPr>
                </a:tc>
                <a:tc>
                  <a:txBody>
                    <a:bodyPr wrap="square" lIns="36576" rIns="36576" tIns="18288" bIns="18288"/>
                    <a:lstStyle/>
                    <a:p>
                      <a:r>
                        <a:rPr sz="540" b="0">
                          <a:solidFill>
                            <a:srgbClr val="21242A"/>
                          </a:solidFill>
                          <a:latin typeface="Microsoft YaHei"/>
                        </a:rPr>
                        <a:t>45% vs 23%, p=0.006</a:t>
                      </a:r>
                    </a:p>
                  </a:txBody>
                  <a:tcPr>
                    <a:solidFill>
                      <a:srgbClr val="FFFFFF"/>
                    </a:solidFill>
                  </a:tcPr>
                </a:tc>
              </a:tr>
              <a:tr h="115355">
                <a:tc>
                  <a:txBody>
                    <a:bodyPr wrap="square" lIns="36576" rIns="36576" tIns="18288" bIns="18288"/>
                    <a:lstStyle/>
                    <a:p>
                      <a:r>
                        <a:rPr sz="540" b="1">
                          <a:solidFill>
                            <a:srgbClr val="21242A"/>
                          </a:solidFill>
                          <a:latin typeface="Microsoft YaHei"/>
                        </a:rPr>
                        <a:t>巨大肿块亚组2年OS</a:t>
                      </a:r>
                    </a:p>
                  </a:txBody>
                  <a:tcPr>
                    <a:solidFill>
                      <a:srgbClr val="F6F8FB"/>
                    </a:solidFill>
                  </a:tcPr>
                </a:tc>
                <a:tc>
                  <a:txBody>
                    <a:bodyPr wrap="square" lIns="36576" rIns="36576" tIns="18288" bIns="18288"/>
                    <a:lstStyle/>
                    <a:p>
                      <a:r>
                        <a:rPr sz="540" b="0">
                          <a:solidFill>
                            <a:srgbClr val="21242A"/>
                          </a:solidFill>
                          <a:latin typeface="Microsoft YaHei"/>
                        </a:rPr>
                        <a:t>76% vs 39%, p=0.011</a:t>
                      </a:r>
                    </a:p>
                  </a:txBody>
                  <a:tcPr>
                    <a:solidFill>
                      <a:srgbClr val="F6F8FB"/>
                    </a:solidFill>
                  </a:tcPr>
                </a:tc>
              </a:tr>
              <a:tr h="115355">
                <a:tc>
                  <a:txBody>
                    <a:bodyPr wrap="square" lIns="36576" rIns="36576" tIns="18288" bIns="18288"/>
                    <a:lstStyle/>
                    <a:p>
                      <a:r>
                        <a:rPr sz="540" b="1">
                          <a:solidFill>
                            <a:srgbClr val="21242A"/>
                          </a:solidFill>
                          <a:latin typeface="Microsoft YaHei"/>
                        </a:rPr>
                        <a:t>高LDH亚组2年PFS</a:t>
                      </a:r>
                    </a:p>
                  </a:txBody>
                  <a:tcPr>
                    <a:solidFill>
                      <a:srgbClr val="FFFFFF"/>
                    </a:solidFill>
                  </a:tcPr>
                </a:tc>
                <a:tc>
                  <a:txBody>
                    <a:bodyPr wrap="square" lIns="36576" rIns="36576" tIns="18288" bIns="18288"/>
                    <a:lstStyle/>
                    <a:p>
                      <a:r>
                        <a:rPr sz="540" b="0">
                          <a:solidFill>
                            <a:srgbClr val="21242A"/>
                          </a:solidFill>
                          <a:latin typeface="Microsoft YaHei"/>
                        </a:rPr>
                        <a:t>44% vs 31%, p=0.034</a:t>
                      </a:r>
                    </a:p>
                  </a:txBody>
                  <a:tcPr>
                    <a:solidFill>
                      <a:srgbClr val="FFFFFF"/>
                    </a:solidFill>
                  </a:tcPr>
                </a:tc>
              </a:tr>
              <a:tr h="115355">
                <a:tc>
                  <a:txBody>
                    <a:bodyPr wrap="square" lIns="36576" rIns="36576" tIns="18288" bIns="18288"/>
                    <a:lstStyle/>
                    <a:p>
                      <a:r>
                        <a:rPr sz="540" b="1">
                          <a:solidFill>
                            <a:srgbClr val="21242A"/>
                          </a:solidFill>
                          <a:latin typeface="Microsoft YaHei"/>
                        </a:rPr>
                        <a:t>高LDH亚组2年OS</a:t>
                      </a:r>
                    </a:p>
                  </a:txBody>
                  <a:tcPr>
                    <a:solidFill>
                      <a:srgbClr val="F6F8FB"/>
                    </a:solidFill>
                  </a:tcPr>
                </a:tc>
                <a:tc>
                  <a:txBody>
                    <a:bodyPr wrap="square" lIns="36576" rIns="36576" tIns="18288" bIns="18288"/>
                    <a:lstStyle/>
                    <a:p>
                      <a:r>
                        <a:rPr sz="540" b="0">
                          <a:solidFill>
                            <a:srgbClr val="21242A"/>
                          </a:solidFill>
                          <a:latin typeface="Microsoft YaHei"/>
                        </a:rPr>
                        <a:t>67% vs 49%, p=0.036</a:t>
                      </a:r>
                    </a:p>
                  </a:txBody>
                  <a:tcPr>
                    <a:solidFill>
                      <a:srgbClr val="F6F8FB"/>
                    </a:solidFill>
                  </a:tcPr>
                </a:tc>
              </a:tr>
              <a:tr h="115356">
                <a:tc>
                  <a:txBody>
                    <a:bodyPr wrap="square" lIns="36576" rIns="36576" tIns="18288" bIns="18288"/>
                    <a:lstStyle/>
                    <a:p>
                      <a:r>
                        <a:rPr sz="540" b="1">
                          <a:solidFill>
                            <a:srgbClr val="21242A"/>
                          </a:solidFill>
                          <a:latin typeface="Microsoft YaHei"/>
                        </a:rPr>
                        <a:t>non-GCB亚组2年PFS</a:t>
                      </a:r>
                    </a:p>
                  </a:txBody>
                  <a:tcPr>
                    <a:solidFill>
                      <a:srgbClr val="FFFFFF"/>
                    </a:solidFill>
                  </a:tcPr>
                </a:tc>
                <a:tc>
                  <a:txBody>
                    <a:bodyPr wrap="square" lIns="36576" rIns="36576" tIns="18288" bIns="18288"/>
                    <a:lstStyle/>
                    <a:p>
                      <a:r>
                        <a:rPr sz="540" b="0">
                          <a:solidFill>
                            <a:srgbClr val="21242A"/>
                          </a:solidFill>
                          <a:latin typeface="Microsoft YaHei"/>
                        </a:rPr>
                        <a:t>54% vs 34%, p=0.040</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摘要号：S237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epcoritamab单药治疗持续缓解4年以上：复发或难治性大b细胞淋巴瘤患者关键epcore nhl-1试验的长期随...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sustained remissions beyond 4 years with epcoritamab monotherapy: long-term 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原发纵隔大B细胞淋巴瘤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总缓解率（ORR）：59%（92/157）</a:t>
            </a:r>
          </a:p>
          <a:p>
            <a:pPr>
              <a:lnSpc>
                <a:spcPct val="103000"/>
              </a:lnSpc>
              <a:spcAft>
                <a:spcPts val="300"/>
              </a:spcAft>
              <a:defRPr sz="800">
                <a:solidFill>
                  <a:srgbClr val="21242A"/>
                </a:solidFill>
                <a:latin typeface="Microsoft YaHei"/>
              </a:defRPr>
            </a:pPr>
            <a:r>
              <a:t>完全缓解率（CR）：41%（65/157）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人数：157</a:t>
            </a:r>
          </a:p>
          <a:p>
            <a:pPr>
              <a:lnSpc>
                <a:spcPct val="103000"/>
              </a:lnSpc>
              <a:spcAft>
                <a:spcPts val="300"/>
              </a:spcAft>
              <a:defRPr sz="810">
                <a:solidFill>
                  <a:srgbClr val="21242A"/>
                </a:solidFill>
                <a:latin typeface="Microsoft YaHei"/>
              </a:defRPr>
            </a:pPr>
            <a:r>
              <a:t>适应症：弥漫性大B细胞淋巴瘤、原发纵隔大B细胞淋巴瘤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登记号：NCT03625037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epcoritamab单药治疗持续缓解4年以上：复发或难治性大b细胞淋巴瘤患者关键epcore nhl-1试验的长期随...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sustained remissions beyond 4 years with epcoritamab monotherapy: long-term 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R/R LBCL is challenging to treat; there remains a need for more effective treatment (tx) options for patients (pts) with LBCL in third-line or later</a:t>
            </a:r>
          </a:p>
          <a:p>
            <a:pPr>
              <a:lnSpc>
                <a:spcPct val="103000"/>
              </a:lnSpc>
              <a:spcAft>
                <a:spcPts val="300"/>
              </a:spcAft>
              <a:defRPr sz="570">
                <a:solidFill>
                  <a:srgbClr val="21242A"/>
                </a:solidFill>
                <a:latin typeface="Microsoft YaHei"/>
              </a:defRPr>
            </a:pPr>
            <a:r>
              <a:t> (3L+).</a:t>
            </a:r>
          </a:p>
          <a:p>
            <a:pPr>
              <a:lnSpc>
                <a:spcPct val="103000"/>
              </a:lnSpc>
              <a:spcAft>
                <a:spcPts val="300"/>
              </a:spcAft>
              <a:defRPr sz="570">
                <a:solidFill>
                  <a:srgbClr val="21242A"/>
                </a:solidFill>
                <a:latin typeface="Microsoft YaHei"/>
              </a:defRPr>
            </a:pPr>
            <a:r>
              <a:t>Epcoritamab (epcor) is a subcutaneous (SC) CD3×CD20 bispecific antibody approved for the tx of adults with R/R LBCL or R/R FL after ≥ 2 lines of systemic therap</a:t>
            </a:r>
          </a:p>
          <a:p>
            <a:pPr>
              <a:lnSpc>
                <a:spcPct val="103000"/>
              </a:lnSpc>
              <a:spcAft>
                <a:spcPts val="300"/>
              </a:spcAft>
              <a:defRPr sz="570">
                <a:solidFill>
                  <a:srgbClr val="21242A"/>
                </a:solidFill>
                <a:latin typeface="Microsoft YaHei"/>
              </a:defRPr>
            </a:pPr>
            <a:r>
              <a:t>y, based on outcomes from the pivotal phase 2 EPCORE ® NHL-1 trial (NCT03625037), in which epcor monotherapy led to high CR rates and deep, durable responses wi</a:t>
            </a:r>
          </a:p>
          <a:p>
            <a:pPr>
              <a:lnSpc>
                <a:spcPct val="103000"/>
              </a:lnSpc>
              <a:spcAft>
                <a:spcPts val="300"/>
              </a:spcAft>
              <a:defRPr sz="570">
                <a:solidFill>
                  <a:srgbClr val="21242A"/>
                </a:solidFill>
                <a:latin typeface="Microsoft YaHei"/>
              </a:defRPr>
            </a:pPr>
            <a:r>
              <a:t>th manageable safety in pts with R/R LBCL.</a:t>
            </a:r>
          </a:p>
          <a:p>
            <a:pPr>
              <a:lnSpc>
                <a:spcPct val="103000"/>
              </a:lnSpc>
              <a:spcAft>
                <a:spcPts val="300"/>
              </a:spcAft>
              <a:defRPr sz="570">
                <a:solidFill>
                  <a:srgbClr val="21242A"/>
                </a:solidFill>
                <a:latin typeface="Microsoft YaHei"/>
              </a:defRPr>
            </a:pPr>
            <a:r>
              <a:t>Pivotal results have been reported previously (Vose JM, et al. Blood 2024;144[Suppl 1]:4480).</a:t>
            </a:r>
          </a:p>
          <a:p>
            <a:pPr>
              <a:lnSpc>
                <a:spcPct val="103000"/>
              </a:lnSpc>
              <a:spcAft>
                <a:spcPts val="300"/>
              </a:spcAft>
              <a:defRPr sz="570">
                <a:solidFill>
                  <a:srgbClr val="21242A"/>
                </a:solidFill>
                <a:latin typeface="Microsoft YaHei"/>
              </a:defRPr>
            </a:pPr>
            <a:r>
              <a:t>Aims: Here, we report updated data with an extended follow-up of over 4 years.</a:t>
            </a:r>
          </a:p>
          <a:p>
            <a:pPr>
              <a:lnSpc>
                <a:spcPct val="103000"/>
              </a:lnSpc>
              <a:spcAft>
                <a:spcPts val="300"/>
              </a:spcAft>
              <a:defRPr sz="570">
                <a:solidFill>
                  <a:srgbClr val="21242A"/>
                </a:solidFill>
                <a:latin typeface="Microsoft YaHei"/>
              </a:defRPr>
            </a:pPr>
            <a:r>
              <a:t>Methods: Adults with R/R CD20 + LBCL (including diffuse LBCL, high-grade B-cell lymphoma, primary mediastinal LBCL, and FL grade 3B) and ≥ 2 prior lines of syst</a:t>
            </a:r>
          </a:p>
          <a:p>
            <a:pPr>
              <a:lnSpc>
                <a:spcPct val="103000"/>
              </a:lnSpc>
              <a:spcAft>
                <a:spcPts val="300"/>
              </a:spcAft>
              <a:defRPr sz="570">
                <a:solidFill>
                  <a:srgbClr val="21242A"/>
                </a:solidFill>
                <a:latin typeface="Microsoft YaHei"/>
              </a:defRPr>
            </a:pPr>
            <a:r>
              <a:t>emic therapy were treated with SC epcor (0.16-mg and 0.8-mg step-up doses followed by 48-mg full doses) in 28-day cycles according to the approved dosing schedu</a:t>
            </a:r>
          </a:p>
          <a:p>
            <a:pPr>
              <a:lnSpc>
                <a:spcPct val="103000"/>
              </a:lnSpc>
              <a:spcAft>
                <a:spcPts val="300"/>
              </a:spcAft>
              <a:defRPr sz="570">
                <a:solidFill>
                  <a:srgbClr val="21242A"/>
                </a:solidFill>
                <a:latin typeface="Microsoft YaHei"/>
              </a:defRPr>
            </a:pPr>
            <a:r>
              <a:t>le: QW, cycles 1–3; Q2W, cycles 4–9; Q4W, cycles ≥ 10, until progressive disease or unacceptable toxicity.</a:t>
            </a:r>
          </a:p>
          <a:p>
            <a:pPr>
              <a:lnSpc>
                <a:spcPct val="103000"/>
              </a:lnSpc>
              <a:spcAft>
                <a:spcPts val="300"/>
              </a:spcAft>
              <a:defRPr sz="570">
                <a:solidFill>
                  <a:srgbClr val="21242A"/>
                </a:solidFill>
                <a:latin typeface="Microsoft YaHei"/>
              </a:defRPr>
            </a:pPr>
            <a:r>
              <a:t>The primary endpoint was ORR per Lugano criteria. Efficacy results presented here are based on investigators’ assessment. The data cutoff date was May 2, 2025.</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With more than 4 years of follow-up, epcor monotherapy continues to demonstrate deep and durable remissions.</a:t>
            </a:r>
          </a:p>
          <a:p>
            <a:pPr>
              <a:lnSpc>
                <a:spcPct val="103000"/>
              </a:lnSpc>
              <a:spcAft>
                <a:spcPts val="300"/>
              </a:spcAft>
              <a:defRPr sz="590">
                <a:solidFill>
                  <a:srgbClr val="21242A"/>
                </a:solidFill>
                <a:latin typeface="Microsoft YaHei"/>
              </a:defRPr>
            </a:pPr>
            <a:r>
              <a:t>Nearly half (42%) of all complete responders remained in remission after more than 4 years of median follow-up and 57% remained alive, demonstrating the potenti</a:t>
            </a:r>
          </a:p>
          <a:p>
            <a:pPr>
              <a:lnSpc>
                <a:spcPct val="103000"/>
              </a:lnSpc>
              <a:spcAft>
                <a:spcPts val="300"/>
              </a:spcAft>
              <a:defRPr sz="590">
                <a:solidFill>
                  <a:srgbClr val="21242A"/>
                </a:solidFill>
                <a:latin typeface="Microsoft YaHei"/>
              </a:defRPr>
            </a:pPr>
            <a:r>
              <a:t>al for long-term disease-free survival with epcor in this population with difficult-to-treat LBCL.</a:t>
            </a:r>
          </a:p>
          <a:p>
            <a:pPr>
              <a:lnSpc>
                <a:spcPct val="103000"/>
              </a:lnSpc>
              <a:spcAft>
                <a:spcPts val="300"/>
              </a:spcAft>
              <a:defRPr sz="590">
                <a:solidFill>
                  <a:srgbClr val="21242A"/>
                </a:solidFill>
                <a:latin typeface="Microsoft YaHei"/>
              </a:defRPr>
            </a:pPr>
            <a:r>
              <a:t>The consistent safety profile and prolonged survival benefit highlight epcor as a favorable chemotherapy-free, readily available tx option in the 3L+ LBCL tx se</a:t>
            </a:r>
          </a:p>
          <a:p>
            <a:pPr>
              <a:lnSpc>
                <a:spcPct val="103000"/>
              </a:lnSpc>
              <a:spcAft>
                <a:spcPts val="300"/>
              </a:spcAft>
              <a:defRPr sz="590">
                <a:solidFill>
                  <a:srgbClr val="21242A"/>
                </a:solidFill>
                <a:latin typeface="Microsoft YaHei"/>
              </a:defRPr>
            </a:pPr>
            <a:r>
              <a:t>tting.</a:t>
            </a:r>
          </a:p>
          <a:p>
            <a:pPr>
              <a:lnSpc>
                <a:spcPct val="103000"/>
              </a:lnSpc>
              <a:spcAft>
                <a:spcPts val="300"/>
              </a:spcAft>
              <a:defRPr sz="590">
                <a:solidFill>
                  <a:srgbClr val="21242A"/>
                </a:solidFill>
                <a:latin typeface="Microsoft YaHei"/>
              </a:defRPr>
            </a:pPr>
            <a:r>
              <a:t>© American Society of Hematology (2025). Reused with permission.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59%（92/157）</a:t>
                      </a:r>
                    </a:p>
                  </a:txBody>
                  <a:tcPr>
                    <a:solidFill>
                      <a:srgbClr val="F6F8FB"/>
                    </a:solidFill>
                  </a:tcPr>
                </a:tc>
              </a:tr>
              <a:tr h="214230">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41%（65/157）</a:t>
                      </a:r>
                    </a:p>
                  </a:txBody>
                  <a:tcPr>
                    <a:solidFill>
                      <a:srgbClr val="FFFFFF"/>
                    </a:solidFill>
                  </a:tcPr>
                </a:tc>
              </a:tr>
              <a:tr h="214230">
                <a:tc>
                  <a:txBody>
                    <a:bodyPr wrap="square" lIns="36576" rIns="36576" tIns="18288" bIns="18288"/>
                    <a:lstStyle/>
                    <a:p>
                      <a:r>
                        <a:rPr sz="540" b="1">
                          <a:solidFill>
                            <a:srgbClr val="21242A"/>
                          </a:solidFill>
                          <a:latin typeface="Microsoft YaHei"/>
                        </a:rPr>
                        <a:t>中位完全缓解持续时间</a:t>
                      </a:r>
                    </a:p>
                  </a:txBody>
                  <a:tcPr>
                    <a:solidFill>
                      <a:srgbClr val="F6F8FB"/>
                    </a:solidFill>
                  </a:tcPr>
                </a:tc>
                <a:tc>
                  <a:txBody>
                    <a:bodyPr wrap="square" lIns="36576" rIns="36576" tIns="18288" bIns="18288"/>
                    <a:lstStyle/>
                    <a:p>
                      <a:r>
                        <a:rPr sz="540" b="0">
                          <a:solidFill>
                            <a:srgbClr val="21242A"/>
                          </a:solidFill>
                          <a:latin typeface="Microsoft YaHei"/>
                        </a:rPr>
                        <a:t>37.7个月（95% CI 25.1-NR）</a:t>
                      </a:r>
                    </a:p>
                  </a:txBody>
                  <a:tcPr>
                    <a:solidFill>
                      <a:srgbClr val="F6F8FB"/>
                    </a:solidFill>
                  </a:tcPr>
                </a:tc>
              </a:tr>
              <a:tr h="214230">
                <a:tc>
                  <a:txBody>
                    <a:bodyPr wrap="square" lIns="36576" rIns="36576" tIns="18288" bIns="18288"/>
                    <a:lstStyle/>
                    <a:p>
                      <a:r>
                        <a:rPr sz="540" b="1">
                          <a:solidFill>
                            <a:srgbClr val="21242A"/>
                          </a:solidFill>
                          <a:latin typeface="Microsoft YaHei"/>
                        </a:rPr>
                        <a:t>最长持续完全缓解</a:t>
                      </a:r>
                    </a:p>
                  </a:txBody>
                  <a:tcPr>
                    <a:solidFill>
                      <a:srgbClr val="FFFFFF"/>
                    </a:solidFill>
                  </a:tcPr>
                </a:tc>
                <a:tc>
                  <a:txBody>
                    <a:bodyPr wrap="square" lIns="36576" rIns="36576" tIns="18288" bIns="18288"/>
                    <a:lstStyle/>
                    <a:p>
                      <a:r>
                        <a:rPr sz="540" b="0">
                          <a:solidFill>
                            <a:srgbClr val="21242A"/>
                          </a:solidFill>
                          <a:latin typeface="Microsoft YaHei"/>
                        </a:rPr>
                        <a:t>54.5个月</a:t>
                      </a:r>
                    </a:p>
                  </a:txBody>
                  <a:tcPr>
                    <a:solidFill>
                      <a:srgbClr val="FFFFFF"/>
                    </a:solidFill>
                  </a:tcPr>
                </a:tc>
              </a:tr>
              <a:tr h="214230">
                <a:tc>
                  <a:txBody>
                    <a:bodyPr wrap="square" lIns="36576" rIns="36576" tIns="18288" bIns="18288"/>
                    <a:lstStyle/>
                    <a:p>
                      <a:r>
                        <a:rPr sz="540" b="1">
                          <a:solidFill>
                            <a:srgbClr val="21242A"/>
                          </a:solidFill>
                          <a:latin typeface="Microsoft YaHei"/>
                        </a:rPr>
                        <a:t>中位总生存期（OS）</a:t>
                      </a:r>
                    </a:p>
                  </a:txBody>
                  <a:tcPr>
                    <a:solidFill>
                      <a:srgbClr val="F6F8FB"/>
                    </a:solidFill>
                  </a:tcPr>
                </a:tc>
                <a:tc>
                  <a:txBody>
                    <a:bodyPr wrap="square" lIns="36576" rIns="36576" tIns="18288" bIns="18288"/>
                    <a:lstStyle/>
                    <a:p>
                      <a:r>
                        <a:rPr sz="540" b="0">
                          <a:solidFill>
                            <a:srgbClr val="21242A"/>
                          </a:solidFill>
                          <a:latin typeface="Microsoft YaHei"/>
                        </a:rPr>
                        <a:t>18.5个月（95% CI 11.7-27.7）</a:t>
                      </a:r>
                    </a:p>
                  </a:txBody>
                  <a:tcPr>
                    <a:solidFill>
                      <a:srgbClr val="F6F8FB"/>
                    </a:solidFill>
                  </a:tcPr>
                </a:tc>
              </a:tr>
              <a:tr h="214236">
                <a:tc>
                  <a:txBody>
                    <a:bodyPr wrap="square" lIns="36576" rIns="36576" tIns="18288" bIns="18288"/>
                    <a:lstStyle/>
                    <a:p>
                      <a:r>
                        <a:rPr sz="540" b="1">
                          <a:solidFill>
                            <a:srgbClr val="21242A"/>
                          </a:solidFill>
                          <a:latin typeface="Microsoft YaHei"/>
                        </a:rPr>
                        <a:t>4年总生存率</a:t>
                      </a:r>
                    </a:p>
                  </a:txBody>
                  <a:tcPr>
                    <a:solidFill>
                      <a:srgbClr val="FFFFFF"/>
                    </a:solidFill>
                  </a:tcPr>
                </a:tc>
                <a:tc>
                  <a:txBody>
                    <a:bodyPr wrap="square" lIns="36576" rIns="36576" tIns="18288" bIns="18288"/>
                    <a:lstStyle/>
                    <a:p>
                      <a:r>
                        <a:rPr sz="540" b="0">
                          <a:solidFill>
                            <a:srgbClr val="21242A"/>
                          </a:solidFill>
                          <a:latin typeface="Microsoft YaHei"/>
                        </a:rPr>
                        <a:t>全部患者32%，CR患者57%</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摘要号：PF977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双靶向cd19/cd20 car t细胞候选产物rondecabtagene自溶素治疗大b细胞淋巴瘤患者的低级别crs...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low-grade crs and icans with rondecabtagene autoleucel, a dual-targeting cd19...</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弥漫性大B细胞淋巴瘤，原发纵隔大B细胞淋巴瘤，大B细胞淋巴瘤</a:t>
            </a:r>
          </a:p>
          <a:p>
            <a:pPr>
              <a:lnSpc>
                <a:spcPct val="103000"/>
              </a:lnSpc>
              <a:spcAft>
                <a:spcPts val="300"/>
              </a:spcAft>
              <a:defRPr sz="800">
                <a:solidFill>
                  <a:srgbClr val="21242A"/>
                </a:solidFill>
                <a:latin typeface="Microsoft YaHei"/>
              </a:defRPr>
            </a:pPr>
            <a:r>
              <a:t>原发纵隔大B细胞淋巴瘤，弥漫性大B细胞淋巴瘤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试验药/方案：朗迪卡基奥仑赛</a:t>
            </a:r>
          </a:p>
          <a:p>
            <a:pPr>
              <a:lnSpc>
                <a:spcPct val="103000"/>
              </a:lnSpc>
              <a:spcAft>
                <a:spcPts val="300"/>
              </a:spcAft>
              <a:defRPr sz="800">
                <a:solidFill>
                  <a:srgbClr val="21242A"/>
                </a:solidFill>
                <a:latin typeface="Microsoft YaHei"/>
              </a:defRPr>
            </a:pPr>
            <a:r>
              <a:t>靶点：CD19，CD20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 1-2级发生率60%（1级36%，2级24%），无≥3级</a:t>
            </a:r>
          </a:p>
          <a:p>
            <a:pPr>
              <a:lnSpc>
                <a:spcPct val="103000"/>
              </a:lnSpc>
              <a:spcAft>
                <a:spcPts val="300"/>
              </a:spcAft>
              <a:defRPr sz="800">
                <a:solidFill>
                  <a:srgbClr val="21242A"/>
                </a:solidFill>
                <a:latin typeface="Microsoft YaHei"/>
              </a:defRPr>
            </a:pPr>
            <a:r>
              <a:t>CRS中位起病时间5天，中位缓解时间3天</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人数：84</a:t>
            </a:r>
          </a:p>
          <a:p>
            <a:pPr>
              <a:lnSpc>
                <a:spcPct val="103000"/>
              </a:lnSpc>
              <a:spcAft>
                <a:spcPts val="300"/>
              </a:spcAft>
              <a:defRPr sz="810">
                <a:solidFill>
                  <a:srgbClr val="21242A"/>
                </a:solidFill>
                <a:latin typeface="Microsoft YaHei"/>
              </a:defRPr>
            </a:pPr>
            <a:r>
              <a:t>适应症：弥漫性大B细胞淋巴瘤、原发纵隔大B细胞淋巴瘤、大B细胞淋巴瘤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登记号：NCT05826535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试验药/方案：朗迪卡基奥仑赛</a:t>
            </a:r>
          </a:p>
          <a:p>
            <a:pPr>
              <a:lnSpc>
                <a:spcPct val="103000"/>
              </a:lnSpc>
              <a:spcAft>
                <a:spcPts val="300"/>
              </a:spcAft>
              <a:defRPr sz="810">
                <a:solidFill>
                  <a:srgbClr val="21242A"/>
                </a:solidFill>
                <a:latin typeface="Microsoft YaHei"/>
              </a:defRPr>
            </a:pPr>
            <a:r>
              <a:t>靶点：CD19、CD20</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双靶向cd19/cd20 car t细胞候选产物rondecabtagene自溶素治疗大b细胞淋巴瘤患者的低级别crs...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low-grade crs and icans with rondecabtagene autoleucel, a dual-targeting cd19...</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Single-antigen CD19-targeted chimeric antigen receptor (CAR) T-cell therapies are part of routine care for patients with relapsed or refractory (R/R</a:t>
            </a:r>
          </a:p>
          <a:p>
            <a:pPr>
              <a:lnSpc>
                <a:spcPct val="103000"/>
              </a:lnSpc>
              <a:spcAft>
                <a:spcPts val="300"/>
              </a:spcAft>
              <a:defRPr sz="570">
                <a:solidFill>
                  <a:srgbClr val="21242A"/>
                </a:solidFill>
                <a:latin typeface="Microsoft YaHei"/>
              </a:defRPr>
            </a:pPr>
            <a:r>
              <a:t>) large B-cell lymphoma (LBCL), yet opportunity remains to improve outcomes.</a:t>
            </a:r>
          </a:p>
          <a:p>
            <a:pPr>
              <a:lnSpc>
                <a:spcPct val="103000"/>
              </a:lnSpc>
              <a:spcAft>
                <a:spcPts val="300"/>
              </a:spcAft>
              <a:defRPr sz="570">
                <a:solidFill>
                  <a:srgbClr val="21242A"/>
                </a:solidFill>
                <a:latin typeface="Microsoft YaHei"/>
              </a:defRPr>
            </a:pPr>
            <a:r>
              <a:t>Emerging dual-targeting CD19/CD20 CAR T-cell product candidates represent a next-generation approach to address antigen escape and improve durability of respons</a:t>
            </a:r>
          </a:p>
          <a:p>
            <a:pPr>
              <a:lnSpc>
                <a:spcPct val="103000"/>
              </a:lnSpc>
              <a:spcAft>
                <a:spcPts val="300"/>
              </a:spcAft>
              <a:defRPr sz="570">
                <a:solidFill>
                  <a:srgbClr val="21242A"/>
                </a:solidFill>
                <a:latin typeface="Microsoft YaHei"/>
              </a:defRPr>
            </a:pPr>
            <a:r>
              <a:t>e.</a:t>
            </a:r>
          </a:p>
          <a:p>
            <a:pPr>
              <a:lnSpc>
                <a:spcPct val="103000"/>
              </a:lnSpc>
              <a:spcAft>
                <a:spcPts val="300"/>
              </a:spcAft>
              <a:defRPr sz="570">
                <a:solidFill>
                  <a:srgbClr val="21242A"/>
                </a:solidFill>
                <a:latin typeface="Microsoft YaHei"/>
              </a:defRPr>
            </a:pPr>
            <a:r>
              <a:t>Rondecabtagene autoleucel (ronde-cel) is an autologous, dual-targeting CD19/CD20 CAR T-cell product candidate manufactured from CD62L-enriched T cells, which ar</a:t>
            </a:r>
          </a:p>
          <a:p>
            <a:pPr>
              <a:lnSpc>
                <a:spcPct val="103000"/>
              </a:lnSpc>
              <a:spcAft>
                <a:spcPts val="300"/>
              </a:spcAft>
              <a:defRPr sz="570">
                <a:solidFill>
                  <a:srgbClr val="21242A"/>
                </a:solidFill>
                <a:latin typeface="Microsoft YaHei"/>
              </a:defRPr>
            </a:pPr>
            <a:r>
              <a:t>e associated with lower adverse cytokine production, such as IL-6 (Arcangeli 2022).</a:t>
            </a:r>
          </a:p>
          <a:p>
            <a:pPr>
              <a:lnSpc>
                <a:spcPct val="103000"/>
              </a:lnSpc>
              <a:spcAft>
                <a:spcPts val="300"/>
              </a:spcAft>
              <a:defRPr sz="570">
                <a:solidFill>
                  <a:srgbClr val="21242A"/>
                </a:solidFill>
                <a:latin typeface="Microsoft YaHei"/>
              </a:defRPr>
            </a:pPr>
            <a:r>
              <a:t>Recent results from a Phase 1/2 trial (NCT05826535) evaluating ronde-cel in LBCL showed durable efficacy and an encouraging safety profile (Larson 2025).</a:t>
            </a:r>
          </a:p>
          <a:p>
            <a:pPr>
              <a:lnSpc>
                <a:spcPct val="103000"/>
              </a:lnSpc>
              <a:spcAft>
                <a:spcPts val="300"/>
              </a:spcAft>
              <a:defRPr sz="570">
                <a:solidFill>
                  <a:srgbClr val="21242A"/>
                </a:solidFill>
                <a:latin typeface="Microsoft YaHei"/>
              </a:defRPr>
            </a:pPr>
            <a:r>
              <a:t>Aims: Here we report updated safety data from an expanded cohort with extended follow-up.</a:t>
            </a:r>
          </a:p>
          <a:p>
            <a:pPr>
              <a:lnSpc>
                <a:spcPct val="103000"/>
              </a:lnSpc>
              <a:spcAft>
                <a:spcPts val="300"/>
              </a:spcAft>
              <a:defRPr sz="570">
                <a:solidFill>
                  <a:srgbClr val="21242A"/>
                </a:solidFill>
                <a:latin typeface="Microsoft YaHei"/>
              </a:defRPr>
            </a:pPr>
            <a:r>
              <a:t>We characterize the incidence, severity, time to onset, and resolution of cytokine release syndrome (CRS) and immune effector cell-associated neurotoxicity synd</a:t>
            </a:r>
          </a:p>
          <a:p>
            <a:pPr>
              <a:lnSpc>
                <a:spcPct val="103000"/>
              </a:lnSpc>
              <a:spcAft>
                <a:spcPts val="300"/>
              </a:spcAft>
              <a:defRPr sz="570">
                <a:solidFill>
                  <a:srgbClr val="21242A"/>
                </a:solidFill>
                <a:latin typeface="Microsoft YaHei"/>
              </a:defRPr>
            </a:pPr>
            <a:r>
              <a:t>rome (ICANS), as well as infections and cytopenias.</a:t>
            </a:r>
          </a:p>
          <a:p>
            <a:pPr>
              <a:lnSpc>
                <a:spcPct val="103000"/>
              </a:lnSpc>
              <a:spcAft>
                <a:spcPts val="300"/>
              </a:spcAft>
              <a:defRPr sz="570">
                <a:solidFill>
                  <a:srgbClr val="21242A"/>
                </a:solidFill>
                <a:latin typeface="Microsoft YaHei"/>
              </a:defRPr>
            </a:pPr>
            <a:r>
              <a:t>Methods: Patients with R/R LBCL (N = 87) received ronde-cel following lymphodepletion with fludarabine and cyclophosphamide.</a:t>
            </a:r>
          </a:p>
          <a:p>
            <a:pPr>
              <a:lnSpc>
                <a:spcPct val="103000"/>
              </a:lnSpc>
              <a:spcAft>
                <a:spcPts val="300"/>
              </a:spcAft>
              <a:defRPr sz="570">
                <a:solidFill>
                  <a:srgbClr val="21242A"/>
                </a:solidFill>
                <a:latin typeface="Microsoft YaHei"/>
              </a:defRPr>
            </a:pPr>
            <a:r>
              <a:t>Eligible patients had received at least one prior line of therapy (second-line [2L] or third- or later-line [3L+]). There was no upper age limit.</a:t>
            </a:r>
          </a:p>
          <a:p>
            <a:pPr>
              <a:lnSpc>
                <a:spcPct val="103000"/>
              </a:lnSpc>
              <a:spcAft>
                <a:spcPts val="300"/>
              </a:spcAft>
              <a:defRPr sz="570">
                <a:solidFill>
                  <a:srgbClr val="21242A"/>
                </a:solidFill>
                <a:latin typeface="Microsoft YaHei"/>
              </a:defRPr>
            </a:pPr>
            <a:r>
              <a:t>Safety assessments included CRS and ICANS grading per ASTCT consensus criteria, infection monitoring, and hematologic laboratory evaluations.</a:t>
            </a:r>
          </a:p>
          <a:p>
            <a:pPr>
              <a:lnSpc>
                <a:spcPct val="103000"/>
              </a:lnSpc>
              <a:spcAft>
                <a:spcPts val="300"/>
              </a:spcAft>
              <a:defRPr sz="570">
                <a:solidFill>
                  <a:srgbClr val="21242A"/>
                </a:solidFill>
                <a:latin typeface="Microsoft YaHei"/>
              </a:defRPr>
            </a:pPr>
            <a:r>
              <a:t>Low-dose dexamethasone (10 mg/day on Days 0, 1, and 2) was introduced for ICANS prophylaxis (N = 37) and is now standard for all patients in the ongoing clinica</a:t>
            </a:r>
          </a:p>
          <a:p>
            <a:pPr>
              <a:lnSpc>
                <a:spcPct val="103000"/>
              </a:lnSpc>
              <a:spcAft>
                <a:spcPts val="300"/>
              </a:spcAft>
              <a:defRPr sz="570">
                <a:solidFill>
                  <a:srgbClr val="21242A"/>
                </a:solidFill>
                <a:latin typeface="Microsoft YaHei"/>
              </a:defRPr>
            </a:pPr>
            <a:r>
              <a:t>l trial.</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Ronde-cel continues to show a consistent and manageable safety profile with low rates of CAR T-cell associated toxicities. No Grade ≥ 3 CRS was observed, and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CRS 1-2级发生率60%（1级36%，2级24%），无≥3级；CRS中位起病时间5天，中位缓解时间3天；托珠单抗使用率35%；ICANS 1-2级发生率11%（1级8%，2级2%）；≥3级ICANS在地塞米松预防组3% vs 未预防组13%；ICANS中位起病时间7天（预防组），中位缓解时间3天；≥3级感</a:t>
            </a:r>
          </a:p>
          <a:p>
            <a:pPr>
              <a:lnSpc>
                <a:spcPct val="103000"/>
              </a:lnSpc>
              <a:spcAft>
                <a:spcPts val="300"/>
              </a:spcAft>
              <a:defRPr sz="580">
                <a:solidFill>
                  <a:srgbClr val="21242A"/>
                </a:solidFill>
                <a:latin typeface="Microsoft YaHei"/>
              </a:defRPr>
            </a:pPr>
            <a:r>
              <a:t>染发生率10%；持续血细胞减少（≥3级且第28天未恢复）23%；无归因于ronde-cel的死亡</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摘要号：PF962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ctdna引导下axi-cel早期二次输注治疗复发/难治性大b细胞淋巴瘤的前瞻性单臂临床研究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prospective, single-arm clinical study of ctdna-guided early second infusio...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a:t>
            </a:r>
          </a:p>
          <a:p>
            <a:pPr>
              <a:lnSpc>
                <a:spcPct val="103000"/>
              </a:lnSpc>
              <a:spcAft>
                <a:spcPts val="300"/>
              </a:spcAft>
              <a:defRPr sz="800">
                <a:solidFill>
                  <a:srgbClr val="21242A"/>
                </a:solidFill>
                <a:latin typeface="Microsoft YaHei"/>
              </a:defRPr>
            </a:pPr>
            <a:r>
              <a:t>N=7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疗效：在第二次输注前CR但ctDNA阳性的4例患者中，2例在输注后1个月达到ctDNA阴性CR并保持缓解（396天和257天）...</a:t>
            </a:r>
          </a:p>
          <a:p>
            <a:pPr>
              <a:lnSpc>
                <a:spcPct val="103000"/>
              </a:lnSpc>
              <a:spcAft>
                <a:spcPts val="300"/>
              </a:spcAft>
              <a:defRPr sz="800">
                <a:solidFill>
                  <a:srgbClr val="21242A"/>
                </a:solidFill>
                <a:latin typeface="Microsoft YaHei"/>
              </a:defRPr>
            </a:pPr>
            <a:r>
              <a:t>在第二次输注前PR的3例患者中，1例ctDNA阴性PR维持1个月（3个月评估待定），2例ctDNA阳性PR早期疾病进展。</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a:t>
            </a:r>
          </a:p>
          <a:p>
            <a:pPr>
              <a:lnSpc>
                <a:spcPct val="103000"/>
              </a:lnSpc>
              <a:spcAft>
                <a:spcPts val="300"/>
              </a:spcAft>
              <a:defRPr sz="810">
                <a:solidFill>
                  <a:srgbClr val="21242A"/>
                </a:solidFill>
                <a:latin typeface="Microsoft YaHei"/>
              </a:defRPr>
            </a:pPr>
            <a:r>
              <a:t>适应症：弥漫性大B细胞淋巴瘤、原发纵隔大B细胞淋巴瘤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登记号：NCT06902012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ctdna引导下axi-cel早期二次输注治疗复发/难治性大b细胞淋巴瘤的前瞻性单臂临床研究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prospective, single-arm clinical study of ctdna-guided early second infusio...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CD19 chimeric antigen receptor T-cell (CAR-T) therapy has remarkably improved outcomes for relapsed or refractory large B-cell lymphoma (R/R LBCL).</a:t>
            </a:r>
          </a:p>
          <a:p>
            <a:pPr>
              <a:lnSpc>
                <a:spcPct val="103000"/>
              </a:lnSpc>
              <a:spcAft>
                <a:spcPts val="300"/>
              </a:spcAft>
              <a:defRPr sz="570">
                <a:solidFill>
                  <a:srgbClr val="21242A"/>
                </a:solidFill>
                <a:latin typeface="Microsoft YaHei"/>
              </a:defRPr>
            </a:pPr>
            <a:r>
              <a:t>However, patients failing to achieve deep remission early after the first infusion face a persistently high risk of relapse.</a:t>
            </a:r>
          </a:p>
          <a:p>
            <a:pPr>
              <a:lnSpc>
                <a:spcPct val="103000"/>
              </a:lnSpc>
              <a:spcAft>
                <a:spcPts val="300"/>
              </a:spcAft>
              <a:defRPr sz="570">
                <a:solidFill>
                  <a:srgbClr val="21242A"/>
                </a:solidFill>
                <a:latin typeface="Microsoft YaHei"/>
              </a:defRPr>
            </a:pPr>
            <a:r>
              <a:t>Historical data indicates that a second CAR-T infusion administered after relapse or progression generally yields poor salvage outcomes.</a:t>
            </a:r>
          </a:p>
          <a:p>
            <a:pPr>
              <a:lnSpc>
                <a:spcPct val="103000"/>
              </a:lnSpc>
              <a:spcAft>
                <a:spcPts val="300"/>
              </a:spcAft>
              <a:defRPr sz="570">
                <a:solidFill>
                  <a:srgbClr val="21242A"/>
                </a:solidFill>
                <a:latin typeface="Microsoft YaHei"/>
              </a:defRPr>
            </a:pPr>
            <a:r>
              <a:t>Therefore, exploring preemptive consolidation interventions represents a critical unmet clinical need.</a:t>
            </a:r>
          </a:p>
          <a:p>
            <a:pPr>
              <a:lnSpc>
                <a:spcPct val="103000"/>
              </a:lnSpc>
              <a:spcAft>
                <a:spcPts val="300"/>
              </a:spcAft>
              <a:defRPr sz="570">
                <a:solidFill>
                  <a:srgbClr val="21242A"/>
                </a:solidFill>
                <a:latin typeface="Microsoft YaHei"/>
              </a:defRPr>
            </a:pPr>
            <a:r>
              <a:t>Aims: To evaluate the efficacy, safety, and cellular kinetics of an early second CD19 CAR-T cell infusion as a consolidation therapy for R/R LBCL patients who s</a:t>
            </a:r>
          </a:p>
          <a:p>
            <a:pPr>
              <a:lnSpc>
                <a:spcPct val="103000"/>
              </a:lnSpc>
              <a:spcAft>
                <a:spcPts val="300"/>
              </a:spcAft>
              <a:defRPr sz="570">
                <a:solidFill>
                  <a:srgbClr val="21242A"/>
                </a:solidFill>
                <a:latin typeface="Microsoft YaHei"/>
              </a:defRPr>
            </a:pPr>
            <a:r>
              <a:t>how initial response but fail to achieve deep remission early after the first infusion.</a:t>
            </a:r>
          </a:p>
          <a:p>
            <a:pPr>
              <a:lnSpc>
                <a:spcPct val="103000"/>
              </a:lnSpc>
              <a:spcAft>
                <a:spcPts val="300"/>
              </a:spcAft>
              <a:defRPr sz="570">
                <a:solidFill>
                  <a:srgbClr val="21242A"/>
                </a:solidFill>
                <a:latin typeface="Microsoft YaHei"/>
              </a:defRPr>
            </a:pPr>
            <a:r>
              <a:t>Methods: In this prospective, single-center, single-arm clinical trial, adult patients with R/R LBCL who achieved PR by PET-CT, or CR with ctDNA positivity with</a:t>
            </a:r>
          </a:p>
          <a:p>
            <a:pPr>
              <a:lnSpc>
                <a:spcPct val="103000"/>
              </a:lnSpc>
              <a:spcAft>
                <a:spcPts val="300"/>
              </a:spcAft>
              <a:defRPr sz="570">
                <a:solidFill>
                  <a:srgbClr val="21242A"/>
                </a:solidFill>
                <a:latin typeface="Microsoft YaHei"/>
              </a:defRPr>
            </a:pPr>
            <a:r>
              <a:t>in 60 days after the first Axicabtagene Ciloleucel(Axi-cel , 2 × 10⁶ cells/kg) infusion were eligible for an early second axi-cel infusion.</a:t>
            </a:r>
          </a:p>
          <a:p>
            <a:pPr>
              <a:lnSpc>
                <a:spcPct val="103000"/>
              </a:lnSpc>
              <a:spcAft>
                <a:spcPts val="300"/>
              </a:spcAft>
              <a:defRPr sz="570">
                <a:solidFill>
                  <a:srgbClr val="21242A"/>
                </a:solidFill>
                <a:latin typeface="Microsoft YaHei"/>
              </a:defRPr>
            </a:pPr>
            <a:r>
              <a:t>The second axi-cel infusion was administered at a dose of 2 × 10⁶ cells/kg between 30 to 90 days after the first infusion.</a:t>
            </a:r>
          </a:p>
          <a:p>
            <a:pPr>
              <a:lnSpc>
                <a:spcPct val="103000"/>
              </a:lnSpc>
              <a:spcAft>
                <a:spcPts val="300"/>
              </a:spcAft>
              <a:defRPr sz="570">
                <a:solidFill>
                  <a:srgbClr val="21242A"/>
                </a:solidFill>
                <a:latin typeface="Microsoft YaHei"/>
              </a:defRPr>
            </a:pPr>
            <a:r>
              <a:t>FC conditioning regimen was also administered prior to the second infusion. The study has been registered on clinicaltrial.gov (NCT06902012).</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Early second infusion of CD19 CAR-T cells is feasible and demonstrates a highly favorable safety profile with no high-grade CRS or ICANS, while also demonstrati</a:t>
            </a:r>
          </a:p>
          <a:p>
            <a:pPr>
              <a:lnSpc>
                <a:spcPct val="103000"/>
              </a:lnSpc>
              <a:spcAft>
                <a:spcPts val="300"/>
              </a:spcAft>
              <a:defRPr sz="590">
                <a:solidFill>
                  <a:srgbClr val="21242A"/>
                </a:solidFill>
                <a:latin typeface="Microsoft YaHei"/>
              </a:defRPr>
            </a:pPr>
            <a:r>
              <a:t>ng reliable in vivo CAR-T cell expansion.</a:t>
            </a:r>
          </a:p>
          <a:p>
            <a:pPr>
              <a:lnSpc>
                <a:spcPct val="103000"/>
              </a:lnSpc>
              <a:spcAft>
                <a:spcPts val="300"/>
              </a:spcAft>
              <a:defRPr sz="590">
                <a:solidFill>
                  <a:srgbClr val="21242A"/>
                </a:solidFill>
                <a:latin typeface="Microsoft YaHei"/>
              </a:defRPr>
            </a:pPr>
            <a:r>
              <a:t>ctDNA-guided early intervention at minimal tumor burden is critical for successful second CAR-T infusions. Ongoing enrollment will validate these results.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疗效：在第二次输注前CR但ctDNA阳性的4例患者中，2例在输注后1个月达到ctDNA阴性CR并保持缓解（396天和257天），2例维持CR但ctDNA仍阳性（3个月评估待定）。在第二次输注前PR的3例患者中，1例ctDNA阴性PR维持1个月（3个月评估待定），2例ctDNA阳性PR早期疾病进展。中位随访93</a:t>
            </a:r>
          </a:p>
          <a:p>
            <a:pPr>
              <a:lnSpc>
                <a:spcPct val="103000"/>
              </a:lnSpc>
              <a:spcAft>
                <a:spcPts val="300"/>
              </a:spcAft>
              <a:defRPr sz="580">
                <a:solidFill>
                  <a:srgbClr val="21242A"/>
                </a:solidFill>
                <a:latin typeface="Microsoft YaHei"/>
              </a:defRPr>
            </a:pPr>
            <a:r>
              <a:t>天，中位OS和中位PFS未达到。安全性：CRS发生3例（42.8%），均为1级；无ICANS；常见血液学不良事件为4级中性粒细胞减少（6/7, 85.7%）和3-4级血小板减少（3/7, 42.9%）；无治疗相关死亡或SAE。</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摘要号：PF1248</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rondecabtagene autoleucel（双靶向cd19/cd20 car t细胞）的持久反应与输注产品中具...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responses with rondecabtagene autoleucel (dual-targeting cd19/cd20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弥漫性大B细胞淋巴瘤，原发纵隔大B细胞淋巴瘤，大B细胞淋巴瘤</a:t>
            </a:r>
          </a:p>
          <a:p>
            <a:pPr>
              <a:lnSpc>
                <a:spcPct val="103000"/>
              </a:lnSpc>
              <a:spcAft>
                <a:spcPts val="300"/>
              </a:spcAft>
              <a:defRPr sz="800">
                <a:solidFill>
                  <a:srgbClr val="21242A"/>
                </a:solidFill>
                <a:latin typeface="Microsoft YaHei"/>
              </a:defRPr>
            </a:pPr>
            <a:r>
              <a:t>原发纵隔大B细胞淋巴瘤，弥漫性大B细胞淋巴瘤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试验药/方案：朗迪卡基奥仑赛</a:t>
            </a:r>
          </a:p>
          <a:p>
            <a:pPr>
              <a:lnSpc>
                <a:spcPct val="103000"/>
              </a:lnSpc>
              <a:spcAft>
                <a:spcPts val="300"/>
              </a:spcAft>
              <a:defRPr sz="800">
                <a:solidFill>
                  <a:srgbClr val="21242A"/>
                </a:solidFill>
                <a:latin typeface="Microsoft YaHei"/>
              </a:defRPr>
            </a:pPr>
            <a:r>
              <a:t>靶点：CD19，CD20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在CD8+CAR+细胞中，ronde-cel产品与已批准的CD19 CAR-T细胞疗法相比，记忆相关基因（CD62L, IL7...</a:t>
            </a:r>
          </a:p>
          <a:p>
            <a:pPr>
              <a:lnSpc>
                <a:spcPct val="103000"/>
              </a:lnSpc>
              <a:spcAft>
                <a:spcPts val="300"/>
              </a:spcAft>
              <a:defRPr sz="800">
                <a:solidFill>
                  <a:srgbClr val="21242A"/>
                </a:solidFill>
                <a:latin typeface="Microsoft YaHei"/>
              </a:defRPr>
            </a:pPr>
            <a:r>
              <a:t>在细胞毒性T细胞（Tcmp）中，ronde-cel产品中记忆标志物（LEF1, IL7R, BACH2）表达更高。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人数：42</a:t>
            </a:r>
          </a:p>
          <a:p>
            <a:pPr>
              <a:lnSpc>
                <a:spcPct val="103000"/>
              </a:lnSpc>
              <a:spcAft>
                <a:spcPts val="300"/>
              </a:spcAft>
              <a:defRPr sz="810">
                <a:solidFill>
                  <a:srgbClr val="21242A"/>
                </a:solidFill>
                <a:latin typeface="Microsoft YaHei"/>
              </a:defRPr>
            </a:pPr>
            <a:r>
              <a:t>适应症：弥漫性大B细胞淋巴瘤、原发纵隔大B细胞淋巴瘤、大B细胞淋巴瘤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登记号：NCT05826535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试验药/方案：朗迪卡基奥仑赛</a:t>
            </a:r>
          </a:p>
          <a:p>
            <a:pPr>
              <a:lnSpc>
                <a:spcPct val="103000"/>
              </a:lnSpc>
              <a:spcAft>
                <a:spcPts val="300"/>
              </a:spcAft>
              <a:defRPr sz="810">
                <a:solidFill>
                  <a:srgbClr val="21242A"/>
                </a:solidFill>
                <a:latin typeface="Microsoft YaHei"/>
              </a:defRPr>
            </a:pPr>
            <a:r>
              <a:t>靶点：CD19、CD20</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rondecabtagene autoleucel（双靶向cd19/cd20 car t细胞）的持久反应与输注产品中具...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responses with rondecabtagene autoleucel (dual-targeting cd19/cd20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Achieving durable complete responses (CR) remains a key goal of CAR T - cell therapy for large B - cell lymphoma (LBCL).</a:t>
            </a:r>
          </a:p>
          <a:p>
            <a:pPr>
              <a:lnSpc>
                <a:spcPct val="103000"/>
              </a:lnSpc>
              <a:spcAft>
                <a:spcPts val="300"/>
              </a:spcAft>
              <a:defRPr sz="570">
                <a:solidFill>
                  <a:srgbClr val="21242A"/>
                </a:solidFill>
                <a:latin typeface="Microsoft YaHei"/>
              </a:defRPr>
            </a:pPr>
            <a:r>
              <a:t>Higher proportion of cells with memory phenotype in CAR T-cell products has been associated with higher expansion and favorable outcomes (Deng 2020), and CD62L </a:t>
            </a:r>
          </a:p>
          <a:p>
            <a:pPr>
              <a:lnSpc>
                <a:spcPct val="103000"/>
              </a:lnSpc>
              <a:spcAft>
                <a:spcPts val="300"/>
              </a:spcAft>
              <a:defRPr sz="570">
                <a:solidFill>
                  <a:srgbClr val="21242A"/>
                </a:solidFill>
                <a:latin typeface="Microsoft YaHei"/>
              </a:defRPr>
            </a:pPr>
            <a:r>
              <a:t>is a n established marker of memory T cells ( Gattinoni 2017) .</a:t>
            </a:r>
          </a:p>
          <a:p>
            <a:pPr>
              <a:lnSpc>
                <a:spcPct val="103000"/>
              </a:lnSpc>
              <a:spcAft>
                <a:spcPts val="300"/>
              </a:spcAft>
              <a:defRPr sz="570">
                <a:solidFill>
                  <a:srgbClr val="21242A"/>
                </a:solidFill>
                <a:latin typeface="Microsoft YaHei"/>
              </a:defRPr>
            </a:pPr>
            <a:r>
              <a:t>Rondecabtagene autoleucel (ronde-cel) is an autologous, dual-targeting CD19/CD20 CAR T-cell product candidate manufactured from CD62L - enriched cells , a proce</a:t>
            </a:r>
          </a:p>
          <a:p>
            <a:pPr>
              <a:lnSpc>
                <a:spcPct val="103000"/>
              </a:lnSpc>
              <a:spcAft>
                <a:spcPts val="300"/>
              </a:spcAft>
              <a:defRPr sz="570">
                <a:solidFill>
                  <a:srgbClr val="21242A"/>
                </a:solidFill>
                <a:latin typeface="Microsoft YaHei"/>
              </a:defRPr>
            </a:pPr>
            <a:r>
              <a:t>ss designed to preserve higher proportion of cells with memory phenotype and improve durable responses without extending manufacturing time .</a:t>
            </a:r>
          </a:p>
          <a:p>
            <a:pPr>
              <a:lnSpc>
                <a:spcPct val="103000"/>
              </a:lnSpc>
              <a:spcAft>
                <a:spcPts val="300"/>
              </a:spcAft>
              <a:defRPr sz="570">
                <a:solidFill>
                  <a:srgbClr val="21242A"/>
                </a:solidFill>
                <a:latin typeface="Microsoft YaHei"/>
              </a:defRPr>
            </a:pPr>
            <a:r>
              <a:t>H igh rate s (76%) of CR with 18 - month median progression-free survival were reported from the Phase 1/2 clinical trial of ronde-cel in third- or later-line (</a:t>
            </a:r>
          </a:p>
          <a:p>
            <a:pPr>
              <a:lnSpc>
                <a:spcPct val="103000"/>
              </a:lnSpc>
              <a:spcAft>
                <a:spcPts val="300"/>
              </a:spcAft>
              <a:defRPr sz="570">
                <a:solidFill>
                  <a:srgbClr val="21242A"/>
                </a:solidFill>
                <a:latin typeface="Microsoft YaHei"/>
              </a:defRPr>
            </a:pPr>
            <a:r>
              <a:t> 3L+ ) patients ( Larson 2025).</a:t>
            </a:r>
          </a:p>
          <a:p>
            <a:pPr>
              <a:lnSpc>
                <a:spcPct val="103000"/>
              </a:lnSpc>
              <a:spcAft>
                <a:spcPts val="300"/>
              </a:spcAft>
              <a:defRPr sz="570">
                <a:solidFill>
                  <a:srgbClr val="21242A"/>
                </a:solidFill>
                <a:latin typeface="Microsoft YaHei"/>
              </a:defRPr>
            </a:pPr>
            <a:r>
              <a:t>Aims: Evaluate the association between ronde-cel's durability of response in patients treated in the Phase 1/2 trial and ronde-cel product characteristics conf </a:t>
            </a:r>
          </a:p>
          <a:p>
            <a:pPr>
              <a:lnSpc>
                <a:spcPct val="103000"/>
              </a:lnSpc>
              <a:spcAft>
                <a:spcPts val="300"/>
              </a:spcAft>
              <a:defRPr sz="570">
                <a:solidFill>
                  <a:srgbClr val="21242A"/>
                </a:solidFill>
                <a:latin typeface="Microsoft YaHei"/>
              </a:defRPr>
            </a:pPr>
            <a:r>
              <a:t>erred by CD62L enrichment.</a:t>
            </a:r>
          </a:p>
          <a:p>
            <a:pPr>
              <a:lnSpc>
                <a:spcPct val="103000"/>
              </a:lnSpc>
              <a:spcAft>
                <a:spcPts val="300"/>
              </a:spcAft>
              <a:defRPr sz="570">
                <a:solidFill>
                  <a:srgbClr val="21242A"/>
                </a:solidFill>
                <a:latin typeface="Microsoft YaHei"/>
              </a:defRPr>
            </a:pPr>
            <a:r>
              <a:t>Methods: R onde-cel drug product phenotype was assessed by single-cell RNAseq ( scRNAseq ) .</a:t>
            </a:r>
          </a:p>
          <a:p>
            <a:pPr>
              <a:lnSpc>
                <a:spcPct val="103000"/>
              </a:lnSpc>
              <a:spcAft>
                <a:spcPts val="300"/>
              </a:spcAft>
              <a:defRPr sz="570">
                <a:solidFill>
                  <a:srgbClr val="21242A"/>
                </a:solidFill>
                <a:latin typeface="Microsoft YaHei"/>
              </a:defRPr>
            </a:pPr>
            <a:r>
              <a:t>Peripheral blood (PB) was collected post - infusion at multiple time-points, and phenotype ( scRNAseq ) and ex vivo functionality (co-culture) were assesse d .</a:t>
            </a:r>
          </a:p>
          <a:p>
            <a:pPr>
              <a:lnSpc>
                <a:spcPct val="103000"/>
              </a:lnSpc>
              <a:spcAft>
                <a:spcPts val="300"/>
              </a:spcAft>
              <a:defRPr sz="570">
                <a:solidFill>
                  <a:srgbClr val="21242A"/>
                </a:solidFill>
                <a:latin typeface="Microsoft YaHei"/>
              </a:defRPr>
            </a:pPr>
            <a:r>
              <a:t>Publicly available scRNAseq data from FDA - approved CAR T -cell therapie s ( Deng 2020, Haradhvala 2022, Li 2023 , Y u 2025 ) were used for comparison .</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Ronde-cel manufactured with CD62L enrichment produced infusion products with higher expression of memory-related genes compared with FDA-approved CD19 CAR T-cel</a:t>
            </a:r>
          </a:p>
          <a:p>
            <a:pPr>
              <a:lnSpc>
                <a:spcPct val="103000"/>
              </a:lnSpc>
              <a:spcAft>
                <a:spcPts val="300"/>
              </a:spcAft>
              <a:defRPr sz="590">
                <a:solidFill>
                  <a:srgbClr val="21242A"/>
                </a:solidFill>
                <a:latin typeface="Microsoft YaHei"/>
              </a:defRPr>
            </a:pPr>
            <a:r>
              <a:t>l therapies for LBCL.</a:t>
            </a:r>
          </a:p>
          <a:p>
            <a:pPr>
              <a:lnSpc>
                <a:spcPct val="103000"/>
              </a:lnSpc>
              <a:spcAft>
                <a:spcPts val="300"/>
              </a:spcAft>
              <a:defRPr sz="590">
                <a:solidFill>
                  <a:srgbClr val="21242A"/>
                </a:solidFill>
                <a:latin typeface="Microsoft YaHei"/>
              </a:defRPr>
            </a:pPr>
            <a:r>
              <a:t>This memory potential also existed in the cytotoxic cells of ronde-cel products, persisted post-infusion, and allowed for functionality two-months post-infusion</a:t>
            </a:r>
          </a:p>
          <a:p>
            <a:pPr>
              <a:lnSpc>
                <a:spcPct val="103000"/>
              </a:lnSpc>
              <a:spcAft>
                <a:spcPts val="300"/>
              </a:spcAft>
              <a:defRPr sz="590">
                <a:solidFill>
                  <a:srgbClr val="21242A"/>
                </a:solidFill>
                <a:latin typeface="Microsoft YaHei"/>
              </a:defRPr>
            </a:pPr>
            <a:r>
              <a:t>.</a:t>
            </a:r>
          </a:p>
          <a:p>
            <a:pPr>
              <a:lnSpc>
                <a:spcPct val="103000"/>
              </a:lnSpc>
              <a:spcAft>
                <a:spcPts val="300"/>
              </a:spcAft>
              <a:defRPr sz="590">
                <a:solidFill>
                  <a:srgbClr val="21242A"/>
                </a:solidFill>
                <a:latin typeface="Microsoft YaHei"/>
              </a:defRPr>
            </a:pPr>
            <a:r>
              <a:t>Patients with a higher proportion of Tcmp cells were more likely to achieve durable responses (≥12 months CR).</a:t>
            </a:r>
          </a:p>
          <a:p>
            <a:pPr>
              <a:lnSpc>
                <a:spcPct val="103000"/>
              </a:lnSpc>
              <a:spcAft>
                <a:spcPts val="300"/>
              </a:spcAft>
              <a:defRPr sz="590">
                <a:solidFill>
                  <a:srgbClr val="21242A"/>
                </a:solidFill>
                <a:latin typeface="Microsoft YaHei"/>
              </a:defRPr>
            </a:pPr>
            <a:r>
              <a:t>These findings support the hypothesis of an association between ronde-cel's durability of response and CD62L enrichment during manufacturing.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1. 在CD8+CAR+细胞中，ronde-cel产品与已批准的CD19 CAR-T细胞疗法相比，记忆相关基因（CD62L, IL7R, LEF1）表达更高。</a:t>
                      </a:r>
                    </a:p>
                  </a:txBody>
                  <a:tcPr>
                    <a:solidFill>
                      <a:srgbClr val="F6F8FB"/>
                    </a:solidFill>
                  </a:tcPr>
                </a:tc>
              </a:tr>
              <a:tr h="299923">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2. 在细胞毒性T细胞（Tcmp）中，ronde-cel产品中记忆标志物（LEF1, IL7R, BACH2）表达更高。</a:t>
                      </a:r>
                    </a:p>
                  </a:txBody>
                  <a:tcPr>
                    <a:solidFill>
                      <a:srgbClr val="FFFFFF"/>
                    </a:solidFill>
                  </a:tcPr>
                </a:tc>
              </a:tr>
              <a:tr h="299923">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3. 记忆表型细胞在输注后第28天（中位数83%，N=10）和第56天（中位数73%，N=4）仍存在，并可增殖、分泌细胞因子和杀死肿瘤细胞。</a:t>
                      </a:r>
                    </a:p>
                  </a:txBody>
                  <a:tcPr>
                    <a:solidFill>
                      <a:srgbClr val="F6F8FB"/>
                    </a:solidFill>
                  </a:tcPr>
                </a:tc>
              </a:tr>
              <a:tr h="299924">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4. 持续完全缓解≥12个月的患者（N=8）在CD8+CAR+细胞中Tcmp比例中位数为23（IQR 10-28），而3个月内进展的患者（N=6）中位数为7（IQR 6-9），p=0.029。</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摘要号：PF1097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原发性纵隔b细胞淋巴瘤pts的现实世界管理和结果：来自法国realysa队列的见解。</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management and outcomes of pts with primary mediastinal b-cell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N=150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分组：R-ACVBP组：R-ACVBP</a:t>
            </a:r>
          </a:p>
          <a:p>
            <a:pPr>
              <a:lnSpc>
                <a:spcPct val="103000"/>
              </a:lnSpc>
              <a:spcAft>
                <a:spcPts val="300"/>
              </a:spcAft>
              <a:defRPr sz="800">
                <a:solidFill>
                  <a:srgbClr val="21242A"/>
                </a:solidFill>
                <a:latin typeface="Microsoft YaHei"/>
              </a:defRPr>
            </a:pPr>
            <a:r>
              <a:t>R-CHOP14组：R-CHOP14</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多组/多方案比较：R-ACVBP组：R-ACVBP</a:t>
            </a:r>
          </a:p>
          <a:p>
            <a:pPr>
              <a:lnSpc>
                <a:spcPct val="103000"/>
              </a:lnSpc>
              <a:spcAft>
                <a:spcPts val="300"/>
              </a:spcAft>
              <a:defRPr sz="800">
                <a:solidFill>
                  <a:srgbClr val="21242A"/>
                </a:solidFill>
                <a:latin typeface="Microsoft YaHei"/>
              </a:defRPr>
            </a:pPr>
            <a:r>
              <a:t>R-CHOP14组：R-CHOP14</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中位随访35.5个月，中位PFS和OS未达到。</a:t>
            </a:r>
          </a:p>
          <a:p>
            <a:pPr>
              <a:lnSpc>
                <a:spcPct val="103000"/>
              </a:lnSpc>
              <a:spcAft>
                <a:spcPts val="300"/>
              </a:spcAft>
              <a:defRPr sz="800">
                <a:solidFill>
                  <a:srgbClr val="21242A"/>
                </a:solidFill>
                <a:latin typeface="Microsoft YaHei"/>
              </a:defRPr>
            </a:pPr>
            <a:r>
              <a:t>估计3年PFS率87.7%（95% CI 81.1-92.1），3年OS率99.3%（95% CI 95.2-99.9）。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人数：150</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登记号：NCT03869619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分组/治疗流程：R-ACVBP组：R-ACVBP、R-CHOP14组：R-CHOP14、R-CHOP21组：R-CHOP21</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原发性纵隔b细胞淋巴瘤pts的现实世界管理和结果：来自法国realysa队列的见解。</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management and outcomes of pts with primary mediastinal b-cell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mediastinal B-cell lymphoma (PMBL) is a rare and aggressive subtype of lymphoma that typically affects young patients (pts).</a:t>
            </a:r>
          </a:p>
          <a:p>
            <a:pPr>
              <a:lnSpc>
                <a:spcPct val="103000"/>
              </a:lnSpc>
              <a:spcAft>
                <a:spcPts val="300"/>
              </a:spcAft>
              <a:defRPr sz="570">
                <a:solidFill>
                  <a:srgbClr val="21242A"/>
                </a:solidFill>
                <a:latin typeface="Microsoft YaHei"/>
              </a:defRPr>
            </a:pPr>
            <a:r>
              <a:t>Excellent outcomes following first-line immunochemotherapy have been reported in clinical trials; however, prospective real-world data in this setting remain li</a:t>
            </a:r>
          </a:p>
          <a:p>
            <a:pPr>
              <a:lnSpc>
                <a:spcPct val="103000"/>
              </a:lnSpc>
              <a:spcAft>
                <a:spcPts val="300"/>
              </a:spcAft>
              <a:defRPr sz="570">
                <a:solidFill>
                  <a:srgbClr val="21242A"/>
                </a:solidFill>
                <a:latin typeface="Microsoft YaHei"/>
              </a:defRPr>
            </a:pPr>
            <a:r>
              <a:t>mited.</a:t>
            </a:r>
          </a:p>
          <a:p>
            <a:pPr>
              <a:lnSpc>
                <a:spcPct val="103000"/>
              </a:lnSpc>
              <a:spcAft>
                <a:spcPts val="300"/>
              </a:spcAft>
              <a:defRPr sz="570">
                <a:solidFill>
                  <a:srgbClr val="21242A"/>
                </a:solidFill>
                <a:latin typeface="Microsoft YaHei"/>
              </a:defRPr>
            </a:pPr>
            <a:r>
              <a:t>Methods: REal world dAta in LYmphoma and Survival in Adults (REALYSA) is a prospective, multicenter, non-interventional cohort study that included pts newly dia</a:t>
            </a:r>
          </a:p>
          <a:p>
            <a:pPr>
              <a:lnSpc>
                <a:spcPct val="103000"/>
              </a:lnSpc>
              <a:spcAft>
                <a:spcPts val="300"/>
              </a:spcAft>
              <a:defRPr sz="570">
                <a:solidFill>
                  <a:srgbClr val="21242A"/>
                </a:solidFill>
                <a:latin typeface="Microsoft YaHei"/>
              </a:defRPr>
            </a:pPr>
            <a:r>
              <a:t>gnosed with lymphoma in France.</a:t>
            </a:r>
          </a:p>
          <a:p>
            <a:pPr>
              <a:lnSpc>
                <a:spcPct val="103000"/>
              </a:lnSpc>
              <a:spcAft>
                <a:spcPts val="300"/>
              </a:spcAft>
              <a:defRPr sz="570">
                <a:solidFill>
                  <a:srgbClr val="21242A"/>
                </a:solidFill>
                <a:latin typeface="Microsoft YaHei"/>
              </a:defRPr>
            </a:pPr>
            <a:r>
              <a:t>We analyzed the PMBL population enrolled between November 2018 and August 2023. The primary endpoint was progression-free survival (PFS).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prospective real-world cohort, PMBL patients achieved excellent survival outcomes.</a:t>
            </a:r>
          </a:p>
          <a:p>
            <a:pPr>
              <a:lnSpc>
                <a:spcPct val="103000"/>
              </a:lnSpc>
              <a:spcAft>
                <a:spcPts val="300"/>
              </a:spcAft>
              <a:defRPr sz="590">
                <a:solidFill>
                  <a:srgbClr val="21242A"/>
                </a:solidFill>
                <a:latin typeface="Microsoft YaHei"/>
              </a:defRPr>
            </a:pPr>
            <a:r>
              <a:t>R-CHOP21 was associated with inferior PFS compared with R-CHOP14 and R-ACVBP, which showed similar efficacy, confirming the relevance of dose-dense regimens in </a:t>
            </a:r>
          </a:p>
          <a:p>
            <a:pPr>
              <a:lnSpc>
                <a:spcPct val="103000"/>
              </a:lnSpc>
              <a:spcAft>
                <a:spcPts val="300"/>
              </a:spcAft>
              <a:defRPr sz="590">
                <a:solidFill>
                  <a:srgbClr val="21242A"/>
                </a:solidFill>
                <a:latin typeface="Microsoft YaHei"/>
              </a:defRPr>
            </a:pPr>
            <a:r>
              <a:t>routine practice.</a:t>
            </a:r>
          </a:p>
          <a:p>
            <a:pPr>
              <a:lnSpc>
                <a:spcPct val="103000"/>
              </a:lnSpc>
              <a:spcAft>
                <a:spcPts val="300"/>
              </a:spcAft>
              <a:defRPr sz="590">
                <a:solidFill>
                  <a:srgbClr val="21242A"/>
                </a:solidFill>
                <a:latin typeface="Microsoft YaHei"/>
              </a:defRPr>
            </a:pPr>
            <a:r>
              <a:t>(REALYSA, NCT03869619)</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中位随访35.5个月，中位PFS和OS未达到。估计3年PFS率87.7%（95% CI 81.1-92.1），3年OS率99.3%（95% CI 95.2-99.9）。4周期后CR率：R-ACVBP 71.9%，R-CHOP14 55%，R-CHOP21 60%，R-EPOCH 66.7%。进展率：R-CHO</a:t>
            </a:r>
          </a:p>
          <a:p>
            <a:pPr>
              <a:lnSpc>
                <a:spcPct val="103000"/>
              </a:lnSpc>
              <a:spcAft>
                <a:spcPts val="300"/>
              </a:spcAft>
              <a:defRPr sz="580">
                <a:solidFill>
                  <a:srgbClr val="21242A"/>
                </a:solidFill>
                <a:latin typeface="Microsoft YaHei"/>
              </a:defRPr>
            </a:pPr>
            <a:r>
              <a:t>P21 25%，R-ACVBP 95.2%（此数据可能表述有误，原文为“the progression rate was 25% with R-CHOP21 (n=8) and, 95.2% (95% CI, 85.7–98.4) with R-ACVBP”，实际应为进展率或PFS率，按原文提取）。19例进展</a:t>
            </a:r>
          </a:p>
          <a:p>
            <a:pPr>
              <a:lnSpc>
                <a:spcPct val="103000"/>
              </a:lnSpc>
              <a:spcAft>
                <a:spcPts val="300"/>
              </a:spcAft>
              <a:defRPr sz="580">
                <a:solidFill>
                  <a:srgbClr val="21242A"/>
                </a:solidFill>
                <a:latin typeface="Microsoft YaHei"/>
              </a:defRPr>
            </a:pPr>
            <a:r>
              <a:t>（12.7%），中位进展时间6个月。</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摘要号：PF1034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N=62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分组：试验组1：大剂量甲氨蝶呤（HD-MTX）为基础化疗后，有效者接受自体干细胞移植（ASCT）和/或全脑放疗（WBRT）</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多组/多方案比较：试验组1：大剂量甲氨蝶呤（HD-MTX）为基础化疗后，有效者接受自体干细胞移植（ASCT）和/或全脑放疗（W...</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5年无进展生存率（PFS）为24%（95%CI=6-48），5年总生存率（OS）为51%（95%CI=45-57）||HD-M...</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人数：62</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登记号：NCT06024694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分组/治疗流程：试验组1：大剂量甲氨蝶呤（HD-MTX）为基础化疗后、有效者接受自体干细胞移植（ASCT）和/或全脑放疗（WBRT）；无效者接受脑部放疗或鞘内化疗（ITC）作为桥接、继以...</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CNS involvement in PMLBCL is rare and associated with poor outcomes.</a:t>
            </a:r>
          </a:p>
          <a:p>
            <a:pPr>
              <a:lnSpc>
                <a:spcPct val="103000"/>
              </a:lnSpc>
              <a:spcAft>
                <a:spcPts val="300"/>
              </a:spcAft>
              <a:defRPr sz="570">
                <a:solidFill>
                  <a:srgbClr val="21242A"/>
                </a:solidFill>
                <a:latin typeface="Microsoft YaHei"/>
              </a:defRPr>
            </a:pPr>
            <a:r>
              <a:t>The clinical features, prognosis and efficacy of modern CNS-directed therapies, including autologous transplantation (ASCT), and anti-CD19 CAR T-cell therapy (C</a:t>
            </a:r>
          </a:p>
          <a:p>
            <a:pPr>
              <a:lnSpc>
                <a:spcPct val="103000"/>
              </a:lnSpc>
              <a:spcAft>
                <a:spcPts val="300"/>
              </a:spcAft>
              <a:defRPr sz="570">
                <a:solidFill>
                  <a:srgbClr val="21242A"/>
                </a:solidFill>
                <a:latin typeface="Microsoft YaHei"/>
              </a:defRPr>
            </a:pPr>
            <a:r>
              <a:t>AR-T), remain poorly defined.</a:t>
            </a:r>
          </a:p>
          <a:p>
            <a:pPr>
              <a:lnSpc>
                <a:spcPct val="103000"/>
              </a:lnSpc>
              <a:spcAft>
                <a:spcPts val="300"/>
              </a:spcAft>
              <a:defRPr sz="570">
                <a:solidFill>
                  <a:srgbClr val="21242A"/>
                </a:solidFill>
                <a:latin typeface="Microsoft YaHei"/>
              </a:defRPr>
            </a:pPr>
            <a:r>
              <a:t>Aims: To provide management recommendations for CNS involvement in PMLBCL in routine practice.</a:t>
            </a:r>
          </a:p>
          <a:p>
            <a:pPr>
              <a:lnSpc>
                <a:spcPct val="103000"/>
              </a:lnSpc>
              <a:spcAft>
                <a:spcPts val="300"/>
              </a:spcAft>
              <a:defRPr sz="570">
                <a:solidFill>
                  <a:srgbClr val="21242A"/>
                </a:solidFill>
                <a:latin typeface="Microsoft YaHei"/>
              </a:defRPr>
            </a:pPr>
            <a:r>
              <a:t>Methods: Data on pts with PMLBCL and CNS involvement at diagnosis or relapse treated between 2001 and 2024 in 27 centers across 7 countries were analyzed (NCT06</a:t>
            </a:r>
          </a:p>
          <a:p>
            <a:pPr>
              <a:lnSpc>
                <a:spcPct val="103000"/>
              </a:lnSpc>
              <a:spcAft>
                <a:spcPts val="300"/>
              </a:spcAft>
              <a:defRPr sz="570">
                <a:solidFill>
                  <a:srgbClr val="21242A"/>
                </a:solidFill>
                <a:latin typeface="Microsoft YaHei"/>
              </a:defRPr>
            </a:pPr>
            <a:r>
              <a:t>024694).</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the largest series reported to date, durable remissions were achieved in PMLBCL pts with early CNS relapse treated with HD-MTX–based chemo followed by ASCT a</a:t>
            </a:r>
          </a:p>
          <a:p>
            <a:pPr>
              <a:lnSpc>
                <a:spcPct val="103000"/>
              </a:lnSpc>
              <a:spcAft>
                <a:spcPts val="300"/>
              </a:spcAft>
              <a:defRPr sz="590">
                <a:solidFill>
                  <a:srgbClr val="21242A"/>
                </a:solidFill>
                <a:latin typeface="Microsoft YaHei"/>
              </a:defRPr>
            </a:pPr>
            <a:r>
              <a:t>nd/or brain irradiation.</a:t>
            </a:r>
          </a:p>
          <a:p>
            <a:pPr>
              <a:lnSpc>
                <a:spcPct val="103000"/>
              </a:lnSpc>
              <a:spcAft>
                <a:spcPts val="300"/>
              </a:spcAft>
              <a:defRPr sz="590">
                <a:solidFill>
                  <a:srgbClr val="21242A"/>
                </a:solidFill>
                <a:latin typeface="Microsoft YaHei"/>
              </a:defRPr>
            </a:pPr>
            <a:r>
              <a:t>CAR-T, preceded by brain irradiation or ITC as bridging, provides long-term disease control even in HD-MTX-refractory pts.</a:t>
            </a:r>
          </a:p>
          <a:p>
            <a:pPr>
              <a:lnSpc>
                <a:spcPct val="103000"/>
              </a:lnSpc>
              <a:spcAft>
                <a:spcPts val="300"/>
              </a:spcAft>
              <a:defRPr sz="590">
                <a:solidFill>
                  <a:srgbClr val="21242A"/>
                </a:solidFill>
                <a:latin typeface="Microsoft YaHei"/>
              </a:defRPr>
            </a:pPr>
            <a:r>
              <a:t>In contrast, late CNS involvement in multiply relapsed PMLBCL has a dismal prognosis.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5年无进展生存率（PFS）为24%（95%CI=6-48），5年总生存率（OS）为51%（95%CI=45-57）||HD-MTX-based化疗后ASCT/WBRT或桥接治疗组（n=30）5年OS为83%（95%CI=63-92）||2015-2024年治疗的患者OS优于早期（5年OS 67% vs 38%</a:t>
            </a:r>
          </a:p>
          <a:p>
            <a:pPr>
              <a:lnSpc>
                <a:spcPct val="103000"/>
              </a:lnSpc>
              <a:spcAft>
                <a:spcPts val="300"/>
              </a:spcAft>
              <a:defRPr sz="580">
                <a:solidFill>
                  <a:srgbClr val="21242A"/>
                </a:solidFill>
                <a:latin typeface="Microsoft YaHei"/>
              </a:defRPr>
            </a:pPr>
            <a:r>
              <a:t>，p=0.04）</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摘要号：PF1040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皮下注射pembrolizumab治疗复发或难治性经典霍奇金淋巴瘤（chl）或原发性纵隔大b细胞淋巴瘤（pmbcl）的...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pharmacokinetics, efficacy, and safety of subcutaneous pembrolizumab in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经典型霍奇金淋巴瘤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试验药/方案：帕博利珠单抗皮下注射-MK3475A</a:t>
            </a:r>
          </a:p>
          <a:p>
            <a:pPr>
              <a:lnSpc>
                <a:spcPct val="103000"/>
              </a:lnSpc>
              <a:spcAft>
                <a:spcPts val="300"/>
              </a:spcAft>
              <a:defRPr sz="800">
                <a:solidFill>
                  <a:srgbClr val="21242A"/>
                </a:solidFill>
                <a:latin typeface="Microsoft YaHei"/>
              </a:defRPr>
            </a:pPr>
            <a:r>
              <a:t>靶点：PD-1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第1周期药代动力学：AUC0-6几何均值1716 mcg*day/mL，变异度47%</a:t>
            </a:r>
          </a:p>
          <a:p>
            <a:pPr>
              <a:lnSpc>
                <a:spcPct val="103000"/>
              </a:lnSpc>
              <a:spcAft>
                <a:spcPts val="300"/>
              </a:spcAft>
              <a:defRPr sz="800">
                <a:solidFill>
                  <a:srgbClr val="21242A"/>
                </a:solidFill>
                <a:latin typeface="Microsoft YaHei"/>
              </a:defRPr>
            </a:pPr>
            <a:r>
              <a:t>Cmax几何均值75.06 mcg/mL，变异度48%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人数：53</a:t>
            </a:r>
          </a:p>
          <a:p>
            <a:pPr>
              <a:lnSpc>
                <a:spcPct val="103000"/>
              </a:lnSpc>
              <a:spcAft>
                <a:spcPts val="300"/>
              </a:spcAft>
              <a:defRPr sz="810">
                <a:solidFill>
                  <a:srgbClr val="21242A"/>
                </a:solidFill>
                <a:latin typeface="Microsoft YaHei"/>
              </a:defRPr>
            </a:pPr>
            <a:r>
              <a:t>适应症：原发纵隔大B细胞淋巴瘤、经典型霍奇金淋巴瘤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登记号：NCT06504394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试验药/方案：帕博利珠单抗皮下注射-MK3475A</a:t>
            </a:r>
          </a:p>
          <a:p>
            <a:pPr>
              <a:lnSpc>
                <a:spcPct val="103000"/>
              </a:lnSpc>
              <a:spcAft>
                <a:spcPts val="300"/>
              </a:spcAft>
              <a:defRPr sz="810">
                <a:solidFill>
                  <a:srgbClr val="21242A"/>
                </a:solidFill>
                <a:latin typeface="Microsoft YaHei"/>
              </a:defRPr>
            </a:pPr>
            <a:r>
              <a:t>靶点：PD-1</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皮下注射pembrolizumab治疗复发或难治性经典霍奇金淋巴瘤（chl）或原发性纵隔大b细胞淋巴瘤（pmbcl）的...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pharmacokinetics, efficacy, and safety of subcutaneous pembrolizumab in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Pembrolizumab is a well-established intravenous PD-1 inhibitor for relapsed or refractory (R/R) cHL and PMBCL, administered Q3W or Q6W.</a:t>
            </a:r>
          </a:p>
          <a:p>
            <a:pPr>
              <a:lnSpc>
                <a:spcPct val="103000"/>
              </a:lnSpc>
              <a:spcAft>
                <a:spcPts val="300"/>
              </a:spcAft>
              <a:defRPr sz="570">
                <a:solidFill>
                  <a:srgbClr val="21242A"/>
                </a:solidFill>
                <a:latin typeface="Microsoft YaHei"/>
              </a:defRPr>
            </a:pPr>
            <a:r>
              <a:t>MK-3475A is pembrolizumab with berahyaluronidase alfa (MK-5180) for subcutaneous administration (subcutaneous pembrolizumab).</a:t>
            </a:r>
          </a:p>
          <a:p>
            <a:pPr>
              <a:lnSpc>
                <a:spcPct val="103000"/>
              </a:lnSpc>
              <a:spcAft>
                <a:spcPts val="300"/>
              </a:spcAft>
              <a:defRPr sz="570">
                <a:solidFill>
                  <a:srgbClr val="21242A"/>
                </a:solidFill>
                <a:latin typeface="Microsoft YaHei"/>
              </a:defRPr>
            </a:pPr>
            <a:r>
              <a:t>Berahyaluronidase alfa, a human hyaluronidase variant developed and manufactured by Alteogen Inc., is a permeation enhancer that enables subcutaneous administra</a:t>
            </a:r>
          </a:p>
          <a:p>
            <a:pPr>
              <a:lnSpc>
                <a:spcPct val="103000"/>
              </a:lnSpc>
              <a:spcAft>
                <a:spcPts val="300"/>
              </a:spcAft>
              <a:defRPr sz="570">
                <a:solidFill>
                  <a:srgbClr val="21242A"/>
                </a:solidFill>
                <a:latin typeface="Microsoft YaHei"/>
              </a:defRPr>
            </a:pPr>
            <a:r>
              <a:t>tion of pembrolizumab.</a:t>
            </a:r>
          </a:p>
          <a:p>
            <a:pPr>
              <a:lnSpc>
                <a:spcPct val="103000"/>
              </a:lnSpc>
              <a:spcAft>
                <a:spcPts val="300"/>
              </a:spcAft>
              <a:defRPr sz="570">
                <a:solidFill>
                  <a:srgbClr val="21242A"/>
                </a:solidFill>
                <a:latin typeface="Microsoft YaHei"/>
              </a:defRPr>
            </a:pPr>
            <a:r>
              <a:t>Subcutaneous pembrolizumab is approved globally (outside of the US) for the treatment of cHL and PMBCL.</a:t>
            </a:r>
          </a:p>
          <a:p>
            <a:pPr>
              <a:lnSpc>
                <a:spcPct val="103000"/>
              </a:lnSpc>
              <a:spcAft>
                <a:spcPts val="300"/>
              </a:spcAft>
              <a:defRPr sz="570">
                <a:solidFill>
                  <a:srgbClr val="21242A"/>
                </a:solidFill>
                <a:latin typeface="Microsoft YaHei"/>
              </a:defRPr>
            </a:pPr>
            <a:r>
              <a:t>Aims: To present pharmacokinetics (PK), efficacy, and safety from a single-arm, open-label, phase 2 study (NCT06504394) evaluating subcutaneous pembrolizumab in</a:t>
            </a:r>
          </a:p>
          <a:p>
            <a:pPr>
              <a:lnSpc>
                <a:spcPct val="103000"/>
              </a:lnSpc>
              <a:spcAft>
                <a:spcPts val="300"/>
              </a:spcAft>
              <a:defRPr sz="570">
                <a:solidFill>
                  <a:srgbClr val="21242A"/>
                </a:solidFill>
                <a:latin typeface="Microsoft YaHei"/>
              </a:defRPr>
            </a:pPr>
            <a:r>
              <a:t> participants with R/R cHL or R/R PMBCL.</a:t>
            </a:r>
          </a:p>
          <a:p>
            <a:pPr>
              <a:lnSpc>
                <a:spcPct val="103000"/>
              </a:lnSpc>
              <a:spcAft>
                <a:spcPts val="300"/>
              </a:spcAft>
              <a:defRPr sz="570">
                <a:solidFill>
                  <a:srgbClr val="21242A"/>
                </a:solidFill>
                <a:latin typeface="Microsoft YaHei"/>
              </a:defRPr>
            </a:pPr>
            <a:r>
              <a:t>Methods: Eligible participants were ≥18 years with histologically confirmed, FDG-avid cHL or PMBCL per WHO criteria, radiographically measurable disease, and an</a:t>
            </a:r>
          </a:p>
          <a:p>
            <a:pPr>
              <a:lnSpc>
                <a:spcPct val="103000"/>
              </a:lnSpc>
              <a:spcAft>
                <a:spcPts val="300"/>
              </a:spcAft>
              <a:defRPr sz="570">
                <a:solidFill>
                  <a:srgbClr val="21242A"/>
                </a:solidFill>
                <a:latin typeface="Microsoft YaHei"/>
              </a:defRPr>
            </a:pPr>
            <a:r>
              <a:t> ECOG PS of 0 or 1.</a:t>
            </a:r>
          </a:p>
          <a:p>
            <a:pPr>
              <a:lnSpc>
                <a:spcPct val="103000"/>
              </a:lnSpc>
              <a:spcAft>
                <a:spcPts val="300"/>
              </a:spcAft>
              <a:defRPr sz="570">
                <a:solidFill>
                  <a:srgbClr val="21242A"/>
                </a:solidFill>
                <a:latin typeface="Microsoft YaHei"/>
              </a:defRPr>
            </a:pPr>
            <a:r>
              <a:t>Participants with cHL or PMBCL were anti–PD-1 naive and had disease that was refractory to, did not achieve CR with, or had relapsed after prior therapy.</a:t>
            </a:r>
          </a:p>
          <a:p>
            <a:pPr>
              <a:lnSpc>
                <a:spcPct val="103000"/>
              </a:lnSpc>
              <a:spcAft>
                <a:spcPts val="300"/>
              </a:spcAft>
              <a:defRPr sz="570">
                <a:solidFill>
                  <a:srgbClr val="21242A"/>
                </a:solidFill>
                <a:latin typeface="Microsoft YaHei"/>
              </a:defRPr>
            </a:pPr>
            <a:r>
              <a:t>Participants with cHL had received ≥1 multiagent regimen, and participants with PMBCL had received ≥2 prior therapies (including ≥1 rituximab-based regimen).</a:t>
            </a:r>
          </a:p>
          <a:p>
            <a:pPr>
              <a:lnSpc>
                <a:spcPct val="103000"/>
              </a:lnSpc>
              <a:spcAft>
                <a:spcPts val="300"/>
              </a:spcAft>
              <a:defRPr sz="570">
                <a:solidFill>
                  <a:srgbClr val="21242A"/>
                </a:solidFill>
                <a:latin typeface="Microsoft YaHei"/>
              </a:defRPr>
            </a:pPr>
            <a:r>
              <a:t>All participants were ineligible for or had relapsed after autologous stem cell transplant.</a:t>
            </a:r>
          </a:p>
          <a:p>
            <a:pPr>
              <a:lnSpc>
                <a:spcPct val="103000"/>
              </a:lnSpc>
              <a:spcAft>
                <a:spcPts val="300"/>
              </a:spcAft>
              <a:defRPr sz="570">
                <a:solidFill>
                  <a:srgbClr val="21242A"/>
                </a:solidFill>
                <a:latin typeface="Microsoft YaHei"/>
              </a:defRPr>
            </a:pPr>
            <a:r>
              <a:t>Participants received subcutaneous pembrolizumab 790 mg Q6W for ≤18 cycles (~2 years) or until disease progression or other discontinuation criteria were met.</a:t>
            </a:r>
          </a:p>
          <a:p>
            <a:pPr>
              <a:lnSpc>
                <a:spcPct val="103000"/>
              </a:lnSpc>
              <a:spcAft>
                <a:spcPts val="300"/>
              </a:spcAft>
              <a:defRPr sz="570">
                <a:solidFill>
                  <a:srgbClr val="21242A"/>
                </a:solidFill>
                <a:latin typeface="Microsoft YaHei"/>
              </a:defRPr>
            </a:pPr>
            <a:r>
              <a:t>Primary end points were PK exposure measures during cycle 1 (C1) and ORR per Lugano criteria by investigator.</a:t>
            </a:r>
          </a:p>
          <a:p>
            <a:pPr>
              <a:lnSpc>
                <a:spcPct val="103000"/>
              </a:lnSpc>
              <a:spcAft>
                <a:spcPts val="300"/>
              </a:spcAft>
              <a:defRPr sz="570">
                <a:solidFill>
                  <a:srgbClr val="21242A"/>
                </a:solidFill>
                <a:latin typeface="Microsoft YaHei"/>
              </a:defRPr>
            </a:pPr>
            <a:r>
              <a:t>Intensive PK samples were collected during C1, and noncompartmental analysis methods were used to determine PK end points based on observed data.</a:t>
            </a:r>
          </a:p>
          <a:p>
            <a:pPr>
              <a:lnSpc>
                <a:spcPct val="103000"/>
              </a:lnSpc>
              <a:spcAft>
                <a:spcPts val="300"/>
              </a:spcAft>
              <a:defRPr sz="570">
                <a:solidFill>
                  <a:srgbClr val="21242A"/>
                </a:solidFill>
                <a:latin typeface="Microsoft YaHei"/>
              </a:defRPr>
            </a:pPr>
            <a:r>
              <a:t>Secondary end points included safety. Data cutoff date was June 10, 2025.</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PK profile of subcutaneous pembrolizumab in participants with hematologic tumors was similar to that in solid tumors and was consistent with the typical PK </a:t>
            </a:r>
          </a:p>
          <a:p>
            <a:pPr>
              <a:lnSpc>
                <a:spcPct val="103000"/>
              </a:lnSpc>
              <a:spcAft>
                <a:spcPts val="300"/>
              </a:spcAft>
              <a:defRPr sz="590">
                <a:solidFill>
                  <a:srgbClr val="21242A"/>
                </a:solidFill>
                <a:latin typeface="Microsoft YaHei"/>
              </a:defRPr>
            </a:pPr>
            <a:r>
              <a:t>profile for subcutaneous monoclonal antibodies (Figure).</a:t>
            </a:r>
          </a:p>
          <a:p>
            <a:pPr>
              <a:lnSpc>
                <a:spcPct val="103000"/>
              </a:lnSpc>
              <a:spcAft>
                <a:spcPts val="300"/>
              </a:spcAft>
              <a:defRPr sz="590">
                <a:solidFill>
                  <a:srgbClr val="21242A"/>
                </a:solidFill>
                <a:latin typeface="Microsoft YaHei"/>
              </a:defRPr>
            </a:pPr>
            <a:r>
              <a:t>Subcutaneous pembrolizumab at a dose of 790 mg Q6W showed a manageable safety profile and efficacy consistent with intravenous pembrolizumab.</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49961">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49961">
                <a:tc>
                  <a:txBody>
                    <a:bodyPr wrap="square" lIns="36576" rIns="36576" tIns="18288" bIns="18288"/>
                    <a:lstStyle/>
                    <a:p>
                      <a:r>
                        <a:rPr sz="540" b="1">
                          <a:solidFill>
                            <a:srgbClr val="21242A"/>
                          </a:solidFill>
                          <a:latin typeface="Microsoft YaHei"/>
                        </a:rPr>
                        <a:t>第1周期药代动力学</a:t>
                      </a:r>
                    </a:p>
                  </a:txBody>
                  <a:tcPr>
                    <a:solidFill>
                      <a:srgbClr val="F6F8FB"/>
                    </a:solidFill>
                  </a:tcPr>
                </a:tc>
                <a:tc>
                  <a:txBody>
                    <a:bodyPr wrap="square" lIns="36576" rIns="36576" tIns="18288" bIns="18288"/>
                    <a:lstStyle/>
                    <a:p>
                      <a:r>
                        <a:rPr sz="540" b="0">
                          <a:solidFill>
                            <a:srgbClr val="21242A"/>
                          </a:solidFill>
                          <a:latin typeface="Microsoft YaHei"/>
                        </a:rPr>
                        <a:t>AUC0-6几何均值1716 mcg*day/mL，变异度47%；Cmax几何均值75.06 mcg/mL，变异度48%；Ctrough几何均值25.17 mcg/mL，变异度62%</a:t>
                      </a:r>
                    </a:p>
                  </a:txBody>
                  <a:tcPr>
                    <a:solidFill>
                      <a:srgbClr val="F6F8FB"/>
                    </a:solidFill>
                  </a:tcPr>
                </a:tc>
              </a:tr>
              <a:tr h="149961">
                <a:tc>
                  <a:txBody>
                    <a:bodyPr wrap="square" lIns="36576" rIns="36576" tIns="18288" bIns="18288"/>
                    <a:lstStyle/>
                    <a:p>
                      <a:r>
                        <a:rPr sz="540" b="1">
                          <a:solidFill>
                            <a:srgbClr val="21242A"/>
                          </a:solidFill>
                          <a:latin typeface="Microsoft YaHei"/>
                        </a:rPr>
                        <a:t>客观缓解率（ORR）</a:t>
                      </a:r>
                    </a:p>
                  </a:txBody>
                  <a:tcPr>
                    <a:solidFill>
                      <a:srgbClr val="FFFFFF"/>
                    </a:solidFill>
                  </a:tcPr>
                </a:tc>
                <a:tc>
                  <a:txBody>
                    <a:bodyPr wrap="square" lIns="36576" rIns="36576" tIns="18288" bIns="18288"/>
                    <a:lstStyle/>
                    <a:p>
                      <a:r>
                        <a:rPr sz="540" b="0">
                          <a:solidFill>
                            <a:srgbClr val="21242A"/>
                          </a:solidFill>
                          <a:latin typeface="Microsoft YaHei"/>
                        </a:rPr>
                        <a:t>71.4%（95% CI, 47.8-88.7）</a:t>
                      </a:r>
                    </a:p>
                  </a:txBody>
                  <a:tcPr>
                    <a:solidFill>
                      <a:srgbClr val="FFFFFF"/>
                    </a:solidFill>
                  </a:tcPr>
                </a:tc>
              </a:tr>
              <a:tr h="149961">
                <a:tc>
                  <a:txBody>
                    <a:bodyPr wrap="square" lIns="36576" rIns="36576" tIns="18288" bIns="18288"/>
                    <a:lstStyle/>
                    <a:p>
                      <a:r>
                        <a:rPr sz="540" b="1">
                          <a:solidFill>
                            <a:srgbClr val="21242A"/>
                          </a:solidFill>
                          <a:latin typeface="Microsoft YaHei"/>
                        </a:rPr>
                        <a:t>完全缓解（CR）</a:t>
                      </a:r>
                    </a:p>
                  </a:txBody>
                  <a:tcPr>
                    <a:solidFill>
                      <a:srgbClr val="F6F8FB"/>
                    </a:solidFill>
                  </a:tcPr>
                </a:tc>
                <a:tc>
                  <a:txBody>
                    <a:bodyPr wrap="square" lIns="36576" rIns="36576" tIns="18288" bIns="18288"/>
                    <a:lstStyle/>
                    <a:p>
                      <a:r>
                        <a:rPr sz="540" b="0">
                          <a:solidFill>
                            <a:srgbClr val="21242A"/>
                          </a:solidFill>
                          <a:latin typeface="Microsoft YaHei"/>
                        </a:rPr>
                        <a:t>33%</a:t>
                      </a:r>
                    </a:p>
                  </a:txBody>
                  <a:tcPr>
                    <a:solidFill>
                      <a:srgbClr val="F6F8FB"/>
                    </a:solidFill>
                  </a:tcPr>
                </a:tc>
              </a:tr>
              <a:tr h="149961">
                <a:tc>
                  <a:txBody>
                    <a:bodyPr wrap="square" lIns="36576" rIns="36576" tIns="18288" bIns="18288"/>
                    <a:lstStyle/>
                    <a:p>
                      <a:r>
                        <a:rPr sz="540" b="1">
                          <a:solidFill>
                            <a:srgbClr val="21242A"/>
                          </a:solidFill>
                          <a:latin typeface="Microsoft YaHei"/>
                        </a:rPr>
                        <a:t>部分缓解（PR）</a:t>
                      </a:r>
                    </a:p>
                  </a:txBody>
                  <a:tcPr>
                    <a:solidFill>
                      <a:srgbClr val="FFFFFF"/>
                    </a:solidFill>
                  </a:tcPr>
                </a:tc>
                <a:tc>
                  <a:txBody>
                    <a:bodyPr wrap="square" lIns="36576" rIns="36576" tIns="18288" bIns="18288"/>
                    <a:lstStyle/>
                    <a:p>
                      <a:r>
                        <a:rPr sz="540" b="0">
                          <a:solidFill>
                            <a:srgbClr val="21242A"/>
                          </a:solidFill>
                          <a:latin typeface="Microsoft YaHei"/>
                        </a:rPr>
                        <a:t>38%</a:t>
                      </a:r>
                    </a:p>
                  </a:txBody>
                  <a:tcPr>
                    <a:solidFill>
                      <a:srgbClr val="FFFFFF"/>
                    </a:solidFill>
                  </a:tcPr>
                </a:tc>
              </a:tr>
              <a:tr h="149961">
                <a:tc>
                  <a:txBody>
                    <a:bodyPr wrap="square" lIns="36576" rIns="36576" tIns="18288" bIns="18288"/>
                    <a:lstStyle/>
                    <a:p>
                      <a:r>
                        <a:rPr sz="540" b="1">
                          <a:solidFill>
                            <a:srgbClr val="21242A"/>
                          </a:solidFill>
                          <a:latin typeface="Microsoft YaHei"/>
                        </a:rPr>
                        <a:t>任何级别治疗相关不良事件（TRAEs）</a:t>
                      </a:r>
                    </a:p>
                  </a:txBody>
                  <a:tcPr>
                    <a:solidFill>
                      <a:srgbClr val="F6F8FB"/>
                    </a:solidFill>
                  </a:tcPr>
                </a:tc>
                <a:tc>
                  <a:txBody>
                    <a:bodyPr wrap="square" lIns="36576" rIns="36576" tIns="18288" bIns="18288"/>
                    <a:lstStyle/>
                    <a:p>
                      <a:r>
                        <a:rPr sz="540" b="0">
                          <a:solidFill>
                            <a:srgbClr val="21242A"/>
                          </a:solidFill>
                          <a:latin typeface="Microsoft YaHei"/>
                        </a:rPr>
                        <a:t>51%；最常见（≥5%）瘙痒9%、皮疹8%、关节痛6%、甲状腺功能减退6%、肌痛6%</a:t>
                      </a:r>
                    </a:p>
                  </a:txBody>
                  <a:tcPr>
                    <a:solidFill>
                      <a:srgbClr val="F6F8FB"/>
                    </a:solidFill>
                  </a:tcPr>
                </a:tc>
              </a:tr>
              <a:tr h="149961">
                <a:tc>
                  <a:txBody>
                    <a:bodyPr wrap="square" lIns="36576" rIns="36576" tIns="18288" bIns="18288"/>
                    <a:lstStyle/>
                    <a:p>
                      <a:r>
                        <a:rPr sz="540" b="1">
                          <a:solidFill>
                            <a:srgbClr val="21242A"/>
                          </a:solidFill>
                          <a:latin typeface="Microsoft YaHei"/>
                        </a:rPr>
                        <a:t>3/4级TRAEs</a:t>
                      </a:r>
                    </a:p>
                  </a:txBody>
                  <a:tcPr>
                    <a:solidFill>
                      <a:srgbClr val="FFFFFF"/>
                    </a:solidFill>
                  </a:tcPr>
                </a:tc>
                <a:tc>
                  <a:txBody>
                    <a:bodyPr wrap="square" lIns="36576" rIns="36576" tIns="18288" bIns="18288"/>
                    <a:lstStyle/>
                    <a:p>
                      <a:r>
                        <a:rPr sz="540" b="0">
                          <a:solidFill>
                            <a:srgbClr val="21242A"/>
                          </a:solidFill>
                          <a:latin typeface="Microsoft YaHei"/>
                        </a:rPr>
                        <a:t>9%</a:t>
                      </a:r>
                    </a:p>
                  </a:txBody>
                  <a:tcPr>
                    <a:solidFill>
                      <a:srgbClr val="FFFFFF"/>
                    </a:solidFill>
                  </a:tcPr>
                </a:tc>
              </a:tr>
              <a:tr h="149961">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无因TRAEs停药或死亡</a:t>
                      </a:r>
                    </a:p>
                  </a:txBody>
                  <a:tcPr>
                    <a:solidFill>
                      <a:srgbClr val="F6F8FB"/>
                    </a:solidFill>
                  </a:tcPr>
                </a:tc>
              </a:tr>
              <a:tr h="149961">
                <a:tc>
                  <a:txBody>
                    <a:bodyPr wrap="square" lIns="36576" rIns="36576" tIns="18288" bIns="18288"/>
                    <a:lstStyle/>
                    <a:p>
                      <a:r>
                        <a:rPr sz="540" b="1">
                          <a:solidFill>
                            <a:srgbClr val="21242A"/>
                          </a:solidFill>
                          <a:latin typeface="Microsoft YaHei"/>
                        </a:rPr>
                        <a:t>免疫相关不良事件和输液反应</a:t>
                      </a:r>
                    </a:p>
                  </a:txBody>
                  <a:tcPr>
                    <a:solidFill>
                      <a:srgbClr val="FFFFFF"/>
                    </a:solidFill>
                  </a:tcPr>
                </a:tc>
                <a:tc>
                  <a:txBody>
                    <a:bodyPr wrap="square" lIns="36576" rIns="36576" tIns="18288" bIns="18288"/>
                    <a:lstStyle/>
                    <a:p>
                      <a:r>
                        <a:rPr sz="540" b="0">
                          <a:solidFill>
                            <a:srgbClr val="21242A"/>
                          </a:solidFill>
                          <a:latin typeface="Microsoft YaHei"/>
                        </a:rPr>
                        <a:t>9%</a:t>
                      </a:r>
                    </a:p>
                  </a:txBody>
                  <a:tcPr>
                    <a:solidFill>
                      <a:srgbClr val="FFFFFF"/>
                    </a:solidFill>
                  </a:tcPr>
                </a:tc>
              </a:tr>
              <a:tr h="149967">
                <a:tc>
                  <a:txBody>
                    <a:bodyPr wrap="square" lIns="36576" rIns="36576" tIns="18288" bIns="18288"/>
                    <a:lstStyle/>
                    <a:p>
                      <a:r>
                        <a:rPr sz="540" b="1">
                          <a:solidFill>
                            <a:srgbClr val="21242A"/>
                          </a:solidFill>
                          <a:latin typeface="Microsoft YaHei"/>
                        </a:rPr>
                        <a:t>3/4级</a:t>
                      </a:r>
                    </a:p>
                  </a:txBody>
                  <a:tcPr>
                    <a:solidFill>
                      <a:srgbClr val="F6F8FB"/>
                    </a:solidFill>
                  </a:tcPr>
                </a:tc>
                <a:tc>
                  <a:txBody>
                    <a:bodyPr wrap="square" lIns="36576" rIns="36576" tIns="18288" bIns="18288"/>
                    <a:lstStyle/>
                    <a:p>
                      <a:r>
                        <a:rPr sz="540" b="0">
                          <a:solidFill>
                            <a:srgbClr val="21242A"/>
                          </a:solidFill>
                          <a:latin typeface="Microsoft YaHei"/>
                        </a:rPr>
                        <a:t>4%</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摘要号：PS2021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原发性纵隔b细胞淋巴瘤简单预后指标pmbcl-pi的建立及外部验证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external validation of a simple prognostic index for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N=383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回顾性临床研究结果：development and external validation of a simple progn...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5年总生存率（开发队列）：低风险组90%，中风险组77%，高风险组52%</a:t>
            </a:r>
          </a:p>
          <a:p>
            <a:pPr>
              <a:lnSpc>
                <a:spcPct val="103000"/>
              </a:lnSpc>
              <a:spcAft>
                <a:spcPts val="300"/>
              </a:spcAft>
              <a:defRPr sz="800">
                <a:solidFill>
                  <a:srgbClr val="21242A"/>
                </a:solidFill>
                <a:latin typeface="Microsoft YaHei"/>
              </a:defRPr>
            </a:pPr>
            <a:r>
              <a:t>5年无进展生存率（开发队列）：低风险组79%，中风险组56%，高风险组27%。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人数：383</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研究主题：development and external validation of a simple prognostic index for primary mediastinal b-cell lymphoma: pmbcl-pi</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原发性纵隔b细胞淋巴瘤简单预后指标pmbcl-pi的建立及外部验证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external validation of a simple prognostic index for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mediastinal B-cell lymphoma (PMBCL) is a distinct subtype of aggressive B-cell lymphoma, predominantly affecting young adults.</a:t>
            </a:r>
          </a:p>
          <a:p>
            <a:pPr>
              <a:lnSpc>
                <a:spcPct val="103000"/>
              </a:lnSpc>
              <a:spcAft>
                <a:spcPts val="300"/>
              </a:spcAft>
              <a:defRPr sz="570">
                <a:solidFill>
                  <a:srgbClr val="21242A"/>
                </a:solidFill>
                <a:latin typeface="Microsoft YaHei"/>
              </a:defRPr>
            </a:pPr>
            <a:r>
              <a:t>While overall outcomes are favorable, a clinically relevant subset of patients experience early progression or death.</a:t>
            </a:r>
          </a:p>
          <a:p>
            <a:pPr>
              <a:lnSpc>
                <a:spcPct val="103000"/>
              </a:lnSpc>
              <a:spcAft>
                <a:spcPts val="300"/>
              </a:spcAft>
              <a:defRPr sz="570">
                <a:solidFill>
                  <a:srgbClr val="21242A"/>
                </a:solidFill>
                <a:latin typeface="Microsoft YaHei"/>
              </a:defRPr>
            </a:pPr>
            <a:r>
              <a:t>To date, no widely accepted, disease-specific prognostic index exists for PMBCL, and risk stratification largely relies on tools developed for diffuse large B-c</a:t>
            </a:r>
          </a:p>
          <a:p>
            <a:pPr>
              <a:lnSpc>
                <a:spcPct val="103000"/>
              </a:lnSpc>
              <a:spcAft>
                <a:spcPts val="300"/>
              </a:spcAft>
              <a:defRPr sz="570">
                <a:solidFill>
                  <a:srgbClr val="21242A"/>
                </a:solidFill>
                <a:latin typeface="Microsoft YaHei"/>
              </a:defRPr>
            </a:pPr>
            <a:r>
              <a:t>ell lymphoma.</a:t>
            </a:r>
          </a:p>
          <a:p>
            <a:pPr>
              <a:lnSpc>
                <a:spcPct val="103000"/>
              </a:lnSpc>
              <a:spcAft>
                <a:spcPts val="300"/>
              </a:spcAft>
              <a:defRPr sz="570">
                <a:solidFill>
                  <a:srgbClr val="21242A"/>
                </a:solidFill>
                <a:latin typeface="Microsoft YaHei"/>
              </a:defRPr>
            </a:pPr>
            <a:r>
              <a:t>Accurate prognostic stratification in PMBCL is clinically relevant for identifying patients at higher risk, informing treatment selection strategies, and optimi</a:t>
            </a:r>
          </a:p>
          <a:p>
            <a:pPr>
              <a:lnSpc>
                <a:spcPct val="103000"/>
              </a:lnSpc>
              <a:spcAft>
                <a:spcPts val="300"/>
              </a:spcAft>
              <a:defRPr sz="570">
                <a:solidFill>
                  <a:srgbClr val="21242A"/>
                </a:solidFill>
                <a:latin typeface="Microsoft YaHei"/>
              </a:defRPr>
            </a:pPr>
            <a:r>
              <a:t>zing patient selection and stratification in prospective clinical trials.</a:t>
            </a:r>
          </a:p>
          <a:p>
            <a:pPr>
              <a:lnSpc>
                <a:spcPct val="103000"/>
              </a:lnSpc>
              <a:spcAft>
                <a:spcPts val="300"/>
              </a:spcAft>
              <a:defRPr sz="570">
                <a:solidFill>
                  <a:srgbClr val="21242A"/>
                </a:solidFill>
                <a:latin typeface="Microsoft YaHei"/>
              </a:defRPr>
            </a:pPr>
            <a:r>
              <a:t>Aims: To develop and externally validate a simple, point-based prognostic index for overall survival (OS) and progression-free survival (PFS) in patients with P</a:t>
            </a:r>
          </a:p>
          <a:p>
            <a:pPr>
              <a:lnSpc>
                <a:spcPct val="103000"/>
              </a:lnSpc>
              <a:spcAft>
                <a:spcPts val="300"/>
              </a:spcAft>
              <a:defRPr sz="570">
                <a:solidFill>
                  <a:srgbClr val="21242A"/>
                </a:solidFill>
                <a:latin typeface="Microsoft YaHei"/>
              </a:defRPr>
            </a:pPr>
            <a:r>
              <a:t>MBCL, using routinely available baseline clinical variables.</a:t>
            </a:r>
          </a:p>
          <a:p>
            <a:pPr>
              <a:lnSpc>
                <a:spcPct val="103000"/>
              </a:lnSpc>
              <a:spcAft>
                <a:spcPts val="300"/>
              </a:spcAft>
              <a:defRPr sz="570">
                <a:solidFill>
                  <a:srgbClr val="21242A"/>
                </a:solidFill>
                <a:latin typeface="Microsoft YaHei"/>
              </a:defRPr>
            </a:pPr>
            <a:r>
              <a:t>Methods: A retrospective multicenter cohort of 155 patients with PMBCL diagnosed between 2006–2024 in Turkey was used for model development.</a:t>
            </a:r>
          </a:p>
          <a:p>
            <a:pPr>
              <a:lnSpc>
                <a:spcPct val="103000"/>
              </a:lnSpc>
              <a:spcAft>
                <a:spcPts val="300"/>
              </a:spcAft>
              <a:defRPr sz="570">
                <a:solidFill>
                  <a:srgbClr val="21242A"/>
                </a:solidFill>
                <a:latin typeface="Microsoft YaHei"/>
              </a:defRPr>
            </a:pPr>
            <a:r>
              <a:t>The prognostic index incorporated age &gt;45 years, ECOG performance status ≥2, Ann Arbor stage ≥III, and hemoglobin \n External validation used data from the Dani</a:t>
            </a:r>
          </a:p>
          <a:p>
            <a:pPr>
              <a:lnSpc>
                <a:spcPct val="103000"/>
              </a:lnSpc>
              <a:spcAft>
                <a:spcPts val="300"/>
              </a:spcAft>
              <a:defRPr sz="570">
                <a:solidFill>
                  <a:srgbClr val="21242A"/>
                </a:solidFill>
                <a:latin typeface="Microsoft YaHei"/>
              </a:defRPr>
            </a:pPr>
            <a:r>
              <a:t>sh Lymphoma Registry, including 228 patients diagnosed during 2000–2025.</a:t>
            </a:r>
          </a:p>
          <a:p>
            <a:pPr>
              <a:lnSpc>
                <a:spcPct val="103000"/>
              </a:lnSpc>
              <a:spcAft>
                <a:spcPts val="300"/>
              </a:spcAft>
              <a:defRPr sz="570">
                <a:solidFill>
                  <a:srgbClr val="21242A"/>
                </a:solidFill>
                <a:latin typeface="Microsoft YaHei"/>
              </a:defRPr>
            </a:pPr>
            <a:r>
              <a:t>Model performance was evaluated using Kaplan–Meier survival analysis with log-rank tests, Cox proportional hazards regression, and discrimination assessed by Ha</a:t>
            </a:r>
          </a:p>
          <a:p>
            <a:pPr>
              <a:lnSpc>
                <a:spcPct val="103000"/>
              </a:lnSpc>
              <a:spcAft>
                <a:spcPts val="300"/>
              </a:spcAft>
              <a:defRPr sz="570">
                <a:solidFill>
                  <a:srgbClr val="21242A"/>
                </a:solidFill>
                <a:latin typeface="Microsoft YaHei"/>
              </a:defRPr>
            </a:pPr>
            <a:r>
              <a:t>rrell’s concordance index (C-index).</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PMBCL-PI is a simple, disease-specific, point-based prognostic index that reliably stratifies patients with PMBCL according to relative risk using routinely</a:t>
            </a:r>
          </a:p>
          <a:p>
            <a:pPr>
              <a:lnSpc>
                <a:spcPct val="103000"/>
              </a:lnSpc>
              <a:spcAft>
                <a:spcPts val="300"/>
              </a:spcAft>
              <a:defRPr sz="590">
                <a:solidFill>
                  <a:srgbClr val="21242A"/>
                </a:solidFill>
                <a:latin typeface="Microsoft YaHei"/>
              </a:defRPr>
            </a:pPr>
            <a:r>
              <a:t> available clinical variables.</a:t>
            </a:r>
          </a:p>
          <a:p>
            <a:pPr>
              <a:lnSpc>
                <a:spcPct val="103000"/>
              </a:lnSpc>
              <a:spcAft>
                <a:spcPts val="300"/>
              </a:spcAft>
              <a:defRPr sz="590">
                <a:solidFill>
                  <a:srgbClr val="21242A"/>
                </a:solidFill>
                <a:latin typeface="Microsoft YaHei"/>
              </a:defRPr>
            </a:pPr>
            <a:r>
              <a:t>The model demonstrates robust discrimination in both development and external validation cohorts.</a:t>
            </a:r>
          </a:p>
          <a:p>
            <a:pPr>
              <a:lnSpc>
                <a:spcPct val="103000"/>
              </a:lnSpc>
              <a:spcAft>
                <a:spcPts val="300"/>
              </a:spcAft>
              <a:defRPr sz="590">
                <a:solidFill>
                  <a:srgbClr val="21242A"/>
                </a:solidFill>
                <a:latin typeface="Microsoft YaHei"/>
              </a:defRPr>
            </a:pPr>
            <a:r>
              <a:t>To enhance clinical applicability, the PMBCL-PI has been implemented as an online decision-support tool, available at https://lymphomapredictor.rn.dk/.</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5年总生存率（开发队列）</a:t>
                      </a:r>
                    </a:p>
                  </a:txBody>
                  <a:tcPr>
                    <a:solidFill>
                      <a:srgbClr val="F6F8FB"/>
                    </a:solidFill>
                  </a:tcPr>
                </a:tc>
                <a:tc>
                  <a:txBody>
                    <a:bodyPr wrap="square" lIns="36576" rIns="36576" tIns="18288" bIns="18288"/>
                    <a:lstStyle/>
                    <a:p>
                      <a:r>
                        <a:rPr sz="540" b="0">
                          <a:solidFill>
                            <a:srgbClr val="21242A"/>
                          </a:solidFill>
                          <a:latin typeface="Microsoft YaHei"/>
                        </a:rPr>
                        <a:t>低风险组90%，中风险组77%，高风险组52%</a:t>
                      </a:r>
                    </a:p>
                  </a:txBody>
                  <a:tcPr>
                    <a:solidFill>
                      <a:srgbClr val="F6F8FB"/>
                    </a:solidFill>
                  </a:tcPr>
                </a:tc>
              </a:tr>
              <a:tr h="299923">
                <a:tc>
                  <a:txBody>
                    <a:bodyPr wrap="square" lIns="36576" rIns="36576" tIns="18288" bIns="18288"/>
                    <a:lstStyle/>
                    <a:p>
                      <a:r>
                        <a:rPr sz="540" b="1">
                          <a:solidFill>
                            <a:srgbClr val="21242A"/>
                          </a:solidFill>
                          <a:latin typeface="Microsoft YaHei"/>
                        </a:rPr>
                        <a:t>5年无进展生存率（开发队列）</a:t>
                      </a:r>
                    </a:p>
                  </a:txBody>
                  <a:tcPr>
                    <a:solidFill>
                      <a:srgbClr val="FFFFFF"/>
                    </a:solidFill>
                  </a:tcPr>
                </a:tc>
                <a:tc>
                  <a:txBody>
                    <a:bodyPr wrap="square" lIns="36576" rIns="36576" tIns="18288" bIns="18288"/>
                    <a:lstStyle/>
                    <a:p>
                      <a:r>
                        <a:rPr sz="540" b="0">
                          <a:solidFill>
                            <a:srgbClr val="21242A"/>
                          </a:solidFill>
                          <a:latin typeface="Microsoft YaHei"/>
                        </a:rPr>
                        <a:t>低风险组79%，中风险组56%，高风险组27%。</a:t>
                      </a:r>
                    </a:p>
                  </a:txBody>
                  <a:tcPr>
                    <a:solidFill>
                      <a:srgbClr val="FFFFFF"/>
                    </a:solidFill>
                  </a:tcPr>
                </a:tc>
              </a:tr>
              <a:tr h="299923">
                <a:tc>
                  <a:txBody>
                    <a:bodyPr wrap="square" lIns="36576" rIns="36576" tIns="18288" bIns="18288"/>
                    <a:lstStyle/>
                    <a:p>
                      <a:r>
                        <a:rPr sz="540" b="1">
                          <a:solidFill>
                            <a:srgbClr val="21242A"/>
                          </a:solidFill>
                          <a:latin typeface="Microsoft YaHei"/>
                        </a:rPr>
                        <a:t>5年总生存率（验证队列）</a:t>
                      </a:r>
                    </a:p>
                  </a:txBody>
                  <a:tcPr>
                    <a:solidFill>
                      <a:srgbClr val="F6F8FB"/>
                    </a:solidFill>
                  </a:tcPr>
                </a:tc>
                <a:tc>
                  <a:txBody>
                    <a:bodyPr wrap="square" lIns="36576" rIns="36576" tIns="18288" bIns="18288"/>
                    <a:lstStyle/>
                    <a:p>
                      <a:r>
                        <a:rPr sz="540" b="0">
                          <a:solidFill>
                            <a:srgbClr val="21242A"/>
                          </a:solidFill>
                          <a:latin typeface="Microsoft YaHei"/>
                        </a:rPr>
                        <a:t>低风险组100%，中风险组92%，高风险组81%</a:t>
                      </a:r>
                    </a:p>
                  </a:txBody>
                  <a:tcPr>
                    <a:solidFill>
                      <a:srgbClr val="F6F8FB"/>
                    </a:solidFill>
                  </a:tcPr>
                </a:tc>
              </a:tr>
              <a:tr h="299924">
                <a:tc>
                  <a:txBody>
                    <a:bodyPr wrap="square" lIns="36576" rIns="36576" tIns="18288" bIns="18288"/>
                    <a:lstStyle/>
                    <a:p>
                      <a:r>
                        <a:rPr sz="540" b="1">
                          <a:solidFill>
                            <a:srgbClr val="21242A"/>
                          </a:solidFill>
                          <a:latin typeface="Microsoft YaHei"/>
                        </a:rPr>
                        <a:t>5年无进展生存率（验证队列）</a:t>
                      </a:r>
                    </a:p>
                  </a:txBody>
                  <a:tcPr>
                    <a:solidFill>
                      <a:srgbClr val="FFFFFF"/>
                    </a:solidFill>
                  </a:tcPr>
                </a:tc>
                <a:tc>
                  <a:txBody>
                    <a:bodyPr wrap="square" lIns="36576" rIns="36576" tIns="18288" bIns="18288"/>
                    <a:lstStyle/>
                    <a:p>
                      <a:r>
                        <a:rPr sz="540" b="0">
                          <a:solidFill>
                            <a:srgbClr val="21242A"/>
                          </a:solidFill>
                          <a:latin typeface="Microsoft YaHei"/>
                        </a:rPr>
                        <a:t>低风险组90%，中风险组81%，高风险组63%。</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摘要号：PF998</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前瞻性实时ctdna监测在弥漫性大b细胞淋巴瘤患者常规临床护理中的可行性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of prospective real-time ctdna monitoring in routine clinical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777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前瞻性临床研究结果：feasibility of prospective real-time ctdna monitoring...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主要终点：从采血到ctDNA报告的平均周转时间为18天</a:t>
            </a:r>
          </a:p>
          <a:p>
            <a:pPr>
              <a:lnSpc>
                <a:spcPct val="103000"/>
              </a:lnSpc>
              <a:spcAft>
                <a:spcPts val="300"/>
              </a:spcAft>
              <a:defRPr sz="800">
                <a:solidFill>
                  <a:srgbClr val="21242A"/>
                </a:solidFill>
                <a:latin typeface="Microsoft YaHei"/>
              </a:defRPr>
            </a:pPr>
            <a:r>
              <a:t>远处站点（&gt;200 km）为21天 vs 本地站点16天（p&lt;0.0001）||C2D1可检测到ctDNA的患者中，进展率显著...</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研究主题：feasibility of prospective real-time ctdna monitoring in routine clinical care of diffuse large b-cell lymphoma patients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前瞻性实时ctdna监测在弥漫性大b细胞淋巴瘤患者常规临床护理中的可行性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of prospective real-time ctdna monitoring in routine clinical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777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Over 25% of patients with diffuse large B cell lymphoma (DLBCL) do not respond to frontline chemotherapy or relapse within 12 months of completing t</a:t>
            </a:r>
          </a:p>
          <a:p>
            <a:pPr>
              <a:lnSpc>
                <a:spcPct val="103000"/>
              </a:lnSpc>
              <a:spcAft>
                <a:spcPts val="300"/>
              </a:spcAft>
              <a:defRPr sz="570">
                <a:solidFill>
                  <a:srgbClr val="21242A"/>
                </a:solidFill>
                <a:latin typeface="Microsoft YaHei"/>
              </a:defRPr>
            </a:pPr>
            <a:r>
              <a:t>herapy.</a:t>
            </a:r>
          </a:p>
          <a:p>
            <a:pPr>
              <a:lnSpc>
                <a:spcPct val="103000"/>
              </a:lnSpc>
              <a:spcAft>
                <a:spcPts val="300"/>
              </a:spcAft>
              <a:defRPr sz="570">
                <a:solidFill>
                  <a:srgbClr val="21242A"/>
                </a:solidFill>
                <a:latin typeface="Microsoft YaHei"/>
              </a:defRPr>
            </a:pPr>
            <a:r>
              <a:t>Half of these patients are eligible for second-line chimeric antigen receptor T cell (CART) therapy, but high tumor burden and low performance status decrease e</a:t>
            </a:r>
          </a:p>
          <a:p>
            <a:pPr>
              <a:lnSpc>
                <a:spcPct val="103000"/>
              </a:lnSpc>
              <a:spcAft>
                <a:spcPts val="300"/>
              </a:spcAft>
              <a:defRPr sz="570">
                <a:solidFill>
                  <a:srgbClr val="21242A"/>
                </a:solidFill>
                <a:latin typeface="Microsoft YaHei"/>
              </a:defRPr>
            </a:pPr>
            <a:r>
              <a:t>fficacy and increase toxicity.</a:t>
            </a:r>
          </a:p>
          <a:p>
            <a:pPr>
              <a:lnSpc>
                <a:spcPct val="103000"/>
              </a:lnSpc>
              <a:spcAft>
                <a:spcPts val="300"/>
              </a:spcAft>
              <a:defRPr sz="570">
                <a:solidFill>
                  <a:srgbClr val="21242A"/>
                </a:solidFill>
                <a:latin typeface="Microsoft YaHei"/>
              </a:defRPr>
            </a:pPr>
            <a:r>
              <a:t>Circulating tumor DNA (ctDNA) is a promising biomarker for monitoring treatment response in DLBCL, but its feasibility in routine clinical practice has not been</a:t>
            </a:r>
          </a:p>
          <a:p>
            <a:pPr>
              <a:lnSpc>
                <a:spcPct val="103000"/>
              </a:lnSpc>
              <a:spcAft>
                <a:spcPts val="300"/>
              </a:spcAft>
              <a:defRPr sz="570">
                <a:solidFill>
                  <a:srgbClr val="21242A"/>
                </a:solidFill>
                <a:latin typeface="Microsoft YaHei"/>
              </a:defRPr>
            </a:pPr>
            <a:r>
              <a:t> established.</a:t>
            </a:r>
          </a:p>
          <a:p>
            <a:pPr>
              <a:lnSpc>
                <a:spcPct val="103000"/>
              </a:lnSpc>
              <a:spcAft>
                <a:spcPts val="300"/>
              </a:spcAft>
              <a:defRPr sz="570">
                <a:solidFill>
                  <a:srgbClr val="21242A"/>
                </a:solidFill>
                <a:latin typeface="Microsoft YaHei"/>
              </a:defRPr>
            </a:pPr>
            <a:r>
              <a:t>Understanding logistical factors affecting turnaround time and data quality is critical for clinical implementation.</a:t>
            </a:r>
          </a:p>
          <a:p>
            <a:pPr>
              <a:lnSpc>
                <a:spcPct val="103000"/>
              </a:lnSpc>
              <a:spcAft>
                <a:spcPts val="300"/>
              </a:spcAft>
              <a:defRPr sz="570">
                <a:solidFill>
                  <a:srgbClr val="21242A"/>
                </a:solidFill>
                <a:latin typeface="Microsoft YaHei"/>
              </a:defRPr>
            </a:pPr>
            <a:r>
              <a:t>We developed a 195-gene panel to detect treatment failure as early as cycle 2, day 1 (C2D1) of first-line therapy in a retrospective cohort of 245 patients.</a:t>
            </a:r>
          </a:p>
          <a:p>
            <a:pPr>
              <a:lnSpc>
                <a:spcPct val="103000"/>
              </a:lnSpc>
              <a:spcAft>
                <a:spcPts val="300"/>
              </a:spcAft>
              <a:defRPr sz="570">
                <a:solidFill>
                  <a:srgbClr val="21242A"/>
                </a:solidFill>
                <a:latin typeface="Microsoft YaHei"/>
              </a:defRPr>
            </a:pPr>
            <a:r>
              <a:t>Aims: We evaluated the feasibility and clinical utility of our panel to detect early relapsed DLBCL in a prospective cohort of 75 patients.</a:t>
            </a:r>
          </a:p>
          <a:p>
            <a:pPr>
              <a:lnSpc>
                <a:spcPct val="103000"/>
              </a:lnSpc>
              <a:spcAft>
                <a:spcPts val="300"/>
              </a:spcAft>
              <a:defRPr sz="570">
                <a:solidFill>
                  <a:srgbClr val="21242A"/>
                </a:solidFill>
                <a:latin typeface="Microsoft YaHei"/>
              </a:defRPr>
            </a:pPr>
            <a:r>
              <a:t>We hypothesized the assay could be performed in real time within 3 weeks of collection.</a:t>
            </a:r>
          </a:p>
          <a:p>
            <a:pPr>
              <a:lnSpc>
                <a:spcPct val="103000"/>
              </a:lnSpc>
              <a:spcAft>
                <a:spcPts val="300"/>
              </a:spcAft>
              <a:defRPr sz="570">
                <a:solidFill>
                  <a:srgbClr val="21242A"/>
                </a:solidFill>
                <a:latin typeface="Microsoft YaHei"/>
              </a:defRPr>
            </a:pPr>
            <a:r>
              <a:t>The primary endpoint was the turnaround time from blood collection to ctDNA reporting at C2D1.</a:t>
            </a:r>
          </a:p>
          <a:p>
            <a:pPr>
              <a:lnSpc>
                <a:spcPct val="103000"/>
              </a:lnSpc>
              <a:spcAft>
                <a:spcPts val="300"/>
              </a:spcAft>
              <a:defRPr sz="570">
                <a:solidFill>
                  <a:srgbClr val="21242A"/>
                </a:solidFill>
                <a:latin typeface="Microsoft YaHei"/>
              </a:defRPr>
            </a:pPr>
            <a:r>
              <a:t>The secondary objective was to determine the optimal timing for ctDNA testing at C2D1, C3D1, and end of treatment (EOT).</a:t>
            </a:r>
          </a:p>
          <a:p>
            <a:pPr>
              <a:lnSpc>
                <a:spcPct val="103000"/>
              </a:lnSpc>
              <a:spcAft>
                <a:spcPts val="300"/>
              </a:spcAft>
              <a:defRPr sz="570">
                <a:solidFill>
                  <a:srgbClr val="21242A"/>
                </a:solidFill>
                <a:latin typeface="Microsoft YaHei"/>
              </a:defRPr>
            </a:pPr>
            <a:r>
              <a:t>Methods: Patients with de novo or transformed DLBCL undergoing curative-intent chemotherapy were enrolled from five Canadian hospitals.</a:t>
            </a:r>
          </a:p>
          <a:p>
            <a:pPr>
              <a:lnSpc>
                <a:spcPct val="103000"/>
              </a:lnSpc>
              <a:spcAft>
                <a:spcPts val="300"/>
              </a:spcAft>
              <a:defRPr sz="570">
                <a:solidFill>
                  <a:srgbClr val="21242A"/>
                </a:solidFill>
                <a:latin typeface="Microsoft YaHei"/>
              </a:defRPr>
            </a:pPr>
            <a:r>
              <a:t>Plasma samples were collected in Streck tubes at diagnosis (DX), C2D1, C3D1, EOT, and follow-up.</a:t>
            </a:r>
          </a:p>
          <a:p>
            <a:pPr>
              <a:lnSpc>
                <a:spcPct val="103000"/>
              </a:lnSpc>
              <a:spcAft>
                <a:spcPts val="300"/>
              </a:spcAft>
              <a:defRPr sz="570">
                <a:solidFill>
                  <a:srgbClr val="21242A"/>
                </a:solidFill>
                <a:latin typeface="Microsoft YaHei"/>
              </a:defRPr>
            </a:pPr>
            <a:r>
              <a:t>ctDNA was extracted from 5mL plasma and hybrid-capture libraries were prepared using a dual-UMI approach, then sequenced on a NextSeq 2000 (1500× coverage).</a:t>
            </a:r>
          </a:p>
          <a:p>
            <a:pPr>
              <a:lnSpc>
                <a:spcPct val="103000"/>
              </a:lnSpc>
              <a:spcAft>
                <a:spcPts val="300"/>
              </a:spcAft>
              <a:defRPr sz="570">
                <a:solidFill>
                  <a:srgbClr val="21242A"/>
                </a:solidFill>
                <a:latin typeface="Microsoft YaHei"/>
              </a:defRPr>
            </a:pPr>
            <a:r>
              <a:t>Finally, somatic variants were called using germline-filtered and error-suppressed data. Results did not change clinical management.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Real-time ctDNA profiling is feasible, but logistical challenges for clinical implementation remain.</a:t>
            </a:r>
          </a:p>
          <a:p>
            <a:pPr>
              <a:lnSpc>
                <a:spcPct val="103000"/>
              </a:lnSpc>
              <a:spcAft>
                <a:spcPts val="300"/>
              </a:spcAft>
              <a:defRPr sz="590">
                <a:solidFill>
                  <a:srgbClr val="21242A"/>
                </a:solidFill>
                <a:latin typeface="Microsoft YaHei"/>
              </a:defRPr>
            </a:pPr>
            <a:r>
              <a:t>There is significant attrition among refractory DLBCL patients eligible for CART in real-world settings.</a:t>
            </a:r>
          </a:p>
          <a:p>
            <a:pPr>
              <a:lnSpc>
                <a:spcPct val="103000"/>
              </a:lnSpc>
              <a:spcAft>
                <a:spcPts val="300"/>
              </a:spcAft>
              <a:defRPr sz="590">
                <a:solidFill>
                  <a:srgbClr val="21242A"/>
                </a:solidFill>
                <a:latin typeface="Microsoft YaHei"/>
              </a:defRPr>
            </a:pPr>
            <a:r>
              <a:t>Our panel can identify high-risk patients as early as C2D1, supporting early intervention trials.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Between March 2024 and December 2025, 75 patients enrolled, provided 425 samples; 68 completed treatment (study ongoing).</a:t>
            </a:r>
          </a:p>
          <a:p>
            <a:pPr>
              <a:lnSpc>
                <a:spcPct val="103000"/>
              </a:lnSpc>
              <a:spcAft>
                <a:spcPts val="300"/>
              </a:spcAft>
              <a:defRPr sz="580">
                <a:solidFill>
                  <a:srgbClr val="21242A"/>
                </a:solidFill>
                <a:latin typeface="Microsoft YaHei"/>
              </a:defRPr>
            </a:pPr>
            <a:r>
              <a:t>The mean age was 63; 44 patients had IPI&gt;3, 10 had prior indolent lymphoma, and 13 experienced disease progression (PD).</a:t>
            </a:r>
          </a:p>
          <a:p>
            <a:pPr>
              <a:lnSpc>
                <a:spcPct val="103000"/>
              </a:lnSpc>
              <a:spcAft>
                <a:spcPts val="300"/>
              </a:spcAft>
              <a:defRPr sz="580">
                <a:solidFill>
                  <a:srgbClr val="21242A"/>
                </a:solidFill>
                <a:latin typeface="Microsoft YaHei"/>
              </a:defRPr>
            </a:pPr>
            <a:r>
              <a:t>The mean turnaround time was 18 days, with distant sites (&gt;200 km) requiring 21 days versus 16 days for local sites (p 3 (p Barriers to CART included poor </a:t>
            </a:r>
          </a:p>
          <a:p>
            <a:pPr>
              <a:lnSpc>
                <a:spcPct val="103000"/>
              </a:lnSpc>
              <a:spcAft>
                <a:spcPts val="300"/>
              </a:spcAft>
              <a:defRPr sz="580">
                <a:solidFill>
                  <a:srgbClr val="21242A"/>
                </a:solidFill>
                <a:latin typeface="Microsoft YaHei"/>
              </a:defRPr>
            </a:pPr>
            <a:r>
              <a:t>performance status and high disease burden (n=6) and age/frailty (n=4).</a:t>
            </a:r>
          </a:p>
          <a:p>
            <a:pPr>
              <a:lnSpc>
                <a:spcPct val="103000"/>
              </a:lnSpc>
              <a:spcAft>
                <a:spcPts val="300"/>
              </a:spcAft>
              <a:defRPr sz="580">
                <a:solidFill>
                  <a:srgbClr val="21242A"/>
                </a:solidFill>
                <a:latin typeface="Microsoft YaHei"/>
              </a:defRPr>
            </a:pPr>
            <a:r>
              <a:t>Mortality was 70% among PD patients. Conclusion: Real-time ctDNA profiling is feasible, but logistical challenges for clinical implementation remain.</a:t>
            </a:r>
          </a:p>
          <a:p>
            <a:pPr>
              <a:lnSpc>
                <a:spcPct val="103000"/>
              </a:lnSpc>
              <a:spcAft>
                <a:spcPts val="300"/>
              </a:spcAft>
              <a:defRPr sz="580">
                <a:solidFill>
                  <a:srgbClr val="21242A"/>
                </a:solidFill>
                <a:latin typeface="Microsoft YaHei"/>
              </a:defRPr>
            </a:pPr>
            <a:r>
              <a:t>There is significant attrition among refractory DLBCL patients eligible for CART in real-world settings.</a:t>
            </a:r>
          </a:p>
          <a:p>
            <a:pPr>
              <a:lnSpc>
                <a:spcPct val="103000"/>
              </a:lnSpc>
              <a:spcAft>
                <a:spcPts val="300"/>
              </a:spcAft>
              <a:defRPr sz="580">
                <a:solidFill>
                  <a:srgbClr val="21242A"/>
                </a:solidFill>
                <a:latin typeface="Microsoft YaHei"/>
              </a:defRPr>
            </a:pPr>
            <a:r>
              <a:t>Our panel can identify high-risk patients as early as C2D1, supporting early intervention trials.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ciloleucel作为晚期复发大b细胞淋巴瘤患者的二线治疗：西班牙淋巴瘤组geltamo晚...</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axicabtagene ciloleucel as second-line treatment in patients with late-relaps...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3个月完全缓解率（CR rate）：90%（基于21例可评估患者）</a:t>
            </a:r>
          </a:p>
          <a:p>
            <a:pPr>
              <a:lnSpc>
                <a:spcPct val="103000"/>
              </a:lnSpc>
              <a:spcAft>
                <a:spcPts val="300"/>
              </a:spcAft>
              <a:defRPr sz="800">
                <a:solidFill>
                  <a:srgbClr val="21242A"/>
                </a:solidFill>
                <a:latin typeface="Microsoft YaHei"/>
              </a:defRPr>
            </a:pPr>
            <a:r>
              <a:t>3个月总缓解率（ORR）：95%（基于21例可评估患者）</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登记号：NCT07254754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ciloleucel作为晚期复发大b细胞淋巴瘤患者的二线治疗：西班牙淋巴瘤组geltamo晚...</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axicabtagene ciloleucel as second-line treatment in patients with late-relaps...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CAR T-cell therapy is the standard of care for patients with diffuse large B-cell lymphoma (DLBCL) experiencing early relapse or primary refractory </a:t>
            </a:r>
          </a:p>
          <a:p>
            <a:pPr>
              <a:lnSpc>
                <a:spcPct val="103000"/>
              </a:lnSpc>
              <a:spcAft>
                <a:spcPts val="300"/>
              </a:spcAft>
              <a:defRPr sz="570">
                <a:solidFill>
                  <a:srgbClr val="21242A"/>
                </a:solidFill>
                <a:latin typeface="Microsoft YaHei"/>
              </a:defRPr>
            </a:pPr>
            <a:r>
              <a:t>disease.</a:t>
            </a:r>
          </a:p>
          <a:p>
            <a:pPr>
              <a:lnSpc>
                <a:spcPct val="103000"/>
              </a:lnSpc>
              <a:spcAft>
                <a:spcPts val="300"/>
              </a:spcAft>
              <a:defRPr sz="570">
                <a:solidFill>
                  <a:srgbClr val="21242A"/>
                </a:solidFill>
                <a:latin typeface="Microsoft YaHei"/>
              </a:defRPr>
            </a:pPr>
            <a:r>
              <a:t>In contrast, patients who relapse 12 months after first-line chemoimmunotherapy (CIT) represent a clinically heterogeneous population for whom prospective clini</a:t>
            </a:r>
          </a:p>
          <a:p>
            <a:pPr>
              <a:lnSpc>
                <a:spcPct val="103000"/>
              </a:lnSpc>
              <a:spcAft>
                <a:spcPts val="300"/>
              </a:spcAft>
              <a:defRPr sz="570">
                <a:solidFill>
                  <a:srgbClr val="21242A"/>
                </a:solidFill>
                <a:latin typeface="Microsoft YaHei"/>
              </a:defRPr>
            </a:pPr>
            <a:r>
              <a:t>cal trials specifically evaluating the role of CAR T-cell therapy are lacking.</a:t>
            </a:r>
          </a:p>
          <a:p>
            <a:pPr>
              <a:lnSpc>
                <a:spcPct val="103000"/>
              </a:lnSpc>
              <a:spcAft>
                <a:spcPts val="300"/>
              </a:spcAft>
              <a:defRPr sz="570">
                <a:solidFill>
                  <a:srgbClr val="21242A"/>
                </a:solidFill>
                <a:latin typeface="Microsoft YaHei"/>
              </a:defRPr>
            </a:pPr>
            <a:r>
              <a:t>Aims: The LATE-R trial was designed to evaluate the efficacy and safety of axicabtagene ciloleucel (axi-cel) in patients with late-relapsing aggressive B-cell l</a:t>
            </a:r>
          </a:p>
          <a:p>
            <a:pPr>
              <a:lnSpc>
                <a:spcPct val="103000"/>
              </a:lnSpc>
              <a:spcAft>
                <a:spcPts val="300"/>
              </a:spcAft>
              <a:defRPr sz="570">
                <a:solidFill>
                  <a:srgbClr val="21242A"/>
                </a:solidFill>
                <a:latin typeface="Microsoft YaHei"/>
              </a:defRPr>
            </a:pPr>
            <a:r>
              <a:t>ymphomas.</a:t>
            </a:r>
          </a:p>
          <a:p>
            <a:pPr>
              <a:lnSpc>
                <a:spcPct val="103000"/>
              </a:lnSpc>
              <a:spcAft>
                <a:spcPts val="300"/>
              </a:spcAft>
              <a:defRPr sz="570">
                <a:solidFill>
                  <a:srgbClr val="21242A"/>
                </a:solidFill>
                <a:latin typeface="Microsoft YaHei"/>
              </a:defRPr>
            </a:pPr>
            <a:r>
              <a:t>Methods: This is an open-label, multicenter, single-arm, phase II study sponsored by GELTAMO in collaboration with Kite, a Gilead Company, Inc.</a:t>
            </a:r>
          </a:p>
          <a:p>
            <a:pPr>
              <a:lnSpc>
                <a:spcPct val="103000"/>
              </a:lnSpc>
              <a:spcAft>
                <a:spcPts val="300"/>
              </a:spcAft>
              <a:defRPr sz="570">
                <a:solidFill>
                  <a:srgbClr val="21242A"/>
                </a:solidFill>
                <a:latin typeface="Microsoft YaHei"/>
              </a:defRPr>
            </a:pPr>
            <a:r>
              <a:t>Eligible patients were ≥18 years with either DLBCL, transformed follicular lymphoma (tFL), or high-grade B-cell lymphoma (HGBCL), relapsing 12–60 months after c</a:t>
            </a:r>
          </a:p>
          <a:p>
            <a:pPr>
              <a:lnSpc>
                <a:spcPct val="103000"/>
              </a:lnSpc>
              <a:spcAft>
                <a:spcPts val="300"/>
              </a:spcAft>
              <a:defRPr sz="570">
                <a:solidFill>
                  <a:srgbClr val="21242A"/>
                </a:solidFill>
                <a:latin typeface="Microsoft YaHei"/>
              </a:defRPr>
            </a:pPr>
            <a:r>
              <a:t>ompletion of first-line CIT.</a:t>
            </a:r>
          </a:p>
          <a:p>
            <a:pPr>
              <a:lnSpc>
                <a:spcPct val="103000"/>
              </a:lnSpc>
              <a:spcAft>
                <a:spcPts val="300"/>
              </a:spcAft>
              <a:defRPr sz="570">
                <a:solidFill>
                  <a:srgbClr val="21242A"/>
                </a:solidFill>
                <a:latin typeface="Microsoft YaHei"/>
              </a:defRPr>
            </a:pPr>
            <a:r>
              <a:t>Bridging therapy was allowed at investigator discretion.</a:t>
            </a:r>
          </a:p>
          <a:p>
            <a:pPr>
              <a:lnSpc>
                <a:spcPct val="103000"/>
              </a:lnSpc>
              <a:spcAft>
                <a:spcPts val="300"/>
              </a:spcAft>
              <a:defRPr sz="570">
                <a:solidFill>
                  <a:srgbClr val="21242A"/>
                </a:solidFill>
                <a:latin typeface="Microsoft YaHei"/>
              </a:defRPr>
            </a:pPr>
            <a:r>
              <a:t>The primary endpoint was complete response (CR) rate at 3 months after axi-cel infusion, assessed locally by PET-CT according to standard criteria.</a:t>
            </a:r>
          </a:p>
          <a:p>
            <a:pPr>
              <a:lnSpc>
                <a:spcPct val="103000"/>
              </a:lnSpc>
              <a:spcAft>
                <a:spcPts val="300"/>
              </a:spcAft>
              <a:defRPr sz="570">
                <a:solidFill>
                  <a:srgbClr val="21242A"/>
                </a:solidFill>
                <a:latin typeface="Microsoft YaHei"/>
              </a:defRPr>
            </a:pPr>
            <a:r>
              <a:t>Secondary endpoints included overall response rate (ORR), progression-free survival (PFS), overall survival (OS) and safety.</a:t>
            </a:r>
          </a:p>
          <a:p>
            <a:pPr>
              <a:lnSpc>
                <a:spcPct val="103000"/>
              </a:lnSpc>
              <a:spcAft>
                <a:spcPts val="300"/>
              </a:spcAft>
              <a:defRPr sz="570">
                <a:solidFill>
                  <a:srgbClr val="21242A"/>
                </a:solidFill>
                <a:latin typeface="Microsoft YaHei"/>
              </a:defRPr>
            </a:pPr>
            <a:r>
              <a:t>Herein we present an interim analysis pre-specified in the protocol.</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interim analysis of the LATE-R trial, axi-cel demonstrated remarkably high CR rates in patients with late-relapsing aggressive B-cell lymphomas treated </a:t>
            </a:r>
          </a:p>
          <a:p>
            <a:pPr>
              <a:lnSpc>
                <a:spcPct val="103000"/>
              </a:lnSpc>
              <a:spcAft>
                <a:spcPts val="300"/>
              </a:spcAft>
              <a:defRPr sz="590">
                <a:solidFill>
                  <a:srgbClr val="21242A"/>
                </a:solidFill>
                <a:latin typeface="Microsoft YaHei"/>
              </a:defRPr>
            </a:pPr>
            <a:r>
              <a:t>in the second-line setting, with a manageable toxicity profile consistent with the known risks of axi-cel.</a:t>
            </a:r>
          </a:p>
          <a:p>
            <a:pPr>
              <a:lnSpc>
                <a:spcPct val="103000"/>
              </a:lnSpc>
              <a:spcAft>
                <a:spcPts val="300"/>
              </a:spcAft>
              <a:defRPr sz="590">
                <a:solidFill>
                  <a:srgbClr val="21242A"/>
                </a:solidFill>
                <a:latin typeface="Microsoft YaHei"/>
              </a:defRPr>
            </a:pPr>
            <a:r>
              <a:t>These findings suggest that patients with late CIT relapses could benefit from axi-cel and support its use in this clinical setting.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As of December 31 st 2025 (cut-off), 35 patients underwent leukapheresis and 31 had received axi-cel and were included in the present analysis.</a:t>
            </a:r>
          </a:p>
          <a:p>
            <a:pPr>
              <a:lnSpc>
                <a:spcPct val="103000"/>
              </a:lnSpc>
              <a:spcAft>
                <a:spcPts val="300"/>
              </a:spcAft>
              <a:defRPr sz="580">
                <a:solidFill>
                  <a:srgbClr val="21242A"/>
                </a:solidFill>
                <a:latin typeface="Microsoft YaHei"/>
              </a:defRPr>
            </a:pPr>
            <a:r>
              <a:t>Median age was 63 years (range 28–79) and 19 (54%) patients were male.</a:t>
            </a:r>
          </a:p>
          <a:p>
            <a:pPr>
              <a:lnSpc>
                <a:spcPct val="103000"/>
              </a:lnSpc>
              <a:spcAft>
                <a:spcPts val="300"/>
              </a:spcAft>
              <a:defRPr sz="580">
                <a:solidFill>
                  <a:srgbClr val="21242A"/>
                </a:solidFill>
                <a:latin typeface="Microsoft YaHei"/>
              </a:defRPr>
            </a:pPr>
            <a:r>
              <a:t>At study entry, 49% had relapsed within 12–24 months and 51% within 24–60 months from first-line CIT; 26% of patients had HBCL double hit, 83% showed Ann A</a:t>
            </a:r>
          </a:p>
          <a:p>
            <a:pPr>
              <a:lnSpc>
                <a:spcPct val="103000"/>
              </a:lnSpc>
              <a:spcAft>
                <a:spcPts val="300"/>
              </a:spcAft>
              <a:defRPr sz="580">
                <a:solidFill>
                  <a:srgbClr val="21242A"/>
                </a:solidFill>
                <a:latin typeface="Microsoft YaHei"/>
              </a:defRPr>
            </a:pPr>
            <a:r>
              <a:t>rbor stage III–IV and 74% had an IPI ≥2.</a:t>
            </a:r>
          </a:p>
          <a:p>
            <a:pPr>
              <a:lnSpc>
                <a:spcPct val="103000"/>
              </a:lnSpc>
              <a:spcAft>
                <a:spcPts val="300"/>
              </a:spcAft>
              <a:defRPr sz="580">
                <a:solidFill>
                  <a:srgbClr val="21242A"/>
                </a:solidFill>
                <a:latin typeface="Microsoft YaHei"/>
              </a:defRPr>
            </a:pPr>
            <a:r>
              <a:t>\n The CR rate and ORR at 3 months among the 21 patients who had reached this time point at the time of data cutoff were 90% and 95%, respectively.</a:t>
            </a:r>
          </a:p>
          <a:p>
            <a:pPr>
              <a:lnSpc>
                <a:spcPct val="103000"/>
              </a:lnSpc>
              <a:spcAft>
                <a:spcPts val="300"/>
              </a:spcAft>
              <a:defRPr sz="580">
                <a:solidFill>
                  <a:srgbClr val="21242A"/>
                </a:solidFill>
                <a:latin typeface="Microsoft YaHei"/>
              </a:defRPr>
            </a:pPr>
            <a:r>
              <a:t>With a median follow-up of 5.9 months (Q1-Q3: 2,4-8.7), the median progression-free survival (PFS) and overall survival (OS) had not been reached.</a:t>
            </a:r>
          </a:p>
          <a:p>
            <a:pPr>
              <a:lnSpc>
                <a:spcPct val="103000"/>
              </a:lnSpc>
              <a:spcAft>
                <a:spcPts val="300"/>
              </a:spcAft>
              <a:defRPr sz="580">
                <a:solidFill>
                  <a:srgbClr val="21242A"/>
                </a:solidFill>
                <a:latin typeface="Microsoft YaHei"/>
              </a:defRPr>
            </a:pPr>
            <a:r>
              <a:t>The estimated 6-month PFS and OS were 87.0% (95% CI 68.0-100) and 95.7% (95% CI 86.7-100), respectively (Figure).</a:t>
            </a:r>
          </a:p>
          <a:p>
            <a:pPr>
              <a:lnSpc>
                <a:spcPct val="103000"/>
              </a:lnSpc>
              <a:spcAft>
                <a:spcPts val="300"/>
              </a:spcAft>
              <a:defRPr sz="580">
                <a:solidFill>
                  <a:srgbClr val="21242A"/>
                </a:solidFill>
                <a:latin typeface="Microsoft YaHei"/>
              </a:defRPr>
            </a:pPr>
            <a:r>
              <a:t>\n Regarding safety, a total of 81 adverse events classified as serious adverse events (SAEs) or adverse events of special interest (AESIs) and occurring o</a:t>
            </a:r>
          </a:p>
          <a:p>
            <a:pPr>
              <a:lnSpc>
                <a:spcPct val="103000"/>
              </a:lnSpc>
              <a:spcAft>
                <a:spcPts val="300"/>
              </a:spcAft>
              <a:defRPr sz="580">
                <a:solidFill>
                  <a:srgbClr val="21242A"/>
                </a:solidFill>
                <a:latin typeface="Microsoft YaHei"/>
              </a:defRPr>
            </a:pPr>
            <a:r>
              <a:t>n or before the cut-off time, were reported.</a:t>
            </a:r>
          </a:p>
          <a:p>
            <a:pPr>
              <a:lnSpc>
                <a:spcPct val="103000"/>
              </a:lnSpc>
              <a:spcAft>
                <a:spcPts val="300"/>
              </a:spcAft>
              <a:defRPr sz="580">
                <a:solidFill>
                  <a:srgbClr val="21242A"/>
                </a:solidFill>
                <a:latin typeface="Microsoft YaHei"/>
              </a:defRPr>
            </a:pPr>
            <a:r>
              <a:t>Cytokine release syndrome (CRS) occurred in 74% of patients, predominantly grade 1 (37%) and 2 (28.6%); grade ≥3 CRS was infrequent (8.6%), with no grade 4</a:t>
            </a:r>
          </a:p>
          <a:p>
            <a:pPr>
              <a:lnSpc>
                <a:spcPct val="103000"/>
              </a:lnSpc>
              <a:spcAft>
                <a:spcPts val="300"/>
              </a:spcAft>
              <a:defRPr sz="580">
                <a:solidFill>
                  <a:srgbClr val="21242A"/>
                </a:solidFill>
                <a:latin typeface="Microsoft YaHei"/>
              </a:defRPr>
            </a:pPr>
            <a:r>
              <a:t>–5 events.</a:t>
            </a:r>
          </a:p>
          <a:p>
            <a:pPr>
              <a:lnSpc>
                <a:spcPct val="103000"/>
              </a:lnSpc>
              <a:spcAft>
                <a:spcPts val="300"/>
              </a:spcAft>
              <a:defRPr sz="580">
                <a:solidFill>
                  <a:srgbClr val="21242A"/>
                </a:solidFill>
                <a:latin typeface="Microsoft YaHei"/>
              </a:defRPr>
            </a:pPr>
            <a:r>
              <a:t>Immune effector cell–associated neurotoxicity syndrome (ICANS) was reported in 45.7% of patients.</a:t>
            </a:r>
          </a:p>
          <a:p>
            <a:pPr>
              <a:lnSpc>
                <a:spcPct val="103000"/>
              </a:lnSpc>
              <a:spcAft>
                <a:spcPts val="300"/>
              </a:spcAft>
              <a:defRPr sz="580">
                <a:solidFill>
                  <a:srgbClr val="21242A"/>
                </a:solidFill>
                <a:latin typeface="Microsoft YaHei"/>
              </a:defRPr>
            </a:pPr>
            <a:r>
              <a:t>Most events were low to moderate in severity, with grade 3 and 4 events occurring in 14.6% and 8.3% of patients, respectively; no grade 5 neurotoxicity was</a:t>
            </a:r>
          </a:p>
          <a:p>
            <a:pPr>
              <a:lnSpc>
                <a:spcPct val="103000"/>
              </a:lnSpc>
              <a:spcAft>
                <a:spcPts val="300"/>
              </a:spcAft>
              <a:defRPr sz="580">
                <a:solidFill>
                  <a:srgbClr val="21242A"/>
                </a:solidFill>
                <a:latin typeface="Microsoft YaHei"/>
              </a:defRPr>
            </a:pPr>
            <a:r>
              <a:t> observed.</a:t>
            </a:r>
          </a:p>
          <a:p>
            <a:pPr>
              <a:lnSpc>
                <a:spcPct val="103000"/>
              </a:lnSpc>
              <a:spcAft>
                <a:spcPts val="300"/>
              </a:spcAft>
              <a:defRPr sz="580">
                <a:solidFill>
                  <a:srgbClr val="21242A"/>
                </a:solidFill>
                <a:latin typeface="Microsoft YaHei"/>
              </a:defRPr>
            </a:pPr>
            <a:r>
              <a:t>Hematologic toxicities were common, with thrombocytopenia (20%) and neutropenia (17.1%) being the most frequently reported grade ≥3 cytopenias.</a:t>
            </a:r>
          </a:p>
          <a:p>
            <a:pPr>
              <a:lnSpc>
                <a:spcPct val="103000"/>
              </a:lnSpc>
              <a:spcAft>
                <a:spcPts val="300"/>
              </a:spcAft>
              <a:defRPr sz="580">
                <a:solidFill>
                  <a:srgbClr val="21242A"/>
                </a:solidFill>
                <a:latin typeface="Microsoft YaHei"/>
              </a:defRPr>
            </a:pPr>
            <a:r>
              <a:t>Severe infections were reported in 5 cases (14%), including one patient who died due to a septic shock at 34 days from axi-cel infusion.</a:t>
            </a:r>
          </a:p>
          <a:p>
            <a:pPr>
              <a:lnSpc>
                <a:spcPct val="103000"/>
              </a:lnSpc>
              <a:spcAft>
                <a:spcPts val="300"/>
              </a:spcAft>
              <a:defRPr sz="580">
                <a:solidFill>
                  <a:srgbClr val="21242A"/>
                </a:solidFill>
                <a:latin typeface="Microsoft YaHei"/>
              </a:defRPr>
            </a:pPr>
            <a:r>
              <a:t>Conclusion: In this interim analysis of the LATE-R trial, axi-cel demonstrated remarkably high CR rates in patients with late-relapsing aggressive B-cell l</a:t>
            </a:r>
          </a:p>
          <a:p>
            <a:pPr>
              <a:lnSpc>
                <a:spcPct val="103000"/>
              </a:lnSpc>
              <a:spcAft>
                <a:spcPts val="300"/>
              </a:spcAft>
              <a:defRPr sz="580">
                <a:solidFill>
                  <a:srgbClr val="21242A"/>
                </a:solidFill>
                <a:latin typeface="Microsoft YaHei"/>
              </a:defRPr>
            </a:pPr>
            <a:r>
              <a:t>ymphomas treated in the second-line setting, with a manageable toxicity profile consistent with the known risks of axi-cel.</a:t>
            </a:r>
          </a:p>
          <a:p>
            <a:pPr>
              <a:lnSpc>
                <a:spcPct val="103000"/>
              </a:lnSpc>
              <a:spcAft>
                <a:spcPts val="300"/>
              </a:spcAft>
              <a:defRPr sz="580">
                <a:solidFill>
                  <a:srgbClr val="21242A"/>
                </a:solidFill>
                <a:latin typeface="Microsoft YaHei"/>
              </a:defRPr>
            </a:pPr>
            <a:r>
              <a:t>These findings suggest that patients with late CIT relapses could benefit from axi-cel and support its use in this clinical setting.</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抗cd19 car t细胞治疗后长期细胞减少症的基线t细胞库偏斜和效应cd8t细胞动力学</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baseline t-cell repertoire skewing and effector cd8 t-cell dynamics in prolon...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B细胞急性淋巴细胞白血病，弥漫性大B细胞淋巴瘤</a:t>
            </a:r>
          </a:p>
          <a:p>
            <a:pPr>
              <a:lnSpc>
                <a:spcPct val="103000"/>
              </a:lnSpc>
              <a:spcAft>
                <a:spcPts val="300"/>
              </a:spcAft>
              <a:defRPr sz="800">
                <a:solidFill>
                  <a:srgbClr val="21242A"/>
                </a:solidFill>
                <a:latin typeface="Microsoft YaHei"/>
              </a:defRPr>
            </a:pPr>
            <a:r>
              <a:t>N=10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前瞻性临床研究结果：baseline t-cell repertoire skewing and effector cd8 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扩增T细胞克隆比例：长期血细胞减少组56%，无血细胞减少组22%，p=0.05||T细胞受体库多样性（Shannon指数）：长...</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人数：10</a:t>
            </a:r>
          </a:p>
          <a:p>
            <a:pPr>
              <a:lnSpc>
                <a:spcPct val="103000"/>
              </a:lnSpc>
              <a:spcAft>
                <a:spcPts val="300"/>
              </a:spcAft>
              <a:defRPr sz="810">
                <a:solidFill>
                  <a:srgbClr val="21242A"/>
                </a:solidFill>
                <a:latin typeface="Microsoft YaHei"/>
              </a:defRPr>
            </a:pPr>
            <a:r>
              <a:t>适应症：B细胞急性淋巴细胞白血病、弥漫性大B细胞淋巴瘤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研究主题：baseline t-cell repertoire skewing and effector cd8 t-cell dynamics in prolonged cytopenias following anti-cd19 car t-c...</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抗cd19 car t细胞治疗后长期细胞减少症的基线t细胞库偏斜和效应cd8t细胞动力学</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baseline t-cell repertoire skewing and effector cd8 t-cell dynamics in prolon...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Anti-CD19 CAR T-cell therapy has transformed outcomes in B-cell malignancies, but prolonged cytopenias occur in up to 50% of patients and pathophysi</a:t>
            </a:r>
          </a:p>
          <a:p>
            <a:pPr>
              <a:lnSpc>
                <a:spcPct val="103000"/>
              </a:lnSpc>
              <a:spcAft>
                <a:spcPts val="300"/>
              </a:spcAft>
              <a:defRPr sz="570">
                <a:solidFill>
                  <a:srgbClr val="21242A"/>
                </a:solidFill>
                <a:latin typeface="Microsoft YaHei"/>
              </a:defRPr>
            </a:pPr>
            <a:r>
              <a:t>ology remains poorly understood.</a:t>
            </a:r>
          </a:p>
          <a:p>
            <a:pPr>
              <a:lnSpc>
                <a:spcPct val="103000"/>
              </a:lnSpc>
              <a:spcAft>
                <a:spcPts val="300"/>
              </a:spcAft>
              <a:defRPr sz="570">
                <a:solidFill>
                  <a:srgbClr val="21242A"/>
                </a:solidFill>
                <a:latin typeface="Microsoft YaHei"/>
              </a:defRPr>
            </a:pPr>
            <a:r>
              <a:t>In particular, the role of immune repertoire architecture and T-cell phenotypic states in prolonged cytopenias is unexplored.</a:t>
            </a:r>
          </a:p>
          <a:p>
            <a:pPr>
              <a:lnSpc>
                <a:spcPct val="103000"/>
              </a:lnSpc>
              <a:spcAft>
                <a:spcPts val="300"/>
              </a:spcAft>
              <a:defRPr sz="570">
                <a:solidFill>
                  <a:srgbClr val="21242A"/>
                </a:solidFill>
                <a:latin typeface="Microsoft YaHei"/>
              </a:defRPr>
            </a:pPr>
            <a:r>
              <a:t>Aims: To investigate whether pre-treatment T-cell immune repertoire architecture and phenotype are associated with the development of prolonged cytopenias follo</a:t>
            </a:r>
          </a:p>
          <a:p>
            <a:pPr>
              <a:lnSpc>
                <a:spcPct val="103000"/>
              </a:lnSpc>
              <a:spcAft>
                <a:spcPts val="300"/>
              </a:spcAft>
              <a:defRPr sz="570">
                <a:solidFill>
                  <a:srgbClr val="21242A"/>
                </a:solidFill>
                <a:latin typeface="Microsoft YaHei"/>
              </a:defRPr>
            </a:pPr>
            <a:r>
              <a:t>wing CD19-directed CAR T-cell therapy .</a:t>
            </a:r>
          </a:p>
          <a:p>
            <a:pPr>
              <a:lnSpc>
                <a:spcPct val="103000"/>
              </a:lnSpc>
              <a:spcAft>
                <a:spcPts val="300"/>
              </a:spcAft>
              <a:defRPr sz="570">
                <a:solidFill>
                  <a:srgbClr val="21242A"/>
                </a:solidFill>
                <a:latin typeface="Microsoft YaHei"/>
              </a:defRPr>
            </a:pPr>
            <a:r>
              <a:t>Methods: This single-centre prospective observational study utilised anonymised clinical data and peripheral blood mononuclear cells (PBMCs) from patients recei</a:t>
            </a:r>
          </a:p>
          <a:p>
            <a:pPr>
              <a:lnSpc>
                <a:spcPct val="103000"/>
              </a:lnSpc>
              <a:spcAft>
                <a:spcPts val="300"/>
              </a:spcAft>
              <a:defRPr sz="570">
                <a:solidFill>
                  <a:srgbClr val="21242A"/>
                </a:solidFill>
                <a:latin typeface="Microsoft YaHei"/>
              </a:defRPr>
            </a:pPr>
            <a:r>
              <a:t>ving autologous anti-CD19 CAR T-cell therapy.</a:t>
            </a:r>
          </a:p>
          <a:p>
            <a:pPr>
              <a:lnSpc>
                <a:spcPct val="103000"/>
              </a:lnSpc>
              <a:spcAft>
                <a:spcPts val="300"/>
              </a:spcAft>
              <a:defRPr sz="570">
                <a:solidFill>
                  <a:srgbClr val="21242A"/>
                </a:solidFill>
                <a:latin typeface="Microsoft YaHei"/>
              </a:defRPr>
            </a:pPr>
            <a:r>
              <a:t>Prolonged cytopenia was defined as persistent grade ≥3 cytopenia lasting &gt;30 days post-infusion (neutrophils ) sequencing and flow cytometry.</a:t>
            </a:r>
          </a:p>
          <a:p>
            <a:pPr>
              <a:lnSpc>
                <a:spcPct val="103000"/>
              </a:lnSpc>
              <a:spcAft>
                <a:spcPts val="300"/>
              </a:spcAft>
              <a:defRPr sz="570">
                <a:solidFill>
                  <a:srgbClr val="21242A"/>
                </a:solidFill>
                <a:latin typeface="Microsoft YaHei"/>
              </a:defRPr>
            </a:pPr>
            <a:r>
              <a:t>Longitudinal flow cytometry was performed at serial time points post-CAR T-cell infusion.</a:t>
            </a:r>
          </a:p>
          <a:p>
            <a:pPr>
              <a:lnSpc>
                <a:spcPct val="103000"/>
              </a:lnSpc>
              <a:spcAft>
                <a:spcPts val="300"/>
              </a:spcAft>
              <a:defRPr sz="570">
                <a:solidFill>
                  <a:srgbClr val="21242A"/>
                </a:solidFill>
                <a:latin typeface="Microsoft YaHei"/>
              </a:defRPr>
            </a:pPr>
            <a:r>
              <a:t>Group comparisons were performed using non-parametric statistical tests.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prospective study, prolonged cytopenias following anti-CD19 CAR T-cell therapy were associated with baseline immune repertoire skewing and altered T-cel</a:t>
            </a:r>
          </a:p>
          <a:p>
            <a:pPr>
              <a:lnSpc>
                <a:spcPct val="103000"/>
              </a:lnSpc>
              <a:spcAft>
                <a:spcPts val="300"/>
              </a:spcAft>
              <a:defRPr sz="590">
                <a:solidFill>
                  <a:srgbClr val="21242A"/>
                </a:solidFill>
                <a:latin typeface="Microsoft YaHei"/>
              </a:defRPr>
            </a:pPr>
            <a:r>
              <a:t>l dynamics.</a:t>
            </a:r>
          </a:p>
          <a:p>
            <a:pPr>
              <a:lnSpc>
                <a:spcPct val="103000"/>
              </a:lnSpc>
              <a:spcAft>
                <a:spcPts val="300"/>
              </a:spcAft>
              <a:defRPr sz="590">
                <a:solidFill>
                  <a:srgbClr val="21242A"/>
                </a:solidFill>
                <a:latin typeface="Microsoft YaHei"/>
              </a:defRPr>
            </a:pPr>
            <a:r>
              <a:t>Patients who developed prolonged cytopenias exhibited greater clonal expansion and reduced T-cell repertoire diversity before CAR T-cell therapy.</a:t>
            </a:r>
          </a:p>
          <a:p>
            <a:pPr>
              <a:lnSpc>
                <a:spcPct val="103000"/>
              </a:lnSpc>
              <a:spcAft>
                <a:spcPts val="300"/>
              </a:spcAft>
              <a:defRPr sz="590">
                <a:solidFill>
                  <a:srgbClr val="21242A"/>
                </a:solidFill>
                <a:latin typeface="Microsoft YaHei"/>
              </a:defRPr>
            </a:pPr>
            <a:r>
              <a:t>Skewing towards highly differentiated CD8+ TEMRA populations was a feature of patients with prolonged cytopenias, whereas those without prolonged cytopenias dem</a:t>
            </a:r>
          </a:p>
          <a:p>
            <a:pPr>
              <a:lnSpc>
                <a:spcPct val="103000"/>
              </a:lnSpc>
              <a:spcAft>
                <a:spcPts val="300"/>
              </a:spcAft>
              <a:defRPr sz="590">
                <a:solidFill>
                  <a:srgbClr val="21242A"/>
                </a:solidFill>
                <a:latin typeface="Microsoft YaHei"/>
              </a:defRPr>
            </a:pPr>
            <a:r>
              <a:t>onstrated more stable T-cell profiles.</a:t>
            </a:r>
          </a:p>
          <a:p>
            <a:pPr>
              <a:lnSpc>
                <a:spcPct val="103000"/>
              </a:lnSpc>
              <a:spcAft>
                <a:spcPts val="300"/>
              </a:spcAft>
              <a:defRPr sz="590">
                <a:solidFill>
                  <a:srgbClr val="21242A"/>
                </a:solidFill>
                <a:latin typeface="Microsoft YaHei"/>
              </a:defRPr>
            </a:pPr>
            <a:r>
              <a:t>These findings suggest that pre-existing immune repertoire characteristics and effector T-cell dynamics may influence the likelihood of developing prolonged cyt</a:t>
            </a:r>
          </a:p>
          <a:p>
            <a:pPr>
              <a:lnSpc>
                <a:spcPct val="103000"/>
              </a:lnSpc>
              <a:spcAft>
                <a:spcPts val="300"/>
              </a:spcAft>
              <a:defRPr sz="590">
                <a:solidFill>
                  <a:srgbClr val="21242A"/>
                </a:solidFill>
                <a:latin typeface="Microsoft YaHei"/>
              </a:defRPr>
            </a:pPr>
            <a:r>
              <a:t>openias after CAR T-cell therapy.</a:t>
            </a:r>
          </a:p>
          <a:p>
            <a:pPr>
              <a:lnSpc>
                <a:spcPct val="103000"/>
              </a:lnSpc>
              <a:spcAft>
                <a:spcPts val="300"/>
              </a:spcAft>
              <a:defRPr sz="590">
                <a:solidFill>
                  <a:srgbClr val="21242A"/>
                </a:solidFill>
                <a:latin typeface="Microsoft YaHei"/>
              </a:defRPr>
            </a:pPr>
            <a:r>
              <a:t>Further investigation in larger cohorts is warranted to identify immune biomarkers that can define patients at risk of developing prolonged cytopenias.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扩增T细胞克隆比例：长期血细胞减少组56%，无血细胞减少组22%，p=0.05||T细胞受体库多样性（Shannon指数）：长期血细胞减少组中位数4.5，无血细胞减少组中位数5.5，p=0.0005||CD8:CD4比值：基线时长期血细胞减少组数值更高||CD8 TEMRA:CD4 Treg比值：长期血细胞减</a:t>
            </a:r>
          </a:p>
          <a:p>
            <a:pPr>
              <a:lnSpc>
                <a:spcPct val="103000"/>
              </a:lnSpc>
              <a:spcAft>
                <a:spcPts val="300"/>
              </a:spcAft>
              <a:defRPr sz="580">
                <a:solidFill>
                  <a:srgbClr val="21242A"/>
                </a:solidFill>
                <a:latin typeface="Microsoft YaHei"/>
              </a:defRPr>
            </a:pPr>
            <a:r>
              <a:t>少组更高且持续30天||CD8 TEMRA表型：CD57+CD28-，符合细胞毒性效应状态</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摘要号：PF1225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phs-w指数：一种整合营养和血液学标志物的新预后框架，用于预测接受glofitamab治疗的dlbcl患者的预后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phs w-index: a novel prognostic framework integrating nutritional and hem...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12个月无进展生存率（PFS）: 41.0% (95% CI 29.3–52.3)</a:t>
            </a:r>
          </a:p>
          <a:p>
            <a:pPr>
              <a:lnSpc>
                <a:spcPct val="103000"/>
              </a:lnSpc>
              <a:spcAft>
                <a:spcPts val="300"/>
              </a:spcAft>
              <a:defRPr sz="800">
                <a:solidFill>
                  <a:srgbClr val="21242A"/>
                </a:solidFill>
                <a:latin typeface="Microsoft YaHei"/>
              </a:defRPr>
            </a:pPr>
            <a:r>
              <a:t>12个月总生存率（OS）: 52.9% (95% CI 40.3–64.0)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登记号：NCT03199066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phs-w指数：一种整合营养和血液学标志物的新预后框架，用于预测接受glofitamab治疗的dlbcl患者的预后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phs w-index: a novel prognostic framework integrating nutritional and hem...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management has been transformed by T-cell–engaging bispecific antibodies such as glofitamab, yet heterogeneity</a:t>
            </a:r>
          </a:p>
          <a:p>
            <a:pPr>
              <a:lnSpc>
                <a:spcPct val="103000"/>
              </a:lnSpc>
              <a:spcAft>
                <a:spcPts val="300"/>
              </a:spcAft>
              <a:defRPr sz="570">
                <a:solidFill>
                  <a:srgbClr val="21242A"/>
                </a:solidFill>
                <a:latin typeface="Microsoft YaHei"/>
              </a:defRPr>
            </a:pPr>
            <a:r>
              <a:t> in response persists.</a:t>
            </a:r>
          </a:p>
          <a:p>
            <a:pPr>
              <a:lnSpc>
                <a:spcPct val="103000"/>
              </a:lnSpc>
              <a:spcAft>
                <a:spcPts val="300"/>
              </a:spcAft>
              <a:defRPr sz="570">
                <a:solidFill>
                  <a:srgbClr val="21242A"/>
                </a:solidFill>
                <a:latin typeface="Microsoft YaHei"/>
              </a:defRPr>
            </a:pPr>
            <a:r>
              <a:t>Although the secondary International Prognostic Index (IPI), revised IPI (R-IPI), and NCCN-IPI are standards for outcome prediction in relapsed/refractory (R/R)</a:t>
            </a:r>
          </a:p>
          <a:p>
            <a:pPr>
              <a:lnSpc>
                <a:spcPct val="103000"/>
              </a:lnSpc>
              <a:spcAft>
                <a:spcPts val="300"/>
              </a:spcAft>
              <a:defRPr sz="570">
                <a:solidFill>
                  <a:srgbClr val="21242A"/>
                </a:solidFill>
                <a:latin typeface="Microsoft YaHei"/>
              </a:defRPr>
            </a:pPr>
            <a:r>
              <a:t> disease, they do not fully capture host-related factors—such as nutritional status, anemia, and lymphopenia—that are highly relevant to T-cell–engager therapy.</a:t>
            </a:r>
          </a:p>
          <a:p>
            <a:pPr>
              <a:lnSpc>
                <a:spcPct val="103000"/>
              </a:lnSpc>
              <a:spcAft>
                <a:spcPts val="300"/>
              </a:spcAft>
              <a:defRPr sz="570">
                <a:solidFill>
                  <a:srgbClr val="21242A"/>
                </a:solidFill>
                <a:latin typeface="Microsoft YaHei"/>
              </a:defRPr>
            </a:pPr>
            <a:r>
              <a:t>These host factors can be assessed through validated tools like the Prognostic Nutritional Index (PNI = (10 × serum albumin [g/L] ÷ 10) + (0.005 × total lymphoc</a:t>
            </a:r>
          </a:p>
          <a:p>
            <a:pPr>
              <a:lnSpc>
                <a:spcPct val="103000"/>
              </a:lnSpc>
              <a:spcAft>
                <a:spcPts val="300"/>
              </a:spcAft>
              <a:defRPr sz="570">
                <a:solidFill>
                  <a:srgbClr val="21242A"/>
                </a:solidFill>
                <a:latin typeface="Microsoft YaHei"/>
              </a:defRPr>
            </a:pPr>
            <a:r>
              <a:t>yte count [×10⁹/L] × 10⁶)).</a:t>
            </a:r>
          </a:p>
          <a:p>
            <a:pPr>
              <a:lnSpc>
                <a:spcPct val="103000"/>
              </a:lnSpc>
              <a:spcAft>
                <a:spcPts val="300"/>
              </a:spcAft>
              <a:defRPr sz="570">
                <a:solidFill>
                  <a:srgbClr val="21242A"/>
                </a:solidFill>
                <a:latin typeface="Microsoft YaHei"/>
              </a:defRPr>
            </a:pPr>
            <a:r>
              <a:t>Aims: To develop and validate a weighted prognostic score for predicting progression-free survival (PFS) and overall survival (OS) in DLBCL patients treated wit</a:t>
            </a:r>
          </a:p>
          <a:p>
            <a:pPr>
              <a:lnSpc>
                <a:spcPct val="103000"/>
              </a:lnSpc>
              <a:spcAft>
                <a:spcPts val="300"/>
              </a:spcAft>
              <a:defRPr sz="570">
                <a:solidFill>
                  <a:srgbClr val="21242A"/>
                </a:solidFill>
                <a:latin typeface="Microsoft YaHei"/>
              </a:defRPr>
            </a:pPr>
            <a:r>
              <a:t>h glofitamab, and to compare its performance with established indices.</a:t>
            </a:r>
          </a:p>
          <a:p>
            <a:pPr>
              <a:lnSpc>
                <a:spcPct val="103000"/>
              </a:lnSpc>
              <a:spcAft>
                <a:spcPts val="300"/>
              </a:spcAft>
              <a:defRPr sz="570">
                <a:solidFill>
                  <a:srgbClr val="21242A"/>
                </a:solidFill>
                <a:latin typeface="Microsoft YaHei"/>
              </a:defRPr>
            </a:pPr>
            <a:r>
              <a:t>Methods: Consecutive de novo LBCL patients from the Czech NiHiL registry (NCT03199066) were screened.</a:t>
            </a:r>
          </a:p>
          <a:p>
            <a:pPr>
              <a:lnSpc>
                <a:spcPct val="103000"/>
              </a:lnSpc>
              <a:spcAft>
                <a:spcPts val="300"/>
              </a:spcAft>
              <a:defRPr sz="570">
                <a:solidFill>
                  <a:srgbClr val="21242A"/>
                </a:solidFill>
                <a:latin typeface="Microsoft YaHei"/>
              </a:defRPr>
            </a:pPr>
            <a:r>
              <a:t>101 R/R DLBCL patients receiving glofitamab (Apr 2019–Sep 2025) were analyzed: 3 (3.0%) in 2nd, 44 (43.6%) in 3rd, and 54 (53.5%) in ≥4th line.</a:t>
            </a:r>
          </a:p>
          <a:p>
            <a:pPr>
              <a:lnSpc>
                <a:spcPct val="103000"/>
              </a:lnSpc>
              <a:spcAft>
                <a:spcPts val="300"/>
              </a:spcAft>
              <a:defRPr sz="570">
                <a:solidFill>
                  <a:srgbClr val="21242A"/>
                </a:solidFill>
                <a:latin typeface="Microsoft YaHei"/>
              </a:defRPr>
            </a:pPr>
            <a:r>
              <a:t>89 (88.1%) had monotherapy, 12 (11.9%) systemic combinations, mostly R-GemOx (n=7), then Loncastuximab (n=2), Pola-BR, R-ICE, and Gemcitabine (all n=1).</a:t>
            </a:r>
          </a:p>
          <a:p>
            <a:pPr>
              <a:lnSpc>
                <a:spcPct val="103000"/>
              </a:lnSpc>
              <a:spcAft>
                <a:spcPts val="300"/>
              </a:spcAft>
              <a:defRPr sz="570">
                <a:solidFill>
                  <a:srgbClr val="21242A"/>
                </a:solidFill>
                <a:latin typeface="Microsoft YaHei"/>
              </a:defRPr>
            </a:pPr>
            <a:r>
              <a:t>Fourteen baseline variables at glofitamab initiation (stage, IPI, Hb, lymphocytes, LDH, age, B-symptoms, ECOG, extranodal sites, WBC/platelets, albumin, sex, an</a:t>
            </a:r>
          </a:p>
          <a:p>
            <a:pPr>
              <a:lnSpc>
                <a:spcPct val="103000"/>
              </a:lnSpc>
              <a:spcAft>
                <a:spcPts val="300"/>
              </a:spcAft>
              <a:defRPr sz="570">
                <a:solidFill>
                  <a:srgbClr val="21242A"/>
                </a:solidFill>
                <a:latin typeface="Microsoft YaHei"/>
              </a:defRPr>
            </a:pPr>
            <a:r>
              <a:t>d bulk &gt;7.5 cm) were assessed for impact on PFS.</a:t>
            </a:r>
          </a:p>
          <a:p>
            <a:pPr>
              <a:lnSpc>
                <a:spcPct val="103000"/>
              </a:lnSpc>
              <a:spcAft>
                <a:spcPts val="300"/>
              </a:spcAft>
              <a:defRPr sz="570">
                <a:solidFill>
                  <a:srgbClr val="21242A"/>
                </a:solidFill>
                <a:latin typeface="Microsoft YaHei"/>
              </a:defRPr>
            </a:pPr>
            <a:r>
              <a:t>Weighted points were assigned based on ROC-defined cut-offs (Hb ≤120 g/L, PNI ≤71.1).</a:t>
            </a:r>
          </a:p>
          <a:p>
            <a:pPr>
              <a:lnSpc>
                <a:spcPct val="103000"/>
              </a:lnSpc>
              <a:spcAft>
                <a:spcPts val="300"/>
              </a:spcAft>
              <a:defRPr sz="570">
                <a:solidFill>
                  <a:srgbClr val="21242A"/>
                </a:solidFill>
                <a:latin typeface="Microsoft YaHei"/>
              </a:defRPr>
            </a:pPr>
            <a:r>
              <a:t>The resulting PHS w-Index assigns 2 points for low PNI, 2 for stage III–IV, and 1 for low Hb, stratifying patients into low- (0–1), intermediate- (2–3), and hig</a:t>
            </a:r>
          </a:p>
          <a:p>
            <a:pPr>
              <a:lnSpc>
                <a:spcPct val="103000"/>
              </a:lnSpc>
              <a:spcAft>
                <a:spcPts val="300"/>
              </a:spcAft>
              <a:defRPr sz="570">
                <a:solidFill>
                  <a:srgbClr val="21242A"/>
                </a:solidFill>
                <a:latin typeface="Microsoft YaHei"/>
              </a:defRPr>
            </a:pPr>
            <a:r>
              <a:t>h-risk (4–5) groups.</a:t>
            </a:r>
          </a:p>
          <a:p>
            <a:pPr>
              <a:lnSpc>
                <a:spcPct val="103000"/>
              </a:lnSpc>
              <a:spcAft>
                <a:spcPts val="300"/>
              </a:spcAft>
              <a:defRPr sz="570">
                <a:solidFill>
                  <a:srgbClr val="21242A"/>
                </a:solidFill>
                <a:latin typeface="Microsoft YaHei"/>
              </a:defRPr>
            </a:pPr>
            <a:r>
              <a:t>Validation was performed using 1,000 bootstrap iterations for optimism-corrected C-indices.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PHS w-Index is a simple and promising tool that outperforms standard prognostic indices in glofitamab-treated DLBCL.</a:t>
            </a:r>
          </a:p>
          <a:p>
            <a:pPr>
              <a:lnSpc>
                <a:spcPct val="103000"/>
              </a:lnSpc>
              <a:spcAft>
                <a:spcPts val="300"/>
              </a:spcAft>
              <a:defRPr sz="590">
                <a:solidFill>
                  <a:srgbClr val="21242A"/>
                </a:solidFill>
                <a:latin typeface="Microsoft YaHei"/>
              </a:defRPr>
            </a:pPr>
            <a:r>
              <a:t>By integrating host fitness (nutrition, anemia, lymphopenia) with tumor burden, it enables improved risk stratification and early identification of high-risk pa</a:t>
            </a:r>
          </a:p>
          <a:p>
            <a:pPr>
              <a:lnSpc>
                <a:spcPct val="103000"/>
              </a:lnSpc>
              <a:spcAft>
                <a:spcPts val="300"/>
              </a:spcAft>
              <a:defRPr sz="590">
                <a:solidFill>
                  <a:srgbClr val="21242A"/>
                </a:solidFill>
                <a:latin typeface="Microsoft YaHei"/>
              </a:defRPr>
            </a:pPr>
            <a:r>
              <a:t>tients for tailored management.</a:t>
            </a:r>
          </a:p>
          <a:p>
            <a:pPr>
              <a:lnSpc>
                <a:spcPct val="103000"/>
              </a:lnSpc>
              <a:spcAft>
                <a:spcPts val="300"/>
              </a:spcAft>
              <a:defRPr sz="590">
                <a:solidFill>
                  <a:srgbClr val="21242A"/>
                </a:solidFill>
                <a:latin typeface="Microsoft YaHei"/>
              </a:defRPr>
            </a:pPr>
            <a:r>
              <a:t>\n Acknowledgement: Supported by the Ministry of Health of the Czech Republic (NU21-03-00411) DRO (FNOL, 00098892). \n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12个月无进展生存率（PFS）</a:t>
                      </a:r>
                    </a:p>
                  </a:txBody>
                  <a:tcPr>
                    <a:solidFill>
                      <a:srgbClr val="F6F8FB"/>
                    </a:solidFill>
                  </a:tcPr>
                </a:tc>
                <a:tc>
                  <a:txBody>
                    <a:bodyPr wrap="square" lIns="36576" rIns="36576" tIns="18288" bIns="18288"/>
                    <a:lstStyle/>
                    <a:p>
                      <a:r>
                        <a:rPr sz="540" b="0">
                          <a:solidFill>
                            <a:srgbClr val="21242A"/>
                          </a:solidFill>
                          <a:latin typeface="Microsoft YaHei"/>
                        </a:rPr>
                        <a:t>41.0% (95% CI 29.3–52.3)</a:t>
                      </a:r>
                    </a:p>
                  </a:txBody>
                  <a:tcPr>
                    <a:solidFill>
                      <a:srgbClr val="F6F8FB"/>
                    </a:solidFill>
                  </a:tcPr>
                </a:tc>
              </a:tr>
              <a:tr h="249936">
                <a:tc>
                  <a:txBody>
                    <a:bodyPr wrap="square" lIns="36576" rIns="36576" tIns="18288" bIns="18288"/>
                    <a:lstStyle/>
                    <a:p>
                      <a:r>
                        <a:rPr sz="540" b="1">
                          <a:solidFill>
                            <a:srgbClr val="21242A"/>
                          </a:solidFill>
                          <a:latin typeface="Microsoft YaHei"/>
                        </a:rPr>
                        <a:t>12个月总生存率（OS）</a:t>
                      </a:r>
                    </a:p>
                  </a:txBody>
                  <a:tcPr>
                    <a:solidFill>
                      <a:srgbClr val="FFFFFF"/>
                    </a:solidFill>
                  </a:tcPr>
                </a:tc>
                <a:tc>
                  <a:txBody>
                    <a:bodyPr wrap="square" lIns="36576" rIns="36576" tIns="18288" bIns="18288"/>
                    <a:lstStyle/>
                    <a:p>
                      <a:r>
                        <a:rPr sz="540" b="0">
                          <a:solidFill>
                            <a:srgbClr val="21242A"/>
                          </a:solidFill>
                          <a:latin typeface="Microsoft YaHei"/>
                        </a:rPr>
                        <a:t>52.9% (95% CI 40.3–64.0)</a:t>
                      </a:r>
                    </a:p>
                  </a:txBody>
                  <a:tcPr>
                    <a:solidFill>
                      <a:srgbClr val="FFFFFF"/>
                    </a:solidFill>
                  </a:tcPr>
                </a:tc>
              </a:tr>
              <a:tr h="249936">
                <a:tc>
                  <a:txBody>
                    <a:bodyPr wrap="square" lIns="36576" rIns="36576" tIns="18288" bIns="18288"/>
                    <a:lstStyle/>
                    <a:p>
                      <a:r>
                        <a:rPr sz="540" b="1">
                          <a:solidFill>
                            <a:srgbClr val="21242A"/>
                          </a:solidFill>
                          <a:latin typeface="Microsoft YaHei"/>
                        </a:rPr>
                        <a:t>客观缓解率（ORR）</a:t>
                      </a:r>
                    </a:p>
                  </a:txBody>
                  <a:tcPr>
                    <a:solidFill>
                      <a:srgbClr val="F6F8FB"/>
                    </a:solidFill>
                  </a:tcPr>
                </a:tc>
                <a:tc>
                  <a:txBody>
                    <a:bodyPr wrap="square" lIns="36576" rIns="36576" tIns="18288" bIns="18288"/>
                    <a:lstStyle/>
                    <a:p>
                      <a:r>
                        <a:rPr sz="540" b="0">
                          <a:solidFill>
                            <a:srgbClr val="21242A"/>
                          </a:solidFill>
                          <a:latin typeface="Microsoft YaHei"/>
                        </a:rPr>
                        <a:t>48.1% (n=39)</a:t>
                      </a:r>
                    </a:p>
                  </a:txBody>
                  <a:tcPr>
                    <a:solidFill>
                      <a:srgbClr val="F6F8FB"/>
                    </a:solidFill>
                  </a:tcPr>
                </a:tc>
              </a:tr>
              <a:tr h="249936">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35.8% (n=29)</a:t>
                      </a:r>
                    </a:p>
                  </a:txBody>
                  <a:tcPr>
                    <a:solidFill>
                      <a:srgbClr val="FFFFFF"/>
                    </a:solidFill>
                  </a:tcPr>
                </a:tc>
              </a:tr>
              <a:tr h="249936">
                <a:tc>
                  <a:txBody>
                    <a:bodyPr wrap="square" lIns="36576" rIns="36576" tIns="18288" bIns="18288"/>
                    <a:lstStyle/>
                    <a:p>
                      <a:r>
                        <a:rPr sz="540" b="1">
                          <a:solidFill>
                            <a:srgbClr val="21242A"/>
                          </a:solidFill>
                          <a:latin typeface="Microsoft YaHei"/>
                        </a:rPr>
                        <a:t>PHS w-Index区分能力（乐观校正C-index）</a:t>
                      </a:r>
                    </a:p>
                  </a:txBody>
                  <a:tcPr>
                    <a:solidFill>
                      <a:srgbClr val="F6F8FB"/>
                    </a:solidFill>
                  </a:tcPr>
                </a:tc>
                <a:tc>
                  <a:txBody>
                    <a:bodyPr wrap="square" lIns="36576" rIns="36576" tIns="18288" bIns="18288"/>
                    <a:lstStyle/>
                    <a:p>
                      <a:r>
                        <a:rPr sz="540" b="0">
                          <a:solidFill>
                            <a:srgbClr val="21242A"/>
                          </a:solidFill>
                          <a:latin typeface="Microsoft YaHei"/>
                        </a:rPr>
                        <a:t>PFS 0.659, OS 0.681</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摘要号：PS2106</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总缓解率（ORR）：93.1%</a:t>
            </a:r>
          </a:p>
          <a:p>
            <a:pPr>
              <a:lnSpc>
                <a:spcPct val="103000"/>
              </a:lnSpc>
              <a:spcAft>
                <a:spcPts val="300"/>
              </a:spcAft>
              <a:defRPr sz="800">
                <a:solidFill>
                  <a:srgbClr val="21242A"/>
                </a:solidFill>
                <a:latin typeface="Microsoft YaHei"/>
              </a:defRPr>
            </a:pPr>
            <a:r>
              <a:t>完全缓解率（CRR）：79.1%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人数：437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Phase III POLARIX trial established Polatuzumab Vedotin plus R-CHP (Pola-R-CHP) as a new standard for frontline diffuse large B-cell lymphoma (D</a:t>
            </a:r>
          </a:p>
          <a:p>
            <a:pPr>
              <a:lnSpc>
                <a:spcPct val="103000"/>
              </a:lnSpc>
              <a:spcAft>
                <a:spcPts val="300"/>
              </a:spcAft>
              <a:defRPr sz="570">
                <a:solidFill>
                  <a:srgbClr val="21242A"/>
                </a:solidFill>
                <a:latin typeface="Microsoft YaHei"/>
              </a:defRPr>
            </a:pPr>
            <a:r>
              <a:t>LBCL) with IPI 2-5.[1] However, real-world data (RWD) are essential to confirm these findings in broader patient demographics, including those with significant </a:t>
            </a:r>
          </a:p>
          <a:p>
            <a:pPr>
              <a:lnSpc>
                <a:spcPct val="103000"/>
              </a:lnSpc>
              <a:spcAft>
                <a:spcPts val="300"/>
              </a:spcAft>
              <a:defRPr sz="570">
                <a:solidFill>
                  <a:srgbClr val="21242A"/>
                </a:solidFill>
                <a:latin typeface="Microsoft YaHei"/>
              </a:defRPr>
            </a:pPr>
            <a:r>
              <a:t>comorbidities and high-risk features often excluded from clinical trials.</a:t>
            </a:r>
          </a:p>
          <a:p>
            <a:pPr>
              <a:lnSpc>
                <a:spcPct val="103000"/>
              </a:lnSpc>
              <a:spcAft>
                <a:spcPts val="300"/>
              </a:spcAft>
              <a:defRPr sz="570">
                <a:solidFill>
                  <a:srgbClr val="21242A"/>
                </a:solidFill>
                <a:latin typeface="Microsoft YaHei"/>
              </a:defRPr>
            </a:pPr>
            <a:r>
              <a:t>Aims: To assess the real-world efficacy (ORR, CRR) and safety profile of Pola-R-CHP in a large, multicentre UK cohort, including specific sub-group analyses wit</a:t>
            </a:r>
          </a:p>
          <a:p>
            <a:pPr>
              <a:lnSpc>
                <a:spcPct val="103000"/>
              </a:lnSpc>
              <a:spcAft>
                <a:spcPts val="300"/>
              </a:spcAft>
              <a:defRPr sz="570">
                <a:solidFill>
                  <a:srgbClr val="21242A"/>
                </a:solidFill>
                <a:latin typeface="Microsoft YaHei"/>
              </a:defRPr>
            </a:pPr>
            <a:r>
              <a:t>h regards to age, Charlson Comorbidity Index (CCI), cell of origin (COO), transformed disease and HIV status.</a:t>
            </a:r>
          </a:p>
          <a:p>
            <a:pPr>
              <a:lnSpc>
                <a:spcPct val="103000"/>
              </a:lnSpc>
              <a:spcAft>
                <a:spcPts val="300"/>
              </a:spcAft>
              <a:defRPr sz="570">
                <a:solidFill>
                  <a:srgbClr val="21242A"/>
                </a:solidFill>
                <a:latin typeface="Microsoft YaHei"/>
              </a:defRPr>
            </a:pPr>
            <a:r>
              <a:t>Methods: This retrospective study included 437 adults with previously untreated DLBCL receiving Pola-R-CHP across multiple UK centres (2023–2025).</a:t>
            </a:r>
          </a:p>
          <a:p>
            <a:pPr>
              <a:lnSpc>
                <a:spcPct val="103000"/>
              </a:lnSpc>
              <a:spcAft>
                <a:spcPts val="300"/>
              </a:spcAft>
              <a:defRPr sz="570">
                <a:solidFill>
                  <a:srgbClr val="21242A"/>
                </a:solidFill>
                <a:latin typeface="Microsoft YaHei"/>
              </a:defRPr>
            </a:pPr>
            <a:r>
              <a:t>Data were collected on baseline characteristics, treatment compliance, best response (PET-CT), and key toxicities.</a:t>
            </a:r>
          </a:p>
          <a:p>
            <a:pPr>
              <a:lnSpc>
                <a:spcPct val="103000"/>
              </a:lnSpc>
              <a:spcAft>
                <a:spcPts val="300"/>
              </a:spcAft>
              <a:defRPr sz="570">
                <a:solidFill>
                  <a:srgbClr val="21242A"/>
                </a:solidFill>
                <a:latin typeface="Microsoft YaHei"/>
              </a:defRPr>
            </a:pPr>
            <a:r>
              <a:t>Survival analysis, including progression-free survival (PFS) and overall survival (OS), is ongoing.\n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large real-world UK cohort, Pola-R-CHP demonstrated efficacy and deliverability.</a:t>
            </a:r>
          </a:p>
          <a:p>
            <a:pPr>
              <a:lnSpc>
                <a:spcPct val="103000"/>
              </a:lnSpc>
              <a:spcAft>
                <a:spcPts val="300"/>
              </a:spcAft>
              <a:defRPr sz="590">
                <a:solidFill>
                  <a:srgbClr val="21242A"/>
                </a:solidFill>
                <a:latin typeface="Microsoft YaHei"/>
              </a:defRPr>
            </a:pPr>
            <a:r>
              <a:t>The CR rate in this series appears comparable to the trial despite being used in a cohort of patients with high-risk features and a broader range of indications</a:t>
            </a:r>
          </a:p>
          <a:p>
            <a:pPr>
              <a:lnSpc>
                <a:spcPct val="103000"/>
              </a:lnSpc>
              <a:spcAft>
                <a:spcPts val="300"/>
              </a:spcAft>
              <a:defRPr sz="590">
                <a:solidFill>
                  <a:srgbClr val="21242A"/>
                </a:solidFill>
                <a:latin typeface="Microsoft YaHei"/>
              </a:defRPr>
            </a:pPr>
            <a:r>
              <a:t> than were included in the POLARIX trial.</a:t>
            </a:r>
          </a:p>
          <a:p>
            <a:pPr>
              <a:lnSpc>
                <a:spcPct val="103000"/>
              </a:lnSpc>
              <a:spcAft>
                <a:spcPts val="300"/>
              </a:spcAft>
              <a:defRPr sz="590">
                <a:solidFill>
                  <a:srgbClr val="21242A"/>
                </a:solidFill>
                <a:latin typeface="Microsoft YaHei"/>
              </a:defRPr>
            </a:pPr>
            <a:r>
              <a:t>These data support Pola-R-CHP as a first line standard of care in the real-world setting, however the higher rates of grade ≥3 infections and reduced treatment </a:t>
            </a:r>
          </a:p>
          <a:p>
            <a:pPr>
              <a:lnSpc>
                <a:spcPct val="103000"/>
              </a:lnSpc>
              <a:spcAft>
                <a:spcPts val="300"/>
              </a:spcAft>
              <a:defRPr sz="590">
                <a:solidFill>
                  <a:srgbClr val="21242A"/>
                </a:solidFill>
                <a:latin typeface="Microsoft YaHei"/>
              </a:defRPr>
            </a:pPr>
            <a:r>
              <a:t>intensity in patients with advanced age and comorbidities demonstrates a need for vigilant supportive care in this demographic.</a:t>
            </a:r>
          </a:p>
          <a:p>
            <a:pPr>
              <a:lnSpc>
                <a:spcPct val="103000"/>
              </a:lnSpc>
              <a:spcAft>
                <a:spcPts val="300"/>
              </a:spcAft>
              <a:defRPr sz="590">
                <a:solidFill>
                  <a:srgbClr val="21242A"/>
                </a:solidFill>
                <a:latin typeface="Microsoft YaHei"/>
              </a:defRPr>
            </a:pPr>
            <a:r>
              <a:t>Survival outcomes will be presented. \n References: \n \n Tilly H, et al. Polatuzumab Vedotin in Previously Untreated Diffuse Large B-Cell Lymphoma.</a:t>
            </a:r>
          </a:p>
          <a:p>
            <a:pPr>
              <a:lnSpc>
                <a:spcPct val="103000"/>
              </a:lnSpc>
              <a:spcAft>
                <a:spcPts val="300"/>
              </a:spcAft>
              <a:defRPr sz="590">
                <a:solidFill>
                  <a:srgbClr val="21242A"/>
                </a:solidFill>
                <a:latin typeface="Microsoft YaHei"/>
              </a:defRPr>
            </a:pPr>
            <a:r>
              <a:t>N Engl J Med 2022; 386:351-363. DOI: 10.1056/NEJMoa2115304 \n \n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median age was 66 years (range 17–87), with 70.2% of patients aged ≥60 years.</a:t>
            </a:r>
          </a:p>
          <a:p>
            <a:pPr>
              <a:lnSpc>
                <a:spcPct val="103000"/>
              </a:lnSpc>
              <a:spcAft>
                <a:spcPts val="300"/>
              </a:spcAft>
              <a:defRPr sz="580">
                <a:solidFill>
                  <a:srgbClr val="21242A"/>
                </a:solidFill>
                <a:latin typeface="Microsoft YaHei"/>
              </a:defRPr>
            </a:pPr>
            <a:r>
              <a:t>The cohort had high-risk features including: 67.2% had stage IV disease, 65.6% had an IPI score ≥3, 11.5% double/triple-hit biology,15.0% transformed disea</a:t>
            </a:r>
          </a:p>
          <a:p>
            <a:pPr>
              <a:lnSpc>
                <a:spcPct val="103000"/>
              </a:lnSpc>
              <a:spcAft>
                <a:spcPts val="300"/>
              </a:spcAft>
              <a:defRPr sz="580">
                <a:solidFill>
                  <a:srgbClr val="21242A"/>
                </a:solidFill>
                <a:latin typeface="Microsoft YaHei"/>
              </a:defRPr>
            </a:pPr>
            <a:r>
              <a:t>se and 21.3% were ECOG ≥2.</a:t>
            </a:r>
          </a:p>
          <a:p>
            <a:pPr>
              <a:lnSpc>
                <a:spcPct val="103000"/>
              </a:lnSpc>
              <a:spcAft>
                <a:spcPts val="300"/>
              </a:spcAft>
              <a:defRPr sz="580">
                <a:solidFill>
                  <a:srgbClr val="21242A"/>
                </a:solidFill>
                <a:latin typeface="Microsoft YaHei"/>
              </a:defRPr>
            </a:pPr>
            <a:r>
              <a:t>The median CCI was 4 (IQR 3-5).\n \n Efficacy: The overall response rate (ORR) was 93.1%, with a complete response rate (CRR) of 79.1%.</a:t>
            </a:r>
          </a:p>
          <a:p>
            <a:pPr>
              <a:lnSpc>
                <a:spcPct val="103000"/>
              </a:lnSpc>
              <a:spcAft>
                <a:spcPts val="300"/>
              </a:spcAft>
              <a:defRPr sz="580">
                <a:solidFill>
                  <a:srgbClr val="21242A"/>
                </a:solidFill>
                <a:latin typeface="Microsoft YaHei"/>
              </a:defRPr>
            </a:pPr>
            <a:r>
              <a:t>Efficacy was consistent across high-risk subgroups. ORR remained high regardless of COO (GCB 92.9% vs.</a:t>
            </a:r>
          </a:p>
          <a:p>
            <a:pPr>
              <a:lnSpc>
                <a:spcPct val="103000"/>
              </a:lnSpc>
              <a:spcAft>
                <a:spcPts val="300"/>
              </a:spcAft>
              <a:defRPr sz="580">
                <a:solidFill>
                  <a:srgbClr val="21242A"/>
                </a:solidFill>
                <a:latin typeface="Microsoft YaHei"/>
              </a:defRPr>
            </a:pPr>
            <a:r>
              <a:t>non-GCB 92.5%, p&gt;0.99) or patients with transformations of low-grade lymphoma (96.9% vs. 92.4% de novo, p=0.63).</a:t>
            </a:r>
          </a:p>
          <a:p>
            <a:pPr>
              <a:lnSpc>
                <a:spcPct val="103000"/>
              </a:lnSpc>
              <a:spcAft>
                <a:spcPts val="300"/>
              </a:spcAft>
              <a:defRPr sz="580">
                <a:solidFill>
                  <a:srgbClr val="21242A"/>
                </a:solidFill>
                <a:latin typeface="Microsoft YaHei"/>
              </a:defRPr>
            </a:pPr>
            <a:r>
              <a:t>There was no significant difference in CRR between patients with CCI 0.99) or age \n Compliance: 83.3% of patients completed all 6 cycles.</a:t>
            </a:r>
          </a:p>
          <a:p>
            <a:pPr>
              <a:lnSpc>
                <a:spcPct val="103000"/>
              </a:lnSpc>
              <a:spcAft>
                <a:spcPts val="300"/>
              </a:spcAft>
              <a:defRPr sz="580">
                <a:solidFill>
                  <a:srgbClr val="21242A"/>
                </a:solidFill>
                <a:latin typeface="Microsoft YaHei"/>
              </a:defRPr>
            </a:pPr>
            <a:r>
              <a:t>For those that did not complete all 6 cycles reasons for stopping early included: adverse events (35.7%), death (25.0%), and progressive disease (23.2%).</a:t>
            </a:r>
          </a:p>
          <a:p>
            <a:pPr>
              <a:lnSpc>
                <a:spcPct val="103000"/>
              </a:lnSpc>
              <a:spcAft>
                <a:spcPts val="300"/>
              </a:spcAft>
              <a:defRPr sz="580">
                <a:solidFill>
                  <a:srgbClr val="21242A"/>
                </a:solidFill>
                <a:latin typeface="Microsoft YaHei"/>
              </a:defRPr>
            </a:pPr>
            <a:r>
              <a:t>Cycle 1 dose reductions were significantly more frequent in patients ≥70 years (13.6% vs 5.9%, p=0.011) and those with CCI ≥5 were significantly less likel</a:t>
            </a:r>
          </a:p>
          <a:p>
            <a:pPr>
              <a:lnSpc>
                <a:spcPct val="103000"/>
              </a:lnSpc>
              <a:spcAft>
                <a:spcPts val="300"/>
              </a:spcAft>
              <a:defRPr sz="580">
                <a:solidFill>
                  <a:srgbClr val="21242A"/>
                </a:solidFill>
                <a:latin typeface="Microsoft YaHei"/>
              </a:defRPr>
            </a:pPr>
            <a:r>
              <a:t>y to complete 6 cycles (76.2% vs 89.6%, p \n Safety: Grade ≥3 infections occurred in 35.8% of patients, with significantly higher rates in those patients ≥</a:t>
            </a:r>
          </a:p>
          <a:p>
            <a:pPr>
              <a:lnSpc>
                <a:spcPct val="103000"/>
              </a:lnSpc>
              <a:spcAft>
                <a:spcPts val="300"/>
              </a:spcAft>
              <a:defRPr sz="580">
                <a:solidFill>
                  <a:srgbClr val="21242A"/>
                </a:solidFill>
                <a:latin typeface="Microsoft YaHei"/>
              </a:defRPr>
            </a:pPr>
            <a:r>
              <a:t>70 years (42.4% vs 31.9%, p=0.035).</a:t>
            </a:r>
          </a:p>
          <a:p>
            <a:pPr>
              <a:lnSpc>
                <a:spcPct val="103000"/>
              </a:lnSpc>
              <a:spcAft>
                <a:spcPts val="300"/>
              </a:spcAft>
              <a:defRPr sz="580">
                <a:solidFill>
                  <a:srgbClr val="21242A"/>
                </a:solidFill>
                <a:latin typeface="Microsoft YaHei"/>
              </a:defRPr>
            </a:pPr>
            <a:r>
              <a:t>Febrile neutropenia (FN) was reported in 29.6%. Diarrhoea occurred in 48.0% (Grade 3-4: 7.7%).</a:t>
            </a:r>
          </a:p>
          <a:p>
            <a:pPr>
              <a:lnSpc>
                <a:spcPct val="103000"/>
              </a:lnSpc>
              <a:spcAft>
                <a:spcPts val="300"/>
              </a:spcAft>
              <a:defRPr sz="580">
                <a:solidFill>
                  <a:srgbClr val="21242A"/>
                </a:solidFill>
                <a:latin typeface="Microsoft YaHei"/>
              </a:defRPr>
            </a:pPr>
            <a:r>
              <a:t>Peripheral neuropathy (PN) was reported in 32.1% (grade 3: 3.0%). Opportunistic infections occurred in 10.8%, including PCP (N=8) and shingles (N=5). \n</a:t>
            </a:r>
          </a:p>
          <a:p>
            <a:pPr>
              <a:lnSpc>
                <a:spcPct val="103000"/>
              </a:lnSpc>
              <a:spcAft>
                <a:spcPts val="300"/>
              </a:spcAft>
              <a:defRPr sz="580">
                <a:solidFill>
                  <a:srgbClr val="21242A"/>
                </a:solidFill>
                <a:latin typeface="Microsoft YaHei"/>
              </a:defRPr>
            </a:pPr>
            <a:r>
              <a:t>Conclusion: In this large real-world UK cohort, Pola-R-CHP demonstrated efficacy and deliverability.</a:t>
            </a:r>
          </a:p>
          <a:p>
            <a:pPr>
              <a:lnSpc>
                <a:spcPct val="103000"/>
              </a:lnSpc>
              <a:spcAft>
                <a:spcPts val="300"/>
              </a:spcAft>
              <a:defRPr sz="580">
                <a:solidFill>
                  <a:srgbClr val="21242A"/>
                </a:solidFill>
                <a:latin typeface="Microsoft YaHei"/>
              </a:defRPr>
            </a:pPr>
            <a:r>
              <a:t>The CR rate in this series appears comparable to the trial despite being used in a cohort of patients with high-risk features and a broader range of indica</a:t>
            </a:r>
          </a:p>
          <a:p>
            <a:pPr>
              <a:lnSpc>
                <a:spcPct val="103000"/>
              </a:lnSpc>
              <a:spcAft>
                <a:spcPts val="300"/>
              </a:spcAft>
              <a:defRPr sz="580">
                <a:solidFill>
                  <a:srgbClr val="21242A"/>
                </a:solidFill>
                <a:latin typeface="Microsoft YaHei"/>
              </a:defRPr>
            </a:pPr>
            <a:r>
              <a:t>tions than were included in the POLARIX trial.</a:t>
            </a:r>
          </a:p>
          <a:p>
            <a:pPr>
              <a:lnSpc>
                <a:spcPct val="103000"/>
              </a:lnSpc>
              <a:spcAft>
                <a:spcPts val="300"/>
              </a:spcAft>
              <a:defRPr sz="580">
                <a:solidFill>
                  <a:srgbClr val="21242A"/>
                </a:solidFill>
                <a:latin typeface="Microsoft YaHei"/>
              </a:defRPr>
            </a:pPr>
            <a:r>
              <a:t>These data support Pola-R-CHP as a first line standard of care in the real-world setting, however the higher rates of grade ≥3 infections and reduced treat</a:t>
            </a:r>
          </a:p>
          <a:p>
            <a:pPr>
              <a:lnSpc>
                <a:spcPct val="103000"/>
              </a:lnSpc>
              <a:spcAft>
                <a:spcPts val="300"/>
              </a:spcAft>
              <a:defRPr sz="580">
                <a:solidFill>
                  <a:srgbClr val="21242A"/>
                </a:solidFill>
                <a:latin typeface="Microsoft YaHei"/>
              </a:defRPr>
            </a:pPr>
            <a:r>
              <a:t>ment intensity in patients with advanced age and comorbidities demonstrates a need for vigilant supportive care in this demographic.</a:t>
            </a:r>
          </a:p>
          <a:p>
            <a:pPr>
              <a:lnSpc>
                <a:spcPct val="103000"/>
              </a:lnSpc>
              <a:spcAft>
                <a:spcPts val="300"/>
              </a:spcAft>
              <a:defRPr sz="580">
                <a:solidFill>
                  <a:srgbClr val="21242A"/>
                </a:solidFill>
                <a:latin typeface="Microsoft YaHei"/>
              </a:defRPr>
            </a:pPr>
            <a:r>
              <a:t>Survival outcomes will be presented. \n References: \n \n Tilly H, et al. Polatuzumab Vedotin in Previously Untreated Diffuse Large B-Cell Lymphoma.</a:t>
            </a:r>
          </a:p>
          <a:p>
            <a:pPr>
              <a:lnSpc>
                <a:spcPct val="103000"/>
              </a:lnSpc>
              <a:spcAft>
                <a:spcPts val="300"/>
              </a:spcAft>
              <a:defRPr sz="580">
                <a:solidFill>
                  <a:srgbClr val="21242A"/>
                </a:solidFill>
                <a:latin typeface="Microsoft YaHei"/>
              </a:defRPr>
            </a:pPr>
            <a:r>
              <a:t>N Engl J Med 2022; 386:351-363. DOI: 10.1056/NEJMoa2115304 \n \n</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一项前瞻性、多中心的意大利多短期现实研究：对fil-mab的polatuzumab vedotin加r-chp（pol...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primary analysis of the polatuzumab vedotin plus r-chp (pola-r-chp) cohort of...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N=177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完成治疗率：89%（155/174）||CR率：74%||PR率：11%||SD/PD率：4%||12个月PFS率：78.2%...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人数：177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登记号：NCT06008691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一项前瞻性、多中心的意大利多短期现实研究：对fil-mab的polatuzumab vedotin加r-chp（pol...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primary analysis of the polatuzumab vedotin plus r-chp (pola-r-chp) cohort of...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Pola-R-CHP is a new standard of care for previously untreated DLBCL(Tilly, NEJM 2022)and is reimbursed in Italy for IPI 3–5.</a:t>
            </a:r>
          </a:p>
          <a:p>
            <a:pPr>
              <a:lnSpc>
                <a:spcPct val="103000"/>
              </a:lnSpc>
              <a:spcAft>
                <a:spcPts val="300"/>
              </a:spcAft>
              <a:defRPr sz="570">
                <a:solidFill>
                  <a:srgbClr val="21242A"/>
                </a:solidFill>
                <a:latin typeface="Microsoft YaHei"/>
              </a:defRPr>
            </a:pPr>
            <a:r>
              <a:t>However, real-world (RW) data are still limited.</a:t>
            </a:r>
          </a:p>
          <a:p>
            <a:pPr>
              <a:lnSpc>
                <a:spcPct val="103000"/>
              </a:lnSpc>
              <a:spcAft>
                <a:spcPts val="300"/>
              </a:spcAft>
              <a:defRPr sz="570">
                <a:solidFill>
                  <a:srgbClr val="21242A"/>
                </a:solidFill>
                <a:latin typeface="Microsoft YaHei"/>
              </a:defRPr>
            </a:pPr>
            <a:r>
              <a:t>FIL-MAB (NCT06008691) is an independent,academic,multicenter,prospective RW observational study evaluating effectiveness and safety of novel mAb-based therapies</a:t>
            </a:r>
          </a:p>
          <a:p>
            <a:pPr>
              <a:lnSpc>
                <a:spcPct val="103000"/>
              </a:lnSpc>
              <a:spcAft>
                <a:spcPts val="300"/>
              </a:spcAft>
              <a:defRPr sz="570">
                <a:solidFill>
                  <a:srgbClr val="21242A"/>
                </a:solidFill>
                <a:latin typeface="Microsoft YaHei"/>
              </a:defRPr>
            </a:pPr>
            <a:r>
              <a:t> across 65 Italian centers and 8 cohorts.</a:t>
            </a:r>
          </a:p>
          <a:p>
            <a:pPr>
              <a:lnSpc>
                <a:spcPct val="103000"/>
              </a:lnSpc>
              <a:spcAft>
                <a:spcPts val="300"/>
              </a:spcAft>
              <a:defRPr sz="570">
                <a:solidFill>
                  <a:srgbClr val="21242A"/>
                </a:solidFill>
                <a:latin typeface="Microsoft YaHei"/>
              </a:defRPr>
            </a:pPr>
            <a:r>
              <a:t>Aims: The Pola-R-CHP cohort has met the prespecified sample size for primary analysis,enabling assessment of its clinical value in routine practice in a large E</a:t>
            </a:r>
          </a:p>
          <a:p>
            <a:pPr>
              <a:lnSpc>
                <a:spcPct val="103000"/>
              </a:lnSpc>
              <a:spcAft>
                <a:spcPts val="300"/>
              </a:spcAft>
              <a:defRPr sz="570">
                <a:solidFill>
                  <a:srgbClr val="21242A"/>
                </a:solidFill>
                <a:latin typeface="Microsoft YaHei"/>
              </a:defRPr>
            </a:pPr>
            <a:r>
              <a:t>uropean country.</a:t>
            </a:r>
          </a:p>
          <a:p>
            <a:pPr>
              <a:lnSpc>
                <a:spcPct val="103000"/>
              </a:lnSpc>
              <a:spcAft>
                <a:spcPts val="300"/>
              </a:spcAft>
              <a:defRPr sz="570">
                <a:solidFill>
                  <a:srgbClr val="21242A"/>
                </a:solidFill>
                <a:latin typeface="Microsoft YaHei"/>
              </a:defRPr>
            </a:pPr>
            <a:r>
              <a:t>Methods: Patients (pts) deemed candidates for Pola-R-CHP at participating centers, were prospectively enrolled and treated per routine practice.</a:t>
            </a:r>
          </a:p>
          <a:p>
            <a:pPr>
              <a:lnSpc>
                <a:spcPct val="103000"/>
              </a:lnSpc>
              <a:spcAft>
                <a:spcPts val="300"/>
              </a:spcAft>
              <a:defRPr sz="570">
                <a:solidFill>
                  <a:srgbClr val="21242A"/>
                </a:solidFill>
                <a:latin typeface="Microsoft YaHei"/>
              </a:defRPr>
            </a:pPr>
            <a:r>
              <a:t>Baseline characteristics, feasibility, discontinuation rates, G3–5 AEs, ORR/CRR (PET-CT per Lugano 2014), PFS and OS were estimated by Kaplan–Meier.</a:t>
            </a:r>
          </a:p>
          <a:p>
            <a:pPr>
              <a:lnSpc>
                <a:spcPct val="103000"/>
              </a:lnSpc>
              <a:spcAft>
                <a:spcPts val="300"/>
              </a:spcAft>
              <a:defRPr sz="570">
                <a:solidFill>
                  <a:srgbClr val="21242A"/>
                </a:solidFill>
                <a:latin typeface="Microsoft YaHei"/>
              </a:defRPr>
            </a:pPr>
            <a:r>
              <a:t>Outcomes were analyzed overall and benchmarked against the R-CHOP arm of the POLARIX trial using a matching-adjusted indirect comparison (MAIC) approach.</a:t>
            </a:r>
          </a:p>
          <a:p>
            <a:pPr>
              <a:lnSpc>
                <a:spcPct val="103000"/>
              </a:lnSpc>
              <a:spcAft>
                <a:spcPts val="300"/>
              </a:spcAft>
              <a:defRPr sz="570">
                <a:solidFill>
                  <a:srgbClr val="21242A"/>
                </a:solidFill>
                <a:latin typeface="Microsoft YaHei"/>
              </a:defRPr>
            </a:pPr>
            <a:r>
              <a:t>Individual patient data were reweighted to match aggregate baseline characteristics(age,sex,stage,ECOG PS,LDH,IPI) of the POLARIX control arm.</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To our knowledge, the primary analysis of the prospective FIL-MAB Pola-R-CHP cohort is the first European RW experience assessing this combination.</a:t>
            </a:r>
          </a:p>
          <a:p>
            <a:pPr>
              <a:lnSpc>
                <a:spcPct val="103000"/>
              </a:lnSpc>
              <a:spcAft>
                <a:spcPts val="300"/>
              </a:spcAft>
              <a:defRPr sz="590">
                <a:solidFill>
                  <a:srgbClr val="21242A"/>
                </a:solidFill>
                <a:latin typeface="Microsoft YaHei"/>
              </a:defRPr>
            </a:pPr>
            <a:r>
              <a:t>With the limitation of a short follow-up, our data, including reweighted analyses aligned to the baseline characteristics demonstrate the good applicability and</a:t>
            </a:r>
          </a:p>
          <a:p>
            <a:pPr>
              <a:lnSpc>
                <a:spcPct val="103000"/>
              </a:lnSpc>
              <a:spcAft>
                <a:spcPts val="300"/>
              </a:spcAft>
              <a:defRPr sz="590">
                <a:solidFill>
                  <a:srgbClr val="21242A"/>
                </a:solidFill>
                <a:latin typeface="Microsoft YaHei"/>
              </a:defRPr>
            </a:pPr>
            <a:r>
              <a:t> effectiveness of Pola-R-CHP in a broad RW multi-institutional setting.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完成治疗率：89%（155/174）||CR率：74%||PR率：11%||SD/PD率：4%||12个月PFS率：78.2%（95% CI 68.5–85.3）||12个月OS率：91.2%（95% CI 83.1–95.5）||de novo DLBCL亚组12个月PFS率为75.1%（95% CI 62</a:t>
            </a:r>
          </a:p>
          <a:p>
            <a:pPr>
              <a:lnSpc>
                <a:spcPct val="103000"/>
              </a:lnSpc>
              <a:spcAft>
                <a:spcPts val="300"/>
              </a:spcAft>
              <a:defRPr sz="580">
                <a:solidFill>
                  <a:srgbClr val="21242A"/>
                </a:solidFill>
                <a:latin typeface="Microsoft YaHei"/>
              </a:defRPr>
            </a:pPr>
            <a:r>
              <a:t>.5–83.9）||de novo DLBCL亚组12个月OS率为90.6%（95% CI 79.5–95.8）||加权分析后估计12个月PFS率为87.8%（bootstrap 95% CI 78.3–94.4）||治疗相关死亡：1%（2例）||G3-4中性粒细胞减少：15%||G3-4感染：9%</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难治性血液系统恶性肿瘤患者使用卡莫地布与体外精密筛查药物敏感性筛查的i/ii期研究中期结果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interim results of the phase i/ii study investigating karonudib in patients w...</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PS1649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多发性骨髓瘤，弥漫性大B细胞淋巴瘤，急性淋巴细胞白血病，急性髓系白血病，骨髓增生异常综合征</a:t>
            </a:r>
          </a:p>
          <a:p>
            <a:pPr>
              <a:lnSpc>
                <a:spcPct val="103000"/>
              </a:lnSpc>
              <a:spcAft>
                <a:spcPts val="300"/>
              </a:spcAft>
              <a:defRPr sz="800">
                <a:solidFill>
                  <a:srgbClr val="21242A"/>
                </a:solidFill>
                <a:latin typeface="Microsoft YaHei"/>
              </a:defRPr>
            </a:pPr>
            <a:r>
              <a:t>N=27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试验药/方案：Karonudib</a:t>
            </a:r>
          </a:p>
          <a:p>
            <a:pPr>
              <a:lnSpc>
                <a:spcPct val="103000"/>
              </a:lnSpc>
              <a:spcAft>
                <a:spcPts val="300"/>
              </a:spcAft>
              <a:defRPr sz="800">
                <a:solidFill>
                  <a:srgbClr val="21242A"/>
                </a:solidFill>
                <a:latin typeface="Microsoft YaHei"/>
              </a:defRPr>
            </a:pPr>
            <a:r>
              <a:t>靶点：NUDT1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多组/多方案比较：试验组1：Karonudib单药（剂量递增）</a:t>
            </a:r>
          </a:p>
          <a:p>
            <a:pPr>
              <a:lnSpc>
                <a:spcPct val="103000"/>
              </a:lnSpc>
              <a:spcAft>
                <a:spcPts val="300"/>
              </a:spcAft>
              <a:defRPr sz="800">
                <a:solidFill>
                  <a:srgbClr val="21242A"/>
                </a:solidFill>
                <a:latin typeface="Microsoft YaHei"/>
              </a:defRPr>
            </a:pPr>
            <a:r>
              <a:t>试验组2：Karonudib联合Idarubicin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安全性：最常见治疗相关不良事件（≥25%）包括贫血（50%）、中性粒细胞减少（43%）、腹泻（43%）、恶心（36%）、血小板...</a:t>
            </a:r>
          </a:p>
          <a:p>
            <a:pPr>
              <a:lnSpc>
                <a:spcPct val="103000"/>
              </a:lnSpc>
              <a:spcAft>
                <a:spcPts val="300"/>
              </a:spcAft>
              <a:defRPr sz="800">
                <a:solidFill>
                  <a:srgbClr val="21242A"/>
                </a:solidFill>
                <a:latin typeface="Microsoft YaHei"/>
              </a:defRPr>
            </a:pPr>
            <a:r>
              <a:t>剂量限制性毒性（DLT）：1例5级颅内出血（可能相关）发生于队列2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人数：27</a:t>
            </a:r>
          </a:p>
          <a:p>
            <a:pPr>
              <a:lnSpc>
                <a:spcPct val="103000"/>
              </a:lnSpc>
              <a:spcAft>
                <a:spcPts val="300"/>
              </a:spcAft>
              <a:defRPr sz="810">
                <a:solidFill>
                  <a:srgbClr val="21242A"/>
                </a:solidFill>
                <a:latin typeface="Microsoft YaHei"/>
              </a:defRPr>
            </a:pPr>
            <a:r>
              <a:t>适应症：多发性骨髓瘤、弥漫性大B细胞淋巴瘤、急性淋巴细胞白血病</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登记号：NCT04077307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试验药/方案：Karonudib</a:t>
            </a:r>
          </a:p>
          <a:p>
            <a:pPr>
              <a:lnSpc>
                <a:spcPct val="103000"/>
              </a:lnSpc>
              <a:spcAft>
                <a:spcPts val="300"/>
              </a:spcAft>
              <a:defRPr sz="810">
                <a:solidFill>
                  <a:srgbClr val="21242A"/>
                </a:solidFill>
                <a:latin typeface="Microsoft YaHei"/>
              </a:defRPr>
            </a:pPr>
            <a:r>
              <a:t>靶点：NUDT1</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难治性血液系统恶性肿瘤患者使用卡莫地布与体外精密筛查药物敏感性筛查的i/ii期研究中期结果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interim results of the phase i/ii study investigating karonudib in patients w...</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PS1649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MutT homologue 1 (MTH1) detoxifies cells from ROS-induced DNA damage and is essential for cancer cell survival.</a:t>
            </a:r>
          </a:p>
          <a:p>
            <a:pPr>
              <a:lnSpc>
                <a:spcPct val="103000"/>
              </a:lnSpc>
              <a:spcAft>
                <a:spcPts val="300"/>
              </a:spcAft>
              <a:defRPr sz="570">
                <a:solidFill>
                  <a:srgbClr val="21242A"/>
                </a:solidFill>
                <a:latin typeface="Microsoft YaHei"/>
              </a:defRPr>
            </a:pPr>
            <a:r>
              <a:t>MTH1 depletion in RAS-transformed tumour cells causes proliferative abnormalities and numerous malignancies, including haematological tumours, which overexpress</a:t>
            </a:r>
          </a:p>
          <a:p>
            <a:pPr>
              <a:lnSpc>
                <a:spcPct val="103000"/>
              </a:lnSpc>
              <a:spcAft>
                <a:spcPts val="300"/>
              </a:spcAft>
              <a:defRPr sz="570">
                <a:solidFill>
                  <a:srgbClr val="21242A"/>
                </a:solidFill>
                <a:latin typeface="Microsoft YaHei"/>
              </a:defRPr>
            </a:pPr>
            <a:r>
              <a:t> MTH1.</a:t>
            </a:r>
          </a:p>
          <a:p>
            <a:pPr>
              <a:lnSpc>
                <a:spcPct val="103000"/>
              </a:lnSpc>
              <a:spcAft>
                <a:spcPts val="300"/>
              </a:spcAft>
              <a:defRPr sz="570">
                <a:solidFill>
                  <a:srgbClr val="21242A"/>
                </a:solidFill>
                <a:latin typeface="Microsoft YaHei"/>
              </a:defRPr>
            </a:pPr>
            <a:r>
              <a:t>Karonudib (TH1579, OXC-101) is a mitotic MTH1 inhibitor that arrests mitosis by disrupting microtubule dynamics and chromosome alignment, and increases incorpor</a:t>
            </a:r>
          </a:p>
          <a:p>
            <a:pPr>
              <a:lnSpc>
                <a:spcPct val="103000"/>
              </a:lnSpc>
              <a:spcAft>
                <a:spcPts val="300"/>
              </a:spcAft>
              <a:defRPr sz="570">
                <a:solidFill>
                  <a:srgbClr val="21242A"/>
                </a:solidFill>
                <a:latin typeface="Microsoft YaHei"/>
              </a:defRPr>
            </a:pPr>
            <a:r>
              <a:t>ation of oxidised nucleosides into DNA, with improved survival demonstrated across several haematological preclinical models.</a:t>
            </a:r>
          </a:p>
          <a:p>
            <a:pPr>
              <a:lnSpc>
                <a:spcPct val="103000"/>
              </a:lnSpc>
              <a:spcAft>
                <a:spcPts val="300"/>
              </a:spcAft>
              <a:defRPr sz="570">
                <a:solidFill>
                  <a:srgbClr val="21242A"/>
                </a:solidFill>
                <a:latin typeface="Microsoft YaHei"/>
              </a:defRPr>
            </a:pPr>
            <a:r>
              <a:t>Aims: To report Part 1 and Part 2 dose-escalation interim data from the phase I/II MAATEO trial (NCT04077307) of Karonudib in adults with advanced relapsed/refr</a:t>
            </a:r>
          </a:p>
          <a:p>
            <a:pPr>
              <a:lnSpc>
                <a:spcPct val="103000"/>
              </a:lnSpc>
              <a:spcAft>
                <a:spcPts val="300"/>
              </a:spcAft>
              <a:defRPr sz="570">
                <a:solidFill>
                  <a:srgbClr val="21242A"/>
                </a:solidFill>
                <a:latin typeface="Microsoft YaHei"/>
              </a:defRPr>
            </a:pPr>
            <a:r>
              <a:t>actory (R/R) AML, ALL, DLBCL, MM, and high-risk MDS.</a:t>
            </a:r>
          </a:p>
          <a:p>
            <a:pPr>
              <a:lnSpc>
                <a:spcPct val="103000"/>
              </a:lnSpc>
              <a:spcAft>
                <a:spcPts val="300"/>
              </a:spcAft>
              <a:defRPr sz="570">
                <a:solidFill>
                  <a:srgbClr val="21242A"/>
                </a:solidFill>
                <a:latin typeface="Microsoft YaHei"/>
              </a:defRPr>
            </a:pPr>
            <a:r>
              <a:t>Methods: This single-arm, dose-escalation trial enrolled patients aged 18–75 years with adequate organ function receiving escalating oral doses of Karonudib usi</a:t>
            </a:r>
          </a:p>
          <a:p>
            <a:pPr>
              <a:lnSpc>
                <a:spcPct val="103000"/>
              </a:lnSpc>
              <a:spcAft>
                <a:spcPts val="300"/>
              </a:spcAft>
              <a:defRPr sz="570">
                <a:solidFill>
                  <a:srgbClr val="21242A"/>
                </a:solidFill>
                <a:latin typeface="Microsoft YaHei"/>
              </a:defRPr>
            </a:pPr>
            <a:r>
              <a:t>ng a 3+3 design.</a:t>
            </a:r>
          </a:p>
          <a:p>
            <a:pPr>
              <a:lnSpc>
                <a:spcPct val="103000"/>
              </a:lnSpc>
              <a:spcAft>
                <a:spcPts val="300"/>
              </a:spcAft>
              <a:defRPr sz="570">
                <a:solidFill>
                  <a:srgbClr val="21242A"/>
                </a:solidFill>
                <a:latin typeface="Microsoft YaHei"/>
              </a:defRPr>
            </a:pPr>
            <a:r>
              <a:t>The primary objectives were safety and tolerability, assessed by the DLT rate over the first 4 weeks.</a:t>
            </a:r>
          </a:p>
          <a:p>
            <a:pPr>
              <a:lnSpc>
                <a:spcPct val="103000"/>
              </a:lnSpc>
              <a:spcAft>
                <a:spcPts val="300"/>
              </a:spcAft>
              <a:defRPr sz="570">
                <a:solidFill>
                  <a:srgbClr val="21242A"/>
                </a:solidFill>
                <a:latin typeface="Microsoft YaHei"/>
              </a:defRPr>
            </a:pPr>
            <a:r>
              <a:t>Secondary objectives included clinical benefit, pharmacokinetics, and biomarker analyses. Disease assessment was performed on Cycle 1 Day 22 and at cycle end.</a:t>
            </a:r>
          </a:p>
          <a:p>
            <a:pPr>
              <a:lnSpc>
                <a:spcPct val="103000"/>
              </a:lnSpc>
              <a:spcAft>
                <a:spcPts val="300"/>
              </a:spcAft>
              <a:defRPr sz="570">
                <a:solidFill>
                  <a:srgbClr val="21242A"/>
                </a:solidFill>
                <a:latin typeface="Microsoft YaHei"/>
              </a:defRPr>
            </a:pPr>
            <a:r>
              <a:t>Part 2 evaluates Karonudib at the RP2D in combination with idarubicin in R/R AML and high-risk MDS.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Karonudib was generally well tolerated with acceptable safety and preliminary clinical activity in R/R AML and MDS.</a:t>
            </a:r>
          </a:p>
          <a:p>
            <a:pPr>
              <a:lnSpc>
                <a:spcPct val="103000"/>
              </a:lnSpc>
              <a:spcAft>
                <a:spcPts val="300"/>
              </a:spcAft>
              <a:defRPr sz="590">
                <a:solidFill>
                  <a:srgbClr val="21242A"/>
                </a:solidFill>
                <a:latin typeface="Microsoft YaHei"/>
              </a:defRPr>
            </a:pPr>
            <a:r>
              <a:t>The RP2D is now being evaluated in combination with idarubicin, with the aim of optimising delivery of this combination.</a:t>
            </a:r>
          </a:p>
          <a:p>
            <a:pPr>
              <a:lnSpc>
                <a:spcPct val="103000"/>
              </a:lnSpc>
              <a:spcAft>
                <a:spcPts val="300"/>
              </a:spcAft>
              <a:defRPr sz="590">
                <a:solidFill>
                  <a:srgbClr val="21242A"/>
                </a:solidFill>
                <a:latin typeface="Microsoft YaHei"/>
              </a:defRPr>
            </a:pPr>
            <a:r>
              <a:t>The drug sensitivity screening shows strong correlation with prior and current clinical outcomes.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安全性</a:t>
                      </a:r>
                    </a:p>
                  </a:txBody>
                  <a:tcPr>
                    <a:solidFill>
                      <a:srgbClr val="F6F8FB"/>
                    </a:solidFill>
                  </a:tcPr>
                </a:tc>
                <a:tc>
                  <a:txBody>
                    <a:bodyPr wrap="square" lIns="36576" rIns="36576" tIns="18288" bIns="18288"/>
                    <a:lstStyle/>
                    <a:p>
                      <a:r>
                        <a:rPr sz="540" b="0">
                          <a:solidFill>
                            <a:srgbClr val="21242A"/>
                          </a:solidFill>
                          <a:latin typeface="Microsoft YaHei"/>
                        </a:rPr>
                        <a:t>最常见治疗相关不良事件（≥25%）包括贫血（50%）、中性粒细胞减少（43%）、腹泻（43%）、恶心（36%）、血小板减少（29%）</a:t>
                      </a:r>
                    </a:p>
                  </a:txBody>
                  <a:tcPr>
                    <a:solidFill>
                      <a:srgbClr val="F6F8FB"/>
                    </a:solidFill>
                  </a:tcPr>
                </a:tc>
              </a:tr>
              <a:tr h="214230">
                <a:tc>
                  <a:txBody>
                    <a:bodyPr wrap="square" lIns="36576" rIns="36576" tIns="18288" bIns="18288"/>
                    <a:lstStyle/>
                    <a:p>
                      <a:r>
                        <a:rPr sz="540" b="1">
                          <a:solidFill>
                            <a:srgbClr val="21242A"/>
                          </a:solidFill>
                          <a:latin typeface="Microsoft YaHei"/>
                        </a:rPr>
                        <a:t>剂量限制性毒性（DLT）</a:t>
                      </a:r>
                    </a:p>
                  </a:txBody>
                  <a:tcPr>
                    <a:solidFill>
                      <a:srgbClr val="FFFFFF"/>
                    </a:solidFill>
                  </a:tcPr>
                </a:tc>
                <a:tc>
                  <a:txBody>
                    <a:bodyPr wrap="square" lIns="36576" rIns="36576" tIns="18288" bIns="18288"/>
                    <a:lstStyle/>
                    <a:p>
                      <a:r>
                        <a:rPr sz="540" b="0">
                          <a:solidFill>
                            <a:srgbClr val="21242A"/>
                          </a:solidFill>
                          <a:latin typeface="Microsoft YaHei"/>
                        </a:rPr>
                        <a:t>1例5级颅内出血（可能相关）发生于队列2</a:t>
                      </a:r>
                    </a:p>
                  </a:txBody>
                  <a:tcPr>
                    <a:solidFill>
                      <a:srgbClr val="FFFFFF"/>
                    </a:solidFill>
                  </a:tcPr>
                </a:tc>
              </a:tr>
              <a:tr h="214230">
                <a:tc>
                  <a:txBody>
                    <a:bodyPr wrap="square" lIns="36576" rIns="36576" tIns="18288" bIns="18288"/>
                    <a:lstStyle/>
                    <a:p>
                      <a:r>
                        <a:rPr sz="540" b="1">
                          <a:solidFill>
                            <a:srgbClr val="21242A"/>
                          </a:solidFill>
                          <a:latin typeface="Microsoft YaHei"/>
                        </a:rPr>
                        <a:t>疗效-AML（2例可评估）</a:t>
                      </a:r>
                    </a:p>
                  </a:txBody>
                  <a:tcPr>
                    <a:solidFill>
                      <a:srgbClr val="F6F8FB"/>
                    </a:solidFill>
                  </a:tcPr>
                </a:tc>
                <a:tc>
                  <a:txBody>
                    <a:bodyPr wrap="square" lIns="36576" rIns="36576" tIns="18288" bIns="18288"/>
                    <a:lstStyle/>
                    <a:p>
                      <a:r>
                        <a:rPr sz="540" b="0">
                          <a:solidFill>
                            <a:srgbClr val="21242A"/>
                          </a:solidFill>
                          <a:latin typeface="Microsoft YaHei"/>
                        </a:rPr>
                        <a:t>1例部分缓解（133天），1例疾病稳定（141天）</a:t>
                      </a:r>
                    </a:p>
                  </a:txBody>
                  <a:tcPr>
                    <a:solidFill>
                      <a:srgbClr val="F6F8FB"/>
                    </a:solidFill>
                  </a:tcPr>
                </a:tc>
              </a:tr>
              <a:tr h="214230">
                <a:tc>
                  <a:txBody>
                    <a:bodyPr wrap="square" lIns="36576" rIns="36576" tIns="18288" bIns="18288"/>
                    <a:lstStyle/>
                    <a:p>
                      <a:r>
                        <a:rPr sz="540" b="1">
                          <a:solidFill>
                            <a:srgbClr val="21242A"/>
                          </a:solidFill>
                          <a:latin typeface="Microsoft YaHei"/>
                        </a:rPr>
                        <a:t>疗效-MDS（4例可评估）</a:t>
                      </a:r>
                    </a:p>
                  </a:txBody>
                  <a:tcPr>
                    <a:solidFill>
                      <a:srgbClr val="FFFFFF"/>
                    </a:solidFill>
                  </a:tcPr>
                </a:tc>
                <a:tc>
                  <a:txBody>
                    <a:bodyPr wrap="square" lIns="36576" rIns="36576" tIns="18288" bIns="18288"/>
                    <a:lstStyle/>
                    <a:p>
                      <a:r>
                        <a:rPr sz="540" b="0">
                          <a:solidFill>
                            <a:srgbClr val="21242A"/>
                          </a:solidFill>
                          <a:latin typeface="Microsoft YaHei"/>
                        </a:rPr>
                        <a:t>最佳反应为疾病稳定（65天）</a:t>
                      </a:r>
                    </a:p>
                  </a:txBody>
                  <a:tcPr>
                    <a:solidFill>
                      <a:srgbClr val="FFFFFF"/>
                    </a:solidFill>
                  </a:tcPr>
                </a:tc>
              </a:tr>
              <a:tr h="214230">
                <a:tc>
                  <a:txBody>
                    <a:bodyPr wrap="square" lIns="36576" rIns="36576" tIns="18288" bIns="18288"/>
                    <a:lstStyle/>
                    <a:p>
                      <a:r>
                        <a:rPr sz="540" b="1">
                          <a:solidFill>
                            <a:srgbClr val="21242A"/>
                          </a:solidFill>
                          <a:latin typeface="Microsoft YaHei"/>
                        </a:rPr>
                        <a:t>疗效-DLBCL（2例可评估）</a:t>
                      </a:r>
                    </a:p>
                  </a:txBody>
                  <a:tcPr>
                    <a:solidFill>
                      <a:srgbClr val="F6F8FB"/>
                    </a:solidFill>
                  </a:tcPr>
                </a:tc>
                <a:tc>
                  <a:txBody>
                    <a:bodyPr wrap="square" lIns="36576" rIns="36576" tIns="18288" bIns="18288"/>
                    <a:lstStyle/>
                    <a:p>
                      <a:r>
                        <a:rPr sz="540" b="0">
                          <a:solidFill>
                            <a:srgbClr val="21242A"/>
                          </a:solidFill>
                          <a:latin typeface="Microsoft YaHei"/>
                        </a:rPr>
                        <a:t>最佳反应为疾病稳定（167天）</a:t>
                      </a:r>
                    </a:p>
                  </a:txBody>
                  <a:tcPr>
                    <a:solidFill>
                      <a:srgbClr val="F6F8FB"/>
                    </a:solidFill>
                  </a:tcPr>
                </a:tc>
              </a:tr>
              <a:tr h="214236">
                <a:tc>
                  <a:txBody>
                    <a:bodyPr wrap="square" lIns="36576" rIns="36576" tIns="18288" bIns="18288"/>
                    <a:lstStyle/>
                    <a:p>
                      <a:r>
                        <a:rPr sz="540" b="1">
                          <a:solidFill>
                            <a:srgbClr val="21242A"/>
                          </a:solidFill>
                          <a:latin typeface="Microsoft YaHei"/>
                        </a:rPr>
                        <a:t>联合队列（13例）</a:t>
                      </a:r>
                    </a:p>
                  </a:txBody>
                  <a:tcPr>
                    <a:solidFill>
                      <a:srgbClr val="FFFFFF"/>
                    </a:solidFill>
                  </a:tcPr>
                </a:tc>
                <a:tc>
                  <a:txBody>
                    <a:bodyPr wrap="square" lIns="36576" rIns="36576" tIns="18288" bIns="18288"/>
                    <a:lstStyle/>
                    <a:p>
                      <a:r>
                        <a:rPr sz="540" b="0">
                          <a:solidFill>
                            <a:srgbClr val="21242A"/>
                          </a:solidFill>
                          <a:latin typeface="Microsoft YaHei"/>
                        </a:rPr>
                        <a:t>1例疾病稳定超过4个周期，骨髓原始细胞从40%降至17%；另一例在第1周期疾病稳定，原始细胞从17.5%降至12.4%，第2周期进展。</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摘要号：PS1649</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N=291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分组：ASCT组/非ASCT组</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主要终点：无进展生存期（PFS），ASCT组优于非ASCT组（p=0.023）</a:t>
            </a:r>
          </a:p>
          <a:p>
            <a:pPr>
              <a:lnSpc>
                <a:spcPct val="103000"/>
              </a:lnSpc>
              <a:spcAft>
                <a:spcPts val="300"/>
              </a:spcAft>
              <a:defRPr sz="800">
                <a:solidFill>
                  <a:srgbClr val="21242A"/>
                </a:solidFill>
                <a:latin typeface="Microsoft YaHei"/>
              </a:defRPr>
            </a:pPr>
            <a:r>
              <a:t>次要终点：总生存期（OS），ASCT组有获益趋势但未达统计学意义（p=0.085）。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人数：291</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分组/治疗流程：ASCT组/非ASCT组</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role of autologous stem cell transplantation (ASCT) in primary central nervous system diffuse large B-cell lymphoma (PCNS-DLBCL) is being re-eva</a:t>
            </a:r>
          </a:p>
          <a:p>
            <a:pPr>
              <a:lnSpc>
                <a:spcPct val="103000"/>
              </a:lnSpc>
              <a:spcAft>
                <a:spcPts val="300"/>
              </a:spcAft>
              <a:defRPr sz="570">
                <a:solidFill>
                  <a:srgbClr val="21242A"/>
                </a:solidFill>
                <a:latin typeface="Microsoft YaHei"/>
              </a:defRPr>
            </a:pPr>
            <a:r>
              <a:t>luated, particularly in newly diagnosed patients, as BTK inhibitors (BTKi) and lenalidomide are increasingly used in induction, salvage, and maintenance therapy</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In real-world clinical practice, ASCT allocation is influenced by baseline fitness and disease characteristics, highlighting the need for confounding control to</a:t>
            </a:r>
          </a:p>
          <a:p>
            <a:pPr>
              <a:lnSpc>
                <a:spcPct val="103000"/>
              </a:lnSpc>
              <a:spcAft>
                <a:spcPts val="300"/>
              </a:spcAft>
              <a:defRPr sz="570">
                <a:solidFill>
                  <a:srgbClr val="21242A"/>
                </a:solidFill>
                <a:latin typeface="Microsoft YaHei"/>
              </a:defRPr>
            </a:pPr>
            <a:r>
              <a:t> assess outcomes and clarify whether post-induction consolidation strategies are key to long-term results in the Targeted Therapy era.</a:t>
            </a:r>
          </a:p>
          <a:p>
            <a:pPr>
              <a:lnSpc>
                <a:spcPct val="103000"/>
              </a:lnSpc>
              <a:spcAft>
                <a:spcPts val="300"/>
              </a:spcAft>
              <a:defRPr sz="570">
                <a:solidFill>
                  <a:srgbClr val="21242A"/>
                </a:solidFill>
                <a:latin typeface="Microsoft YaHei"/>
              </a:defRPr>
            </a:pPr>
            <a:r>
              <a:t>Aims: This study aimed to evaluate the association between ASCT and progression-free survival (PFS) and overall survival (OS) in patients with PCNS-DLBCL treate</a:t>
            </a:r>
          </a:p>
          <a:p>
            <a:pPr>
              <a:lnSpc>
                <a:spcPct val="103000"/>
              </a:lnSpc>
              <a:spcAft>
                <a:spcPts val="300"/>
              </a:spcAft>
              <a:defRPr sz="570">
                <a:solidFill>
                  <a:srgbClr val="21242A"/>
                </a:solidFill>
                <a:latin typeface="Microsoft YaHei"/>
              </a:defRPr>
            </a:pPr>
            <a:r>
              <a:t>d in the BTKi/lenalidomide era, using propensity score matching (PSM) to adjust for confounding factors.</a:t>
            </a:r>
          </a:p>
          <a:p>
            <a:pPr>
              <a:lnSpc>
                <a:spcPct val="103000"/>
              </a:lnSpc>
              <a:spcAft>
                <a:spcPts val="300"/>
              </a:spcAft>
              <a:defRPr sz="570">
                <a:solidFill>
                  <a:srgbClr val="21242A"/>
                </a:solidFill>
                <a:latin typeface="Microsoft YaHei"/>
              </a:defRPr>
            </a:pPr>
            <a:r>
              <a:t>We also examined whether post-induction consolidation strategies (ASCT and/or maintenance) and BTKi/lenalidomide treatment pathways stratify outcomes, including</a:t>
            </a:r>
          </a:p>
          <a:p>
            <a:pPr>
              <a:lnSpc>
                <a:spcPct val="103000"/>
              </a:lnSpc>
              <a:spcAft>
                <a:spcPts val="300"/>
              </a:spcAft>
              <a:defRPr sz="570">
                <a:solidFill>
                  <a:srgbClr val="21242A"/>
                </a:solidFill>
                <a:latin typeface="Microsoft YaHei"/>
              </a:defRPr>
            </a:pPr>
            <a:r>
              <a:t> among treatment responders.</a:t>
            </a:r>
          </a:p>
          <a:p>
            <a:pPr>
              <a:lnSpc>
                <a:spcPct val="103000"/>
              </a:lnSpc>
              <a:spcAft>
                <a:spcPts val="300"/>
              </a:spcAft>
              <a:defRPr sz="570">
                <a:solidFill>
                  <a:srgbClr val="21242A"/>
                </a:solidFill>
                <a:latin typeface="Microsoft YaHei"/>
              </a:defRPr>
            </a:pPr>
            <a:r>
              <a:t>Methods: We conducted a retrospective, three-centre cohort study of PCNS-DLBCL patients treated in routine practice. The primary exposure was ASCT (yes vs no).</a:t>
            </a:r>
          </a:p>
          <a:p>
            <a:pPr>
              <a:lnSpc>
                <a:spcPct val="103000"/>
              </a:lnSpc>
              <a:spcAft>
                <a:spcPts val="300"/>
              </a:spcAft>
              <a:defRPr sz="570">
                <a:solidFill>
                  <a:srgbClr val="21242A"/>
                </a:solidFill>
                <a:latin typeface="Microsoft YaHei"/>
              </a:defRPr>
            </a:pPr>
            <a:r>
              <a:t>PSM was performed using nearest-neighbour matching with a target ratio of 1:2 and caliper width of 0.1, adjusting for covariates listed in Table 1.</a:t>
            </a:r>
          </a:p>
          <a:p>
            <a:pPr>
              <a:lnSpc>
                <a:spcPct val="103000"/>
              </a:lnSpc>
              <a:spcAft>
                <a:spcPts val="300"/>
              </a:spcAft>
              <a:defRPr sz="570">
                <a:solidFill>
                  <a:srgbClr val="21242A"/>
                </a:solidFill>
                <a:latin typeface="Microsoft YaHei"/>
              </a:defRPr>
            </a:pPr>
            <a:r>
              <a:t>Balance was assessed using standardized mean differences. Endpoints were PFS and OS, analyzed by Kaplan–Meier methods with log-rank comparisons.</a:t>
            </a:r>
          </a:p>
          <a:p>
            <a:pPr>
              <a:lnSpc>
                <a:spcPct val="103000"/>
              </a:lnSpc>
              <a:spcAft>
                <a:spcPts val="300"/>
              </a:spcAft>
              <a:defRPr sz="570">
                <a:solidFill>
                  <a:srgbClr val="21242A"/>
                </a:solidFill>
                <a:latin typeface="Microsoft YaHei"/>
              </a:defRPr>
            </a:pPr>
            <a:r>
              <a:t>Prespecified exploratory analyses evaluated six subgroups based on regimen category (BTKi, lenalidomide, or neither) and ASCT status; four subgroups based on AS</a:t>
            </a:r>
          </a:p>
          <a:p>
            <a:pPr>
              <a:lnSpc>
                <a:spcPct val="103000"/>
              </a:lnSpc>
              <a:spcAft>
                <a:spcPts val="300"/>
              </a:spcAft>
              <a:defRPr sz="570">
                <a:solidFill>
                  <a:srgbClr val="21242A"/>
                </a:solidFill>
                <a:latin typeface="Microsoft YaHei"/>
              </a:defRPr>
            </a:pPr>
            <a:r>
              <a:t>CT and maintenance therapy; and responder subsets (CR/PR and CR).</a:t>
            </a:r>
          </a:p>
          <a:p>
            <a:pPr>
              <a:lnSpc>
                <a:spcPct val="103000"/>
              </a:lnSpc>
              <a:spcAft>
                <a:spcPts val="300"/>
              </a:spcAft>
              <a:defRPr sz="570">
                <a:solidFill>
                  <a:srgbClr val="21242A"/>
                </a:solidFill>
                <a:latin typeface="Microsoft YaHei"/>
              </a:defRPr>
            </a:pPr>
            <a:r>
              <a:t>All analyses were hypothesis-generating.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patients with PCNS-DLBCL treated in the BTKi/lenalidomide era, ASCT was associated with improved PFS after PSM, while OS showed a favorable trend.</a:t>
            </a:r>
          </a:p>
          <a:p>
            <a:pPr>
              <a:lnSpc>
                <a:spcPct val="103000"/>
              </a:lnSpc>
              <a:spcAft>
                <a:spcPts val="300"/>
              </a:spcAft>
              <a:defRPr sz="590">
                <a:solidFill>
                  <a:srgbClr val="21242A"/>
                </a:solidFill>
                <a:latin typeface="Microsoft YaHei"/>
              </a:defRPr>
            </a:pPr>
            <a:r>
              <a:t>Post-induction consolidation strategies most strongly differentiated long-term outcomes, with maintenance therapy being particularly beneficial for patients not</a:t>
            </a:r>
          </a:p>
          <a:p>
            <a:pPr>
              <a:lnSpc>
                <a:spcPct val="103000"/>
              </a:lnSpc>
              <a:spcAft>
                <a:spcPts val="300"/>
              </a:spcAft>
              <a:defRPr sz="590">
                <a:solidFill>
                  <a:srgbClr val="21242A"/>
                </a:solidFill>
                <a:latin typeface="Microsoft YaHei"/>
              </a:defRPr>
            </a:pPr>
            <a:r>
              <a:t> receiving ASCT.</a:t>
            </a:r>
          </a:p>
          <a:p>
            <a:pPr>
              <a:lnSpc>
                <a:spcPct val="103000"/>
              </a:lnSpc>
              <a:spcAft>
                <a:spcPts val="300"/>
              </a:spcAft>
              <a:defRPr sz="590">
                <a:solidFill>
                  <a:srgbClr val="21242A"/>
                </a:solidFill>
                <a:latin typeface="Microsoft YaHei"/>
              </a:defRPr>
            </a:pPr>
            <a:r>
              <a:t>Outcomes also varied by regimen type (BTKi-based, lenalidomide-based, or neither) and ASCT status.</a:t>
            </a:r>
          </a:p>
          <a:p>
            <a:pPr>
              <a:lnSpc>
                <a:spcPct val="103000"/>
              </a:lnSpc>
              <a:spcAft>
                <a:spcPts val="300"/>
              </a:spcAft>
              <a:defRPr sz="590">
                <a:solidFill>
                  <a:srgbClr val="21242A"/>
                </a:solidFill>
                <a:latin typeface="Microsoft YaHei"/>
              </a:defRPr>
            </a:pPr>
            <a:r>
              <a:t>These findings support a risk-adapted approach for selecting ASCT and/or maintenance therapy, highlighting the need for prospective validation.</a:t>
            </a:r>
          </a:p>
          <a:p>
            <a:pPr>
              <a:lnSpc>
                <a:spcPct val="103000"/>
              </a:lnSpc>
              <a:spcAft>
                <a:spcPts val="300"/>
              </a:spcAft>
              <a:defRPr sz="590">
                <a:solidFill>
                  <a:srgbClr val="21242A"/>
                </a:solidFill>
                <a:latin typeface="Microsoft YaHei"/>
              </a:defRPr>
            </a:pPr>
            <a:r>
              <a:t>Key survival curves are presented in the submitted figure.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主要终点：无进展生存期（PFS），ASCT组优于非ASCT组（p=0.023）；次要终点：总生存期（OS），ASCT组有获益趋势但未达统计学意义（p=0.085）。</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疾病场景：PCNSL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通过脑脊液中的分子和免疫生物标志物诊断原发性中枢神经系统淋巴瘤：一项多中心前瞻性队列研究（pricelus）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diagnosing primary central nervous system lymphoma through molecular and immu...</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N=255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前瞻性临床研究结果：diagnosing primary central nervous system lymphoma th...</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单变量分析：6种细胞因子诊断AUC范围0.67-0.96</a:t>
            </a:r>
          </a:p>
          <a:p>
            <a:pPr>
              <a:lnSpc>
                <a:spcPct val="103000"/>
              </a:lnSpc>
              <a:spcAft>
                <a:spcPts val="300"/>
              </a:spcAft>
              <a:defRPr sz="800">
                <a:solidFill>
                  <a:srgbClr val="21242A"/>
                </a:solidFill>
                <a:latin typeface="Microsoft YaHei"/>
              </a:defRPr>
            </a:pPr>
            <a:r>
              <a:t>MYD88-CSF检出率：56%的CNSL病例阳性，特异性99%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人数：255</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研究主题：diagnosing primary central nervous system lymphoma through molecular and immune biomarkers in cerebrospinal fluid: a mu...</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通过脑脊液中的分子和免疫生物标志物诊断原发性中枢神经系统淋巴瘤：一项多中心前瞻性队列研究（pricelus）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diagnosing primary central nervous system lymphoma through molecular and immu...</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central nervous system lymphoma (PCNSL) is typically diagnosed by brain biopsy, a procedure with risks and diagnostic delay.</a:t>
            </a:r>
          </a:p>
          <a:p>
            <a:pPr>
              <a:lnSpc>
                <a:spcPct val="103000"/>
              </a:lnSpc>
              <a:spcAft>
                <a:spcPts val="300"/>
              </a:spcAft>
              <a:defRPr sz="570">
                <a:solidFill>
                  <a:srgbClr val="21242A"/>
                </a:solidFill>
                <a:latin typeface="Microsoft YaHei"/>
              </a:defRPr>
            </a:pPr>
            <a:r>
              <a:t>Emerging cerebrospinal fluid (CSF) biomarkers, including the MYD88 L265P mutation in CSF (MYD88-CSF) and several cytokines, may improve diagnostic accuracy, but</a:t>
            </a:r>
          </a:p>
          <a:p>
            <a:pPr>
              <a:lnSpc>
                <a:spcPct val="103000"/>
              </a:lnSpc>
              <a:spcAft>
                <a:spcPts val="300"/>
              </a:spcAft>
              <a:defRPr sz="570">
                <a:solidFill>
                  <a:srgbClr val="21242A"/>
                </a:solidFill>
                <a:latin typeface="Microsoft YaHei"/>
              </a:defRPr>
            </a:pPr>
            <a:r>
              <a:t> evidence is mostly derived from retrospective, non-consecutive cohorts.</a:t>
            </a:r>
          </a:p>
          <a:p>
            <a:pPr>
              <a:lnSpc>
                <a:spcPct val="103000"/>
              </a:lnSpc>
              <a:spcAft>
                <a:spcPts val="300"/>
              </a:spcAft>
              <a:defRPr sz="570">
                <a:solidFill>
                  <a:srgbClr val="21242A"/>
                </a:solidFill>
                <a:latin typeface="Microsoft YaHei"/>
              </a:defRPr>
            </a:pPr>
            <a:r>
              <a:t>We conducted a nationwide, multicentre, prospective cohort study to validate the diagnostic utility of multiple CSF biomarkers in patients with suspected PCNSL.</a:t>
            </a:r>
          </a:p>
          <a:p>
            <a:pPr>
              <a:lnSpc>
                <a:spcPct val="103000"/>
              </a:lnSpc>
              <a:spcAft>
                <a:spcPts val="300"/>
              </a:spcAft>
              <a:defRPr sz="570">
                <a:solidFill>
                  <a:srgbClr val="21242A"/>
                </a:solidFill>
                <a:latin typeface="Microsoft YaHei"/>
              </a:defRPr>
            </a:pPr>
            <a:r>
              <a:t>Aims: To prospectively validate the diagnostic performance of CSF biomarkers in suspected PCNSL and to construct a high-specificity diagnostic algorithm, with a</a:t>
            </a:r>
          </a:p>
          <a:p>
            <a:pPr>
              <a:lnSpc>
                <a:spcPct val="103000"/>
              </a:lnSpc>
              <a:spcAft>
                <a:spcPts val="300"/>
              </a:spcAft>
              <a:defRPr sz="570">
                <a:solidFill>
                  <a:srgbClr val="21242A"/>
                </a:solidFill>
                <a:latin typeface="Microsoft YaHei"/>
              </a:defRPr>
            </a:pPr>
            <a:r>
              <a:t>dditional exploratory analyses of prognostic value, repeated lumbar puncture, and radiological features.</a:t>
            </a:r>
          </a:p>
          <a:p>
            <a:pPr>
              <a:lnSpc>
                <a:spcPct val="103000"/>
              </a:lnSpc>
              <a:spcAft>
                <a:spcPts val="300"/>
              </a:spcAft>
              <a:defRPr sz="570">
                <a:solidFill>
                  <a:srgbClr val="21242A"/>
                </a:solidFill>
                <a:latin typeface="Microsoft YaHei"/>
              </a:defRPr>
            </a:pPr>
            <a:r>
              <a:t>Methods: Patients with suspected PCNSL who underwent CSF analysis were prospectively enrolled across five hospitals in the Netherlands between 2021 and 2025.</a:t>
            </a:r>
          </a:p>
          <a:p>
            <a:pPr>
              <a:lnSpc>
                <a:spcPct val="103000"/>
              </a:lnSpc>
              <a:spcAft>
                <a:spcPts val="300"/>
              </a:spcAft>
              <a:defRPr sz="570">
                <a:solidFill>
                  <a:srgbClr val="21242A"/>
                </a:solidFill>
                <a:latin typeface="Microsoft YaHei"/>
              </a:defRPr>
            </a:pPr>
            <a:r>
              <a:t>Analyses focused on MYD88-CSF and cytokines with reported diagnostic value.</a:t>
            </a:r>
          </a:p>
          <a:p>
            <a:pPr>
              <a:lnSpc>
                <a:spcPct val="103000"/>
              </a:lnSpc>
              <a:spcAft>
                <a:spcPts val="300"/>
              </a:spcAft>
              <a:defRPr sz="570">
                <a:solidFill>
                  <a:srgbClr val="21242A"/>
                </a:solidFill>
                <a:latin typeface="Microsoft YaHei"/>
              </a:defRPr>
            </a:pPr>
            <a:r>
              <a:t>Multivariable and LASSO regression were used to construct a diagnostic panel, followed by decision tree analysis to evaluate diagnostic performance.</a:t>
            </a:r>
          </a:p>
          <a:p>
            <a:pPr>
              <a:lnSpc>
                <a:spcPct val="103000"/>
              </a:lnSpc>
              <a:spcAft>
                <a:spcPts val="300"/>
              </a:spcAft>
              <a:defRPr sz="570">
                <a:solidFill>
                  <a:srgbClr val="21242A"/>
                </a:solidFill>
                <a:latin typeface="Microsoft YaHei"/>
              </a:defRPr>
            </a:pPr>
            <a:r>
              <a:t>Exploratory analyses assessed associations between novel biomarkers and clinical outcomes.</a:t>
            </a:r>
          </a:p>
          <a:p>
            <a:pPr>
              <a:lnSpc>
                <a:spcPct val="103000"/>
              </a:lnSpc>
              <a:spcAft>
                <a:spcPts val="300"/>
              </a:spcAft>
              <a:defRPr sz="570">
                <a:solidFill>
                  <a:srgbClr val="21242A"/>
                </a:solidFill>
                <a:latin typeface="Microsoft YaHei"/>
              </a:defRPr>
            </a:pPr>
            <a:r>
              <a:t>We also evaluated the diagnostic yield of repeated lumbar puncture and examined the relationship between radiological characteristics and CSF biomarker levels.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prospective, multicentre cohort of patients with suspected PCNSL, we validated the high diagnostic value of MYD88-CSF, IL10, and CXCL13.</a:t>
            </a:r>
          </a:p>
          <a:p>
            <a:pPr>
              <a:lnSpc>
                <a:spcPct val="103000"/>
              </a:lnSpc>
              <a:spcAft>
                <a:spcPts val="300"/>
              </a:spcAft>
              <a:defRPr sz="590">
                <a:solidFill>
                  <a:srgbClr val="21242A"/>
                </a:solidFill>
                <a:latin typeface="Microsoft YaHei"/>
              </a:defRPr>
            </a:pPr>
            <a:r>
              <a:t>In selected clinical scenarios, combined CSF biomarker testing may be sufficient for a diagnosis, without the need for brain biopsy, although results should be </a:t>
            </a:r>
          </a:p>
          <a:p>
            <a:pPr>
              <a:lnSpc>
                <a:spcPct val="103000"/>
              </a:lnSpc>
              <a:spcAft>
                <a:spcPts val="300"/>
              </a:spcAft>
              <a:defRPr sz="590">
                <a:solidFill>
                  <a:srgbClr val="21242A"/>
                </a:solidFill>
                <a:latin typeface="Microsoft YaHei"/>
              </a:defRPr>
            </a:pPr>
            <a:r>
              <a:t>interpreted within the full clinical context.</a:t>
            </a:r>
          </a:p>
          <a:p>
            <a:pPr>
              <a:lnSpc>
                <a:spcPct val="103000"/>
              </a:lnSpc>
              <a:spcAft>
                <a:spcPts val="300"/>
              </a:spcAft>
              <a:defRPr sz="590">
                <a:solidFill>
                  <a:srgbClr val="21242A"/>
                </a:solidFill>
                <a:latin typeface="Microsoft YaHei"/>
              </a:defRPr>
            </a:pPr>
            <a:r>
              <a:t>For patients not fulfilling the CSF biomarker threshold diagnostic brain biopsy remains necessary.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单变量分析</a:t>
                      </a:r>
                    </a:p>
                  </a:txBody>
                  <a:tcPr>
                    <a:solidFill>
                      <a:srgbClr val="F6F8FB"/>
                    </a:solidFill>
                  </a:tcPr>
                </a:tc>
                <a:tc>
                  <a:txBody>
                    <a:bodyPr wrap="square" lIns="36576" rIns="36576" tIns="18288" bIns="18288"/>
                    <a:lstStyle/>
                    <a:p>
                      <a:r>
                        <a:rPr sz="540" b="0">
                          <a:solidFill>
                            <a:srgbClr val="21242A"/>
                          </a:solidFill>
                          <a:latin typeface="Microsoft YaHei"/>
                        </a:rPr>
                        <a:t>6种细胞因子诊断AUC范围0.67-0.96</a:t>
                      </a:r>
                    </a:p>
                  </a:txBody>
                  <a:tcPr>
                    <a:solidFill>
                      <a:srgbClr val="F6F8FB"/>
                    </a:solidFill>
                  </a:tcPr>
                </a:tc>
              </a:tr>
              <a:tr h="187452">
                <a:tc>
                  <a:txBody>
                    <a:bodyPr wrap="square" lIns="36576" rIns="36576" tIns="18288" bIns="18288"/>
                    <a:lstStyle/>
                    <a:p>
                      <a:r>
                        <a:rPr sz="540" b="1">
                          <a:solidFill>
                            <a:srgbClr val="21242A"/>
                          </a:solidFill>
                          <a:latin typeface="Microsoft YaHei"/>
                        </a:rPr>
                        <a:t>MYD88-CSF检出率</a:t>
                      </a:r>
                    </a:p>
                  </a:txBody>
                  <a:tcPr>
                    <a:solidFill>
                      <a:srgbClr val="FFFFFF"/>
                    </a:solidFill>
                  </a:tcPr>
                </a:tc>
                <a:tc>
                  <a:txBody>
                    <a:bodyPr wrap="square" lIns="36576" rIns="36576" tIns="18288" bIns="18288"/>
                    <a:lstStyle/>
                    <a:p>
                      <a:r>
                        <a:rPr sz="540" b="0">
                          <a:solidFill>
                            <a:srgbClr val="21242A"/>
                          </a:solidFill>
                          <a:latin typeface="Microsoft YaHei"/>
                        </a:rPr>
                        <a:t>56%的CNSL病例阳性，特异性99%</a:t>
                      </a:r>
                    </a:p>
                  </a:txBody>
                  <a:tcPr>
                    <a:solidFill>
                      <a:srgbClr val="FFFFFF"/>
                    </a:solidFill>
                  </a:tcPr>
                </a:tc>
              </a:tr>
              <a:tr h="187452">
                <a:tc>
                  <a:txBody>
                    <a:bodyPr wrap="square" lIns="36576" rIns="36576" tIns="18288" bIns="18288"/>
                    <a:lstStyle/>
                    <a:p>
                      <a:r>
                        <a:rPr sz="540" b="1">
                          <a:solidFill>
                            <a:srgbClr val="21242A"/>
                          </a:solidFill>
                          <a:latin typeface="Microsoft YaHei"/>
                        </a:rPr>
                        <a:t>多变量模型</a:t>
                      </a:r>
                    </a:p>
                  </a:txBody>
                  <a:tcPr>
                    <a:solidFill>
                      <a:srgbClr val="F6F8FB"/>
                    </a:solidFill>
                  </a:tcPr>
                </a:tc>
                <a:tc>
                  <a:txBody>
                    <a:bodyPr wrap="square" lIns="36576" rIns="36576" tIns="18288" bIns="18288"/>
                    <a:lstStyle/>
                    <a:p>
                      <a:r>
                        <a:rPr sz="540" b="0">
                          <a:solidFill>
                            <a:srgbClr val="21242A"/>
                          </a:solidFill>
                          <a:latin typeface="Microsoft YaHei"/>
                        </a:rPr>
                        <a:t>MYD88-CSF、IL10、CXCL13独立与CNSL诊断相关</a:t>
                      </a:r>
                    </a:p>
                  </a:txBody>
                  <a:tcPr>
                    <a:solidFill>
                      <a:srgbClr val="F6F8FB"/>
                    </a:solidFill>
                  </a:tcPr>
                </a:tc>
              </a:tr>
              <a:tr h="187452">
                <a:tc>
                  <a:txBody>
                    <a:bodyPr wrap="square" lIns="36576" rIns="36576" tIns="18288" bIns="18288"/>
                    <a:lstStyle/>
                    <a:p>
                      <a:r>
                        <a:rPr sz="540" b="1">
                          <a:solidFill>
                            <a:srgbClr val="21242A"/>
                          </a:solidFill>
                          <a:latin typeface="Microsoft YaHei"/>
                        </a:rPr>
                        <a:t>三者组合</a:t>
                      </a:r>
                    </a:p>
                  </a:txBody>
                  <a:tcPr>
                    <a:solidFill>
                      <a:srgbClr val="FFFFFF"/>
                    </a:solidFill>
                  </a:tcPr>
                </a:tc>
                <a:tc>
                  <a:txBody>
                    <a:bodyPr wrap="square" lIns="36576" rIns="36576" tIns="18288" bIns="18288"/>
                    <a:lstStyle/>
                    <a:p>
                      <a:r>
                        <a:rPr sz="540" b="0">
                          <a:solidFill>
                            <a:srgbClr val="21242A"/>
                          </a:solidFill>
                          <a:latin typeface="Microsoft YaHei"/>
                        </a:rPr>
                        <a:t>特异性100%，敏感性54%</a:t>
                      </a:r>
                    </a:p>
                  </a:txBody>
                  <a:tcPr>
                    <a:solidFill>
                      <a:srgbClr val="FFFFFF"/>
                    </a:solidFill>
                  </a:tcPr>
                </a:tc>
              </a:tr>
              <a:tr h="187452">
                <a:tc>
                  <a:txBody>
                    <a:bodyPr wrap="square" lIns="36576" rIns="36576" tIns="18288" bIns="18288"/>
                    <a:lstStyle/>
                    <a:p>
                      <a:r>
                        <a:rPr sz="540" b="1">
                          <a:solidFill>
                            <a:srgbClr val="21242A"/>
                          </a:solidFill>
                          <a:latin typeface="Microsoft YaHei"/>
                        </a:rPr>
                        <a:t>阴性预测值</a:t>
                      </a:r>
                    </a:p>
                  </a:txBody>
                  <a:tcPr>
                    <a:solidFill>
                      <a:srgbClr val="F6F8FB"/>
                    </a:solidFill>
                  </a:tcPr>
                </a:tc>
                <a:tc>
                  <a:txBody>
                    <a:bodyPr wrap="square" lIns="36576" rIns="36576" tIns="18288" bIns="18288"/>
                    <a:lstStyle/>
                    <a:p>
                      <a:r>
                        <a:rPr sz="540" b="0">
                          <a:solidFill>
                            <a:srgbClr val="21242A"/>
                          </a:solidFill>
                          <a:latin typeface="Microsoft YaHei"/>
                        </a:rPr>
                        <a:t>三项标志物均阴性时阴性预测值为99.4%</a:t>
                      </a:r>
                    </a:p>
                  </a:txBody>
                  <a:tcPr>
                    <a:solidFill>
                      <a:srgbClr val="F6F8FB"/>
                    </a:solidFill>
                  </a:tcPr>
                </a:tc>
              </a:tr>
              <a:tr h="187452">
                <a:tc>
                  <a:txBody>
                    <a:bodyPr wrap="square" lIns="36576" rIns="36576" tIns="18288" bIns="18288"/>
                    <a:lstStyle/>
                    <a:p>
                      <a:r>
                        <a:rPr sz="540" b="1">
                          <a:solidFill>
                            <a:srgbClr val="21242A"/>
                          </a:solidFill>
                          <a:latin typeface="Microsoft YaHei"/>
                        </a:rPr>
                        <a:t>不确定患者</a:t>
                      </a:r>
                    </a:p>
                  </a:txBody>
                  <a:tcPr>
                    <a:solidFill>
                      <a:srgbClr val="FFFFFF"/>
                    </a:solidFill>
                  </a:tcPr>
                </a:tc>
                <a:tc>
                  <a:txBody>
                    <a:bodyPr wrap="square" lIns="36576" rIns="36576" tIns="18288" bIns="18288"/>
                    <a:lstStyle/>
                    <a:p>
                      <a:r>
                        <a:rPr sz="540" b="0">
                          <a:solidFill>
                            <a:srgbClr val="21242A"/>
                          </a:solidFill>
                          <a:latin typeface="Microsoft YaHei"/>
                        </a:rPr>
                        <a:t>56例，其中36%为CNSL</a:t>
                      </a:r>
                    </a:p>
                  </a:txBody>
                  <a:tcPr>
                    <a:solidFill>
                      <a:srgbClr val="FFFFFF"/>
                    </a:solidFill>
                  </a:tcPr>
                </a:tc>
              </a:tr>
              <a:tr h="187452">
                <a:tc>
                  <a:txBody>
                    <a:bodyPr wrap="square" lIns="36576" rIns="36576" tIns="18288" bIns="18288"/>
                    <a:lstStyle/>
                    <a:p>
                      <a:r>
                        <a:rPr sz="540" b="1">
                          <a:solidFill>
                            <a:srgbClr val="21242A"/>
                          </a:solidFill>
                          <a:latin typeface="Microsoft YaHei"/>
                        </a:rPr>
                        <a:t>潜在避免活检比例</a:t>
                      </a:r>
                    </a:p>
                  </a:txBody>
                  <a:tcPr>
                    <a:solidFill>
                      <a:srgbClr val="F6F8FB"/>
                    </a:solidFill>
                  </a:tcPr>
                </a:tc>
                <a:tc>
                  <a:txBody>
                    <a:bodyPr wrap="square" lIns="36576" rIns="36576" tIns="18288" bIns="18288"/>
                    <a:lstStyle/>
                    <a:p>
                      <a:r>
                        <a:rPr sz="540" b="0">
                          <a:solidFill>
                            <a:srgbClr val="21242A"/>
                          </a:solidFill>
                          <a:latin typeface="Microsoft YaHei"/>
                        </a:rPr>
                        <a:t>45%（13/29）的CNSL活检可能因阳性CSF标志物而避免</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摘要号：S257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疾病场景：PCNSL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中枢神经系统淋巴瘤car-t复发后的治疗模式和临床结果，重点是二次car-t治疗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post–car-t relapse in cns-involved lymphoma: treatment patterns and clinical...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PF983</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N=77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分组：由于是回顾性研究，未进行前瞻性随机分组，但根据治疗后分为：</a:t>
            </a:r>
          </a:p>
          <a:p>
            <a:pPr>
              <a:lnSpc>
                <a:spcPct val="103000"/>
              </a:lnSpc>
              <a:spcAft>
                <a:spcPts val="300"/>
              </a:spcAft>
              <a:defRPr sz="800">
                <a:solidFill>
                  <a:srgbClr val="21242A"/>
                </a:solidFill>
                <a:latin typeface="Microsoft YaHei"/>
              </a:defRPr>
            </a:pPr>
            <a:r>
              <a:t>组1：第二次CAR-T治疗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对照/比较：由于是回顾性研究，未进行前瞻性随机分组，但根据治疗后分为：</a:t>
            </a:r>
          </a:p>
          <a:p>
            <a:pPr>
              <a:lnSpc>
                <a:spcPct val="103000"/>
              </a:lnSpc>
              <a:spcAft>
                <a:spcPts val="300"/>
              </a:spcAft>
              <a:defRPr sz="800">
                <a:solidFill>
                  <a:srgbClr val="21242A"/>
                </a:solidFill>
                <a:latin typeface="Microsoft YaHei"/>
              </a:defRPr>
            </a:pPr>
            <a:r>
              <a:t>组1：第二次CAR-T治疗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总缓解率（ORR）：57.1%（16/28）</a:t>
            </a:r>
          </a:p>
          <a:p>
            <a:pPr>
              <a:lnSpc>
                <a:spcPct val="103000"/>
              </a:lnSpc>
              <a:spcAft>
                <a:spcPts val="300"/>
              </a:spcAft>
              <a:defRPr sz="800">
                <a:solidFill>
                  <a:srgbClr val="21242A"/>
                </a:solidFill>
                <a:latin typeface="Microsoft YaHei"/>
              </a:defRPr>
            </a:pPr>
            <a:r>
              <a:t>完全缓解率（CR）：46.4%（13/28）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人数：77</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分组/治疗流程：由于是回顾性研究、未进行前瞻性随机分组、但根据治疗后分为：</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中枢神经系统淋巴瘤car-t复发后的治疗模式和临床结果，重点是二次car-t治疗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post–car-t relapse in cns-involved lymphoma: treatment patterns and clinical...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PF983</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Patients with central nervous system (CNS)-involved lymphoma are often excluded from CAR-T clinical trials.</a:t>
            </a:r>
          </a:p>
          <a:p>
            <a:pPr>
              <a:lnSpc>
                <a:spcPct val="103000"/>
              </a:lnSpc>
              <a:spcAft>
                <a:spcPts val="300"/>
              </a:spcAft>
              <a:defRPr sz="570">
                <a:solidFill>
                  <a:srgbClr val="21242A"/>
                </a:solidFill>
                <a:latin typeface="Microsoft YaHei"/>
              </a:defRPr>
            </a:pPr>
            <a:r>
              <a:t>Treatment strategies and outcomes after CAR-T failure in this population remain unclear.</a:t>
            </a:r>
          </a:p>
          <a:p>
            <a:pPr>
              <a:lnSpc>
                <a:spcPct val="103000"/>
              </a:lnSpc>
              <a:spcAft>
                <a:spcPts val="300"/>
              </a:spcAft>
              <a:defRPr sz="570">
                <a:solidFill>
                  <a:srgbClr val="21242A"/>
                </a:solidFill>
                <a:latin typeface="Microsoft YaHei"/>
              </a:defRPr>
            </a:pPr>
            <a:r>
              <a:t>Aims: This study aimed to characterize relapse patterns and post-relapse treatment outcomes in CNS-involved lymphoma patients, with a focus on the efficacy and </a:t>
            </a:r>
          </a:p>
          <a:p>
            <a:pPr>
              <a:lnSpc>
                <a:spcPct val="103000"/>
              </a:lnSpc>
              <a:spcAft>
                <a:spcPts val="300"/>
              </a:spcAft>
              <a:defRPr sz="570">
                <a:solidFill>
                  <a:srgbClr val="21242A"/>
                </a:solidFill>
                <a:latin typeface="Microsoft YaHei"/>
              </a:defRPr>
            </a:pPr>
            <a:r>
              <a:t>safety of second CAR-T therapy.</a:t>
            </a:r>
          </a:p>
          <a:p>
            <a:pPr>
              <a:lnSpc>
                <a:spcPct val="103000"/>
              </a:lnSpc>
              <a:spcAft>
                <a:spcPts val="300"/>
              </a:spcAft>
              <a:defRPr sz="570">
                <a:solidFill>
                  <a:srgbClr val="21242A"/>
                </a:solidFill>
                <a:latin typeface="Microsoft YaHei"/>
              </a:defRPr>
            </a:pPr>
            <a:r>
              <a:t>Methods: We retrospectively analyzed CNS-involved lymphoma patients who relapsed after first CAR-T therapy.</a:t>
            </a:r>
          </a:p>
          <a:p>
            <a:pPr>
              <a:lnSpc>
                <a:spcPct val="103000"/>
              </a:lnSpc>
              <a:spcAft>
                <a:spcPts val="300"/>
              </a:spcAft>
              <a:defRPr sz="570">
                <a:solidFill>
                  <a:srgbClr val="21242A"/>
                </a:solidFill>
                <a:latin typeface="Microsoft YaHei"/>
              </a:defRPr>
            </a:pPr>
            <a:r>
              <a:t>Patients were grouped according to post-relapse treatment: second CAR-T, non-CAR-T therapy, or no further treatment.</a:t>
            </a:r>
          </a:p>
          <a:p>
            <a:pPr>
              <a:lnSpc>
                <a:spcPct val="103000"/>
              </a:lnSpc>
              <a:spcAft>
                <a:spcPts val="300"/>
              </a:spcAft>
              <a:defRPr sz="570">
                <a:solidFill>
                  <a:srgbClr val="21242A"/>
                </a:solidFill>
                <a:latin typeface="Microsoft YaHei"/>
              </a:defRPr>
            </a:pPr>
            <a:r>
              <a:t>Overall survival (OS) and progression-free survival (PFS) were evaluated, and efficacy and safety of second CAR-T therapy were assessed.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CNS-involved lymphoma patients have poor prognosis after CAR-T failure, and post-relapse treatment patterns are highly heterogeneous.</a:t>
            </a:r>
          </a:p>
          <a:p>
            <a:pPr>
              <a:lnSpc>
                <a:spcPct val="103000"/>
              </a:lnSpc>
              <a:spcAft>
                <a:spcPts val="300"/>
              </a:spcAft>
              <a:defRPr sz="590">
                <a:solidFill>
                  <a:srgbClr val="21242A"/>
                </a:solidFill>
                <a:latin typeface="Microsoft YaHei"/>
              </a:defRPr>
            </a:pPr>
            <a:r>
              <a:t>Second CAR-T therapy can achieve high initial response rates and shows a trend toward improved survival in selected patients, though mortality remains substanti</a:t>
            </a:r>
          </a:p>
          <a:p>
            <a:pPr>
              <a:lnSpc>
                <a:spcPct val="103000"/>
              </a:lnSpc>
              <a:spcAft>
                <a:spcPts val="300"/>
              </a:spcAft>
              <a:defRPr sz="590">
                <a:solidFill>
                  <a:srgbClr val="21242A"/>
                </a:solidFill>
                <a:latin typeface="Microsoft YaHei"/>
              </a:defRPr>
            </a:pPr>
            <a:r>
              <a:t>al.</a:t>
            </a:r>
          </a:p>
          <a:p>
            <a:pPr>
              <a:lnSpc>
                <a:spcPct val="103000"/>
              </a:lnSpc>
              <a:spcAft>
                <a:spcPts val="300"/>
              </a:spcAft>
              <a:defRPr sz="590">
                <a:solidFill>
                  <a:srgbClr val="21242A"/>
                </a:solidFill>
                <a:latin typeface="Microsoft YaHei"/>
              </a:defRPr>
            </a:pPr>
            <a:r>
              <a:t>Further studies with larger cohorts and prospective design are warranted to clarify its true benefit.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57.1%（16/28）</a:t>
                      </a:r>
                    </a:p>
                  </a:txBody>
                  <a:tcPr>
                    <a:solidFill>
                      <a:srgbClr val="F6F8FB"/>
                    </a:solidFill>
                  </a:tcPr>
                </a:tc>
              </a:tr>
              <a:tr h="187452">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46.4%（13/28）</a:t>
                      </a:r>
                    </a:p>
                  </a:txBody>
                  <a:tcPr>
                    <a:solidFill>
                      <a:srgbClr val="FFFFFF"/>
                    </a:solidFill>
                  </a:tcPr>
                </a:tc>
              </a:tr>
              <a:tr h="187452">
                <a:tc>
                  <a:txBody>
                    <a:bodyPr wrap="square" lIns="36576" rIns="36576" tIns="18288" bIns="18288"/>
                    <a:lstStyle/>
                    <a:p>
                      <a:r>
                        <a:rPr sz="540" b="1">
                          <a:solidFill>
                            <a:srgbClr val="21242A"/>
                          </a:solidFill>
                          <a:latin typeface="Microsoft YaHei"/>
                        </a:rPr>
                        <a:t>第二次CAR-T组中位无进展生存期（PFS）</a:t>
                      </a:r>
                    </a:p>
                  </a:txBody>
                  <a:tcPr>
                    <a:solidFill>
                      <a:srgbClr val="F6F8FB"/>
                    </a:solidFill>
                  </a:tcPr>
                </a:tc>
                <a:tc>
                  <a:txBody>
                    <a:bodyPr wrap="square" lIns="36576" rIns="36576" tIns="18288" bIns="18288"/>
                    <a:lstStyle/>
                    <a:p>
                      <a:r>
                        <a:rPr sz="540" b="0">
                          <a:solidFill>
                            <a:srgbClr val="21242A"/>
                          </a:solidFill>
                          <a:latin typeface="Microsoft YaHei"/>
                        </a:rPr>
                        <a:t>6.28个月</a:t>
                      </a:r>
                    </a:p>
                  </a:txBody>
                  <a:tcPr>
                    <a:solidFill>
                      <a:srgbClr val="F6F8FB"/>
                    </a:solidFill>
                  </a:tcPr>
                </a:tc>
              </a:tr>
              <a:tr h="187452">
                <a:tc>
                  <a:txBody>
                    <a:bodyPr wrap="square" lIns="36576" rIns="36576" tIns="18288" bIns="18288"/>
                    <a:lstStyle/>
                    <a:p>
                      <a:r>
                        <a:rPr sz="540" b="1">
                          <a:solidFill>
                            <a:srgbClr val="21242A"/>
                          </a:solidFill>
                          <a:latin typeface="Microsoft YaHei"/>
                        </a:rPr>
                        <a:t>第二次CAR-T组中位总生存期（OS）</a:t>
                      </a:r>
                    </a:p>
                  </a:txBody>
                  <a:tcPr>
                    <a:solidFill>
                      <a:srgbClr val="FFFFFF"/>
                    </a:solidFill>
                  </a:tcPr>
                </a:tc>
                <a:tc>
                  <a:txBody>
                    <a:bodyPr wrap="square" lIns="36576" rIns="36576" tIns="18288" bIns="18288"/>
                    <a:lstStyle/>
                    <a:p>
                      <a:r>
                        <a:rPr sz="540" b="0">
                          <a:solidFill>
                            <a:srgbClr val="21242A"/>
                          </a:solidFill>
                          <a:latin typeface="Microsoft YaHei"/>
                        </a:rPr>
                        <a:t>15.81个月</a:t>
                      </a:r>
                    </a:p>
                  </a:txBody>
                  <a:tcPr>
                    <a:solidFill>
                      <a:srgbClr val="FFFFFF"/>
                    </a:solidFill>
                  </a:tcPr>
                </a:tc>
              </a:tr>
              <a:tr h="187452">
                <a:tc>
                  <a:txBody>
                    <a:bodyPr wrap="square" lIns="36576" rIns="36576" tIns="18288" bIns="18288"/>
                    <a:lstStyle/>
                    <a:p>
                      <a:r>
                        <a:rPr sz="540" b="1">
                          <a:solidFill>
                            <a:srgbClr val="21242A"/>
                          </a:solidFill>
                          <a:latin typeface="Microsoft YaHei"/>
                        </a:rPr>
                        <a:t>非CAR-T组中位OS</a:t>
                      </a:r>
                    </a:p>
                  </a:txBody>
                  <a:tcPr>
                    <a:solidFill>
                      <a:srgbClr val="F6F8FB"/>
                    </a:solidFill>
                  </a:tcPr>
                </a:tc>
                <a:tc>
                  <a:txBody>
                    <a:bodyPr wrap="square" lIns="36576" rIns="36576" tIns="18288" bIns="18288"/>
                    <a:lstStyle/>
                    <a:p>
                      <a:r>
                        <a:rPr sz="540" b="0">
                          <a:solidFill>
                            <a:srgbClr val="21242A"/>
                          </a:solidFill>
                          <a:latin typeface="Microsoft YaHei"/>
                        </a:rPr>
                        <a:t>8.55个月（p≈0.068）</a:t>
                      </a:r>
                    </a:p>
                  </a:txBody>
                  <a:tcPr>
                    <a:solidFill>
                      <a:srgbClr val="F6F8FB"/>
                    </a:solidFill>
                  </a:tcPr>
                </a:tc>
              </a:tr>
              <a:tr h="187452">
                <a:tc>
                  <a:txBody>
                    <a:bodyPr wrap="square" lIns="36576" rIns="36576" tIns="18288" bIns="18288"/>
                    <a:lstStyle/>
                    <a:p>
                      <a:r>
                        <a:rPr sz="540" b="1">
                          <a:solidFill>
                            <a:srgbClr val="21242A"/>
                          </a:solidFill>
                          <a:latin typeface="Microsoft YaHei"/>
                        </a:rPr>
                        <a:t>细胞因子释放综合征（CRS）</a:t>
                      </a:r>
                    </a:p>
                  </a:txBody>
                  <a:tcPr>
                    <a:solidFill>
                      <a:srgbClr val="FFFFFF"/>
                    </a:solidFill>
                  </a:tcPr>
                </a:tc>
                <a:tc>
                  <a:txBody>
                    <a:bodyPr wrap="square" lIns="36576" rIns="36576" tIns="18288" bIns="18288"/>
                    <a:lstStyle/>
                    <a:p>
                      <a:r>
                        <a:rPr sz="540" b="0">
                          <a:solidFill>
                            <a:srgbClr val="21242A"/>
                          </a:solidFill>
                          <a:latin typeface="Microsoft YaHei"/>
                        </a:rPr>
                        <a:t>发生23例（82.1%），均为1-2级</a:t>
                      </a:r>
                    </a:p>
                  </a:txBody>
                  <a:tcPr>
                    <a:solidFill>
                      <a:srgbClr val="FFFFFF"/>
                    </a:solidFill>
                  </a:tcPr>
                </a:tc>
              </a:tr>
              <a:tr h="187452">
                <a:tc>
                  <a:txBody>
                    <a:bodyPr wrap="square" lIns="36576" rIns="36576" tIns="18288" bIns="18288"/>
                    <a:lstStyle/>
                    <a:p>
                      <a:r>
                        <a:rPr sz="540" b="1">
                          <a:solidFill>
                            <a:srgbClr val="21242A"/>
                          </a:solidFill>
                          <a:latin typeface="Microsoft YaHei"/>
                        </a:rPr>
                        <a:t>免疫效应细胞相关神经毒性综合征（ICANS）</a:t>
                      </a:r>
                    </a:p>
                  </a:txBody>
                  <a:tcPr>
                    <a:solidFill>
                      <a:srgbClr val="F6F8FB"/>
                    </a:solidFill>
                  </a:tcPr>
                </a:tc>
                <a:tc>
                  <a:txBody>
                    <a:bodyPr wrap="square" lIns="36576" rIns="36576" tIns="18288" bIns="18288"/>
                    <a:lstStyle/>
                    <a:p>
                      <a:r>
                        <a:rPr sz="540" b="0">
                          <a:solidFill>
                            <a:srgbClr val="21242A"/>
                          </a:solidFill>
                          <a:latin typeface="Microsoft YaHei"/>
                        </a:rPr>
                        <a:t>发生9例（32.1%），仅1例≥3级</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摘要号：PF983</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N=62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分组：试验组1：大剂量甲氨蝶呤（HD-MTX）为基础化疗后，有效者接受自体干细胞移植（ASCT）和/或全脑放疗（WBRT）</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多组/多方案比较：试验组1：大剂量甲氨蝶呤（HD-MTX）为基础化疗后，有效者接受自体干细胞移植（ASCT）和/或全脑放疗（W...</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5年无进展生存率（PFS）为24%（95%CI=6-48），5年总生存率（OS）为51%（95%CI=45-57）||HD-M...</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人数：62</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登记号：NCT06024694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分组/治疗流程：试验组1：大剂量甲氨蝶呤（HD-MTX）为基础化疗后、有效者接受自体干细胞移植（ASCT）和/或全脑放疗（WBRT）；无效者接受脑部放疗或鞘内化疗（ITC）作为桥接、继以...</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CNS involvement in PMLBCL is rare and associated with poor outcomes.</a:t>
            </a:r>
          </a:p>
          <a:p>
            <a:pPr>
              <a:lnSpc>
                <a:spcPct val="103000"/>
              </a:lnSpc>
              <a:spcAft>
                <a:spcPts val="300"/>
              </a:spcAft>
              <a:defRPr sz="570">
                <a:solidFill>
                  <a:srgbClr val="21242A"/>
                </a:solidFill>
                <a:latin typeface="Microsoft YaHei"/>
              </a:defRPr>
            </a:pPr>
            <a:r>
              <a:t>The clinical features, prognosis and efficacy of modern CNS-directed therapies, including autologous transplantation (ASCT), and anti-CD19 CAR T-cell therapy (C</a:t>
            </a:r>
          </a:p>
          <a:p>
            <a:pPr>
              <a:lnSpc>
                <a:spcPct val="103000"/>
              </a:lnSpc>
              <a:spcAft>
                <a:spcPts val="300"/>
              </a:spcAft>
              <a:defRPr sz="570">
                <a:solidFill>
                  <a:srgbClr val="21242A"/>
                </a:solidFill>
                <a:latin typeface="Microsoft YaHei"/>
              </a:defRPr>
            </a:pPr>
            <a:r>
              <a:t>AR-T), remain poorly defined.</a:t>
            </a:r>
          </a:p>
          <a:p>
            <a:pPr>
              <a:lnSpc>
                <a:spcPct val="103000"/>
              </a:lnSpc>
              <a:spcAft>
                <a:spcPts val="300"/>
              </a:spcAft>
              <a:defRPr sz="570">
                <a:solidFill>
                  <a:srgbClr val="21242A"/>
                </a:solidFill>
                <a:latin typeface="Microsoft YaHei"/>
              </a:defRPr>
            </a:pPr>
            <a:r>
              <a:t>Aims: To provide management recommendations for CNS involvement in PMLBCL in routine practice.</a:t>
            </a:r>
          </a:p>
          <a:p>
            <a:pPr>
              <a:lnSpc>
                <a:spcPct val="103000"/>
              </a:lnSpc>
              <a:spcAft>
                <a:spcPts val="300"/>
              </a:spcAft>
              <a:defRPr sz="570">
                <a:solidFill>
                  <a:srgbClr val="21242A"/>
                </a:solidFill>
                <a:latin typeface="Microsoft YaHei"/>
              </a:defRPr>
            </a:pPr>
            <a:r>
              <a:t>Methods: Data on pts with PMLBCL and CNS involvement at diagnosis or relapse treated between 2001 and 2024 in 27 centers across 7 countries were analyzed (NCT06</a:t>
            </a:r>
          </a:p>
          <a:p>
            <a:pPr>
              <a:lnSpc>
                <a:spcPct val="103000"/>
              </a:lnSpc>
              <a:spcAft>
                <a:spcPts val="300"/>
              </a:spcAft>
              <a:defRPr sz="570">
                <a:solidFill>
                  <a:srgbClr val="21242A"/>
                </a:solidFill>
                <a:latin typeface="Microsoft YaHei"/>
              </a:defRPr>
            </a:pPr>
            <a:r>
              <a:t>024694).</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the largest series reported to date, durable remissions were achieved in PMLBCL pts with early CNS relapse treated with HD-MTX–based chemo followed by ASCT a</a:t>
            </a:r>
          </a:p>
          <a:p>
            <a:pPr>
              <a:lnSpc>
                <a:spcPct val="103000"/>
              </a:lnSpc>
              <a:spcAft>
                <a:spcPts val="300"/>
              </a:spcAft>
              <a:defRPr sz="590">
                <a:solidFill>
                  <a:srgbClr val="21242A"/>
                </a:solidFill>
                <a:latin typeface="Microsoft YaHei"/>
              </a:defRPr>
            </a:pPr>
            <a:r>
              <a:t>nd/or brain irradiation.</a:t>
            </a:r>
          </a:p>
          <a:p>
            <a:pPr>
              <a:lnSpc>
                <a:spcPct val="103000"/>
              </a:lnSpc>
              <a:spcAft>
                <a:spcPts val="300"/>
              </a:spcAft>
              <a:defRPr sz="590">
                <a:solidFill>
                  <a:srgbClr val="21242A"/>
                </a:solidFill>
                <a:latin typeface="Microsoft YaHei"/>
              </a:defRPr>
            </a:pPr>
            <a:r>
              <a:t>CAR-T, preceded by brain irradiation or ITC as bridging, provides long-term disease control even in HD-MTX-refractory pts.</a:t>
            </a:r>
          </a:p>
          <a:p>
            <a:pPr>
              <a:lnSpc>
                <a:spcPct val="103000"/>
              </a:lnSpc>
              <a:spcAft>
                <a:spcPts val="300"/>
              </a:spcAft>
              <a:defRPr sz="590">
                <a:solidFill>
                  <a:srgbClr val="21242A"/>
                </a:solidFill>
                <a:latin typeface="Microsoft YaHei"/>
              </a:defRPr>
            </a:pPr>
            <a:r>
              <a:t>In contrast, late CNS involvement in multiply relapsed PMLBCL has a dismal prognosis.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5年无进展生存率（PFS）为24%（95%CI=6-48），5年总生存率（OS）为51%（95%CI=45-57）||HD-MTX-based化疗后ASCT/WBRT或桥接治疗组（n=30）5年OS为83%（95%CI=63-92）||2015-2024年治疗的患者OS优于早期（5年OS 67% vs 38%</a:t>
            </a:r>
          </a:p>
          <a:p>
            <a:pPr>
              <a:lnSpc>
                <a:spcPct val="103000"/>
              </a:lnSpc>
              <a:spcAft>
                <a:spcPts val="300"/>
              </a:spcAft>
              <a:defRPr sz="580">
                <a:solidFill>
                  <a:srgbClr val="21242A"/>
                </a:solidFill>
                <a:latin typeface="Microsoft YaHei"/>
              </a:defRPr>
            </a:pPr>
            <a:r>
              <a:t>，p=0.04）</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摘要号：PF1040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复发/难治性原发性中枢神经系统淋巴瘤对扎努布替尼反应和耐药性的基因组决定因素：来自prizm+试验的基线生物标志物分析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determinants of response and resistance to zanubrutinib in relapsed/r...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客观缓解率（ORR，2周期后）：11/19例（57.9%）达到完全或部分缓解</a:t>
            </a:r>
          </a:p>
          <a:p>
            <a:pPr>
              <a:lnSpc>
                <a:spcPct val="103000"/>
              </a:lnSpc>
              <a:spcAft>
                <a:spcPts val="300"/>
              </a:spcAft>
              <a:defRPr sz="800">
                <a:solidFill>
                  <a:srgbClr val="21242A"/>
                </a:solidFill>
                <a:latin typeface="Microsoft YaHei"/>
              </a:defRPr>
            </a:pPr>
            <a:r>
              <a:t>持久缓解（定义为&gt;12个月无进展）：6/19例（31.6%）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登记号：ISRCTN90634455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复发/难治性原发性中枢神经系统淋巴瘤对扎努布替尼反应和耐药性的基因组决定因素：来自prizm+试验的基线生物标志物分析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determinants of response and resistance to zanubrutinib in relapsed/r...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central nervous system lymphoma (PCNSL) is a rare, aggressive B-cell lymphoma confined to the CNS with frequent relapse after initial therap</a:t>
            </a:r>
          </a:p>
          <a:p>
            <a:pPr>
              <a:lnSpc>
                <a:spcPct val="103000"/>
              </a:lnSpc>
              <a:spcAft>
                <a:spcPts val="300"/>
              </a:spcAft>
              <a:defRPr sz="570">
                <a:solidFill>
                  <a:srgbClr val="21242A"/>
                </a:solidFill>
                <a:latin typeface="Microsoft YaHei"/>
              </a:defRPr>
            </a:pPr>
            <a:r>
              <a:t>y and poor outcomes in the relapsed/refractory ( rr ) setting, particularly among older or transplant-ineligible patients.</a:t>
            </a:r>
          </a:p>
          <a:p>
            <a:pPr>
              <a:lnSpc>
                <a:spcPct val="103000"/>
              </a:lnSpc>
              <a:spcAft>
                <a:spcPts val="300"/>
              </a:spcAft>
              <a:defRPr sz="570">
                <a:solidFill>
                  <a:srgbClr val="21242A"/>
                </a:solidFill>
                <a:latin typeface="Microsoft YaHei"/>
              </a:defRPr>
            </a:pPr>
            <a:r>
              <a:t>PRiZM + is a phase II platform trial in rrPCNSL ; cohort 1 evaluat es Zanubrutinib monotherapy, targeting constitutive B-cell receptor (BCR) signa l ling that c</a:t>
            </a:r>
          </a:p>
          <a:p>
            <a:pPr>
              <a:lnSpc>
                <a:spcPct val="103000"/>
              </a:lnSpc>
              <a:spcAft>
                <a:spcPts val="300"/>
              </a:spcAft>
              <a:defRPr sz="570">
                <a:solidFill>
                  <a:srgbClr val="21242A"/>
                </a:solidFill>
                <a:latin typeface="Microsoft YaHei"/>
              </a:defRPr>
            </a:pPr>
            <a:r>
              <a:t>haracterizes this disease.</a:t>
            </a:r>
          </a:p>
          <a:p>
            <a:pPr>
              <a:lnSpc>
                <a:spcPct val="103000"/>
              </a:lnSpc>
              <a:spcAft>
                <a:spcPts val="300"/>
              </a:spcAft>
              <a:defRPr sz="570">
                <a:solidFill>
                  <a:srgbClr val="21242A"/>
                </a:solidFill>
                <a:latin typeface="Microsoft YaHei"/>
              </a:defRPr>
            </a:pPr>
            <a:r>
              <a:t>R esponse assessment relies primarily on conventional MRI, w ith recognised limitations in distinguishing viable tumo u r from treatment-related effects, and no</a:t>
            </a:r>
          </a:p>
          <a:p>
            <a:pPr>
              <a:lnSpc>
                <a:spcPct val="103000"/>
              </a:lnSpc>
              <a:spcAft>
                <a:spcPts val="300"/>
              </a:spcAft>
              <a:defRPr sz="570">
                <a:solidFill>
                  <a:srgbClr val="21242A"/>
                </a:solidFill>
                <a:latin typeface="Microsoft YaHei"/>
              </a:defRPr>
            </a:pPr>
            <a:r>
              <a:t> other prognostic or predictive biomarkers currently guide therapy.</a:t>
            </a:r>
          </a:p>
          <a:p>
            <a:pPr>
              <a:lnSpc>
                <a:spcPct val="103000"/>
              </a:lnSpc>
              <a:spcAft>
                <a:spcPts val="300"/>
              </a:spcAft>
              <a:defRPr sz="570">
                <a:solidFill>
                  <a:srgbClr val="21242A"/>
                </a:solidFill>
                <a:latin typeface="Microsoft YaHei"/>
              </a:defRPr>
            </a:pPr>
            <a:r>
              <a:t>Repeat brain biopsies at relapse are rarely feasible due to procedural risk , making archival diagnostic tissue the only feasible source for tissue-based biomar</a:t>
            </a:r>
          </a:p>
          <a:p>
            <a:pPr>
              <a:lnSpc>
                <a:spcPct val="103000"/>
              </a:lnSpc>
              <a:spcAft>
                <a:spcPts val="300"/>
              </a:spcAft>
              <a:defRPr sz="570">
                <a:solidFill>
                  <a:srgbClr val="21242A"/>
                </a:solidFill>
                <a:latin typeface="Microsoft YaHei"/>
              </a:defRPr>
            </a:pPr>
            <a:r>
              <a:t>ker evaluation .</a:t>
            </a:r>
          </a:p>
          <a:p>
            <a:pPr>
              <a:lnSpc>
                <a:spcPct val="103000"/>
              </a:lnSpc>
              <a:spcAft>
                <a:spcPts val="300"/>
              </a:spcAft>
              <a:defRPr sz="570">
                <a:solidFill>
                  <a:srgbClr val="21242A"/>
                </a:solidFill>
                <a:latin typeface="Microsoft YaHei"/>
              </a:defRPr>
            </a:pPr>
            <a:r>
              <a:t>Aims: To determine whether genomic features of diagnostic PCNSL biopsies predict response and durability to Zanubrutinib in rrPCNSL patients enrolled in PRiZM +</a:t>
            </a:r>
          </a:p>
          <a:p>
            <a:pPr>
              <a:lnSpc>
                <a:spcPct val="103000"/>
              </a:lnSpc>
              <a:spcAft>
                <a:spcPts val="300"/>
              </a:spcAft>
              <a:defRPr sz="570">
                <a:solidFill>
                  <a:srgbClr val="21242A"/>
                </a:solidFill>
                <a:latin typeface="Microsoft YaHei"/>
              </a:defRPr>
            </a:pPr>
            <a:r>
              <a:t> cohort 1 .</a:t>
            </a:r>
          </a:p>
          <a:p>
            <a:pPr>
              <a:lnSpc>
                <a:spcPct val="103000"/>
              </a:lnSpc>
              <a:spcAft>
                <a:spcPts val="300"/>
              </a:spcAft>
              <a:defRPr sz="570">
                <a:solidFill>
                  <a:srgbClr val="21242A"/>
                </a:solidFill>
                <a:latin typeface="Microsoft YaHei"/>
              </a:defRPr>
            </a:pPr>
            <a:r>
              <a:t>Methods: G enomic DNA from formalin-fixed diagnostic brain biopsies from 19 of 20 enrolled patients (pts) in PRiZM + cohort 1 underwent w hole-exome sequencing </a:t>
            </a:r>
          </a:p>
          <a:p>
            <a:pPr>
              <a:lnSpc>
                <a:spcPct val="103000"/>
              </a:lnSpc>
              <a:spcAft>
                <a:spcPts val="300"/>
              </a:spcAft>
              <a:defRPr sz="570">
                <a:solidFill>
                  <a:srgbClr val="21242A"/>
                </a:solidFill>
                <a:latin typeface="Microsoft YaHei"/>
              </a:defRPr>
            </a:pPr>
            <a:r>
              <a:t>for mutation profiling, copy number analysis and molecular subt yping using LymphGen and DLBclass classifiers .</a:t>
            </a:r>
          </a:p>
          <a:p>
            <a:pPr>
              <a:lnSpc>
                <a:spcPct val="103000"/>
              </a:lnSpc>
              <a:spcAft>
                <a:spcPts val="300"/>
              </a:spcAft>
              <a:defRPr sz="570">
                <a:solidFill>
                  <a:srgbClr val="21242A"/>
                </a:solidFill>
                <a:latin typeface="Microsoft YaHei"/>
              </a:defRPr>
            </a:pPr>
            <a:r>
              <a:t>P rimary endpoint was overall response rate after two Zanubrutinib cycles.</a:t>
            </a:r>
          </a:p>
          <a:p>
            <a:pPr>
              <a:lnSpc>
                <a:spcPct val="103000"/>
              </a:lnSpc>
              <a:spcAft>
                <a:spcPts val="300"/>
              </a:spcAft>
              <a:defRPr sz="570">
                <a:solidFill>
                  <a:srgbClr val="21242A"/>
                </a:solidFill>
                <a:latin typeface="Microsoft YaHei"/>
              </a:defRPr>
            </a:pPr>
            <a:r>
              <a:t>Associations with progression-free survival (PFS) were evaluated using univaria ble and multivariable analyses.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D isruption of MHC class I - associated genes in diagnostic tumour tissue predicts e POD on BTK i therapy and appears more prognostic than early MRI response.</a:t>
            </a:r>
          </a:p>
          <a:p>
            <a:pPr>
              <a:lnSpc>
                <a:spcPct val="103000"/>
              </a:lnSpc>
              <a:spcAft>
                <a:spcPts val="300"/>
              </a:spcAft>
              <a:defRPr sz="590">
                <a:solidFill>
                  <a:srgbClr val="21242A"/>
                </a:solidFill>
                <a:latin typeface="Microsoft YaHei"/>
              </a:defRPr>
            </a:pPr>
            <a:r>
              <a:t>These findings implicate immune evasion as a potential mechanism of resistance to BTK inhibition in rrPCNSL and support the value of genomic profiling of diagno</a:t>
            </a:r>
          </a:p>
          <a:p>
            <a:pPr>
              <a:lnSpc>
                <a:spcPct val="103000"/>
              </a:lnSpc>
              <a:spcAft>
                <a:spcPts val="300"/>
              </a:spcAft>
              <a:defRPr sz="590">
                <a:solidFill>
                  <a:srgbClr val="21242A"/>
                </a:solidFill>
                <a:latin typeface="Microsoft YaHei"/>
              </a:defRPr>
            </a:pPr>
            <a:r>
              <a:t>stic tissue to aid response prediction .</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Baseline genomic landscape was consistent with prior PCNSL studies, with recurrent mutations in MYD88 (53%), CD79B (47%) and CARD11 (47%).</a:t>
            </a:r>
          </a:p>
          <a:p>
            <a:pPr>
              <a:lnSpc>
                <a:spcPct val="103000"/>
              </a:lnSpc>
              <a:spcAft>
                <a:spcPts val="300"/>
              </a:spcAft>
              <a:defRPr sz="580">
                <a:solidFill>
                  <a:srgbClr val="21242A"/>
                </a:solidFill>
                <a:latin typeface="Microsoft YaHei"/>
              </a:defRPr>
            </a:pPr>
            <a:r>
              <a:t>Recurrent copy-number alterations included gains at 3p22.3, 3q29, and 7q21.3 and deletions at 1p13.1, 6p21.32, and 6q21, affecting genes such as BTG2 , CD5</a:t>
            </a:r>
          </a:p>
          <a:p>
            <a:pPr>
              <a:lnSpc>
                <a:spcPct val="103000"/>
              </a:lnSpc>
              <a:spcAft>
                <a:spcPts val="300"/>
              </a:spcAft>
              <a:defRPr sz="580">
                <a:solidFill>
                  <a:srgbClr val="21242A"/>
                </a:solidFill>
                <a:latin typeface="Microsoft YaHei"/>
              </a:defRPr>
            </a:pPr>
            <a:r>
              <a:t>8 , PRDM1 , and HLA class I/II loci.</a:t>
            </a:r>
          </a:p>
          <a:p>
            <a:pPr>
              <a:lnSpc>
                <a:spcPct val="103000"/>
              </a:lnSpc>
              <a:spcAft>
                <a:spcPts val="300"/>
              </a:spcAft>
              <a:defRPr sz="580">
                <a:solidFill>
                  <a:srgbClr val="21242A"/>
                </a:solidFill>
                <a:latin typeface="Microsoft YaHei"/>
              </a:defRPr>
            </a:pPr>
            <a:r>
              <a:t>Whole-genome duplication (WGD) occurred in four tumours and was associated with markedly increased genomic instability.</a:t>
            </a:r>
          </a:p>
          <a:p>
            <a:pPr>
              <a:lnSpc>
                <a:spcPct val="103000"/>
              </a:lnSpc>
              <a:spcAft>
                <a:spcPts val="300"/>
              </a:spcAft>
              <a:defRPr sz="580">
                <a:solidFill>
                  <a:srgbClr val="21242A"/>
                </a:solidFill>
                <a:latin typeface="Microsoft YaHei"/>
              </a:defRPr>
            </a:pPr>
            <a:r>
              <a:t>Molecular subtyping assigned 52.6% (10/19) of cases to the DLBclass MYD88/CD79B-driven C5 subtype and 10.5% (2/19) being C2 tumours enriched for TP53 alter</a:t>
            </a:r>
          </a:p>
          <a:p>
            <a:pPr>
              <a:lnSpc>
                <a:spcPct val="103000"/>
              </a:lnSpc>
              <a:spcAft>
                <a:spcPts val="300"/>
              </a:spcAft>
              <a:defRPr sz="580">
                <a:solidFill>
                  <a:srgbClr val="21242A"/>
                </a:solidFill>
                <a:latin typeface="Microsoft YaHei"/>
              </a:defRPr>
            </a:pPr>
            <a:r>
              <a:t>ations, genomic instability and disruption of MHC class I genes.</a:t>
            </a:r>
          </a:p>
          <a:p>
            <a:pPr>
              <a:lnSpc>
                <a:spcPct val="103000"/>
              </a:lnSpc>
              <a:spcAft>
                <a:spcPts val="300"/>
              </a:spcAft>
              <a:defRPr sz="580">
                <a:solidFill>
                  <a:srgbClr val="21242A"/>
                </a:solidFill>
                <a:latin typeface="Microsoft YaHei"/>
              </a:defRPr>
            </a:pPr>
            <a:r>
              <a:t>Concordance between DLBclass and LymphGen classifiers was high.</a:t>
            </a:r>
          </a:p>
          <a:p>
            <a:pPr>
              <a:lnSpc>
                <a:spcPct val="103000"/>
              </a:lnSpc>
              <a:spcAft>
                <a:spcPts val="300"/>
              </a:spcAft>
              <a:defRPr sz="580">
                <a:solidFill>
                  <a:srgbClr val="21242A"/>
                </a:solidFill>
                <a:latin typeface="Microsoft YaHei"/>
              </a:defRPr>
            </a:pPr>
            <a:r>
              <a:t>Conclusion: D isruption of MHC class I - associated genes in diagnostic tumour tissue predicts e POD on BTK i therapy and appears more prognostic than earl</a:t>
            </a:r>
          </a:p>
          <a:p>
            <a:pPr>
              <a:lnSpc>
                <a:spcPct val="103000"/>
              </a:lnSpc>
              <a:spcAft>
                <a:spcPts val="300"/>
              </a:spcAft>
              <a:defRPr sz="580">
                <a:solidFill>
                  <a:srgbClr val="21242A"/>
                </a:solidFill>
                <a:latin typeface="Microsoft YaHei"/>
              </a:defRPr>
            </a:pPr>
            <a:r>
              <a:t>y MRI response.</a:t>
            </a:r>
          </a:p>
          <a:p>
            <a:pPr>
              <a:lnSpc>
                <a:spcPct val="103000"/>
              </a:lnSpc>
              <a:spcAft>
                <a:spcPts val="300"/>
              </a:spcAft>
              <a:defRPr sz="580">
                <a:solidFill>
                  <a:srgbClr val="21242A"/>
                </a:solidFill>
                <a:latin typeface="Microsoft YaHei"/>
              </a:defRPr>
            </a:pPr>
            <a:r>
              <a:t>These findings implicate immune evasion as a potential mechanism of resistance to BTK inhibition in rrPCNSL and support the value of genomic profiling of d</a:t>
            </a:r>
          </a:p>
          <a:p>
            <a:pPr>
              <a:lnSpc>
                <a:spcPct val="103000"/>
              </a:lnSpc>
              <a:spcAft>
                <a:spcPts val="300"/>
              </a:spcAft>
              <a:defRPr sz="580">
                <a:solidFill>
                  <a:srgbClr val="21242A"/>
                </a:solidFill>
                <a:latin typeface="Microsoft YaHei"/>
              </a:defRPr>
            </a:pPr>
            <a:r>
              <a:t>iagnostic tissue to aid response prediction .</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摘要号：PS2187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替拉鲁替尼在复发或难治性原发性中枢神经系统淋巴瘤中的实际持久临床益处及其安全性：来自《启示》研究的中期分析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durable clinical benefits of tirabrutinib and its safety profile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试验药/方案：替拉鲁替尼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客观缓解率(ORR)：63.2% (12/19)</a:t>
            </a:r>
          </a:p>
          <a:p>
            <a:pPr>
              <a:lnSpc>
                <a:spcPct val="103000"/>
              </a:lnSpc>
              <a:spcAft>
                <a:spcPts val="300"/>
              </a:spcAft>
              <a:defRPr sz="800">
                <a:solidFill>
                  <a:srgbClr val="21242A"/>
                </a:solidFill>
                <a:latin typeface="Microsoft YaHei"/>
              </a:defRPr>
            </a:pPr>
            <a:r>
              <a:t>完全缓解(CR)：3例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登记号：NCT06714370</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试验药/方案：替拉鲁替尼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替拉鲁替尼在复发或难治性原发性中枢神经系统淋巴瘤中的实际持久临床益处及其安全性：来自《启示》研究的中期分析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durable clinical benefits of tirabrutinib and its safety profile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Tirabrutinib is a potent, second-generation, highly selective Bruton’s tyrosine kinase inhibitor approved in Taiwan for relapsed or refractory (r/r)</a:t>
            </a:r>
          </a:p>
          <a:p>
            <a:pPr>
              <a:lnSpc>
                <a:spcPct val="103000"/>
              </a:lnSpc>
              <a:spcAft>
                <a:spcPts val="300"/>
              </a:spcAft>
              <a:defRPr sz="570">
                <a:solidFill>
                  <a:srgbClr val="21242A"/>
                </a:solidFill>
                <a:latin typeface="Microsoft YaHei"/>
              </a:defRPr>
            </a:pPr>
            <a:r>
              <a:t> primary central nervous system lymphoma (PCNSL) based on ONO-4059-02.</a:t>
            </a:r>
          </a:p>
          <a:p>
            <a:pPr>
              <a:lnSpc>
                <a:spcPct val="103000"/>
              </a:lnSpc>
              <a:spcAft>
                <a:spcPts val="300"/>
              </a:spcAft>
              <a:defRPr sz="570">
                <a:solidFill>
                  <a:srgbClr val="21242A"/>
                </a:solidFill>
                <a:latin typeface="Microsoft YaHei"/>
              </a:defRPr>
            </a:pPr>
            <a:r>
              <a:t>While clinical trials are promising, real-world evidence regarding the durability of clinical benefit and safety management patterns in routine practice is esse</a:t>
            </a:r>
          </a:p>
          <a:p>
            <a:pPr>
              <a:lnSpc>
                <a:spcPct val="103000"/>
              </a:lnSpc>
              <a:spcAft>
                <a:spcPts val="300"/>
              </a:spcAft>
              <a:defRPr sz="570">
                <a:solidFill>
                  <a:srgbClr val="21242A"/>
                </a:solidFill>
                <a:latin typeface="Microsoft YaHei"/>
              </a:defRPr>
            </a:pPr>
            <a:r>
              <a:t>ntial to consolidate its therapeutic role.</a:t>
            </a:r>
          </a:p>
          <a:p>
            <a:pPr>
              <a:lnSpc>
                <a:spcPct val="103000"/>
              </a:lnSpc>
              <a:spcAft>
                <a:spcPts val="300"/>
              </a:spcAft>
              <a:defRPr sz="570">
                <a:solidFill>
                  <a:srgbClr val="21242A"/>
                </a:solidFill>
                <a:latin typeface="Microsoft YaHei"/>
              </a:defRPr>
            </a:pPr>
            <a:r>
              <a:t>Aims: We conducted the first nationwide study (the REVEAL study; NCT06714370) in Taiwan to evaluate the real-world effectiveness of tirabrutinib, focusing on re</a:t>
            </a:r>
          </a:p>
          <a:p>
            <a:pPr>
              <a:lnSpc>
                <a:spcPct val="103000"/>
              </a:lnSpc>
              <a:spcAft>
                <a:spcPts val="300"/>
              </a:spcAft>
              <a:defRPr sz="570">
                <a:solidFill>
                  <a:srgbClr val="21242A"/>
                </a:solidFill>
                <a:latin typeface="Microsoft YaHei"/>
              </a:defRPr>
            </a:pPr>
            <a:r>
              <a:t>sponse characteristics, and its safety profile.</a:t>
            </a:r>
          </a:p>
          <a:p>
            <a:pPr>
              <a:lnSpc>
                <a:spcPct val="103000"/>
              </a:lnSpc>
              <a:spcAft>
                <a:spcPts val="300"/>
              </a:spcAft>
              <a:defRPr sz="570">
                <a:solidFill>
                  <a:srgbClr val="21242A"/>
                </a:solidFill>
                <a:latin typeface="Microsoft YaHei"/>
              </a:defRPr>
            </a:pPr>
            <a:r>
              <a:t>Methods: This REVEAL study enrolled patients aged ≥18 years with r/r PCNSL receiving NHI (National Health Insurance)-reimbursed tirabrutinib monotherapy across </a:t>
            </a:r>
          </a:p>
          <a:p>
            <a:pPr>
              <a:lnSpc>
                <a:spcPct val="103000"/>
              </a:lnSpc>
              <a:spcAft>
                <a:spcPts val="300"/>
              </a:spcAft>
              <a:defRPr sz="570">
                <a:solidFill>
                  <a:srgbClr val="21242A"/>
                </a:solidFill>
                <a:latin typeface="Microsoft YaHei"/>
              </a:defRPr>
            </a:pPr>
            <a:r>
              <a:t>6 medical centers.</a:t>
            </a:r>
          </a:p>
          <a:p>
            <a:pPr>
              <a:lnSpc>
                <a:spcPct val="103000"/>
              </a:lnSpc>
              <a:spcAft>
                <a:spcPts val="300"/>
              </a:spcAft>
              <a:defRPr sz="570">
                <a:solidFill>
                  <a:srgbClr val="21242A"/>
                </a:solidFill>
                <a:latin typeface="Microsoft YaHei"/>
              </a:defRPr>
            </a:pPr>
            <a:r>
              <a:t>Efficacy endpoints included objective response rate (ORR), time-to-response (TTR), and duration of response (DOR).</a:t>
            </a:r>
          </a:p>
          <a:p>
            <a:pPr>
              <a:lnSpc>
                <a:spcPct val="103000"/>
              </a:lnSpc>
              <a:spcAft>
                <a:spcPts val="300"/>
              </a:spcAft>
              <a:defRPr sz="570">
                <a:solidFill>
                  <a:srgbClr val="21242A"/>
                </a:solidFill>
                <a:latin typeface="Microsoft YaHei"/>
              </a:defRPr>
            </a:pPr>
            <a:r>
              <a:t>Safety endpoints included incidence of adverse events (AEs).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Tirabrutinib provides rapid and durable treatment responses over a 10.9-month follow-up period in r/r PCNSL patients.</a:t>
            </a:r>
          </a:p>
          <a:p>
            <a:pPr>
              <a:lnSpc>
                <a:spcPct val="103000"/>
              </a:lnSpc>
              <a:spcAft>
                <a:spcPts val="300"/>
              </a:spcAft>
              <a:defRPr sz="590">
                <a:solidFill>
                  <a:srgbClr val="21242A"/>
                </a:solidFill>
                <a:latin typeface="Microsoft YaHei"/>
              </a:defRPr>
            </a:pPr>
            <a:r>
              <a:t>These results, along with high cumulative durability and a consistent safety profile, support its role as a key targeted therapy in real-world clinical practice</a:t>
            </a:r>
          </a:p>
          <a:p>
            <a:pPr>
              <a:lnSpc>
                <a:spcPct val="103000"/>
              </a:lnSpc>
              <a:spcAft>
                <a:spcPts val="300"/>
              </a:spcAft>
              <a:defRPr sz="590">
                <a:solidFill>
                  <a:srgbClr val="21242A"/>
                </a:solidFill>
                <a:latin typeface="Microsoft YaHei"/>
              </a:defRPr>
            </a:pPr>
            <a:r>
              <a:t> in Taiwan.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At the data cutoff (September 2025) for the first interim analysis, 19 patients were enrolled.</a:t>
            </a:r>
          </a:p>
          <a:p>
            <a:pPr>
              <a:lnSpc>
                <a:spcPct val="103000"/>
              </a:lnSpc>
              <a:spcAft>
                <a:spcPts val="300"/>
              </a:spcAft>
              <a:defRPr sz="580">
                <a:solidFill>
                  <a:srgbClr val="21242A"/>
                </a:solidFill>
                <a:latin typeface="Microsoft YaHei"/>
              </a:defRPr>
            </a:pPr>
            <a:r>
              <a:t>With median follow-up of 10.9 months, tirabrutinib provided promising effectiveness with an ORR of 63.2% (12/19 [complete response in 3, unconfirmed CR in </a:t>
            </a:r>
          </a:p>
          <a:p>
            <a:pPr>
              <a:lnSpc>
                <a:spcPct val="103000"/>
              </a:lnSpc>
              <a:spcAft>
                <a:spcPts val="300"/>
              </a:spcAft>
              <a:defRPr sz="580">
                <a:solidFill>
                  <a:srgbClr val="21242A"/>
                </a:solidFill>
                <a:latin typeface="Microsoft YaHei"/>
              </a:defRPr>
            </a:pPr>
            <a:r>
              <a:t>1, partial response in 8 patients]).</a:t>
            </a:r>
          </a:p>
          <a:p>
            <a:pPr>
              <a:lnSpc>
                <a:spcPct val="103000"/>
              </a:lnSpc>
              <a:spcAft>
                <a:spcPts val="300"/>
              </a:spcAft>
              <a:defRPr sz="580">
                <a:solidFill>
                  <a:srgbClr val="21242A"/>
                </a:solidFill>
                <a:latin typeface="Microsoft YaHei"/>
              </a:defRPr>
            </a:pPr>
            <a:r>
              <a:t>The response was characterized by a rapid onset, with a median TTR of 2.2 months.</a:t>
            </a:r>
          </a:p>
          <a:p>
            <a:pPr>
              <a:lnSpc>
                <a:spcPct val="103000"/>
              </a:lnSpc>
              <a:spcAft>
                <a:spcPts val="300"/>
              </a:spcAft>
              <a:defRPr sz="580">
                <a:solidFill>
                  <a:srgbClr val="21242A"/>
                </a:solidFill>
                <a:latin typeface="Microsoft YaHei"/>
              </a:defRPr>
            </a:pPr>
            <a:r>
              <a:t>Notably, treatment responses were resilient: among 12 responders, 10 maintained their response during the follow-up period, resulting in a cumulative durab</a:t>
            </a:r>
          </a:p>
          <a:p>
            <a:pPr>
              <a:lnSpc>
                <a:spcPct val="103000"/>
              </a:lnSpc>
              <a:spcAft>
                <a:spcPts val="300"/>
              </a:spcAft>
              <a:defRPr sz="580">
                <a:solidFill>
                  <a:srgbClr val="21242A"/>
                </a:solidFill>
                <a:latin typeface="Microsoft YaHei"/>
              </a:defRPr>
            </a:pPr>
            <a:r>
              <a:t>le response rate of 83.3% (95% CI: 51.6–97.9).</a:t>
            </a:r>
          </a:p>
          <a:p>
            <a:pPr>
              <a:lnSpc>
                <a:spcPct val="103000"/>
              </a:lnSpc>
              <a:spcAft>
                <a:spcPts val="300"/>
              </a:spcAft>
              <a:defRPr sz="580">
                <a:solidFill>
                  <a:srgbClr val="21242A"/>
                </a:solidFill>
                <a:latin typeface="Microsoft YaHei"/>
              </a:defRPr>
            </a:pPr>
            <a:r>
              <a:t>The median DOR has not yet been reached (lower bound 95%CI: 10.1 months).</a:t>
            </a:r>
          </a:p>
          <a:p>
            <a:pPr>
              <a:lnSpc>
                <a:spcPct val="103000"/>
              </a:lnSpc>
              <a:spcAft>
                <a:spcPts val="300"/>
              </a:spcAft>
              <a:defRPr sz="580">
                <a:solidFill>
                  <a:srgbClr val="21242A"/>
                </a:solidFill>
                <a:latin typeface="Microsoft YaHei"/>
              </a:defRPr>
            </a:pPr>
            <a:r>
              <a:t>Swimmer plot revealed unique real-world patterns where 9 patients (47.4%) derived continued clinical benefit from ongoing treatment despite initial radiogr</a:t>
            </a:r>
          </a:p>
          <a:p>
            <a:pPr>
              <a:lnSpc>
                <a:spcPct val="103000"/>
              </a:lnSpc>
              <a:spcAft>
                <a:spcPts val="300"/>
              </a:spcAft>
              <a:defRPr sz="580">
                <a:solidFill>
                  <a:srgbClr val="21242A"/>
                </a:solidFill>
                <a:latin typeface="Microsoft YaHei"/>
              </a:defRPr>
            </a:pPr>
            <a:r>
              <a:t>aphic assessments of stable disease or initial progression, highlighting that symptomatic stability often guides treatment continuation beyond imaging resu</a:t>
            </a:r>
          </a:p>
          <a:p>
            <a:pPr>
              <a:lnSpc>
                <a:spcPct val="103000"/>
              </a:lnSpc>
              <a:spcAft>
                <a:spcPts val="300"/>
              </a:spcAft>
              <a:defRPr sz="580">
                <a:solidFill>
                  <a:srgbClr val="21242A"/>
                </a:solidFill>
                <a:latin typeface="Microsoft YaHei"/>
              </a:defRPr>
            </a:pPr>
            <a:r>
              <a:t>lts.</a:t>
            </a:r>
          </a:p>
          <a:p>
            <a:pPr>
              <a:lnSpc>
                <a:spcPct val="103000"/>
              </a:lnSpc>
              <a:spcAft>
                <a:spcPts val="300"/>
              </a:spcAft>
              <a:defRPr sz="580">
                <a:solidFill>
                  <a:srgbClr val="21242A"/>
                </a:solidFill>
                <a:latin typeface="Microsoft YaHei"/>
              </a:defRPr>
            </a:pPr>
            <a:r>
              <a:t>The safety profile was manageable (treatment-emergent AEs 73.7%); common events were urinary tract infection (21.1%), white blood cell count decrease (15.8</a:t>
            </a:r>
          </a:p>
          <a:p>
            <a:pPr>
              <a:lnSpc>
                <a:spcPct val="103000"/>
              </a:lnSpc>
              <a:spcAft>
                <a:spcPts val="300"/>
              </a:spcAft>
              <a:defRPr sz="580">
                <a:solidFill>
                  <a:srgbClr val="21242A"/>
                </a:solidFill>
                <a:latin typeface="Microsoft YaHei"/>
              </a:defRPr>
            </a:pPr>
            <a:r>
              <a:t>%), and rash (15.8%).</a:t>
            </a:r>
          </a:p>
          <a:p>
            <a:pPr>
              <a:lnSpc>
                <a:spcPct val="103000"/>
              </a:lnSpc>
              <a:spcAft>
                <a:spcPts val="300"/>
              </a:spcAft>
              <a:defRPr sz="580">
                <a:solidFill>
                  <a:srgbClr val="21242A"/>
                </a:solidFill>
                <a:latin typeface="Microsoft YaHei"/>
              </a:defRPr>
            </a:pPr>
            <a:r>
              <a:t>No new safety signals or significant cardiovascular toxicities were observed.</a:t>
            </a:r>
          </a:p>
          <a:p>
            <a:pPr>
              <a:lnSpc>
                <a:spcPct val="103000"/>
              </a:lnSpc>
              <a:spcAft>
                <a:spcPts val="300"/>
              </a:spcAft>
              <a:defRPr sz="580">
                <a:solidFill>
                  <a:srgbClr val="21242A"/>
                </a:solidFill>
                <a:latin typeface="Microsoft YaHei"/>
              </a:defRPr>
            </a:pPr>
            <a:r>
              <a:t>Treatment-related AEs (TRAEs) occurred in 57.9% of patients with the majority of onsets occurring within the first 3 months.</a:t>
            </a:r>
          </a:p>
          <a:p>
            <a:pPr>
              <a:lnSpc>
                <a:spcPct val="103000"/>
              </a:lnSpc>
              <a:spcAft>
                <a:spcPts val="300"/>
              </a:spcAft>
              <a:defRPr sz="580">
                <a:solidFill>
                  <a:srgbClr val="21242A"/>
                </a:solidFill>
                <a:latin typeface="Microsoft YaHei"/>
              </a:defRPr>
            </a:pPr>
            <a:r>
              <a:t>Treatment-related serious AEs occurred in 2 patients (urinary tract infection in 1 and cerebral haemorrhage in 1 patient).</a:t>
            </a:r>
          </a:p>
          <a:p>
            <a:pPr>
              <a:lnSpc>
                <a:spcPct val="103000"/>
              </a:lnSpc>
              <a:spcAft>
                <a:spcPts val="300"/>
              </a:spcAft>
              <a:defRPr sz="580">
                <a:solidFill>
                  <a:srgbClr val="21242A"/>
                </a:solidFill>
                <a:latin typeface="Microsoft YaHei"/>
              </a:defRPr>
            </a:pPr>
            <a:r>
              <a:t>TRAEs were mostly transient; specifically, skin rashes resolved with a median time of 11.5 days.</a:t>
            </a:r>
          </a:p>
          <a:p>
            <a:pPr>
              <a:lnSpc>
                <a:spcPct val="103000"/>
              </a:lnSpc>
              <a:spcAft>
                <a:spcPts val="300"/>
              </a:spcAft>
              <a:defRPr sz="580">
                <a:solidFill>
                  <a:srgbClr val="21242A"/>
                </a:solidFill>
                <a:latin typeface="Microsoft YaHei"/>
              </a:defRPr>
            </a:pPr>
            <a:r>
              <a:t>Two Grade 5 events were reported but assessed as unrelated to the treatment.</a:t>
            </a:r>
          </a:p>
          <a:p>
            <a:pPr>
              <a:lnSpc>
                <a:spcPct val="103000"/>
              </a:lnSpc>
              <a:spcAft>
                <a:spcPts val="300"/>
              </a:spcAft>
              <a:defRPr sz="580">
                <a:solidFill>
                  <a:srgbClr val="21242A"/>
                </a:solidFill>
                <a:latin typeface="Microsoft YaHei"/>
              </a:defRPr>
            </a:pPr>
            <a:r>
              <a:t>Conclusion: Tirabrutinib provides rapid and durable treatment responses over a 10.9-month follow-up period in r/r PCNSL patients.</a:t>
            </a:r>
          </a:p>
          <a:p>
            <a:pPr>
              <a:lnSpc>
                <a:spcPct val="103000"/>
              </a:lnSpc>
              <a:spcAft>
                <a:spcPts val="300"/>
              </a:spcAft>
              <a:defRPr sz="580">
                <a:solidFill>
                  <a:srgbClr val="21242A"/>
                </a:solidFill>
                <a:latin typeface="Microsoft YaHei"/>
              </a:defRPr>
            </a:pPr>
            <a:r>
              <a:t>These results, along with high cumulative durability and a consistent safety profile, support its role as a key targeted therapy in real-world clinical pra</a:t>
            </a:r>
          </a:p>
          <a:p>
            <a:pPr>
              <a:lnSpc>
                <a:spcPct val="103000"/>
              </a:lnSpc>
              <a:spcAft>
                <a:spcPts val="300"/>
              </a:spcAft>
              <a:defRPr sz="580">
                <a:solidFill>
                  <a:srgbClr val="21242A"/>
                </a:solidFill>
                <a:latin typeface="Microsoft YaHei"/>
              </a:defRPr>
            </a:pPr>
            <a:r>
              <a:t>ctice in Taiwan.</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摘要号：PS2151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orelabrutinib联合sintilimab治疗复发/难治性原发性中枢神经系统淋巴瘤（r/r pcnsl）的疗效...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orelabrutinib combined with sintilimab in patients wit...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PS2130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试验药/方案：信迪利单抗</a:t>
            </a:r>
          </a:p>
          <a:p>
            <a:pPr>
              <a:lnSpc>
                <a:spcPct val="103000"/>
              </a:lnSpc>
              <a:spcAft>
                <a:spcPts val="300"/>
              </a:spcAft>
              <a:defRPr sz="800">
                <a:solidFill>
                  <a:srgbClr val="21242A"/>
                </a:solidFill>
                <a:latin typeface="Microsoft YaHei"/>
              </a:defRPr>
            </a:pPr>
            <a:r>
              <a:t>奥布替尼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总体缓解率（ORR）：60.7% (17/28)</a:t>
            </a:r>
          </a:p>
          <a:p>
            <a:pPr>
              <a:lnSpc>
                <a:spcPct val="103000"/>
              </a:lnSpc>
              <a:spcAft>
                <a:spcPts val="300"/>
              </a:spcAft>
              <a:defRPr sz="800">
                <a:solidFill>
                  <a:srgbClr val="21242A"/>
                </a:solidFill>
                <a:latin typeface="Microsoft YaHei"/>
              </a:defRPr>
            </a:pPr>
            <a:r>
              <a:t>完全缓解（CR）：28.6%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人数：28</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登记号：NCT04899427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试验药/方案：信迪利单抗、奥布替尼</a:t>
            </a:r>
          </a:p>
          <a:p>
            <a:pPr>
              <a:lnSpc>
                <a:spcPct val="103000"/>
              </a:lnSpc>
              <a:spcAft>
                <a:spcPts val="300"/>
              </a:spcAft>
              <a:defRPr sz="810">
                <a:solidFill>
                  <a:srgbClr val="21242A"/>
                </a:solidFill>
                <a:latin typeface="Microsoft YaHei"/>
              </a:defRPr>
            </a:pPr>
            <a:r>
              <a:t>靶点：PD-1、BTK</a:t>
            </a:r>
          </a:p>
          <a:p>
            <a:pPr>
              <a:lnSpc>
                <a:spcPct val="103000"/>
              </a:lnSpc>
              <a:spcAft>
                <a:spcPts val="300"/>
              </a:spcAft>
              <a:defRPr sz="810">
                <a:solidFill>
                  <a:srgbClr val="21242A"/>
                </a:solidFill>
                <a:latin typeface="Microsoft YaHei"/>
              </a:defRPr>
            </a:pPr>
            <a:r>
              <a:t>药物/技术类别：单特异性抗体、化药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orelabrutinib联合sintilimab治疗复发/难治性原发性中枢神经系统淋巴瘤（r/r pcnsl）的疗效...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orelabrutinib combined with sintilimab in patients wit...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PS2130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PCNSL is an aggressive non-Hodgkin lymphoma.</a:t>
            </a:r>
          </a:p>
          <a:p>
            <a:pPr>
              <a:lnSpc>
                <a:spcPct val="103000"/>
              </a:lnSpc>
              <a:spcAft>
                <a:spcPts val="300"/>
              </a:spcAft>
              <a:defRPr sz="570">
                <a:solidFill>
                  <a:srgbClr val="21242A"/>
                </a:solidFill>
                <a:latin typeface="Microsoft YaHei"/>
              </a:defRPr>
            </a:pPr>
            <a:r>
              <a:t>While high-dose methotrexate (HD-MTX)-based regimens are first-line standards for newly diagnosed patients, disease relapse remains a major clinical challenge.</a:t>
            </a:r>
          </a:p>
          <a:p>
            <a:pPr>
              <a:lnSpc>
                <a:spcPct val="103000"/>
              </a:lnSpc>
              <a:spcAft>
                <a:spcPts val="300"/>
              </a:spcAft>
              <a:defRPr sz="570">
                <a:solidFill>
                  <a:srgbClr val="21242A"/>
                </a:solidFill>
                <a:latin typeface="Microsoft YaHei"/>
              </a:defRPr>
            </a:pPr>
            <a:r>
              <a:t>R/R PCNSL has poor outcomes with high recurrence and limited therapies, and no standard treatment exists, representing an unmet need.</a:t>
            </a:r>
          </a:p>
          <a:p>
            <a:pPr>
              <a:lnSpc>
                <a:spcPct val="103000"/>
              </a:lnSpc>
              <a:spcAft>
                <a:spcPts val="300"/>
              </a:spcAft>
              <a:defRPr sz="570">
                <a:solidFill>
                  <a:srgbClr val="21242A"/>
                </a:solidFill>
                <a:latin typeface="Microsoft YaHei"/>
              </a:defRPr>
            </a:pPr>
            <a:r>
              <a:t>Preclinical studies have shown synergistic efficacy of BTK inhibitors (BTKi) plus anti-PD-1 antibodies in B-cell lymphoma (Vincent-Fabert et al.</a:t>
            </a:r>
          </a:p>
          <a:p>
            <a:pPr>
              <a:lnSpc>
                <a:spcPct val="103000"/>
              </a:lnSpc>
              <a:spcAft>
                <a:spcPts val="300"/>
              </a:spcAft>
              <a:defRPr sz="570">
                <a:solidFill>
                  <a:srgbClr val="21242A"/>
                </a:solidFill>
                <a:latin typeface="Microsoft YaHei"/>
              </a:defRPr>
            </a:pPr>
            <a:r>
              <a:t>Cell Commun Signal. 2019).</a:t>
            </a:r>
          </a:p>
          <a:p>
            <a:pPr>
              <a:lnSpc>
                <a:spcPct val="103000"/>
              </a:lnSpc>
              <a:spcAft>
                <a:spcPts val="300"/>
              </a:spcAft>
              <a:defRPr sz="570">
                <a:solidFill>
                  <a:srgbClr val="21242A"/>
                </a:solidFill>
                <a:latin typeface="Microsoft YaHei"/>
              </a:defRPr>
            </a:pPr>
            <a:r>
              <a:t>Orelabrutinib, a novel BTKi with high CNS penetrance, exhibits efficacy in PCNSL with minimal off-target effects and acceptable safety; sintilimab is a next-gen</a:t>
            </a:r>
          </a:p>
          <a:p>
            <a:pPr>
              <a:lnSpc>
                <a:spcPct val="103000"/>
              </a:lnSpc>
              <a:spcAft>
                <a:spcPts val="300"/>
              </a:spcAft>
              <a:defRPr sz="570">
                <a:solidFill>
                  <a:srgbClr val="21242A"/>
                </a:solidFill>
                <a:latin typeface="Microsoft YaHei"/>
              </a:defRPr>
            </a:pPr>
            <a:r>
              <a:t>eration anti-PD-1 monoclonal antibody.</a:t>
            </a:r>
          </a:p>
          <a:p>
            <a:pPr>
              <a:lnSpc>
                <a:spcPct val="103000"/>
              </a:lnSpc>
              <a:spcAft>
                <a:spcPts val="300"/>
              </a:spcAft>
              <a:defRPr sz="570">
                <a:solidFill>
                  <a:srgbClr val="21242A"/>
                </a:solidFill>
                <a:latin typeface="Microsoft YaHei"/>
              </a:defRPr>
            </a:pPr>
            <a:r>
              <a:t>Aims: To evaluate the safety and efficacy of orelabrutinib combined with sintilimab in patients with R/R PCNSL.</a:t>
            </a:r>
          </a:p>
          <a:p>
            <a:pPr>
              <a:lnSpc>
                <a:spcPct val="103000"/>
              </a:lnSpc>
              <a:spcAft>
                <a:spcPts val="300"/>
              </a:spcAft>
              <a:defRPr sz="570">
                <a:solidFill>
                  <a:srgbClr val="21242A"/>
                </a:solidFill>
                <a:latin typeface="Microsoft YaHei"/>
              </a:defRPr>
            </a:pPr>
            <a:r>
              <a:t>Methods: This prospective, multicenter, single-arm phase II study (NCT04899427) enrolled immunocompetent adults with R/R PCNSL and eligible organ function.</a:t>
            </a:r>
          </a:p>
          <a:p>
            <a:pPr>
              <a:lnSpc>
                <a:spcPct val="103000"/>
              </a:lnSpc>
              <a:spcAft>
                <a:spcPts val="300"/>
              </a:spcAft>
              <a:defRPr sz="570">
                <a:solidFill>
                  <a:srgbClr val="21242A"/>
                </a:solidFill>
                <a:latin typeface="Microsoft YaHei"/>
              </a:defRPr>
            </a:pPr>
            <a:r>
              <a:t>Patients received orelabrutinib (150 mg once daily) plus sintilimab (200 mg on day 1 of each cycle) every 3 weeks for up to 2 years, until progression, unaccept</a:t>
            </a:r>
          </a:p>
          <a:p>
            <a:pPr>
              <a:lnSpc>
                <a:spcPct val="103000"/>
              </a:lnSpc>
              <a:spcAft>
                <a:spcPts val="300"/>
              </a:spcAft>
              <a:defRPr sz="570">
                <a:solidFill>
                  <a:srgbClr val="21242A"/>
                </a:solidFill>
                <a:latin typeface="Microsoft YaHei"/>
              </a:defRPr>
            </a:pPr>
            <a:r>
              <a:t>able toxicity, or death.</a:t>
            </a:r>
          </a:p>
          <a:p>
            <a:pPr>
              <a:lnSpc>
                <a:spcPct val="103000"/>
              </a:lnSpc>
              <a:spcAft>
                <a:spcPts val="300"/>
              </a:spcAft>
              <a:defRPr sz="570">
                <a:solidFill>
                  <a:srgbClr val="21242A"/>
                </a:solidFill>
                <a:latin typeface="Microsoft YaHei"/>
              </a:defRPr>
            </a:pPr>
            <a:r>
              <a:t>The primary endpoint was the overall response rate (ORR), defined as achievement of partial response (PR) or better, following four cycles of treatment.</a:t>
            </a:r>
          </a:p>
          <a:p>
            <a:pPr>
              <a:lnSpc>
                <a:spcPct val="103000"/>
              </a:lnSpc>
              <a:spcAft>
                <a:spcPts val="300"/>
              </a:spcAft>
              <a:defRPr sz="570">
                <a:solidFill>
                  <a:srgbClr val="21242A"/>
                </a:solidFill>
                <a:latin typeface="Microsoft YaHei"/>
              </a:defRPr>
            </a:pPr>
            <a:r>
              <a:t>Secondary endpoints included the 1-year progression-free survival (PFS) rate and safety.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prospective phase II study demonstrates that combining orelabrutinib with sintilimab provided significant clinical benefits for patients with R/R PCNSL, in</a:t>
            </a:r>
          </a:p>
          <a:p>
            <a:pPr>
              <a:lnSpc>
                <a:spcPct val="103000"/>
              </a:lnSpc>
              <a:spcAft>
                <a:spcPts val="300"/>
              </a:spcAft>
              <a:defRPr sz="590">
                <a:solidFill>
                  <a:srgbClr val="21242A"/>
                </a:solidFill>
                <a:latin typeface="Microsoft YaHei"/>
              </a:defRPr>
            </a:pPr>
            <a:r>
              <a:t>cluding strong response rates and notably durable responses.</a:t>
            </a:r>
          </a:p>
          <a:p>
            <a:pPr>
              <a:lnSpc>
                <a:spcPct val="103000"/>
              </a:lnSpc>
              <a:spcAft>
                <a:spcPts val="300"/>
              </a:spcAft>
              <a:defRPr sz="590">
                <a:solidFill>
                  <a:srgbClr val="21242A"/>
                </a:solidFill>
                <a:latin typeface="Microsoft YaHei"/>
              </a:defRPr>
            </a:pPr>
            <a:r>
              <a:t>The manageable safety profile further supports this combination as a valuable treatment option for this challenging population.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8821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88212">
                <a:tc>
                  <a:txBody>
                    <a:bodyPr wrap="square" lIns="36576" rIns="36576" tIns="18288" bIns="18288"/>
                    <a:lstStyle/>
                    <a:p>
                      <a:r>
                        <a:rPr sz="540" b="1">
                          <a:solidFill>
                            <a:srgbClr val="21242A"/>
                          </a:solidFill>
                          <a:latin typeface="Microsoft YaHei"/>
                        </a:rPr>
                        <a:t>总体缓解率（ORR）</a:t>
                      </a:r>
                    </a:p>
                  </a:txBody>
                  <a:tcPr>
                    <a:solidFill>
                      <a:srgbClr val="F6F8FB"/>
                    </a:solidFill>
                  </a:tcPr>
                </a:tc>
                <a:tc>
                  <a:txBody>
                    <a:bodyPr wrap="square" lIns="36576" rIns="36576" tIns="18288" bIns="18288"/>
                    <a:lstStyle/>
                    <a:p>
                      <a:r>
                        <a:rPr sz="540" b="0">
                          <a:solidFill>
                            <a:srgbClr val="21242A"/>
                          </a:solidFill>
                          <a:latin typeface="Microsoft YaHei"/>
                        </a:rPr>
                        <a:t>60.7% (17/28)</a:t>
                      </a:r>
                    </a:p>
                  </a:txBody>
                  <a:tcPr>
                    <a:solidFill>
                      <a:srgbClr val="F6F8FB"/>
                    </a:solidFill>
                  </a:tcPr>
                </a:tc>
              </a:tr>
              <a:tr h="88212">
                <a:tc>
                  <a:txBody>
                    <a:bodyPr wrap="square" lIns="36576" rIns="36576" tIns="18288" bIns="18288"/>
                    <a:lstStyle/>
                    <a:p>
                      <a:r>
                        <a:rPr sz="540" b="1">
                          <a:solidFill>
                            <a:srgbClr val="21242A"/>
                          </a:solidFill>
                          <a:latin typeface="Microsoft YaHei"/>
                        </a:rPr>
                        <a:t>完全缓解（CR）</a:t>
                      </a:r>
                    </a:p>
                  </a:txBody>
                  <a:tcPr>
                    <a:solidFill>
                      <a:srgbClr val="FFFFFF"/>
                    </a:solidFill>
                  </a:tcPr>
                </a:tc>
                <a:tc>
                  <a:txBody>
                    <a:bodyPr wrap="square" lIns="36576" rIns="36576" tIns="18288" bIns="18288"/>
                    <a:lstStyle/>
                    <a:p>
                      <a:r>
                        <a:rPr sz="540" b="0">
                          <a:solidFill>
                            <a:srgbClr val="21242A"/>
                          </a:solidFill>
                          <a:latin typeface="Microsoft YaHei"/>
                        </a:rPr>
                        <a:t>28.6%</a:t>
                      </a:r>
                    </a:p>
                  </a:txBody>
                  <a:tcPr>
                    <a:solidFill>
                      <a:srgbClr val="FFFFFF"/>
                    </a:solidFill>
                  </a:tcPr>
                </a:tc>
              </a:tr>
              <a:tr h="88212">
                <a:tc>
                  <a:txBody>
                    <a:bodyPr wrap="square" lIns="36576" rIns="36576" tIns="18288" bIns="18288"/>
                    <a:lstStyle/>
                    <a:p>
                      <a:r>
                        <a:rPr sz="540" b="1">
                          <a:solidFill>
                            <a:srgbClr val="21242A"/>
                          </a:solidFill>
                          <a:latin typeface="Microsoft YaHei"/>
                        </a:rPr>
                        <a:t>未确认CR（CRu）</a:t>
                      </a:r>
                    </a:p>
                  </a:txBody>
                  <a:tcPr>
                    <a:solidFill>
                      <a:srgbClr val="F6F8FB"/>
                    </a:solidFill>
                  </a:tcPr>
                </a:tc>
                <a:tc>
                  <a:txBody>
                    <a:bodyPr wrap="square" lIns="36576" rIns="36576" tIns="18288" bIns="18288"/>
                    <a:lstStyle/>
                    <a:p>
                      <a:r>
                        <a:rPr sz="540" b="0">
                          <a:solidFill>
                            <a:srgbClr val="21242A"/>
                          </a:solidFill>
                          <a:latin typeface="Microsoft YaHei"/>
                        </a:rPr>
                        <a:t>7.1%</a:t>
                      </a:r>
                    </a:p>
                  </a:txBody>
                  <a:tcPr>
                    <a:solidFill>
                      <a:srgbClr val="F6F8FB"/>
                    </a:solidFill>
                  </a:tcPr>
                </a:tc>
              </a:tr>
              <a:tr h="88212">
                <a:tc>
                  <a:txBody>
                    <a:bodyPr wrap="square" lIns="36576" rIns="36576" tIns="18288" bIns="18288"/>
                    <a:lstStyle/>
                    <a:p>
                      <a:r>
                        <a:rPr sz="540" b="1">
                          <a:solidFill>
                            <a:srgbClr val="21242A"/>
                          </a:solidFill>
                          <a:latin typeface="Microsoft YaHei"/>
                        </a:rPr>
                        <a:t>部分缓解（PR）</a:t>
                      </a:r>
                    </a:p>
                  </a:txBody>
                  <a:tcPr>
                    <a:solidFill>
                      <a:srgbClr val="FFFFFF"/>
                    </a:solidFill>
                  </a:tcPr>
                </a:tc>
                <a:tc>
                  <a:txBody>
                    <a:bodyPr wrap="square" lIns="36576" rIns="36576" tIns="18288" bIns="18288"/>
                    <a:lstStyle/>
                    <a:p>
                      <a:r>
                        <a:rPr sz="540" b="0">
                          <a:solidFill>
                            <a:srgbClr val="21242A"/>
                          </a:solidFill>
                          <a:latin typeface="Microsoft YaHei"/>
                        </a:rPr>
                        <a:t>25.0%</a:t>
                      </a:r>
                    </a:p>
                  </a:txBody>
                  <a:tcPr>
                    <a:solidFill>
                      <a:srgbClr val="FFFFFF"/>
                    </a:solidFill>
                  </a:tcPr>
                </a:tc>
              </a:tr>
              <a:tr h="88212">
                <a:tc>
                  <a:txBody>
                    <a:bodyPr wrap="square" lIns="36576" rIns="36576" tIns="18288" bIns="18288"/>
                    <a:lstStyle/>
                    <a:p>
                      <a:r>
                        <a:rPr sz="540" b="1">
                          <a:solidFill>
                            <a:srgbClr val="21242A"/>
                          </a:solidFill>
                          <a:latin typeface="Microsoft YaHei"/>
                        </a:rPr>
                        <a:t>疾病控制率（DCR）</a:t>
                      </a:r>
                    </a:p>
                  </a:txBody>
                  <a:tcPr>
                    <a:solidFill>
                      <a:srgbClr val="F6F8FB"/>
                    </a:solidFill>
                  </a:tcPr>
                </a:tc>
                <a:tc>
                  <a:txBody>
                    <a:bodyPr wrap="square" lIns="36576" rIns="36576" tIns="18288" bIns="18288"/>
                    <a:lstStyle/>
                    <a:p>
                      <a:r>
                        <a:rPr sz="540" b="0">
                          <a:solidFill>
                            <a:srgbClr val="21242A"/>
                          </a:solidFill>
                          <a:latin typeface="Microsoft YaHei"/>
                        </a:rPr>
                        <a:t>78.6% (22/28)</a:t>
                      </a:r>
                    </a:p>
                  </a:txBody>
                  <a:tcPr>
                    <a:solidFill>
                      <a:srgbClr val="F6F8FB"/>
                    </a:solidFill>
                  </a:tcPr>
                </a:tc>
              </a:tr>
              <a:tr h="88212">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8.4个月</a:t>
                      </a:r>
                    </a:p>
                  </a:txBody>
                  <a:tcPr>
                    <a:solidFill>
                      <a:srgbClr val="FFFFFF"/>
                    </a:solidFill>
                  </a:tcPr>
                </a:tc>
              </a:tr>
              <a:tr h="88212">
                <a:tc>
                  <a:txBody>
                    <a:bodyPr wrap="square" lIns="36576" rIns="36576" tIns="18288" bIns="18288"/>
                    <a:lstStyle/>
                    <a:p>
                      <a:r>
                        <a:rPr sz="540" b="1">
                          <a:solidFill>
                            <a:srgbClr val="21242A"/>
                          </a:solidFill>
                          <a:latin typeface="Microsoft YaHei"/>
                        </a:rPr>
                        <a:t>1年PFS率</a:t>
                      </a:r>
                    </a:p>
                  </a:txBody>
                  <a:tcPr>
                    <a:solidFill>
                      <a:srgbClr val="F6F8FB"/>
                    </a:solidFill>
                  </a:tcPr>
                </a:tc>
                <a:tc>
                  <a:txBody>
                    <a:bodyPr wrap="square" lIns="36576" rIns="36576" tIns="18288" bIns="18288"/>
                    <a:lstStyle/>
                    <a:p>
                      <a:r>
                        <a:rPr sz="540" b="0">
                          <a:solidFill>
                            <a:srgbClr val="21242A"/>
                          </a:solidFill>
                          <a:latin typeface="Microsoft YaHei"/>
                        </a:rPr>
                        <a:t>49.7% (95% CI: 34.2-72.3%)</a:t>
                      </a:r>
                    </a:p>
                  </a:txBody>
                  <a:tcPr>
                    <a:solidFill>
                      <a:srgbClr val="F6F8FB"/>
                    </a:solidFill>
                  </a:tcPr>
                </a:tc>
              </a:tr>
              <a:tr h="88212">
                <a:tc>
                  <a:txBody>
                    <a:bodyPr wrap="square" lIns="36576" rIns="36576" tIns="18288" bIns="18288"/>
                    <a:lstStyle/>
                    <a:p>
                      <a:r>
                        <a:rPr sz="540" b="1">
                          <a:solidFill>
                            <a:srgbClr val="21242A"/>
                          </a:solidFill>
                          <a:latin typeface="Microsoft YaHei"/>
                        </a:rPr>
                        <a:t>2年PFS率</a:t>
                      </a:r>
                    </a:p>
                  </a:txBody>
                  <a:tcPr>
                    <a:solidFill>
                      <a:srgbClr val="FFFFFF"/>
                    </a:solidFill>
                  </a:tcPr>
                </a:tc>
                <a:tc>
                  <a:txBody>
                    <a:bodyPr wrap="square" lIns="36576" rIns="36576" tIns="18288" bIns="18288"/>
                    <a:lstStyle/>
                    <a:p>
                      <a:r>
                        <a:rPr sz="540" b="0">
                          <a:solidFill>
                            <a:srgbClr val="21242A"/>
                          </a:solidFill>
                          <a:latin typeface="Microsoft YaHei"/>
                        </a:rPr>
                        <a:t>40.7% (95% CI: 25.5-64.9%)</a:t>
                      </a:r>
                    </a:p>
                  </a:txBody>
                  <a:tcPr>
                    <a:solidFill>
                      <a:srgbClr val="FFFFFF"/>
                    </a:solidFill>
                  </a:tcPr>
                </a:tc>
              </a:tr>
              <a:tr h="88212">
                <a:tc>
                  <a:txBody>
                    <a:bodyPr wrap="square" lIns="36576" rIns="36576" tIns="18288" bIns="18288"/>
                    <a:lstStyle/>
                    <a:p>
                      <a:r>
                        <a:rPr sz="540" b="1">
                          <a:solidFill>
                            <a:srgbClr val="21242A"/>
                          </a:solidFill>
                          <a:latin typeface="Microsoft YaHei"/>
                        </a:rPr>
                        <a:t>中位总生存期（OS）</a:t>
                      </a:r>
                    </a:p>
                  </a:txBody>
                  <a:tcPr>
                    <a:solidFill>
                      <a:srgbClr val="F6F8FB"/>
                    </a:solidFill>
                  </a:tcPr>
                </a:tc>
                <a:tc>
                  <a:txBody>
                    <a:bodyPr wrap="square" lIns="36576" rIns="36576" tIns="18288" bIns="18288"/>
                    <a:lstStyle/>
                    <a:p>
                      <a:r>
                        <a:rPr sz="540" b="0">
                          <a:solidFill>
                            <a:srgbClr val="21242A"/>
                          </a:solidFill>
                          <a:latin typeface="Microsoft YaHei"/>
                        </a:rPr>
                        <a:t>未达到</a:t>
                      </a:r>
                    </a:p>
                  </a:txBody>
                  <a:tcPr>
                    <a:solidFill>
                      <a:srgbClr val="F6F8FB"/>
                    </a:solidFill>
                  </a:tcPr>
                </a:tc>
              </a:tr>
              <a:tr h="88212">
                <a:tc>
                  <a:txBody>
                    <a:bodyPr wrap="square" lIns="36576" rIns="36576" tIns="18288" bIns="18288"/>
                    <a:lstStyle/>
                    <a:p>
                      <a:r>
                        <a:rPr sz="540" b="1">
                          <a:solidFill>
                            <a:srgbClr val="21242A"/>
                          </a:solidFill>
                          <a:latin typeface="Microsoft YaHei"/>
                        </a:rPr>
                        <a:t>1年OS率</a:t>
                      </a:r>
                    </a:p>
                  </a:txBody>
                  <a:tcPr>
                    <a:solidFill>
                      <a:srgbClr val="FFFFFF"/>
                    </a:solidFill>
                  </a:tcPr>
                </a:tc>
                <a:tc>
                  <a:txBody>
                    <a:bodyPr wrap="square" lIns="36576" rIns="36576" tIns="18288" bIns="18288"/>
                    <a:lstStyle/>
                    <a:p>
                      <a:r>
                        <a:rPr sz="540" b="0">
                          <a:solidFill>
                            <a:srgbClr val="21242A"/>
                          </a:solidFill>
                          <a:latin typeface="Microsoft YaHei"/>
                        </a:rPr>
                        <a:t>77.4% (95% CI: 63.0-95.1%)</a:t>
                      </a:r>
                    </a:p>
                  </a:txBody>
                  <a:tcPr>
                    <a:solidFill>
                      <a:srgbClr val="FFFFFF"/>
                    </a:solidFill>
                  </a:tcPr>
                </a:tc>
              </a:tr>
              <a:tr h="88212">
                <a:tc>
                  <a:txBody>
                    <a:bodyPr wrap="square" lIns="36576" rIns="36576" tIns="18288" bIns="18288"/>
                    <a:lstStyle/>
                    <a:p>
                      <a:r>
                        <a:rPr sz="540" b="1">
                          <a:solidFill>
                            <a:srgbClr val="21242A"/>
                          </a:solidFill>
                          <a:latin typeface="Microsoft YaHei"/>
                        </a:rPr>
                        <a:t>2年OS率</a:t>
                      </a:r>
                    </a:p>
                  </a:txBody>
                  <a:tcPr>
                    <a:solidFill>
                      <a:srgbClr val="F6F8FB"/>
                    </a:solidFill>
                  </a:tcPr>
                </a:tc>
                <a:tc>
                  <a:txBody>
                    <a:bodyPr wrap="square" lIns="36576" rIns="36576" tIns="18288" bIns="18288"/>
                    <a:lstStyle/>
                    <a:p>
                      <a:r>
                        <a:rPr sz="540" b="0">
                          <a:solidFill>
                            <a:srgbClr val="21242A"/>
                          </a:solidFill>
                          <a:latin typeface="Microsoft YaHei"/>
                        </a:rPr>
                        <a:t>73.3% (95% CI: 58.2-92.5%)</a:t>
                      </a:r>
                    </a:p>
                  </a:txBody>
                  <a:tcPr>
                    <a:solidFill>
                      <a:srgbClr val="F6F8FB"/>
                    </a:solidFill>
                  </a:tcPr>
                </a:tc>
              </a:tr>
              <a:tr h="88212">
                <a:tc>
                  <a:txBody>
                    <a:bodyPr wrap="square" lIns="36576" rIns="36576" tIns="18288" bIns="18288"/>
                    <a:lstStyle/>
                    <a:p>
                      <a:r>
                        <a:rPr sz="540" b="1">
                          <a:solidFill>
                            <a:srgbClr val="21242A"/>
                          </a:solidFill>
                          <a:latin typeface="Microsoft YaHei"/>
                        </a:rPr>
                        <a:t>中位缓解持续时间（DOR）</a:t>
                      </a:r>
                    </a:p>
                  </a:txBody>
                  <a:tcPr>
                    <a:solidFill>
                      <a:srgbClr val="FFFFFF"/>
                    </a:solidFill>
                  </a:tcPr>
                </a:tc>
                <a:tc>
                  <a:txBody>
                    <a:bodyPr wrap="square" lIns="36576" rIns="36576" tIns="18288" bIns="18288"/>
                    <a:lstStyle/>
                    <a:p>
                      <a:r>
                        <a:rPr sz="540" b="0">
                          <a:solidFill>
                            <a:srgbClr val="21242A"/>
                          </a:solidFill>
                          <a:latin typeface="Microsoft YaHei"/>
                        </a:rPr>
                        <a:t>49.7个月</a:t>
                      </a:r>
                    </a:p>
                  </a:txBody>
                  <a:tcPr>
                    <a:solidFill>
                      <a:srgbClr val="FFFFFF"/>
                    </a:solidFill>
                  </a:tcPr>
                </a:tc>
              </a:tr>
              <a:tr h="88212">
                <a:tc>
                  <a:txBody>
                    <a:bodyPr wrap="square" lIns="36576" rIns="36576" tIns="18288" bIns="18288"/>
                    <a:lstStyle/>
                    <a:p>
                      <a:r>
                        <a:rPr sz="540" b="1">
                          <a:solidFill>
                            <a:srgbClr val="21242A"/>
                          </a:solidFill>
                          <a:latin typeface="Microsoft YaHei"/>
                        </a:rPr>
                        <a:t>治疗相关不良事件（TEAEs）</a:t>
                      </a:r>
                    </a:p>
                  </a:txBody>
                  <a:tcPr>
                    <a:solidFill>
                      <a:srgbClr val="F6F8FB"/>
                    </a:solidFill>
                  </a:tcPr>
                </a:tc>
                <a:tc>
                  <a:txBody>
                    <a:bodyPr wrap="square" lIns="36576" rIns="36576" tIns="18288" bIns="18288"/>
                    <a:lstStyle/>
                    <a:p>
                      <a:r>
                        <a:rPr sz="540" b="0">
                          <a:solidFill>
                            <a:srgbClr val="21242A"/>
                          </a:solidFill>
                          <a:latin typeface="Microsoft YaHei"/>
                        </a:rPr>
                        <a:t>72.4% (21/29)</a:t>
                      </a:r>
                    </a:p>
                  </a:txBody>
                  <a:tcPr>
                    <a:solidFill>
                      <a:srgbClr val="F6F8FB"/>
                    </a:solidFill>
                  </a:tcPr>
                </a:tc>
              </a:tr>
              <a:tr h="88212">
                <a:tc>
                  <a:txBody>
                    <a:bodyPr wrap="square" lIns="36576" rIns="36576" tIns="18288" bIns="18288"/>
                    <a:lstStyle/>
                    <a:p>
                      <a:r>
                        <a:rPr sz="540" b="1">
                          <a:solidFill>
                            <a:srgbClr val="21242A"/>
                          </a:solidFill>
                          <a:latin typeface="Microsoft YaHei"/>
                        </a:rPr>
                        <a:t>3-4级TEAEs</a:t>
                      </a:r>
                    </a:p>
                  </a:txBody>
                  <a:tcPr>
                    <a:solidFill>
                      <a:srgbClr val="FFFFFF"/>
                    </a:solidFill>
                  </a:tcPr>
                </a:tc>
                <a:tc>
                  <a:txBody>
                    <a:bodyPr wrap="square" lIns="36576" rIns="36576" tIns="18288" bIns="18288"/>
                    <a:lstStyle/>
                    <a:p>
                      <a:r>
                        <a:rPr sz="540" b="0">
                          <a:solidFill>
                            <a:srgbClr val="21242A"/>
                          </a:solidFill>
                          <a:latin typeface="Microsoft YaHei"/>
                        </a:rPr>
                        <a:t>13.8% (4/29)</a:t>
                      </a:r>
                    </a:p>
                  </a:txBody>
                  <a:tcPr>
                    <a:solidFill>
                      <a:srgbClr val="FFFFFF"/>
                    </a:solidFill>
                  </a:tcPr>
                </a:tc>
              </a:tr>
              <a:tr h="88212">
                <a:tc>
                  <a:txBody>
                    <a:bodyPr wrap="square" lIns="36576" rIns="36576" tIns="18288" bIns="18288"/>
                    <a:lstStyle/>
                    <a:p>
                      <a:r>
                        <a:rPr sz="540" b="1">
                          <a:solidFill>
                            <a:srgbClr val="21242A"/>
                          </a:solidFill>
                          <a:latin typeface="Microsoft YaHei"/>
                        </a:rPr>
                        <a:t>5级事件</a:t>
                      </a:r>
                    </a:p>
                  </a:txBody>
                  <a:tcPr>
                    <a:solidFill>
                      <a:srgbClr val="F6F8FB"/>
                    </a:solidFill>
                  </a:tcPr>
                </a:tc>
                <a:tc>
                  <a:txBody>
                    <a:bodyPr wrap="square" lIns="36576" rIns="36576" tIns="18288" bIns="18288"/>
                    <a:lstStyle/>
                    <a:p>
                      <a:r>
                        <a:rPr sz="540" b="0">
                          <a:solidFill>
                            <a:srgbClr val="21242A"/>
                          </a:solidFill>
                          <a:latin typeface="Microsoft YaHei"/>
                        </a:rPr>
                        <a:t>无</a:t>
                      </a:r>
                    </a:p>
                  </a:txBody>
                  <a:tcPr>
                    <a:solidFill>
                      <a:srgbClr val="F6F8FB"/>
                    </a:solidFill>
                  </a:tcPr>
                </a:tc>
              </a:tr>
              <a:tr h="88224">
                <a:tc>
                  <a:txBody>
                    <a:bodyPr wrap="square" lIns="36576" rIns="36576" tIns="18288" bIns="18288"/>
                    <a:lstStyle/>
                    <a:p>
                      <a:r>
                        <a:rPr sz="540" b="1">
                          <a:solidFill>
                            <a:srgbClr val="21242A"/>
                          </a:solidFill>
                          <a:latin typeface="Microsoft YaHei"/>
                        </a:rPr>
                        <a:t>常见不良事件</a:t>
                      </a:r>
                    </a:p>
                  </a:txBody>
                  <a:tcPr>
                    <a:solidFill>
                      <a:srgbClr val="FFFFFF"/>
                    </a:solidFill>
                  </a:tcPr>
                </a:tc>
                <a:tc>
                  <a:txBody>
                    <a:bodyPr wrap="square" lIns="36576" rIns="36576" tIns="18288" bIns="18288"/>
                    <a:lstStyle/>
                    <a:p>
                      <a:r>
                        <a:rPr sz="540" b="0">
                          <a:solidFill>
                            <a:srgbClr val="21242A"/>
                          </a:solidFill>
                          <a:latin typeface="Microsoft YaHei"/>
                        </a:rPr>
                        <a:t>疲乏39.3%、出血35.7%、白细胞减少32.1%、感染35.7%</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摘要号：PS2130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orelabrutinib治疗复发或难治性原发性或继发性中枢神经系统淋巴瘤：一项多中心、开放标签、ii期研究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in patients with relapsed or refractory primary or secondary 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N=61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多组/多方案比较：试验组1：奥布替尼150mg每日一次</a:t>
            </a:r>
          </a:p>
          <a:p>
            <a:pPr>
              <a:lnSpc>
                <a:spcPct val="103000"/>
              </a:lnSpc>
              <a:spcAft>
                <a:spcPts val="300"/>
              </a:spcAft>
              <a:defRPr sz="800">
                <a:solidFill>
                  <a:srgbClr val="21242A"/>
                </a:solidFill>
                <a:latin typeface="Microsoft YaHei"/>
              </a:defRPr>
            </a:pPr>
            <a:r>
              <a:t>试验组2：奥布替尼200mg每日一次</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150mg组28.2%，200mg组27.3%</a:t>
            </a:r>
          </a:p>
          <a:p>
            <a:pPr>
              <a:lnSpc>
                <a:spcPct val="103000"/>
              </a:lnSpc>
              <a:spcAft>
                <a:spcPts val="300"/>
              </a:spcAft>
              <a:defRPr sz="800">
                <a:solidFill>
                  <a:srgbClr val="21242A"/>
                </a:solidFill>
                <a:latin typeface="Microsoft YaHei"/>
              </a:defRPr>
            </a:pPr>
            <a:r>
              <a:t>疾病控制率(DCR): 150mg组53.8%，200mg组54.5%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人数：61</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登记号：CTR20190854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orelabrutinib治疗复发或难治性原发性或继发性中枢神经系统淋巴瘤：一项多中心、开放标签、ii期研究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in patients with relapsed or refractory primary or secondary 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Patients with relapsed or refractory primary or secondary central nervous system lymphoma (r/r PCNSL/SCNSL) have a poor prognosis and limited treatm</a:t>
            </a:r>
          </a:p>
          <a:p>
            <a:pPr>
              <a:lnSpc>
                <a:spcPct val="103000"/>
              </a:lnSpc>
              <a:spcAft>
                <a:spcPts val="300"/>
              </a:spcAft>
              <a:defRPr sz="570">
                <a:solidFill>
                  <a:srgbClr val="21242A"/>
                </a:solidFill>
                <a:latin typeface="Microsoft YaHei"/>
              </a:defRPr>
            </a:pPr>
            <a:r>
              <a:t>ent options.</a:t>
            </a:r>
          </a:p>
          <a:p>
            <a:pPr>
              <a:lnSpc>
                <a:spcPct val="103000"/>
              </a:lnSpc>
              <a:spcAft>
                <a:spcPts val="300"/>
              </a:spcAft>
              <a:defRPr sz="570">
                <a:solidFill>
                  <a:srgbClr val="21242A"/>
                </a:solidFill>
                <a:latin typeface="Microsoft YaHei"/>
              </a:defRPr>
            </a:pPr>
            <a:r>
              <a:t>Orelabrutinib is a highly selective, irreversible Bruton's tyrosine kinase (BTK) inhibitor with promising preclinical blood-brain barrier penetration.</a:t>
            </a:r>
          </a:p>
          <a:p>
            <a:pPr>
              <a:lnSpc>
                <a:spcPct val="103000"/>
              </a:lnSpc>
              <a:spcAft>
                <a:spcPts val="300"/>
              </a:spcAft>
              <a:defRPr sz="570">
                <a:solidFill>
                  <a:srgbClr val="21242A"/>
                </a:solidFill>
                <a:latin typeface="Microsoft YaHei"/>
              </a:defRPr>
            </a:pPr>
            <a:r>
              <a:t>Aims: Evaluate the antitumor efficacy, safety and pharmacokinetics of orelabrutinib in r/r PCNSL/SCNSL patients.</a:t>
            </a:r>
          </a:p>
          <a:p>
            <a:pPr>
              <a:lnSpc>
                <a:spcPct val="103000"/>
              </a:lnSpc>
              <a:spcAft>
                <a:spcPts val="300"/>
              </a:spcAft>
              <a:defRPr sz="570">
                <a:solidFill>
                  <a:srgbClr val="21242A"/>
                </a:solidFill>
                <a:latin typeface="Microsoft YaHei"/>
              </a:defRPr>
            </a:pPr>
            <a:r>
              <a:t>Methods: This was a single-arm, multicenter, open-label, phase II trial (Clinical Trial Registration No.: CTR20190854) conducted at 8 sites in China.</a:t>
            </a:r>
          </a:p>
          <a:p>
            <a:pPr>
              <a:lnSpc>
                <a:spcPct val="103000"/>
              </a:lnSpc>
              <a:spcAft>
                <a:spcPts val="300"/>
              </a:spcAft>
              <a:defRPr sz="570">
                <a:solidFill>
                  <a:srgbClr val="21242A"/>
                </a:solidFill>
                <a:latin typeface="Microsoft YaHei"/>
              </a:defRPr>
            </a:pPr>
            <a:r>
              <a:t>Employing a Simon's two-stage design, 16 patients were initially enrolled to receive orelabrutinib 150 mg once daily (QD), with ≥4 responders required to procee</a:t>
            </a:r>
          </a:p>
          <a:p>
            <a:pPr>
              <a:lnSpc>
                <a:spcPct val="103000"/>
              </a:lnSpc>
              <a:spcAft>
                <a:spcPts val="300"/>
              </a:spcAft>
              <a:defRPr sz="570">
                <a:solidFill>
                  <a:srgbClr val="21242A"/>
                </a:solidFill>
                <a:latin typeface="Microsoft YaHei"/>
              </a:defRPr>
            </a:pPr>
            <a:r>
              <a:t>d to stage two.</a:t>
            </a:r>
          </a:p>
          <a:p>
            <a:pPr>
              <a:lnSpc>
                <a:spcPct val="103000"/>
              </a:lnSpc>
              <a:spcAft>
                <a:spcPts val="300"/>
              </a:spcAft>
              <a:defRPr sz="570">
                <a:solidFill>
                  <a:srgbClr val="21242A"/>
                </a:solidFill>
                <a:latin typeface="Microsoft YaHei"/>
              </a:defRPr>
            </a:pPr>
            <a:r>
              <a:t>After meeting the pre-specified efficacy threshold, the study proceeded to stage two, expanding to a total of 39 patients at 150 mg QD and adding 22 patients at</a:t>
            </a:r>
          </a:p>
          <a:p>
            <a:pPr>
              <a:lnSpc>
                <a:spcPct val="103000"/>
              </a:lnSpc>
              <a:spcAft>
                <a:spcPts val="300"/>
              </a:spcAft>
              <a:defRPr sz="570">
                <a:solidFill>
                  <a:srgbClr val="21242A"/>
                </a:solidFill>
                <a:latin typeface="Microsoft YaHei"/>
              </a:defRPr>
            </a:pPr>
            <a:r>
              <a:t> an exploratory dose of 200 mg QD.</a:t>
            </a:r>
          </a:p>
          <a:p>
            <a:pPr>
              <a:lnSpc>
                <a:spcPct val="103000"/>
              </a:lnSpc>
              <a:spcAft>
                <a:spcPts val="300"/>
              </a:spcAft>
              <a:defRPr sz="570">
                <a:solidFill>
                  <a:srgbClr val="21242A"/>
                </a:solidFill>
                <a:latin typeface="Microsoft YaHei"/>
              </a:defRPr>
            </a:pPr>
            <a:r>
              <a:t>The primary endpoint was objective response rate (ORR) assessed by investigators per International Primary CNS Lymphoma Collaborative Group (IPCG) criteria.</a:t>
            </a:r>
          </a:p>
          <a:p>
            <a:pPr>
              <a:lnSpc>
                <a:spcPct val="103000"/>
              </a:lnSpc>
              <a:spcAft>
                <a:spcPts val="300"/>
              </a:spcAft>
              <a:defRPr sz="570">
                <a:solidFill>
                  <a:srgbClr val="21242A"/>
                </a:solidFill>
                <a:latin typeface="Microsoft YaHei"/>
              </a:defRPr>
            </a:pPr>
            <a:r>
              <a:t>Secondary endpoints included disease control rate (DCR), duration of response (DOR), progression-free survival (PFS), overall survival (OS), safety, and pharmac</a:t>
            </a:r>
          </a:p>
          <a:p>
            <a:pPr>
              <a:lnSpc>
                <a:spcPct val="103000"/>
              </a:lnSpc>
              <a:spcAft>
                <a:spcPts val="300"/>
              </a:spcAft>
              <a:defRPr sz="570">
                <a:solidFill>
                  <a:srgbClr val="21242A"/>
                </a:solidFill>
                <a:latin typeface="Microsoft YaHei"/>
              </a:defRPr>
            </a:pPr>
            <a:r>
              <a:t>okinetics (PK).</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Orelabrutinib monotherapy demonstrated preliminary antitumor activity and a manageable safety profile in patients with r/r PCNSL/SCNSL, a population with high u</a:t>
            </a:r>
          </a:p>
          <a:p>
            <a:pPr>
              <a:lnSpc>
                <a:spcPct val="103000"/>
              </a:lnSpc>
              <a:spcAft>
                <a:spcPts val="300"/>
              </a:spcAft>
              <a:defRPr sz="590">
                <a:solidFill>
                  <a:srgbClr val="21242A"/>
                </a:solidFill>
                <a:latin typeface="Microsoft YaHei"/>
              </a:defRPr>
            </a:pPr>
            <a:r>
              <a:t>nmet medical need.</a:t>
            </a:r>
          </a:p>
          <a:p>
            <a:pPr>
              <a:lnSpc>
                <a:spcPct val="103000"/>
              </a:lnSpc>
              <a:spcAft>
                <a:spcPts val="300"/>
              </a:spcAft>
              <a:defRPr sz="590">
                <a:solidFill>
                  <a:srgbClr val="21242A"/>
                </a:solidFill>
                <a:latin typeface="Microsoft YaHei"/>
              </a:defRPr>
            </a:pPr>
            <a:r>
              <a:t>Its favorable blood-brain barrier penetration supports further investigation in CNS lymphomas.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客观缓解率(ORR)</a:t>
                      </a:r>
                    </a:p>
                  </a:txBody>
                  <a:tcPr>
                    <a:solidFill>
                      <a:srgbClr val="F6F8FB"/>
                    </a:solidFill>
                  </a:tcPr>
                </a:tc>
                <a:tc>
                  <a:txBody>
                    <a:bodyPr wrap="square" lIns="36576" rIns="36576" tIns="18288" bIns="18288"/>
                    <a:lstStyle/>
                    <a:p>
                      <a:r>
                        <a:rPr sz="540" b="0">
                          <a:solidFill>
                            <a:srgbClr val="21242A"/>
                          </a:solidFill>
                          <a:latin typeface="Microsoft YaHei"/>
                        </a:rPr>
                        <a:t>150mg组28.2%，200mg组27.3%</a:t>
                      </a:r>
                    </a:p>
                  </a:txBody>
                  <a:tcPr>
                    <a:solidFill>
                      <a:srgbClr val="F6F8FB"/>
                    </a:solidFill>
                  </a:tcPr>
                </a:tc>
              </a:tr>
              <a:tr h="249936">
                <a:tc>
                  <a:txBody>
                    <a:bodyPr wrap="square" lIns="36576" rIns="36576" tIns="18288" bIns="18288"/>
                    <a:lstStyle/>
                    <a:p>
                      <a:r>
                        <a:rPr sz="540" b="1">
                          <a:solidFill>
                            <a:srgbClr val="21242A"/>
                          </a:solidFill>
                          <a:latin typeface="Microsoft YaHei"/>
                        </a:rPr>
                        <a:t>疾病控制率(DCR)</a:t>
                      </a:r>
                    </a:p>
                  </a:txBody>
                  <a:tcPr>
                    <a:solidFill>
                      <a:srgbClr val="FFFFFF"/>
                    </a:solidFill>
                  </a:tcPr>
                </a:tc>
                <a:tc>
                  <a:txBody>
                    <a:bodyPr wrap="square" lIns="36576" rIns="36576" tIns="18288" bIns="18288"/>
                    <a:lstStyle/>
                    <a:p>
                      <a:r>
                        <a:rPr sz="540" b="0">
                          <a:solidFill>
                            <a:srgbClr val="21242A"/>
                          </a:solidFill>
                          <a:latin typeface="Microsoft YaHei"/>
                        </a:rPr>
                        <a:t>150mg组53.8%，200mg组54.5%</a:t>
                      </a:r>
                    </a:p>
                  </a:txBody>
                  <a:tcPr>
                    <a:solidFill>
                      <a:srgbClr val="FFFFFF"/>
                    </a:solidFill>
                  </a:tcPr>
                </a:tc>
              </a:tr>
              <a:tr h="249936">
                <a:tc>
                  <a:txBody>
                    <a:bodyPr wrap="square" lIns="36576" rIns="36576" tIns="18288" bIns="18288"/>
                    <a:lstStyle/>
                    <a:p>
                      <a:r>
                        <a:rPr sz="540" b="1">
                          <a:solidFill>
                            <a:srgbClr val="21242A"/>
                          </a:solidFill>
                          <a:latin typeface="Microsoft YaHei"/>
                        </a:rPr>
                        <a:t>中位无进展生存期(mPFS)</a:t>
                      </a:r>
                    </a:p>
                  </a:txBody>
                  <a:tcPr>
                    <a:solidFill>
                      <a:srgbClr val="F6F8FB"/>
                    </a:solidFill>
                  </a:tcPr>
                </a:tc>
                <a:tc>
                  <a:txBody>
                    <a:bodyPr wrap="square" lIns="36576" rIns="36576" tIns="18288" bIns="18288"/>
                    <a:lstStyle/>
                    <a:p>
                      <a:r>
                        <a:rPr sz="540" b="0">
                          <a:solidFill>
                            <a:srgbClr val="21242A"/>
                          </a:solidFill>
                          <a:latin typeface="Microsoft YaHei"/>
                        </a:rPr>
                        <a:t>150mg组2.9个月，200mg组2.9个月</a:t>
                      </a:r>
                    </a:p>
                  </a:txBody>
                  <a:tcPr>
                    <a:solidFill>
                      <a:srgbClr val="F6F8FB"/>
                    </a:solidFill>
                  </a:tcPr>
                </a:tc>
              </a:tr>
              <a:tr h="249936">
                <a:tc>
                  <a:txBody>
                    <a:bodyPr wrap="square" lIns="36576" rIns="36576" tIns="18288" bIns="18288"/>
                    <a:lstStyle/>
                    <a:p>
                      <a:r>
                        <a:rPr sz="540" b="1">
                          <a:solidFill>
                            <a:srgbClr val="21242A"/>
                          </a:solidFill>
                          <a:latin typeface="Microsoft YaHei"/>
                        </a:rPr>
                        <a:t>中位总生存期(mOS)</a:t>
                      </a:r>
                    </a:p>
                  </a:txBody>
                  <a:tcPr>
                    <a:solidFill>
                      <a:srgbClr val="FFFFFF"/>
                    </a:solidFill>
                  </a:tcPr>
                </a:tc>
                <a:tc>
                  <a:txBody>
                    <a:bodyPr wrap="square" lIns="36576" rIns="36576" tIns="18288" bIns="18288"/>
                    <a:lstStyle/>
                    <a:p>
                      <a:r>
                        <a:rPr sz="540" b="0">
                          <a:solidFill>
                            <a:srgbClr val="21242A"/>
                          </a:solidFill>
                          <a:latin typeface="Microsoft YaHei"/>
                        </a:rPr>
                        <a:t>150mg组16.9个月，200mg组未达到</a:t>
                      </a:r>
                    </a:p>
                  </a:txBody>
                  <a:tcPr>
                    <a:solidFill>
                      <a:srgbClr val="FFFFFF"/>
                    </a:solidFill>
                  </a:tcPr>
                </a:tc>
              </a:tr>
              <a:tr h="249936">
                <a:tc>
                  <a:txBody>
                    <a:bodyPr wrap="square" lIns="36576" rIns="36576" tIns="18288" bIns="18288"/>
                    <a:lstStyle/>
                    <a:p>
                      <a:r>
                        <a:rPr sz="540" b="1">
                          <a:solidFill>
                            <a:srgbClr val="21242A"/>
                          </a:solidFill>
                          <a:latin typeface="Microsoft YaHei"/>
                        </a:rPr>
                        <a:t>治疗期间不良事件(TEAEs)</a:t>
                      </a:r>
                    </a:p>
                  </a:txBody>
                  <a:tcPr>
                    <a:solidFill>
                      <a:srgbClr val="F6F8FB"/>
                    </a:solidFill>
                  </a:tcPr>
                </a:tc>
                <a:tc>
                  <a:txBody>
                    <a:bodyPr wrap="square" lIns="36576" rIns="36576" tIns="18288" bIns="18288"/>
                    <a:lstStyle/>
                    <a:p>
                      <a:r>
                        <a:rPr sz="540" b="0">
                          <a:solidFill>
                            <a:srgbClr val="21242A"/>
                          </a:solidFill>
                          <a:latin typeface="Microsoft YaHei"/>
                        </a:rPr>
                        <a:t>72.1%患者发生，≥3级TEAEs 24.6%，严重TEAEs 14.8%</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摘要号：PS2090</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奥来拉替尼、利妥昔单抗和噻替帕（ort）联合或不联合大剂量甲氨蝶呤治疗未经治疗的原发性中枢神经系统淋巴瘤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rituximab, and thiotepa (ort) in combination with or without h...</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PS2088</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试验药/方案：塞替派</a:t>
            </a:r>
          </a:p>
          <a:p>
            <a:pPr>
              <a:lnSpc>
                <a:spcPct val="103000"/>
              </a:lnSpc>
              <a:spcAft>
                <a:spcPts val="300"/>
              </a:spcAft>
              <a:defRPr sz="800">
                <a:solidFill>
                  <a:srgbClr val="21242A"/>
                </a:solidFill>
                <a:latin typeface="Microsoft YaHei"/>
              </a:defRPr>
            </a:pPr>
            <a:r>
              <a:t>奥布替尼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多组/多方案比较：试验组1：奥布替尼，利妥昔单抗，塞替派 (ORT)</a:t>
            </a:r>
          </a:p>
          <a:p>
            <a:pPr>
              <a:lnSpc>
                <a:spcPct val="103000"/>
              </a:lnSpc>
              <a:spcAft>
                <a:spcPts val="300"/>
              </a:spcAft>
              <a:defRPr sz="800">
                <a:solidFill>
                  <a:srgbClr val="21242A"/>
                </a:solidFill>
                <a:latin typeface="Microsoft YaHei"/>
              </a:defRPr>
            </a:pPr>
            <a:r>
              <a:t>试验组2：奥布替尼，利妥昔单抗，塞替派，大剂量甲氨蝶呤 (ORT+HD-MTX)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客观缓解率(ORR)：总人群83.8%(31/37)，ORT组72.7%(8/11)，ORT+HD-MTX组88.5%(23/...</a:t>
            </a:r>
          </a:p>
          <a:p>
            <a:pPr>
              <a:lnSpc>
                <a:spcPct val="103000"/>
              </a:lnSpc>
              <a:spcAft>
                <a:spcPts val="300"/>
              </a:spcAft>
              <a:defRPr sz="800">
                <a:solidFill>
                  <a:srgbClr val="21242A"/>
                </a:solidFill>
                <a:latin typeface="Microsoft YaHei"/>
              </a:defRPr>
            </a:pPr>
            <a:r>
              <a:t>完全缓解率(CR)：总人群78.4%(29/37)，ORT组63.6%(7/11)，ORT+HD-MTX组84.6%(22/2...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试验药/方案：塞替派、奥布替尼、利妥昔单抗</a:t>
            </a:r>
          </a:p>
          <a:p>
            <a:pPr>
              <a:lnSpc>
                <a:spcPct val="103000"/>
              </a:lnSpc>
              <a:spcAft>
                <a:spcPts val="300"/>
              </a:spcAft>
              <a:defRPr sz="810">
                <a:solidFill>
                  <a:srgbClr val="21242A"/>
                </a:solidFill>
                <a:latin typeface="Microsoft YaHei"/>
              </a:defRPr>
            </a:pPr>
            <a:r>
              <a:t>靶点：DNA、BTK、CD20</a:t>
            </a:r>
          </a:p>
          <a:p>
            <a:pPr>
              <a:lnSpc>
                <a:spcPct val="103000"/>
              </a:lnSpc>
              <a:spcAft>
                <a:spcPts val="300"/>
              </a:spcAft>
              <a:defRPr sz="810">
                <a:solidFill>
                  <a:srgbClr val="21242A"/>
                </a:solidFill>
                <a:latin typeface="Microsoft YaHei"/>
              </a:defRPr>
            </a:pPr>
            <a:r>
              <a:t>药物/技术类别：化药、单特异性抗体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奥来拉替尼、利妥昔单抗和噻替帕（ort）联合或不联合大剂量甲氨蝶呤治疗未经治疗的原发性中枢神经系统淋巴瘤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rituximab, and thiotepa (ort) in combination with or without h...</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PS2088</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central nervous system lymphoma (PCNSL) is a rare form of non-Hodgkin's lymphoma, predominantly diffuse large B-cell lymphomas.</a:t>
            </a:r>
          </a:p>
          <a:p>
            <a:pPr>
              <a:lnSpc>
                <a:spcPct val="103000"/>
              </a:lnSpc>
              <a:spcAft>
                <a:spcPts val="300"/>
              </a:spcAft>
              <a:defRPr sz="570">
                <a:solidFill>
                  <a:srgbClr val="21242A"/>
                </a:solidFill>
                <a:latin typeface="Microsoft YaHei"/>
              </a:defRPr>
            </a:pPr>
            <a:r>
              <a:t>High-dose methotrexate (HD-MTX) is the cornerstone of chemotherapy for newly diagnosed PCNSL.</a:t>
            </a:r>
          </a:p>
          <a:p>
            <a:pPr>
              <a:lnSpc>
                <a:spcPct val="103000"/>
              </a:lnSpc>
              <a:spcAft>
                <a:spcPts val="300"/>
              </a:spcAft>
              <a:defRPr sz="570">
                <a:solidFill>
                  <a:srgbClr val="21242A"/>
                </a:solidFill>
                <a:latin typeface="Microsoft YaHei"/>
              </a:defRPr>
            </a:pPr>
            <a:r>
              <a:t>Orelabrutinib is a novel BTKi with high blood-brain barrier permeability and has demonstrated efficacy on PCNSL with minimal off-target effects and higher safet</a:t>
            </a:r>
          </a:p>
          <a:p>
            <a:pPr>
              <a:lnSpc>
                <a:spcPct val="103000"/>
              </a:lnSpc>
              <a:spcAft>
                <a:spcPts val="300"/>
              </a:spcAft>
              <a:defRPr sz="570">
                <a:solidFill>
                  <a:srgbClr val="21242A"/>
                </a:solidFill>
                <a:latin typeface="Microsoft YaHei"/>
              </a:defRPr>
            </a:pPr>
            <a:r>
              <a:t>y.</a:t>
            </a:r>
          </a:p>
          <a:p>
            <a:pPr>
              <a:lnSpc>
                <a:spcPct val="103000"/>
              </a:lnSpc>
              <a:spcAft>
                <a:spcPts val="300"/>
              </a:spcAft>
              <a:defRPr sz="570">
                <a:solidFill>
                  <a:srgbClr val="21242A"/>
                </a:solidFill>
                <a:latin typeface="Microsoft YaHei"/>
              </a:defRPr>
            </a:pPr>
            <a:r>
              <a:t>Aims: This study aimed to evaluate the efficacy and safety of a combination regimen consisting of ORT, with or without HD-MTX, in untreated PCNSL patients (pts)</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Methods: This prospective, multicenter, single-arm, study enrolled untreated PCNSL pts (≥18 years) who received ORT therapy: orelabrutinib 150 mg/day orally, ri</a:t>
            </a:r>
          </a:p>
          <a:p>
            <a:pPr>
              <a:lnSpc>
                <a:spcPct val="103000"/>
              </a:lnSpc>
              <a:spcAft>
                <a:spcPts val="300"/>
              </a:spcAft>
              <a:defRPr sz="570">
                <a:solidFill>
                  <a:srgbClr val="21242A"/>
                </a:solidFill>
                <a:latin typeface="Microsoft YaHei"/>
              </a:defRPr>
            </a:pPr>
            <a:r>
              <a:t>tuximab 375 mg/m² intravenously on day 0, and thiotepa 40mg/m² intravenously on day 1, in a 21-day cycle.</a:t>
            </a:r>
          </a:p>
          <a:p>
            <a:pPr>
              <a:lnSpc>
                <a:spcPct val="103000"/>
              </a:lnSpc>
              <a:spcAft>
                <a:spcPts val="300"/>
              </a:spcAft>
              <a:defRPr sz="570">
                <a:solidFill>
                  <a:srgbClr val="21242A"/>
                </a:solidFill>
                <a:latin typeface="Microsoft YaHei"/>
              </a:defRPr>
            </a:pPr>
            <a:r>
              <a:t>HD-MTX (3.5g/m² IV) was administered every 3 weeks to pts ≤60 years with normal renal function.</a:t>
            </a:r>
          </a:p>
          <a:p>
            <a:pPr>
              <a:lnSpc>
                <a:spcPct val="103000"/>
              </a:lnSpc>
              <a:spcAft>
                <a:spcPts val="300"/>
              </a:spcAft>
              <a:defRPr sz="570">
                <a:solidFill>
                  <a:srgbClr val="21242A"/>
                </a:solidFill>
                <a:latin typeface="Microsoft YaHei"/>
              </a:defRPr>
            </a:pPr>
            <a:r>
              <a:t>After 4 cycles, pts with a response continued the same dose for up to 4 more cycles, with autologous stem cell transplantation (ASCT) recommended for those ≤60 </a:t>
            </a:r>
          </a:p>
          <a:p>
            <a:pPr>
              <a:lnSpc>
                <a:spcPct val="103000"/>
              </a:lnSpc>
              <a:spcAft>
                <a:spcPts val="300"/>
              </a:spcAft>
              <a:defRPr sz="570">
                <a:solidFill>
                  <a:srgbClr val="21242A"/>
                </a:solidFill>
                <a:latin typeface="Microsoft YaHei"/>
              </a:defRPr>
            </a:pPr>
            <a:r>
              <a:t>years.</a:t>
            </a:r>
          </a:p>
          <a:p>
            <a:pPr>
              <a:lnSpc>
                <a:spcPct val="103000"/>
              </a:lnSpc>
              <a:spcAft>
                <a:spcPts val="300"/>
              </a:spcAft>
              <a:defRPr sz="570">
                <a:solidFill>
                  <a:srgbClr val="21242A"/>
                </a:solidFill>
                <a:latin typeface="Microsoft YaHei"/>
              </a:defRPr>
            </a:pPr>
            <a:r>
              <a:t>Maintenance therapy with orelabrutinib continued until 2 years of treatment.</a:t>
            </a:r>
          </a:p>
          <a:p>
            <a:pPr>
              <a:lnSpc>
                <a:spcPct val="103000"/>
              </a:lnSpc>
              <a:spcAft>
                <a:spcPts val="300"/>
              </a:spcAft>
              <a:defRPr sz="570">
                <a:solidFill>
                  <a:srgbClr val="21242A"/>
                </a:solidFill>
                <a:latin typeface="Microsoft YaHei"/>
              </a:defRPr>
            </a:pPr>
            <a:r>
              <a:t>Adverse events (AEs) were graded according to Standard 5.0 Common Terminology for Adverse Events.</a:t>
            </a:r>
          </a:p>
          <a:p>
            <a:pPr>
              <a:lnSpc>
                <a:spcPct val="103000"/>
              </a:lnSpc>
              <a:spcAft>
                <a:spcPts val="300"/>
              </a:spcAft>
              <a:defRPr sz="570">
                <a:solidFill>
                  <a:srgbClr val="21242A"/>
                </a:solidFill>
                <a:latin typeface="Microsoft YaHei"/>
              </a:defRPr>
            </a:pPr>
            <a:r>
              <a:t>The primary endpoint was the objective response rate (ORR) with secondary endpoints including progression-free survival (PFS) and overall survival (OS).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study demonstrates that ORT plus HD-MTX can serve as the preferred regimen for patients ≤60 years of age, whereas ORT monotherapy represents a viable alter</a:t>
            </a:r>
          </a:p>
          <a:p>
            <a:pPr>
              <a:lnSpc>
                <a:spcPct val="103000"/>
              </a:lnSpc>
              <a:spcAft>
                <a:spcPts val="300"/>
              </a:spcAft>
              <a:defRPr sz="590">
                <a:solidFill>
                  <a:srgbClr val="21242A"/>
                </a:solidFill>
                <a:latin typeface="Microsoft YaHei"/>
              </a:defRPr>
            </a:pPr>
            <a:r>
              <a:t>native for patients &gt;60 years or with renal insufficiency; nevertheless, the rational use of MTX remains a critical determinant for achieving long-term cure in </a:t>
            </a:r>
          </a:p>
          <a:p>
            <a:pPr>
              <a:lnSpc>
                <a:spcPct val="103000"/>
              </a:lnSpc>
              <a:spcAft>
                <a:spcPts val="300"/>
              </a:spcAft>
              <a:defRPr sz="590">
                <a:solidFill>
                  <a:srgbClr val="21242A"/>
                </a:solidFill>
                <a:latin typeface="Microsoft YaHei"/>
              </a:defRPr>
            </a:pPr>
            <a:r>
              <a:t>PCNSL.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2496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24968">
                <a:tc>
                  <a:txBody>
                    <a:bodyPr wrap="square" lIns="36576" rIns="36576" tIns="18288" bIns="18288"/>
                    <a:lstStyle/>
                    <a:p>
                      <a:r>
                        <a:rPr sz="540" b="1">
                          <a:solidFill>
                            <a:srgbClr val="21242A"/>
                          </a:solidFill>
                          <a:latin typeface="Microsoft YaHei"/>
                        </a:rPr>
                        <a:t>客观缓解率(ORR)</a:t>
                      </a:r>
                    </a:p>
                  </a:txBody>
                  <a:tcPr>
                    <a:solidFill>
                      <a:srgbClr val="F6F8FB"/>
                    </a:solidFill>
                  </a:tcPr>
                </a:tc>
                <a:tc>
                  <a:txBody>
                    <a:bodyPr wrap="square" lIns="36576" rIns="36576" tIns="18288" bIns="18288"/>
                    <a:lstStyle/>
                    <a:p>
                      <a:r>
                        <a:rPr sz="540" b="0">
                          <a:solidFill>
                            <a:srgbClr val="21242A"/>
                          </a:solidFill>
                          <a:latin typeface="Microsoft YaHei"/>
                        </a:rPr>
                        <a:t>总人群83.8%(31/37)，ORT组72.7%(8/11)，ORT+HD-MTX组88.5%(23/26)</a:t>
                      </a:r>
                    </a:p>
                  </a:txBody>
                  <a:tcPr>
                    <a:solidFill>
                      <a:srgbClr val="F6F8FB"/>
                    </a:solidFill>
                  </a:tcPr>
                </a:tc>
              </a:tr>
              <a:tr h="124968">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总人群78.4%(29/37)，ORT组63.6%(7/11)，ORT+HD-MTX组84.6%(22/26)</a:t>
                      </a:r>
                    </a:p>
                  </a:txBody>
                  <a:tcPr>
                    <a:solidFill>
                      <a:srgbClr val="FFFFFF"/>
                    </a:solidFill>
                  </a:tcPr>
                </a:tc>
              </a:tr>
              <a:tr h="124968">
                <a:tc>
                  <a:txBody>
                    <a:bodyPr wrap="square" lIns="36576" rIns="36576" tIns="18288" bIns="18288"/>
                    <a:lstStyle/>
                    <a:p>
                      <a:r>
                        <a:rPr sz="540" b="1">
                          <a:solidFill>
                            <a:srgbClr val="21242A"/>
                          </a:solidFill>
                          <a:latin typeface="Microsoft YaHei"/>
                        </a:rPr>
                        <a:t>MCD亚组完全缓解率</a:t>
                      </a:r>
                    </a:p>
                  </a:txBody>
                  <a:tcPr>
                    <a:solidFill>
                      <a:srgbClr val="F6F8FB"/>
                    </a:solidFill>
                  </a:tcPr>
                </a:tc>
                <a:tc>
                  <a:txBody>
                    <a:bodyPr wrap="square" lIns="36576" rIns="36576" tIns="18288" bIns="18288"/>
                    <a:lstStyle/>
                    <a:p>
                      <a:r>
                        <a:rPr sz="540" b="0">
                          <a:solidFill>
                            <a:srgbClr val="21242A"/>
                          </a:solidFill>
                          <a:latin typeface="Microsoft YaHei"/>
                        </a:rPr>
                        <a:t>83.3%(15/18)</a:t>
                      </a:r>
                    </a:p>
                  </a:txBody>
                  <a:tcPr>
                    <a:solidFill>
                      <a:srgbClr val="F6F8FB"/>
                    </a:solidFill>
                  </a:tcPr>
                </a:tc>
              </a:tr>
              <a:tr h="124968">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总人群未达到，ORT组18.3个月，ORT+HD-MTX组未达到</a:t>
                      </a:r>
                    </a:p>
                  </a:txBody>
                  <a:tcPr>
                    <a:solidFill>
                      <a:srgbClr val="FFFFFF"/>
                    </a:solidFill>
                  </a:tcPr>
                </a:tc>
              </a:tr>
              <a:tr h="124968">
                <a:tc>
                  <a:txBody>
                    <a:bodyPr wrap="square" lIns="36576" rIns="36576" tIns="18288" bIns="18288"/>
                    <a:lstStyle/>
                    <a:p>
                      <a:r>
                        <a:rPr sz="540" b="1">
                          <a:solidFill>
                            <a:srgbClr val="21242A"/>
                          </a:solidFill>
                          <a:latin typeface="Microsoft YaHei"/>
                        </a:rPr>
                        <a:t>1年无进展生存率</a:t>
                      </a:r>
                    </a:p>
                  </a:txBody>
                  <a:tcPr>
                    <a:solidFill>
                      <a:srgbClr val="F6F8FB"/>
                    </a:solidFill>
                  </a:tcPr>
                </a:tc>
                <a:tc>
                  <a:txBody>
                    <a:bodyPr wrap="square" lIns="36576" rIns="36576" tIns="18288" bIns="18288"/>
                    <a:lstStyle/>
                    <a:p>
                      <a:r>
                        <a:rPr sz="540" b="0">
                          <a:solidFill>
                            <a:srgbClr val="21242A"/>
                          </a:solidFill>
                          <a:latin typeface="Microsoft YaHei"/>
                        </a:rPr>
                        <a:t>总人群85.8%，ORT组81.8%，ORT+HD-MTX组87.4%</a:t>
                      </a:r>
                    </a:p>
                  </a:txBody>
                  <a:tcPr>
                    <a:solidFill>
                      <a:srgbClr val="F6F8FB"/>
                    </a:solidFill>
                  </a:tcPr>
                </a:tc>
              </a:tr>
              <a:tr h="124968">
                <a:tc>
                  <a:txBody>
                    <a:bodyPr wrap="square" lIns="36576" rIns="36576" tIns="18288" bIns="18288"/>
                    <a:lstStyle/>
                    <a:p>
                      <a:r>
                        <a:rPr sz="540" b="1">
                          <a:solidFill>
                            <a:srgbClr val="21242A"/>
                          </a:solidFill>
                          <a:latin typeface="Microsoft YaHei"/>
                        </a:rPr>
                        <a:t>2年无进展生存率</a:t>
                      </a:r>
                    </a:p>
                  </a:txBody>
                  <a:tcPr>
                    <a:solidFill>
                      <a:srgbClr val="FFFFFF"/>
                    </a:solidFill>
                  </a:tcPr>
                </a:tc>
                <a:tc>
                  <a:txBody>
                    <a:bodyPr wrap="square" lIns="36576" rIns="36576" tIns="18288" bIns="18288"/>
                    <a:lstStyle/>
                    <a:p>
                      <a:r>
                        <a:rPr sz="540" b="0">
                          <a:solidFill>
                            <a:srgbClr val="21242A"/>
                          </a:solidFill>
                          <a:latin typeface="Microsoft YaHei"/>
                        </a:rPr>
                        <a:t>总人群73.1%，ORT组43.8%，ORT+HD-MTX组87.4%</a:t>
                      </a:r>
                    </a:p>
                  </a:txBody>
                  <a:tcPr>
                    <a:solidFill>
                      <a:srgbClr val="FFFFFF"/>
                    </a:solidFill>
                  </a:tcPr>
                </a:tc>
              </a:tr>
              <a:tr h="124968">
                <a:tc>
                  <a:txBody>
                    <a:bodyPr wrap="square" lIns="36576" rIns="36576" tIns="18288" bIns="18288"/>
                    <a:lstStyle/>
                    <a:p>
                      <a:r>
                        <a:rPr sz="540" b="1">
                          <a:solidFill>
                            <a:srgbClr val="21242A"/>
                          </a:solidFill>
                          <a:latin typeface="Microsoft YaHei"/>
                        </a:rPr>
                        <a:t>中位总生存期(OS)</a:t>
                      </a:r>
                    </a:p>
                  </a:txBody>
                  <a:tcPr>
                    <a:solidFill>
                      <a:srgbClr val="F6F8FB"/>
                    </a:solidFill>
                  </a:tcPr>
                </a:tc>
                <a:tc>
                  <a:txBody>
                    <a:bodyPr wrap="square" lIns="36576" rIns="36576" tIns="18288" bIns="18288"/>
                    <a:lstStyle/>
                    <a:p>
                      <a:r>
                        <a:rPr sz="540" b="0">
                          <a:solidFill>
                            <a:srgbClr val="21242A"/>
                          </a:solidFill>
                          <a:latin typeface="Microsoft YaHei"/>
                        </a:rPr>
                        <a:t>总人群未达到</a:t>
                      </a:r>
                    </a:p>
                  </a:txBody>
                  <a:tcPr>
                    <a:solidFill>
                      <a:srgbClr val="F6F8FB"/>
                    </a:solidFill>
                  </a:tcPr>
                </a:tc>
              </a:tr>
              <a:tr h="124968">
                <a:tc>
                  <a:txBody>
                    <a:bodyPr wrap="square" lIns="36576" rIns="36576" tIns="18288" bIns="18288"/>
                    <a:lstStyle/>
                    <a:p>
                      <a:r>
                        <a:rPr sz="540" b="1">
                          <a:solidFill>
                            <a:srgbClr val="21242A"/>
                          </a:solidFill>
                          <a:latin typeface="Microsoft YaHei"/>
                        </a:rPr>
                        <a:t>1年总生存率</a:t>
                      </a:r>
                    </a:p>
                  </a:txBody>
                  <a:tcPr>
                    <a:solidFill>
                      <a:srgbClr val="FFFFFF"/>
                    </a:solidFill>
                  </a:tcPr>
                </a:tc>
                <a:tc>
                  <a:txBody>
                    <a:bodyPr wrap="square" lIns="36576" rIns="36576" tIns="18288" bIns="18288"/>
                    <a:lstStyle/>
                    <a:p>
                      <a:r>
                        <a:rPr sz="540" b="0">
                          <a:solidFill>
                            <a:srgbClr val="21242A"/>
                          </a:solidFill>
                          <a:latin typeface="Microsoft YaHei"/>
                        </a:rPr>
                        <a:t>总人群96.4%</a:t>
                      </a:r>
                    </a:p>
                  </a:txBody>
                  <a:tcPr>
                    <a:solidFill>
                      <a:srgbClr val="FFFFFF"/>
                    </a:solidFill>
                  </a:tcPr>
                </a:tc>
              </a:tr>
              <a:tr h="124968">
                <a:tc>
                  <a:txBody>
                    <a:bodyPr wrap="square" lIns="36576" rIns="36576" tIns="18288" bIns="18288"/>
                    <a:lstStyle/>
                    <a:p>
                      <a:r>
                        <a:rPr sz="540" b="1">
                          <a:solidFill>
                            <a:srgbClr val="21242A"/>
                          </a:solidFill>
                          <a:latin typeface="Microsoft YaHei"/>
                        </a:rPr>
                        <a:t>2年总生存率</a:t>
                      </a:r>
                    </a:p>
                  </a:txBody>
                  <a:tcPr>
                    <a:solidFill>
                      <a:srgbClr val="F6F8FB"/>
                    </a:solidFill>
                  </a:tcPr>
                </a:tc>
                <a:tc>
                  <a:txBody>
                    <a:bodyPr wrap="square" lIns="36576" rIns="36576" tIns="18288" bIns="18288"/>
                    <a:lstStyle/>
                    <a:p>
                      <a:r>
                        <a:rPr sz="540" b="0">
                          <a:solidFill>
                            <a:srgbClr val="21242A"/>
                          </a:solidFill>
                          <a:latin typeface="Microsoft YaHei"/>
                        </a:rPr>
                        <a:t>总人群92.7%</a:t>
                      </a:r>
                    </a:p>
                  </a:txBody>
                  <a:tcPr>
                    <a:solidFill>
                      <a:srgbClr val="F6F8FB"/>
                    </a:solidFill>
                  </a:tcPr>
                </a:tc>
              </a:tr>
              <a:tr h="124968">
                <a:tc>
                  <a:txBody>
                    <a:bodyPr wrap="square" lIns="36576" rIns="36576" tIns="18288" bIns="18288"/>
                    <a:lstStyle/>
                    <a:p>
                      <a:r>
                        <a:rPr sz="540" b="1">
                          <a:solidFill>
                            <a:srgbClr val="21242A"/>
                          </a:solidFill>
                          <a:latin typeface="Microsoft YaHei"/>
                        </a:rPr>
                        <a:t>3-4级不良事件发生率</a:t>
                      </a:r>
                    </a:p>
                  </a:txBody>
                  <a:tcPr>
                    <a:solidFill>
                      <a:srgbClr val="FFFFFF"/>
                    </a:solidFill>
                  </a:tcPr>
                </a:tc>
                <a:tc>
                  <a:txBody>
                    <a:bodyPr wrap="square" lIns="36576" rIns="36576" tIns="18288" bIns="18288"/>
                    <a:lstStyle/>
                    <a:p>
                      <a:r>
                        <a:rPr sz="540" b="0">
                          <a:solidFill>
                            <a:srgbClr val="21242A"/>
                          </a:solidFill>
                          <a:latin typeface="Microsoft YaHei"/>
                        </a:rPr>
                        <a:t>28.2%(11/39)，最常见为白细胞减少和中性粒细胞减少</a:t>
                      </a:r>
                    </a:p>
                  </a:txBody>
                  <a:tcPr>
                    <a:solidFill>
                      <a:srgbClr val="FFFFFF"/>
                    </a:solidFill>
                  </a:tcPr>
                </a:tc>
              </a:tr>
              <a:tr h="124968">
                <a:tc>
                  <a:txBody>
                    <a:bodyPr wrap="square" lIns="36576" rIns="36576" tIns="18288" bIns="18288"/>
                    <a:lstStyle/>
                    <a:p>
                      <a:r>
                        <a:rPr sz="540" b="1">
                          <a:solidFill>
                            <a:srgbClr val="21242A"/>
                          </a:solidFill>
                          <a:latin typeface="Microsoft YaHei"/>
                        </a:rPr>
                        <a:t>PFS组间差异</a:t>
                      </a:r>
                    </a:p>
                  </a:txBody>
                  <a:tcPr>
                    <a:solidFill>
                      <a:srgbClr val="F6F8FB"/>
                    </a:solidFill>
                  </a:tcPr>
                </a:tc>
                <a:tc>
                  <a:txBody>
                    <a:bodyPr wrap="square" lIns="36576" rIns="36576" tIns="18288" bIns="18288"/>
                    <a:lstStyle/>
                    <a:p>
                      <a:r>
                        <a:rPr sz="540" b="0">
                          <a:solidFill>
                            <a:srgbClr val="21242A"/>
                          </a:solidFill>
                          <a:latin typeface="Microsoft YaHei"/>
                        </a:rPr>
                        <a:t>p=0.016</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摘要号：PS2088</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替拉鲁替尼治疗复发或难治性继发性中枢神经系统淋巴瘤的疗效和安全性：ii期crystal/ncch2201研究结果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tirabrutinib for relapsed or refractory secondary cent...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B细胞非霍奇金淋巴瘤，中枢神经系统淋巴瘤</a:t>
            </a:r>
          </a:p>
          <a:p>
            <a:pPr>
              <a:lnSpc>
                <a:spcPct val="103000"/>
              </a:lnSpc>
              <a:spcAft>
                <a:spcPts val="300"/>
              </a:spcAft>
              <a:defRPr sz="800">
                <a:solidFill>
                  <a:srgbClr val="21242A"/>
                </a:solidFill>
                <a:latin typeface="Microsoft YaHei"/>
              </a:defRPr>
            </a:pPr>
            <a:r>
              <a:t>N=20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试验药/方案：替拉鲁替尼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66.7%（95% CI 41.0-86.7）</a:t>
            </a:r>
          </a:p>
          <a:p>
            <a:pPr>
              <a:lnSpc>
                <a:spcPct val="103000"/>
              </a:lnSpc>
              <a:spcAft>
                <a:spcPts val="300"/>
              </a:spcAft>
              <a:defRPr sz="800">
                <a:solidFill>
                  <a:srgbClr val="21242A"/>
                </a:solidFill>
                <a:latin typeface="Microsoft YaHei"/>
              </a:defRPr>
            </a:pPr>
            <a:r>
              <a:t>完全缓解率（CR）: 38.9%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人数：20</a:t>
            </a:r>
          </a:p>
          <a:p>
            <a:pPr>
              <a:lnSpc>
                <a:spcPct val="103000"/>
              </a:lnSpc>
              <a:spcAft>
                <a:spcPts val="300"/>
              </a:spcAft>
              <a:defRPr sz="810">
                <a:solidFill>
                  <a:srgbClr val="21242A"/>
                </a:solidFill>
                <a:latin typeface="Microsoft YaHei"/>
              </a:defRPr>
            </a:pPr>
            <a:r>
              <a:t>适应症：B细胞非霍奇金淋巴瘤、中枢神经系统淋巴瘤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登记号：JPRN-jRCT2031220529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试验药/方案：替拉鲁替尼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替拉鲁替尼治疗复发或难治性继发性中枢神经系统淋巴瘤的疗效和安全性：ii期crystal/ncch2201研究结果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tirabrutinib for relapsed or refractory secondary cent...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Secondary central nervous system lymphoma (SCNSL) is a devastating complication of systemic lymphoma with limited treatment options.</a:t>
            </a:r>
          </a:p>
          <a:p>
            <a:pPr>
              <a:lnSpc>
                <a:spcPct val="103000"/>
              </a:lnSpc>
              <a:spcAft>
                <a:spcPts val="300"/>
              </a:spcAft>
              <a:defRPr sz="570">
                <a:solidFill>
                  <a:srgbClr val="21242A"/>
                </a:solidFill>
                <a:latin typeface="Microsoft YaHei"/>
              </a:defRPr>
            </a:pPr>
            <a:r>
              <a:t>Recent real-world data suggest a median overall survival (OS) of 3.2 months after SCNSL, highlighting a substantial unmet need (Blood Adv. 2025;9:893–905).</a:t>
            </a:r>
          </a:p>
          <a:p>
            <a:pPr>
              <a:lnSpc>
                <a:spcPct val="103000"/>
              </a:lnSpc>
              <a:spcAft>
                <a:spcPts val="300"/>
              </a:spcAft>
              <a:defRPr sz="570">
                <a:solidFill>
                  <a:srgbClr val="21242A"/>
                </a:solidFill>
                <a:latin typeface="Microsoft YaHei"/>
              </a:defRPr>
            </a:pPr>
            <a:r>
              <a:t>Diffuse large B-cell lymphoma (DLBCL) represents the most common histology of SCNSL and is frequently enriched for activating mutations in MYD88 and CD79B , pro</a:t>
            </a:r>
          </a:p>
          <a:p>
            <a:pPr>
              <a:lnSpc>
                <a:spcPct val="103000"/>
              </a:lnSpc>
              <a:spcAft>
                <a:spcPts val="300"/>
              </a:spcAft>
              <a:defRPr sz="570">
                <a:solidFill>
                  <a:srgbClr val="21242A"/>
                </a:solidFill>
                <a:latin typeface="Microsoft YaHei"/>
              </a:defRPr>
            </a:pPr>
            <a:r>
              <a:t>viding a molecular rationale for Bruton’s tyrosine kinase (BTK) inhibition.</a:t>
            </a:r>
          </a:p>
          <a:p>
            <a:pPr>
              <a:lnSpc>
                <a:spcPct val="103000"/>
              </a:lnSpc>
              <a:spcAft>
                <a:spcPts val="300"/>
              </a:spcAft>
              <a:defRPr sz="570">
                <a:solidFill>
                  <a:srgbClr val="21242A"/>
                </a:solidFill>
                <a:latin typeface="Microsoft YaHei"/>
              </a:defRPr>
            </a:pPr>
            <a:r>
              <a:t>Tirabrutinib, a selective second-generation BTK inhibitor, has demonstrated clinical activity in primary CNS lymphoma and is approved in Japan for the relapsed </a:t>
            </a:r>
          </a:p>
          <a:p>
            <a:pPr>
              <a:lnSpc>
                <a:spcPct val="103000"/>
              </a:lnSpc>
              <a:spcAft>
                <a:spcPts val="300"/>
              </a:spcAft>
              <a:defRPr sz="570">
                <a:solidFill>
                  <a:srgbClr val="21242A"/>
                </a:solidFill>
                <a:latin typeface="Microsoft YaHei"/>
              </a:defRPr>
            </a:pPr>
            <a:r>
              <a:t>or refractory (R/R) setting.</a:t>
            </a:r>
          </a:p>
          <a:p>
            <a:pPr>
              <a:lnSpc>
                <a:spcPct val="103000"/>
              </a:lnSpc>
              <a:spcAft>
                <a:spcPts val="300"/>
              </a:spcAft>
              <a:defRPr sz="570">
                <a:solidFill>
                  <a:srgbClr val="21242A"/>
                </a:solidFill>
                <a:latin typeface="Microsoft YaHei"/>
              </a:defRPr>
            </a:pPr>
            <a:r>
              <a:t>Aims: To evaluate the efficacy and safety of tirabrutinib in patients with R/R SCNSL.</a:t>
            </a:r>
          </a:p>
          <a:p>
            <a:pPr>
              <a:lnSpc>
                <a:spcPct val="103000"/>
              </a:lnSpc>
              <a:spcAft>
                <a:spcPts val="300"/>
              </a:spcAft>
              <a:defRPr sz="570">
                <a:solidFill>
                  <a:srgbClr val="21242A"/>
                </a:solidFill>
                <a:latin typeface="Microsoft YaHei"/>
              </a:defRPr>
            </a:pPr>
            <a:r>
              <a:t>Methods: This trial was an investigator-initiated phase II CRYSTAL/NCCH2201 study (jRCT2031220529).</a:t>
            </a:r>
          </a:p>
          <a:p>
            <a:pPr>
              <a:lnSpc>
                <a:spcPct val="103000"/>
              </a:lnSpc>
              <a:spcAft>
                <a:spcPts val="300"/>
              </a:spcAft>
              <a:defRPr sz="570">
                <a:solidFill>
                  <a:srgbClr val="21242A"/>
                </a:solidFill>
                <a:latin typeface="Microsoft YaHei"/>
              </a:defRPr>
            </a:pPr>
            <a:r>
              <a:t>Eligible patients had histologically confirmed B-cell non-Hodgkin lymphoma with R/R secondary CNS involvement.</a:t>
            </a:r>
          </a:p>
          <a:p>
            <a:pPr>
              <a:lnSpc>
                <a:spcPct val="103000"/>
              </a:lnSpc>
              <a:spcAft>
                <a:spcPts val="300"/>
              </a:spcAft>
              <a:defRPr sz="570">
                <a:solidFill>
                  <a:srgbClr val="21242A"/>
                </a:solidFill>
                <a:latin typeface="Microsoft YaHei"/>
              </a:defRPr>
            </a:pPr>
            <a:r>
              <a:t>Patients with active systemic disease outside the CNS were excluded.</a:t>
            </a:r>
          </a:p>
          <a:p>
            <a:pPr>
              <a:lnSpc>
                <a:spcPct val="103000"/>
              </a:lnSpc>
              <a:spcAft>
                <a:spcPts val="300"/>
              </a:spcAft>
              <a:defRPr sz="570">
                <a:solidFill>
                  <a:srgbClr val="21242A"/>
                </a:solidFill>
                <a:latin typeface="Microsoft YaHei"/>
              </a:defRPr>
            </a:pPr>
            <a:r>
              <a:t>Patients were required to have received high-dose methotrexate–based therapy or be intolerant to it.</a:t>
            </a:r>
          </a:p>
          <a:p>
            <a:pPr>
              <a:lnSpc>
                <a:spcPct val="103000"/>
              </a:lnSpc>
              <a:spcAft>
                <a:spcPts val="300"/>
              </a:spcAft>
              <a:defRPr sz="570">
                <a:solidFill>
                  <a:srgbClr val="21242A"/>
                </a:solidFill>
                <a:latin typeface="Microsoft YaHei"/>
              </a:defRPr>
            </a:pPr>
            <a:r>
              <a:t>Tirabrutinib was administered orally at 480 mg once daily until disease progression or unacceptable toxicity.</a:t>
            </a:r>
          </a:p>
          <a:p>
            <a:pPr>
              <a:lnSpc>
                <a:spcPct val="103000"/>
              </a:lnSpc>
              <a:spcAft>
                <a:spcPts val="300"/>
              </a:spcAft>
              <a:defRPr sz="570">
                <a:solidFill>
                  <a:srgbClr val="21242A"/>
                </a:solidFill>
                <a:latin typeface="Microsoft YaHei"/>
              </a:defRPr>
            </a:pPr>
            <a:r>
              <a:t>The primary endpoint was objective response rate (ORR) as determined by the IPCG criteria, assessed by independent central review (ICR).</a:t>
            </a:r>
          </a:p>
          <a:p>
            <a:pPr>
              <a:lnSpc>
                <a:spcPct val="103000"/>
              </a:lnSpc>
              <a:spcAft>
                <a:spcPts val="300"/>
              </a:spcAft>
              <a:defRPr sz="570">
                <a:solidFill>
                  <a:srgbClr val="21242A"/>
                </a:solidFill>
                <a:latin typeface="Microsoft YaHei"/>
              </a:defRPr>
            </a:pPr>
            <a:r>
              <a:t>Blood and tumor samples were collected for exploratory biomarker analyses. The expected ORR was set at 40% and the threshold ORR at 10%.</a:t>
            </a:r>
          </a:p>
          <a:p>
            <a:pPr>
              <a:lnSpc>
                <a:spcPct val="103000"/>
              </a:lnSpc>
              <a:spcAft>
                <a:spcPts val="300"/>
              </a:spcAft>
              <a:defRPr sz="570">
                <a:solidFill>
                  <a:srgbClr val="21242A"/>
                </a:solidFill>
                <a:latin typeface="Microsoft YaHei"/>
              </a:defRPr>
            </a:pPr>
            <a:r>
              <a:t>Accounting for up to four ineligible or untreated patients, the planned sample size was set at 20 to achieve 80% power under a binomial test with a one-sided al</a:t>
            </a:r>
          </a:p>
          <a:p>
            <a:pPr>
              <a:lnSpc>
                <a:spcPct val="103000"/>
              </a:lnSpc>
              <a:spcAft>
                <a:spcPts val="300"/>
              </a:spcAft>
              <a:defRPr sz="570">
                <a:solidFill>
                  <a:srgbClr val="21242A"/>
                </a:solidFill>
                <a:latin typeface="Microsoft YaHei"/>
              </a:defRPr>
            </a:pPr>
            <a:r>
              <a:t>pha of 2.5%.</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Tirabrutinib demonstrated clinically meaningful activity with a manageable safety profile in heavily pretreated patients with R/R SCNSL.</a:t>
            </a:r>
          </a:p>
          <a:p>
            <a:pPr>
              <a:lnSpc>
                <a:spcPct val="103000"/>
              </a:lnSpc>
              <a:spcAft>
                <a:spcPts val="300"/>
              </a:spcAft>
              <a:defRPr sz="590">
                <a:solidFill>
                  <a:srgbClr val="21242A"/>
                </a:solidFill>
                <a:latin typeface="Microsoft YaHei"/>
              </a:defRPr>
            </a:pPr>
            <a:r>
              <a:t>The phase II CRYSTAL/NCCH2201 study supports tirabrutinib as a promising therapeutic option for this disease with extremely poor prognosis.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Twenty patients were enrolled between February 2023 and December 2024.</a:t>
            </a:r>
          </a:p>
          <a:p>
            <a:pPr>
              <a:lnSpc>
                <a:spcPct val="103000"/>
              </a:lnSpc>
              <a:spcAft>
                <a:spcPts val="300"/>
              </a:spcAft>
              <a:defRPr sz="580">
                <a:solidFill>
                  <a:srgbClr val="21242A"/>
                </a:solidFill>
                <a:latin typeface="Microsoft YaHei"/>
              </a:defRPr>
            </a:pPr>
            <a:r>
              <a:t>The median age was 75 years (range, 48–81), and all patients had DLBCL, not otherwise specified (DLBCL-NOS) with secondary CNS involvement.</a:t>
            </a:r>
          </a:p>
          <a:p>
            <a:pPr>
              <a:lnSpc>
                <a:spcPct val="103000"/>
              </a:lnSpc>
              <a:spcAft>
                <a:spcPts val="300"/>
              </a:spcAft>
              <a:defRPr sz="580">
                <a:solidFill>
                  <a:srgbClr val="21242A"/>
                </a:solidFill>
                <a:latin typeface="Microsoft YaHei"/>
              </a:defRPr>
            </a:pPr>
            <a:r>
              <a:t>Central pathological review classified 9 patients as the germinal center B-cell–like (GCB) subtype, 10 as the non-GCB subtype, and 1 patient as unclassifia</a:t>
            </a:r>
          </a:p>
          <a:p>
            <a:pPr>
              <a:lnSpc>
                <a:spcPct val="103000"/>
              </a:lnSpc>
              <a:spcAft>
                <a:spcPts val="300"/>
              </a:spcAft>
              <a:defRPr sz="580">
                <a:solidFill>
                  <a:srgbClr val="21242A"/>
                </a:solidFill>
                <a:latin typeface="Microsoft YaHei"/>
              </a:defRPr>
            </a:pPr>
            <a:r>
              <a:t>ble.</a:t>
            </a:r>
          </a:p>
          <a:p>
            <a:pPr>
              <a:lnSpc>
                <a:spcPct val="103000"/>
              </a:lnSpc>
              <a:spcAft>
                <a:spcPts val="300"/>
              </a:spcAft>
              <a:defRPr sz="580">
                <a:solidFill>
                  <a:srgbClr val="21242A"/>
                </a:solidFill>
                <a:latin typeface="Microsoft YaHei"/>
              </a:defRPr>
            </a:pPr>
            <a:r>
              <a:t>Three patients had cerebrospinal fluid disease, including one without parenchymal lesions. The median number of prior therapies was 3.5 (range, 1–8).</a:t>
            </a:r>
          </a:p>
          <a:p>
            <a:pPr>
              <a:lnSpc>
                <a:spcPct val="103000"/>
              </a:lnSpc>
              <a:spcAft>
                <a:spcPts val="300"/>
              </a:spcAft>
              <a:defRPr sz="580">
                <a:solidFill>
                  <a:srgbClr val="21242A"/>
                </a:solidFill>
                <a:latin typeface="Microsoft YaHei"/>
              </a:defRPr>
            </a:pPr>
            <a:r>
              <a:t>Eighteen patients were evaluable for efficacy by ICR. The ORR was 66.7% (95% CI, 41.0–86.7; p</a:t>
            </a:r>
          </a:p>
          <a:p>
            <a:pPr>
              <a:lnSpc>
                <a:spcPct val="103000"/>
              </a:lnSpc>
              <a:spcAft>
                <a:spcPts val="300"/>
              </a:spcAft>
              <a:defRPr sz="580">
                <a:solidFill>
                  <a:srgbClr val="21242A"/>
                </a:solidFill>
                <a:latin typeface="Microsoft YaHei"/>
              </a:defRPr>
            </a:pPr>
            <a:r>
              <a:t>Conclusion: Tirabrutinib demonstrated clinically meaningful activity with a manageable safety profile in heavily pretreated patients with R/R SCNSL.</a:t>
            </a:r>
          </a:p>
          <a:p>
            <a:pPr>
              <a:lnSpc>
                <a:spcPct val="103000"/>
              </a:lnSpc>
              <a:spcAft>
                <a:spcPts val="300"/>
              </a:spcAft>
              <a:defRPr sz="580">
                <a:solidFill>
                  <a:srgbClr val="21242A"/>
                </a:solidFill>
                <a:latin typeface="Microsoft YaHei"/>
              </a:defRPr>
            </a:pPr>
            <a:r>
              <a:t>The phase II CRYSTAL/NCCH2201 study supports tirabrutinib as a promising therapeutic option for this disease with extremely poor prognosis.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摘要号：PS2084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多组/多方案比较：队列A（R/R systemic non-GCB DLBCL）：zanubrutinib 160mg每日联合...</a:t>
            </a:r>
          </a:p>
          <a:p>
            <a:pPr>
              <a:lnSpc>
                <a:spcPct val="103000"/>
              </a:lnSpc>
              <a:spcAft>
                <a:spcPts val="300"/>
              </a:spcAft>
              <a:defRPr sz="800">
                <a:solidFill>
                  <a:srgbClr val="21242A"/>
                </a:solidFill>
                <a:latin typeface="Microsoft YaHei"/>
              </a:defRPr>
            </a:pPr>
            <a:r>
              <a:t>队列B（R/R CNS淋巴瘤）：zanubrutinib 160mg每日联合R-ICE方案（利妥昔单抗、异环磷酰胺、卡铂、依托...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总人群：ORR 90.9%，CR率72.7%</a:t>
            </a:r>
          </a:p>
          <a:p>
            <a:pPr>
              <a:lnSpc>
                <a:spcPct val="103000"/>
              </a:lnSpc>
              <a:spcAft>
                <a:spcPts val="300"/>
              </a:spcAft>
              <a:defRPr sz="800">
                <a:solidFill>
                  <a:srgbClr val="21242A"/>
                </a:solidFill>
                <a:latin typeface="Microsoft YaHei"/>
              </a:defRPr>
            </a:pPr>
            <a:r>
              <a:t>队列A：ORR 90.3%，CR率74.2%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人数：52</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prognosis of relapsed or refractory diffuse large B-cell lymphoma (R/R DLBCL) is poor, and outcomes are particularly dismal for R/R CNS lymphoma</a:t>
            </a:r>
          </a:p>
          <a:p>
            <a:pPr>
              <a:lnSpc>
                <a:spcPct val="103000"/>
              </a:lnSpc>
              <a:spcAft>
                <a:spcPts val="300"/>
              </a:spcAft>
              <a:defRPr sz="570">
                <a:solidFill>
                  <a:srgbClr val="21242A"/>
                </a:solidFill>
                <a:latin typeface="Microsoft YaHei"/>
              </a:defRPr>
            </a:pPr>
            <a:r>
              <a:t>s (primary [PCNSL] or secondary [SCNSL]).</a:t>
            </a:r>
          </a:p>
          <a:p>
            <a:pPr>
              <a:lnSpc>
                <a:spcPct val="103000"/>
              </a:lnSpc>
              <a:spcAft>
                <a:spcPts val="300"/>
              </a:spcAft>
              <a:defRPr sz="570">
                <a:solidFill>
                  <a:srgbClr val="21242A"/>
                </a:solidFill>
                <a:latin typeface="Microsoft YaHei"/>
              </a:defRPr>
            </a:pPr>
            <a:r>
              <a:t>R-ICE (rituximab, ifosfamide, carboplatin, and etoposide) chemotherapy has shown efficacy in these patients (pts) but the durability of response is limited.</a:t>
            </a:r>
          </a:p>
          <a:p>
            <a:pPr>
              <a:lnSpc>
                <a:spcPct val="103000"/>
              </a:lnSpc>
              <a:spcAft>
                <a:spcPts val="300"/>
              </a:spcAft>
              <a:defRPr sz="570">
                <a:solidFill>
                  <a:srgbClr val="21242A"/>
                </a:solidFill>
                <a:latin typeface="Microsoft YaHei"/>
              </a:defRPr>
            </a:pPr>
            <a:r>
              <a:t>Recently, BTK inhibitors have demonstrated encouraging efficacy outcomes in systemic R/R non-GCB DLBCL and R/R CNS lymphomas.</a:t>
            </a:r>
          </a:p>
          <a:p>
            <a:pPr>
              <a:lnSpc>
                <a:spcPct val="103000"/>
              </a:lnSpc>
              <a:spcAft>
                <a:spcPts val="300"/>
              </a:spcAft>
              <a:defRPr sz="570">
                <a:solidFill>
                  <a:srgbClr val="21242A"/>
                </a:solidFill>
                <a:latin typeface="Microsoft YaHei"/>
              </a:defRPr>
            </a:pPr>
            <a:r>
              <a:t>Aims: This phase I/II study aims to evaluate the efficacy, safety, and feasibility of combining zanubrutinib, a second-generation BTK inhibitor, with R-ICE (ZR-</a:t>
            </a:r>
          </a:p>
          <a:p>
            <a:pPr>
              <a:lnSpc>
                <a:spcPct val="103000"/>
              </a:lnSpc>
              <a:spcAft>
                <a:spcPts val="300"/>
              </a:spcAft>
              <a:defRPr sz="570">
                <a:solidFill>
                  <a:srgbClr val="21242A"/>
                </a:solidFill>
                <a:latin typeface="Microsoft YaHei"/>
              </a:defRPr>
            </a:pPr>
            <a:r>
              <a:t>ICE) in pts with R/R systemic non-GCB DLBCL or R/R CNS lymphomas.</a:t>
            </a:r>
          </a:p>
          <a:p>
            <a:pPr>
              <a:lnSpc>
                <a:spcPct val="103000"/>
              </a:lnSpc>
              <a:spcAft>
                <a:spcPts val="300"/>
              </a:spcAft>
              <a:defRPr sz="570">
                <a:solidFill>
                  <a:srgbClr val="21242A"/>
                </a:solidFill>
                <a:latin typeface="Microsoft YaHei"/>
              </a:defRPr>
            </a:pPr>
            <a:r>
              <a:t>Here we report the interim efficacy and safety results from the phase II part.</a:t>
            </a:r>
          </a:p>
          <a:p>
            <a:pPr>
              <a:lnSpc>
                <a:spcPct val="103000"/>
              </a:lnSpc>
              <a:spcAft>
                <a:spcPts val="300"/>
              </a:spcAft>
              <a:defRPr sz="570">
                <a:solidFill>
                  <a:srgbClr val="21242A"/>
                </a:solidFill>
                <a:latin typeface="Microsoft YaHei"/>
              </a:defRPr>
            </a:pPr>
            <a:r>
              <a:t>Methods: In the phase I part, zanubrutinib 160 mg daily was established as the recommended phase 2 dose based on a standard 3+3 dose escalation design.</a:t>
            </a:r>
          </a:p>
          <a:p>
            <a:pPr>
              <a:lnSpc>
                <a:spcPct val="103000"/>
              </a:lnSpc>
              <a:spcAft>
                <a:spcPts val="300"/>
              </a:spcAft>
              <a:defRPr sz="570">
                <a:solidFill>
                  <a:srgbClr val="21242A"/>
                </a:solidFill>
                <a:latin typeface="Microsoft YaHei"/>
              </a:defRPr>
            </a:pPr>
            <a:r>
              <a:t>In the phase II part, pts with R/R systemic non-GCB DLBCL (cohort A) or R/R CNS lymphomas (PCNSL or SCNSL) (cohort B) received zanubrutinib 160 mg daily in comb</a:t>
            </a:r>
          </a:p>
          <a:p>
            <a:pPr>
              <a:lnSpc>
                <a:spcPct val="103000"/>
              </a:lnSpc>
              <a:spcAft>
                <a:spcPts val="300"/>
              </a:spcAft>
              <a:defRPr sz="570">
                <a:solidFill>
                  <a:srgbClr val="21242A"/>
                </a:solidFill>
                <a:latin typeface="Microsoft YaHei"/>
              </a:defRPr>
            </a:pPr>
            <a:r>
              <a:t>ination with R-ICE.</a:t>
            </a:r>
          </a:p>
          <a:p>
            <a:pPr>
              <a:lnSpc>
                <a:spcPct val="103000"/>
              </a:lnSpc>
              <a:spcAft>
                <a:spcPts val="300"/>
              </a:spcAft>
              <a:defRPr sz="570">
                <a:solidFill>
                  <a:srgbClr val="21242A"/>
                </a:solidFill>
                <a:latin typeface="Microsoft YaHei"/>
              </a:defRPr>
            </a:pPr>
            <a:r>
              <a:t>The R-ICE regimen consisted of rituximab 375 mg/m² IV (D1), ifosfamide 1670 mg/m² IV (D1–3), etoposide 100 mg/m²/day IV (D1–3), and carboplatin AUC 5 IV (D2).</a:t>
            </a:r>
          </a:p>
          <a:p>
            <a:pPr>
              <a:lnSpc>
                <a:spcPct val="103000"/>
              </a:lnSpc>
              <a:spcAft>
                <a:spcPts val="300"/>
              </a:spcAft>
              <a:defRPr sz="570">
                <a:solidFill>
                  <a:srgbClr val="21242A"/>
                </a:solidFill>
                <a:latin typeface="Microsoft YaHei"/>
              </a:defRPr>
            </a:pPr>
            <a:r>
              <a:t>Pts who were candidates for upfront autologous stem cell transplantation (ASCT) and achieved CR or PR after 3 cycles proceeded to ASCT.</a:t>
            </a:r>
          </a:p>
          <a:p>
            <a:pPr>
              <a:lnSpc>
                <a:spcPct val="103000"/>
              </a:lnSpc>
              <a:spcAft>
                <a:spcPts val="300"/>
              </a:spcAft>
              <a:defRPr sz="570">
                <a:solidFill>
                  <a:srgbClr val="21242A"/>
                </a:solidFill>
                <a:latin typeface="Microsoft YaHei"/>
              </a:defRPr>
            </a:pPr>
            <a:r>
              <a:t>Pts who were not candidates for upfront ASCT received up to 6 cycles of ZR-ICE.</a:t>
            </a:r>
          </a:p>
          <a:p>
            <a:pPr>
              <a:lnSpc>
                <a:spcPct val="103000"/>
              </a:lnSpc>
              <a:spcAft>
                <a:spcPts val="300"/>
              </a:spcAft>
              <a:defRPr sz="570">
                <a:solidFill>
                  <a:srgbClr val="21242A"/>
                </a:solidFill>
                <a:latin typeface="Microsoft YaHei"/>
              </a:defRPr>
            </a:pPr>
            <a:r>
              <a:t>Cohort B pts achieving CR or PR after 6 cycles of ZR-ICE or 3 cycles of ZR-ICE followed by ASCT received zanubrutinib 320 mg daily as maintenance for up to 24 m</a:t>
            </a:r>
          </a:p>
          <a:p>
            <a:pPr>
              <a:lnSpc>
                <a:spcPct val="103000"/>
              </a:lnSpc>
              <a:spcAft>
                <a:spcPts val="300"/>
              </a:spcAft>
              <a:defRPr sz="570">
                <a:solidFill>
                  <a:srgbClr val="21242A"/>
                </a:solidFill>
                <a:latin typeface="Microsoft YaHei"/>
              </a:defRPr>
            </a:pPr>
            <a:r>
              <a:t>onths.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ZR-ICE demonstrated promising efficacy with a manageable safety profile in R/R systemic non-GCB DLBCL and R/R CNS lymphomas.</a:t>
            </a:r>
          </a:p>
          <a:p>
            <a:pPr>
              <a:lnSpc>
                <a:spcPct val="103000"/>
              </a:lnSpc>
              <a:spcAft>
                <a:spcPts val="300"/>
              </a:spcAft>
              <a:defRPr sz="590">
                <a:solidFill>
                  <a:srgbClr val="21242A"/>
                </a:solidFill>
                <a:latin typeface="Microsoft YaHei"/>
              </a:defRPr>
            </a:pPr>
            <a:r>
              <a:t>These interim results support continued enrollment of this ongoing phase II study.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3632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36328">
                <a:tc>
                  <a:txBody>
                    <a:bodyPr wrap="square" lIns="36576" rIns="36576" tIns="18288" bIns="18288"/>
                    <a:lstStyle/>
                    <a:p>
                      <a:r>
                        <a:rPr sz="540" b="1">
                          <a:solidFill>
                            <a:srgbClr val="21242A"/>
                          </a:solidFill>
                          <a:latin typeface="Microsoft YaHei"/>
                        </a:rPr>
                        <a:t>总人群</a:t>
                      </a:r>
                    </a:p>
                  </a:txBody>
                  <a:tcPr>
                    <a:solidFill>
                      <a:srgbClr val="F6F8FB"/>
                    </a:solidFill>
                  </a:tcPr>
                </a:tc>
                <a:tc>
                  <a:txBody>
                    <a:bodyPr wrap="square" lIns="36576" rIns="36576" tIns="18288" bIns="18288"/>
                    <a:lstStyle/>
                    <a:p>
                      <a:r>
                        <a:rPr sz="540" b="0">
                          <a:solidFill>
                            <a:srgbClr val="21242A"/>
                          </a:solidFill>
                          <a:latin typeface="Microsoft YaHei"/>
                        </a:rPr>
                        <a:t>ORR 90.9%，CR率72.7%</a:t>
                      </a:r>
                    </a:p>
                  </a:txBody>
                  <a:tcPr>
                    <a:solidFill>
                      <a:srgbClr val="F6F8FB"/>
                    </a:solidFill>
                  </a:tcPr>
                </a:tc>
              </a:tr>
              <a:tr h="136328">
                <a:tc>
                  <a:txBody>
                    <a:bodyPr wrap="square" lIns="36576" rIns="36576" tIns="18288" bIns="18288"/>
                    <a:lstStyle/>
                    <a:p>
                      <a:r>
                        <a:rPr sz="540" b="1">
                          <a:solidFill>
                            <a:srgbClr val="21242A"/>
                          </a:solidFill>
                          <a:latin typeface="Microsoft YaHei"/>
                        </a:rPr>
                        <a:t>队列A</a:t>
                      </a:r>
                    </a:p>
                  </a:txBody>
                  <a:tcPr>
                    <a:solidFill>
                      <a:srgbClr val="FFFFFF"/>
                    </a:solidFill>
                  </a:tcPr>
                </a:tc>
                <a:tc>
                  <a:txBody>
                    <a:bodyPr wrap="square" lIns="36576" rIns="36576" tIns="18288" bIns="18288"/>
                    <a:lstStyle/>
                    <a:p>
                      <a:r>
                        <a:rPr sz="540" b="0">
                          <a:solidFill>
                            <a:srgbClr val="21242A"/>
                          </a:solidFill>
                          <a:latin typeface="Microsoft YaHei"/>
                        </a:rPr>
                        <a:t>ORR 90.3%，CR率74.2%</a:t>
                      </a:r>
                    </a:p>
                  </a:txBody>
                  <a:tcPr>
                    <a:solidFill>
                      <a:srgbClr val="FFFFFF"/>
                    </a:solidFill>
                  </a:tcPr>
                </a:tc>
              </a:tr>
              <a:tr h="136328">
                <a:tc>
                  <a:txBody>
                    <a:bodyPr wrap="square" lIns="36576" rIns="36576" tIns="18288" bIns="18288"/>
                    <a:lstStyle/>
                    <a:p>
                      <a:r>
                        <a:rPr sz="540" b="1">
                          <a:solidFill>
                            <a:srgbClr val="21242A"/>
                          </a:solidFill>
                          <a:latin typeface="Microsoft YaHei"/>
                        </a:rPr>
                        <a:t>队列B</a:t>
                      </a:r>
                    </a:p>
                  </a:txBody>
                  <a:tcPr>
                    <a:solidFill>
                      <a:srgbClr val="F6F8FB"/>
                    </a:solidFill>
                  </a:tcPr>
                </a:tc>
                <a:tc>
                  <a:txBody>
                    <a:bodyPr wrap="square" lIns="36576" rIns="36576" tIns="18288" bIns="18288"/>
                    <a:lstStyle/>
                    <a:p>
                      <a:r>
                        <a:rPr sz="540" b="0">
                          <a:solidFill>
                            <a:srgbClr val="21242A"/>
                          </a:solidFill>
                          <a:latin typeface="Microsoft YaHei"/>
                        </a:rPr>
                        <a:t>ORR 92.3%，CR率69.2%</a:t>
                      </a:r>
                    </a:p>
                  </a:txBody>
                  <a:tcPr>
                    <a:solidFill>
                      <a:srgbClr val="F6F8FB"/>
                    </a:solidFill>
                  </a:tcPr>
                </a:tc>
              </a:tr>
              <a:tr h="136328">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中位随访5.8个月，6个月PFS率76.3%，6个月OS率90.0%</a:t>
                      </a:r>
                    </a:p>
                  </a:txBody>
                  <a:tcPr>
                    <a:solidFill>
                      <a:srgbClr val="FFFFFF"/>
                    </a:solidFill>
                  </a:tcPr>
                </a:tc>
              </a:tr>
              <a:tr h="136328">
                <a:tc>
                  <a:txBody>
                    <a:bodyPr wrap="square" lIns="36576" rIns="36576" tIns="18288" bIns="18288"/>
                    <a:lstStyle/>
                    <a:p>
                      <a:r>
                        <a:rPr sz="540" b="1">
                          <a:solidFill>
                            <a:srgbClr val="21242A"/>
                          </a:solidFill>
                          <a:latin typeface="Microsoft YaHei"/>
                        </a:rPr>
                        <a:t>队列A</a:t>
                      </a:r>
                    </a:p>
                  </a:txBody>
                  <a:tcPr>
                    <a:solidFill>
                      <a:srgbClr val="F6F8FB"/>
                    </a:solidFill>
                  </a:tcPr>
                </a:tc>
                <a:tc>
                  <a:txBody>
                    <a:bodyPr wrap="square" lIns="36576" rIns="36576" tIns="18288" bIns="18288"/>
                    <a:lstStyle/>
                    <a:p>
                      <a:r>
                        <a:rPr sz="540" b="0">
                          <a:solidFill>
                            <a:srgbClr val="21242A"/>
                          </a:solidFill>
                          <a:latin typeface="Microsoft YaHei"/>
                        </a:rPr>
                        <a:t>6个月PFS率83.2%，6个月OS率100.0%</a:t>
                      </a:r>
                    </a:p>
                  </a:txBody>
                  <a:tcPr>
                    <a:solidFill>
                      <a:srgbClr val="F6F8FB"/>
                    </a:solidFill>
                  </a:tcPr>
                </a:tc>
              </a:tr>
              <a:tr h="136328">
                <a:tc>
                  <a:txBody>
                    <a:bodyPr wrap="square" lIns="36576" rIns="36576" tIns="18288" bIns="18288"/>
                    <a:lstStyle/>
                    <a:p>
                      <a:r>
                        <a:rPr sz="540" b="1">
                          <a:solidFill>
                            <a:srgbClr val="21242A"/>
                          </a:solidFill>
                          <a:latin typeface="Microsoft YaHei"/>
                        </a:rPr>
                        <a:t>队列B</a:t>
                      </a:r>
                    </a:p>
                  </a:txBody>
                  <a:tcPr>
                    <a:solidFill>
                      <a:srgbClr val="FFFFFF"/>
                    </a:solidFill>
                  </a:tcPr>
                </a:tc>
                <a:tc>
                  <a:txBody>
                    <a:bodyPr wrap="square" lIns="36576" rIns="36576" tIns="18288" bIns="18288"/>
                    <a:lstStyle/>
                    <a:p>
                      <a:r>
                        <a:rPr sz="540" b="0">
                          <a:solidFill>
                            <a:srgbClr val="21242A"/>
                          </a:solidFill>
                          <a:latin typeface="Microsoft YaHei"/>
                        </a:rPr>
                        <a:t>6个月PFS率62.3%，6个月OS率71.6%</a:t>
                      </a:r>
                    </a:p>
                  </a:txBody>
                  <a:tcPr>
                    <a:solidFill>
                      <a:srgbClr val="FFFFFF"/>
                    </a:solidFill>
                  </a:tcPr>
                </a:tc>
              </a:tr>
              <a:tr h="136328">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11例患者（均来自队列A）接受了前期ASCT，截至数据截止无事件</a:t>
                      </a:r>
                    </a:p>
                  </a:txBody>
                  <a:tcPr>
                    <a:solidFill>
                      <a:srgbClr val="F6F8FB"/>
                    </a:solidFill>
                  </a:tcPr>
                </a:tc>
              </a:tr>
              <a:tr h="136328">
                <a:tc>
                  <a:txBody>
                    <a:bodyPr wrap="square" lIns="36576" rIns="36576" tIns="18288" bIns="18288"/>
                    <a:lstStyle/>
                    <a:p>
                      <a:r>
                        <a:rPr sz="540" b="1">
                          <a:solidFill>
                            <a:srgbClr val="21242A"/>
                          </a:solidFill>
                          <a:latin typeface="Microsoft YaHei"/>
                        </a:rPr>
                        <a:t>最常见≥3级不良事件</a:t>
                      </a:r>
                    </a:p>
                  </a:txBody>
                  <a:tcPr>
                    <a:solidFill>
                      <a:srgbClr val="FFFFFF"/>
                    </a:solidFill>
                  </a:tcPr>
                </a:tc>
                <a:tc>
                  <a:txBody>
                    <a:bodyPr wrap="square" lIns="36576" rIns="36576" tIns="18288" bIns="18288"/>
                    <a:lstStyle/>
                    <a:p>
                      <a:r>
                        <a:rPr sz="540" b="0">
                          <a:solidFill>
                            <a:srgbClr val="21242A"/>
                          </a:solidFill>
                          <a:latin typeface="Microsoft YaHei"/>
                        </a:rPr>
                        <a:t>中性粒细胞减少46.0%，血小板减少46.0%，贫血29.0%</a:t>
                      </a:r>
                    </a:p>
                  </a:txBody>
                  <a:tcPr>
                    <a:solidFill>
                      <a:srgbClr val="FFFFFF"/>
                    </a:solidFill>
                  </a:tcPr>
                </a:tc>
              </a:tr>
              <a:tr h="136328">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发热性中性粒细胞减少5例(10.0%)</a:t>
                      </a:r>
                    </a:p>
                  </a:txBody>
                  <a:tcPr>
                    <a:solidFill>
                      <a:srgbClr val="F6F8FB"/>
                    </a:solidFill>
                  </a:tcPr>
                </a:tc>
              </a:tr>
              <a:tr h="1363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1例死于治疗相关脓毒症，无患者因AE停止治疗</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摘要号：PF972</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medz-r方案作为新诊断的原发性中枢神经系统淋巴瘤诱导治疗的真实疗效和安全性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the medz-r regimen as induction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试验药/方案：甲氨蝶呤</a:t>
            </a:r>
          </a:p>
          <a:p>
            <a:pPr>
              <a:lnSpc>
                <a:spcPct val="103000"/>
              </a:lnSpc>
              <a:spcAft>
                <a:spcPts val="300"/>
              </a:spcAft>
              <a:defRPr sz="800">
                <a:solidFill>
                  <a:srgbClr val="21242A"/>
                </a:solidFill>
                <a:latin typeface="Microsoft YaHei"/>
              </a:defRPr>
            </a:pPr>
            <a:r>
              <a:t>泽布替尼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93.0%</a:t>
            </a:r>
          </a:p>
          <a:p>
            <a:pPr>
              <a:lnSpc>
                <a:spcPct val="103000"/>
              </a:lnSpc>
              <a:spcAft>
                <a:spcPts val="300"/>
              </a:spcAft>
              <a:defRPr sz="800">
                <a:solidFill>
                  <a:srgbClr val="21242A"/>
                </a:solidFill>
                <a:latin typeface="Microsoft YaHei"/>
              </a:defRPr>
            </a:pPr>
            <a:r>
              <a:t>完全缓解率(CR): 91.2%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试验药/方案：甲氨蝶呤、泽布替尼、依托泊苷、聚乙二醇化多柔比星脂质体</a:t>
            </a:r>
          </a:p>
          <a:p>
            <a:pPr>
              <a:lnSpc>
                <a:spcPct val="103000"/>
              </a:lnSpc>
              <a:spcAft>
                <a:spcPts val="300"/>
              </a:spcAft>
              <a:defRPr sz="810">
                <a:solidFill>
                  <a:srgbClr val="21242A"/>
                </a:solidFill>
                <a:latin typeface="Microsoft YaHei"/>
              </a:defRPr>
            </a:pPr>
            <a:r>
              <a:t>靶点：DHFR、BTK、TOP2、CD20</a:t>
            </a:r>
          </a:p>
          <a:p>
            <a:pPr>
              <a:lnSpc>
                <a:spcPct val="103000"/>
              </a:lnSpc>
              <a:spcAft>
                <a:spcPts val="300"/>
              </a:spcAft>
              <a:defRPr sz="810">
                <a:solidFill>
                  <a:srgbClr val="21242A"/>
                </a:solidFill>
                <a:latin typeface="Microsoft YaHei"/>
              </a:defRPr>
            </a:pPr>
            <a:r>
              <a:t>药物/技术类别：化药、单特异性抗体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medz-r方案作为新诊断的原发性中枢神经系统淋巴瘤诱导治疗的真实疗效和安全性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the medz-r regimen as induction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central nervous system lymphoma (PCNSL) is a rare and aggressive non-Hodgkin lymphoma with a poorer prognosis compared to systemic diffuse l</a:t>
            </a:r>
          </a:p>
          <a:p>
            <a:pPr>
              <a:lnSpc>
                <a:spcPct val="103000"/>
              </a:lnSpc>
              <a:spcAft>
                <a:spcPts val="300"/>
              </a:spcAft>
              <a:defRPr sz="570">
                <a:solidFill>
                  <a:srgbClr val="21242A"/>
                </a:solidFill>
                <a:latin typeface="Microsoft YaHei"/>
              </a:defRPr>
            </a:pPr>
            <a:r>
              <a:t>arge B-cell lymphoma.</a:t>
            </a:r>
          </a:p>
          <a:p>
            <a:pPr>
              <a:lnSpc>
                <a:spcPct val="103000"/>
              </a:lnSpc>
              <a:spcAft>
                <a:spcPts val="300"/>
              </a:spcAft>
              <a:defRPr sz="570">
                <a:solidFill>
                  <a:srgbClr val="21242A"/>
                </a:solidFill>
                <a:latin typeface="Microsoft YaHei"/>
              </a:defRPr>
            </a:pPr>
            <a:r>
              <a:t>High-dose methotrexate-based combinations remain the cornerstone of induction therapy, but outcomes are still suboptimal.</a:t>
            </a:r>
          </a:p>
          <a:p>
            <a:pPr>
              <a:lnSpc>
                <a:spcPct val="103000"/>
              </a:lnSpc>
              <a:spcAft>
                <a:spcPts val="300"/>
              </a:spcAft>
              <a:defRPr sz="570">
                <a:solidFill>
                  <a:srgbClr val="21242A"/>
                </a:solidFill>
                <a:latin typeface="Microsoft YaHei"/>
              </a:defRPr>
            </a:pPr>
            <a:r>
              <a:t>Our previous phase II trial reported a complete response (CR) rate exceeding 90% with the MEDZ-R regimen in newly diagnosed PCNSL patients under 70.</a:t>
            </a:r>
          </a:p>
          <a:p>
            <a:pPr>
              <a:lnSpc>
                <a:spcPct val="103000"/>
              </a:lnSpc>
              <a:spcAft>
                <a:spcPts val="300"/>
              </a:spcAft>
              <a:defRPr sz="570">
                <a:solidFill>
                  <a:srgbClr val="21242A"/>
                </a:solidFill>
                <a:latin typeface="Microsoft YaHei"/>
              </a:defRPr>
            </a:pPr>
            <a:r>
              <a:t>Aims: To evaluate the real-world efficacy and safety of the MEDZ-R regimen as induction therapy in newly diagnosed PCNSL.</a:t>
            </a:r>
          </a:p>
          <a:p>
            <a:pPr>
              <a:lnSpc>
                <a:spcPct val="103000"/>
              </a:lnSpc>
              <a:spcAft>
                <a:spcPts val="300"/>
              </a:spcAft>
              <a:defRPr sz="570">
                <a:solidFill>
                  <a:srgbClr val="21242A"/>
                </a:solidFill>
                <a:latin typeface="Microsoft YaHei"/>
              </a:defRPr>
            </a:pPr>
            <a:r>
              <a:t>Methods: This multicenter, retrospective real-world study enrolled newly diagnosed PCNSL patients from five institutions.</a:t>
            </a:r>
          </a:p>
          <a:p>
            <a:pPr>
              <a:lnSpc>
                <a:spcPct val="103000"/>
              </a:lnSpc>
              <a:spcAft>
                <a:spcPts val="300"/>
              </a:spcAft>
              <a:defRPr sz="570">
                <a:solidFill>
                  <a:srgbClr val="21242A"/>
                </a:solidFill>
                <a:latin typeface="Microsoft YaHei"/>
              </a:defRPr>
            </a:pPr>
            <a:r>
              <a:t>Patients received 5-6 cycles of the MEDZ-R regimen: rituximab (375 mg/m2, day 0), methotrexate (3.5 g/m2, day 1), etoposide (50 mg/m2, days 3–5), liposomal doxo</a:t>
            </a:r>
          </a:p>
          <a:p>
            <a:pPr>
              <a:lnSpc>
                <a:spcPct val="103000"/>
              </a:lnSpc>
              <a:spcAft>
                <a:spcPts val="300"/>
              </a:spcAft>
              <a:defRPr sz="570">
                <a:solidFill>
                  <a:srgbClr val="21242A"/>
                </a:solidFill>
                <a:latin typeface="Microsoft YaHei"/>
              </a:defRPr>
            </a:pPr>
            <a:r>
              <a:t>rubicin (30 mg/m2, day 3), and zanubrutinib (160mg BID, days 3–21) every 3 weeks.</a:t>
            </a:r>
          </a:p>
          <a:p>
            <a:pPr>
              <a:lnSpc>
                <a:spcPct val="103000"/>
              </a:lnSpc>
              <a:spcAft>
                <a:spcPts val="300"/>
              </a:spcAft>
              <a:defRPr sz="570">
                <a:solidFill>
                  <a:srgbClr val="21242A"/>
                </a:solidFill>
                <a:latin typeface="Microsoft YaHei"/>
              </a:defRPr>
            </a:pPr>
            <a:r>
              <a:t>Consolidation (reduced-dose radiotherapy or autologous stem cell transplantation) or maintenance was recommended for patients achieving CR.</a:t>
            </a:r>
          </a:p>
          <a:p>
            <a:pPr>
              <a:lnSpc>
                <a:spcPct val="103000"/>
              </a:lnSpc>
              <a:spcAft>
                <a:spcPts val="300"/>
              </a:spcAft>
              <a:defRPr sz="570">
                <a:solidFill>
                  <a:srgbClr val="21242A"/>
                </a:solidFill>
                <a:latin typeface="Microsoft YaHei"/>
              </a:defRPr>
            </a:pPr>
            <a:r>
              <a:t>Radiological assessment was performed every two cycles during induction. Primary endpoint was CR rate.</a:t>
            </a:r>
          </a:p>
          <a:p>
            <a:pPr>
              <a:lnSpc>
                <a:spcPct val="103000"/>
              </a:lnSpc>
              <a:spcAft>
                <a:spcPts val="300"/>
              </a:spcAft>
              <a:defRPr sz="570">
                <a:solidFill>
                  <a:srgbClr val="21242A"/>
                </a:solidFill>
                <a:latin typeface="Microsoft YaHei"/>
              </a:defRPr>
            </a:pPr>
            <a:r>
              <a:t>Secondary endpoints included objective response rate (ORR), PFS, OS, and safety (CTCAE v5.0).</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real-world study, the MEDZ-R regimen demonstrated high efficacy (CR &gt;90%) and a manageable safety profile as induction for newly diagnosed PCNSL.</a:t>
            </a:r>
          </a:p>
          <a:p>
            <a:pPr>
              <a:lnSpc>
                <a:spcPct val="103000"/>
              </a:lnSpc>
              <a:spcAft>
                <a:spcPts val="300"/>
              </a:spcAft>
              <a:defRPr sz="590">
                <a:solidFill>
                  <a:srgbClr val="21242A"/>
                </a:solidFill>
                <a:latin typeface="Microsoft YaHei"/>
              </a:defRPr>
            </a:pPr>
            <a:r>
              <a:t>These findings support its potential as a promising treatment option.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07115">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07115">
                <a:tc>
                  <a:txBody>
                    <a:bodyPr wrap="square" lIns="36576" rIns="36576" tIns="18288" bIns="18288"/>
                    <a:lstStyle/>
                    <a:p>
                      <a:r>
                        <a:rPr sz="540" b="1">
                          <a:solidFill>
                            <a:srgbClr val="21242A"/>
                          </a:solidFill>
                          <a:latin typeface="Microsoft YaHei"/>
                        </a:rPr>
                        <a:t>客观缓解率(ORR)</a:t>
                      </a:r>
                    </a:p>
                  </a:txBody>
                  <a:tcPr>
                    <a:solidFill>
                      <a:srgbClr val="F6F8FB"/>
                    </a:solidFill>
                  </a:tcPr>
                </a:tc>
                <a:tc>
                  <a:txBody>
                    <a:bodyPr wrap="square" lIns="36576" rIns="36576" tIns="18288" bIns="18288"/>
                    <a:lstStyle/>
                    <a:p>
                      <a:r>
                        <a:rPr sz="540" b="0">
                          <a:solidFill>
                            <a:srgbClr val="21242A"/>
                          </a:solidFill>
                          <a:latin typeface="Microsoft YaHei"/>
                        </a:rPr>
                        <a:t>93.0%</a:t>
                      </a:r>
                    </a:p>
                  </a:txBody>
                  <a:tcPr>
                    <a:solidFill>
                      <a:srgbClr val="F6F8FB"/>
                    </a:solidFill>
                  </a:tcPr>
                </a:tc>
              </a:tr>
              <a:tr h="107115">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91.2%</a:t>
                      </a:r>
                    </a:p>
                  </a:txBody>
                  <a:tcPr>
                    <a:solidFill>
                      <a:srgbClr val="FFFFFF"/>
                    </a:solidFill>
                  </a:tcPr>
                </a:tc>
              </a:tr>
              <a:tr h="107115">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中位随访22.0个月</a:t>
                      </a:r>
                    </a:p>
                  </a:txBody>
                  <a:tcPr>
                    <a:solidFill>
                      <a:srgbClr val="F6F8FB"/>
                    </a:solidFill>
                  </a:tcPr>
                </a:tc>
              </a:tr>
              <a:tr h="107115">
                <a:tc>
                  <a:txBody>
                    <a:bodyPr wrap="square" lIns="36576" rIns="36576" tIns="18288" bIns="18288"/>
                    <a:lstStyle/>
                    <a:p>
                      <a:r>
                        <a:rPr sz="540" b="1">
                          <a:solidFill>
                            <a:srgbClr val="21242A"/>
                          </a:solidFill>
                          <a:latin typeface="Microsoft YaHei"/>
                        </a:rPr>
                        <a:t>1年无进展生存率(PFS)</a:t>
                      </a:r>
                    </a:p>
                  </a:txBody>
                  <a:tcPr>
                    <a:solidFill>
                      <a:srgbClr val="FFFFFF"/>
                    </a:solidFill>
                  </a:tcPr>
                </a:tc>
                <a:tc>
                  <a:txBody>
                    <a:bodyPr wrap="square" lIns="36576" rIns="36576" tIns="18288" bIns="18288"/>
                    <a:lstStyle/>
                    <a:p>
                      <a:r>
                        <a:rPr sz="540" b="0">
                          <a:solidFill>
                            <a:srgbClr val="21242A"/>
                          </a:solidFill>
                          <a:latin typeface="Microsoft YaHei"/>
                        </a:rPr>
                        <a:t>84.7%</a:t>
                      </a:r>
                    </a:p>
                  </a:txBody>
                  <a:tcPr>
                    <a:solidFill>
                      <a:srgbClr val="FFFFFF"/>
                    </a:solidFill>
                  </a:tcPr>
                </a:tc>
              </a:tr>
              <a:tr h="107115">
                <a:tc>
                  <a:txBody>
                    <a:bodyPr wrap="square" lIns="36576" rIns="36576" tIns="18288" bIns="18288"/>
                    <a:lstStyle/>
                    <a:p>
                      <a:r>
                        <a:rPr sz="540" b="1">
                          <a:solidFill>
                            <a:srgbClr val="21242A"/>
                          </a:solidFill>
                          <a:latin typeface="Microsoft YaHei"/>
                        </a:rPr>
                        <a:t>1年总生存率(OS)</a:t>
                      </a:r>
                    </a:p>
                  </a:txBody>
                  <a:tcPr>
                    <a:solidFill>
                      <a:srgbClr val="F6F8FB"/>
                    </a:solidFill>
                  </a:tcPr>
                </a:tc>
                <a:tc>
                  <a:txBody>
                    <a:bodyPr wrap="square" lIns="36576" rIns="36576" tIns="18288" bIns="18288"/>
                    <a:lstStyle/>
                    <a:p>
                      <a:r>
                        <a:rPr sz="540" b="0">
                          <a:solidFill>
                            <a:srgbClr val="21242A"/>
                          </a:solidFill>
                          <a:latin typeface="Microsoft YaHei"/>
                        </a:rPr>
                        <a:t>87.5%</a:t>
                      </a:r>
                    </a:p>
                  </a:txBody>
                  <a:tcPr>
                    <a:solidFill>
                      <a:srgbClr val="F6F8FB"/>
                    </a:solidFill>
                  </a:tcPr>
                </a:tc>
              </a:tr>
              <a:tr h="107115">
                <a:tc>
                  <a:txBody>
                    <a:bodyPr wrap="square" lIns="36576" rIns="36576" tIns="18288" bIns="18288"/>
                    <a:lstStyle/>
                    <a:p>
                      <a:r>
                        <a:rPr sz="540" b="1">
                          <a:solidFill>
                            <a:srgbClr val="21242A"/>
                          </a:solidFill>
                          <a:latin typeface="Microsoft YaHei"/>
                        </a:rPr>
                        <a:t>接受巩固/维持治疗者1年PFS</a:t>
                      </a:r>
                    </a:p>
                  </a:txBody>
                  <a:tcPr>
                    <a:solidFill>
                      <a:srgbClr val="FFFFFF"/>
                    </a:solidFill>
                  </a:tcPr>
                </a:tc>
                <a:tc>
                  <a:txBody>
                    <a:bodyPr wrap="square" lIns="36576" rIns="36576" tIns="18288" bIns="18288"/>
                    <a:lstStyle/>
                    <a:p>
                      <a:r>
                        <a:rPr sz="540" b="0">
                          <a:solidFill>
                            <a:srgbClr val="21242A"/>
                          </a:solidFill>
                          <a:latin typeface="Microsoft YaHei"/>
                        </a:rPr>
                        <a:t>100%</a:t>
                      </a:r>
                    </a:p>
                  </a:txBody>
                  <a:tcPr>
                    <a:solidFill>
                      <a:srgbClr val="FFFFFF"/>
                    </a:solidFill>
                  </a:tcPr>
                </a:tc>
              </a:tr>
              <a:tr h="107115">
                <a:tc>
                  <a:txBody>
                    <a:bodyPr wrap="square" lIns="36576" rIns="36576" tIns="18288" bIns="18288"/>
                    <a:lstStyle/>
                    <a:p>
                      <a:r>
                        <a:rPr sz="540" b="1">
                          <a:solidFill>
                            <a:srgbClr val="21242A"/>
                          </a:solidFill>
                          <a:latin typeface="Microsoft YaHei"/>
                        </a:rPr>
                        <a:t>未接受者</a:t>
                      </a:r>
                    </a:p>
                  </a:txBody>
                  <a:tcPr>
                    <a:solidFill>
                      <a:srgbClr val="F6F8FB"/>
                    </a:solidFill>
                  </a:tcPr>
                </a:tc>
                <a:tc>
                  <a:txBody>
                    <a:bodyPr wrap="square" lIns="36576" rIns="36576" tIns="18288" bIns="18288"/>
                    <a:lstStyle/>
                    <a:p>
                      <a:r>
                        <a:rPr sz="540" b="0">
                          <a:solidFill>
                            <a:srgbClr val="21242A"/>
                          </a:solidFill>
                          <a:latin typeface="Microsoft YaHei"/>
                        </a:rPr>
                        <a:t>80.0% (p=0.0033)</a:t>
                      </a:r>
                    </a:p>
                  </a:txBody>
                  <a:tcPr>
                    <a:solidFill>
                      <a:srgbClr val="F6F8FB"/>
                    </a:solidFill>
                  </a:tcPr>
                </a:tc>
              </a:tr>
              <a:tr h="107115">
                <a:tc>
                  <a:txBody>
                    <a:bodyPr wrap="square" lIns="36576" rIns="36576" tIns="18288" bIns="18288"/>
                    <a:lstStyle/>
                    <a:p>
                      <a:r>
                        <a:rPr sz="540" b="1">
                          <a:solidFill>
                            <a:srgbClr val="21242A"/>
                          </a:solidFill>
                          <a:latin typeface="Microsoft YaHei"/>
                        </a:rPr>
                        <a:t>治疗相关不良事件(TRAEs)</a:t>
                      </a:r>
                    </a:p>
                  </a:txBody>
                  <a:tcPr>
                    <a:solidFill>
                      <a:srgbClr val="FFFFFF"/>
                    </a:solidFill>
                  </a:tcPr>
                </a:tc>
                <a:tc>
                  <a:txBody>
                    <a:bodyPr wrap="square" lIns="36576" rIns="36576" tIns="18288" bIns="18288"/>
                    <a:lstStyle/>
                    <a:p>
                      <a:r>
                        <a:rPr sz="540" b="0">
                          <a:solidFill>
                            <a:srgbClr val="21242A"/>
                          </a:solidFill>
                          <a:latin typeface="Microsoft YaHei"/>
                        </a:rPr>
                        <a:t>77.9% (多为1-2级)</a:t>
                      </a:r>
                    </a:p>
                  </a:txBody>
                  <a:tcPr>
                    <a:solidFill>
                      <a:srgbClr val="FFFFFF"/>
                    </a:solidFill>
                  </a:tcPr>
                </a:tc>
              </a:tr>
              <a:tr h="107115">
                <a:tc>
                  <a:txBody>
                    <a:bodyPr wrap="square" lIns="36576" rIns="36576" tIns="18288" bIns="18288"/>
                    <a:lstStyle/>
                    <a:p>
                      <a:r>
                        <a:rPr sz="540" b="1">
                          <a:solidFill>
                            <a:srgbClr val="21242A"/>
                          </a:solidFill>
                          <a:latin typeface="Microsoft YaHei"/>
                        </a:rPr>
                        <a:t>3-4级血液学毒性</a:t>
                      </a:r>
                    </a:p>
                  </a:txBody>
                  <a:tcPr>
                    <a:solidFill>
                      <a:srgbClr val="F6F8FB"/>
                    </a:solidFill>
                  </a:tcPr>
                </a:tc>
                <a:tc>
                  <a:txBody>
                    <a:bodyPr wrap="square" lIns="36576" rIns="36576" tIns="18288" bIns="18288"/>
                    <a:lstStyle/>
                    <a:p>
                      <a:r>
                        <a:rPr sz="540" b="0">
                          <a:solidFill>
                            <a:srgbClr val="21242A"/>
                          </a:solidFill>
                          <a:latin typeface="Microsoft YaHei"/>
                        </a:rPr>
                        <a:t>白细胞减少 23.7%, 血小板减少 15.3%</a:t>
                      </a:r>
                    </a:p>
                  </a:txBody>
                  <a:tcPr>
                    <a:solidFill>
                      <a:srgbClr val="F6F8FB"/>
                    </a:solidFill>
                  </a:tcPr>
                </a:tc>
              </a:tr>
              <a:tr h="107115">
                <a:tc>
                  <a:txBody>
                    <a:bodyPr wrap="square" lIns="36576" rIns="36576" tIns="18288" bIns="18288"/>
                    <a:lstStyle/>
                    <a:p>
                      <a:r>
                        <a:rPr sz="540" b="1">
                          <a:solidFill>
                            <a:srgbClr val="21242A"/>
                          </a:solidFill>
                          <a:latin typeface="Microsoft YaHei"/>
                        </a:rPr>
                        <a:t>肝毒性</a:t>
                      </a:r>
                    </a:p>
                  </a:txBody>
                  <a:tcPr>
                    <a:solidFill>
                      <a:srgbClr val="FFFFFF"/>
                    </a:solidFill>
                  </a:tcPr>
                </a:tc>
                <a:tc>
                  <a:txBody>
                    <a:bodyPr wrap="square" lIns="36576" rIns="36576" tIns="18288" bIns="18288"/>
                    <a:lstStyle/>
                    <a:p>
                      <a:r>
                        <a:rPr sz="540" b="0">
                          <a:solidFill>
                            <a:srgbClr val="21242A"/>
                          </a:solidFill>
                          <a:latin typeface="Microsoft YaHei"/>
                        </a:rPr>
                        <a:t>23.7% (1-2级)</a:t>
                      </a:r>
                    </a:p>
                  </a:txBody>
                  <a:tcPr>
                    <a:solidFill>
                      <a:srgbClr val="FFFFFF"/>
                    </a:solidFill>
                  </a:tcPr>
                </a:tc>
              </a:tr>
              <a:tr h="107115">
                <a:tc>
                  <a:txBody>
                    <a:bodyPr wrap="square" lIns="36576" rIns="36576" tIns="18288" bIns="18288"/>
                    <a:lstStyle/>
                    <a:p>
                      <a:r>
                        <a:rPr sz="540" b="1">
                          <a:solidFill>
                            <a:srgbClr val="21242A"/>
                          </a:solidFill>
                          <a:latin typeface="Microsoft YaHei"/>
                        </a:rPr>
                        <a:t>肾毒性</a:t>
                      </a:r>
                    </a:p>
                  </a:txBody>
                  <a:tcPr>
                    <a:solidFill>
                      <a:srgbClr val="F6F8FB"/>
                    </a:solidFill>
                  </a:tcPr>
                </a:tc>
                <a:tc>
                  <a:txBody>
                    <a:bodyPr wrap="square" lIns="36576" rIns="36576" tIns="18288" bIns="18288"/>
                    <a:lstStyle/>
                    <a:p>
                      <a:r>
                        <a:rPr sz="540" b="0">
                          <a:solidFill>
                            <a:srgbClr val="21242A"/>
                          </a:solidFill>
                          <a:latin typeface="Microsoft YaHei"/>
                        </a:rPr>
                        <a:t>23.7% (1-2级)</a:t>
                      </a:r>
                    </a:p>
                  </a:txBody>
                  <a:tcPr>
                    <a:solidFill>
                      <a:srgbClr val="F6F8FB"/>
                    </a:solidFill>
                  </a:tcPr>
                </a:tc>
              </a:tr>
              <a:tr h="107115">
                <a:tc>
                  <a:txBody>
                    <a:bodyPr wrap="square" lIns="36576" rIns="36576" tIns="18288" bIns="18288"/>
                    <a:lstStyle/>
                    <a:p>
                      <a:r>
                        <a:rPr sz="540" b="1">
                          <a:solidFill>
                            <a:srgbClr val="21242A"/>
                          </a:solidFill>
                          <a:latin typeface="Microsoft YaHei"/>
                        </a:rPr>
                        <a:t>3-4级感染</a:t>
                      </a:r>
                    </a:p>
                  </a:txBody>
                  <a:tcPr>
                    <a:solidFill>
                      <a:srgbClr val="FFFFFF"/>
                    </a:solidFill>
                  </a:tcPr>
                </a:tc>
                <a:tc>
                  <a:txBody>
                    <a:bodyPr wrap="square" lIns="36576" rIns="36576" tIns="18288" bIns="18288"/>
                    <a:lstStyle/>
                    <a:p>
                      <a:r>
                        <a:rPr sz="540" b="0">
                          <a:solidFill>
                            <a:srgbClr val="21242A"/>
                          </a:solidFill>
                          <a:latin typeface="Microsoft YaHei"/>
                        </a:rPr>
                        <a:t>5.1%</a:t>
                      </a:r>
                    </a:p>
                  </a:txBody>
                  <a:tcPr>
                    <a:solidFill>
                      <a:srgbClr val="FFFFFF"/>
                    </a:solidFill>
                  </a:tcPr>
                </a:tc>
              </a:tr>
              <a:tr h="107121">
                <a:tc>
                  <a:txBody>
                    <a:bodyPr wrap="square" lIns="36576" rIns="36576" tIns="18288" bIns="18288"/>
                    <a:lstStyle/>
                    <a:p>
                      <a:r>
                        <a:rPr sz="540" b="1">
                          <a:solidFill>
                            <a:srgbClr val="21242A"/>
                          </a:solidFill>
                          <a:latin typeface="Microsoft YaHei"/>
                        </a:rPr>
                        <a:t>出血事件</a:t>
                      </a:r>
                    </a:p>
                  </a:txBody>
                  <a:tcPr>
                    <a:solidFill>
                      <a:srgbClr val="F6F8FB"/>
                    </a:solidFill>
                  </a:tcPr>
                </a:tc>
                <a:tc>
                  <a:txBody>
                    <a:bodyPr wrap="square" lIns="36576" rIns="36576" tIns="18288" bIns="18288"/>
                    <a:lstStyle/>
                    <a:p>
                      <a:r>
                        <a:rPr sz="540" b="0">
                          <a:solidFill>
                            <a:srgbClr val="21242A"/>
                          </a:solidFill>
                          <a:latin typeface="Microsoft YaHei"/>
                        </a:rPr>
                        <a:t>3.4% (轻度)</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摘要号：PF1001</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大剂量化疗联合替莫唑胺治疗原发性中枢神经系统淋巴瘤患者12年总生存率的最新进展</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12 years update on overall survival in patients with primary central nervous...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N=40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试验药/方案：替莫唑胺</a:t>
            </a:r>
          </a:p>
          <a:p>
            <a:pPr>
              <a:lnSpc>
                <a:spcPct val="103000"/>
              </a:lnSpc>
              <a:spcAft>
                <a:spcPts val="300"/>
              </a:spcAft>
              <a:defRPr sz="800">
                <a:solidFill>
                  <a:srgbClr val="21242A"/>
                </a:solidFill>
                <a:latin typeface="Microsoft YaHei"/>
              </a:defRPr>
            </a:pPr>
            <a:r>
              <a:t>阿糖胞苷</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完全缓解率：85%（34/40）</a:t>
            </a:r>
          </a:p>
          <a:p>
            <a:pPr>
              <a:lnSpc>
                <a:spcPct val="103000"/>
              </a:lnSpc>
              <a:spcAft>
                <a:spcPts val="300"/>
              </a:spcAft>
              <a:defRPr sz="800">
                <a:solidFill>
                  <a:srgbClr val="21242A"/>
                </a:solidFill>
                <a:latin typeface="Microsoft YaHei"/>
              </a:defRPr>
            </a:pPr>
            <a:r>
              <a:t>部分缓解率：15%（6/40）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人数：40</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试验药/方案：替莫唑胺、阿糖胞苷、甲氨蝶呤</a:t>
            </a:r>
          </a:p>
          <a:p>
            <a:pPr>
              <a:lnSpc>
                <a:spcPct val="103000"/>
              </a:lnSpc>
              <a:spcAft>
                <a:spcPts val="300"/>
              </a:spcAft>
              <a:defRPr sz="810">
                <a:solidFill>
                  <a:srgbClr val="21242A"/>
                </a:solidFill>
                <a:latin typeface="Microsoft YaHei"/>
              </a:defRPr>
            </a:pPr>
            <a:r>
              <a:t>靶点：DNA、DNA Pol、DHFR</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大剂量化疗联合替莫唑胺治疗原发性中枢神经系统淋巴瘤患者12年总生存率的最新进展</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12 years update on overall survival in patients with primary central nervous...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Treatment of primary central nervous system lymphoma (PCNSL) is associated with low response rates and poor survival using conventional radio and ch</a:t>
            </a:r>
          </a:p>
          <a:p>
            <a:pPr>
              <a:lnSpc>
                <a:spcPct val="103000"/>
              </a:lnSpc>
              <a:spcAft>
                <a:spcPts val="300"/>
              </a:spcAft>
              <a:defRPr sz="570">
                <a:solidFill>
                  <a:srgbClr val="21242A"/>
                </a:solidFill>
                <a:latin typeface="Microsoft YaHei"/>
              </a:defRPr>
            </a:pPr>
            <a:r>
              <a:t>emotherapy.</a:t>
            </a:r>
          </a:p>
          <a:p>
            <a:pPr>
              <a:lnSpc>
                <a:spcPct val="103000"/>
              </a:lnSpc>
              <a:spcAft>
                <a:spcPts val="300"/>
              </a:spcAft>
              <a:defRPr sz="570">
                <a:solidFill>
                  <a:srgbClr val="21242A"/>
                </a:solidFill>
                <a:latin typeface="Microsoft YaHei"/>
              </a:defRPr>
            </a:pPr>
            <a:r>
              <a:t>Due to its favorable toxicity profile, temozolomide has emerged as a new option for treatment of PCNSL in young patients.</a:t>
            </a:r>
          </a:p>
          <a:p>
            <a:pPr>
              <a:lnSpc>
                <a:spcPct val="103000"/>
              </a:lnSpc>
              <a:spcAft>
                <a:spcPts val="300"/>
              </a:spcAft>
              <a:defRPr sz="570">
                <a:solidFill>
                  <a:srgbClr val="21242A"/>
                </a:solidFill>
                <a:latin typeface="Microsoft YaHei"/>
              </a:defRPr>
            </a:pPr>
            <a:r>
              <a:t>In this study, we report a series of PCNSL patients treated with an innovative regimen combining high dose of both cytarabine and methotrexate with temozolomide</a:t>
            </a:r>
          </a:p>
          <a:p>
            <a:pPr>
              <a:lnSpc>
                <a:spcPct val="103000"/>
              </a:lnSpc>
              <a:spcAft>
                <a:spcPts val="300"/>
              </a:spcAft>
              <a:defRPr sz="570">
                <a:solidFill>
                  <a:srgbClr val="21242A"/>
                </a:solidFill>
                <a:latin typeface="Microsoft YaHei"/>
              </a:defRPr>
            </a:pPr>
            <a:r>
              <a:t> without radiotherapy or intrathecal chemotherapy.</a:t>
            </a:r>
          </a:p>
          <a:p>
            <a:pPr>
              <a:lnSpc>
                <a:spcPct val="103000"/>
              </a:lnSpc>
              <a:spcAft>
                <a:spcPts val="300"/>
              </a:spcAft>
              <a:defRPr sz="570">
                <a:solidFill>
                  <a:srgbClr val="21242A"/>
                </a:solidFill>
                <a:latin typeface="Microsoft YaHei"/>
              </a:defRPr>
            </a:pPr>
            <a:r>
              <a:t>Aims: It is to evaluate the combination of Temozolomide, high dose of both Cytarabine and Methotrexate without radiotherapy.</a:t>
            </a:r>
          </a:p>
          <a:p>
            <a:pPr>
              <a:lnSpc>
                <a:spcPct val="103000"/>
              </a:lnSpc>
              <a:spcAft>
                <a:spcPts val="300"/>
              </a:spcAft>
              <a:defRPr sz="570">
                <a:solidFill>
                  <a:srgbClr val="21242A"/>
                </a:solidFill>
                <a:latin typeface="Microsoft YaHei"/>
              </a:defRPr>
            </a:pPr>
            <a:r>
              <a:t>This study evaluates the overall survival after 12 years of publication of our first report.</a:t>
            </a:r>
          </a:p>
          <a:p>
            <a:pPr>
              <a:lnSpc>
                <a:spcPct val="103000"/>
              </a:lnSpc>
              <a:spcAft>
                <a:spcPts val="300"/>
              </a:spcAft>
              <a:defRPr sz="570">
                <a:solidFill>
                  <a:srgbClr val="21242A"/>
                </a:solidFill>
                <a:latin typeface="Microsoft YaHei"/>
              </a:defRPr>
            </a:pPr>
            <a:r>
              <a:t>Methods: The study was performed at that time at Almwassat charity hospital and al Bairouni university cancer center.</a:t>
            </a:r>
          </a:p>
          <a:p>
            <a:pPr>
              <a:lnSpc>
                <a:spcPct val="103000"/>
              </a:lnSpc>
              <a:spcAft>
                <a:spcPts val="300"/>
              </a:spcAft>
              <a:defRPr sz="570">
                <a:solidFill>
                  <a:srgbClr val="21242A"/>
                </a:solidFill>
                <a:latin typeface="Microsoft YaHei"/>
              </a:defRPr>
            </a:pPr>
            <a:r>
              <a:t>Forty patients with histologically confirmed PCNSL median age 52 years (range 20-65) years were included.</a:t>
            </a:r>
          </a:p>
          <a:p>
            <a:pPr>
              <a:lnSpc>
                <a:spcPct val="103000"/>
              </a:lnSpc>
              <a:spcAft>
                <a:spcPts val="300"/>
              </a:spcAft>
              <a:defRPr sz="570">
                <a:solidFill>
                  <a:srgbClr val="21242A"/>
                </a:solidFill>
                <a:latin typeface="Microsoft YaHei"/>
              </a:defRPr>
            </a:pPr>
            <a:r>
              <a:t>Biopsies were cultured, and a karyotyping was made in 32 patients.</a:t>
            </a:r>
          </a:p>
          <a:p>
            <a:pPr>
              <a:lnSpc>
                <a:spcPct val="103000"/>
              </a:lnSpc>
              <a:spcAft>
                <a:spcPts val="300"/>
              </a:spcAft>
              <a:defRPr sz="570">
                <a:solidFill>
                  <a:srgbClr val="21242A"/>
                </a:solidFill>
                <a:latin typeface="Microsoft YaHei"/>
              </a:defRPr>
            </a:pPr>
            <a:r>
              <a:t>An induction chemotherapy was started, and methotrexate 3 gr/m² over 12 h on day 1, cytarabine 3 gr/m² every 12 h on day 1 and temozolomide 150 mg/m² from day 2</a:t>
            </a:r>
          </a:p>
          <a:p>
            <a:pPr>
              <a:lnSpc>
                <a:spcPct val="103000"/>
              </a:lnSpc>
              <a:spcAft>
                <a:spcPts val="300"/>
              </a:spcAft>
              <a:defRPr sz="570">
                <a:solidFill>
                  <a:srgbClr val="21242A"/>
                </a:solidFill>
                <a:latin typeface="Microsoft YaHei"/>
              </a:defRPr>
            </a:pPr>
            <a:r>
              <a:t> through day 6 with a total of 6 cycles were given monthly.</a:t>
            </a:r>
          </a:p>
          <a:p>
            <a:pPr>
              <a:lnSpc>
                <a:spcPct val="103000"/>
              </a:lnSpc>
              <a:spcAft>
                <a:spcPts val="300"/>
              </a:spcAft>
              <a:defRPr sz="570">
                <a:solidFill>
                  <a:srgbClr val="21242A"/>
                </a:solidFill>
                <a:latin typeface="Microsoft YaHei"/>
              </a:defRPr>
            </a:pPr>
            <a:r>
              <a:t>Patients were evaluated every 3 months by magnetic resonance (MRI) with contrast.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After the publication of our first report in 2013, treatment of PCNSL with high dose chemotherapy and Temozolomide seems to give a prolonged overall survival ra</a:t>
            </a:r>
          </a:p>
          <a:p>
            <a:pPr>
              <a:lnSpc>
                <a:spcPct val="103000"/>
              </a:lnSpc>
              <a:spcAft>
                <a:spcPts val="300"/>
              </a:spcAft>
              <a:defRPr sz="590">
                <a:solidFill>
                  <a:srgbClr val="21242A"/>
                </a:solidFill>
                <a:latin typeface="Microsoft YaHei"/>
              </a:defRPr>
            </a:pPr>
            <a:r>
              <a:t>te compared with other studies with minimal long-term toxicity.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完全缓解率</a:t>
                      </a:r>
                    </a:p>
                  </a:txBody>
                  <a:tcPr>
                    <a:solidFill>
                      <a:srgbClr val="F6F8FB"/>
                    </a:solidFill>
                  </a:tcPr>
                </a:tc>
                <a:tc>
                  <a:txBody>
                    <a:bodyPr wrap="square" lIns="36576" rIns="36576" tIns="18288" bIns="18288"/>
                    <a:lstStyle/>
                    <a:p>
                      <a:r>
                        <a:rPr sz="540" b="0">
                          <a:solidFill>
                            <a:srgbClr val="21242A"/>
                          </a:solidFill>
                          <a:latin typeface="Microsoft YaHei"/>
                        </a:rPr>
                        <a:t>85%（34/40）</a:t>
                      </a:r>
                    </a:p>
                  </a:txBody>
                  <a:tcPr>
                    <a:solidFill>
                      <a:srgbClr val="F6F8FB"/>
                    </a:solidFill>
                  </a:tcPr>
                </a:tc>
              </a:tr>
              <a:tr h="166624">
                <a:tc>
                  <a:txBody>
                    <a:bodyPr wrap="square" lIns="36576" rIns="36576" tIns="18288" bIns="18288"/>
                    <a:lstStyle/>
                    <a:p>
                      <a:r>
                        <a:rPr sz="540" b="1">
                          <a:solidFill>
                            <a:srgbClr val="21242A"/>
                          </a:solidFill>
                          <a:latin typeface="Microsoft YaHei"/>
                        </a:rPr>
                        <a:t>部分缓解率</a:t>
                      </a:r>
                    </a:p>
                  </a:txBody>
                  <a:tcPr>
                    <a:solidFill>
                      <a:srgbClr val="FFFFFF"/>
                    </a:solidFill>
                  </a:tcPr>
                </a:tc>
                <a:tc>
                  <a:txBody>
                    <a:bodyPr wrap="square" lIns="36576" rIns="36576" tIns="18288" bIns="18288"/>
                    <a:lstStyle/>
                    <a:p>
                      <a:r>
                        <a:rPr sz="540" b="0">
                          <a:solidFill>
                            <a:srgbClr val="21242A"/>
                          </a:solidFill>
                          <a:latin typeface="Microsoft YaHei"/>
                        </a:rPr>
                        <a:t>15%（6/40）</a:t>
                      </a:r>
                    </a:p>
                  </a:txBody>
                  <a:tcPr>
                    <a:solidFill>
                      <a:srgbClr val="FFFFFF"/>
                    </a:solidFill>
                  </a:tcPr>
                </a:tc>
              </a:tr>
              <a:tr h="166624">
                <a:tc>
                  <a:txBody>
                    <a:bodyPr wrap="square" lIns="36576" rIns="36576" tIns="18288" bIns="18288"/>
                    <a:lstStyle/>
                    <a:p>
                      <a:r>
                        <a:rPr sz="540" b="1">
                          <a:solidFill>
                            <a:srgbClr val="21242A"/>
                          </a:solidFill>
                          <a:latin typeface="Microsoft YaHei"/>
                        </a:rPr>
                        <a:t>疾病进展率</a:t>
                      </a:r>
                    </a:p>
                  </a:txBody>
                  <a:tcPr>
                    <a:solidFill>
                      <a:srgbClr val="F6F8FB"/>
                    </a:solidFill>
                  </a:tcPr>
                </a:tc>
                <a:tc>
                  <a:txBody>
                    <a:bodyPr wrap="square" lIns="36576" rIns="36576" tIns="18288" bIns="18288"/>
                    <a:lstStyle/>
                    <a:p>
                      <a:r>
                        <a:rPr sz="540" b="0">
                          <a:solidFill>
                            <a:srgbClr val="21242A"/>
                          </a:solidFill>
                          <a:latin typeface="Microsoft YaHei"/>
                        </a:rPr>
                        <a:t>20%（8/40）</a:t>
                      </a:r>
                    </a:p>
                  </a:txBody>
                  <a:tcPr>
                    <a:solidFill>
                      <a:srgbClr val="F6F8FB"/>
                    </a:solidFill>
                  </a:tcPr>
                </a:tc>
              </a:tr>
              <a:tr h="166624">
                <a:tc>
                  <a:txBody>
                    <a:bodyPr wrap="square" lIns="36576" rIns="36576" tIns="18288" bIns="18288"/>
                    <a:lstStyle/>
                    <a:p>
                      <a:r>
                        <a:rPr sz="540" b="1">
                          <a:solidFill>
                            <a:srgbClr val="21242A"/>
                          </a:solidFill>
                          <a:latin typeface="Microsoft YaHei"/>
                        </a:rPr>
                        <a:t>5年总生存率</a:t>
                      </a:r>
                    </a:p>
                  </a:txBody>
                  <a:tcPr>
                    <a:solidFill>
                      <a:srgbClr val="FFFFFF"/>
                    </a:solidFill>
                  </a:tcPr>
                </a:tc>
                <a:tc>
                  <a:txBody>
                    <a:bodyPr wrap="square" lIns="36576" rIns="36576" tIns="18288" bIns="18288"/>
                    <a:lstStyle/>
                    <a:p>
                      <a:r>
                        <a:rPr sz="540" b="0">
                          <a:solidFill>
                            <a:srgbClr val="21242A"/>
                          </a:solidFill>
                          <a:latin typeface="Microsoft YaHei"/>
                        </a:rPr>
                        <a:t>77%</a:t>
                      </a:r>
                    </a:p>
                  </a:txBody>
                  <a:tcPr>
                    <a:solidFill>
                      <a:srgbClr val="FFFFFF"/>
                    </a:solidFill>
                  </a:tcPr>
                </a:tc>
              </a:tr>
              <a:tr h="166624">
                <a:tc>
                  <a:txBody>
                    <a:bodyPr wrap="square" lIns="36576" rIns="36576" tIns="18288" bIns="18288"/>
                    <a:lstStyle/>
                    <a:p>
                      <a:r>
                        <a:rPr sz="540" b="1">
                          <a:solidFill>
                            <a:srgbClr val="21242A"/>
                          </a:solidFill>
                          <a:latin typeface="Microsoft YaHei"/>
                        </a:rPr>
                        <a:t>12年总生存率</a:t>
                      </a:r>
                    </a:p>
                  </a:txBody>
                  <a:tcPr>
                    <a:solidFill>
                      <a:srgbClr val="F6F8FB"/>
                    </a:solidFill>
                  </a:tcPr>
                </a:tc>
                <a:tc>
                  <a:txBody>
                    <a:bodyPr wrap="square" lIns="36576" rIns="36576" tIns="18288" bIns="18288"/>
                    <a:lstStyle/>
                    <a:p>
                      <a:r>
                        <a:rPr sz="540" b="0">
                          <a:solidFill>
                            <a:srgbClr val="21242A"/>
                          </a:solidFill>
                          <a:latin typeface="Microsoft YaHei"/>
                        </a:rPr>
                        <a:t>62.5%（95% CI: 57.8-66.3）</a:t>
                      </a:r>
                    </a:p>
                  </a:txBody>
                  <a:tcPr>
                    <a:solidFill>
                      <a:srgbClr val="F6F8FB"/>
                    </a:solidFill>
                  </a:tcPr>
                </a:tc>
              </a:tr>
              <a:tr h="166624">
                <a:tc>
                  <a:txBody>
                    <a:bodyPr wrap="square" lIns="36576" rIns="36576" tIns="18288" bIns="18288"/>
                    <a:lstStyle/>
                    <a:p>
                      <a:r>
                        <a:rPr sz="540" b="1">
                          <a:solidFill>
                            <a:srgbClr val="21242A"/>
                          </a:solidFill>
                          <a:latin typeface="Microsoft YaHei"/>
                        </a:rPr>
                        <a:t>II级肾毒性</a:t>
                      </a:r>
                    </a:p>
                  </a:txBody>
                  <a:tcPr>
                    <a:solidFill>
                      <a:srgbClr val="FFFFFF"/>
                    </a:solidFill>
                  </a:tcPr>
                </a:tc>
                <a:tc>
                  <a:txBody>
                    <a:bodyPr wrap="square" lIns="36576" rIns="36576" tIns="18288" bIns="18288"/>
                    <a:lstStyle/>
                    <a:p>
                      <a:r>
                        <a:rPr sz="540" b="0">
                          <a:solidFill>
                            <a:srgbClr val="21242A"/>
                          </a:solidFill>
                          <a:latin typeface="Microsoft YaHei"/>
                        </a:rPr>
                        <a:t>2例</a:t>
                      </a:r>
                    </a:p>
                  </a:txBody>
                  <a:tcPr>
                    <a:solidFill>
                      <a:srgbClr val="FFFFFF"/>
                    </a:solidFill>
                  </a:tcPr>
                </a:tc>
              </a:tr>
              <a:tr h="166624">
                <a:tc>
                  <a:txBody>
                    <a:bodyPr wrap="square" lIns="36576" rIns="36576" tIns="18288" bIns="18288"/>
                    <a:lstStyle/>
                    <a:p>
                      <a:r>
                        <a:rPr sz="540" b="1">
                          <a:solidFill>
                            <a:srgbClr val="21242A"/>
                          </a:solidFill>
                          <a:latin typeface="Microsoft YaHei"/>
                        </a:rPr>
                        <a:t>III/IV级血液学毒性</a:t>
                      </a:r>
                    </a:p>
                  </a:txBody>
                  <a:tcPr>
                    <a:solidFill>
                      <a:srgbClr val="F6F8FB"/>
                    </a:solidFill>
                  </a:tcPr>
                </a:tc>
                <a:tc>
                  <a:txBody>
                    <a:bodyPr wrap="square" lIns="36576" rIns="36576" tIns="18288" bIns="18288"/>
                    <a:lstStyle/>
                    <a:p>
                      <a:r>
                        <a:rPr sz="540" b="0">
                          <a:solidFill>
                            <a:srgbClr val="21242A"/>
                          </a:solidFill>
                          <a:latin typeface="Microsoft YaHei"/>
                        </a:rPr>
                        <a:t>5例</a:t>
                      </a:r>
                    </a:p>
                  </a:txBody>
                  <a:tcPr>
                    <a:solidFill>
                      <a:srgbClr val="F6F8FB"/>
                    </a:solidFill>
                  </a:tcPr>
                </a:tc>
              </a:tr>
              <a:tr h="166624">
                <a:tc>
                  <a:txBody>
                    <a:bodyPr wrap="square" lIns="36576" rIns="36576" tIns="18288" bIns="18288"/>
                    <a:lstStyle/>
                    <a:p>
                      <a:r>
                        <a:rPr sz="540" b="1">
                          <a:solidFill>
                            <a:srgbClr val="21242A"/>
                          </a:solidFill>
                          <a:latin typeface="Microsoft YaHei"/>
                        </a:rPr>
                        <a:t>死亡人数</a:t>
                      </a:r>
                    </a:p>
                  </a:txBody>
                  <a:tcPr>
                    <a:solidFill>
                      <a:srgbClr val="FFFFFF"/>
                    </a:solidFill>
                  </a:tcPr>
                </a:tc>
                <a:tc>
                  <a:txBody>
                    <a:bodyPr wrap="square" lIns="36576" rIns="36576" tIns="18288" bIns="18288"/>
                    <a:lstStyle/>
                    <a:p>
                      <a:r>
                        <a:rPr sz="540" b="0">
                          <a:solidFill>
                            <a:srgbClr val="21242A"/>
                          </a:solidFill>
                          <a:latin typeface="Microsoft YaHei"/>
                        </a:rPr>
                        <a:t>5例（其中1例死于COVID-19，4例死于复发后治疗）</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摘要号：PS2157</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利妥昔单抗甲氨蝶呤诱导治疗原发性中枢神经系统淋巴瘤后来那度胺维持的ii期研究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 study of lenalidomide maintenance after rituximab-methotrexate-based...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N=30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试验药/方案：来那度胺</a:t>
            </a:r>
          </a:p>
          <a:p>
            <a:pPr>
              <a:lnSpc>
                <a:spcPct val="103000"/>
              </a:lnSpc>
              <a:spcAft>
                <a:spcPts val="300"/>
              </a:spcAft>
              <a:defRPr sz="800">
                <a:solidFill>
                  <a:srgbClr val="21242A"/>
                </a:solidFill>
                <a:latin typeface="Microsoft YaHei"/>
              </a:defRPr>
            </a:pPr>
            <a:r>
              <a:t>靶点：IKZF3，IKZF1，CSNK1A1，CRBN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2年无进展生存率：58.8%</a:t>
            </a:r>
          </a:p>
          <a:p>
            <a:pPr>
              <a:lnSpc>
                <a:spcPct val="103000"/>
              </a:lnSpc>
              <a:spcAft>
                <a:spcPts val="300"/>
              </a:spcAft>
              <a:defRPr sz="800">
                <a:solidFill>
                  <a:srgbClr val="21242A"/>
                </a:solidFill>
                <a:latin typeface="Microsoft YaHei"/>
              </a:defRPr>
            </a:pPr>
            <a:r>
              <a:t>2年总生存率：83.9%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人数：30</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登记号：NCT05260619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试验药/方案：来那度胺</a:t>
            </a:r>
          </a:p>
          <a:p>
            <a:pPr>
              <a:lnSpc>
                <a:spcPct val="103000"/>
              </a:lnSpc>
              <a:spcAft>
                <a:spcPts val="300"/>
              </a:spcAft>
              <a:defRPr sz="810">
                <a:solidFill>
                  <a:srgbClr val="21242A"/>
                </a:solidFill>
                <a:latin typeface="Microsoft YaHei"/>
              </a:defRPr>
            </a:pPr>
            <a:r>
              <a:t>靶点：IKZF3、IKZF1、CSNK1A1、CRBN</a:t>
            </a:r>
          </a:p>
          <a:p>
            <a:pPr>
              <a:lnSpc>
                <a:spcPct val="103000"/>
              </a:lnSpc>
              <a:spcAft>
                <a:spcPts val="300"/>
              </a:spcAft>
              <a:defRPr sz="810">
                <a:solidFill>
                  <a:srgbClr val="21242A"/>
                </a:solidFill>
                <a:latin typeface="Microsoft YaHei"/>
              </a:defRPr>
            </a:pPr>
            <a:r>
              <a:t>药物/技术类别：分子胶降解剂</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利妥昔单抗甲氨蝶呤诱导治疗原发性中枢神经系统淋巴瘤后来那度胺维持的ii期研究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 study of lenalidomide maintenance after rituximab-methotrexate-based...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Elderly patients with primary CNS lymphoma (PCNSL) are frequently unsuitable for consolidative whole-brain radiotherapy (WBRT) or autologous stem-ce</a:t>
            </a:r>
          </a:p>
          <a:p>
            <a:pPr>
              <a:lnSpc>
                <a:spcPct val="103000"/>
              </a:lnSpc>
              <a:spcAft>
                <a:spcPts val="300"/>
              </a:spcAft>
              <a:defRPr sz="570">
                <a:solidFill>
                  <a:srgbClr val="21242A"/>
                </a:solidFill>
                <a:latin typeface="Microsoft YaHei"/>
              </a:defRPr>
            </a:pPr>
            <a:r>
              <a:t>ll transplantation (ASCT) because of neurotoxicity and treatment-related risks.</a:t>
            </a:r>
          </a:p>
          <a:p>
            <a:pPr>
              <a:lnSpc>
                <a:spcPct val="103000"/>
              </a:lnSpc>
              <a:spcAft>
                <a:spcPts val="300"/>
              </a:spcAft>
              <a:defRPr sz="570">
                <a:solidFill>
                  <a:srgbClr val="21242A"/>
                </a:solidFill>
                <a:latin typeface="Microsoft YaHei"/>
              </a:defRPr>
            </a:pPr>
            <a:r>
              <a:t>Lenalidomide is active in relapsed PCNSL, but prospective data on its use as maintenance are limited.</a:t>
            </a:r>
          </a:p>
          <a:p>
            <a:pPr>
              <a:lnSpc>
                <a:spcPct val="103000"/>
              </a:lnSpc>
              <a:spcAft>
                <a:spcPts val="300"/>
              </a:spcAft>
              <a:defRPr sz="570">
                <a:solidFill>
                  <a:srgbClr val="21242A"/>
                </a:solidFill>
                <a:latin typeface="Microsoft YaHei"/>
              </a:defRPr>
            </a:pPr>
            <a:r>
              <a:t>Aims: This study aimed to assess the efficacy and tolerability of lenalidomide maintenance in elderly, consolidation-ineligible patients with primary CNS lympho</a:t>
            </a:r>
          </a:p>
          <a:p>
            <a:pPr>
              <a:lnSpc>
                <a:spcPct val="103000"/>
              </a:lnSpc>
              <a:spcAft>
                <a:spcPts val="300"/>
              </a:spcAft>
              <a:defRPr sz="570">
                <a:solidFill>
                  <a:srgbClr val="21242A"/>
                </a:solidFill>
                <a:latin typeface="Microsoft YaHei"/>
              </a:defRPr>
            </a:pPr>
            <a:r>
              <a:t>ma following methotrexate-based chemoimmunotherapy.</a:t>
            </a:r>
          </a:p>
          <a:p>
            <a:pPr>
              <a:lnSpc>
                <a:spcPct val="103000"/>
              </a:lnSpc>
              <a:spcAft>
                <a:spcPts val="300"/>
              </a:spcAft>
              <a:defRPr sz="570">
                <a:solidFill>
                  <a:srgbClr val="21242A"/>
                </a:solidFill>
                <a:latin typeface="Microsoft YaHei"/>
              </a:defRPr>
            </a:pPr>
            <a:r>
              <a:t>Methods: We conducted a multicenter phase II trial of lenalidomide maintenance in adults with PCNSL who achieved partial response after 2–6 cycles of methotrexa</a:t>
            </a:r>
          </a:p>
          <a:p>
            <a:pPr>
              <a:lnSpc>
                <a:spcPct val="103000"/>
              </a:lnSpc>
              <a:spcAft>
                <a:spcPts val="300"/>
              </a:spcAft>
              <a:defRPr sz="570">
                <a:solidFill>
                  <a:srgbClr val="21242A"/>
                </a:solidFill>
                <a:latin typeface="Microsoft YaHei"/>
              </a:defRPr>
            </a:pPr>
            <a:r>
              <a:t>te- and rituximab-based chemoimmunotherapy and were not candidates for WBRT/ASCT.</a:t>
            </a:r>
          </a:p>
          <a:p>
            <a:pPr>
              <a:lnSpc>
                <a:spcPct val="103000"/>
              </a:lnSpc>
              <a:spcAft>
                <a:spcPts val="300"/>
              </a:spcAft>
              <a:defRPr sz="570">
                <a:solidFill>
                  <a:srgbClr val="21242A"/>
                </a:solidFill>
                <a:latin typeface="Microsoft YaHei"/>
              </a:defRPr>
            </a:pPr>
            <a:r>
              <a:t>Lenalidomide 15 mg was given orally on days 1–21 of 28-day cycles for up to 12 cycles or until progression or toxicity.</a:t>
            </a:r>
          </a:p>
          <a:p>
            <a:pPr>
              <a:lnSpc>
                <a:spcPct val="103000"/>
              </a:lnSpc>
              <a:spcAft>
                <a:spcPts val="300"/>
              </a:spcAft>
              <a:defRPr sz="570">
                <a:solidFill>
                  <a:srgbClr val="21242A"/>
                </a:solidFill>
                <a:latin typeface="Microsoft YaHei"/>
              </a:defRPr>
            </a:pPr>
            <a:r>
              <a:t>The primary endpoint was 2-year progression-free survival (PFS) from maintenance initiation.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Lenalidomide maintenance after chemoimmunotherapy is feasible in elderly, consolidation-unsuitable PCNSL patients and warrants further evaluation in comparative</a:t>
            </a:r>
          </a:p>
          <a:p>
            <a:pPr>
              <a:lnSpc>
                <a:spcPct val="103000"/>
              </a:lnSpc>
              <a:spcAft>
                <a:spcPts val="300"/>
              </a:spcAft>
              <a:defRPr sz="590">
                <a:solidFill>
                  <a:srgbClr val="21242A"/>
                </a:solidFill>
                <a:latin typeface="Microsoft YaHei"/>
              </a:defRPr>
            </a:pPr>
            <a:r>
              <a:t> trials.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2年无进展生存率</a:t>
                      </a:r>
                    </a:p>
                  </a:txBody>
                  <a:tcPr>
                    <a:solidFill>
                      <a:srgbClr val="F6F8FB"/>
                    </a:solidFill>
                  </a:tcPr>
                </a:tc>
                <a:tc>
                  <a:txBody>
                    <a:bodyPr wrap="square" lIns="36576" rIns="36576" tIns="18288" bIns="18288"/>
                    <a:lstStyle/>
                    <a:p>
                      <a:r>
                        <a:rPr sz="540" b="0">
                          <a:solidFill>
                            <a:srgbClr val="21242A"/>
                          </a:solidFill>
                          <a:latin typeface="Microsoft YaHei"/>
                        </a:rPr>
                        <a:t>58.8%</a:t>
                      </a:r>
                    </a:p>
                  </a:txBody>
                  <a:tcPr>
                    <a:solidFill>
                      <a:srgbClr val="F6F8FB"/>
                    </a:solidFill>
                  </a:tcPr>
                </a:tc>
              </a:tr>
              <a:tr h="214230">
                <a:tc>
                  <a:txBody>
                    <a:bodyPr wrap="square" lIns="36576" rIns="36576" tIns="18288" bIns="18288"/>
                    <a:lstStyle/>
                    <a:p>
                      <a:r>
                        <a:rPr sz="540" b="1">
                          <a:solidFill>
                            <a:srgbClr val="21242A"/>
                          </a:solidFill>
                          <a:latin typeface="Microsoft YaHei"/>
                        </a:rPr>
                        <a:t>2年总生存率</a:t>
                      </a:r>
                    </a:p>
                  </a:txBody>
                  <a:tcPr>
                    <a:solidFill>
                      <a:srgbClr val="FFFFFF"/>
                    </a:solidFill>
                  </a:tcPr>
                </a:tc>
                <a:tc>
                  <a:txBody>
                    <a:bodyPr wrap="square" lIns="36576" rIns="36576" tIns="18288" bIns="18288"/>
                    <a:lstStyle/>
                    <a:p>
                      <a:r>
                        <a:rPr sz="540" b="0">
                          <a:solidFill>
                            <a:srgbClr val="21242A"/>
                          </a:solidFill>
                          <a:latin typeface="Microsoft YaHei"/>
                        </a:rPr>
                        <a:t>83.9%</a:t>
                      </a:r>
                    </a:p>
                  </a:txBody>
                  <a:tcPr>
                    <a:solidFill>
                      <a:srgbClr val="FFFFFF"/>
                    </a:solidFill>
                  </a:tcPr>
                </a:tc>
              </a:tr>
              <a:tr h="214230">
                <a:tc>
                  <a:txBody>
                    <a:bodyPr wrap="square" lIns="36576" rIns="36576" tIns="18288" bIns="18288"/>
                    <a:lstStyle/>
                    <a:p>
                      <a:r>
                        <a:rPr sz="540" b="1">
                          <a:solidFill>
                            <a:srgbClr val="21242A"/>
                          </a:solidFill>
                          <a:latin typeface="Microsoft YaHei"/>
                        </a:rPr>
                        <a:t>3-4级中性粒细胞减少症发生率</a:t>
                      </a:r>
                    </a:p>
                  </a:txBody>
                  <a:tcPr>
                    <a:solidFill>
                      <a:srgbClr val="F6F8FB"/>
                    </a:solidFill>
                  </a:tcPr>
                </a:tc>
                <a:tc>
                  <a:txBody>
                    <a:bodyPr wrap="square" lIns="36576" rIns="36576" tIns="18288" bIns="18288"/>
                    <a:lstStyle/>
                    <a:p>
                      <a:r>
                        <a:rPr sz="540" b="0">
                          <a:solidFill>
                            <a:srgbClr val="21242A"/>
                          </a:solidFill>
                          <a:latin typeface="Microsoft YaHei"/>
                        </a:rPr>
                        <a:t>56%</a:t>
                      </a:r>
                    </a:p>
                  </a:txBody>
                  <a:tcPr>
                    <a:solidFill>
                      <a:srgbClr val="F6F8FB"/>
                    </a:solidFill>
                  </a:tcPr>
                </a:tc>
              </a:tr>
              <a:tr h="214230">
                <a:tc>
                  <a:txBody>
                    <a:bodyPr wrap="square" lIns="36576" rIns="36576" tIns="18288" bIns="18288"/>
                    <a:lstStyle/>
                    <a:p>
                      <a:r>
                        <a:rPr sz="540" b="1">
                          <a:solidFill>
                            <a:srgbClr val="21242A"/>
                          </a:solidFill>
                          <a:latin typeface="Microsoft YaHei"/>
                        </a:rPr>
                        <a:t>因毒性停药率</a:t>
                      </a:r>
                    </a:p>
                  </a:txBody>
                  <a:tcPr>
                    <a:solidFill>
                      <a:srgbClr val="FFFFFF"/>
                    </a:solidFill>
                  </a:tcPr>
                </a:tc>
                <a:tc>
                  <a:txBody>
                    <a:bodyPr wrap="square" lIns="36576" rIns="36576" tIns="18288" bIns="18288"/>
                    <a:lstStyle/>
                    <a:p>
                      <a:r>
                        <a:rPr sz="540" b="0">
                          <a:solidFill>
                            <a:srgbClr val="21242A"/>
                          </a:solidFill>
                          <a:latin typeface="Microsoft YaHei"/>
                        </a:rPr>
                        <a:t>13%</a:t>
                      </a:r>
                    </a:p>
                  </a:txBody>
                  <a:tcPr>
                    <a:solidFill>
                      <a:srgbClr val="FFFFFF"/>
                    </a:solidFill>
                  </a:tcPr>
                </a:tc>
              </a:tr>
              <a:tr h="214230">
                <a:tc>
                  <a:txBody>
                    <a:bodyPr wrap="square" lIns="36576" rIns="36576" tIns="18288" bIns="18288"/>
                    <a:lstStyle/>
                    <a:p>
                      <a:r>
                        <a:rPr sz="540" b="1">
                          <a:solidFill>
                            <a:srgbClr val="21242A"/>
                          </a:solidFill>
                          <a:latin typeface="Microsoft YaHei"/>
                        </a:rPr>
                        <a:t>5级肺炎发生率</a:t>
                      </a:r>
                    </a:p>
                  </a:txBody>
                  <a:tcPr>
                    <a:solidFill>
                      <a:srgbClr val="F6F8FB"/>
                    </a:solidFill>
                  </a:tcPr>
                </a:tc>
                <a:tc>
                  <a:txBody>
                    <a:bodyPr wrap="square" lIns="36576" rIns="36576" tIns="18288" bIns="18288"/>
                    <a:lstStyle/>
                    <a:p>
                      <a:r>
                        <a:rPr sz="540" b="0">
                          <a:solidFill>
                            <a:srgbClr val="21242A"/>
                          </a:solidFill>
                          <a:latin typeface="Microsoft YaHei"/>
                        </a:rPr>
                        <a:t>1例</a:t>
                      </a:r>
                    </a:p>
                  </a:txBody>
                  <a:tcPr>
                    <a:solidFill>
                      <a:srgbClr val="F6F8FB"/>
                    </a:solidFill>
                  </a:tcPr>
                </a:tc>
              </a:tr>
              <a:tr h="2142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无血栓事件</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优化试验：一项研究者发起的随机iii期研究，旨在优化新诊断的原发性中枢神经系统淋巴瘤的基质诱导（试验正在进行中）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optimate-trial: an investigator-initiated randomized phase iii study to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N=298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分组：试验组1：Arm A（4周期MATRix）</a:t>
            </a:r>
          </a:p>
          <a:p>
            <a:pPr>
              <a:lnSpc>
                <a:spcPct val="103000"/>
              </a:lnSpc>
              <a:spcAft>
                <a:spcPts val="300"/>
              </a:spcAft>
              <a:defRPr sz="800">
                <a:solidFill>
                  <a:srgbClr val="21242A"/>
                </a:solidFill>
                <a:latin typeface="Microsoft YaHei"/>
              </a:defRPr>
            </a:pPr>
            <a:r>
              <a:t>试验组2：Arm B（R-MTX预处理后接2周期MATRix）</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多组/多方案比较：试验组1：Arm A（4周期MATRix）</a:t>
            </a:r>
          </a:p>
          <a:p>
            <a:pPr>
              <a:lnSpc>
                <a:spcPct val="103000"/>
              </a:lnSpc>
              <a:spcAft>
                <a:spcPts val="300"/>
              </a:spcAft>
              <a:defRPr sz="800">
                <a:solidFill>
                  <a:srgbClr val="21242A"/>
                </a:solidFill>
                <a:latin typeface="Microsoft YaHei"/>
              </a:defRPr>
            </a:pPr>
            <a:r>
              <a:t>试验组2：Arm B（R-MTX预处理后接2周期MATRix）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安全性分析人群共298例（Arm A：147例，Arm B：151例）</a:t>
            </a:r>
          </a:p>
          <a:p>
            <a:pPr>
              <a:lnSpc>
                <a:spcPct val="103000"/>
              </a:lnSpc>
              <a:spcAft>
                <a:spcPts val="300"/>
              </a:spcAft>
              <a:defRPr sz="800">
                <a:solidFill>
                  <a:srgbClr val="21242A"/>
                </a:solidFill>
                <a:latin typeface="Microsoft YaHei"/>
              </a:defRPr>
            </a:pPr>
            <a:r>
              <a:t>至少发生1次3-5级不良事件：Arm A 90.5%，Arm B 86.8%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人数：298</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登记号：NCT04931368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分组/治疗流程：试验组1：Arm A（4周期MATRix）、试验组2：Arm B（R-MTX预处理后接2周期MATRix）</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优化试验：一项研究者发起的随机iii期研究，旨在优化新诊断的原发性中枢神经系统淋巴瘤的基质诱导（试验正在进行中）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optimate-trial: an investigator-initiated randomized phase iii study to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CNS lymphoma (PCNSL) is an aggressive extranodal diffuse large B-cell lymphoma with a dismal prognosis.</a:t>
            </a:r>
          </a:p>
          <a:p>
            <a:pPr>
              <a:lnSpc>
                <a:spcPct val="103000"/>
              </a:lnSpc>
              <a:spcAft>
                <a:spcPts val="300"/>
              </a:spcAft>
              <a:defRPr sz="570">
                <a:solidFill>
                  <a:srgbClr val="21242A"/>
                </a:solidFill>
                <a:latin typeface="Microsoft YaHei"/>
              </a:defRPr>
            </a:pPr>
            <a:r>
              <a:t>Curative-intend treatments are associated with substantial toxicity.</a:t>
            </a:r>
          </a:p>
          <a:p>
            <a:pPr>
              <a:lnSpc>
                <a:spcPct val="103000"/>
              </a:lnSpc>
              <a:spcAft>
                <a:spcPts val="300"/>
              </a:spcAft>
              <a:defRPr sz="570">
                <a:solidFill>
                  <a:srgbClr val="21242A"/>
                </a:solidFill>
                <a:latin typeface="Microsoft YaHei"/>
              </a:defRPr>
            </a:pPr>
            <a:r>
              <a:t>Induction with MATRix followed by high-dose chemotherapy and autologous stem cell transplantation (HDT-ASCT) is widely used in fit patients ≤70 years.</a:t>
            </a:r>
          </a:p>
          <a:p>
            <a:pPr>
              <a:lnSpc>
                <a:spcPct val="103000"/>
              </a:lnSpc>
              <a:spcAft>
                <a:spcPts val="300"/>
              </a:spcAft>
              <a:defRPr sz="570">
                <a:solidFill>
                  <a:srgbClr val="21242A"/>
                </a:solidFill>
                <a:latin typeface="Microsoft YaHei"/>
              </a:defRPr>
            </a:pPr>
            <a:r>
              <a:t>The OptiMATe trial (NCT04931368) evaluates whether a de-escalation of induction can reduce treatment associated morbidity while maintaining efficacy and increas</a:t>
            </a:r>
          </a:p>
          <a:p>
            <a:pPr>
              <a:lnSpc>
                <a:spcPct val="103000"/>
              </a:lnSpc>
              <a:spcAft>
                <a:spcPts val="300"/>
              </a:spcAft>
              <a:defRPr sz="570">
                <a:solidFill>
                  <a:srgbClr val="21242A"/>
                </a:solidFill>
                <a:latin typeface="Microsoft YaHei"/>
              </a:defRPr>
            </a:pPr>
            <a:r>
              <a:t>ing the proportion of patients who proceed to consolidation HDT-ASCT.</a:t>
            </a:r>
          </a:p>
          <a:p>
            <a:pPr>
              <a:lnSpc>
                <a:spcPct val="103000"/>
              </a:lnSpc>
              <a:spcAft>
                <a:spcPts val="300"/>
              </a:spcAft>
              <a:defRPr sz="570">
                <a:solidFill>
                  <a:srgbClr val="21242A"/>
                </a:solidFill>
                <a:latin typeface="Microsoft YaHei"/>
              </a:defRPr>
            </a:pPr>
            <a:r>
              <a:t>Aims: To compare event-free survival (EFS) between standard induction therapy and a de-escalated induction strategy in patients with newly diagnosed PCNSL.</a:t>
            </a:r>
          </a:p>
          <a:p>
            <a:pPr>
              <a:lnSpc>
                <a:spcPct val="103000"/>
              </a:lnSpc>
              <a:spcAft>
                <a:spcPts val="300"/>
              </a:spcAft>
              <a:defRPr sz="570">
                <a:solidFill>
                  <a:srgbClr val="21242A"/>
                </a:solidFill>
                <a:latin typeface="Microsoft YaHei"/>
              </a:defRPr>
            </a:pPr>
            <a:r>
              <a:t>Methods: OptiMATe is a multicentre, open-label, randomized phase III trial across 68 European centres enrolling immunocompetent patients ≤70 years with newly di</a:t>
            </a:r>
          </a:p>
          <a:p>
            <a:pPr>
              <a:lnSpc>
                <a:spcPct val="103000"/>
              </a:lnSpc>
              <a:spcAft>
                <a:spcPts val="300"/>
              </a:spcAft>
              <a:defRPr sz="570">
                <a:solidFill>
                  <a:srgbClr val="21242A"/>
                </a:solidFill>
                <a:latin typeface="Microsoft YaHei"/>
              </a:defRPr>
            </a:pPr>
            <a:r>
              <a:t>agnosed PCNSL.</a:t>
            </a:r>
          </a:p>
          <a:p>
            <a:pPr>
              <a:lnSpc>
                <a:spcPct val="103000"/>
              </a:lnSpc>
              <a:spcAft>
                <a:spcPts val="300"/>
              </a:spcAft>
              <a:defRPr sz="570">
                <a:solidFill>
                  <a:srgbClr val="21242A"/>
                </a:solidFill>
                <a:latin typeface="Microsoft YaHei"/>
              </a:defRPr>
            </a:pPr>
            <a:r>
              <a:t>Patients are randomized 1:1 to Arm A (four MATRix cycles) or Arm B (R-MTX pre-treatment followed by two MATRix cycles).</a:t>
            </a:r>
          </a:p>
          <a:p>
            <a:pPr>
              <a:lnSpc>
                <a:spcPct val="103000"/>
              </a:lnSpc>
              <a:spcAft>
                <a:spcPts val="300"/>
              </a:spcAft>
              <a:defRPr sz="570">
                <a:solidFill>
                  <a:srgbClr val="21242A"/>
                </a:solidFill>
                <a:latin typeface="Microsoft YaHei"/>
              </a:defRPr>
            </a:pPr>
            <a:r>
              <a:t>Patients achieving at least partial remission proceed to thiotepa-conditioned high-dose chemotherapy and HDT-ASCT.</a:t>
            </a:r>
          </a:p>
          <a:p>
            <a:pPr>
              <a:lnSpc>
                <a:spcPct val="103000"/>
              </a:lnSpc>
              <a:spcAft>
                <a:spcPts val="300"/>
              </a:spcAft>
              <a:defRPr sz="570">
                <a:solidFill>
                  <a:srgbClr val="21242A"/>
                </a:solidFill>
                <a:latin typeface="Microsoft YaHei"/>
              </a:defRPr>
            </a:pPr>
            <a:r>
              <a:t>The primary endpoint is EFS; key secondary endpoints include overall and progression-free survival, safety, neurocognition, and quality of life, with a minimum </a:t>
            </a:r>
          </a:p>
          <a:p>
            <a:pPr>
              <a:lnSpc>
                <a:spcPct val="103000"/>
              </a:lnSpc>
              <a:spcAft>
                <a:spcPts val="300"/>
              </a:spcAft>
              <a:defRPr sz="570">
                <a:solidFill>
                  <a:srgbClr val="21242A"/>
                </a:solidFill>
                <a:latin typeface="Microsoft YaHei"/>
              </a:defRPr>
            </a:pPr>
            <a:r>
              <a:t>follow-up of 24 months.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is the largest randomized phase III de-escalation trial in newly diagnosed primary CNS lymphoma.</a:t>
            </a:r>
          </a:p>
          <a:p>
            <a:pPr>
              <a:lnSpc>
                <a:spcPct val="103000"/>
              </a:lnSpc>
              <a:spcAft>
                <a:spcPts val="300"/>
              </a:spcAft>
              <a:defRPr sz="590">
                <a:solidFill>
                  <a:srgbClr val="21242A"/>
                </a:solidFill>
                <a:latin typeface="Microsoft YaHei"/>
              </a:defRPr>
            </a:pPr>
            <a:r>
              <a:t>The study has shown excellent feasibility, outstanding recruitment, and no unexpected toxicity signals.</a:t>
            </a:r>
          </a:p>
          <a:p>
            <a:pPr>
              <a:lnSpc>
                <a:spcPct val="103000"/>
              </a:lnSpc>
              <a:spcAft>
                <a:spcPts val="300"/>
              </a:spcAft>
              <a:defRPr sz="590">
                <a:solidFill>
                  <a:srgbClr val="21242A"/>
                </a:solidFill>
                <a:latin typeface="Microsoft YaHei"/>
              </a:defRPr>
            </a:pPr>
            <a:r>
              <a:t>The most recent follow-up and safety data will be presented.</a:t>
            </a:r>
          </a:p>
          <a:p>
            <a:pPr>
              <a:lnSpc>
                <a:spcPct val="103000"/>
              </a:lnSpc>
              <a:spcAft>
                <a:spcPts val="300"/>
              </a:spcAft>
              <a:defRPr sz="590">
                <a:solidFill>
                  <a:srgbClr val="21242A"/>
                </a:solidFill>
                <a:latin typeface="Microsoft YaHei"/>
              </a:defRPr>
            </a:pPr>
            <a:r>
              <a:t>\n The study is supported by the German Federal Ministry for Research, Technology, and Space (BMFTR) and Cancer Research UK.</a:t>
            </a:r>
          </a:p>
          <a:p>
            <a:pPr>
              <a:lnSpc>
                <a:spcPct val="103000"/>
              </a:lnSpc>
              <a:spcAft>
                <a:spcPts val="300"/>
              </a:spcAft>
              <a:defRPr sz="590">
                <a:solidFill>
                  <a:srgbClr val="21242A"/>
                </a:solidFill>
                <a:latin typeface="Microsoft YaHei"/>
              </a:defRPr>
            </a:pPr>
            <a:r>
              <a:t>The sponsor of the trial is Klinikum Stuttgart, UK sites are coordinated by Cancer Research UK Southampton Clinical Trials Unit and Italian sites by the Interna</a:t>
            </a:r>
          </a:p>
          <a:p>
            <a:pPr>
              <a:lnSpc>
                <a:spcPct val="103000"/>
              </a:lnSpc>
              <a:spcAft>
                <a:spcPts val="300"/>
              </a:spcAft>
              <a:defRPr sz="590">
                <a:solidFill>
                  <a:srgbClr val="21242A"/>
                </a:solidFill>
                <a:latin typeface="Microsoft YaHei"/>
              </a:defRPr>
            </a:pPr>
            <a:r>
              <a:t>tional Extranodal Lymphoma Study Group.</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安全性分析人群共298例（Arm A</a:t>
                      </a:r>
                    </a:p>
                  </a:txBody>
                  <a:tcPr>
                    <a:solidFill>
                      <a:srgbClr val="F6F8FB"/>
                    </a:solidFill>
                  </a:tcPr>
                </a:tc>
                <a:tc>
                  <a:txBody>
                    <a:bodyPr wrap="square" lIns="36576" rIns="36576" tIns="18288" bIns="18288"/>
                    <a:lstStyle/>
                    <a:p>
                      <a:r>
                        <a:rPr sz="540" b="0">
                          <a:solidFill>
                            <a:srgbClr val="21242A"/>
                          </a:solidFill>
                          <a:latin typeface="Microsoft YaHei"/>
                        </a:rPr>
                        <a:t>147例，Arm B：151例）</a:t>
                      </a:r>
                    </a:p>
                  </a:txBody>
                  <a:tcPr>
                    <a:solidFill>
                      <a:srgbClr val="F6F8FB"/>
                    </a:solidFill>
                  </a:tcPr>
                </a:tc>
              </a:tr>
              <a:tr h="249936">
                <a:tc>
                  <a:txBody>
                    <a:bodyPr wrap="square" lIns="36576" rIns="36576" tIns="18288" bIns="18288"/>
                    <a:lstStyle/>
                    <a:p>
                      <a:r>
                        <a:rPr sz="540" b="1">
                          <a:solidFill>
                            <a:srgbClr val="21242A"/>
                          </a:solidFill>
                          <a:latin typeface="Microsoft YaHei"/>
                        </a:rPr>
                        <a:t>至少发生1次3-5级不良事件</a:t>
                      </a:r>
                    </a:p>
                  </a:txBody>
                  <a:tcPr>
                    <a:solidFill>
                      <a:srgbClr val="FFFFFF"/>
                    </a:solidFill>
                  </a:tcPr>
                </a:tc>
                <a:tc>
                  <a:txBody>
                    <a:bodyPr wrap="square" lIns="36576" rIns="36576" tIns="18288" bIns="18288"/>
                    <a:lstStyle/>
                    <a:p>
                      <a:r>
                        <a:rPr sz="540" b="0">
                          <a:solidFill>
                            <a:srgbClr val="21242A"/>
                          </a:solidFill>
                          <a:latin typeface="Microsoft YaHei"/>
                        </a:rPr>
                        <a:t>Arm A 90.5%，Arm B 86.8%</a:t>
                      </a:r>
                    </a:p>
                  </a:txBody>
                  <a:tcPr>
                    <a:solidFill>
                      <a:srgbClr val="FFFFFF"/>
                    </a:solidFill>
                  </a:tcPr>
                </a:tc>
              </a:tr>
              <a:tr h="249936">
                <a:tc>
                  <a:txBody>
                    <a:bodyPr wrap="square" lIns="36576" rIns="36576" tIns="18288" bIns="18288"/>
                    <a:lstStyle/>
                    <a:p>
                      <a:r>
                        <a:rPr sz="540" b="1">
                          <a:solidFill>
                            <a:srgbClr val="21242A"/>
                          </a:solidFill>
                          <a:latin typeface="Microsoft YaHei"/>
                        </a:rPr>
                        <a:t>诱导期间3-5级不良事件</a:t>
                      </a:r>
                    </a:p>
                  </a:txBody>
                  <a:tcPr>
                    <a:solidFill>
                      <a:srgbClr val="F6F8FB"/>
                    </a:solidFill>
                  </a:tcPr>
                </a:tc>
                <a:tc>
                  <a:txBody>
                    <a:bodyPr wrap="square" lIns="36576" rIns="36576" tIns="18288" bIns="18288"/>
                    <a:lstStyle/>
                    <a:p>
                      <a:r>
                        <a:rPr sz="540" b="0">
                          <a:solidFill>
                            <a:srgbClr val="21242A"/>
                          </a:solidFill>
                          <a:latin typeface="Microsoft YaHei"/>
                        </a:rPr>
                        <a:t>Arm A 89.8%（132/147），Arm B 83.4%（126/151）</a:t>
                      </a:r>
                    </a:p>
                  </a:txBody>
                  <a:tcPr>
                    <a:solidFill>
                      <a:srgbClr val="F6F8FB"/>
                    </a:solidFill>
                  </a:tcPr>
                </a:tc>
              </a:tr>
              <a:tr h="249936">
                <a:tc>
                  <a:txBody>
                    <a:bodyPr wrap="square" lIns="36576" rIns="36576" tIns="18288" bIns="18288"/>
                    <a:lstStyle/>
                    <a:p>
                      <a:r>
                        <a:rPr sz="540" b="1">
                          <a:solidFill>
                            <a:srgbClr val="21242A"/>
                          </a:solidFill>
                          <a:latin typeface="Microsoft YaHei"/>
                        </a:rPr>
                        <a:t>巩固期间/后3-5级不良事件</a:t>
                      </a:r>
                    </a:p>
                  </a:txBody>
                  <a:tcPr>
                    <a:solidFill>
                      <a:srgbClr val="FFFFFF"/>
                    </a:solidFill>
                  </a:tcPr>
                </a:tc>
                <a:tc>
                  <a:txBody>
                    <a:bodyPr wrap="square" lIns="36576" rIns="36576" tIns="18288" bIns="18288"/>
                    <a:lstStyle/>
                    <a:p>
                      <a:r>
                        <a:rPr sz="540" b="0">
                          <a:solidFill>
                            <a:srgbClr val="21242A"/>
                          </a:solidFill>
                          <a:latin typeface="Microsoft YaHei"/>
                        </a:rPr>
                        <a:t>Arm A 72.6%（61/84），Arm B 73.0%（84/115）</a:t>
                      </a:r>
                    </a:p>
                  </a:txBody>
                  <a:tcPr>
                    <a:solidFill>
                      <a:srgbClr val="FFFFFF"/>
                    </a:solidFill>
                  </a:tcPr>
                </a:tc>
              </a:tr>
              <a:tr h="249936">
                <a:tc>
                  <a:txBody>
                    <a:bodyPr wrap="square" lIns="36576" rIns="36576" tIns="18288" bIns="18288"/>
                    <a:lstStyle/>
                    <a:p>
                      <a:r>
                        <a:rPr sz="540" b="1">
                          <a:solidFill>
                            <a:srgbClr val="21242A"/>
                          </a:solidFill>
                          <a:latin typeface="Microsoft YaHei"/>
                        </a:rPr>
                        <a:t>致死性不良事件（5级）</a:t>
                      </a:r>
                    </a:p>
                  </a:txBody>
                  <a:tcPr>
                    <a:solidFill>
                      <a:srgbClr val="F6F8FB"/>
                    </a:solidFill>
                  </a:tcPr>
                </a:tc>
                <a:tc>
                  <a:txBody>
                    <a:bodyPr wrap="square" lIns="36576" rIns="36576" tIns="18288" bIns="18288"/>
                    <a:lstStyle/>
                    <a:p>
                      <a:r>
                        <a:rPr sz="540" b="0">
                          <a:solidFill>
                            <a:srgbClr val="21242A"/>
                          </a:solidFill>
                          <a:latin typeface="Microsoft YaHei"/>
                        </a:rPr>
                        <a:t>诱导期共9例（Arm A 7例，Arm B 2例），巩固期/后共7例（均为Arm B）</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摘要号：PF965</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药物/技术：CNS穿透/放疗/MTX策略</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大剂量甲氨蝶呤和阿糖胞苷联合或不联合玻璃体内注射甲氨蝶呤治疗31例hiv阴性原发性玻璃体视网膜淋巴瘤患者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doses of methotrexate and cytarabine with or without intravitreal methot...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原发性玻璃体视网膜淋巴瘤</a:t>
            </a:r>
          </a:p>
          <a:p>
            <a:pPr>
              <a:lnSpc>
                <a:spcPct val="103000"/>
              </a:lnSpc>
              <a:spcAft>
                <a:spcPts val="300"/>
              </a:spcAft>
              <a:defRPr sz="800">
                <a:solidFill>
                  <a:srgbClr val="21242A"/>
                </a:solidFill>
                <a:latin typeface="Microsoft YaHei"/>
              </a:defRPr>
            </a:pPr>
            <a:r>
              <a:t>N=31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试验药/方案：阿糖胞苷</a:t>
            </a:r>
          </a:p>
          <a:p>
            <a:pPr>
              <a:lnSpc>
                <a:spcPct val="103000"/>
              </a:lnSpc>
              <a:spcAft>
                <a:spcPts val="300"/>
              </a:spcAft>
              <a:defRPr sz="800">
                <a:solidFill>
                  <a:srgbClr val="21242A"/>
                </a:solidFill>
                <a:latin typeface="Microsoft YaHei"/>
              </a:defRPr>
            </a:pPr>
            <a:r>
              <a:t>甲氨蝶呤</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最佳客观缓解率(ORR): 97% (30/31, 95% CI 78-99)</a:t>
            </a:r>
          </a:p>
          <a:p>
            <a:pPr>
              <a:lnSpc>
                <a:spcPct val="103000"/>
              </a:lnSpc>
              <a:spcAft>
                <a:spcPts val="300"/>
              </a:spcAft>
              <a:defRPr sz="800">
                <a:solidFill>
                  <a:srgbClr val="21242A"/>
                </a:solidFill>
                <a:latin typeface="Microsoft YaHei"/>
              </a:defRPr>
            </a:pPr>
            <a:r>
              <a:t>完全缓解(CR): 90% (28/31)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人数：31</a:t>
            </a:r>
          </a:p>
          <a:p>
            <a:pPr>
              <a:lnSpc>
                <a:spcPct val="103000"/>
              </a:lnSpc>
              <a:spcAft>
                <a:spcPts val="300"/>
              </a:spcAft>
              <a:defRPr sz="810">
                <a:solidFill>
                  <a:srgbClr val="21242A"/>
                </a:solidFill>
                <a:latin typeface="Microsoft YaHei"/>
              </a:defRPr>
            </a:pPr>
            <a:r>
              <a:t>适应症：原发性玻璃体视网膜淋巴瘤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试验药/方案：阿糖胞苷、甲氨蝶呤</a:t>
            </a:r>
          </a:p>
          <a:p>
            <a:pPr>
              <a:lnSpc>
                <a:spcPct val="103000"/>
              </a:lnSpc>
              <a:spcAft>
                <a:spcPts val="300"/>
              </a:spcAft>
              <a:defRPr sz="810">
                <a:solidFill>
                  <a:srgbClr val="21242A"/>
                </a:solidFill>
                <a:latin typeface="Microsoft YaHei"/>
              </a:defRPr>
            </a:pPr>
            <a:r>
              <a:t>靶点：DNA Pol、DHFR</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大剂量甲氨蝶呤和阿糖胞苷联合或不联合玻璃体内注射甲氨蝶呤治疗31例hiv阴性原发性玻璃体视网膜淋巴瘤患者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doses of methotrexate and cytarabine with or without intravitreal methot...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vitreoretinal lymphoma (PVRL) is a rare large B‑cell lymphoma involving the vitreous and/or retina, with a high risk of CNS dissemination.</a:t>
            </a:r>
          </a:p>
          <a:p>
            <a:pPr>
              <a:lnSpc>
                <a:spcPct val="103000"/>
              </a:lnSpc>
              <a:spcAft>
                <a:spcPts val="300"/>
              </a:spcAft>
              <a:defRPr sz="570">
                <a:solidFill>
                  <a:srgbClr val="21242A"/>
                </a:solidFill>
                <a:latin typeface="Microsoft YaHei"/>
              </a:defRPr>
            </a:pPr>
            <a:r>
              <a:t>Optimal management remains undefined: most reported series have been managed with local treatments (intravitreal methotrexate [IVT‑MTX] and ocular radiotherapy </a:t>
            </a:r>
          </a:p>
          <a:p>
            <a:pPr>
              <a:lnSpc>
                <a:spcPct val="103000"/>
              </a:lnSpc>
              <a:spcAft>
                <a:spcPts val="300"/>
              </a:spcAft>
              <a:defRPr sz="570">
                <a:solidFill>
                  <a:srgbClr val="21242A"/>
                </a:solidFill>
                <a:latin typeface="Microsoft YaHei"/>
              </a:defRPr>
            </a:pPr>
            <a:r>
              <a:t>[ORT]), which offer limited CNS protection, while the benefit of intensified systemic regimens adapted from PCNSL is still uncertain.</a:t>
            </a:r>
          </a:p>
          <a:p>
            <a:pPr>
              <a:lnSpc>
                <a:spcPct val="103000"/>
              </a:lnSpc>
              <a:spcAft>
                <a:spcPts val="300"/>
              </a:spcAft>
              <a:defRPr sz="570">
                <a:solidFill>
                  <a:srgbClr val="21242A"/>
                </a:solidFill>
                <a:latin typeface="Microsoft YaHei"/>
              </a:defRPr>
            </a:pPr>
            <a:r>
              <a:t>Aims: To evaluate efficacy and tolerability of high‑dose methotrexate–cytarabine (MA)–based chemotherapy ± IVT‑MTX in PVRL patients (pts) treated in two referra</a:t>
            </a:r>
          </a:p>
          <a:p>
            <a:pPr>
              <a:lnSpc>
                <a:spcPct val="103000"/>
              </a:lnSpc>
              <a:spcAft>
                <a:spcPts val="300"/>
              </a:spcAft>
              <a:defRPr sz="570">
                <a:solidFill>
                  <a:srgbClr val="21242A"/>
                </a:solidFill>
                <a:latin typeface="Microsoft YaHei"/>
              </a:defRPr>
            </a:pPr>
            <a:r>
              <a:t>l Italian centres.</a:t>
            </a:r>
          </a:p>
          <a:p>
            <a:pPr>
              <a:lnSpc>
                <a:spcPct val="103000"/>
              </a:lnSpc>
              <a:spcAft>
                <a:spcPts val="300"/>
              </a:spcAft>
              <a:defRPr sz="570">
                <a:solidFill>
                  <a:srgbClr val="21242A"/>
                </a:solidFill>
                <a:latin typeface="Microsoft YaHei"/>
              </a:defRPr>
            </a:pPr>
            <a:r>
              <a:t>Methods: HIV‑negative pts with ocular symptom‑driven referral treated between 2015 and 2025 were included based on: 1) diagnosis of PVRL via ophthalmologic asse</a:t>
            </a:r>
          </a:p>
          <a:p>
            <a:pPr>
              <a:lnSpc>
                <a:spcPct val="103000"/>
              </a:lnSpc>
              <a:spcAft>
                <a:spcPts val="300"/>
              </a:spcAft>
              <a:defRPr sz="570">
                <a:solidFill>
                  <a:srgbClr val="21242A"/>
                </a:solidFill>
                <a:latin typeface="Microsoft YaHei"/>
              </a:defRPr>
            </a:pPr>
            <a:r>
              <a:t>ssment, with confirmation by conventional cytology and/or biomarkers (e.g., MYD88 L265P , elevated IL‑10, clonal IGH) in ocular fluids; 2) MA‑based first‑line t</a:t>
            </a:r>
          </a:p>
          <a:p>
            <a:pPr>
              <a:lnSpc>
                <a:spcPct val="103000"/>
              </a:lnSpc>
              <a:spcAft>
                <a:spcPts val="300"/>
              </a:spcAft>
              <a:defRPr sz="570">
                <a:solidFill>
                  <a:srgbClr val="21242A"/>
                </a:solidFill>
                <a:latin typeface="Microsoft YaHei"/>
              </a:defRPr>
            </a:pPr>
            <a:r>
              <a:t>reatment ± IVT‑MTX; pts with extra‑ocular disease (inside or outside the CNS) were excluded.</a:t>
            </a:r>
          </a:p>
          <a:p>
            <a:pPr>
              <a:lnSpc>
                <a:spcPct val="103000"/>
              </a:lnSpc>
              <a:spcAft>
                <a:spcPts val="300"/>
              </a:spcAft>
              <a:defRPr sz="570">
                <a:solidFill>
                  <a:srgbClr val="21242A"/>
                </a:solidFill>
                <a:latin typeface="Microsoft YaHei"/>
              </a:defRPr>
            </a:pPr>
            <a:r>
              <a:t>Responses per IPCG criteria. Biomarker groups were defined as single positive (MYD88 L265P or high IL‑10) or double‑positive.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MA–based chemotherapy ±IVT‑MTX achieved high response rates with acceptable toxicity in PVRL.</a:t>
            </a:r>
          </a:p>
          <a:p>
            <a:pPr>
              <a:lnSpc>
                <a:spcPct val="103000"/>
              </a:lnSpc>
              <a:spcAft>
                <a:spcPts val="300"/>
              </a:spcAft>
              <a:defRPr sz="590">
                <a:solidFill>
                  <a:srgbClr val="21242A"/>
                </a:solidFill>
                <a:latin typeface="Microsoft YaHei"/>
              </a:defRPr>
            </a:pPr>
            <a:r>
              <a:t>Relapse occurred in 48% of patients, predominantly involving the brain—alone or combined with ocular disease—whereas isolated ocular relapse was uncommon.</a:t>
            </a:r>
          </a:p>
          <a:p>
            <a:pPr>
              <a:lnSpc>
                <a:spcPct val="103000"/>
              </a:lnSpc>
              <a:spcAft>
                <a:spcPts val="300"/>
              </a:spcAft>
              <a:defRPr sz="590">
                <a:solidFill>
                  <a:srgbClr val="21242A"/>
                </a:solidFill>
                <a:latin typeface="Microsoft YaHei"/>
              </a:defRPr>
            </a:pPr>
            <a:r>
              <a:t>The potential benefit of consolidative approaches (ORT or ASCT) and the high detectability of CSF molecular biomarkers warrant prospective evaluation. \n \n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最佳客观缓解率(ORR)</a:t>
                      </a:r>
                    </a:p>
                  </a:txBody>
                  <a:tcPr>
                    <a:solidFill>
                      <a:srgbClr val="F6F8FB"/>
                    </a:solidFill>
                  </a:tcPr>
                </a:tc>
                <a:tc>
                  <a:txBody>
                    <a:bodyPr wrap="square" lIns="36576" rIns="36576" tIns="18288" bIns="18288"/>
                    <a:lstStyle/>
                    <a:p>
                      <a:r>
                        <a:rPr sz="540" b="0">
                          <a:solidFill>
                            <a:srgbClr val="21242A"/>
                          </a:solidFill>
                          <a:latin typeface="Microsoft YaHei"/>
                        </a:rPr>
                        <a:t>97% (30/31, 95% CI 78-99)</a:t>
                      </a:r>
                    </a:p>
                  </a:txBody>
                  <a:tcPr>
                    <a:solidFill>
                      <a:srgbClr val="F6F8FB"/>
                    </a:solidFill>
                  </a:tcPr>
                </a:tc>
              </a:tr>
              <a:tr h="187452">
                <a:tc>
                  <a:txBody>
                    <a:bodyPr wrap="square" lIns="36576" rIns="36576" tIns="18288" bIns="18288"/>
                    <a:lstStyle/>
                    <a:p>
                      <a:r>
                        <a:rPr sz="540" b="1">
                          <a:solidFill>
                            <a:srgbClr val="21242A"/>
                          </a:solidFill>
                          <a:latin typeface="Microsoft YaHei"/>
                        </a:rPr>
                        <a:t>完全缓解(CR)</a:t>
                      </a:r>
                    </a:p>
                  </a:txBody>
                  <a:tcPr>
                    <a:solidFill>
                      <a:srgbClr val="FFFFFF"/>
                    </a:solidFill>
                  </a:tcPr>
                </a:tc>
                <a:tc>
                  <a:txBody>
                    <a:bodyPr wrap="square" lIns="36576" rIns="36576" tIns="18288" bIns="18288"/>
                    <a:lstStyle/>
                    <a:p>
                      <a:r>
                        <a:rPr sz="540" b="0">
                          <a:solidFill>
                            <a:srgbClr val="21242A"/>
                          </a:solidFill>
                          <a:latin typeface="Microsoft YaHei"/>
                        </a:rPr>
                        <a:t>90% (28/31)</a:t>
                      </a:r>
                    </a:p>
                  </a:txBody>
                  <a:tcPr>
                    <a:solidFill>
                      <a:srgbClr val="FFFFFF"/>
                    </a:solidFill>
                  </a:tcPr>
                </a:tc>
              </a:tr>
              <a:tr h="187452">
                <a:tc>
                  <a:txBody>
                    <a:bodyPr wrap="square" lIns="36576" rIns="36576" tIns="18288" bIns="18288"/>
                    <a:lstStyle/>
                    <a:p>
                      <a:r>
                        <a:rPr sz="540" b="1">
                          <a:solidFill>
                            <a:srgbClr val="21242A"/>
                          </a:solidFill>
                          <a:latin typeface="Microsoft YaHei"/>
                        </a:rPr>
                        <a:t>中位随访时间</a:t>
                      </a:r>
                    </a:p>
                  </a:txBody>
                  <a:tcPr>
                    <a:solidFill>
                      <a:srgbClr val="F6F8FB"/>
                    </a:solidFill>
                  </a:tcPr>
                </a:tc>
                <a:tc>
                  <a:txBody>
                    <a:bodyPr wrap="square" lIns="36576" rIns="36576" tIns="18288" bIns="18288"/>
                    <a:lstStyle/>
                    <a:p>
                      <a:r>
                        <a:rPr sz="540" b="0">
                          <a:solidFill>
                            <a:srgbClr val="21242A"/>
                          </a:solidFill>
                          <a:latin typeface="Microsoft YaHei"/>
                        </a:rPr>
                        <a:t>30个月（范围5-112）</a:t>
                      </a:r>
                    </a:p>
                  </a:txBody>
                  <a:tcPr>
                    <a:solidFill>
                      <a:srgbClr val="F6F8FB"/>
                    </a:solidFill>
                  </a:tcPr>
                </a:tc>
              </a:tr>
              <a:tr h="187452">
                <a:tc>
                  <a:txBody>
                    <a:bodyPr wrap="square" lIns="36576" rIns="36576" tIns="18288" bIns="18288"/>
                    <a:lstStyle/>
                    <a:p>
                      <a:r>
                        <a:rPr sz="540" b="1">
                          <a:solidFill>
                            <a:srgbClr val="21242A"/>
                          </a:solidFill>
                          <a:latin typeface="Microsoft YaHei"/>
                        </a:rPr>
                        <a:t>2年无进展生存率(PFS)</a:t>
                      </a:r>
                    </a:p>
                  </a:txBody>
                  <a:tcPr>
                    <a:solidFill>
                      <a:srgbClr val="FFFFFF"/>
                    </a:solidFill>
                  </a:tcPr>
                </a:tc>
                <a:tc>
                  <a:txBody>
                    <a:bodyPr wrap="square" lIns="36576" rIns="36576" tIns="18288" bIns="18288"/>
                    <a:lstStyle/>
                    <a:p>
                      <a:r>
                        <a:rPr sz="540" b="0">
                          <a:solidFill>
                            <a:srgbClr val="21242A"/>
                          </a:solidFill>
                          <a:latin typeface="Microsoft YaHei"/>
                        </a:rPr>
                        <a:t>49% (95% CI 28.2-66.6)</a:t>
                      </a:r>
                    </a:p>
                  </a:txBody>
                  <a:tcPr>
                    <a:solidFill>
                      <a:srgbClr val="FFFFFF"/>
                    </a:solidFill>
                  </a:tcPr>
                </a:tc>
              </a:tr>
              <a:tr h="187452">
                <a:tc>
                  <a:txBody>
                    <a:bodyPr wrap="square" lIns="36576" rIns="36576" tIns="18288" bIns="18288"/>
                    <a:lstStyle/>
                    <a:p>
                      <a:r>
                        <a:rPr sz="540" b="1">
                          <a:solidFill>
                            <a:srgbClr val="21242A"/>
                          </a:solidFill>
                          <a:latin typeface="Microsoft YaHei"/>
                        </a:rPr>
                        <a:t>2年总生存率(OS)</a:t>
                      </a:r>
                    </a:p>
                  </a:txBody>
                  <a:tcPr>
                    <a:solidFill>
                      <a:srgbClr val="F6F8FB"/>
                    </a:solidFill>
                  </a:tcPr>
                </a:tc>
                <a:tc>
                  <a:txBody>
                    <a:bodyPr wrap="square" lIns="36576" rIns="36576" tIns="18288" bIns="18288"/>
                    <a:lstStyle/>
                    <a:p>
                      <a:r>
                        <a:rPr sz="540" b="0">
                          <a:solidFill>
                            <a:srgbClr val="21242A"/>
                          </a:solidFill>
                          <a:latin typeface="Microsoft YaHei"/>
                        </a:rPr>
                        <a:t>85% (95% CI 64.4-94.0)</a:t>
                      </a:r>
                    </a:p>
                  </a:txBody>
                  <a:tcPr>
                    <a:solidFill>
                      <a:srgbClr val="F6F8FB"/>
                    </a:solidFill>
                  </a:tcPr>
                </a:tc>
              </a:tr>
              <a:tr h="187452">
                <a:tc>
                  <a:txBody>
                    <a:bodyPr wrap="square" lIns="36576" rIns="36576" tIns="18288" bIns="18288"/>
                    <a:lstStyle/>
                    <a:p>
                      <a:r>
                        <a:rPr sz="540" b="1">
                          <a:solidFill>
                            <a:srgbClr val="21242A"/>
                          </a:solidFill>
                          <a:latin typeface="Microsoft YaHei"/>
                        </a:rPr>
                        <a:t>复发率</a:t>
                      </a:r>
                    </a:p>
                  </a:txBody>
                  <a:tcPr>
                    <a:solidFill>
                      <a:srgbClr val="FFFFFF"/>
                    </a:solidFill>
                  </a:tcPr>
                </a:tc>
                <a:tc>
                  <a:txBody>
                    <a:bodyPr wrap="square" lIns="36576" rIns="36576" tIns="18288" bIns="18288"/>
                    <a:lstStyle/>
                    <a:p>
                      <a:r>
                        <a:rPr sz="540" b="0">
                          <a:solidFill>
                            <a:srgbClr val="21242A"/>
                          </a:solidFill>
                          <a:latin typeface="Microsoft YaHei"/>
                        </a:rPr>
                        <a:t>48% (15/31)，其中仅眼部复发13%，仅脑部复发40%，两者均有47%</a:t>
                      </a:r>
                    </a:p>
                  </a:txBody>
                  <a:tcPr>
                    <a:solidFill>
                      <a:srgbClr val="FFFFFF"/>
                    </a:solidFill>
                  </a:tcPr>
                </a:tc>
              </a:tr>
              <a:tr h="187452">
                <a:tc>
                  <a:txBody>
                    <a:bodyPr wrap="square" lIns="36576" rIns="36576" tIns="18288" bIns="18288"/>
                    <a:lstStyle/>
                    <a:p>
                      <a:r>
                        <a:rPr sz="540" b="1">
                          <a:solidFill>
                            <a:srgbClr val="21242A"/>
                          </a:solidFill>
                          <a:latin typeface="Microsoft YaHei"/>
                        </a:rPr>
                        <a:t>死亡</a:t>
                      </a:r>
                    </a:p>
                  </a:txBody>
                  <a:tcPr>
                    <a:solidFill>
                      <a:srgbClr val="F6F8FB"/>
                    </a:solidFill>
                  </a:tcPr>
                </a:tc>
                <a:tc>
                  <a:txBody>
                    <a:bodyPr wrap="square" lIns="36576" rIns="36576" tIns="18288" bIns="18288"/>
                    <a:lstStyle/>
                    <a:p>
                      <a:r>
                        <a:rPr sz="540" b="0">
                          <a:solidFill>
                            <a:srgbClr val="21242A"/>
                          </a:solidFill>
                          <a:latin typeface="Microsoft YaHei"/>
                        </a:rPr>
                        <a:t>9例(28%)，其中6例死于淋巴瘤</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摘要号：PS2094</a:t>
            </a:r>
          </a:p>
          <a:p>
            <a:pPr>
              <a:lnSpc>
                <a:spcPct val="103000"/>
              </a:lnSpc>
              <a:spcAft>
                <a:spcPts val="300"/>
              </a:spcAft>
              <a:defRPr sz="680">
                <a:solidFill>
                  <a:srgbClr val="21242A"/>
                </a:solidFill>
                <a:latin typeface="Microsoft YaHei"/>
              </a:defRPr>
            </a:pPr>
            <a:r>
              <a:t>研究类型：前瞻性临床试验</a:t>
            </a:r>
          </a:p>
          <a:p>
            <a:pPr>
              <a:lnSpc>
                <a:spcPct val="103000"/>
              </a:lnSpc>
              <a:spcAft>
                <a:spcPts val="300"/>
              </a:spcAft>
              <a:defRPr sz="680">
                <a:solidFill>
                  <a:srgbClr val="21242A"/>
                </a:solidFill>
                <a:latin typeface="Microsoft YaHei"/>
              </a:defRPr>
            </a:pPr>
            <a:r>
              <a:t>疾病场景：眼内/玻璃体视网膜淋巴瘤</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84048"/>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章节</a:t>
            </a:r>
          </a:p>
        </p:txBody>
      </p:sp>
      <p:sp>
        <p:nvSpPr>
          <p:cNvPr id="3" name="TextBox 2"/>
          <p:cNvSpPr txBox="1"/>
          <p:nvPr/>
        </p:nvSpPr>
        <p:spPr>
          <a:xfrm>
            <a:off x="1600200" y="274320"/>
            <a:ext cx="9326880" cy="502920"/>
          </a:xfrm>
          <a:prstGeom prst="rect">
            <a:avLst/>
          </a:prstGeom>
          <a:noFill/>
        </p:spPr>
        <p:txBody>
          <a:bodyPr wrap="square" lIns="73152" rIns="73152" tIns="36576" bIns="36576" anchor="t">
            <a:normAutofit/>
          </a:bodyPr>
          <a:lstStyle/>
          <a:p>
            <a:pPr algn="l"/>
            <a:r>
              <a:rPr sz="2200" b="1">
                <a:solidFill>
                  <a:srgbClr val="21242A"/>
                </a:solidFill>
                <a:latin typeface="Microsoft YaHei"/>
              </a:rPr>
              <a:t>回顾性/真实世界研究</a:t>
            </a:r>
          </a:p>
        </p:txBody>
      </p:sp>
      <p:sp>
        <p:nvSpPr>
          <p:cNvPr id="4" name="TextBox 3"/>
          <p:cNvSpPr txBox="1"/>
          <p:nvPr/>
        </p:nvSpPr>
        <p:spPr>
          <a:xfrm>
            <a:off x="1627632" y="859536"/>
            <a:ext cx="9144000" cy="228600"/>
          </a:xfrm>
          <a:prstGeom prst="rect">
            <a:avLst/>
          </a:prstGeom>
          <a:noFill/>
        </p:spPr>
        <p:txBody>
          <a:bodyPr wrap="square" lIns="73152" rIns="73152" tIns="36576" bIns="36576" anchor="t">
            <a:normAutofit/>
          </a:bodyPr>
          <a:lstStyle/>
          <a:p>
            <a:pPr algn="l"/>
            <a:r>
              <a:rPr sz="919" b="0">
                <a:solidFill>
                  <a:srgbClr val="5E6570"/>
                </a:solidFill>
                <a:latin typeface="Microsoft YaHei"/>
              </a:rPr>
              <a:t>81项研究；以下按疾病场景和药物/技术继续细分。</a:t>
            </a:r>
          </a:p>
        </p:txBody>
      </p:sp>
      <p:sp>
        <p:nvSpPr>
          <p:cNvPr id="5" name="TextBox 4"/>
          <p:cNvSpPr txBox="1"/>
          <p:nvPr/>
        </p:nvSpPr>
        <p:spPr>
          <a:xfrm>
            <a:off x="640080" y="148132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疾病场景</a:t>
            </a:r>
          </a:p>
        </p:txBody>
      </p:sp>
      <p:sp>
        <p:nvSpPr>
          <p:cNvPr id="6" name="TextBox 5"/>
          <p:cNvSpPr txBox="1"/>
          <p:nvPr/>
        </p:nvSpPr>
        <p:spPr>
          <a:xfrm>
            <a:off x="768096" y="18288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LBCL/HGBL：58项</a:t>
            </a:r>
          </a:p>
        </p:txBody>
      </p:sp>
      <p:sp>
        <p:nvSpPr>
          <p:cNvPr id="7" name="Rectangle 6"/>
          <p:cNvSpPr/>
          <p:nvPr/>
        </p:nvSpPr>
        <p:spPr>
          <a:xfrm>
            <a:off x="4297680" y="1874519"/>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80" y="1874519"/>
            <a:ext cx="201168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4884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转化/Richter：9项</a:t>
            </a:r>
          </a:p>
        </p:txBody>
      </p:sp>
      <p:sp>
        <p:nvSpPr>
          <p:cNvPr id="10" name="Rectangle 9"/>
          <p:cNvSpPr/>
          <p:nvPr/>
        </p:nvSpPr>
        <p:spPr>
          <a:xfrm>
            <a:off x="4297680" y="219456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2194560"/>
            <a:ext cx="312157"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46888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PMBCL/特殊亚型：5项</a:t>
            </a:r>
          </a:p>
        </p:txBody>
      </p:sp>
      <p:sp>
        <p:nvSpPr>
          <p:cNvPr id="13" name="Rectangle 12"/>
          <p:cNvSpPr/>
          <p:nvPr/>
        </p:nvSpPr>
        <p:spPr>
          <a:xfrm>
            <a:off x="4297680" y="251460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514600"/>
            <a:ext cx="17342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78892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SCNSL/CNS复发或预防：5项</a:t>
            </a:r>
          </a:p>
        </p:txBody>
      </p:sp>
      <p:sp>
        <p:nvSpPr>
          <p:cNvPr id="16" name="Rectangle 15"/>
          <p:cNvSpPr/>
          <p:nvPr/>
        </p:nvSpPr>
        <p:spPr>
          <a:xfrm>
            <a:off x="4297680" y="283464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834640"/>
            <a:ext cx="17342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310896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PCNSL：3项</a:t>
            </a:r>
          </a:p>
        </p:txBody>
      </p:sp>
      <p:sp>
        <p:nvSpPr>
          <p:cNvPr id="19" name="Rectangle 18"/>
          <p:cNvSpPr/>
          <p:nvPr/>
        </p:nvSpPr>
        <p:spPr>
          <a:xfrm>
            <a:off x="4297680" y="315468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3154680"/>
            <a:ext cx="104052"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4290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眼内/玻璃体视网膜淋巴瘤：1项</a:t>
            </a:r>
          </a:p>
        </p:txBody>
      </p:sp>
      <p:sp>
        <p:nvSpPr>
          <p:cNvPr id="22" name="Rectangle 21"/>
          <p:cNvSpPr/>
          <p:nvPr/>
        </p:nvSpPr>
        <p:spPr>
          <a:xfrm>
            <a:off x="4297680" y="347472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3474720"/>
            <a:ext cx="34684"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1481328"/>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药物/技术</a:t>
            </a:r>
          </a:p>
        </p:txBody>
      </p:sp>
      <p:sp>
        <p:nvSpPr>
          <p:cNvPr id="25" name="TextBox 24"/>
          <p:cNvSpPr txBox="1"/>
          <p:nvPr/>
        </p:nvSpPr>
        <p:spPr>
          <a:xfrm>
            <a:off x="6720840" y="18288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CAR-T/细胞治疗：40项</a:t>
            </a:r>
          </a:p>
        </p:txBody>
      </p:sp>
      <p:sp>
        <p:nvSpPr>
          <p:cNvPr id="26" name="Rectangle 25"/>
          <p:cNvSpPr/>
          <p:nvPr/>
        </p:nvSpPr>
        <p:spPr>
          <a:xfrm>
            <a:off x="9893808" y="1874519"/>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93808" y="1874519"/>
            <a:ext cx="150876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214884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其他/未明确药物：20项</a:t>
            </a:r>
          </a:p>
        </p:txBody>
      </p:sp>
      <p:sp>
        <p:nvSpPr>
          <p:cNvPr id="29" name="Rectangle 28"/>
          <p:cNvSpPr/>
          <p:nvPr/>
        </p:nvSpPr>
        <p:spPr>
          <a:xfrm>
            <a:off x="9893808" y="219456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893808" y="2194560"/>
            <a:ext cx="75438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246888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化疗/免疫化疗：10项</a:t>
            </a:r>
          </a:p>
        </p:txBody>
      </p:sp>
      <p:sp>
        <p:nvSpPr>
          <p:cNvPr id="32" name="Rectangle 31"/>
          <p:cNvSpPr/>
          <p:nvPr/>
        </p:nvSpPr>
        <p:spPr>
          <a:xfrm>
            <a:off x="9893808" y="251460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3808" y="2514600"/>
            <a:ext cx="37719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278892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ADC：5项</a:t>
            </a:r>
          </a:p>
        </p:txBody>
      </p:sp>
      <p:sp>
        <p:nvSpPr>
          <p:cNvPr id="35" name="Rectangle 34"/>
          <p:cNvSpPr/>
          <p:nvPr/>
        </p:nvSpPr>
        <p:spPr>
          <a:xfrm>
            <a:off x="9893808" y="283464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893808" y="2834640"/>
            <a:ext cx="188595"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10896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双抗：2项</a:t>
            </a:r>
          </a:p>
        </p:txBody>
      </p:sp>
      <p:sp>
        <p:nvSpPr>
          <p:cNvPr id="38" name="Rectangle 37"/>
          <p:cNvSpPr/>
          <p:nvPr/>
        </p:nvSpPr>
        <p:spPr>
          <a:xfrm>
            <a:off x="9893808" y="315468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93808" y="3154680"/>
            <a:ext cx="7543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20840" y="34290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BTKi：2项</a:t>
            </a:r>
          </a:p>
        </p:txBody>
      </p:sp>
      <p:sp>
        <p:nvSpPr>
          <p:cNvPr id="41" name="Rectangle 40"/>
          <p:cNvSpPr/>
          <p:nvPr/>
        </p:nvSpPr>
        <p:spPr>
          <a:xfrm>
            <a:off x="9893808" y="347472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93808" y="3474720"/>
            <a:ext cx="7543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919472"/>
            <a:ext cx="10744200" cy="74980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065776"/>
            <a:ext cx="10332720" cy="384048"/>
          </a:xfrm>
          <a:prstGeom prst="rect">
            <a:avLst/>
          </a:prstGeom>
          <a:noFill/>
        </p:spPr>
        <p:txBody>
          <a:bodyPr wrap="square" rIns="73152" bIns="36576">
            <a:normAutofit/>
          </a:bodyPr>
          <a:lstStyle/>
          <a:p>
            <a:pPr>
              <a:lnSpc>
                <a:spcPct val="103000"/>
              </a:lnSpc>
              <a:spcAft>
                <a:spcPts val="300"/>
              </a:spcAft>
              <a:defRPr sz="800">
                <a:solidFill>
                  <a:srgbClr val="5E6570"/>
                </a:solidFill>
                <a:latin typeface="Microsoft YaHei"/>
              </a:defRPr>
            </a:pPr>
            <a:r>
              <a:t>章节内每项研究固定两页：研究设计/PICO、证据摘要（摘要/结论/结果/来源）。</a:t>
            </a:r>
          </a:p>
          <a:p>
            <a:pPr>
              <a:lnSpc>
                <a:spcPct val="103000"/>
              </a:lnSpc>
              <a:spcAft>
                <a:spcPts val="300"/>
              </a:spcAft>
              <a:defRPr sz="800">
                <a:solidFill>
                  <a:srgbClr val="5E6570"/>
                </a:solidFill>
                <a:latin typeface="Microsoft YaHei"/>
              </a:defRPr>
            </a:pPr>
            <a:r>
              <a:t>所有证据字段来自EHA页面或已核对原表字段；右下角可跳转EHA原文。</a:t>
            </a:r>
          </a:p>
        </p:txBody>
      </p:sp>
      <p:sp>
        <p:nvSpPr>
          <p:cNvPr id="45" name="Rounded Rectangle 44">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综合多组分分析确定了与大b细胞淋巴瘤car-t治疗后不同结果相关的基因组亚型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multi-omic profiling identifies genomic subtypes associated with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BN2亚型 vs 其他亚型：PFS 16% (95% CI 6-46, p=0.017)，PFS6显著更低(p=0.009)，...</a:t>
            </a:r>
          </a:p>
          <a:p>
            <a:pPr>
              <a:lnSpc>
                <a:spcPct val="103000"/>
              </a:lnSpc>
              <a:spcAft>
                <a:spcPts val="300"/>
              </a:spcAft>
              <a:defRPr sz="800">
                <a:solidFill>
                  <a:srgbClr val="21242A"/>
                </a:solidFill>
                <a:latin typeface="Microsoft YaHei"/>
              </a:defRPr>
            </a:pPr>
            <a:r>
              <a:t>多变量Cox回归：BN2与较差的PFS和PFS6独立相关(均p&lt;0.05)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综合多组分分析确定了与大b细胞淋巴瘤car-t治疗后不同结果相关的基因组亚型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multi-omic profiling identifies genomic subtypes associated with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Outcomes after CD19-directed CAR-T cell therapy in large B-cell lymphoma (LBCL) remain heterogeneous and are not fully explained by established clin</a:t>
            </a:r>
          </a:p>
          <a:p>
            <a:pPr>
              <a:lnSpc>
                <a:spcPct val="103000"/>
              </a:lnSpc>
              <a:spcAft>
                <a:spcPts val="300"/>
              </a:spcAft>
              <a:defRPr sz="570">
                <a:solidFill>
                  <a:srgbClr val="21242A"/>
                </a:solidFill>
                <a:latin typeface="Microsoft YaHei"/>
              </a:defRPr>
            </a:pPr>
            <a:r>
              <a:t>ical prognostic models.</a:t>
            </a:r>
          </a:p>
          <a:p>
            <a:pPr>
              <a:lnSpc>
                <a:spcPct val="103000"/>
              </a:lnSpc>
              <a:spcAft>
                <a:spcPts val="300"/>
              </a:spcAft>
              <a:defRPr sz="570">
                <a:solidFill>
                  <a:srgbClr val="21242A"/>
                </a:solidFill>
                <a:latin typeface="Microsoft YaHei"/>
              </a:defRPr>
            </a:pPr>
            <a:r>
              <a:t>Tumor genomic architecture and microenvironmental states may influence CAR-T efficacy, but their integrated impact in real-world cohorts remains incompletely de</a:t>
            </a:r>
          </a:p>
          <a:p>
            <a:pPr>
              <a:lnSpc>
                <a:spcPct val="103000"/>
              </a:lnSpc>
              <a:spcAft>
                <a:spcPts val="300"/>
              </a:spcAft>
              <a:defRPr sz="570">
                <a:solidFill>
                  <a:srgbClr val="21242A"/>
                </a:solidFill>
                <a:latin typeface="Microsoft YaHei"/>
              </a:defRPr>
            </a:pPr>
            <a:r>
              <a:t>fined.</a:t>
            </a:r>
          </a:p>
          <a:p>
            <a:pPr>
              <a:lnSpc>
                <a:spcPct val="103000"/>
              </a:lnSpc>
              <a:spcAft>
                <a:spcPts val="300"/>
              </a:spcAft>
              <a:defRPr sz="570">
                <a:solidFill>
                  <a:srgbClr val="21242A"/>
                </a:solidFill>
                <a:latin typeface="Microsoft YaHei"/>
              </a:defRPr>
            </a:pPr>
            <a:r>
              <a:t>We performed a multi-omic analysis to identify biological determinants of clinical variability after CAR-T therapy.</a:t>
            </a:r>
          </a:p>
          <a:p>
            <a:pPr>
              <a:lnSpc>
                <a:spcPct val="103000"/>
              </a:lnSpc>
              <a:spcAft>
                <a:spcPts val="300"/>
              </a:spcAft>
              <a:defRPr sz="570">
                <a:solidFill>
                  <a:srgbClr val="21242A"/>
                </a:solidFill>
                <a:latin typeface="Microsoft YaHei"/>
              </a:defRPr>
            </a:pPr>
            <a:r>
              <a:t>Aims: To define tumor-intrinsic genomic and transcriptomic features associated with resistance to CAR-T cell therapy in LBCL.</a:t>
            </a:r>
          </a:p>
          <a:p>
            <a:pPr>
              <a:lnSpc>
                <a:spcPct val="103000"/>
              </a:lnSpc>
              <a:spcAft>
                <a:spcPts val="300"/>
              </a:spcAft>
              <a:defRPr sz="570">
                <a:solidFill>
                  <a:srgbClr val="21242A"/>
                </a:solidFill>
                <a:latin typeface="Microsoft YaHei"/>
              </a:defRPr>
            </a:pPr>
            <a:r>
              <a:t>Methods: We conducted a retrospective cohort study of patients with LBCL treated with commercial CAR-T therapy between 2016 and 2022.</a:t>
            </a:r>
          </a:p>
          <a:p>
            <a:pPr>
              <a:lnSpc>
                <a:spcPct val="103000"/>
              </a:lnSpc>
              <a:spcAft>
                <a:spcPts val="300"/>
              </a:spcAft>
              <a:defRPr sz="570">
                <a:solidFill>
                  <a:srgbClr val="21242A"/>
                </a:solidFill>
                <a:latin typeface="Microsoft YaHei"/>
              </a:defRPr>
            </a:pPr>
            <a:r>
              <a:t>Pre-CAR-T tumor specimens underwent whole-exome sequencing (WES) and RNA sequencing (RNA-seq), followed by integrated genomic and transcriptomic analyses using </a:t>
            </a:r>
          </a:p>
          <a:p>
            <a:pPr>
              <a:lnSpc>
                <a:spcPct val="103000"/>
              </a:lnSpc>
              <a:spcAft>
                <a:spcPts val="300"/>
              </a:spcAft>
              <a:defRPr sz="570">
                <a:solidFill>
                  <a:srgbClr val="21242A"/>
                </a:solidFill>
                <a:latin typeface="Microsoft YaHei"/>
              </a:defRPr>
            </a:pPr>
            <a:r>
              <a:t>a standardized multi-omic computational pipeline (BostonGene, Waltham, MA).</a:t>
            </a:r>
          </a:p>
          <a:p>
            <a:pPr>
              <a:lnSpc>
                <a:spcPct val="103000"/>
              </a:lnSpc>
              <a:spcAft>
                <a:spcPts val="300"/>
              </a:spcAft>
              <a:defRPr sz="570">
                <a:solidFill>
                  <a:srgbClr val="21242A"/>
                </a:solidFill>
                <a:latin typeface="Microsoft YaHei"/>
              </a:defRPr>
            </a:pPr>
            <a:r>
              <a:t>Genomic subtypes were assigned using the established LymphGen framework ( Wright et al .</a:t>
            </a:r>
          </a:p>
          <a:p>
            <a:pPr>
              <a:lnSpc>
                <a:spcPct val="103000"/>
              </a:lnSpc>
              <a:spcAft>
                <a:spcPts val="300"/>
              </a:spcAft>
              <a:defRPr sz="570">
                <a:solidFill>
                  <a:srgbClr val="21242A"/>
                </a:solidFill>
                <a:latin typeface="Microsoft YaHei"/>
              </a:defRPr>
            </a:pPr>
            <a:r>
              <a:t>, Cancer cell, 2020 ) and Lymphly, a hierarchical genomic classification algorithm developed to improve molecular stratification of LBCL.</a:t>
            </a:r>
          </a:p>
          <a:p>
            <a:pPr>
              <a:lnSpc>
                <a:spcPct val="103000"/>
              </a:lnSpc>
              <a:spcAft>
                <a:spcPts val="300"/>
              </a:spcAft>
              <a:defRPr sz="570">
                <a:solidFill>
                  <a:srgbClr val="21242A"/>
                </a:solidFill>
                <a:latin typeface="Microsoft YaHei"/>
              </a:defRPr>
            </a:pPr>
            <a:r>
              <a:t>The tumor microenvironment (TME), and double hit signature (DHIT) were classified according to Kotlov et al .</a:t>
            </a:r>
          </a:p>
          <a:p>
            <a:pPr>
              <a:lnSpc>
                <a:spcPct val="103000"/>
              </a:lnSpc>
              <a:spcAft>
                <a:spcPts val="300"/>
              </a:spcAft>
              <a:defRPr sz="570">
                <a:solidFill>
                  <a:srgbClr val="21242A"/>
                </a:solidFill>
                <a:latin typeface="Microsoft YaHei"/>
              </a:defRPr>
            </a:pPr>
            <a:r>
              <a:t>( Cancer Discovery, 2021 ), dark zone (DZsig) signature in accordance with Harris et al. ( Leukemia Lymphoma , 2025).</a:t>
            </a:r>
          </a:p>
          <a:p>
            <a:pPr>
              <a:lnSpc>
                <a:spcPct val="103000"/>
              </a:lnSpc>
              <a:spcAft>
                <a:spcPts val="300"/>
              </a:spcAft>
              <a:defRPr sz="570">
                <a:solidFill>
                  <a:srgbClr val="21242A"/>
                </a:solidFill>
                <a:latin typeface="Microsoft YaHei"/>
              </a:defRPr>
            </a:pPr>
            <a:r>
              <a:t>Associations between molecular features and progression-free survival (PFS), 6-month PFS (PFS6), and complete response (CR) were evaluated.</a:t>
            </a:r>
          </a:p>
          <a:p>
            <a:pPr>
              <a:lnSpc>
                <a:spcPct val="103000"/>
              </a:lnSpc>
              <a:spcAft>
                <a:spcPts val="300"/>
              </a:spcAft>
              <a:defRPr sz="570">
                <a:solidFill>
                  <a:srgbClr val="21242A"/>
                </a:solidFill>
                <a:latin typeface="Microsoft YaHei"/>
              </a:defRPr>
            </a:pPr>
            <a:r>
              <a:t>Subgroups with fewer than 10 cases were excluded from statistical comparisons but retained for visualization.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Multi-omic profiling identifies biologically defined high-risk subgroups after CAR-T therapy, highlighting BN2 as a genomically driven resistance phenotype.</a:t>
            </a:r>
          </a:p>
          <a:p>
            <a:pPr>
              <a:lnSpc>
                <a:spcPct val="103000"/>
              </a:lnSpc>
              <a:spcAft>
                <a:spcPts val="300"/>
              </a:spcAft>
              <a:defRPr sz="590">
                <a:solidFill>
                  <a:srgbClr val="21242A"/>
                </a:solidFill>
                <a:latin typeface="Microsoft YaHei"/>
              </a:defRPr>
            </a:pPr>
            <a:r>
              <a:t>Genomic classification may refine patient selection and enable mechanism-based therapeutic strategies in 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Among 112 patients with available molecular data, median follow-up was 66 months (IQR 46-73).</a:t>
            </a:r>
          </a:p>
          <a:p>
            <a:pPr>
              <a:lnSpc>
                <a:spcPct val="103000"/>
              </a:lnSpc>
              <a:spcAft>
                <a:spcPts val="300"/>
              </a:spcAft>
              <a:defRPr sz="580">
                <a:solidFill>
                  <a:srgbClr val="21242A"/>
                </a:solidFill>
                <a:latin typeface="Microsoft YaHei"/>
              </a:defRPr>
            </a:pPr>
            <a:r>
              <a:t>CAR-T products included axicabtagene ciloleucel (49%), tisagenlecleucel (38%), and lisocabtagene maraleucel (13%).</a:t>
            </a:r>
          </a:p>
          <a:p>
            <a:pPr>
              <a:lnSpc>
                <a:spcPct val="103000"/>
              </a:lnSpc>
              <a:spcAft>
                <a:spcPts val="300"/>
              </a:spcAft>
              <a:defRPr sz="580">
                <a:solidFill>
                  <a:srgbClr val="21242A"/>
                </a:solidFill>
                <a:latin typeface="Microsoft YaHei"/>
              </a:defRPr>
            </a:pPr>
            <a:r>
              <a:t>Fifty-four percent of tumors were germinal center B-cell type, 46% activated B-cell type, and 17% were DHIT-positive.</a:t>
            </a:r>
          </a:p>
          <a:p>
            <a:pPr>
              <a:lnSpc>
                <a:spcPct val="103000"/>
              </a:lnSpc>
              <a:spcAft>
                <a:spcPts val="300"/>
              </a:spcAft>
              <a:defRPr sz="580">
                <a:solidFill>
                  <a:srgbClr val="21242A"/>
                </a:solidFill>
                <a:latin typeface="Microsoft YaHei"/>
              </a:defRPr>
            </a:pPr>
            <a:r>
              <a:t>\n WES data were available in 99 patients.</a:t>
            </a:r>
          </a:p>
          <a:p>
            <a:pPr>
              <a:lnSpc>
                <a:spcPct val="103000"/>
              </a:lnSpc>
              <a:spcAft>
                <a:spcPts val="300"/>
              </a:spcAft>
              <a:defRPr sz="580">
                <a:solidFill>
                  <a:srgbClr val="21242A"/>
                </a:solidFill>
                <a:latin typeface="Microsoft YaHei"/>
              </a:defRPr>
            </a:pPr>
            <a:r>
              <a:t>BostonGene’s Lymphly classifier assigned genomic subtypes to a larger proportion of evaluable cases compared with LymphGen and demonstrated improved outcom</a:t>
            </a:r>
          </a:p>
          <a:p>
            <a:pPr>
              <a:lnSpc>
                <a:spcPct val="103000"/>
              </a:lnSpc>
              <a:spcAft>
                <a:spcPts val="300"/>
              </a:spcAft>
              <a:defRPr sz="580">
                <a:solidFill>
                  <a:srgbClr val="21242A"/>
                </a:solidFill>
                <a:latin typeface="Microsoft YaHei"/>
              </a:defRPr>
            </a:pPr>
            <a:r>
              <a:t>e discrimination ( Fig.</a:t>
            </a:r>
          </a:p>
          <a:p>
            <a:pPr>
              <a:lnSpc>
                <a:spcPct val="103000"/>
              </a:lnSpc>
              <a:spcAft>
                <a:spcPts val="300"/>
              </a:spcAft>
              <a:defRPr sz="580">
                <a:solidFill>
                  <a:srgbClr val="21242A"/>
                </a:solidFill>
                <a:latin typeface="Microsoft YaHei"/>
              </a:defRPr>
            </a:pPr>
            <a:r>
              <a:t>1A ).</a:t>
            </a:r>
          </a:p>
          <a:p>
            <a:pPr>
              <a:lnSpc>
                <a:spcPct val="103000"/>
              </a:lnSpc>
              <a:spcAft>
                <a:spcPts val="300"/>
              </a:spcAft>
              <a:defRPr sz="580">
                <a:solidFill>
                  <a:srgbClr val="21242A"/>
                </a:solidFill>
                <a:latin typeface="Microsoft YaHei"/>
              </a:defRPr>
            </a:pPr>
            <a:r>
              <a:t>Inferior outcomes were primarily driven by the BN2 subtype, which was associated with worse PFS (16%, 95% CI 6-46, p=0.017), lower PFS6 (p=0.009), and redu</a:t>
            </a:r>
          </a:p>
          <a:p>
            <a:pPr>
              <a:lnSpc>
                <a:spcPct val="103000"/>
              </a:lnSpc>
              <a:spcAft>
                <a:spcPts val="300"/>
              </a:spcAft>
              <a:defRPr sz="580">
                <a:solidFill>
                  <a:srgbClr val="21242A"/>
                </a:solidFill>
                <a:latin typeface="Microsoft YaHei"/>
              </a:defRPr>
            </a:pPr>
            <a:r>
              <a:t>ced CR rates (p=0.041) compared with other evaluable subgroups ( Fig.</a:t>
            </a:r>
          </a:p>
          <a:p>
            <a:pPr>
              <a:lnSpc>
                <a:spcPct val="103000"/>
              </a:lnSpc>
              <a:spcAft>
                <a:spcPts val="300"/>
              </a:spcAft>
              <a:defRPr sz="580">
                <a:solidFill>
                  <a:srgbClr val="21242A"/>
                </a:solidFill>
                <a:latin typeface="Microsoft YaHei"/>
              </a:defRPr>
            </a:pPr>
            <a:r>
              <a:t>1B ).</a:t>
            </a:r>
          </a:p>
          <a:p>
            <a:pPr>
              <a:lnSpc>
                <a:spcPct val="103000"/>
              </a:lnSpc>
              <a:spcAft>
                <a:spcPts val="300"/>
              </a:spcAft>
              <a:defRPr sz="580">
                <a:solidFill>
                  <a:srgbClr val="21242A"/>
                </a:solidFill>
                <a:latin typeface="Microsoft YaHei"/>
              </a:defRPr>
            </a:pPr>
            <a:r>
              <a:t>In multivariable Cox models adjusting for relevant clinical covariates, BN2 remained independently associated with inferior PFS and PFS6 (both p \n RNA-seq</a:t>
            </a:r>
          </a:p>
          <a:p>
            <a:pPr>
              <a:lnSpc>
                <a:spcPct val="103000"/>
              </a:lnSpc>
              <a:spcAft>
                <a:spcPts val="300"/>
              </a:spcAft>
              <a:defRPr sz="580">
                <a:solidFill>
                  <a:srgbClr val="21242A"/>
                </a:solidFill>
                <a:latin typeface="Microsoft YaHei"/>
              </a:defRPr>
            </a:pPr>
            <a:r>
              <a:t> data were available for 55 patients.</a:t>
            </a:r>
          </a:p>
          <a:p>
            <a:pPr>
              <a:lnSpc>
                <a:spcPct val="103000"/>
              </a:lnSpc>
              <a:spcAft>
                <a:spcPts val="300"/>
              </a:spcAft>
              <a:defRPr sz="580">
                <a:solidFill>
                  <a:srgbClr val="21242A"/>
                </a:solidFill>
                <a:latin typeface="Microsoft YaHei"/>
              </a:defRPr>
            </a:pPr>
            <a:r>
              <a:t>RNA-defined TME subtypes and DHIT status were not significantly associated with PFS in univariable analyses.</a:t>
            </a:r>
          </a:p>
          <a:p>
            <a:pPr>
              <a:lnSpc>
                <a:spcPct val="103000"/>
              </a:lnSpc>
              <a:spcAft>
                <a:spcPts val="300"/>
              </a:spcAft>
              <a:defRPr sz="580">
                <a:solidFill>
                  <a:srgbClr val="21242A"/>
                </a:solidFill>
                <a:latin typeface="Microsoft YaHei"/>
              </a:defRPr>
            </a:pPr>
            <a:r>
              <a:t>The inflammatory TME subtype demonstrated numerically inferior outcomes, with a 1-year PFS of 19% (95% CI 7-52) compared with 36% and 41% in the mesenchyma</a:t>
            </a:r>
          </a:p>
          <a:p>
            <a:pPr>
              <a:lnSpc>
                <a:spcPct val="103000"/>
              </a:lnSpc>
              <a:spcAft>
                <a:spcPts val="300"/>
              </a:spcAft>
              <a:defRPr sz="580">
                <a:solidFill>
                  <a:srgbClr val="21242A"/>
                </a:solidFill>
                <a:latin typeface="Microsoft YaHei"/>
              </a:defRPr>
            </a:pPr>
            <a:r>
              <a:t>l and depleted subtypes, respectively, whereas DHIT-positive cases showed numerically favorable 1-year PFS (46% vs 31%) ( Fig.</a:t>
            </a:r>
          </a:p>
          <a:p>
            <a:pPr>
              <a:lnSpc>
                <a:spcPct val="103000"/>
              </a:lnSpc>
              <a:spcAft>
                <a:spcPts val="300"/>
              </a:spcAft>
              <a:defRPr sz="580">
                <a:solidFill>
                  <a:srgbClr val="21242A"/>
                </a:solidFill>
                <a:latin typeface="Microsoft YaHei"/>
              </a:defRPr>
            </a:pPr>
            <a:r>
              <a:t>1C ).</a:t>
            </a:r>
          </a:p>
          <a:p>
            <a:pPr>
              <a:lnSpc>
                <a:spcPct val="103000"/>
              </a:lnSpc>
              <a:spcAft>
                <a:spcPts val="300"/>
              </a:spcAft>
              <a:defRPr sz="580">
                <a:solidFill>
                  <a:srgbClr val="21242A"/>
                </a:solidFill>
                <a:latin typeface="Microsoft YaHei"/>
              </a:defRPr>
            </a:pPr>
            <a:r>
              <a:t>Within the GCB subgroup, the Dzsig showed similar PFS between DZsig-positive and DZsig-negative cases ( Fig 1D ); formal statistical testing was not perfor</a:t>
            </a:r>
          </a:p>
          <a:p>
            <a:pPr>
              <a:lnSpc>
                <a:spcPct val="103000"/>
              </a:lnSpc>
              <a:spcAft>
                <a:spcPts val="300"/>
              </a:spcAft>
              <a:defRPr sz="580">
                <a:solidFill>
                  <a:srgbClr val="21242A"/>
                </a:solidFill>
                <a:latin typeface="Microsoft YaHei"/>
              </a:defRPr>
            </a:pPr>
            <a:r>
              <a:t>med due to limited sample size.</a:t>
            </a:r>
          </a:p>
          <a:p>
            <a:pPr>
              <a:lnSpc>
                <a:spcPct val="103000"/>
              </a:lnSpc>
              <a:spcAft>
                <a:spcPts val="300"/>
              </a:spcAft>
              <a:defRPr sz="580">
                <a:solidFill>
                  <a:srgbClr val="21242A"/>
                </a:solidFill>
                <a:latin typeface="Microsoft YaHei"/>
              </a:defRPr>
            </a:pPr>
            <a:r>
              <a:t>Conclusion: Multi-omic profiling identifies biologically defined high-risk subgroups after CAR-T therapy, highlighting BN2 as a genomically driven resistan</a:t>
            </a:r>
          </a:p>
          <a:p>
            <a:pPr>
              <a:lnSpc>
                <a:spcPct val="103000"/>
              </a:lnSpc>
              <a:spcAft>
                <a:spcPts val="300"/>
              </a:spcAft>
              <a:defRPr sz="580">
                <a:solidFill>
                  <a:srgbClr val="21242A"/>
                </a:solidFill>
                <a:latin typeface="Microsoft YaHei"/>
              </a:defRPr>
            </a:pPr>
            <a:r>
              <a:t>ce phenotype.</a:t>
            </a:r>
          </a:p>
          <a:p>
            <a:pPr>
              <a:lnSpc>
                <a:spcPct val="103000"/>
              </a:lnSpc>
              <a:spcAft>
                <a:spcPts val="300"/>
              </a:spcAft>
              <a:defRPr sz="580">
                <a:solidFill>
                  <a:srgbClr val="21242A"/>
                </a:solidFill>
                <a:latin typeface="Microsoft YaHei"/>
              </a:defRPr>
            </a:pPr>
            <a:r>
              <a:t>Genomic classification may refine patient selection and enable mechanism-based therapeutic strategies in LBCL.</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摘要号：S283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t细胞治疗复发/难治性高级别b细胞淋巴瘤（hgbl）后的良好现实结果：ebmt-lwp分析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favorable real-world outcomes after cd19 car t cell treatment in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N=5298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试验药/方案：CD19靶向CAR-T(国立台湾大学医学院附设医院)</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对照/比较：试验组1：HGBL-MYC/BCL2患者，CD19 CAR T细胞治疗</a:t>
            </a:r>
          </a:p>
          <a:p>
            <a:pPr>
              <a:lnSpc>
                <a:spcPct val="103000"/>
              </a:lnSpc>
              <a:spcAft>
                <a:spcPts val="300"/>
              </a:spcAft>
              <a:defRPr sz="800">
                <a:solidFill>
                  <a:srgbClr val="21242A"/>
                </a:solidFill>
                <a:latin typeface="Microsoft YaHei"/>
              </a:defRPr>
            </a:pPr>
            <a:r>
              <a:t>试验组2：HGBL-NOS患者，CD19 CAR T细胞治疗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1年无进展生存率（PFS）：HGBL-MYC/BCL2组58%，HGBL-NOS组52%，DLBCL-NOS组48% (P=0...</a:t>
            </a:r>
          </a:p>
          <a:p>
            <a:pPr>
              <a:lnSpc>
                <a:spcPct val="103000"/>
              </a:lnSpc>
              <a:spcAft>
                <a:spcPts val="300"/>
              </a:spcAft>
              <a:defRPr sz="800">
                <a:solidFill>
                  <a:srgbClr val="21242A"/>
                </a:solidFill>
                <a:latin typeface="Microsoft YaHei"/>
              </a:defRPr>
            </a:pPr>
            <a:r>
              <a:t>1年总生存率（OS）：HGBL-MYC/BCL2组73%，HGBL-NOS组67%，DLBCL-NOS组62% (P=0.01)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人数：5298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试验药/方案：CD19靶向CAR-T(国立台湾大学医学院附设医院)</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t细胞治疗复发/难治性高级别b细胞淋巴瘤（hgbl）后的良好现实结果：ebmt-lwp分析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favorable real-world outcomes after cd19 car t cell treatment in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High-grade B cell lymphoma (HGBL) not otherwise specified (NOS) and HGBL with MYC and BCL2 rearrangements (HGBL-MYC/BCL2) are considered distinct en</a:t>
            </a:r>
          </a:p>
          <a:p>
            <a:pPr>
              <a:lnSpc>
                <a:spcPct val="103000"/>
              </a:lnSpc>
              <a:spcAft>
                <a:spcPts val="300"/>
              </a:spcAft>
              <a:defRPr sz="570">
                <a:solidFill>
                  <a:srgbClr val="21242A"/>
                </a:solidFill>
                <a:latin typeface="Microsoft YaHei"/>
              </a:defRPr>
            </a:pPr>
            <a:r>
              <a:t>tities in the WHO 5th edition classification.</a:t>
            </a:r>
          </a:p>
          <a:p>
            <a:pPr>
              <a:lnSpc>
                <a:spcPct val="103000"/>
              </a:lnSpc>
              <a:spcAft>
                <a:spcPts val="300"/>
              </a:spcAft>
              <a:defRPr sz="570">
                <a:solidFill>
                  <a:srgbClr val="21242A"/>
                </a:solidFill>
                <a:latin typeface="Microsoft YaHei"/>
              </a:defRPr>
            </a:pPr>
            <a:r>
              <a:t>Both represent difficult-to-treat subtypes, particularly in the relapsed/refractory (R/R) setting.</a:t>
            </a:r>
          </a:p>
          <a:p>
            <a:pPr>
              <a:lnSpc>
                <a:spcPct val="103000"/>
              </a:lnSpc>
              <a:spcAft>
                <a:spcPts val="300"/>
              </a:spcAft>
              <a:defRPr sz="570">
                <a:solidFill>
                  <a:srgbClr val="21242A"/>
                </a:solidFill>
                <a:latin typeface="Microsoft YaHei"/>
              </a:defRPr>
            </a:pPr>
            <a:r>
              <a:t>As the standardized diagnostic category “HGBL with MYC and BCL2 rearrangements” is relatively new, precise outcome data remain limited, as many reports rely on </a:t>
            </a:r>
          </a:p>
          <a:p>
            <a:pPr>
              <a:lnSpc>
                <a:spcPct val="103000"/>
              </a:lnSpc>
              <a:spcAft>
                <a:spcPts val="300"/>
              </a:spcAft>
              <a:defRPr sz="570">
                <a:solidFill>
                  <a:srgbClr val="21242A"/>
                </a:solidFill>
                <a:latin typeface="Microsoft YaHei"/>
              </a:defRPr>
            </a:pPr>
            <a:r>
              <a:t>broader definitions.</a:t>
            </a:r>
          </a:p>
          <a:p>
            <a:pPr>
              <a:lnSpc>
                <a:spcPct val="103000"/>
              </a:lnSpc>
              <a:spcAft>
                <a:spcPts val="300"/>
              </a:spcAft>
              <a:defRPr sz="570">
                <a:solidFill>
                  <a:srgbClr val="21242A"/>
                </a:solidFill>
                <a:latin typeface="Microsoft YaHei"/>
              </a:defRPr>
            </a:pPr>
            <a:r>
              <a:t>As these entities can also be underrepresented in pivotal trials, defining real-world, entity-specific outcomes after CD19 CAR T cell treatment is essential.</a:t>
            </a:r>
          </a:p>
          <a:p>
            <a:pPr>
              <a:lnSpc>
                <a:spcPct val="103000"/>
              </a:lnSpc>
              <a:spcAft>
                <a:spcPts val="300"/>
              </a:spcAft>
              <a:defRPr sz="570">
                <a:solidFill>
                  <a:srgbClr val="21242A"/>
                </a:solidFill>
                <a:latin typeface="Microsoft YaHei"/>
              </a:defRPr>
            </a:pPr>
            <a:r>
              <a:t>Aims: Describe real-world (RW), entity-specific outcomes after CD19 CAR T-cell therapy in HGBL-NOS and HGBL-MYC/BCL2 and compare them with the outcomes of a com</a:t>
            </a:r>
          </a:p>
          <a:p>
            <a:pPr>
              <a:lnSpc>
                <a:spcPct val="103000"/>
              </a:lnSpc>
              <a:spcAft>
                <a:spcPts val="300"/>
              </a:spcAft>
              <a:defRPr sz="570">
                <a:solidFill>
                  <a:srgbClr val="21242A"/>
                </a:solidFill>
                <a:latin typeface="Microsoft YaHei"/>
              </a:defRPr>
            </a:pPr>
            <a:r>
              <a:t>prehensive diffuse large B cell lymphoma (DLBCL)-NOS EBMT registry cohort.</a:t>
            </a:r>
          </a:p>
          <a:p>
            <a:pPr>
              <a:lnSpc>
                <a:spcPct val="103000"/>
              </a:lnSpc>
              <a:spcAft>
                <a:spcPts val="300"/>
              </a:spcAft>
              <a:defRPr sz="570">
                <a:solidFill>
                  <a:srgbClr val="21242A"/>
                </a:solidFill>
                <a:latin typeface="Microsoft YaHei"/>
              </a:defRPr>
            </a:pPr>
            <a:r>
              <a:t>Methods: Adult patients (pts) diagnosed with HGBL-NOS or HGBL-MYC/BCL2, or DLBCL-NOS who received CD19 CAR T therapy between 2018 and 2023 and were reported to </a:t>
            </a:r>
          </a:p>
          <a:p>
            <a:pPr>
              <a:lnSpc>
                <a:spcPct val="103000"/>
              </a:lnSpc>
              <a:spcAft>
                <a:spcPts val="300"/>
              </a:spcAft>
              <a:defRPr sz="570">
                <a:solidFill>
                  <a:srgbClr val="21242A"/>
                </a:solidFill>
                <a:latin typeface="Microsoft YaHei"/>
              </a:defRPr>
            </a:pPr>
            <a:r>
              <a:t>the EBMT registry were included.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large EBMT RW cohort, pts with HGBL-NOS and HGBL-MYC/BCL2 achieved promising PFS, despite a high-risk clinical profile at infusion.</a:t>
            </a:r>
          </a:p>
          <a:p>
            <a:pPr>
              <a:lnSpc>
                <a:spcPct val="103000"/>
              </a:lnSpc>
              <a:spcAft>
                <a:spcPts val="300"/>
              </a:spcAft>
              <a:defRPr sz="590">
                <a:solidFill>
                  <a:srgbClr val="21242A"/>
                </a:solidFill>
                <a:latin typeface="Microsoft YaHei"/>
              </a:defRPr>
            </a:pPr>
            <a:r>
              <a:t>The results indicate that CD19 CAR T cell therapy may mitigate the adverse biology of HGBL in the R/R setting.</a:t>
            </a:r>
          </a:p>
          <a:p>
            <a:pPr>
              <a:lnSpc>
                <a:spcPct val="103000"/>
              </a:lnSpc>
              <a:spcAft>
                <a:spcPts val="300"/>
              </a:spcAft>
              <a:defRPr sz="590">
                <a:solidFill>
                  <a:srgbClr val="21242A"/>
                </a:solidFill>
                <a:latin typeface="Microsoft YaHei"/>
              </a:defRPr>
            </a:pPr>
            <a:r>
              <a:t>Despite its limitations, including the retrospective design, absence of central pathology review, and potential under-reporting of MYC/BCL2-rearranged cases, th</a:t>
            </a:r>
          </a:p>
          <a:p>
            <a:pPr>
              <a:lnSpc>
                <a:spcPct val="103000"/>
              </a:lnSpc>
              <a:spcAft>
                <a:spcPts val="300"/>
              </a:spcAft>
              <a:defRPr sz="590">
                <a:solidFill>
                  <a:srgbClr val="21242A"/>
                </a:solidFill>
                <a:latin typeface="Microsoft YaHei"/>
              </a:defRPr>
            </a:pPr>
            <a:r>
              <a:t>ese findings provide contemporary, entity-specific benchmarks and support CD19 CAR T as a very relevant therapeutic option for R/R HGBL, informing treatment seq</a:t>
            </a:r>
          </a:p>
          <a:p>
            <a:pPr>
              <a:lnSpc>
                <a:spcPct val="103000"/>
              </a:lnSpc>
              <a:spcAft>
                <a:spcPts val="300"/>
              </a:spcAft>
              <a:defRPr sz="590">
                <a:solidFill>
                  <a:srgbClr val="21242A"/>
                </a:solidFill>
                <a:latin typeface="Microsoft YaHei"/>
              </a:defRPr>
            </a:pPr>
            <a:r>
              <a:t>uencing and future study design.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In total 5298 pts were included: 5066 DLBCL-NOS, 177 HGBL-MYC/BCL2, and 55 HGBL-NOS.</a:t>
            </a:r>
          </a:p>
          <a:p>
            <a:pPr>
              <a:lnSpc>
                <a:spcPct val="103000"/>
              </a:lnSpc>
              <a:spcAft>
                <a:spcPts val="300"/>
              </a:spcAft>
              <a:defRPr sz="580">
                <a:solidFill>
                  <a:srgbClr val="21242A"/>
                </a:solidFill>
                <a:latin typeface="Microsoft YaHei"/>
              </a:defRPr>
            </a:pPr>
            <a:r>
              <a:t>Median age was 62.6 years (y) and did not differ between groups (p=0.51).</a:t>
            </a:r>
          </a:p>
          <a:p>
            <a:pPr>
              <a:lnSpc>
                <a:spcPct val="103000"/>
              </a:lnSpc>
              <a:spcAft>
                <a:spcPts val="300"/>
              </a:spcAft>
              <a:defRPr sz="580">
                <a:solidFill>
                  <a:srgbClr val="21242A"/>
                </a:solidFill>
                <a:latin typeface="Microsoft YaHei"/>
              </a:defRPr>
            </a:pPr>
            <a:r>
              <a:t>Median time from diagnosis to CAR T was shorter in both HGBL cohorts (10.4 months (mo) for MYC/BCL2; 10.9 mo for NOS) compared with DLBCL-NOS (15.3 mo; p</a:t>
            </a:r>
          </a:p>
          <a:p>
            <a:pPr>
              <a:lnSpc>
                <a:spcPct val="103000"/>
              </a:lnSpc>
              <a:spcAft>
                <a:spcPts val="300"/>
              </a:spcAft>
              <a:defRPr sz="580">
                <a:solidFill>
                  <a:srgbClr val="21242A"/>
                </a:solidFill>
                <a:latin typeface="Microsoft YaHei"/>
              </a:defRPr>
            </a:pPr>
            <a:r>
              <a:t>Conclusion: In this large EBMT RW cohort, pts with HGBL-NOS and HGBL-MYC/BCL2 achieved promising PFS, despite a high-risk clinical profile at infusion.</a:t>
            </a:r>
          </a:p>
          <a:p>
            <a:pPr>
              <a:lnSpc>
                <a:spcPct val="103000"/>
              </a:lnSpc>
              <a:spcAft>
                <a:spcPts val="300"/>
              </a:spcAft>
              <a:defRPr sz="580">
                <a:solidFill>
                  <a:srgbClr val="21242A"/>
                </a:solidFill>
                <a:latin typeface="Microsoft YaHei"/>
              </a:defRPr>
            </a:pPr>
            <a:r>
              <a:t>The results indicate that CD19 CAR T cell therapy may mitigate the adverse biology of HGBL in the R/R setting.</a:t>
            </a:r>
          </a:p>
          <a:p>
            <a:pPr>
              <a:lnSpc>
                <a:spcPct val="103000"/>
              </a:lnSpc>
              <a:spcAft>
                <a:spcPts val="300"/>
              </a:spcAft>
              <a:defRPr sz="580">
                <a:solidFill>
                  <a:srgbClr val="21242A"/>
                </a:solidFill>
                <a:latin typeface="Microsoft YaHei"/>
              </a:defRPr>
            </a:pPr>
            <a:r>
              <a:t>Despite its limitations, including the retrospective design, absence of central pathology review, and potential under-reporting of MYC/BCL2-rearranged case</a:t>
            </a:r>
          </a:p>
          <a:p>
            <a:pPr>
              <a:lnSpc>
                <a:spcPct val="103000"/>
              </a:lnSpc>
              <a:spcAft>
                <a:spcPts val="300"/>
              </a:spcAft>
              <a:defRPr sz="580">
                <a:solidFill>
                  <a:srgbClr val="21242A"/>
                </a:solidFill>
                <a:latin typeface="Microsoft YaHei"/>
              </a:defRPr>
            </a:pPr>
            <a:r>
              <a:t>s, these findings provide contemporary, entity-specific benchmarks and support CD19 CAR T as a very relevant therapeutic option for R/R HGBL, informing tre</a:t>
            </a:r>
          </a:p>
          <a:p>
            <a:pPr>
              <a:lnSpc>
                <a:spcPct val="103000"/>
              </a:lnSpc>
              <a:spcAft>
                <a:spcPts val="300"/>
              </a:spcAft>
              <a:defRPr sz="580">
                <a:solidFill>
                  <a:srgbClr val="21242A"/>
                </a:solidFill>
                <a:latin typeface="Microsoft YaHei"/>
              </a:defRPr>
            </a:pPr>
            <a:r>
              <a:t>atment sequencing and future study design.</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摘要号：S243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大b细胞淋巴瘤常规治疗与cd3xcd20双特异性抗体桥接t细胞治疗的综合分析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comprehensive analysis of bridging to car t-cell therapy in large b-cell lymp...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艾可瑞妥单抗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多组/多方案比较：试验组1：双特异性抗体桥接（Epcoritamab或Glofitamab），后续CAR-T细胞治疗</a:t>
            </a:r>
          </a:p>
          <a:p>
            <a:pPr>
              <a:lnSpc>
                <a:spcPct val="103000"/>
              </a:lnSpc>
              <a:spcAft>
                <a:spcPts val="300"/>
              </a:spcAft>
              <a:defRPr sz="800">
                <a:solidFill>
                  <a:srgbClr val="21242A"/>
                </a:solidFill>
                <a:latin typeface="Microsoft YaHei"/>
              </a:defRPr>
            </a:pPr>
            <a:r>
              <a:t>试验组2：常规化疗/无桥接，后续CAR-T细胞治疗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严重血细胞减少症（III-IV级）发生率：BisCAR组3.0%，ConCAR组17.8%（p=0.0082）</a:t>
            </a:r>
          </a:p>
          <a:p>
            <a:pPr>
              <a:lnSpc>
                <a:spcPct val="103000"/>
              </a:lnSpc>
              <a:spcAft>
                <a:spcPts val="300"/>
              </a:spcAft>
              <a:defRPr sz="800">
                <a:solidFill>
                  <a:srgbClr val="21242A"/>
                </a:solidFill>
                <a:latin typeface="Microsoft YaHei"/>
              </a:defRPr>
            </a:pPr>
            <a:r>
              <a:t>细胞因子释放综合征（CRS）发生率：BisCAR组71.5%，ConCAR组73%（p=1.0）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大b细胞淋巴瘤常规治疗与cd3xcd20双特异性抗体桥接t细胞治疗的综合分析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comprehensive analysis of bridging to car t-cell therapy in large b-cell lymp...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Bispecific antibodies (bABs) are used as holding or bridging prior to CAR T-cell treatment.</a:t>
            </a:r>
          </a:p>
          <a:p>
            <a:pPr>
              <a:lnSpc>
                <a:spcPct val="103000"/>
              </a:lnSpc>
              <a:spcAft>
                <a:spcPts val="300"/>
              </a:spcAft>
              <a:defRPr sz="570">
                <a:solidFill>
                  <a:srgbClr val="21242A"/>
                </a:solidFill>
                <a:latin typeface="Microsoft YaHei"/>
              </a:defRPr>
            </a:pPr>
            <a:r>
              <a:t>However, the impact of this strategy on CAR T-cell safety and efficacy remains unclear.</a:t>
            </a:r>
          </a:p>
          <a:p>
            <a:pPr>
              <a:lnSpc>
                <a:spcPct val="103000"/>
              </a:lnSpc>
              <a:spcAft>
                <a:spcPts val="300"/>
              </a:spcAft>
              <a:defRPr sz="570">
                <a:solidFill>
                  <a:srgbClr val="21242A"/>
                </a:solidFill>
                <a:latin typeface="Microsoft YaHei"/>
              </a:defRPr>
            </a:pPr>
            <a:r>
              <a:t>While T-cell redirecting therapies may adversely affect T-cell fitness, other preclinical data suggest synergistic effects.</a:t>
            </a:r>
          </a:p>
          <a:p>
            <a:pPr>
              <a:lnSpc>
                <a:spcPct val="103000"/>
              </a:lnSpc>
              <a:spcAft>
                <a:spcPts val="300"/>
              </a:spcAft>
              <a:defRPr sz="570">
                <a:solidFill>
                  <a:srgbClr val="21242A"/>
                </a:solidFill>
                <a:latin typeface="Microsoft YaHei"/>
              </a:defRPr>
            </a:pPr>
            <a:r>
              <a:t>Aims: This study aimed to evaluate safety and efficacy of bAB-based holding/bridging with epcoritamab or glofitamab compared to conventional chemotherapy/no bri</a:t>
            </a:r>
          </a:p>
          <a:p>
            <a:pPr>
              <a:lnSpc>
                <a:spcPct val="103000"/>
              </a:lnSpc>
              <a:spcAft>
                <a:spcPts val="300"/>
              </a:spcAft>
              <a:defRPr sz="570">
                <a:solidFill>
                  <a:srgbClr val="21242A"/>
                </a:solidFill>
                <a:latin typeface="Microsoft YaHei"/>
              </a:defRPr>
            </a:pPr>
            <a:r>
              <a:t>dging prior CAR T-cell therapy in relapsed/refractory large B-cell lymphoma (r/r LBCL), including an analysis of immune- and CAR T-cell subsets.</a:t>
            </a:r>
          </a:p>
          <a:p>
            <a:pPr>
              <a:lnSpc>
                <a:spcPct val="103000"/>
              </a:lnSpc>
              <a:spcAft>
                <a:spcPts val="300"/>
              </a:spcAft>
              <a:defRPr sz="570">
                <a:solidFill>
                  <a:srgbClr val="21242A"/>
                </a:solidFill>
                <a:latin typeface="Microsoft YaHei"/>
              </a:defRPr>
            </a:pPr>
            <a:r>
              <a:t>Methods: We assessed patient characteristics, prior lines of treatment, progression-free (PFS) and overall survival (OS), and safety outcomes of bAb-based and c</a:t>
            </a:r>
          </a:p>
          <a:p>
            <a:pPr>
              <a:lnSpc>
                <a:spcPct val="103000"/>
              </a:lnSpc>
              <a:spcAft>
                <a:spcPts val="300"/>
              </a:spcAft>
              <a:defRPr sz="570">
                <a:solidFill>
                  <a:srgbClr val="21242A"/>
                </a:solidFill>
                <a:latin typeface="Microsoft YaHei"/>
              </a:defRPr>
            </a:pPr>
            <a:r>
              <a:t>onventional holding/bridging and subsequent CAR T-cell therapy, including but not limited to cytokine release syndrome (CRS) and immune effector cell-associated</a:t>
            </a:r>
          </a:p>
          <a:p>
            <a:pPr>
              <a:lnSpc>
                <a:spcPct val="103000"/>
              </a:lnSpc>
              <a:spcAft>
                <a:spcPts val="300"/>
              </a:spcAft>
              <a:defRPr sz="570">
                <a:solidFill>
                  <a:srgbClr val="21242A"/>
                </a:solidFill>
                <a:latin typeface="Microsoft YaHei"/>
              </a:defRPr>
            </a:pPr>
            <a:r>
              <a:t> neurotoxicity syndrome (ICANS).</a:t>
            </a:r>
          </a:p>
          <a:p>
            <a:pPr>
              <a:lnSpc>
                <a:spcPct val="103000"/>
              </a:lnSpc>
              <a:spcAft>
                <a:spcPts val="300"/>
              </a:spcAft>
              <a:defRPr sz="570">
                <a:solidFill>
                  <a:srgbClr val="21242A"/>
                </a:solidFill>
                <a:latin typeface="Microsoft YaHei"/>
              </a:defRPr>
            </a:pPr>
            <a:r>
              <a:t>In a subset of patients, detailed flow-cytometric analysis of peripheral blood mononuclear cells (PBMCs) before and after bridging and after CAR T-cell infusion</a:t>
            </a:r>
          </a:p>
          <a:p>
            <a:pPr>
              <a:lnSpc>
                <a:spcPct val="103000"/>
              </a:lnSpc>
              <a:spcAft>
                <a:spcPts val="300"/>
              </a:spcAft>
              <a:defRPr sz="570">
                <a:solidFill>
                  <a:srgbClr val="21242A"/>
                </a:solidFill>
                <a:latin typeface="Microsoft YaHei"/>
              </a:defRPr>
            </a:pPr>
            <a:r>
              <a:t> was performed.</a:t>
            </a:r>
          </a:p>
          <a:p>
            <a:pPr>
              <a:lnSpc>
                <a:spcPct val="103000"/>
              </a:lnSpc>
              <a:spcAft>
                <a:spcPts val="300"/>
              </a:spcAft>
              <a:defRPr sz="570">
                <a:solidFill>
                  <a:srgbClr val="21242A"/>
                </a:solidFill>
                <a:latin typeface="Microsoft YaHei"/>
              </a:defRPr>
            </a:pPr>
            <a:r>
              <a:t>CAR-copies were assessed via PCR.</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data shows that bAB-based bridging prior to CAR T-cell therapy is feasible, safe and effective in r/r LBCL.</a:t>
            </a:r>
          </a:p>
          <a:p>
            <a:pPr>
              <a:lnSpc>
                <a:spcPct val="103000"/>
              </a:lnSpc>
              <a:spcAft>
                <a:spcPts val="300"/>
              </a:spcAft>
              <a:defRPr sz="590">
                <a:solidFill>
                  <a:srgbClr val="21242A"/>
                </a:solidFill>
                <a:latin typeface="Microsoft YaHei"/>
              </a:defRPr>
            </a:pPr>
            <a:r>
              <a:t>Furthermore, bAb-based bridging demonstrated superior efficacy with a favorable toxicity profile compared with conventional approaches.</a:t>
            </a:r>
          </a:p>
          <a:p>
            <a:pPr>
              <a:lnSpc>
                <a:spcPct val="103000"/>
              </a:lnSpc>
              <a:spcAft>
                <a:spcPts val="300"/>
              </a:spcAft>
              <a:defRPr sz="590">
                <a:solidFill>
                  <a:srgbClr val="21242A"/>
                </a:solidFill>
                <a:latin typeface="Microsoft YaHei"/>
              </a:defRPr>
            </a:pPr>
            <a:r>
              <a:t>Interestingly, our analyses show glofitamab-induced transient immune-cell activation without evidence of negative or detrimental effects on CAR T-cell function </a:t>
            </a:r>
          </a:p>
          <a:p>
            <a:pPr>
              <a:lnSpc>
                <a:spcPct val="103000"/>
              </a:lnSpc>
              <a:spcAft>
                <a:spcPts val="300"/>
              </a:spcAft>
              <a:defRPr sz="590">
                <a:solidFill>
                  <a:srgbClr val="21242A"/>
                </a:solidFill>
                <a:latin typeface="Microsoft YaHei"/>
              </a:defRPr>
            </a:pPr>
            <a:r>
              <a:t>and expansion.</a:t>
            </a:r>
          </a:p>
          <a:p>
            <a:pPr>
              <a:lnSpc>
                <a:spcPct val="103000"/>
              </a:lnSpc>
              <a:spcAft>
                <a:spcPts val="300"/>
              </a:spcAft>
              <a:defRPr sz="590">
                <a:solidFill>
                  <a:srgbClr val="21242A"/>
                </a:solidFill>
                <a:latin typeface="Microsoft YaHei"/>
              </a:defRPr>
            </a:pPr>
            <a:r>
              <a:t>In summary, our findings support bAb bridging as a promising strategy.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严重血细胞减少症（III-IV级）发生率</a:t>
                      </a:r>
                    </a:p>
                  </a:txBody>
                  <a:tcPr>
                    <a:solidFill>
                      <a:srgbClr val="F6F8FB"/>
                    </a:solidFill>
                  </a:tcPr>
                </a:tc>
                <a:tc>
                  <a:txBody>
                    <a:bodyPr wrap="square" lIns="36576" rIns="36576" tIns="18288" bIns="18288"/>
                    <a:lstStyle/>
                    <a:p>
                      <a:r>
                        <a:rPr sz="540" b="0">
                          <a:solidFill>
                            <a:srgbClr val="21242A"/>
                          </a:solidFill>
                          <a:latin typeface="Microsoft YaHei"/>
                        </a:rPr>
                        <a:t>BisCAR组3.0%，ConCAR组17.8%（p=0.0082）</a:t>
                      </a:r>
                    </a:p>
                  </a:txBody>
                  <a:tcPr>
                    <a:solidFill>
                      <a:srgbClr val="F6F8FB"/>
                    </a:solidFill>
                  </a:tcPr>
                </a:tc>
              </a:tr>
              <a:tr h="187452">
                <a:tc>
                  <a:txBody>
                    <a:bodyPr wrap="square" lIns="36576" rIns="36576" tIns="18288" bIns="18288"/>
                    <a:lstStyle/>
                    <a:p>
                      <a:r>
                        <a:rPr sz="540" b="1">
                          <a:solidFill>
                            <a:srgbClr val="21242A"/>
                          </a:solidFill>
                          <a:latin typeface="Microsoft YaHei"/>
                        </a:rPr>
                        <a:t>细胞因子释放综合征（CRS）发生率</a:t>
                      </a:r>
                    </a:p>
                  </a:txBody>
                  <a:tcPr>
                    <a:solidFill>
                      <a:srgbClr val="FFFFFF"/>
                    </a:solidFill>
                  </a:tcPr>
                </a:tc>
                <a:tc>
                  <a:txBody>
                    <a:bodyPr wrap="square" lIns="36576" rIns="36576" tIns="18288" bIns="18288"/>
                    <a:lstStyle/>
                    <a:p>
                      <a:r>
                        <a:rPr sz="540" b="0">
                          <a:solidFill>
                            <a:srgbClr val="21242A"/>
                          </a:solidFill>
                          <a:latin typeface="Microsoft YaHei"/>
                        </a:rPr>
                        <a:t>BisCAR组71.5%，ConCAR组73%（p=1.0）</a:t>
                      </a:r>
                    </a:p>
                  </a:txBody>
                  <a:tcPr>
                    <a:solidFill>
                      <a:srgbClr val="FFFFFF"/>
                    </a:solidFill>
                  </a:tcPr>
                </a:tc>
              </a:tr>
              <a:tr h="187452">
                <a:tc>
                  <a:txBody>
                    <a:bodyPr wrap="square" lIns="36576" rIns="36576" tIns="18288" bIns="18288"/>
                    <a:lstStyle/>
                    <a:p>
                      <a:r>
                        <a:rPr sz="540" b="1">
                          <a:solidFill>
                            <a:srgbClr val="21242A"/>
                          </a:solidFill>
                          <a:latin typeface="Microsoft YaHei"/>
                        </a:rPr>
                        <a:t>免疫效应细胞相关神经毒性综合征（ICANS）发生率</a:t>
                      </a:r>
                    </a:p>
                  </a:txBody>
                  <a:tcPr>
                    <a:solidFill>
                      <a:srgbClr val="F6F8FB"/>
                    </a:solidFill>
                  </a:tcPr>
                </a:tc>
                <a:tc>
                  <a:txBody>
                    <a:bodyPr wrap="square" lIns="36576" rIns="36576" tIns="18288" bIns="18288"/>
                    <a:lstStyle/>
                    <a:p>
                      <a:r>
                        <a:rPr sz="540" b="0">
                          <a:solidFill>
                            <a:srgbClr val="21242A"/>
                          </a:solidFill>
                          <a:latin typeface="Microsoft YaHei"/>
                        </a:rPr>
                        <a:t>BisCAR组26.9%，ConCAR组28.9%（p=0.832）</a:t>
                      </a:r>
                    </a:p>
                  </a:txBody>
                  <a:tcPr>
                    <a:solidFill>
                      <a:srgbClr val="F6F8FB"/>
                    </a:solidFill>
                  </a:tcPr>
                </a:tc>
              </a:tr>
              <a:tr h="187452">
                <a:tc>
                  <a:txBody>
                    <a:bodyPr wrap="square" lIns="36576" rIns="36576" tIns="18288" bIns="18288"/>
                    <a:lstStyle/>
                    <a:p>
                      <a:r>
                        <a:rPr sz="540" b="1">
                          <a:solidFill>
                            <a:srgbClr val="21242A"/>
                          </a:solidFill>
                          <a:latin typeface="Microsoft YaHei"/>
                        </a:rPr>
                        <a:t>治疗相关死亡率</a:t>
                      </a:r>
                    </a:p>
                  </a:txBody>
                  <a:tcPr>
                    <a:solidFill>
                      <a:srgbClr val="FFFFFF"/>
                    </a:solidFill>
                  </a:tcPr>
                </a:tc>
                <a:tc>
                  <a:txBody>
                    <a:bodyPr wrap="square" lIns="36576" rIns="36576" tIns="18288" bIns="18288"/>
                    <a:lstStyle/>
                    <a:p>
                      <a:r>
                        <a:rPr sz="540" b="0">
                          <a:solidFill>
                            <a:srgbClr val="21242A"/>
                          </a:solidFill>
                          <a:latin typeface="Microsoft YaHei"/>
                        </a:rPr>
                        <a:t>BisCAR组3.0%，ConCAR组8.9%</a:t>
                      </a:r>
                    </a:p>
                  </a:txBody>
                  <a:tcPr>
                    <a:solidFill>
                      <a:srgbClr val="FFFFFF"/>
                    </a:solidFill>
                  </a:tcPr>
                </a:tc>
              </a:tr>
              <a:tr h="187452">
                <a:tc>
                  <a:txBody>
                    <a:bodyPr wrap="square" lIns="36576" rIns="36576" tIns="18288" bIns="18288"/>
                    <a:lstStyle/>
                    <a:p>
                      <a:r>
                        <a:rPr sz="540" b="1">
                          <a:solidFill>
                            <a:srgbClr val="21242A"/>
                          </a:solidFill>
                          <a:latin typeface="Microsoft YaHei"/>
                        </a:rPr>
                        <a:t>桥接后总缓解率（ORR）</a:t>
                      </a:r>
                    </a:p>
                  </a:txBody>
                  <a:tcPr>
                    <a:solidFill>
                      <a:srgbClr val="F6F8FB"/>
                    </a:solidFill>
                  </a:tcPr>
                </a:tc>
                <a:tc>
                  <a:txBody>
                    <a:bodyPr wrap="square" lIns="36576" rIns="36576" tIns="18288" bIns="18288"/>
                    <a:lstStyle/>
                    <a:p>
                      <a:r>
                        <a:rPr sz="540" b="0">
                          <a:solidFill>
                            <a:srgbClr val="21242A"/>
                          </a:solidFill>
                          <a:latin typeface="Microsoft YaHei"/>
                        </a:rPr>
                        <a:t>BisCAR组70.1%，ConCAR组61.1%</a:t>
                      </a:r>
                    </a:p>
                  </a:txBody>
                  <a:tcPr>
                    <a:solidFill>
                      <a:srgbClr val="F6F8FB"/>
                    </a:solidFill>
                  </a:tcPr>
                </a:tc>
              </a:tr>
              <a:tr h="187452">
                <a:tc>
                  <a:txBody>
                    <a:bodyPr wrap="square" lIns="36576" rIns="36576" tIns="18288" bIns="18288"/>
                    <a:lstStyle/>
                    <a:p>
                      <a:r>
                        <a:rPr sz="540" b="1">
                          <a:solidFill>
                            <a:srgbClr val="21242A"/>
                          </a:solidFill>
                          <a:latin typeface="Microsoft YaHei"/>
                        </a:rPr>
                        <a:t>CAR-T输注后1个月总缓解率</a:t>
                      </a:r>
                    </a:p>
                  </a:txBody>
                  <a:tcPr>
                    <a:solidFill>
                      <a:srgbClr val="FFFFFF"/>
                    </a:solidFill>
                  </a:tcPr>
                </a:tc>
                <a:tc>
                  <a:txBody>
                    <a:bodyPr wrap="square" lIns="36576" rIns="36576" tIns="18288" bIns="18288"/>
                    <a:lstStyle/>
                    <a:p>
                      <a:r>
                        <a:rPr sz="540" b="0">
                          <a:solidFill>
                            <a:srgbClr val="21242A"/>
                          </a:solidFill>
                          <a:latin typeface="Microsoft YaHei"/>
                        </a:rPr>
                        <a:t>BisCAR组80.6%，ConCAR组72.1%</a:t>
                      </a:r>
                    </a:p>
                  </a:txBody>
                  <a:tcPr>
                    <a:solidFill>
                      <a:srgbClr val="FFFFFF"/>
                    </a:solidFill>
                  </a:tcPr>
                </a:tc>
              </a:tr>
              <a:tr h="187452">
                <a:tc>
                  <a:txBody>
                    <a:bodyPr wrap="square" lIns="36576" rIns="36576" tIns="18288" bIns="18288"/>
                    <a:lstStyle/>
                    <a:p>
                      <a:r>
                        <a:rPr sz="540" b="1">
                          <a:solidFill>
                            <a:srgbClr val="21242A"/>
                          </a:solidFill>
                          <a:latin typeface="Microsoft YaHei"/>
                        </a:rPr>
                        <a:t>CD25 CAR-T细胞平均荧光强度（MFI）</a:t>
                      </a:r>
                    </a:p>
                  </a:txBody>
                  <a:tcPr>
                    <a:solidFill>
                      <a:srgbClr val="F6F8FB"/>
                    </a:solidFill>
                  </a:tcPr>
                </a:tc>
                <a:tc>
                  <a:txBody>
                    <a:bodyPr wrap="square" lIns="36576" rIns="36576" tIns="18288" bIns="18288"/>
                    <a:lstStyle/>
                    <a:p>
                      <a:r>
                        <a:rPr sz="540" b="0">
                          <a:solidFill>
                            <a:srgbClr val="21242A"/>
                          </a:solidFill>
                          <a:latin typeface="Microsoft YaHei"/>
                        </a:rPr>
                        <a:t>BisCAR组高于ConCAR组（p=0.023）</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摘要号：S241</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glofitamab和epcoritamab治疗英国大b细胞淋巴瘤的真实经验：324名患者队列中缓解持续时间和影响反应...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 world experience of glofitamab and epcoritamab for large b 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多组/多方案比较：试验组1：glofitamab</a:t>
            </a:r>
          </a:p>
          <a:p>
            <a:pPr>
              <a:lnSpc>
                <a:spcPct val="103000"/>
              </a:lnSpc>
              <a:spcAft>
                <a:spcPts val="300"/>
              </a:spcAft>
              <a:defRPr sz="800">
                <a:solidFill>
                  <a:srgbClr val="21242A"/>
                </a:solidFill>
                <a:latin typeface="Microsoft YaHei"/>
              </a:defRPr>
            </a:pPr>
            <a:r>
              <a:t>试验组2：epcoritamab</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总客观缓解率（ORR）：43%</a:t>
            </a:r>
          </a:p>
          <a:p>
            <a:pPr>
              <a:lnSpc>
                <a:spcPct val="103000"/>
              </a:lnSpc>
              <a:spcAft>
                <a:spcPts val="300"/>
              </a:spcAft>
              <a:defRPr sz="800">
                <a:solidFill>
                  <a:srgbClr val="21242A"/>
                </a:solidFill>
                <a:latin typeface="Microsoft YaHei"/>
              </a:defRPr>
            </a:pPr>
            <a:r>
              <a:t>总完全缓解率（CRR）：24%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人数：324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glofitamab和epcoritamab治疗英国大b细胞淋巴瘤的真实经验：324名患者队列中缓解持续时间和影响反应...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 world experience of glofitamab and epcoritamab for large b 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Glofitamab (glofit) and epcoritamab (epcor) are CD3-20 bispecific antibodies (BsAb) licensed for relapsed/refractory large B cell lymphoma (RR LBCL)</a:t>
            </a:r>
          </a:p>
          <a:p>
            <a:pPr>
              <a:lnSpc>
                <a:spcPct val="103000"/>
              </a:lnSpc>
              <a:spcAft>
                <a:spcPts val="300"/>
              </a:spcAft>
              <a:defRPr sz="570">
                <a:solidFill>
                  <a:srgbClr val="21242A"/>
                </a:solidFill>
                <a:latin typeface="Microsoft YaHei"/>
              </a:defRPr>
            </a:pPr>
            <a:r>
              <a:t>, real-world data can help understand safety, responses and optimal patient selection.</a:t>
            </a:r>
          </a:p>
          <a:p>
            <a:pPr>
              <a:lnSpc>
                <a:spcPct val="103000"/>
              </a:lnSpc>
              <a:spcAft>
                <a:spcPts val="300"/>
              </a:spcAft>
              <a:defRPr sz="570">
                <a:solidFill>
                  <a:srgbClr val="21242A"/>
                </a:solidFill>
                <a:latin typeface="Microsoft YaHei"/>
              </a:defRPr>
            </a:pPr>
            <a:r>
              <a:t>Aims: The aim of this extended analysis is to better understand risk factors impacting response to BsAb and to determine long term outcomes for responding patie</a:t>
            </a:r>
          </a:p>
          <a:p>
            <a:pPr>
              <a:lnSpc>
                <a:spcPct val="103000"/>
              </a:lnSpc>
              <a:spcAft>
                <a:spcPts val="300"/>
              </a:spcAft>
              <a:defRPr sz="570">
                <a:solidFill>
                  <a:srgbClr val="21242A"/>
                </a:solidFill>
                <a:latin typeface="Microsoft YaHei"/>
              </a:defRPr>
            </a:pPr>
            <a:r>
              <a:t>nts.</a:t>
            </a:r>
          </a:p>
          <a:p>
            <a:pPr>
              <a:lnSpc>
                <a:spcPct val="103000"/>
              </a:lnSpc>
              <a:spcAft>
                <a:spcPts val="300"/>
              </a:spcAft>
              <a:defRPr sz="570">
                <a:solidFill>
                  <a:srgbClr val="21242A"/>
                </a:solidFill>
                <a:latin typeface="Microsoft YaHei"/>
              </a:defRPr>
            </a:pPr>
            <a:r>
              <a:t>Methods: A retrospective analysis of anonymised consecutive patient data from 34 UK centres. Patients commenced glofit or epcor November 2023 to May 2025.</a:t>
            </a:r>
          </a:p>
          <a:p>
            <a:pPr>
              <a:lnSpc>
                <a:spcPct val="103000"/>
              </a:lnSpc>
              <a:spcAft>
                <a:spcPts val="300"/>
              </a:spcAft>
              <a:defRPr sz="570">
                <a:solidFill>
                  <a:srgbClr val="21242A"/>
                </a:solidFill>
                <a:latin typeface="Microsoft YaHei"/>
              </a:defRPr>
            </a:pPr>
            <a:r>
              <a:t>Extended follow-up for responding patients was collected until February 2026. \n Response assessments were locally reported.</a:t>
            </a:r>
          </a:p>
          <a:p>
            <a:pPr>
              <a:lnSpc>
                <a:spcPct val="103000"/>
              </a:lnSpc>
              <a:spcAft>
                <a:spcPts val="300"/>
              </a:spcAft>
              <a:defRPr sz="570">
                <a:solidFill>
                  <a:srgbClr val="21242A"/>
                </a:solidFill>
                <a:latin typeface="Microsoft YaHei"/>
              </a:defRPr>
            </a:pPr>
            <a:r>
              <a:t>Toxicities were retrospectively graded according to CTCAE v5.0, CRS and ICANS were graded against ASTCT.</a:t>
            </a:r>
          </a:p>
          <a:p>
            <a:pPr>
              <a:lnSpc>
                <a:spcPct val="103000"/>
              </a:lnSpc>
              <a:spcAft>
                <a:spcPts val="300"/>
              </a:spcAft>
              <a:defRPr sz="570">
                <a:solidFill>
                  <a:srgbClr val="21242A"/>
                </a:solidFill>
                <a:latin typeface="Microsoft YaHei"/>
              </a:defRPr>
            </a:pPr>
            <a:r>
              <a:t>\n All patients commencing BsAb are included in safety and efficacy evaluable populations.</a:t>
            </a:r>
          </a:p>
          <a:p>
            <a:pPr>
              <a:lnSpc>
                <a:spcPct val="103000"/>
              </a:lnSpc>
              <a:spcAft>
                <a:spcPts val="300"/>
              </a:spcAft>
              <a:defRPr sz="570">
                <a:solidFill>
                  <a:srgbClr val="21242A"/>
                </a:solidFill>
                <a:latin typeface="Microsoft YaHei"/>
              </a:defRPr>
            </a:pPr>
            <a:r>
              <a:t>Baseline data, safety and response rates were compared using chi-squared and Wilcoxon rank-sum tests.</a:t>
            </a:r>
          </a:p>
          <a:p>
            <a:pPr>
              <a:lnSpc>
                <a:spcPct val="103000"/>
              </a:lnSpc>
              <a:spcAft>
                <a:spcPts val="300"/>
              </a:spcAft>
              <a:defRPr sz="570">
                <a:solidFill>
                  <a:srgbClr val="21242A"/>
                </a:solidFill>
                <a:latin typeface="Microsoft YaHei"/>
              </a:defRPr>
            </a:pPr>
            <a:r>
              <a:t>Duration of response (DoR) and duration of complete response (DoCR) were measured from date of best response.</a:t>
            </a:r>
          </a:p>
          <a:p>
            <a:pPr>
              <a:lnSpc>
                <a:spcPct val="103000"/>
              </a:lnSpc>
              <a:spcAft>
                <a:spcPts val="300"/>
              </a:spcAft>
              <a:defRPr sz="570">
                <a:solidFill>
                  <a:srgbClr val="21242A"/>
                </a:solidFill>
                <a:latin typeface="Microsoft YaHei"/>
              </a:defRPr>
            </a:pPr>
            <a:r>
              <a:t>Progression-free survival (PFS) and overall survival (OS) were measured from date of first dose.</a:t>
            </a:r>
          </a:p>
          <a:p>
            <a:pPr>
              <a:lnSpc>
                <a:spcPct val="103000"/>
              </a:lnSpc>
              <a:spcAft>
                <a:spcPts val="300"/>
              </a:spcAft>
              <a:defRPr sz="570">
                <a:solidFill>
                  <a:srgbClr val="21242A"/>
                </a:solidFill>
                <a:latin typeface="Microsoft YaHei"/>
              </a:defRPr>
            </a:pPr>
            <a:r>
              <a:t>DoR, DoCR, PFS and OS were assessed using Kaplan-Meier survival analysis.</a:t>
            </a:r>
          </a:p>
          <a:p>
            <a:pPr>
              <a:lnSpc>
                <a:spcPct val="103000"/>
              </a:lnSpc>
              <a:spcAft>
                <a:spcPts val="300"/>
              </a:spcAft>
              <a:defRPr sz="570">
                <a:solidFill>
                  <a:srgbClr val="21242A"/>
                </a:solidFill>
                <a:latin typeface="Microsoft YaHei"/>
              </a:defRPr>
            </a:pPr>
            <a:r>
              <a:t>Multivariable analyses were performed to evaluate predictors of PFS and CR rate using Cox regression and logistic regression.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analysis is the largest real world data series on BsAbs to date.</a:t>
            </a:r>
          </a:p>
          <a:p>
            <a:pPr>
              <a:lnSpc>
                <a:spcPct val="103000"/>
              </a:lnSpc>
              <a:spcAft>
                <a:spcPts val="300"/>
              </a:spcAft>
              <a:defRPr sz="590">
                <a:solidFill>
                  <a:srgbClr val="21242A"/>
                </a:solidFill>
                <a:latin typeface="Microsoft YaHei"/>
              </a:defRPr>
            </a:pPr>
            <a:r>
              <a:t>Our data demonstrates that both glofitamab and epcoritamab are effective treatment options in RR LBCL with updated data confirming durable complete remissions c</a:t>
            </a:r>
          </a:p>
          <a:p>
            <a:pPr>
              <a:lnSpc>
                <a:spcPct val="103000"/>
              </a:lnSpc>
              <a:spcAft>
                <a:spcPts val="300"/>
              </a:spcAft>
              <a:defRPr sz="590">
                <a:solidFill>
                  <a:srgbClr val="21242A"/>
                </a:solidFill>
                <a:latin typeface="Microsoft YaHei"/>
              </a:defRPr>
            </a:pPr>
            <a:r>
              <a:t>omparable to trial data in this high risk population.</a:t>
            </a:r>
          </a:p>
          <a:p>
            <a:pPr>
              <a:lnSpc>
                <a:spcPct val="103000"/>
              </a:lnSpc>
              <a:spcAft>
                <a:spcPts val="300"/>
              </a:spcAft>
              <a:defRPr sz="590">
                <a:solidFill>
                  <a:srgbClr val="21242A"/>
                </a:solidFill>
                <a:latin typeface="Microsoft YaHei"/>
              </a:defRPr>
            </a:pPr>
            <a:r>
              <a:t>Some patients are unable to commence the 2 nd cycle of treatment and have very poor outcomes.</a:t>
            </a:r>
          </a:p>
          <a:p>
            <a:pPr>
              <a:lnSpc>
                <a:spcPct val="103000"/>
              </a:lnSpc>
              <a:spcAft>
                <a:spcPts val="300"/>
              </a:spcAft>
              <a:defRPr sz="590">
                <a:solidFill>
                  <a:srgbClr val="21242A"/>
                </a:solidFill>
                <a:latin typeface="Microsoft YaHei"/>
              </a:defRPr>
            </a:pPr>
            <a:r>
              <a:t>Identified risk factors for poor response should be used to improve patient selection and guide prognosis.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总客观缓解率（ORR）</a:t>
                      </a:r>
                    </a:p>
                  </a:txBody>
                  <a:tcPr>
                    <a:solidFill>
                      <a:srgbClr val="F6F8FB"/>
                    </a:solidFill>
                  </a:tcPr>
                </a:tc>
                <a:tc>
                  <a:txBody>
                    <a:bodyPr wrap="square" lIns="36576" rIns="36576" tIns="18288" bIns="18288"/>
                    <a:lstStyle/>
                    <a:p>
                      <a:r>
                        <a:rPr sz="540" b="0">
                          <a:solidFill>
                            <a:srgbClr val="21242A"/>
                          </a:solidFill>
                          <a:latin typeface="Microsoft YaHei"/>
                        </a:rPr>
                        <a:t>43%</a:t>
                      </a:r>
                    </a:p>
                  </a:txBody>
                  <a:tcPr>
                    <a:solidFill>
                      <a:srgbClr val="F6F8FB"/>
                    </a:solidFill>
                  </a:tcPr>
                </a:tc>
              </a:tr>
              <a:tr h="214230">
                <a:tc>
                  <a:txBody>
                    <a:bodyPr wrap="square" lIns="36576" rIns="36576" tIns="18288" bIns="18288"/>
                    <a:lstStyle/>
                    <a:p>
                      <a:r>
                        <a:rPr sz="540" b="1">
                          <a:solidFill>
                            <a:srgbClr val="21242A"/>
                          </a:solidFill>
                          <a:latin typeface="Microsoft YaHei"/>
                        </a:rPr>
                        <a:t>总完全缓解率（CRR）</a:t>
                      </a:r>
                    </a:p>
                  </a:txBody>
                  <a:tcPr>
                    <a:solidFill>
                      <a:srgbClr val="FFFFFF"/>
                    </a:solidFill>
                  </a:tcPr>
                </a:tc>
                <a:tc>
                  <a:txBody>
                    <a:bodyPr wrap="square" lIns="36576" rIns="36576" tIns="18288" bIns="18288"/>
                    <a:lstStyle/>
                    <a:p>
                      <a:r>
                        <a:rPr sz="540" b="0">
                          <a:solidFill>
                            <a:srgbClr val="21242A"/>
                          </a:solidFill>
                          <a:latin typeface="Microsoft YaHei"/>
                        </a:rPr>
                        <a:t>24%</a:t>
                      </a:r>
                    </a:p>
                  </a:txBody>
                  <a:tcPr>
                    <a:solidFill>
                      <a:srgbClr val="FFFFFF"/>
                    </a:solidFill>
                  </a:tcPr>
                </a:tc>
              </a:tr>
              <a:tr h="214230">
                <a:tc>
                  <a:txBody>
                    <a:bodyPr wrap="square" lIns="36576" rIns="36576" tIns="18288" bIns="18288"/>
                    <a:lstStyle/>
                    <a:p>
                      <a:r>
                        <a:rPr sz="540" b="1">
                          <a:solidFill>
                            <a:srgbClr val="21242A"/>
                          </a:solidFill>
                          <a:latin typeface="Microsoft YaHei"/>
                        </a:rPr>
                        <a:t>符合试验入组标准患者的完全缓解率</a:t>
                      </a:r>
                    </a:p>
                  </a:txBody>
                  <a:tcPr>
                    <a:solidFill>
                      <a:srgbClr val="F6F8FB"/>
                    </a:solidFill>
                  </a:tcPr>
                </a:tc>
                <a:tc>
                  <a:txBody>
                    <a:bodyPr wrap="square" lIns="36576" rIns="36576" tIns="18288" bIns="18288"/>
                    <a:lstStyle/>
                    <a:p>
                      <a:r>
                        <a:rPr sz="540" b="0">
                          <a:solidFill>
                            <a:srgbClr val="21242A"/>
                          </a:solidFill>
                          <a:latin typeface="Microsoft YaHei"/>
                        </a:rPr>
                        <a:t>43%</a:t>
                      </a:r>
                    </a:p>
                  </a:txBody>
                  <a:tcPr>
                    <a:solidFill>
                      <a:srgbClr val="F6F8FB"/>
                    </a:solidFill>
                  </a:tcPr>
                </a:tc>
              </a:tr>
              <a:tr h="214230">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3.1个月（95% CI 2.5-4.2）</a:t>
                      </a:r>
                    </a:p>
                  </a:txBody>
                  <a:tcPr>
                    <a:solidFill>
                      <a:srgbClr val="FFFFFF"/>
                    </a:solidFill>
                  </a:tcPr>
                </a:tc>
              </a:tr>
              <a:tr h="214230">
                <a:tc>
                  <a:txBody>
                    <a:bodyPr wrap="square" lIns="36576" rIns="36576" tIns="18288" bIns="18288"/>
                    <a:lstStyle/>
                    <a:p>
                      <a:r>
                        <a:rPr sz="540" b="1">
                          <a:solidFill>
                            <a:srgbClr val="21242A"/>
                          </a:solidFill>
                          <a:latin typeface="Microsoft YaHei"/>
                        </a:rPr>
                        <a:t>中位总生存期（OS）</a:t>
                      </a:r>
                    </a:p>
                  </a:txBody>
                  <a:tcPr>
                    <a:solidFill>
                      <a:srgbClr val="F6F8FB"/>
                    </a:solidFill>
                  </a:tcPr>
                </a:tc>
                <a:tc>
                  <a:txBody>
                    <a:bodyPr wrap="square" lIns="36576" rIns="36576" tIns="18288" bIns="18288"/>
                    <a:lstStyle/>
                    <a:p>
                      <a:r>
                        <a:rPr sz="540" b="0">
                          <a:solidFill>
                            <a:srgbClr val="21242A"/>
                          </a:solidFill>
                          <a:latin typeface="Microsoft YaHei"/>
                        </a:rPr>
                        <a:t>6.9个月（95% CI 4.9-10.8）</a:t>
                      </a:r>
                    </a:p>
                  </a:txBody>
                  <a:tcPr>
                    <a:solidFill>
                      <a:srgbClr val="F6F8FB"/>
                    </a:solidFill>
                  </a:tcPr>
                </a:tc>
              </a:tr>
              <a:tr h="2142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完全缓解患者中位DoCR随访12个月，1年DoCR为88%（95% CI 76-94）</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摘要号：S240</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b细胞恶性肿瘤从car-t评估到白细胞分离的时间：与输注速率和结果的关系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 from car-t evaluation to leukapheresis in b-cell malignancies: associati...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B细胞肿瘤，大B细胞淋巴瘤</a:t>
            </a:r>
          </a:p>
          <a:p>
            <a:pPr>
              <a:lnSpc>
                <a:spcPct val="103000"/>
              </a:lnSpc>
              <a:spcAft>
                <a:spcPts val="300"/>
              </a:spcAft>
              <a:defRPr sz="800">
                <a:solidFill>
                  <a:srgbClr val="21242A"/>
                </a:solidFill>
                <a:latin typeface="Microsoft YaHei"/>
              </a:defRPr>
            </a:pPr>
            <a:r>
              <a:t>N=409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白细胞分离率：axi-cel 90.1%（256/284），brexu-cel 92%（46/50），liso-cel 90....</a:t>
            </a:r>
          </a:p>
          <a:p>
            <a:pPr>
              <a:lnSpc>
                <a:spcPct val="103000"/>
              </a:lnSpc>
              <a:spcAft>
                <a:spcPts val="300"/>
              </a:spcAft>
              <a:defRPr sz="800">
                <a:solidFill>
                  <a:srgbClr val="21242A"/>
                </a:solidFill>
                <a:latin typeface="Microsoft YaHei"/>
              </a:defRPr>
            </a:pPr>
            <a:r>
              <a:t>总体约10%未进入白细胞分离</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人数：409</a:t>
            </a:r>
          </a:p>
          <a:p>
            <a:pPr>
              <a:lnSpc>
                <a:spcPct val="103000"/>
              </a:lnSpc>
              <a:spcAft>
                <a:spcPts val="300"/>
              </a:spcAft>
              <a:defRPr sz="810">
                <a:solidFill>
                  <a:srgbClr val="21242A"/>
                </a:solidFill>
                <a:latin typeface="Microsoft YaHei"/>
              </a:defRPr>
            </a:pPr>
            <a:r>
              <a:t>适应症：B细胞肿瘤、大B细胞淋巴瘤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maraleucel、Tisagenlecleucel、布瑞基奥仑赛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b细胞恶性肿瘤从car-t评估到白细胞分离的时间：与输注速率和结果的关系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 from car-t evaluation to leukapheresis in b-cell malignancies: associati...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Chimeric antigen receptor T-cell (CAR-T) therapy has improved outcomes in relapsed/refractory B-cell malignancies.</a:t>
            </a:r>
          </a:p>
          <a:p>
            <a:pPr>
              <a:lnSpc>
                <a:spcPct val="103000"/>
              </a:lnSpc>
              <a:spcAft>
                <a:spcPts val="300"/>
              </a:spcAft>
              <a:defRPr sz="570">
                <a:solidFill>
                  <a:srgbClr val="21242A"/>
                </a:solidFill>
                <a:latin typeface="Microsoft YaHei"/>
              </a:defRPr>
            </a:pPr>
            <a:r>
              <a:t>The pathway from referral to infusion is complex and resource-intensive, encompassing evaluation, leukapheresis, manufacturing, and infusion.</a:t>
            </a:r>
          </a:p>
          <a:p>
            <a:pPr>
              <a:lnSpc>
                <a:spcPct val="103000"/>
              </a:lnSpc>
              <a:spcAft>
                <a:spcPts val="300"/>
              </a:spcAft>
              <a:defRPr sz="570">
                <a:solidFill>
                  <a:srgbClr val="21242A"/>
                </a:solidFill>
                <a:latin typeface="Microsoft YaHei"/>
              </a:defRPr>
            </a:pPr>
            <a:r>
              <a:t>With expanding CAR-T use, many payers now require formal review of evaluation data prior to approval, a process that can take up to two weeks and delay leukaphe</a:t>
            </a:r>
          </a:p>
          <a:p>
            <a:pPr>
              <a:lnSpc>
                <a:spcPct val="103000"/>
              </a:lnSpc>
              <a:spcAft>
                <a:spcPts val="300"/>
              </a:spcAft>
              <a:defRPr sz="570">
                <a:solidFill>
                  <a:srgbClr val="21242A"/>
                </a:solidFill>
                <a:latin typeface="Microsoft YaHei"/>
              </a:defRPr>
            </a:pPr>
            <a:r>
              <a:t>resis.</a:t>
            </a:r>
          </a:p>
          <a:p>
            <a:pPr>
              <a:lnSpc>
                <a:spcPct val="103000"/>
              </a:lnSpc>
              <a:spcAft>
                <a:spcPts val="300"/>
              </a:spcAft>
              <a:defRPr sz="570">
                <a:solidFill>
                  <a:srgbClr val="21242A"/>
                </a:solidFill>
                <a:latin typeface="Microsoft YaHei"/>
              </a:defRPr>
            </a:pPr>
            <a:r>
              <a:t>The effect of time from evaluation to leukapheresis on infusion rates and outcomes remains unclear.</a:t>
            </a:r>
          </a:p>
          <a:p>
            <a:pPr>
              <a:lnSpc>
                <a:spcPct val="103000"/>
              </a:lnSpc>
              <a:spcAft>
                <a:spcPts val="300"/>
              </a:spcAft>
              <a:defRPr sz="570">
                <a:solidFill>
                  <a:srgbClr val="21242A"/>
                </a:solidFill>
                <a:latin typeface="Microsoft YaHei"/>
              </a:defRPr>
            </a:pPr>
            <a:r>
              <a:t>Aims: To evaluate: (1) the proportion of patients proceeding from evaluation to leukapheresis across commercial CAR-T products; (2) the likelihood of infusion b</a:t>
            </a:r>
          </a:p>
          <a:p>
            <a:pPr>
              <a:lnSpc>
                <a:spcPct val="103000"/>
              </a:lnSpc>
              <a:spcAft>
                <a:spcPts val="300"/>
              </a:spcAft>
              <a:defRPr sz="570">
                <a:solidFill>
                  <a:srgbClr val="21242A"/>
                </a:solidFill>
                <a:latin typeface="Microsoft YaHei"/>
              </a:defRPr>
            </a:pPr>
            <a:r>
              <a:t>ased on time from evaluation to leukapheresis ( 2 weeks; 3 weeks); and (3) complete response (CR), progression-free survival (PFS), and overall survival (OS) in</a:t>
            </a:r>
          </a:p>
          <a:p>
            <a:pPr>
              <a:lnSpc>
                <a:spcPct val="103000"/>
              </a:lnSpc>
              <a:spcAft>
                <a:spcPts val="300"/>
              </a:spcAft>
              <a:defRPr sz="570">
                <a:solidFill>
                  <a:srgbClr val="21242A"/>
                </a:solidFill>
                <a:latin typeface="Microsoft YaHei"/>
              </a:defRPr>
            </a:pPr>
            <a:r>
              <a:t> large B-cell lymphoma (LBCL) patients according to leukapheresis timing.</a:t>
            </a:r>
          </a:p>
          <a:p>
            <a:pPr>
              <a:lnSpc>
                <a:spcPct val="103000"/>
              </a:lnSpc>
              <a:spcAft>
                <a:spcPts val="300"/>
              </a:spcAft>
              <a:defRPr sz="570">
                <a:solidFill>
                  <a:srgbClr val="21242A"/>
                </a:solidFill>
                <a:latin typeface="Microsoft YaHei"/>
              </a:defRPr>
            </a:pPr>
            <a:r>
              <a:t>Methods: We retrospectively analyzed all patients with B-cell lymphoma evaluated for commercial CAR-T at Mayo Clinic Rochester since 2018.</a:t>
            </a:r>
          </a:p>
          <a:p>
            <a:pPr>
              <a:lnSpc>
                <a:spcPct val="103000"/>
              </a:lnSpc>
              <a:spcAft>
                <a:spcPts val="300"/>
              </a:spcAft>
              <a:defRPr sz="570">
                <a:solidFill>
                  <a:srgbClr val="21242A"/>
                </a:solidFill>
                <a:latin typeface="Microsoft YaHei"/>
              </a:defRPr>
            </a:pPr>
            <a:r>
              <a:t>We calculated rates of leukapheresis and infusion. Patients were stratified by time from evaluation to leukapheresis using 2- and 3-week cutoffs.</a:t>
            </a:r>
          </a:p>
          <a:p>
            <a:pPr>
              <a:lnSpc>
                <a:spcPct val="103000"/>
              </a:lnSpc>
              <a:spcAft>
                <a:spcPts val="300"/>
              </a:spcAft>
              <a:defRPr sz="570">
                <a:solidFill>
                  <a:srgbClr val="21242A"/>
                </a:solidFill>
                <a:latin typeface="Microsoft YaHei"/>
              </a:defRPr>
            </a:pPr>
            <a:r>
              <a:t>Among patients with LBCL, CR rates, median PFS, and median OS were compared by leukapheresis timing.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large single-center cohort, nearly 90% of evaluated patients proceeded to leukapheresis, with a median time to leukapheresis of 10 days.</a:t>
            </a:r>
          </a:p>
          <a:p>
            <a:pPr>
              <a:lnSpc>
                <a:spcPct val="103000"/>
              </a:lnSpc>
              <a:spcAft>
                <a:spcPts val="300"/>
              </a:spcAft>
              <a:defRPr sz="590">
                <a:solidFill>
                  <a:srgbClr val="21242A"/>
                </a:solidFill>
                <a:latin typeface="Microsoft YaHei"/>
              </a:defRPr>
            </a:pPr>
            <a:r>
              <a:t>Earlier leukapheresis was associated with a higher likelihood of infusion, and delayed leukapheresis was significantly associated with attrition to treatment.</a:t>
            </a:r>
          </a:p>
          <a:p>
            <a:pPr>
              <a:lnSpc>
                <a:spcPct val="103000"/>
              </a:lnSpc>
              <a:spcAft>
                <a:spcPts val="300"/>
              </a:spcAft>
              <a:defRPr sz="590">
                <a:solidFill>
                  <a:srgbClr val="21242A"/>
                </a:solidFill>
                <a:latin typeface="Microsoft YaHei"/>
              </a:defRPr>
            </a:pPr>
            <a:r>
              <a:t>Although patients with delayed leukapheresis who ultimately received CAR-T had comparable CR, PFS, and OS, prognosis was extremely poor among patients with LBCL</a:t>
            </a:r>
          </a:p>
          <a:p>
            <a:pPr>
              <a:lnSpc>
                <a:spcPct val="103000"/>
              </a:lnSpc>
              <a:spcAft>
                <a:spcPts val="300"/>
              </a:spcAft>
              <a:defRPr sz="590">
                <a:solidFill>
                  <a:srgbClr val="21242A"/>
                </a:solidFill>
                <a:latin typeface="Microsoft YaHei"/>
              </a:defRPr>
            </a:pPr>
            <a:r>
              <a:t> who did not proceed to infusion, underscoring the importance of minimizing leukapheresis delays.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3632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36328">
                <a:tc>
                  <a:txBody>
                    <a:bodyPr wrap="square" lIns="36576" rIns="36576" tIns="18288" bIns="18288"/>
                    <a:lstStyle/>
                    <a:p>
                      <a:r>
                        <a:rPr sz="540" b="1">
                          <a:solidFill>
                            <a:srgbClr val="21242A"/>
                          </a:solidFill>
                          <a:latin typeface="Microsoft YaHei"/>
                        </a:rPr>
                        <a:t>白细胞分离率</a:t>
                      </a:r>
                    </a:p>
                  </a:txBody>
                  <a:tcPr>
                    <a:solidFill>
                      <a:srgbClr val="F6F8FB"/>
                    </a:solidFill>
                  </a:tcPr>
                </a:tc>
                <a:tc>
                  <a:txBody>
                    <a:bodyPr wrap="square" lIns="36576" rIns="36576" tIns="18288" bIns="18288"/>
                    <a:lstStyle/>
                    <a:p>
                      <a:r>
                        <a:rPr sz="540" b="0">
                          <a:solidFill>
                            <a:srgbClr val="21242A"/>
                          </a:solidFill>
                          <a:latin typeface="Microsoft YaHei"/>
                        </a:rPr>
                        <a:t>axi-cel 90.1%（256/284），brexu-cel 92%（46/50），liso-cel 90.2%（55/61），tisa-cel 100%（14/14）</a:t>
                      </a:r>
                    </a:p>
                  </a:txBody>
                  <a:tcPr>
                    <a:solidFill>
                      <a:srgbClr val="F6F8FB"/>
                    </a:solidFill>
                  </a:tcPr>
                </a:tc>
              </a:tr>
              <a:tr h="136328">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总体约10%未进入白细胞分离</a:t>
                      </a:r>
                    </a:p>
                  </a:txBody>
                  <a:tcPr>
                    <a:solidFill>
                      <a:srgbClr val="FFFFFF"/>
                    </a:solidFill>
                  </a:tcPr>
                </a:tc>
              </a:tr>
              <a:tr h="136328">
                <a:tc>
                  <a:txBody>
                    <a:bodyPr wrap="square" lIns="36576" rIns="36576" tIns="18288" bIns="18288"/>
                    <a:lstStyle/>
                    <a:p>
                      <a:r>
                        <a:rPr sz="540" b="1">
                          <a:solidFill>
                            <a:srgbClr val="21242A"/>
                          </a:solidFill>
                          <a:latin typeface="Microsoft YaHei"/>
                        </a:rPr>
                        <a:t>白细胞分离中位时间</a:t>
                      </a:r>
                    </a:p>
                  </a:txBody>
                  <a:tcPr>
                    <a:solidFill>
                      <a:srgbClr val="F6F8FB"/>
                    </a:solidFill>
                  </a:tcPr>
                </a:tc>
                <a:tc>
                  <a:txBody>
                    <a:bodyPr wrap="square" lIns="36576" rIns="36576" tIns="18288" bIns="18288"/>
                    <a:lstStyle/>
                    <a:p>
                      <a:r>
                        <a:rPr sz="540" b="0">
                          <a:solidFill>
                            <a:srgbClr val="21242A"/>
                          </a:solidFill>
                          <a:latin typeface="Microsoft YaHei"/>
                        </a:rPr>
                        <a:t>10天（IQR 8）</a:t>
                      </a:r>
                    </a:p>
                  </a:txBody>
                  <a:tcPr>
                    <a:solidFill>
                      <a:srgbClr val="F6F8FB"/>
                    </a:solidFill>
                  </a:tcPr>
                </a:tc>
              </a:tr>
              <a:tr h="136328">
                <a:tc>
                  <a:txBody>
                    <a:bodyPr wrap="square" lIns="36576" rIns="36576" tIns="18288" bIns="18288"/>
                    <a:lstStyle/>
                    <a:p>
                      <a:r>
                        <a:rPr sz="540" b="1">
                          <a:solidFill>
                            <a:srgbClr val="21242A"/>
                          </a:solidFill>
                          <a:latin typeface="Microsoft YaHei"/>
                        </a:rPr>
                        <a:t>输注率</a:t>
                      </a:r>
                    </a:p>
                  </a:txBody>
                  <a:tcPr>
                    <a:solidFill>
                      <a:srgbClr val="FFFFFF"/>
                    </a:solidFill>
                  </a:tcPr>
                </a:tc>
                <a:tc>
                  <a:txBody>
                    <a:bodyPr wrap="square" lIns="36576" rIns="36576" tIns="18288" bIns="18288"/>
                    <a:lstStyle/>
                    <a:p>
                      <a:r>
                        <a:rPr sz="540" b="0">
                          <a:solidFill>
                            <a:srgbClr val="21242A"/>
                          </a:solidFill>
                          <a:latin typeface="Microsoft YaHei"/>
                        </a:rPr>
                        <a:t>2周内白细胞分离者91.5%（p=0.02），3周内白细胞分离者90.7%（p=0.01）</a:t>
                      </a:r>
                    </a:p>
                  </a:txBody>
                  <a:tcPr>
                    <a:solidFill>
                      <a:srgbClr val="FFFFFF"/>
                    </a:solidFill>
                  </a:tcPr>
                </a:tc>
              </a:tr>
              <a:tr h="136328">
                <a:tc>
                  <a:txBody>
                    <a:bodyPr wrap="square" lIns="36576" rIns="36576" tIns="18288" bIns="18288"/>
                    <a:lstStyle/>
                    <a:p>
                      <a:r>
                        <a:rPr sz="540" b="1">
                          <a:solidFill>
                            <a:srgbClr val="21242A"/>
                          </a:solidFill>
                          <a:latin typeface="Microsoft YaHei"/>
                        </a:rPr>
                        <a:t>大B细胞淋巴瘤患者中，接受输注者的完全缓解率（2周截止）</a:t>
                      </a:r>
                    </a:p>
                  </a:txBody>
                  <a:tcPr>
                    <a:solidFill>
                      <a:srgbClr val="F6F8FB"/>
                    </a:solidFill>
                  </a:tcPr>
                </a:tc>
                <a:tc>
                  <a:txBody>
                    <a:bodyPr wrap="square" lIns="36576" rIns="36576" tIns="18288" bIns="18288"/>
                    <a:lstStyle/>
                    <a:p>
                      <a:r>
                        <a:rPr sz="540" b="0">
                          <a:solidFill>
                            <a:srgbClr val="21242A"/>
                          </a:solidFill>
                          <a:latin typeface="Microsoft YaHei"/>
                        </a:rPr>
                        <a:t>66.7% vs 68.8%（p=0.53）</a:t>
                      </a:r>
                    </a:p>
                  </a:txBody>
                  <a:tcPr>
                    <a:solidFill>
                      <a:srgbClr val="F6F8FB"/>
                    </a:solidFill>
                  </a:tcPr>
                </a:tc>
              </a:tr>
              <a:tr h="136328">
                <a:tc>
                  <a:txBody>
                    <a:bodyPr wrap="square" lIns="36576" rIns="36576" tIns="18288" bIns="18288"/>
                    <a:lstStyle/>
                    <a:p>
                      <a:r>
                        <a:rPr sz="540" b="1">
                          <a:solidFill>
                            <a:srgbClr val="21242A"/>
                          </a:solidFill>
                          <a:latin typeface="Microsoft YaHei"/>
                        </a:rPr>
                        <a:t>中位无进展生存期</a:t>
                      </a:r>
                    </a:p>
                  </a:txBody>
                  <a:tcPr>
                    <a:solidFill>
                      <a:srgbClr val="FFFFFF"/>
                    </a:solidFill>
                  </a:tcPr>
                </a:tc>
                <a:tc>
                  <a:txBody>
                    <a:bodyPr wrap="square" lIns="36576" rIns="36576" tIns="18288" bIns="18288"/>
                    <a:lstStyle/>
                    <a:p>
                      <a:r>
                        <a:rPr sz="540" b="0">
                          <a:solidFill>
                            <a:srgbClr val="21242A"/>
                          </a:solidFill>
                          <a:latin typeface="Microsoft YaHei"/>
                        </a:rPr>
                        <a:t>13.0 vs 13.6个月（p=0.94）</a:t>
                      </a:r>
                    </a:p>
                  </a:txBody>
                  <a:tcPr>
                    <a:solidFill>
                      <a:srgbClr val="FFFFFF"/>
                    </a:solidFill>
                  </a:tcPr>
                </a:tc>
              </a:tr>
              <a:tr h="136328">
                <a:tc>
                  <a:txBody>
                    <a:bodyPr wrap="square" lIns="36576" rIns="36576" tIns="18288" bIns="18288"/>
                    <a:lstStyle/>
                    <a:p>
                      <a:r>
                        <a:rPr sz="540" b="1">
                          <a:solidFill>
                            <a:srgbClr val="21242A"/>
                          </a:solidFill>
                          <a:latin typeface="Microsoft YaHei"/>
                        </a:rPr>
                        <a:t>中位总生存期</a:t>
                      </a:r>
                    </a:p>
                  </a:txBody>
                  <a:tcPr>
                    <a:solidFill>
                      <a:srgbClr val="F6F8FB"/>
                    </a:solidFill>
                  </a:tcPr>
                </a:tc>
                <a:tc>
                  <a:txBody>
                    <a:bodyPr wrap="square" lIns="36576" rIns="36576" tIns="18288" bIns="18288"/>
                    <a:lstStyle/>
                    <a:p>
                      <a:r>
                        <a:rPr sz="540" b="0">
                          <a:solidFill>
                            <a:srgbClr val="21242A"/>
                          </a:solidFill>
                          <a:latin typeface="Microsoft YaHei"/>
                        </a:rPr>
                        <a:t>29.4 vs 25.5个月（p=0.69）</a:t>
                      </a:r>
                    </a:p>
                  </a:txBody>
                  <a:tcPr>
                    <a:solidFill>
                      <a:srgbClr val="F6F8FB"/>
                    </a:solidFill>
                  </a:tcPr>
                </a:tc>
              </a:tr>
              <a:tr h="136328">
                <a:tc>
                  <a:txBody>
                    <a:bodyPr wrap="square" lIns="36576" rIns="36576" tIns="18288" bIns="18288"/>
                    <a:lstStyle/>
                    <a:p>
                      <a:r>
                        <a:rPr sz="540" b="1">
                          <a:solidFill>
                            <a:srgbClr val="21242A"/>
                          </a:solidFill>
                          <a:latin typeface="Microsoft YaHei"/>
                        </a:rPr>
                        <a:t>大B细胞淋巴瘤患者中，接受输注者的完全缓解率（3周截止）</a:t>
                      </a:r>
                    </a:p>
                  </a:txBody>
                  <a:tcPr>
                    <a:solidFill>
                      <a:srgbClr val="FFFFFF"/>
                    </a:solidFill>
                  </a:tcPr>
                </a:tc>
                <a:tc>
                  <a:txBody>
                    <a:bodyPr wrap="square" lIns="36576" rIns="36576" tIns="18288" bIns="18288"/>
                    <a:lstStyle/>
                    <a:p>
                      <a:r>
                        <a:rPr sz="540" b="0">
                          <a:solidFill>
                            <a:srgbClr val="21242A"/>
                          </a:solidFill>
                          <a:latin typeface="Microsoft YaHei"/>
                        </a:rPr>
                        <a:t>68.5% vs 63.6%（p=0.31）</a:t>
                      </a:r>
                    </a:p>
                  </a:txBody>
                  <a:tcPr>
                    <a:solidFill>
                      <a:srgbClr val="FFFFFF"/>
                    </a:solidFill>
                  </a:tcPr>
                </a:tc>
              </a:tr>
              <a:tr h="136328">
                <a:tc>
                  <a:txBody>
                    <a:bodyPr wrap="square" lIns="36576" rIns="36576" tIns="18288" bIns="18288"/>
                    <a:lstStyle/>
                    <a:p>
                      <a:r>
                        <a:rPr sz="540" b="1">
                          <a:solidFill>
                            <a:srgbClr val="21242A"/>
                          </a:solidFill>
                          <a:latin typeface="Microsoft YaHei"/>
                        </a:rPr>
                        <a:t>中位无进展生存期</a:t>
                      </a:r>
                    </a:p>
                  </a:txBody>
                  <a:tcPr>
                    <a:solidFill>
                      <a:srgbClr val="F6F8FB"/>
                    </a:solidFill>
                  </a:tcPr>
                </a:tc>
                <a:tc>
                  <a:txBody>
                    <a:bodyPr wrap="square" lIns="36576" rIns="36576" tIns="18288" bIns="18288"/>
                    <a:lstStyle/>
                    <a:p>
                      <a:r>
                        <a:rPr sz="540" b="0">
                          <a:solidFill>
                            <a:srgbClr val="21242A"/>
                          </a:solidFill>
                          <a:latin typeface="Microsoft YaHei"/>
                        </a:rPr>
                        <a:t>15.1 vs 13.6个月（p=0.78）</a:t>
                      </a:r>
                    </a:p>
                  </a:txBody>
                  <a:tcPr>
                    <a:solidFill>
                      <a:srgbClr val="F6F8FB"/>
                    </a:solidFill>
                  </a:tcPr>
                </a:tc>
              </a:tr>
              <a:tr h="136336">
                <a:tc>
                  <a:txBody>
                    <a:bodyPr wrap="square" lIns="36576" rIns="36576" tIns="18288" bIns="18288"/>
                    <a:lstStyle/>
                    <a:p>
                      <a:r>
                        <a:rPr sz="540" b="1">
                          <a:solidFill>
                            <a:srgbClr val="21242A"/>
                          </a:solidFill>
                          <a:latin typeface="Microsoft YaHei"/>
                        </a:rPr>
                        <a:t>中位总生存期</a:t>
                      </a:r>
                    </a:p>
                  </a:txBody>
                  <a:tcPr>
                    <a:solidFill>
                      <a:srgbClr val="FFFFFF"/>
                    </a:solidFill>
                  </a:tcPr>
                </a:tc>
                <a:tc>
                  <a:txBody>
                    <a:bodyPr wrap="square" lIns="36576" rIns="36576" tIns="18288" bIns="18288"/>
                    <a:lstStyle/>
                    <a:p>
                      <a:r>
                        <a:rPr sz="540" b="0">
                          <a:solidFill>
                            <a:srgbClr val="21242A"/>
                          </a:solidFill>
                          <a:latin typeface="Microsoft YaHei"/>
                        </a:rPr>
                        <a:t>29.0 vs 16.0个月（p=0.47）</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摘要号：PS2349</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起始材料和car t产物的配对单细胞分析确定了与dlbcl临床反应相关的cd8+temra衰老程序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paired single-cell analysis of starting material and car t product identifies...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分组：GEP组(良好扩增和预后)：CD19/22 CAR T</a:t>
            </a:r>
          </a:p>
          <a:p>
            <a:pPr>
              <a:lnSpc>
                <a:spcPct val="103000"/>
              </a:lnSpc>
              <a:spcAft>
                <a:spcPts val="300"/>
              </a:spcAft>
              <a:defRPr sz="800">
                <a:solidFill>
                  <a:srgbClr val="21242A"/>
                </a:solidFill>
                <a:latin typeface="Microsoft YaHei"/>
              </a:defRPr>
            </a:pPr>
            <a:r>
              <a:t>PEP组(不良扩增和预后)：CD19/22 CAR 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多组/多方案比较：GEP组(良好扩增和预后)：CD19/22 CAR T</a:t>
            </a:r>
          </a:p>
          <a:p>
            <a:pPr>
              <a:lnSpc>
                <a:spcPct val="103000"/>
              </a:lnSpc>
              <a:spcAft>
                <a:spcPts val="300"/>
              </a:spcAft>
              <a:defRPr sz="800">
                <a:solidFill>
                  <a:srgbClr val="21242A"/>
                </a:solidFill>
                <a:latin typeface="Microsoft YaHei"/>
              </a:defRPr>
            </a:pPr>
            <a:r>
              <a:t>PEP组(不良扩增和预后)：CD19/22 CAR 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6个月时完全缓解(CR)患者数：23例</a:t>
            </a:r>
          </a:p>
          <a:p>
            <a:pPr>
              <a:lnSpc>
                <a:spcPct val="103000"/>
              </a:lnSpc>
              <a:spcAft>
                <a:spcPts val="300"/>
              </a:spcAft>
              <a:defRPr sz="800">
                <a:solidFill>
                  <a:srgbClr val="21242A"/>
                </a:solidFill>
                <a:latin typeface="Microsoft YaHei"/>
              </a:defRPr>
            </a:pPr>
            <a:r>
              <a:t>6个月时部分缓解(PR)患者数：8例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分组/治疗流程：GEP组(良好扩增和预后)：CD19/22 CAR T、PEP组(不良扩增和预后)：CD19/22 CAR 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起始材料和car t产物的配对单细胞分析确定了与dlbcl临床反应相关的cd8+temra衰老程序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paired single-cell analysis of starting material and car t product identifies...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Responses to CAR T therapy in relapsed/refractory diffuse large B-cell lymphoma (DLBCL) remain heterogeneous.</a:t>
            </a:r>
          </a:p>
          <a:p>
            <a:pPr>
              <a:lnSpc>
                <a:spcPct val="103000"/>
              </a:lnSpc>
              <a:spcAft>
                <a:spcPts val="300"/>
              </a:spcAft>
              <a:defRPr sz="570">
                <a:solidFill>
                  <a:srgbClr val="21242A"/>
                </a:solidFill>
                <a:latin typeface="Microsoft YaHei"/>
              </a:defRPr>
            </a:pPr>
            <a:r>
              <a:t>T-cell states in leukapheresis starting material (SMAT) may imprint the manufactured drug product (DP), yet programs propagated from SMAT to DP that govern in v</a:t>
            </a:r>
          </a:p>
          <a:p>
            <a:pPr>
              <a:lnSpc>
                <a:spcPct val="103000"/>
              </a:lnSpc>
              <a:spcAft>
                <a:spcPts val="300"/>
              </a:spcAft>
              <a:defRPr sz="570">
                <a:solidFill>
                  <a:srgbClr val="21242A"/>
                </a:solidFill>
                <a:latin typeface="Microsoft YaHei"/>
              </a:defRPr>
            </a:pPr>
            <a:r>
              <a:t>ivo expansion and outcome are undefined.</a:t>
            </a:r>
          </a:p>
          <a:p>
            <a:pPr>
              <a:lnSpc>
                <a:spcPct val="103000"/>
              </a:lnSpc>
              <a:spcAft>
                <a:spcPts val="300"/>
              </a:spcAft>
              <a:defRPr sz="570">
                <a:solidFill>
                  <a:srgbClr val="21242A"/>
                </a:solidFill>
                <a:latin typeface="Microsoft YaHei"/>
              </a:defRPr>
            </a:pPr>
            <a:r>
              <a:t>We therefore profiled paired SMAT and DP by single-cell RNA sequencing (scRNA-seq) to delineate programs linked to clinical response and nominate actionable tar</a:t>
            </a:r>
          </a:p>
          <a:p>
            <a:pPr>
              <a:lnSpc>
                <a:spcPct val="103000"/>
              </a:lnSpc>
              <a:spcAft>
                <a:spcPts val="300"/>
              </a:spcAft>
              <a:defRPr sz="570">
                <a:solidFill>
                  <a:srgbClr val="21242A"/>
                </a:solidFill>
                <a:latin typeface="Microsoft YaHei"/>
              </a:defRPr>
            </a:pPr>
            <a:r>
              <a:t>gets.</a:t>
            </a:r>
          </a:p>
          <a:p>
            <a:pPr>
              <a:lnSpc>
                <a:spcPct val="103000"/>
              </a:lnSpc>
              <a:spcAft>
                <a:spcPts val="300"/>
              </a:spcAft>
              <a:defRPr sz="570">
                <a:solidFill>
                  <a:srgbClr val="21242A"/>
                </a:solidFill>
                <a:latin typeface="Microsoft YaHei"/>
              </a:defRPr>
            </a:pPr>
            <a:r>
              <a:t>Aims: Define SMAT T-cell features predicting expansion/response after CD19/22 CAR T in DLBCL, and trace them in DP to guide optimization.</a:t>
            </a:r>
          </a:p>
          <a:p>
            <a:pPr>
              <a:lnSpc>
                <a:spcPct val="103000"/>
              </a:lnSpc>
              <a:spcAft>
                <a:spcPts val="300"/>
              </a:spcAft>
              <a:defRPr sz="570">
                <a:solidFill>
                  <a:srgbClr val="21242A"/>
                </a:solidFill>
                <a:latin typeface="Microsoft YaHei"/>
              </a:defRPr>
            </a:pPr>
            <a:r>
              <a:t>Methods: We retrospectively reviewed r/r DLBCL patients treated with CD19/22 CAR T at Tongji Hospital (01/2024–06/2025).</a:t>
            </a:r>
          </a:p>
          <a:p>
            <a:pPr>
              <a:lnSpc>
                <a:spcPct val="103000"/>
              </a:lnSpc>
              <a:spcAft>
                <a:spcPts val="300"/>
              </a:spcAft>
              <a:defRPr sz="570">
                <a:solidFill>
                  <a:srgbClr val="21242A"/>
                </a:solidFill>
                <a:latin typeface="Microsoft YaHei"/>
              </a:defRPr>
            </a:pPr>
            <a:r>
              <a:t>Response was assessed by PET/CT at month 6 (Lugano 2014).</a:t>
            </a:r>
          </a:p>
          <a:p>
            <a:pPr>
              <a:lnSpc>
                <a:spcPct val="103000"/>
              </a:lnSpc>
              <a:spcAft>
                <a:spcPts val="300"/>
              </a:spcAft>
              <a:defRPr sz="570">
                <a:solidFill>
                  <a:srgbClr val="21242A"/>
                </a:solidFill>
                <a:latin typeface="Microsoft YaHei"/>
              </a:defRPr>
            </a:pPr>
            <a:r>
              <a:t>For extreme-phenotype sampling, CR and PD cases were ranked by in vivo expansion AUC0–28 (serial peripheral-blood qPCR of CAR transgene copies): top five CR wer</a:t>
            </a:r>
          </a:p>
          <a:p>
            <a:pPr>
              <a:lnSpc>
                <a:spcPct val="103000"/>
              </a:lnSpc>
              <a:spcAft>
                <a:spcPts val="300"/>
              </a:spcAft>
              <a:defRPr sz="570">
                <a:solidFill>
                  <a:srgbClr val="21242A"/>
                </a:solidFill>
                <a:latin typeface="Microsoft YaHei"/>
              </a:defRPr>
            </a:pPr>
            <a:r>
              <a:t>e GEP (Good Expansion &amp; Prognosis) and bottom five PD were PEP (Poor Expansion &amp; Prognosis).</a:t>
            </a:r>
          </a:p>
          <a:p>
            <a:pPr>
              <a:lnSpc>
                <a:spcPct val="103000"/>
              </a:lnSpc>
              <a:spcAft>
                <a:spcPts val="300"/>
              </a:spcAft>
              <a:defRPr sz="570">
                <a:solidFill>
                  <a:srgbClr val="21242A"/>
                </a:solidFill>
                <a:latin typeface="Microsoft YaHei"/>
              </a:defRPr>
            </a:pPr>
            <a:r>
              <a:t>Paired SMAT and DP samples (20 total) underwent 10x Genomics 3′ scRNA-seq. After QC, we obtained 39,927 SMAT T cells and 78,694 DP T cells.</a:t>
            </a:r>
          </a:p>
          <a:p>
            <a:pPr>
              <a:lnSpc>
                <a:spcPct val="103000"/>
              </a:lnSpc>
              <a:spcAft>
                <a:spcPts val="300"/>
              </a:spcAft>
              <a:defRPr sz="570">
                <a:solidFill>
                  <a:srgbClr val="21242A"/>
                </a:solidFill>
                <a:latin typeface="Microsoft YaHei"/>
              </a:defRPr>
            </a:pPr>
            <a:r>
              <a:t>UMAP-based clustering, differential abundance and expression, pseudotime trajectory, pathway enrichment, and TCellSI functional state scoring were used to compa</a:t>
            </a:r>
          </a:p>
          <a:p>
            <a:pPr>
              <a:lnSpc>
                <a:spcPct val="103000"/>
              </a:lnSpc>
              <a:spcAft>
                <a:spcPts val="300"/>
              </a:spcAft>
              <a:defRPr sz="570">
                <a:solidFill>
                  <a:srgbClr val="21242A"/>
                </a:solidFill>
                <a:latin typeface="Microsoft YaHei"/>
              </a:defRPr>
            </a:pPr>
            <a:r>
              <a:t>re T-cell programs between GEP and PEP and across SMAT-to-DP transition, including CD4:CD8 ratio dynamics.\n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Paired SMAT/DP scRNA-seq in r/r DLBCL extremes showed CD8 TEMRA drives outcome.</a:t>
            </a:r>
          </a:p>
          <a:p>
            <a:pPr>
              <a:lnSpc>
                <a:spcPct val="103000"/>
              </a:lnSpc>
              <a:spcAft>
                <a:spcPts val="300"/>
              </a:spcAft>
              <a:defRPr sz="590">
                <a:solidFill>
                  <a:srgbClr val="21242A"/>
                </a:solidFill>
                <a:latin typeface="Microsoft YaHei"/>
              </a:defRPr>
            </a:pPr>
            <a:r>
              <a:t>PEP had senescent c0-TEMRA (MAPK/p38, AKT–mTOR) and DP CD8 exhaustion (LAG3/TOX/TIGIT) with CD8 loss and CD4:CD8 ratio imbalance.</a:t>
            </a:r>
          </a:p>
          <a:p>
            <a:pPr>
              <a:lnSpc>
                <a:spcPct val="103000"/>
              </a:lnSpc>
              <a:spcAft>
                <a:spcPts val="300"/>
              </a:spcAft>
              <a:defRPr sz="590">
                <a:solidFill>
                  <a:srgbClr val="21242A"/>
                </a:solidFill>
                <a:latin typeface="Microsoft YaHei"/>
              </a:defRPr>
            </a:pPr>
            <a:r>
              <a:t>GEP retained proliferative SMAT and naïve/cytotoxic DP CD8 with balanced CD4:CD8 ratio. These features inform biomarkers and targets.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6个月时完全缓解(CR)患者数</a:t>
                      </a:r>
                    </a:p>
                  </a:txBody>
                  <a:tcPr>
                    <a:solidFill>
                      <a:srgbClr val="F6F8FB"/>
                    </a:solidFill>
                  </a:tcPr>
                </a:tc>
                <a:tc>
                  <a:txBody>
                    <a:bodyPr wrap="square" lIns="36576" rIns="36576" tIns="18288" bIns="18288"/>
                    <a:lstStyle/>
                    <a:p>
                      <a:r>
                        <a:rPr sz="540" b="0">
                          <a:solidFill>
                            <a:srgbClr val="21242A"/>
                          </a:solidFill>
                          <a:latin typeface="Microsoft YaHei"/>
                        </a:rPr>
                        <a:t>23例</a:t>
                      </a:r>
                    </a:p>
                  </a:txBody>
                  <a:tcPr>
                    <a:solidFill>
                      <a:srgbClr val="F6F8FB"/>
                    </a:solidFill>
                  </a:tcPr>
                </a:tc>
              </a:tr>
              <a:tr h="299923">
                <a:tc>
                  <a:txBody>
                    <a:bodyPr wrap="square" lIns="36576" rIns="36576" tIns="18288" bIns="18288"/>
                    <a:lstStyle/>
                    <a:p>
                      <a:r>
                        <a:rPr sz="540" b="1">
                          <a:solidFill>
                            <a:srgbClr val="21242A"/>
                          </a:solidFill>
                          <a:latin typeface="Microsoft YaHei"/>
                        </a:rPr>
                        <a:t>6个月时部分缓解(PR)患者数</a:t>
                      </a:r>
                    </a:p>
                  </a:txBody>
                  <a:tcPr>
                    <a:solidFill>
                      <a:srgbClr val="FFFFFF"/>
                    </a:solidFill>
                  </a:tcPr>
                </a:tc>
                <a:tc>
                  <a:txBody>
                    <a:bodyPr wrap="square" lIns="36576" rIns="36576" tIns="18288" bIns="18288"/>
                    <a:lstStyle/>
                    <a:p>
                      <a:r>
                        <a:rPr sz="540" b="0">
                          <a:solidFill>
                            <a:srgbClr val="21242A"/>
                          </a:solidFill>
                          <a:latin typeface="Microsoft YaHei"/>
                        </a:rPr>
                        <a:t>8例</a:t>
                      </a:r>
                    </a:p>
                  </a:txBody>
                  <a:tcPr>
                    <a:solidFill>
                      <a:srgbClr val="FFFFFF"/>
                    </a:solidFill>
                  </a:tcPr>
                </a:tc>
              </a:tr>
              <a:tr h="299923">
                <a:tc>
                  <a:txBody>
                    <a:bodyPr wrap="square" lIns="36576" rIns="36576" tIns="18288" bIns="18288"/>
                    <a:lstStyle/>
                    <a:p>
                      <a:r>
                        <a:rPr sz="540" b="1">
                          <a:solidFill>
                            <a:srgbClr val="21242A"/>
                          </a:solidFill>
                          <a:latin typeface="Microsoft YaHei"/>
                        </a:rPr>
                        <a:t>6个月时疾病进展(PD)患者数</a:t>
                      </a:r>
                    </a:p>
                  </a:txBody>
                  <a:tcPr>
                    <a:solidFill>
                      <a:srgbClr val="F6F8FB"/>
                    </a:solidFill>
                  </a:tcPr>
                </a:tc>
                <a:tc>
                  <a:txBody>
                    <a:bodyPr wrap="square" lIns="36576" rIns="36576" tIns="18288" bIns="18288"/>
                    <a:lstStyle/>
                    <a:p>
                      <a:r>
                        <a:rPr sz="540" b="0">
                          <a:solidFill>
                            <a:srgbClr val="21242A"/>
                          </a:solidFill>
                          <a:latin typeface="Microsoft YaHei"/>
                        </a:rPr>
                        <a:t>16例</a:t>
                      </a:r>
                    </a:p>
                  </a:txBody>
                  <a:tcPr>
                    <a:solidFill>
                      <a:srgbClr val="F6F8FB"/>
                    </a:solidFill>
                  </a:tcPr>
                </a:tc>
              </a:tr>
              <a:tr h="299924">
                <a:tc>
                  <a:txBody>
                    <a:bodyPr wrap="square" lIns="36576" rIns="36576" tIns="18288" bIns="18288"/>
                    <a:lstStyle/>
                    <a:p>
                      <a:r>
                        <a:rPr sz="540" b="1">
                          <a:solidFill>
                            <a:srgbClr val="21242A"/>
                          </a:solidFill>
                          <a:latin typeface="Microsoft YaHei"/>
                        </a:rPr>
                        <a:t>CD8+ TEMRA衰老程序与反应相关</a:t>
                      </a:r>
                    </a:p>
                  </a:txBody>
                  <a:tcPr>
                    <a:solidFill>
                      <a:srgbClr val="FFFFFF"/>
                    </a:solidFill>
                  </a:tcPr>
                </a:tc>
                <a:tc>
                  <a:txBody>
                    <a:bodyPr wrap="square" lIns="36576" rIns="36576" tIns="18288" bIns="18288"/>
                    <a:lstStyle/>
                    <a:p>
                      <a:r>
                        <a:rPr sz="540" b="0">
                          <a:solidFill>
                            <a:srgbClr val="21242A"/>
                          </a:solidFill>
                          <a:latin typeface="Microsoft YaHei"/>
                        </a:rPr>
                        <a:t>PEP组CD8+ TEMRA富集衰老程序，GEP组CD8+ T细胞富集增殖程序</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摘要号：PS2338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car-t细胞治疗前后ctdna的纵向动态及其对大b细胞淋巴瘤治疗效果的影响。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ctdna dynamics around car-t cell therapy and their impact on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回顾性临床研究结果：longitudinal ctdna dynamics around car-t cell therapy...</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中位无进展生存期（PFS）：10.1个月（95% CI 8.5–NR）</a:t>
            </a:r>
          </a:p>
          <a:p>
            <a:pPr>
              <a:lnSpc>
                <a:spcPct val="103000"/>
              </a:lnSpc>
              <a:spcAft>
                <a:spcPts val="300"/>
              </a:spcAft>
              <a:defRPr sz="800">
                <a:solidFill>
                  <a:srgbClr val="21242A"/>
                </a:solidFill>
                <a:latin typeface="Microsoft YaHei"/>
              </a:defRPr>
            </a:pPr>
            <a:r>
              <a:t>早期复发（3个月内）发生率：41.7%（53/127）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人数：127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研究主题：longitudinal ctdna dynamics around car-t cell therapy and their impact on treatment efficacy in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car-t细胞治疗前后ctdna的纵向动态及其对大b细胞淋巴瘤治疗效果的影响。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ctdna dynamics around car-t cell therapy and their impact on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Clonal dynamics and the emergence of resistant subclones are key drivers of relapse after CD19-directed CAR-T therapy.</a:t>
            </a:r>
          </a:p>
          <a:p>
            <a:pPr>
              <a:lnSpc>
                <a:spcPct val="103000"/>
              </a:lnSpc>
              <a:spcAft>
                <a:spcPts val="300"/>
              </a:spcAft>
              <a:defRPr sz="570">
                <a:solidFill>
                  <a:srgbClr val="21242A"/>
                </a:solidFill>
                <a:latin typeface="Microsoft YaHei"/>
              </a:defRPr>
            </a:pPr>
            <a:r>
              <a:t>Circulating tumor DNA (ctDNA) enables longitudinal tracking of these molecular changes; however, the relationship between variants detected before CAR-T apheres</a:t>
            </a:r>
          </a:p>
          <a:p>
            <a:pPr>
              <a:lnSpc>
                <a:spcPct val="103000"/>
              </a:lnSpc>
              <a:spcAft>
                <a:spcPts val="300"/>
              </a:spcAft>
              <a:defRPr sz="570">
                <a:solidFill>
                  <a:srgbClr val="21242A"/>
                </a:solidFill>
                <a:latin typeface="Microsoft YaHei"/>
              </a:defRPr>
            </a:pPr>
            <a:r>
              <a:t>is, infusion and those present at relapse remains incompletely defined</a:t>
            </a:r>
          </a:p>
          <a:p>
            <a:pPr>
              <a:lnSpc>
                <a:spcPct val="103000"/>
              </a:lnSpc>
              <a:spcAft>
                <a:spcPts val="300"/>
              </a:spcAft>
              <a:defRPr sz="570">
                <a:solidFill>
                  <a:srgbClr val="21242A"/>
                </a:solidFill>
                <a:latin typeface="Microsoft YaHei"/>
              </a:defRPr>
            </a:pPr>
            <a:r>
              <a:t>Aims: Our aim was to characterize ctDNA variant dynamics across CAR-T treatment timepoints and to assess clonal overlap between pre-treatment and relapse sample</a:t>
            </a:r>
          </a:p>
          <a:p>
            <a:pPr>
              <a:lnSpc>
                <a:spcPct val="103000"/>
              </a:lnSpc>
              <a:spcAft>
                <a:spcPts val="300"/>
              </a:spcAft>
              <a:defRPr sz="570">
                <a:solidFill>
                  <a:srgbClr val="21242A"/>
                </a:solidFill>
                <a:latin typeface="Microsoft YaHei"/>
              </a:defRPr>
            </a:pPr>
            <a:r>
              <a:t>s in large B cell lymphoma (LBCL)</a:t>
            </a:r>
          </a:p>
          <a:p>
            <a:pPr>
              <a:lnSpc>
                <a:spcPct val="103000"/>
              </a:lnSpc>
              <a:spcAft>
                <a:spcPts val="300"/>
              </a:spcAft>
              <a:defRPr sz="570">
                <a:solidFill>
                  <a:srgbClr val="21242A"/>
                </a:solidFill>
                <a:latin typeface="Microsoft YaHei"/>
              </a:defRPr>
            </a:pPr>
            <a:r>
              <a:t>Methods: We analysed 127 LBCL patients treated with CAR-T.</a:t>
            </a:r>
          </a:p>
          <a:p>
            <a:pPr>
              <a:lnSpc>
                <a:spcPct val="103000"/>
              </a:lnSpc>
              <a:spcAft>
                <a:spcPts val="300"/>
              </a:spcAft>
              <a:defRPr sz="570">
                <a:solidFill>
                  <a:srgbClr val="21242A"/>
                </a:solidFill>
                <a:latin typeface="Microsoft YaHei"/>
              </a:defRPr>
            </a:pPr>
            <a:r>
              <a:t>cfDNA was profiled from 224 plasma samples collected at pre-apheresis (PA) (n=103), pre-infusion (PI) (n=94), and relapse (n=24); 70 patients had paired PA–PI s</a:t>
            </a:r>
          </a:p>
          <a:p>
            <a:pPr>
              <a:lnSpc>
                <a:spcPct val="103000"/>
              </a:lnSpc>
              <a:spcAft>
                <a:spcPts val="300"/>
              </a:spcAft>
              <a:defRPr sz="570">
                <a:solidFill>
                  <a:srgbClr val="21242A"/>
                </a:solidFill>
                <a:latin typeface="Microsoft YaHei"/>
              </a:defRPr>
            </a:pPr>
            <a:r>
              <a:t>amples.</a:t>
            </a:r>
          </a:p>
          <a:p>
            <a:pPr>
              <a:lnSpc>
                <a:spcPct val="103000"/>
              </a:lnSpc>
              <a:spcAft>
                <a:spcPts val="300"/>
              </a:spcAft>
              <a:defRPr sz="570">
                <a:solidFill>
                  <a:srgbClr val="21242A"/>
                </a:solidFill>
                <a:latin typeface="Microsoft YaHei"/>
              </a:defRPr>
            </a:pPr>
            <a:r>
              <a:t>Targeted cfDNA sequencing used the CAPP-Seq Lymph panel (135 genes).</a:t>
            </a:r>
          </a:p>
          <a:p>
            <a:pPr>
              <a:lnSpc>
                <a:spcPct val="103000"/>
              </a:lnSpc>
              <a:spcAft>
                <a:spcPts val="300"/>
              </a:spcAft>
              <a:defRPr sz="570">
                <a:solidFill>
                  <a:srgbClr val="21242A"/>
                </a:solidFill>
                <a:latin typeface="Microsoft YaHei"/>
              </a:defRPr>
            </a:pPr>
            <a:r>
              <a:t>Somatic variants required PASS, ≥100×, VAF ≥1%, and &gt;10 supporting reads, filtering for artifacts, germline/benign variants, and population frequency ≥1%; analy</a:t>
            </a:r>
          </a:p>
          <a:p>
            <a:pPr>
              <a:lnSpc>
                <a:spcPct val="103000"/>
              </a:lnSpc>
              <a:spcAft>
                <a:spcPts val="300"/>
              </a:spcAft>
              <a:defRPr sz="570">
                <a:solidFill>
                  <a:srgbClr val="21242A"/>
                </a:solidFill>
                <a:latin typeface="Microsoft YaHei"/>
              </a:defRPr>
            </a:pPr>
            <a:r>
              <a:t>ses were restricted to non-synonymous and splice-site variants.</a:t>
            </a:r>
          </a:p>
          <a:p>
            <a:pPr>
              <a:lnSpc>
                <a:spcPct val="103000"/>
              </a:lnSpc>
              <a:spcAft>
                <a:spcPts val="300"/>
              </a:spcAft>
              <a:defRPr sz="570">
                <a:solidFill>
                  <a:srgbClr val="21242A"/>
                </a:solidFill>
                <a:latin typeface="Microsoft YaHei"/>
              </a:defRPr>
            </a:pPr>
            <a:r>
              <a:t>Statistics were performed in RStudio</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Longitudinal ctDNA profiling reveals marked clonal dynamics across CAR-T treatment in LBCL, with both clonal expansion and the emergence of previously undetecta</a:t>
            </a:r>
          </a:p>
          <a:p>
            <a:pPr>
              <a:lnSpc>
                <a:spcPct val="103000"/>
              </a:lnSpc>
              <a:spcAft>
                <a:spcPts val="300"/>
              </a:spcAft>
              <a:defRPr sz="590">
                <a:solidFill>
                  <a:srgbClr val="21242A"/>
                </a:solidFill>
                <a:latin typeface="Microsoft YaHei"/>
              </a:defRPr>
            </a:pPr>
            <a:r>
              <a:t>ble variants contributing to treatment failure.</a:t>
            </a:r>
          </a:p>
          <a:p>
            <a:pPr>
              <a:lnSpc>
                <a:spcPct val="103000"/>
              </a:lnSpc>
              <a:spcAft>
                <a:spcPts val="300"/>
              </a:spcAft>
              <a:defRPr sz="590">
                <a:solidFill>
                  <a:srgbClr val="21242A"/>
                </a:solidFill>
                <a:latin typeface="Microsoft YaHei"/>
              </a:defRPr>
            </a:pPr>
            <a:r>
              <a:t>Molecular changes occurring between PA and PI, as well as patterns of clonal overlap and evolution at relapse, are strongly associated with CAR-T efficacy.</a:t>
            </a:r>
          </a:p>
          <a:p>
            <a:pPr>
              <a:lnSpc>
                <a:spcPct val="103000"/>
              </a:lnSpc>
              <a:spcAft>
                <a:spcPts val="300"/>
              </a:spcAft>
              <a:defRPr sz="590">
                <a:solidFill>
                  <a:srgbClr val="21242A"/>
                </a:solidFill>
                <a:latin typeface="Microsoft YaHei"/>
              </a:defRPr>
            </a:pPr>
            <a:r>
              <a:t>Importantly, these findings demonstrate that PA and PI samples are not interchangeable, underscoring that variant selection for ctDNA monitoring is more complex</a:t>
            </a:r>
          </a:p>
          <a:p>
            <a:pPr>
              <a:lnSpc>
                <a:spcPct val="103000"/>
              </a:lnSpc>
              <a:spcAft>
                <a:spcPts val="300"/>
              </a:spcAft>
              <a:defRPr sz="590">
                <a:solidFill>
                  <a:srgbClr val="21242A"/>
                </a:solidFill>
                <a:latin typeface="Microsoft YaHei"/>
              </a:defRPr>
            </a:pPr>
            <a:r>
              <a:t> than commonly assumed and critical for anticipating relapse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中位无进展生存期（PFS）</a:t>
                      </a:r>
                    </a:p>
                  </a:txBody>
                  <a:tcPr>
                    <a:solidFill>
                      <a:srgbClr val="F6F8FB"/>
                    </a:solidFill>
                  </a:tcPr>
                </a:tc>
                <a:tc>
                  <a:txBody>
                    <a:bodyPr wrap="square" lIns="36576" rIns="36576" tIns="18288" bIns="18288"/>
                    <a:lstStyle/>
                    <a:p>
                      <a:r>
                        <a:rPr sz="540" b="0">
                          <a:solidFill>
                            <a:srgbClr val="21242A"/>
                          </a:solidFill>
                          <a:latin typeface="Microsoft YaHei"/>
                        </a:rPr>
                        <a:t>10.1个月（95% CI 8.5–NR）</a:t>
                      </a:r>
                    </a:p>
                  </a:txBody>
                  <a:tcPr>
                    <a:solidFill>
                      <a:srgbClr val="F6F8FB"/>
                    </a:solidFill>
                  </a:tcPr>
                </a:tc>
              </a:tr>
              <a:tr h="249936">
                <a:tc>
                  <a:txBody>
                    <a:bodyPr wrap="square" lIns="36576" rIns="36576" tIns="18288" bIns="18288"/>
                    <a:lstStyle/>
                    <a:p>
                      <a:r>
                        <a:rPr sz="540" b="1">
                          <a:solidFill>
                            <a:srgbClr val="21242A"/>
                          </a:solidFill>
                          <a:latin typeface="Microsoft YaHei"/>
                        </a:rPr>
                        <a:t>早期复发（3个月内）发生率</a:t>
                      </a:r>
                    </a:p>
                  </a:txBody>
                  <a:tcPr>
                    <a:solidFill>
                      <a:srgbClr val="FFFFFF"/>
                    </a:solidFill>
                  </a:tcPr>
                </a:tc>
                <a:tc>
                  <a:txBody>
                    <a:bodyPr wrap="square" lIns="36576" rIns="36576" tIns="18288" bIns="18288"/>
                    <a:lstStyle/>
                    <a:p>
                      <a:r>
                        <a:rPr sz="540" b="0">
                          <a:solidFill>
                            <a:srgbClr val="21242A"/>
                          </a:solidFill>
                          <a:latin typeface="Microsoft YaHei"/>
                        </a:rPr>
                        <a:t>41.7%（53/127）</a:t>
                      </a:r>
                    </a:p>
                  </a:txBody>
                  <a:tcPr>
                    <a:solidFill>
                      <a:srgbClr val="FFFFFF"/>
                    </a:solidFill>
                  </a:tcPr>
                </a:tc>
              </a:tr>
              <a:tr h="249936">
                <a:tc>
                  <a:txBody>
                    <a:bodyPr wrap="square" lIns="36576" rIns="36576" tIns="18288" bIns="18288"/>
                    <a:lstStyle/>
                    <a:p>
                      <a:r>
                        <a:rPr sz="540" b="1">
                          <a:solidFill>
                            <a:srgbClr val="21242A"/>
                          </a:solidFill>
                          <a:latin typeface="Microsoft YaHei"/>
                        </a:rPr>
                        <a:t>早期复发相关因素</a:t>
                      </a:r>
                    </a:p>
                  </a:txBody>
                  <a:tcPr>
                    <a:solidFill>
                      <a:srgbClr val="F6F8FB"/>
                    </a:solidFill>
                  </a:tcPr>
                </a:tc>
                <a:tc>
                  <a:txBody>
                    <a:bodyPr wrap="square" lIns="36576" rIns="36576" tIns="18288" bIns="18288"/>
                    <a:lstStyle/>
                    <a:p>
                      <a:r>
                        <a:rPr sz="540" b="0">
                          <a:solidFill>
                            <a:srgbClr val="21242A"/>
                          </a:solidFill>
                          <a:latin typeface="Microsoft YaHei"/>
                        </a:rPr>
                        <a:t>LDH、铁蛋白、CRP升高，BTG1、IGLL5、HIST1H1C/HIST1H1E、FOXO1、CD58变异，≥2个TP53变异</a:t>
                      </a:r>
                    </a:p>
                  </a:txBody>
                  <a:tcPr>
                    <a:solidFill>
                      <a:srgbClr val="F6F8FB"/>
                    </a:solidFill>
                  </a:tcPr>
                </a:tc>
              </a:tr>
              <a:tr h="249936">
                <a:tc>
                  <a:txBody>
                    <a:bodyPr wrap="square" lIns="36576" rIns="36576" tIns="18288" bIns="18288"/>
                    <a:lstStyle/>
                    <a:p>
                      <a:r>
                        <a:rPr sz="540" b="1">
                          <a:solidFill>
                            <a:srgbClr val="21242A"/>
                          </a:solidFill>
                          <a:latin typeface="Microsoft YaHei"/>
                        </a:rPr>
                        <a:t>ctDNA VAF</a:t>
                      </a:r>
                    </a:p>
                  </a:txBody>
                  <a:tcPr>
                    <a:solidFill>
                      <a:srgbClr val="FFFFFF"/>
                    </a:solidFill>
                  </a:tcPr>
                </a:tc>
                <a:tc>
                  <a:txBody>
                    <a:bodyPr wrap="square" lIns="36576" rIns="36576" tIns="18288" bIns="18288"/>
                    <a:lstStyle/>
                    <a:p>
                      <a:r>
                        <a:rPr sz="540" b="0">
                          <a:solidFill>
                            <a:srgbClr val="21242A"/>
                          </a:solidFill>
                          <a:latin typeface="Microsoft YaHei"/>
                        </a:rPr>
                        <a:t>PA组&gt;8%、PI组&gt;2%与早期复发相关</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PI新变异和PA-to-PI克隆VAF变化与PFS缩短相关</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摘要号：PS2168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抗生素暴露和左氧氟沙星预防对大b细胞淋巴瘤术后预后的影响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effects of antibiotic-exposure and levofloxacin-prophylaxis on outcomes after...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多组/多方案比较：根据治疗前30天内抗生素暴露分组：抗生素暴露组（AB-exposed pre-CART，n=77）</a:t>
            </a:r>
          </a:p>
          <a:p>
            <a:pPr>
              <a:lnSpc>
                <a:spcPct val="103000"/>
              </a:lnSpc>
              <a:spcAft>
                <a:spcPts val="300"/>
              </a:spcAft>
              <a:defRPr sz="800">
                <a:solidFill>
                  <a:srgbClr val="21242A"/>
                </a:solidFill>
                <a:latin typeface="Microsoft YaHei"/>
              </a:defRPr>
            </a:pPr>
            <a:r>
              <a:t>抗生素未暴露组（AB-naïve pre-CART，n=47）</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中位无进展生存期（mPFS）为12.0个月</a:t>
            </a:r>
          </a:p>
          <a:p>
            <a:pPr>
              <a:lnSpc>
                <a:spcPct val="103000"/>
              </a:lnSpc>
              <a:spcAft>
                <a:spcPts val="300"/>
              </a:spcAft>
              <a:defRPr sz="800">
                <a:solidFill>
                  <a:srgbClr val="21242A"/>
                </a:solidFill>
                <a:latin typeface="Microsoft YaHei"/>
              </a:defRPr>
            </a:pPr>
            <a:r>
              <a:t>中位总生存期（mOS）未达到</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人数：124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抗生素暴露和左氧氟沙星预防对大b细胞淋巴瘤术后预后的影响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effects of antibiotic-exposure and levofloxacin-prophylaxis on outcomes after...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Antibiotics (AB) are major drivers of dysbiosis, which has been shown to affect outcomes after immunotherapies, including chimeric antigen receptor </a:t>
            </a:r>
          </a:p>
          <a:p>
            <a:pPr>
              <a:lnSpc>
                <a:spcPct val="103000"/>
              </a:lnSpc>
              <a:spcAft>
                <a:spcPts val="300"/>
              </a:spcAft>
              <a:defRPr sz="570">
                <a:solidFill>
                  <a:srgbClr val="21242A"/>
                </a:solidFill>
                <a:latin typeface="Microsoft YaHei"/>
              </a:defRPr>
            </a:pPr>
            <a:r>
              <a:t>T-cell (CART) therapy.</a:t>
            </a:r>
          </a:p>
          <a:p>
            <a:pPr>
              <a:lnSpc>
                <a:spcPct val="103000"/>
              </a:lnSpc>
              <a:spcAft>
                <a:spcPts val="300"/>
              </a:spcAft>
              <a:defRPr sz="570">
                <a:solidFill>
                  <a:srgbClr val="21242A"/>
                </a:solidFill>
                <a:latin typeface="Microsoft YaHei"/>
              </a:defRPr>
            </a:pPr>
            <a:r>
              <a:t>The role of prophylactic treatment with levofloxacin (levo) in hematologic patients remains controversial, being effective and well-tolerated strategy to preven</a:t>
            </a:r>
          </a:p>
          <a:p>
            <a:pPr>
              <a:lnSpc>
                <a:spcPct val="103000"/>
              </a:lnSpc>
              <a:spcAft>
                <a:spcPts val="300"/>
              </a:spcAft>
              <a:defRPr sz="570">
                <a:solidFill>
                  <a:srgbClr val="21242A"/>
                </a:solidFill>
                <a:latin typeface="Microsoft YaHei"/>
              </a:defRPr>
            </a:pPr>
            <a:r>
              <a:t>t febrile episodes but also associated with detrimental effects after allogeneic transplantation.</a:t>
            </a:r>
          </a:p>
          <a:p>
            <a:pPr>
              <a:lnSpc>
                <a:spcPct val="103000"/>
              </a:lnSpc>
              <a:spcAft>
                <a:spcPts val="300"/>
              </a:spcAft>
              <a:defRPr sz="570">
                <a:solidFill>
                  <a:srgbClr val="21242A"/>
                </a:solidFill>
                <a:latin typeface="Microsoft YaHei"/>
              </a:defRPr>
            </a:pPr>
            <a:r>
              <a:t>Moreover, the emergence of multi-resistant pathogens has risen concerns on its widespread use.</a:t>
            </a:r>
          </a:p>
          <a:p>
            <a:pPr>
              <a:lnSpc>
                <a:spcPct val="103000"/>
              </a:lnSpc>
              <a:spcAft>
                <a:spcPts val="300"/>
              </a:spcAft>
              <a:defRPr sz="570">
                <a:solidFill>
                  <a:srgbClr val="21242A"/>
                </a:solidFill>
                <a:latin typeface="Microsoft YaHei"/>
              </a:defRPr>
            </a:pPr>
            <a:r>
              <a:t>Aims: We investigated the impact of AB-treatment and levo-prophylaxis on outcomes after CART in large B-cell lymphoma (LBCL).</a:t>
            </a:r>
          </a:p>
          <a:p>
            <a:pPr>
              <a:lnSpc>
                <a:spcPct val="103000"/>
              </a:lnSpc>
              <a:spcAft>
                <a:spcPts val="300"/>
              </a:spcAft>
              <a:defRPr sz="570">
                <a:solidFill>
                  <a:srgbClr val="21242A"/>
                </a:solidFill>
                <a:latin typeface="Microsoft YaHei"/>
              </a:defRPr>
            </a:pPr>
            <a:r>
              <a:t>Methods: We retrospectively analyzed 124 LBCL patients treated with anti-CD19 CART at the Hematology Institute of Bologna.</a:t>
            </a:r>
          </a:p>
          <a:p>
            <a:pPr>
              <a:lnSpc>
                <a:spcPct val="103000"/>
              </a:lnSpc>
              <a:spcAft>
                <a:spcPts val="300"/>
              </a:spcAft>
              <a:defRPr sz="570">
                <a:solidFill>
                  <a:srgbClr val="21242A"/>
                </a:solidFill>
                <a:latin typeface="Microsoft YaHei"/>
              </a:defRPr>
            </a:pPr>
            <a:r>
              <a:t>Considering the effect on dysbiosis, we evaluated the AB-exposure within 30 days before CART, whereas levo-prophylaxis (500 mg/day) within 30 days after CART.</a:t>
            </a:r>
          </a:p>
          <a:p>
            <a:pPr>
              <a:lnSpc>
                <a:spcPct val="103000"/>
              </a:lnSpc>
              <a:spcAft>
                <a:spcPts val="300"/>
              </a:spcAft>
              <a:defRPr sz="570">
                <a:solidFill>
                  <a:srgbClr val="21242A"/>
                </a:solidFill>
                <a:latin typeface="Microsoft YaHei"/>
              </a:defRPr>
            </a:pPr>
            <a:r>
              <a:t>Analyses were performed using R.</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study confirms the detrimental effects of AB-exposure on survival and NT occurrence after CART, as reported in the literature.</a:t>
            </a:r>
          </a:p>
          <a:p>
            <a:pPr>
              <a:lnSpc>
                <a:spcPct val="103000"/>
              </a:lnSpc>
              <a:spcAft>
                <a:spcPts val="300"/>
              </a:spcAft>
              <a:defRPr sz="590">
                <a:solidFill>
                  <a:srgbClr val="21242A"/>
                </a:solidFill>
                <a:latin typeface="Microsoft YaHei"/>
              </a:defRPr>
            </a:pPr>
            <a:r>
              <a:t>To the best of our knowledge, this is the first study to evaluate levofloxacin prophylaxis after CART, showing no significant effect on outcomes nor advantages </a:t>
            </a:r>
          </a:p>
          <a:p>
            <a:pPr>
              <a:lnSpc>
                <a:spcPct val="103000"/>
              </a:lnSpc>
              <a:spcAft>
                <a:spcPts val="300"/>
              </a:spcAft>
              <a:defRPr sz="590">
                <a:solidFill>
                  <a:srgbClr val="21242A"/>
                </a:solidFill>
                <a:latin typeface="Microsoft YaHei"/>
              </a:defRPr>
            </a:pPr>
            <a:r>
              <a:t>on infection occurrence after CART.</a:t>
            </a:r>
          </a:p>
          <a:p>
            <a:pPr>
              <a:lnSpc>
                <a:spcPct val="103000"/>
              </a:lnSpc>
              <a:spcAft>
                <a:spcPts val="300"/>
              </a:spcAft>
              <a:defRPr sz="590">
                <a:solidFill>
                  <a:srgbClr val="21242A"/>
                </a:solidFill>
                <a:latin typeface="Microsoft YaHei"/>
              </a:defRPr>
            </a:pPr>
            <a:r>
              <a:t>Further investigation is needed to understand the long-term effects of prophylaxis and the interactions with the microbiome.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中位无进展生存期（mPFS）为12.0个月</a:t>
                      </a:r>
                    </a:p>
                  </a:txBody>
                  <a:tcPr>
                    <a:solidFill>
                      <a:srgbClr val="F6F8FB"/>
                    </a:solidFill>
                  </a:tcPr>
                </a:tc>
              </a:tr>
              <a:tr h="214230">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中位总生存期（mOS）未达到</a:t>
                      </a:r>
                    </a:p>
                  </a:txBody>
                  <a:tcPr>
                    <a:solidFill>
                      <a:srgbClr val="FFFFFF"/>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抗生素暴露组中位OS为35.0个月，抗生素未暴露组未达到（p=0.003）</a:t>
                      </a:r>
                    </a:p>
                  </a:txBody>
                  <a:tcPr>
                    <a:solidFill>
                      <a:srgbClr val="F6F8FB"/>
                    </a:solidFill>
                  </a:tcPr>
                </a:tc>
              </a:tr>
              <a:tr h="214230">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抗生素暴露组神经毒性（NT）发生率为50.0%，抗生素未暴露组为20.4%（p=0.010）</a:t>
                      </a:r>
                    </a:p>
                  </a:txBody>
                  <a:tcPr>
                    <a:solidFill>
                      <a:srgbClr val="FFFFFF"/>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左氧氟沙星预防对生存和毒性无显著影响</a:t>
                      </a:r>
                    </a:p>
                  </a:txBody>
                  <a:tcPr>
                    <a:solidFill>
                      <a:srgbClr val="F6F8FB"/>
                    </a:solidFill>
                  </a:tcPr>
                </a:tc>
              </a:tr>
              <a:tr h="2142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感染率在左氧氟沙星预防组和无预防组相似</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摘要号：PS2119</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接受axicabtagene ciloleucel治疗弥漫性大b细胞淋巴瘤患者持续性crs的早期西妥昔单抗抢救：一项现...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siltuximab rescue for persistent crs in patients with diffuse large b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N=87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试验药/方案：司妥昔单抗</a:t>
            </a:r>
          </a:p>
          <a:p>
            <a:pPr>
              <a:lnSpc>
                <a:spcPct val="103000"/>
              </a:lnSpc>
              <a:spcAft>
                <a:spcPts val="300"/>
              </a:spcAft>
              <a:defRPr sz="800">
                <a:solidFill>
                  <a:srgbClr val="21242A"/>
                </a:solidFill>
                <a:latin typeface="Microsoft YaHei"/>
              </a:defRPr>
            </a:pPr>
            <a:r>
              <a:t>靶点：IL6</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对照/比较：司妥昔单抗组：司妥昔单抗联合地塞米松（在持续性CRS时给予至多2剂11mg/kg司妥昔单抗）||对照组：后续剂量托...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CRS等级：司妥昔单抗组1级84.6%，2级15.4%，3级0%，4级0%</a:t>
            </a:r>
          </a:p>
          <a:p>
            <a:pPr>
              <a:lnSpc>
                <a:spcPct val="103000"/>
              </a:lnSpc>
              <a:spcAft>
                <a:spcPts val="300"/>
              </a:spcAft>
              <a:defRPr sz="800">
                <a:solidFill>
                  <a:srgbClr val="21242A"/>
                </a:solidFill>
                <a:latin typeface="Microsoft YaHei"/>
              </a:defRPr>
            </a:pPr>
            <a:r>
              <a:t>对照组1级59.0%，2级31.1%，3级8.2%，4级1.6%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试验药/方案：司妥昔单抗</a:t>
            </a:r>
          </a:p>
          <a:p>
            <a:pPr>
              <a:lnSpc>
                <a:spcPct val="103000"/>
              </a:lnSpc>
              <a:spcAft>
                <a:spcPts val="300"/>
              </a:spcAft>
              <a:defRPr sz="810">
                <a:solidFill>
                  <a:srgbClr val="21242A"/>
                </a:solidFill>
                <a:latin typeface="Microsoft YaHei"/>
              </a:defRPr>
            </a:pPr>
            <a:r>
              <a:t>靶点：IL6</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接受axicabtagene ciloleucel治疗弥漫性大b细胞淋巴瘤患者持续性crs的早期西妥昔单抗抢救：一项现...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siltuximab rescue for persistent crs in patients with diffuse large b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Chimeric Antigen Receptor (CAR) T-cell therapy is associated with significant and potentially life-threatening toxicities, such as CRS and ICANS.</a:t>
            </a:r>
          </a:p>
          <a:p>
            <a:pPr>
              <a:lnSpc>
                <a:spcPct val="103000"/>
              </a:lnSpc>
              <a:spcAft>
                <a:spcPts val="300"/>
              </a:spcAft>
              <a:defRPr sz="570">
                <a:solidFill>
                  <a:srgbClr val="21242A"/>
                </a:solidFill>
                <a:latin typeface="Microsoft YaHei"/>
              </a:defRPr>
            </a:pPr>
            <a:r>
              <a:t>5-17% of patients treated with Axi-cel will experience grade ≥3 CRS and 9%-20% grade ≥3 ICANS, ICU admission rates can reach up to 21%.</a:t>
            </a:r>
          </a:p>
          <a:p>
            <a:pPr>
              <a:lnSpc>
                <a:spcPct val="103000"/>
              </a:lnSpc>
              <a:spcAft>
                <a:spcPts val="300"/>
              </a:spcAft>
              <a:defRPr sz="570">
                <a:solidFill>
                  <a:srgbClr val="21242A"/>
                </a:solidFill>
                <a:latin typeface="Microsoft YaHei"/>
              </a:defRPr>
            </a:pPr>
            <a:r>
              <a:t>Studies have explored strategies to mitigate this toxicity, with contradictory outcomes.</a:t>
            </a:r>
          </a:p>
          <a:p>
            <a:pPr>
              <a:lnSpc>
                <a:spcPct val="103000"/>
              </a:lnSpc>
              <a:spcAft>
                <a:spcPts val="300"/>
              </a:spcAft>
              <a:defRPr sz="570">
                <a:solidFill>
                  <a:srgbClr val="21242A"/>
                </a:solidFill>
                <a:latin typeface="Microsoft YaHei"/>
              </a:defRPr>
            </a:pPr>
            <a:r>
              <a:t>Aims: The primary objective of this study was to evaluate the impact of early siltuximab rescue for persistent CRS in patients with R/R DLBCL undergoing CAR T-c</a:t>
            </a:r>
          </a:p>
          <a:p>
            <a:pPr>
              <a:lnSpc>
                <a:spcPct val="103000"/>
              </a:lnSpc>
              <a:spcAft>
                <a:spcPts val="300"/>
              </a:spcAft>
              <a:defRPr sz="570">
                <a:solidFill>
                  <a:srgbClr val="21242A"/>
                </a:solidFill>
                <a:latin typeface="Microsoft YaHei"/>
              </a:defRPr>
            </a:pPr>
            <a:r>
              <a:t>ell therapy with Axi-cel.</a:t>
            </a:r>
          </a:p>
          <a:p>
            <a:pPr>
              <a:lnSpc>
                <a:spcPct val="103000"/>
              </a:lnSpc>
              <a:spcAft>
                <a:spcPts val="300"/>
              </a:spcAft>
              <a:defRPr sz="570">
                <a:solidFill>
                  <a:srgbClr val="21242A"/>
                </a:solidFill>
                <a:latin typeface="Microsoft YaHei"/>
              </a:defRPr>
            </a:pPr>
            <a:r>
              <a:t>Methods: Retrospective, single-center analysis of 87 adult patients with R/R B-cell lymphomas treated with Axi-cel between November 2022 and December 2025 compa</a:t>
            </a:r>
          </a:p>
          <a:p>
            <a:pPr>
              <a:lnSpc>
                <a:spcPct val="103000"/>
              </a:lnSpc>
              <a:spcAft>
                <a:spcPts val="300"/>
              </a:spcAft>
              <a:defRPr sz="570">
                <a:solidFill>
                  <a:srgbClr val="21242A"/>
                </a:solidFill>
                <a:latin typeface="Microsoft YaHei"/>
              </a:defRPr>
            </a:pPr>
            <a:r>
              <a:t>ring two clinical protocols implemented according to institutional policy.</a:t>
            </a:r>
          </a:p>
          <a:p>
            <a:pPr>
              <a:lnSpc>
                <a:spcPct val="103000"/>
              </a:lnSpc>
              <a:spcAft>
                <a:spcPts val="300"/>
              </a:spcAft>
              <a:defRPr sz="570">
                <a:solidFill>
                  <a:srgbClr val="21242A"/>
                </a:solidFill>
                <a:latin typeface="Microsoft YaHei"/>
              </a:defRPr>
            </a:pPr>
            <a:r>
              <a:t>Patients were divided into two cohorts.</a:t>
            </a:r>
          </a:p>
          <a:p>
            <a:pPr>
              <a:lnSpc>
                <a:spcPct val="103000"/>
              </a:lnSpc>
              <a:spcAft>
                <a:spcPts val="300"/>
              </a:spcAft>
              <a:defRPr sz="570">
                <a:solidFill>
                  <a:srgbClr val="21242A"/>
                </a:solidFill>
                <a:latin typeface="Microsoft YaHei"/>
              </a:defRPr>
            </a:pPr>
            <a:r>
              <a:t>In both, patients received two doses of tocilizumab (if CRS persisted administered 8 hours apart starting at the onset of grade 1 CRS).</a:t>
            </a:r>
          </a:p>
          <a:p>
            <a:pPr>
              <a:lnSpc>
                <a:spcPct val="103000"/>
              </a:lnSpc>
              <a:spcAft>
                <a:spcPts val="300"/>
              </a:spcAft>
              <a:defRPr sz="570">
                <a:solidFill>
                  <a:srgbClr val="21242A"/>
                </a:solidFill>
                <a:latin typeface="Microsoft YaHei"/>
              </a:defRPr>
            </a:pPr>
            <a:r>
              <a:t>In the first cohort (Siltuximab group), patients with persistent CRS received up to two 11mg/kg doses of siltuximab combined with dexamethasone.</a:t>
            </a:r>
          </a:p>
          <a:p>
            <a:pPr>
              <a:lnSpc>
                <a:spcPct val="103000"/>
              </a:lnSpc>
              <a:spcAft>
                <a:spcPts val="300"/>
              </a:spcAft>
              <a:defRPr sz="570">
                <a:solidFill>
                  <a:srgbClr val="21242A"/>
                </a:solidFill>
                <a:latin typeface="Microsoft YaHei"/>
              </a:defRPr>
            </a:pPr>
            <a:r>
              <a:t>In the second historical cohort (Control group) patients with persistent CRS continued with up to two subsequent doses of tocilizumab, also in combination with </a:t>
            </a:r>
          </a:p>
          <a:p>
            <a:pPr>
              <a:lnSpc>
                <a:spcPct val="103000"/>
              </a:lnSpc>
              <a:spcAft>
                <a:spcPts val="300"/>
              </a:spcAft>
              <a:defRPr sz="570">
                <a:solidFill>
                  <a:srgbClr val="21242A"/>
                </a:solidFill>
                <a:latin typeface="Microsoft YaHei"/>
              </a:defRPr>
            </a:pPr>
            <a:r>
              <a:t>dexamethasone.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Early switch to siltuximab seems to ameliorate Axi-cel cytokine-related toxicity without increasing adverse events in comparison to continue with tocilizumab.</a:t>
            </a:r>
          </a:p>
          <a:p>
            <a:pPr>
              <a:lnSpc>
                <a:spcPct val="103000"/>
              </a:lnSpc>
              <a:spcAft>
                <a:spcPts val="300"/>
              </a:spcAft>
              <a:defRPr sz="590">
                <a:solidFill>
                  <a:srgbClr val="21242A"/>
                </a:solidFill>
                <a:latin typeface="Microsoft YaHei"/>
              </a:defRPr>
            </a:pPr>
            <a:r>
              <a:t>These findings support the development of clinical trials with this promising strategy to mitigate CAR T-cell-related toxicities.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CRS等级：司妥昔单抗组1级84.6%，2级15.4%，3级0%，4级0%；对照组1级59.0%，2级31.1%，3级8.2%，4级1.6%；≥2级CRS发生率：司妥昔单抗组15.4%，对照组41.0%（p=0.026）||ICANS发生率：司妥昔单抗组26.9%，对照组45.9%（p=0.151）||严重I</a:t>
            </a:r>
          </a:p>
          <a:p>
            <a:pPr>
              <a:lnSpc>
                <a:spcPct val="103000"/>
              </a:lnSpc>
              <a:spcAft>
                <a:spcPts val="300"/>
              </a:spcAft>
              <a:defRPr sz="580">
                <a:solidFill>
                  <a:srgbClr val="21242A"/>
                </a:solidFill>
                <a:latin typeface="Microsoft YaHei"/>
              </a:defRPr>
            </a:pPr>
            <a:r>
              <a:t>CANS（≥2级）：司妥昔单抗组3.8%，对照组27.9%（OR=9.66，p=0.010）||住院时间中位数：司妥昔单抗组14天（IQR 13-15），对照组18天（IQR 15-25）（p=0.0002）||ICU入住率：司妥昔单抗组3.8%，对照组27.9%（p=0.010）||CMV再激活：司妥昔单抗</a:t>
            </a:r>
          </a:p>
          <a:p>
            <a:pPr>
              <a:lnSpc>
                <a:spcPct val="103000"/>
              </a:lnSpc>
              <a:spcAft>
                <a:spcPts val="300"/>
              </a:spcAft>
              <a:defRPr sz="580">
                <a:solidFill>
                  <a:srgbClr val="21242A"/>
                </a:solidFill>
                <a:latin typeface="Microsoft YaHei"/>
              </a:defRPr>
            </a:pPr>
            <a:r>
              <a:t>组32.0%，对照组45.9%（p=0.336）||细胞减少症：司妥昔单抗组57.7%，对照组45.9%（p=0.355）||3级感染：司妥昔单抗组7.7%，对照组18.0%（p=0.328）</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复发/难治性大b细胞淋巴瘤的发病率和预后以及基于人群的新型t细胞封端疗法的实施</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incidence and outcome of relapsed/refractory large b-cell lymphoma and implem...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回顾性临床研究结果：incidence and outcome of relapsed/refractory large 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2年总生存率：78%（95% CI 76-80）</a:t>
            </a:r>
          </a:p>
          <a:p>
            <a:pPr>
              <a:lnSpc>
                <a:spcPct val="103000"/>
              </a:lnSpc>
              <a:spcAft>
                <a:spcPts val="300"/>
              </a:spcAft>
              <a:defRPr sz="800">
                <a:solidFill>
                  <a:srgbClr val="21242A"/>
                </a:solidFill>
                <a:latin typeface="Microsoft YaHei"/>
              </a:defRPr>
            </a:pPr>
            <a:r>
              <a:t>2年无进展生存率：69%（95% CI 67-71）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人数：2259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研究主题：incidence and outcome of relapsed/refractory large b-cell lymphoma and implementation of novel t-cell-engaging therapie...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复发/难治性大b细胞淋巴瘤的发病率和预后以及基于人群的新型t细胞封端疗法的实施</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incidence and outcome of relapsed/refractory large b-cell lymphoma and implem...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T-cell-engaging therapies have substantially changed the treatment landscape for patients with large B cell lymphoma (LBCL) in recent years.</a:t>
            </a:r>
          </a:p>
          <a:p>
            <a:pPr>
              <a:lnSpc>
                <a:spcPct val="103000"/>
              </a:lnSpc>
              <a:spcAft>
                <a:spcPts val="300"/>
              </a:spcAft>
              <a:defRPr sz="570">
                <a:solidFill>
                  <a:srgbClr val="21242A"/>
                </a:solidFill>
                <a:latin typeface="Microsoft YaHei"/>
              </a:defRPr>
            </a:pPr>
            <a:r>
              <a:t>The logistical challenges and financial burden of these therapies underscore the importance of evaluating their implementation in clinical routine.</a:t>
            </a:r>
          </a:p>
          <a:p>
            <a:pPr>
              <a:lnSpc>
                <a:spcPct val="103000"/>
              </a:lnSpc>
              <a:spcAft>
                <a:spcPts val="300"/>
              </a:spcAft>
              <a:defRPr sz="570">
                <a:solidFill>
                  <a:srgbClr val="21242A"/>
                </a:solidFill>
                <a:latin typeface="Microsoft YaHei"/>
              </a:defRPr>
            </a:pPr>
            <a:r>
              <a:t>In Sweden, chimeric antigen receptor (CAR) T-cell therapy was approved for third-line treatment in 2019 and for early second-line in 2024.</a:t>
            </a:r>
          </a:p>
          <a:p>
            <a:pPr>
              <a:lnSpc>
                <a:spcPct val="103000"/>
              </a:lnSpc>
              <a:spcAft>
                <a:spcPts val="300"/>
              </a:spcAft>
              <a:defRPr sz="570">
                <a:solidFill>
                  <a:srgbClr val="21242A"/>
                </a:solidFill>
                <a:latin typeface="Microsoft YaHei"/>
              </a:defRPr>
            </a:pPr>
            <a:r>
              <a:t>During the study period, access to bispecific antibodies was limited to clinical trial settings and compassionate use programs.</a:t>
            </a:r>
          </a:p>
          <a:p>
            <a:pPr>
              <a:lnSpc>
                <a:spcPct val="103000"/>
              </a:lnSpc>
              <a:spcAft>
                <a:spcPts val="300"/>
              </a:spcAft>
              <a:defRPr sz="570">
                <a:solidFill>
                  <a:srgbClr val="21242A"/>
                </a:solidFill>
                <a:latin typeface="Microsoft YaHei"/>
              </a:defRPr>
            </a:pPr>
            <a:r>
              <a:t>Aims: Using Swedish population-based registers, we aimed to report contemporary outcomes for patients with LBCL from primary diagnosis through first and subsequ</a:t>
            </a:r>
          </a:p>
          <a:p>
            <a:pPr>
              <a:lnSpc>
                <a:spcPct val="103000"/>
              </a:lnSpc>
              <a:spcAft>
                <a:spcPts val="300"/>
              </a:spcAft>
              <a:defRPr sz="570">
                <a:solidFill>
                  <a:srgbClr val="21242A"/>
                </a:solidFill>
                <a:latin typeface="Microsoft YaHei"/>
              </a:defRPr>
            </a:pPr>
            <a:r>
              <a:t>ent relapses, and evaluate uptake of novel therapies.</a:t>
            </a:r>
          </a:p>
          <a:p>
            <a:pPr>
              <a:lnSpc>
                <a:spcPct val="103000"/>
              </a:lnSpc>
              <a:spcAft>
                <a:spcPts val="300"/>
              </a:spcAft>
              <a:defRPr sz="570">
                <a:solidFill>
                  <a:srgbClr val="21242A"/>
                </a:solidFill>
                <a:latin typeface="Microsoft YaHei"/>
              </a:defRPr>
            </a:pPr>
            <a:r>
              <a:t>Methods: We identified all patients with a primary diagnosis of LBCL in 2019-2024 in the Swedish Lymphoma Register (SLR).</a:t>
            </a:r>
          </a:p>
          <a:p>
            <a:pPr>
              <a:lnSpc>
                <a:spcPct val="103000"/>
              </a:lnSpc>
              <a:spcAft>
                <a:spcPts val="300"/>
              </a:spcAft>
              <a:defRPr sz="570">
                <a:solidFill>
                  <a:srgbClr val="21242A"/>
                </a:solidFill>
                <a:latin typeface="Microsoft YaHei"/>
              </a:defRPr>
            </a:pPr>
            <a:r>
              <a:t>Patients were followed until death or end of study (16 Dec 2025).</a:t>
            </a:r>
          </a:p>
          <a:p>
            <a:pPr>
              <a:lnSpc>
                <a:spcPct val="103000"/>
              </a:lnSpc>
              <a:spcAft>
                <a:spcPts val="300"/>
              </a:spcAft>
              <a:defRPr sz="570">
                <a:solidFill>
                  <a:srgbClr val="21242A"/>
                </a:solidFill>
                <a:latin typeface="Microsoft YaHei"/>
              </a:defRPr>
            </a:pPr>
            <a:r>
              <a:t>Through a development project, the SLR is being updated with complete information regarding R/R disease and treatment from medical records, and here we present </a:t>
            </a:r>
          </a:p>
          <a:p>
            <a:pPr>
              <a:lnSpc>
                <a:spcPct val="103000"/>
              </a:lnSpc>
              <a:spcAft>
                <a:spcPts val="300"/>
              </a:spcAft>
              <a:defRPr sz="570">
                <a:solidFill>
                  <a:srgbClr val="21242A"/>
                </a:solidFill>
                <a:latin typeface="Microsoft YaHei"/>
              </a:defRPr>
            </a:pPr>
            <a:r>
              <a:t>data for two thirds of the population.</a:t>
            </a:r>
          </a:p>
          <a:p>
            <a:pPr>
              <a:lnSpc>
                <a:spcPct val="103000"/>
              </a:lnSpc>
              <a:spcAft>
                <a:spcPts val="300"/>
              </a:spcAft>
              <a:defRPr sz="570">
                <a:solidFill>
                  <a:srgbClr val="21242A"/>
                </a:solidFill>
                <a:latin typeface="Microsoft YaHei"/>
              </a:defRPr>
            </a:pPr>
            <a:r>
              <a:t>The cumulative incidence of R/R disease was estimated in the presence of the competing risk of death.</a:t>
            </a:r>
          </a:p>
          <a:p>
            <a:pPr>
              <a:lnSpc>
                <a:spcPct val="103000"/>
              </a:lnSpc>
              <a:spcAft>
                <a:spcPts val="300"/>
              </a:spcAft>
              <a:defRPr sz="570">
                <a:solidFill>
                  <a:srgbClr val="21242A"/>
                </a:solidFill>
                <a:latin typeface="Microsoft YaHei"/>
              </a:defRPr>
            </a:pPr>
            <a:r>
              <a:t>Overall survival (OS) and progression-free survival (PFS) were estimated from the date of diagnosis using the Kaplan-Meier method.</a:t>
            </a:r>
          </a:p>
          <a:p>
            <a:pPr>
              <a:lnSpc>
                <a:spcPct val="103000"/>
              </a:lnSpc>
              <a:spcAft>
                <a:spcPts val="300"/>
              </a:spcAft>
              <a:defRPr sz="570">
                <a:solidFill>
                  <a:srgbClr val="21242A"/>
                </a:solidFill>
                <a:latin typeface="Microsoft YaHei"/>
              </a:defRPr>
            </a:pPr>
            <a:r>
              <a:t>Separate analyses were performed for patients with R/R disease by age group.</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population-based study of LBCL patients treated in 2019-2025 we confirm a 5-year incidence of R/R disease of 23%.</a:t>
            </a:r>
          </a:p>
          <a:p>
            <a:pPr>
              <a:lnSpc>
                <a:spcPct val="103000"/>
              </a:lnSpc>
              <a:spcAft>
                <a:spcPts val="300"/>
              </a:spcAft>
              <a:defRPr sz="590">
                <a:solidFill>
                  <a:srgbClr val="21242A"/>
                </a:solidFill>
                <a:latin typeface="Microsoft YaHei"/>
              </a:defRPr>
            </a:pPr>
            <a:r>
              <a:t>This is similar to previous population-based assessments from our group, but lower than what is generally stated in the literature.</a:t>
            </a:r>
          </a:p>
          <a:p>
            <a:pPr>
              <a:lnSpc>
                <a:spcPct val="103000"/>
              </a:lnSpc>
              <a:spcAft>
                <a:spcPts val="300"/>
              </a:spcAft>
              <a:defRPr sz="590">
                <a:solidFill>
                  <a:srgbClr val="21242A"/>
                </a:solidFill>
                <a:latin typeface="Microsoft YaHei"/>
              </a:defRPr>
            </a:pPr>
            <a:r>
              <a:t>Two-thirds of R/R patients were older than 70 years and outcomes differed markedly between age groups.</a:t>
            </a:r>
          </a:p>
          <a:p>
            <a:pPr>
              <a:lnSpc>
                <a:spcPct val="103000"/>
              </a:lnSpc>
              <a:spcAft>
                <a:spcPts val="300"/>
              </a:spcAft>
              <a:defRPr sz="590">
                <a:solidFill>
                  <a:srgbClr val="21242A"/>
                </a:solidFill>
                <a:latin typeface="Microsoft YaHei"/>
              </a:defRPr>
            </a:pPr>
            <a:r>
              <a:t>Only a minority (15%) of all R/R patients received T-cell-engaging therapies, which may reflect that CAR T was limited to third or later lines during most of th</a:t>
            </a:r>
          </a:p>
          <a:p>
            <a:pPr>
              <a:lnSpc>
                <a:spcPct val="103000"/>
              </a:lnSpc>
              <a:spcAft>
                <a:spcPts val="300"/>
              </a:spcAft>
              <a:defRPr sz="590">
                <a:solidFill>
                  <a:srgbClr val="21242A"/>
                </a:solidFill>
                <a:latin typeface="Microsoft YaHei"/>
              </a:defRPr>
            </a:pPr>
            <a:r>
              <a:t>e study period, as well as the advanced age distribution in this real-world population.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2年总生存率</a:t>
                      </a:r>
                    </a:p>
                  </a:txBody>
                  <a:tcPr>
                    <a:solidFill>
                      <a:srgbClr val="F6F8FB"/>
                    </a:solidFill>
                  </a:tcPr>
                </a:tc>
                <a:tc>
                  <a:txBody>
                    <a:bodyPr wrap="square" lIns="36576" rIns="36576" tIns="18288" bIns="18288"/>
                    <a:lstStyle/>
                    <a:p>
                      <a:r>
                        <a:rPr sz="540" b="0">
                          <a:solidFill>
                            <a:srgbClr val="21242A"/>
                          </a:solidFill>
                          <a:latin typeface="Microsoft YaHei"/>
                        </a:rPr>
                        <a:t>78%（95% CI 76-80）</a:t>
                      </a:r>
                    </a:p>
                  </a:txBody>
                  <a:tcPr>
                    <a:solidFill>
                      <a:srgbClr val="F6F8FB"/>
                    </a:solidFill>
                  </a:tcPr>
                </a:tc>
              </a:tr>
              <a:tr h="214230">
                <a:tc>
                  <a:txBody>
                    <a:bodyPr wrap="square" lIns="36576" rIns="36576" tIns="18288" bIns="18288"/>
                    <a:lstStyle/>
                    <a:p>
                      <a:r>
                        <a:rPr sz="540" b="1">
                          <a:solidFill>
                            <a:srgbClr val="21242A"/>
                          </a:solidFill>
                          <a:latin typeface="Microsoft YaHei"/>
                        </a:rPr>
                        <a:t>2年无进展生存率</a:t>
                      </a:r>
                    </a:p>
                  </a:txBody>
                  <a:tcPr>
                    <a:solidFill>
                      <a:srgbClr val="FFFFFF"/>
                    </a:solidFill>
                  </a:tcPr>
                </a:tc>
                <a:tc>
                  <a:txBody>
                    <a:bodyPr wrap="square" lIns="36576" rIns="36576" tIns="18288" bIns="18288"/>
                    <a:lstStyle/>
                    <a:p>
                      <a:r>
                        <a:rPr sz="540" b="0">
                          <a:solidFill>
                            <a:srgbClr val="21242A"/>
                          </a:solidFill>
                          <a:latin typeface="Microsoft YaHei"/>
                        </a:rPr>
                        <a:t>69%（95% CI 67-71）</a:t>
                      </a:r>
                    </a:p>
                  </a:txBody>
                  <a:tcPr>
                    <a:solidFill>
                      <a:srgbClr val="FFFFFF"/>
                    </a:solidFill>
                  </a:tcPr>
                </a:tc>
              </a:tr>
              <a:tr h="214230">
                <a:tc>
                  <a:txBody>
                    <a:bodyPr wrap="square" lIns="36576" rIns="36576" tIns="18288" bIns="18288"/>
                    <a:lstStyle/>
                    <a:p>
                      <a:r>
                        <a:rPr sz="540" b="1">
                          <a:solidFill>
                            <a:srgbClr val="21242A"/>
                          </a:solidFill>
                          <a:latin typeface="Microsoft YaHei"/>
                        </a:rPr>
                        <a:t>复发/难治疾病5年累积发病率</a:t>
                      </a:r>
                    </a:p>
                  </a:txBody>
                  <a:tcPr>
                    <a:solidFill>
                      <a:srgbClr val="F6F8FB"/>
                    </a:solidFill>
                  </a:tcPr>
                </a:tc>
                <a:tc>
                  <a:txBody>
                    <a:bodyPr wrap="square" lIns="36576" rIns="36576" tIns="18288" bIns="18288"/>
                    <a:lstStyle/>
                    <a:p>
                      <a:r>
                        <a:rPr sz="540" b="0">
                          <a:solidFill>
                            <a:srgbClr val="21242A"/>
                          </a:solidFill>
                          <a:latin typeface="Microsoft YaHei"/>
                        </a:rPr>
                        <a:t>23%（95% CI 21-25）</a:t>
                      </a:r>
                    </a:p>
                  </a:txBody>
                  <a:tcPr>
                    <a:solidFill>
                      <a:srgbClr val="F6F8FB"/>
                    </a:solidFill>
                  </a:tcPr>
                </a:tc>
              </a:tr>
              <a:tr h="214230">
                <a:tc>
                  <a:txBody>
                    <a:bodyPr wrap="square" lIns="36576" rIns="36576" tIns="18288" bIns="18288"/>
                    <a:lstStyle/>
                    <a:p>
                      <a:r>
                        <a:rPr sz="540" b="1">
                          <a:solidFill>
                            <a:srgbClr val="21242A"/>
                          </a:solidFill>
                          <a:latin typeface="Microsoft YaHei"/>
                        </a:rPr>
                        <a:t>复发/难治患者2年总生存率</a:t>
                      </a:r>
                    </a:p>
                  </a:txBody>
                  <a:tcPr>
                    <a:solidFill>
                      <a:srgbClr val="FFFFFF"/>
                    </a:solidFill>
                  </a:tcPr>
                </a:tc>
                <a:tc>
                  <a:txBody>
                    <a:bodyPr wrap="square" lIns="36576" rIns="36576" tIns="18288" bIns="18288"/>
                    <a:lstStyle/>
                    <a:p>
                      <a:r>
                        <a:rPr sz="540" b="0">
                          <a:solidFill>
                            <a:srgbClr val="21242A"/>
                          </a:solidFill>
                          <a:latin typeface="Microsoft YaHei"/>
                        </a:rPr>
                        <a:t>38%（95% CI 34-43）</a:t>
                      </a:r>
                    </a:p>
                  </a:txBody>
                  <a:tcPr>
                    <a:solidFill>
                      <a:srgbClr val="FFFFFF"/>
                    </a:solidFill>
                  </a:tcPr>
                </a:tc>
              </a:tr>
              <a:tr h="214230">
                <a:tc>
                  <a:txBody>
                    <a:bodyPr wrap="square" lIns="36576" rIns="36576" tIns="18288" bIns="18288"/>
                    <a:lstStyle/>
                    <a:p>
                      <a:r>
                        <a:rPr sz="540" b="1">
                          <a:solidFill>
                            <a:srgbClr val="21242A"/>
                          </a:solidFill>
                          <a:latin typeface="Microsoft YaHei"/>
                        </a:rPr>
                        <a:t>复发/难治患者2年无进展生存率</a:t>
                      </a:r>
                    </a:p>
                  </a:txBody>
                  <a:tcPr>
                    <a:solidFill>
                      <a:srgbClr val="F6F8FB"/>
                    </a:solidFill>
                  </a:tcPr>
                </a:tc>
                <a:tc>
                  <a:txBody>
                    <a:bodyPr wrap="square" lIns="36576" rIns="36576" tIns="18288" bIns="18288"/>
                    <a:lstStyle/>
                    <a:p>
                      <a:r>
                        <a:rPr sz="540" b="0">
                          <a:solidFill>
                            <a:srgbClr val="21242A"/>
                          </a:solidFill>
                          <a:latin typeface="Microsoft YaHei"/>
                        </a:rPr>
                        <a:t>26%（95% CI 22-30）</a:t>
                      </a:r>
                    </a:p>
                  </a:txBody>
                  <a:tcPr>
                    <a:solidFill>
                      <a:srgbClr val="F6F8FB"/>
                    </a:solidFill>
                  </a:tcPr>
                </a:tc>
              </a:tr>
              <a:tr h="214236">
                <a:tc>
                  <a:txBody>
                    <a:bodyPr wrap="square" lIns="36576" rIns="36576" tIns="18288" bIns="18288"/>
                    <a:lstStyle/>
                    <a:p>
                      <a:r>
                        <a:rPr sz="540" b="1">
                          <a:solidFill>
                            <a:srgbClr val="21242A"/>
                          </a:solidFill>
                          <a:latin typeface="Microsoft YaHei"/>
                        </a:rPr>
                        <a:t>复发/难治患者中接受T细胞衔接疗法比例</a:t>
                      </a:r>
                    </a:p>
                  </a:txBody>
                  <a:tcPr>
                    <a:solidFill>
                      <a:srgbClr val="FFFFFF"/>
                    </a:solidFill>
                  </a:tcPr>
                </a:tc>
                <a:tc>
                  <a:txBody>
                    <a:bodyPr wrap="square" lIns="36576" rIns="36576" tIns="18288" bIns="18288"/>
                    <a:lstStyle/>
                    <a:p>
                      <a:r>
                        <a:rPr sz="540" b="0">
                          <a:solidFill>
                            <a:srgbClr val="21242A"/>
                          </a:solidFill>
                          <a:latin typeface="Microsoft YaHei"/>
                        </a:rPr>
                        <a:t>15%</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摘要号：PS2101</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早期复发/原发性难治性大b细胞淋巴瘤患者二线axicabtagene ciloleucel的疗效及与自体干细胞移植的比较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axicabtagene ciloleucel and comparison to autologous...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对照/比较：试验组1：axicabtagene ciloleucel</a:t>
            </a:r>
          </a:p>
          <a:p>
            <a:pPr>
              <a:lnSpc>
                <a:spcPct val="103000"/>
              </a:lnSpc>
              <a:spcAft>
                <a:spcPts val="300"/>
              </a:spcAft>
              <a:defRPr sz="800">
                <a:solidFill>
                  <a:srgbClr val="21242A"/>
                </a:solidFill>
                <a:latin typeface="Microsoft YaHei"/>
              </a:defRPr>
            </a:pPr>
            <a:r>
              <a:t>对照组1：大剂量化疗联合自体干细胞移植（HDCT/ASCT）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客观缓解率（ORR）：81%</a:t>
            </a:r>
          </a:p>
          <a:p>
            <a:pPr>
              <a:lnSpc>
                <a:spcPct val="103000"/>
              </a:lnSpc>
              <a:spcAft>
                <a:spcPts val="300"/>
              </a:spcAft>
              <a:defRPr sz="800">
                <a:solidFill>
                  <a:srgbClr val="21242A"/>
                </a:solidFill>
                <a:latin typeface="Microsoft YaHei"/>
              </a:defRPr>
            </a:pPr>
            <a:r>
              <a:t>完全缓解率（CR）：52%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人数：194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早期复发/原发性难治性大b细胞淋巴瘤患者二线axicabtagene ciloleucel的疗效及与自体干细胞移植的比较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axicabtagene ciloleucel and comparison to autologous...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CD19-directed chimeric antigen receptor T (CAR-T) cells represent the standard of care (SOC) approach in the second-line treatment (2L) for patients</a:t>
            </a:r>
          </a:p>
          <a:p>
            <a:pPr>
              <a:lnSpc>
                <a:spcPct val="103000"/>
              </a:lnSpc>
              <a:spcAft>
                <a:spcPts val="300"/>
              </a:spcAft>
              <a:defRPr sz="570">
                <a:solidFill>
                  <a:srgbClr val="21242A"/>
                </a:solidFill>
                <a:latin typeface="Microsoft YaHei"/>
              </a:defRPr>
            </a:pPr>
            <a:r>
              <a:t> with primary refractory/early relapsed large B-cell lymphoma (R/R LBCL).</a:t>
            </a:r>
          </a:p>
          <a:p>
            <a:pPr>
              <a:lnSpc>
                <a:spcPct val="103000"/>
              </a:lnSpc>
              <a:spcAft>
                <a:spcPts val="300"/>
              </a:spcAft>
              <a:defRPr sz="570">
                <a:solidFill>
                  <a:srgbClr val="21242A"/>
                </a:solidFill>
                <a:latin typeface="Microsoft YaHei"/>
              </a:defRPr>
            </a:pPr>
            <a:r>
              <a:t>However, real‐world data on the safety and efficacy of CAR-T in 2L are limited, particularly in comparison to high-dose chemotherapy and autologous stem cell tr</a:t>
            </a:r>
          </a:p>
          <a:p>
            <a:pPr>
              <a:lnSpc>
                <a:spcPct val="103000"/>
              </a:lnSpc>
              <a:spcAft>
                <a:spcPts val="300"/>
              </a:spcAft>
              <a:defRPr sz="570">
                <a:solidFill>
                  <a:srgbClr val="21242A"/>
                </a:solidFill>
                <a:latin typeface="Microsoft YaHei"/>
              </a:defRPr>
            </a:pPr>
            <a:r>
              <a:t>ansplantation (HDCT/ASCT) administered for patients with a chemosensitive disease in 2L.</a:t>
            </a:r>
          </a:p>
          <a:p>
            <a:pPr>
              <a:lnSpc>
                <a:spcPct val="103000"/>
              </a:lnSpc>
              <a:spcAft>
                <a:spcPts val="300"/>
              </a:spcAft>
              <a:defRPr sz="570">
                <a:solidFill>
                  <a:srgbClr val="21242A"/>
                </a:solidFill>
                <a:latin typeface="Microsoft YaHei"/>
              </a:defRPr>
            </a:pPr>
            <a:r>
              <a:t>Aims: Here we provide real-world data on R/R LBCL patients treated with CAR-T cells in 2L and compare them to the former SOC HDCT/ASCT.</a:t>
            </a:r>
          </a:p>
          <a:p>
            <a:pPr>
              <a:lnSpc>
                <a:spcPct val="103000"/>
              </a:lnSpc>
              <a:spcAft>
                <a:spcPts val="300"/>
              </a:spcAft>
              <a:defRPr sz="570">
                <a:solidFill>
                  <a:srgbClr val="21242A"/>
                </a:solidFill>
                <a:latin typeface="Microsoft YaHei"/>
              </a:defRPr>
            </a:pPr>
            <a:r>
              <a:t>CAR-T patients in this analysis were treated with axicabtagene ciloleucel (Axi-Cel) due to its initially better availability in Europe.</a:t>
            </a:r>
          </a:p>
          <a:p>
            <a:pPr>
              <a:lnSpc>
                <a:spcPct val="103000"/>
              </a:lnSpc>
              <a:spcAft>
                <a:spcPts val="300"/>
              </a:spcAft>
              <a:defRPr sz="570">
                <a:solidFill>
                  <a:srgbClr val="21242A"/>
                </a:solidFill>
                <a:latin typeface="Microsoft YaHei"/>
              </a:defRPr>
            </a:pPr>
            <a:r>
              <a:t>Methods: We conducted a retrospective analysis of 194 R/R LBCL patients of whom 112 were treated with Axi-Cel, and 82 with HDCT/ASCT.</a:t>
            </a:r>
          </a:p>
          <a:p>
            <a:pPr>
              <a:lnSpc>
                <a:spcPct val="103000"/>
              </a:lnSpc>
              <a:spcAft>
                <a:spcPts val="300"/>
              </a:spcAft>
              <a:defRPr sz="570">
                <a:solidFill>
                  <a:srgbClr val="21242A"/>
                </a:solidFill>
                <a:latin typeface="Microsoft YaHei"/>
              </a:defRPr>
            </a:pPr>
            <a:r>
              <a:t>The HDCT/ASCT group presented with a chemosensitive disease after bridging therapy in their last staging prior to HDCT/ASCT, while the Axi-Cel group included bo</a:t>
            </a:r>
          </a:p>
          <a:p>
            <a:pPr>
              <a:lnSpc>
                <a:spcPct val="103000"/>
              </a:lnSpc>
              <a:spcAft>
                <a:spcPts val="300"/>
              </a:spcAft>
              <a:defRPr sz="570">
                <a:solidFill>
                  <a:srgbClr val="21242A"/>
                </a:solidFill>
                <a:latin typeface="Microsoft YaHei"/>
              </a:defRPr>
            </a:pPr>
            <a:r>
              <a:t>th, patients with chemosensitive and -refractory disease.</a:t>
            </a:r>
          </a:p>
          <a:p>
            <a:pPr>
              <a:lnSpc>
                <a:spcPct val="103000"/>
              </a:lnSpc>
              <a:spcAft>
                <a:spcPts val="300"/>
              </a:spcAft>
              <a:defRPr sz="570">
                <a:solidFill>
                  <a:srgbClr val="21242A"/>
                </a:solidFill>
                <a:latin typeface="Microsoft YaHei"/>
              </a:defRPr>
            </a:pPr>
            <a:r>
              <a:t>Patients with a late relapse (&gt; 12 months) and/or more than one line of prior therapy were excluded.</a:t>
            </a:r>
          </a:p>
          <a:p>
            <a:pPr>
              <a:lnSpc>
                <a:spcPct val="103000"/>
              </a:lnSpc>
              <a:spcAft>
                <a:spcPts val="300"/>
              </a:spcAft>
              <a:defRPr sz="570">
                <a:solidFill>
                  <a:srgbClr val="21242A"/>
                </a:solidFill>
                <a:latin typeface="Microsoft YaHei"/>
              </a:defRPr>
            </a:pPr>
            <a:r>
              <a:t>To enable a comparison between the treatment groups, propensity score matching (PSM) was performed via logistic regression with parameters significantly associa</a:t>
            </a:r>
          </a:p>
          <a:p>
            <a:pPr>
              <a:lnSpc>
                <a:spcPct val="103000"/>
              </a:lnSpc>
              <a:spcAft>
                <a:spcPts val="300"/>
              </a:spcAft>
              <a:defRPr sz="570">
                <a:solidFill>
                  <a:srgbClr val="21242A"/>
                </a:solidFill>
                <a:latin typeface="Microsoft YaHei"/>
              </a:defRPr>
            </a:pPr>
            <a:r>
              <a:t>ted with OS in univariate analysis (bulky disease and secondary International Prognostic Index (sIPI)) as covariates.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real-world data on the safety and efficacy of Axi-Cel align with findings from the ZUMA-7 approval study, demonstrating the efficacy and safety of Axi-Cel i</a:t>
            </a:r>
          </a:p>
          <a:p>
            <a:pPr>
              <a:lnSpc>
                <a:spcPct val="103000"/>
              </a:lnSpc>
              <a:spcAft>
                <a:spcPts val="300"/>
              </a:spcAft>
              <a:defRPr sz="590">
                <a:solidFill>
                  <a:srgbClr val="21242A"/>
                </a:solidFill>
                <a:latin typeface="Microsoft YaHei"/>
              </a:defRPr>
            </a:pPr>
            <a:r>
              <a:t>n 2L R/R LBCL treatment.</a:t>
            </a:r>
          </a:p>
          <a:p>
            <a:pPr>
              <a:lnSpc>
                <a:spcPct val="103000"/>
              </a:lnSpc>
              <a:spcAft>
                <a:spcPts val="300"/>
              </a:spcAft>
              <a:defRPr sz="590">
                <a:solidFill>
                  <a:srgbClr val="21242A"/>
                </a:solidFill>
                <a:latin typeface="Microsoft YaHei"/>
              </a:defRPr>
            </a:pPr>
            <a:r>
              <a:t>Despite the selection of only chemosensitive patients in the HDCT/ASCT group, treatment with Axi-Cel demonstrated comparable OS, with a trend towards superior P</a:t>
            </a:r>
          </a:p>
          <a:p>
            <a:pPr>
              <a:lnSpc>
                <a:spcPct val="103000"/>
              </a:lnSpc>
              <a:spcAft>
                <a:spcPts val="300"/>
              </a:spcAft>
              <a:defRPr sz="590">
                <a:solidFill>
                  <a:srgbClr val="21242A"/>
                </a:solidFill>
                <a:latin typeface="Microsoft YaHei"/>
              </a:defRPr>
            </a:pPr>
            <a:r>
              <a:t>FS compared to patients treated with HDCT/ASCT.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客观缓解率（ORR）</a:t>
                      </a:r>
                    </a:p>
                  </a:txBody>
                  <a:tcPr>
                    <a:solidFill>
                      <a:srgbClr val="F6F8FB"/>
                    </a:solidFill>
                  </a:tcPr>
                </a:tc>
                <a:tc>
                  <a:txBody>
                    <a:bodyPr wrap="square" lIns="36576" rIns="36576" tIns="18288" bIns="18288"/>
                    <a:lstStyle/>
                    <a:p>
                      <a:r>
                        <a:rPr sz="540" b="0">
                          <a:solidFill>
                            <a:srgbClr val="21242A"/>
                          </a:solidFill>
                          <a:latin typeface="Microsoft YaHei"/>
                        </a:rPr>
                        <a:t>81%</a:t>
                      </a:r>
                    </a:p>
                  </a:txBody>
                  <a:tcPr>
                    <a:solidFill>
                      <a:srgbClr val="F6F8FB"/>
                    </a:solidFill>
                  </a:tcPr>
                </a:tc>
              </a:tr>
              <a:tr h="166624">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52%</a:t>
                      </a:r>
                    </a:p>
                  </a:txBody>
                  <a:tcPr>
                    <a:solidFill>
                      <a:srgbClr val="FFFFFF"/>
                    </a:solidFill>
                  </a:tcPr>
                </a:tc>
              </a:tr>
              <a:tr h="166624">
                <a:tc>
                  <a:txBody>
                    <a:bodyPr wrap="square" lIns="36576" rIns="36576" tIns="18288" bIns="18288"/>
                    <a:lstStyle/>
                    <a:p>
                      <a:r>
                        <a:rPr sz="540" b="1">
                          <a:solidFill>
                            <a:srgbClr val="21242A"/>
                          </a:solidFill>
                          <a:latin typeface="Microsoft YaHei"/>
                        </a:rPr>
                        <a:t>2年无进展生存率（PFS）</a:t>
                      </a:r>
                    </a:p>
                  </a:txBody>
                  <a:tcPr>
                    <a:solidFill>
                      <a:srgbClr val="F6F8FB"/>
                    </a:solidFill>
                  </a:tcPr>
                </a:tc>
                <a:tc>
                  <a:txBody>
                    <a:bodyPr wrap="square" lIns="36576" rIns="36576" tIns="18288" bIns="18288"/>
                    <a:lstStyle/>
                    <a:p>
                      <a:r>
                        <a:rPr sz="540" b="0">
                          <a:solidFill>
                            <a:srgbClr val="21242A"/>
                          </a:solidFill>
                          <a:latin typeface="Microsoft YaHei"/>
                        </a:rPr>
                        <a:t>51%</a:t>
                      </a:r>
                    </a:p>
                  </a:txBody>
                  <a:tcPr>
                    <a:solidFill>
                      <a:srgbClr val="F6F8FB"/>
                    </a:solidFill>
                  </a:tcPr>
                </a:tc>
              </a:tr>
              <a:tr h="166624">
                <a:tc>
                  <a:txBody>
                    <a:bodyPr wrap="square" lIns="36576" rIns="36576" tIns="18288" bIns="18288"/>
                    <a:lstStyle/>
                    <a:p>
                      <a:r>
                        <a:rPr sz="540" b="1">
                          <a:solidFill>
                            <a:srgbClr val="21242A"/>
                          </a:solidFill>
                          <a:latin typeface="Microsoft YaHei"/>
                        </a:rPr>
                        <a:t>2年总生存率（OS）</a:t>
                      </a:r>
                    </a:p>
                  </a:txBody>
                  <a:tcPr>
                    <a:solidFill>
                      <a:srgbClr val="FFFFFF"/>
                    </a:solidFill>
                  </a:tcPr>
                </a:tc>
                <a:tc>
                  <a:txBody>
                    <a:bodyPr wrap="square" lIns="36576" rIns="36576" tIns="18288" bIns="18288"/>
                    <a:lstStyle/>
                    <a:p>
                      <a:r>
                        <a:rPr sz="540" b="0">
                          <a:solidFill>
                            <a:srgbClr val="21242A"/>
                          </a:solidFill>
                          <a:latin typeface="Microsoft YaHei"/>
                        </a:rPr>
                        <a:t>60%</a:t>
                      </a:r>
                    </a:p>
                  </a:txBody>
                  <a:tcPr>
                    <a:solidFill>
                      <a:srgbClr val="FFFFFF"/>
                    </a:solidFill>
                  </a:tcPr>
                </a:tc>
              </a:tr>
              <a:tr h="166624">
                <a:tc>
                  <a:txBody>
                    <a:bodyPr wrap="square" lIns="36576" rIns="36576" tIns="18288" bIns="18288"/>
                    <a:lstStyle/>
                    <a:p>
                      <a:r>
                        <a:rPr sz="540" b="1">
                          <a:solidFill>
                            <a:srgbClr val="21242A"/>
                          </a:solidFill>
                          <a:latin typeface="Microsoft YaHei"/>
                        </a:rPr>
                        <a:t>≥3级神经毒性发生率</a:t>
                      </a:r>
                    </a:p>
                  </a:txBody>
                  <a:tcPr>
                    <a:solidFill>
                      <a:srgbClr val="F6F8FB"/>
                    </a:solidFill>
                  </a:tcPr>
                </a:tc>
                <a:tc>
                  <a:txBody>
                    <a:bodyPr wrap="square" lIns="36576" rIns="36576" tIns="18288" bIns="18288"/>
                    <a:lstStyle/>
                    <a:p>
                      <a:r>
                        <a:rPr sz="540" b="0">
                          <a:solidFill>
                            <a:srgbClr val="21242A"/>
                          </a:solidFill>
                          <a:latin typeface="Microsoft YaHei"/>
                        </a:rPr>
                        <a:t>19%</a:t>
                      </a:r>
                    </a:p>
                  </a:txBody>
                  <a:tcPr>
                    <a:solidFill>
                      <a:srgbClr val="F6F8FB"/>
                    </a:solidFill>
                  </a:tcPr>
                </a:tc>
              </a:tr>
              <a:tr h="166624">
                <a:tc>
                  <a:txBody>
                    <a:bodyPr wrap="square" lIns="36576" rIns="36576" tIns="18288" bIns="18288"/>
                    <a:lstStyle/>
                    <a:p>
                      <a:r>
                        <a:rPr sz="540" b="1">
                          <a:solidFill>
                            <a:srgbClr val="21242A"/>
                          </a:solidFill>
                          <a:latin typeface="Microsoft YaHei"/>
                        </a:rPr>
                        <a:t>≥3级细胞因子释放综合征（CRS）发生率</a:t>
                      </a:r>
                    </a:p>
                  </a:txBody>
                  <a:tcPr>
                    <a:solidFill>
                      <a:srgbClr val="FFFFFF"/>
                    </a:solidFill>
                  </a:tcPr>
                </a:tc>
                <a:tc>
                  <a:txBody>
                    <a:bodyPr wrap="square" lIns="36576" rIns="36576" tIns="18288" bIns="18288"/>
                    <a:lstStyle/>
                    <a:p>
                      <a:r>
                        <a:rPr sz="540" b="0">
                          <a:solidFill>
                            <a:srgbClr val="21242A"/>
                          </a:solidFill>
                          <a:latin typeface="Microsoft YaHei"/>
                        </a:rPr>
                        <a:t>16%</a:t>
                      </a:r>
                    </a:p>
                  </a:txBody>
                  <a:tcPr>
                    <a:solidFill>
                      <a:srgbClr val="FFFFFF"/>
                    </a:solidFill>
                  </a:tcPr>
                </a:tc>
              </a:tr>
              <a:tr h="166624">
                <a:tc>
                  <a:txBody>
                    <a:bodyPr wrap="square" lIns="36576" rIns="36576" tIns="18288" bIns="18288"/>
                    <a:lstStyle/>
                    <a:p>
                      <a:r>
                        <a:rPr sz="540" b="1">
                          <a:solidFill>
                            <a:srgbClr val="21242A"/>
                          </a:solidFill>
                          <a:latin typeface="Microsoft YaHei"/>
                        </a:rPr>
                        <a:t>匹配后1年总生存率（OS）</a:t>
                      </a:r>
                    </a:p>
                  </a:txBody>
                  <a:tcPr>
                    <a:solidFill>
                      <a:srgbClr val="F6F8FB"/>
                    </a:solidFill>
                  </a:tcPr>
                </a:tc>
                <a:tc>
                  <a:txBody>
                    <a:bodyPr wrap="square" lIns="36576" rIns="36576" tIns="18288" bIns="18288"/>
                    <a:lstStyle/>
                    <a:p>
                      <a:r>
                        <a:rPr sz="540" b="0">
                          <a:solidFill>
                            <a:srgbClr val="21242A"/>
                          </a:solidFill>
                          <a:latin typeface="Microsoft YaHei"/>
                        </a:rPr>
                        <a:t>Axi-Cel组76% vs HDCT/ASCT组72%（p=0.94）</a:t>
                      </a:r>
                    </a:p>
                  </a:txBody>
                  <a:tcPr>
                    <a:solidFill>
                      <a:srgbClr val="F6F8FB"/>
                    </a:solidFill>
                  </a:tcPr>
                </a:tc>
              </a:tr>
              <a:tr h="166624">
                <a:tc>
                  <a:txBody>
                    <a:bodyPr wrap="square" lIns="36576" rIns="36576" tIns="18288" bIns="18288"/>
                    <a:lstStyle/>
                    <a:p>
                      <a:r>
                        <a:rPr sz="540" b="1">
                          <a:solidFill>
                            <a:srgbClr val="21242A"/>
                          </a:solidFill>
                          <a:latin typeface="Microsoft YaHei"/>
                        </a:rPr>
                        <a:t>匹配后1年无进展生存率（PFS）</a:t>
                      </a:r>
                    </a:p>
                  </a:txBody>
                  <a:tcPr>
                    <a:solidFill>
                      <a:srgbClr val="FFFFFF"/>
                    </a:solidFill>
                  </a:tcPr>
                </a:tc>
                <a:tc>
                  <a:txBody>
                    <a:bodyPr wrap="square" lIns="36576" rIns="36576" tIns="18288" bIns="18288"/>
                    <a:lstStyle/>
                    <a:p>
                      <a:r>
                        <a:rPr sz="540" b="0">
                          <a:solidFill>
                            <a:srgbClr val="21242A"/>
                          </a:solidFill>
                          <a:latin typeface="Microsoft YaHei"/>
                        </a:rPr>
                        <a:t>Axi-Cel组57% vs HDCT/ASCT组43%（p=0.093）</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摘要号：PS2100</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法国axi-cel或liso-cel治疗二线大b细胞淋巴瘤（lbcl）患者的住院时间、医疗资源利用率（hcru）和再住...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length of stay, healthcare resource utilization (hcru) and rehospitalization...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N=443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多组/多方案比较：试验组1：axicabtagene ciloleucel</a:t>
            </a:r>
          </a:p>
          <a:p>
            <a:pPr>
              <a:lnSpc>
                <a:spcPct val="103000"/>
              </a:lnSpc>
              <a:spcAft>
                <a:spcPts val="300"/>
              </a:spcAft>
              <a:defRPr sz="800">
                <a:solidFill>
                  <a:srgbClr val="21242A"/>
                </a:solidFill>
                <a:latin typeface="Microsoft YaHei"/>
              </a:defRPr>
            </a:pPr>
            <a:r>
              <a:t>试验组2：lisocabtagene maraleucel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平均住院时间：axi-cel组23.1天，liso-cel组16.0天</a:t>
            </a:r>
          </a:p>
          <a:p>
            <a:pPr>
              <a:lnSpc>
                <a:spcPct val="103000"/>
              </a:lnSpc>
              <a:spcAft>
                <a:spcPts val="300"/>
              </a:spcAft>
              <a:defRPr sz="800">
                <a:solidFill>
                  <a:srgbClr val="21242A"/>
                </a:solidFill>
                <a:latin typeface="Microsoft YaHei"/>
              </a:defRPr>
            </a:pPr>
            <a:r>
              <a:t>术后住院时间：axi-cel组17.3天，liso-cel组10.9天</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人数：443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法国axi-cel或liso-cel治疗二线大b细胞淋巴瘤（lbcl）患者的住院时间、医疗资源利用率（hcru）和再住...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length of stay, healthcare resource utilization (hcru) and rehospitalization...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Since 202 4 the CAR-T cell therapies axicabtagene ciloleucel ( axi-cel ) and lisocabtagene maraleucel ( liso -cel ) have been routinely reimbursed i</a:t>
            </a:r>
          </a:p>
          <a:p>
            <a:pPr>
              <a:lnSpc>
                <a:spcPct val="103000"/>
              </a:lnSpc>
              <a:spcAft>
                <a:spcPts val="300"/>
              </a:spcAft>
              <a:defRPr sz="570">
                <a:solidFill>
                  <a:srgbClr val="21242A"/>
                </a:solidFill>
                <a:latin typeface="Microsoft YaHei"/>
              </a:defRPr>
            </a:pPr>
            <a:r>
              <a:t>n France for the treatment of adult patients (pts) with large B-cell lymphoma (LBCL) , who are refractory or relapsed within 12 months of first line immunochemo</a:t>
            </a:r>
          </a:p>
          <a:p>
            <a:pPr>
              <a:lnSpc>
                <a:spcPct val="103000"/>
              </a:lnSpc>
              <a:spcAft>
                <a:spcPts val="300"/>
              </a:spcAft>
              <a:defRPr sz="570">
                <a:solidFill>
                  <a:srgbClr val="21242A"/>
                </a:solidFill>
                <a:latin typeface="Microsoft YaHei"/>
              </a:defRPr>
            </a:pPr>
            <a:r>
              <a:t>therapy (LBCL RR≤12).</a:t>
            </a:r>
          </a:p>
          <a:p>
            <a:pPr>
              <a:lnSpc>
                <a:spcPct val="103000"/>
              </a:lnSpc>
              <a:spcAft>
                <a:spcPts val="300"/>
              </a:spcAft>
              <a:defRPr sz="570">
                <a:solidFill>
                  <a:srgbClr val="21242A"/>
                </a:solidFill>
                <a:latin typeface="Microsoft YaHei"/>
              </a:defRPr>
            </a:pPr>
            <a:r>
              <a:t>Aims: The objective s of this study were to describe the characteristics of pts treated with axi-cel or liso -cel for LBCL RR≤12 and assess the length of stay (</a:t>
            </a:r>
          </a:p>
          <a:p>
            <a:pPr>
              <a:lnSpc>
                <a:spcPct val="103000"/>
              </a:lnSpc>
              <a:spcAft>
                <a:spcPts val="300"/>
              </a:spcAft>
              <a:defRPr sz="570">
                <a:solidFill>
                  <a:srgbClr val="21242A"/>
                </a:solidFill>
                <a:latin typeface="Microsoft YaHei"/>
              </a:defRPr>
            </a:pPr>
            <a:r>
              <a:t>LOS) for infusion and associated HCRU .</a:t>
            </a:r>
          </a:p>
          <a:p>
            <a:pPr>
              <a:lnSpc>
                <a:spcPct val="103000"/>
              </a:lnSpc>
              <a:spcAft>
                <a:spcPts val="300"/>
              </a:spcAft>
              <a:defRPr sz="570">
                <a:solidFill>
                  <a:srgbClr val="21242A"/>
                </a:solidFill>
                <a:latin typeface="Microsoft YaHei"/>
              </a:defRPr>
            </a:pPr>
            <a:r>
              <a:t>Methods: A retrospective cohort study was conducted using the French comprehensive hospital stay databases (PMSI).</a:t>
            </a:r>
          </a:p>
          <a:p>
            <a:pPr>
              <a:lnSpc>
                <a:spcPct val="103000"/>
              </a:lnSpc>
              <a:spcAft>
                <a:spcPts val="300"/>
              </a:spcAft>
              <a:defRPr sz="570">
                <a:solidFill>
                  <a:srgbClr val="21242A"/>
                </a:solidFill>
                <a:latin typeface="Microsoft YaHei"/>
              </a:defRPr>
            </a:pPr>
            <a:r>
              <a:t>Included p ts were hospitalized for axi-cel or liso -cel infusion, with a specific code for LBCL RR≤12, and discharged from hospital between January 1, and Dece</a:t>
            </a:r>
          </a:p>
          <a:p>
            <a:pPr>
              <a:lnSpc>
                <a:spcPct val="103000"/>
              </a:lnSpc>
              <a:spcAft>
                <a:spcPts val="300"/>
              </a:spcAft>
              <a:defRPr sz="570">
                <a:solidFill>
                  <a:srgbClr val="21242A"/>
                </a:solidFill>
                <a:latin typeface="Microsoft YaHei"/>
              </a:defRPr>
            </a:pPr>
            <a:r>
              <a:t>mber 31, 2024 (complete stay).</a:t>
            </a:r>
          </a:p>
          <a:p>
            <a:pPr>
              <a:lnSpc>
                <a:spcPct val="103000"/>
              </a:lnSpc>
              <a:spcAft>
                <a:spcPts val="300"/>
              </a:spcAft>
              <a:defRPr sz="570">
                <a:solidFill>
                  <a:srgbClr val="21242A"/>
                </a:solidFill>
                <a:latin typeface="Microsoft YaHei"/>
              </a:defRPr>
            </a:pPr>
            <a:r>
              <a:t>The i ndex date was date of CAR-T infusion , the pre-infusion perio d was the t ime from hospitalization to index date and t ime from index date to discharge wa</a:t>
            </a:r>
          </a:p>
          <a:p>
            <a:pPr>
              <a:lnSpc>
                <a:spcPct val="103000"/>
              </a:lnSpc>
              <a:spcAft>
                <a:spcPts val="300"/>
              </a:spcAft>
              <a:defRPr sz="570">
                <a:solidFill>
                  <a:srgbClr val="21242A"/>
                </a:solidFill>
                <a:latin typeface="Microsoft YaHei"/>
              </a:defRPr>
            </a:pPr>
            <a:r>
              <a:t>s post-infusion period.</a:t>
            </a:r>
          </a:p>
          <a:p>
            <a:pPr>
              <a:lnSpc>
                <a:spcPct val="103000"/>
              </a:lnSpc>
              <a:spcAft>
                <a:spcPts val="300"/>
              </a:spcAft>
              <a:defRPr sz="570">
                <a:solidFill>
                  <a:srgbClr val="21242A"/>
                </a:solidFill>
                <a:latin typeface="Microsoft YaHei"/>
              </a:defRPr>
            </a:pPr>
            <a:r>
              <a:t>Descriptive a nalys e s were conducted of pt s and infusion stay characteristics , HCRU , and 3-month rehospitalization rate s .</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With patients experiencing a shorter length of hospital stay and lower HCRU, liso -cel treatment streamlines the patient care pathway, and lowers the intra-hosp</a:t>
            </a:r>
          </a:p>
          <a:p>
            <a:pPr>
              <a:lnSpc>
                <a:spcPct val="103000"/>
              </a:lnSpc>
              <a:spcAft>
                <a:spcPts val="300"/>
              </a:spcAft>
              <a:defRPr sz="590">
                <a:solidFill>
                  <a:srgbClr val="21242A"/>
                </a:solidFill>
                <a:latin typeface="Microsoft YaHei"/>
              </a:defRPr>
            </a:pPr>
            <a:r>
              <a:t>ital burden associated with CAR- T cell therapy.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平均住院时间</a:t>
                      </a:r>
                    </a:p>
                  </a:txBody>
                  <a:tcPr>
                    <a:solidFill>
                      <a:srgbClr val="F6F8FB"/>
                    </a:solidFill>
                  </a:tcPr>
                </a:tc>
                <a:tc>
                  <a:txBody>
                    <a:bodyPr wrap="square" lIns="36576" rIns="36576" tIns="18288" bIns="18288"/>
                    <a:lstStyle/>
                    <a:p>
                      <a:r>
                        <a:rPr sz="540" b="0">
                          <a:solidFill>
                            <a:srgbClr val="21242A"/>
                          </a:solidFill>
                          <a:latin typeface="Microsoft YaHei"/>
                        </a:rPr>
                        <a:t>axi-cel组23.1天，liso-cel组16.0天</a:t>
                      </a:r>
                    </a:p>
                  </a:txBody>
                  <a:tcPr>
                    <a:solidFill>
                      <a:srgbClr val="F6F8FB"/>
                    </a:solidFill>
                  </a:tcPr>
                </a:tc>
              </a:tr>
              <a:tr h="214230">
                <a:tc>
                  <a:txBody>
                    <a:bodyPr wrap="square" lIns="36576" rIns="36576" tIns="18288" bIns="18288"/>
                    <a:lstStyle/>
                    <a:p>
                      <a:r>
                        <a:rPr sz="540" b="1">
                          <a:solidFill>
                            <a:srgbClr val="21242A"/>
                          </a:solidFill>
                          <a:latin typeface="Microsoft YaHei"/>
                        </a:rPr>
                        <a:t>术后住院时间</a:t>
                      </a:r>
                    </a:p>
                  </a:txBody>
                  <a:tcPr>
                    <a:solidFill>
                      <a:srgbClr val="FFFFFF"/>
                    </a:solidFill>
                  </a:tcPr>
                </a:tc>
                <a:tc>
                  <a:txBody>
                    <a:bodyPr wrap="square" lIns="36576" rIns="36576" tIns="18288" bIns="18288"/>
                    <a:lstStyle/>
                    <a:p>
                      <a:r>
                        <a:rPr sz="540" b="0">
                          <a:solidFill>
                            <a:srgbClr val="21242A"/>
                          </a:solidFill>
                          <a:latin typeface="Microsoft YaHei"/>
                        </a:rPr>
                        <a:t>axi-cel组17.3天，liso-cel组10.9天</a:t>
                      </a:r>
                    </a:p>
                  </a:txBody>
                  <a:tcPr>
                    <a:solidFill>
                      <a:srgbClr val="FFFFFF"/>
                    </a:solidFill>
                  </a:tcPr>
                </a:tc>
              </a:tr>
              <a:tr h="214230">
                <a:tc>
                  <a:txBody>
                    <a:bodyPr wrap="square" lIns="36576" rIns="36576" tIns="18288" bIns="18288"/>
                    <a:lstStyle/>
                    <a:p>
                      <a:r>
                        <a:rPr sz="540" b="1">
                          <a:solidFill>
                            <a:srgbClr val="21242A"/>
                          </a:solidFill>
                          <a:latin typeface="Microsoft YaHei"/>
                        </a:rPr>
                        <a:t>ICU入住率</a:t>
                      </a:r>
                    </a:p>
                  </a:txBody>
                  <a:tcPr>
                    <a:solidFill>
                      <a:srgbClr val="F6F8FB"/>
                    </a:solidFill>
                  </a:tcPr>
                </a:tc>
                <a:tc>
                  <a:txBody>
                    <a:bodyPr wrap="square" lIns="36576" rIns="36576" tIns="18288" bIns="18288"/>
                    <a:lstStyle/>
                    <a:p>
                      <a:r>
                        <a:rPr sz="540" b="0">
                          <a:solidFill>
                            <a:srgbClr val="21242A"/>
                          </a:solidFill>
                          <a:latin typeface="Microsoft YaHei"/>
                        </a:rPr>
                        <a:t>axi-cel组15%，liso-cel组2%</a:t>
                      </a:r>
                    </a:p>
                  </a:txBody>
                  <a:tcPr>
                    <a:solidFill>
                      <a:srgbClr val="F6F8FB"/>
                    </a:solidFill>
                  </a:tcPr>
                </a:tc>
              </a:tr>
              <a:tr h="214230">
                <a:tc>
                  <a:txBody>
                    <a:bodyPr wrap="square" lIns="36576" rIns="36576" tIns="18288" bIns="18288"/>
                    <a:lstStyle/>
                    <a:p>
                      <a:r>
                        <a:rPr sz="540" b="1">
                          <a:solidFill>
                            <a:srgbClr val="21242A"/>
                          </a:solidFill>
                          <a:latin typeface="Microsoft YaHei"/>
                        </a:rPr>
                        <a:t>高成本药物使用率</a:t>
                      </a:r>
                    </a:p>
                  </a:txBody>
                  <a:tcPr>
                    <a:solidFill>
                      <a:srgbClr val="FFFFFF"/>
                    </a:solidFill>
                  </a:tcPr>
                </a:tc>
                <a:tc>
                  <a:txBody>
                    <a:bodyPr wrap="square" lIns="36576" rIns="36576" tIns="18288" bIns="18288"/>
                    <a:lstStyle/>
                    <a:p>
                      <a:r>
                        <a:rPr sz="540" b="0">
                          <a:solidFill>
                            <a:srgbClr val="21242A"/>
                          </a:solidFill>
                          <a:latin typeface="Microsoft YaHei"/>
                        </a:rPr>
                        <a:t>axi-cel组55%，liso-cel组12%</a:t>
                      </a:r>
                    </a:p>
                  </a:txBody>
                  <a:tcPr>
                    <a:solidFill>
                      <a:srgbClr val="FFFFFF"/>
                    </a:solidFill>
                  </a:tcPr>
                </a:tc>
              </a:tr>
              <a:tr h="214230">
                <a:tc>
                  <a:txBody>
                    <a:bodyPr wrap="square" lIns="36576" rIns="36576" tIns="18288" bIns="18288"/>
                    <a:lstStyle/>
                    <a:p>
                      <a:r>
                        <a:rPr sz="540" b="1">
                          <a:solidFill>
                            <a:srgbClr val="21242A"/>
                          </a:solidFill>
                          <a:latin typeface="Microsoft YaHei"/>
                        </a:rPr>
                        <a:t>直接出院回家比例</a:t>
                      </a:r>
                    </a:p>
                  </a:txBody>
                  <a:tcPr>
                    <a:solidFill>
                      <a:srgbClr val="F6F8FB"/>
                    </a:solidFill>
                  </a:tcPr>
                </a:tc>
                <a:tc>
                  <a:txBody>
                    <a:bodyPr wrap="square" lIns="36576" rIns="36576" tIns="18288" bIns="18288"/>
                    <a:lstStyle/>
                    <a:p>
                      <a:r>
                        <a:rPr sz="540" b="0">
                          <a:solidFill>
                            <a:srgbClr val="21242A"/>
                          </a:solidFill>
                          <a:latin typeface="Microsoft YaHei"/>
                        </a:rPr>
                        <a:t>axi-cel组72%，liso-cel组81%</a:t>
                      </a:r>
                    </a:p>
                  </a:txBody>
                  <a:tcPr>
                    <a:solidFill>
                      <a:srgbClr val="F6F8FB"/>
                    </a:solidFill>
                  </a:tcPr>
                </a:tc>
              </a:tr>
              <a:tr h="214236">
                <a:tc>
                  <a:txBody>
                    <a:bodyPr wrap="square" lIns="36576" rIns="36576" tIns="18288" bIns="18288"/>
                    <a:lstStyle/>
                    <a:p>
                      <a:r>
                        <a:rPr sz="540" b="1">
                          <a:solidFill>
                            <a:srgbClr val="21242A"/>
                          </a:solidFill>
                          <a:latin typeface="Microsoft YaHei"/>
                        </a:rPr>
                        <a:t>3个月再住院率</a:t>
                      </a:r>
                    </a:p>
                  </a:txBody>
                  <a:tcPr>
                    <a:solidFill>
                      <a:srgbClr val="FFFFFF"/>
                    </a:solidFill>
                  </a:tcPr>
                </a:tc>
                <a:tc>
                  <a:txBody>
                    <a:bodyPr wrap="square" lIns="36576" rIns="36576" tIns="18288" bIns="18288"/>
                    <a:lstStyle/>
                    <a:p>
                      <a:r>
                        <a:rPr sz="540" b="0">
                          <a:solidFill>
                            <a:srgbClr val="21242A"/>
                          </a:solidFill>
                          <a:latin typeface="Microsoft YaHei"/>
                        </a:rPr>
                        <a:t>axi-cel组77%，liso-cel组54%</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摘要号：PS2099</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epcoritamab在复发/难治性弥漫性大b细胞淋巴瘤（r/r dlbcl）中的应用：来自现实世界epcortama...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in relapsed/refractory diffuse large b-cell lymphoma (r/r dlbcl):...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N=132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中位随访时间5.8个月。</a:t>
            </a:r>
          </a:p>
          <a:p>
            <a:pPr>
              <a:lnSpc>
                <a:spcPct val="103000"/>
              </a:lnSpc>
              <a:spcAft>
                <a:spcPts val="300"/>
              </a:spcAft>
              <a:defRPr sz="800">
                <a:solidFill>
                  <a:srgbClr val="21242A"/>
                </a:solidFill>
                <a:latin typeface="Microsoft YaHei"/>
              </a:defRPr>
            </a:pPr>
            <a:r>
              <a:t>总缓解率（ORR）：所有患者37.9%（50/132），接受≥2周期患者67.1%（49/73），可评估患者54.3%（50/...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人数：132</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epcoritamab在复发/难治性弥漫性大b细胞淋巴瘤（r/r dlbcl）中的应用：来自现实世界epcortama...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in relapsed/refractory diffuse large b-cell lymphoma (r/r dlbcl):...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Epcoritamab (Epcor) is a subcutaneous CD3×CD20 bispecific antibody approved for the treatment of R/R DLBCL and R/R FL that demonstrated efficacy and</a:t>
            </a:r>
          </a:p>
          <a:p>
            <a:pPr>
              <a:lnSpc>
                <a:spcPct val="103000"/>
              </a:lnSpc>
              <a:spcAft>
                <a:spcPts val="300"/>
              </a:spcAft>
              <a:defRPr sz="570">
                <a:solidFill>
                  <a:srgbClr val="21242A"/>
                </a:solidFill>
                <a:latin typeface="Microsoft YaHei"/>
              </a:defRPr>
            </a:pPr>
            <a:r>
              <a:t> manageable safety in the EPCORE NHL-1 trial.</a:t>
            </a:r>
          </a:p>
          <a:p>
            <a:pPr>
              <a:lnSpc>
                <a:spcPct val="103000"/>
              </a:lnSpc>
              <a:spcAft>
                <a:spcPts val="300"/>
              </a:spcAft>
              <a:defRPr sz="570">
                <a:solidFill>
                  <a:srgbClr val="21242A"/>
                </a:solidFill>
                <a:latin typeface="Microsoft YaHei"/>
              </a:defRPr>
            </a:pPr>
            <a:r>
              <a:t>R/R DLBCL is an aggressive disease with heterogeneity across patients, and a subset of patients (pts) may present with more rapidly progressive disease and wors</a:t>
            </a:r>
          </a:p>
          <a:p>
            <a:pPr>
              <a:lnSpc>
                <a:spcPct val="103000"/>
              </a:lnSpc>
              <a:spcAft>
                <a:spcPts val="300"/>
              </a:spcAft>
              <a:defRPr sz="570">
                <a:solidFill>
                  <a:srgbClr val="21242A"/>
                </a:solidFill>
                <a:latin typeface="Microsoft YaHei"/>
              </a:defRPr>
            </a:pPr>
            <a:r>
              <a:t>e prognosis than other DLBCL pts.</a:t>
            </a:r>
          </a:p>
          <a:p>
            <a:pPr>
              <a:lnSpc>
                <a:spcPct val="103000"/>
              </a:lnSpc>
              <a:spcAft>
                <a:spcPts val="300"/>
              </a:spcAft>
              <a:defRPr sz="570">
                <a:solidFill>
                  <a:srgbClr val="21242A"/>
                </a:solidFill>
                <a:latin typeface="Microsoft YaHei"/>
              </a:defRPr>
            </a:pPr>
            <a:r>
              <a:t>Characterizing pts receiving Epcor, and evaluating its effectiveness in the real-world, provides insight into its clinical performance among different patient t</a:t>
            </a:r>
          </a:p>
          <a:p>
            <a:pPr>
              <a:lnSpc>
                <a:spcPct val="103000"/>
              </a:lnSpc>
              <a:spcAft>
                <a:spcPts val="300"/>
              </a:spcAft>
              <a:defRPr sz="570">
                <a:solidFill>
                  <a:srgbClr val="21242A"/>
                </a:solidFill>
                <a:latin typeface="Microsoft YaHei"/>
              </a:defRPr>
            </a:pPr>
            <a:r>
              <a:t>ypes and informs its use in clinical practice.</a:t>
            </a:r>
          </a:p>
          <a:p>
            <a:pPr>
              <a:lnSpc>
                <a:spcPct val="103000"/>
              </a:lnSpc>
              <a:spcAft>
                <a:spcPts val="300"/>
              </a:spcAft>
              <a:defRPr sz="570">
                <a:solidFill>
                  <a:srgbClr val="21242A"/>
                </a:solidFill>
                <a:latin typeface="Microsoft YaHei"/>
              </a:defRPr>
            </a:pPr>
            <a:r>
              <a:t>Aims: To characterize pts with R/R DLBCL treated with Epcor in the real-world and evaluate clinical response across clinically relevant subgroups.</a:t>
            </a:r>
          </a:p>
          <a:p>
            <a:pPr>
              <a:lnSpc>
                <a:spcPct val="103000"/>
              </a:lnSpc>
              <a:spcAft>
                <a:spcPts val="300"/>
              </a:spcAft>
              <a:defRPr sz="570">
                <a:solidFill>
                  <a:srgbClr val="21242A"/>
                </a:solidFill>
                <a:latin typeface="Microsoft YaHei"/>
              </a:defRPr>
            </a:pPr>
            <a:r>
              <a:t>Methods: Real-EPCOR is an ongoing, multicenter US retrospective chart review study of real-world use of Epcor at academic and community oncology centers.</a:t>
            </a:r>
          </a:p>
          <a:p>
            <a:pPr>
              <a:lnSpc>
                <a:spcPct val="103000"/>
              </a:lnSpc>
              <a:spcAft>
                <a:spcPts val="300"/>
              </a:spcAft>
              <a:defRPr sz="570">
                <a:solidFill>
                  <a:srgbClr val="21242A"/>
                </a:solidFill>
                <a:latin typeface="Microsoft YaHei"/>
              </a:defRPr>
            </a:pPr>
            <a:r>
              <a:t>Eligible pts are adults (≥18 years) with R/R DLBCL who initiated Epcor in third or later line (3L+) on or after May 19, 2023.</a:t>
            </a:r>
          </a:p>
          <a:p>
            <a:pPr>
              <a:lnSpc>
                <a:spcPct val="103000"/>
              </a:lnSpc>
              <a:spcAft>
                <a:spcPts val="300"/>
              </a:spcAft>
              <a:defRPr sz="570">
                <a:solidFill>
                  <a:srgbClr val="21242A"/>
                </a:solidFill>
                <a:latin typeface="Microsoft YaHei"/>
              </a:defRPr>
            </a:pPr>
            <a:r>
              <a:t>Outcomes include overall response rate (ORR) and complete response rate (CRR).</a:t>
            </a:r>
          </a:p>
          <a:p>
            <a:pPr>
              <a:lnSpc>
                <a:spcPct val="103000"/>
              </a:lnSpc>
              <a:spcAft>
                <a:spcPts val="300"/>
              </a:spcAft>
              <a:defRPr sz="570">
                <a:solidFill>
                  <a:srgbClr val="21242A"/>
                </a:solidFill>
                <a:latin typeface="Microsoft YaHei"/>
              </a:defRPr>
            </a:pPr>
            <a:r>
              <a:t>Responses are based on the treating physician assessment documented in the chart (imaging and/or clinical assessment).</a:t>
            </a:r>
          </a:p>
          <a:p>
            <a:pPr>
              <a:lnSpc>
                <a:spcPct val="103000"/>
              </a:lnSpc>
              <a:spcAft>
                <a:spcPts val="300"/>
              </a:spcAft>
              <a:defRPr sz="570">
                <a:solidFill>
                  <a:srgbClr val="21242A"/>
                </a:solidFill>
                <a:latin typeface="Microsoft YaHei"/>
              </a:defRPr>
            </a:pPr>
            <a:r>
              <a:t>For this analysis, ORR and pt characteristics were evaluated among all pts, the response-evaluable population (pts with a response assessment or death due to di</a:t>
            </a:r>
          </a:p>
          <a:p>
            <a:pPr>
              <a:lnSpc>
                <a:spcPct val="103000"/>
              </a:lnSpc>
              <a:spcAft>
                <a:spcPts val="300"/>
              </a:spcAft>
              <a:defRPr sz="570">
                <a:solidFill>
                  <a:srgbClr val="21242A"/>
                </a:solidFill>
                <a:latin typeface="Microsoft YaHei"/>
              </a:defRPr>
            </a:pPr>
            <a:r>
              <a:t>sease progression prior to assessment), and pts who received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Real-world pts with R/R DLBCL treated with Epcor in 3L+ were characterized by a high prevalence of disease characteristics associated with poor prognosis.</a:t>
            </a:r>
          </a:p>
          <a:p>
            <a:pPr>
              <a:lnSpc>
                <a:spcPct val="103000"/>
              </a:lnSpc>
              <a:spcAft>
                <a:spcPts val="300"/>
              </a:spcAft>
              <a:defRPr sz="590">
                <a:solidFill>
                  <a:srgbClr val="21242A"/>
                </a:solidFill>
                <a:latin typeface="Microsoft YaHei"/>
              </a:defRPr>
            </a:pPr>
            <a:r>
              <a:t>Pts with</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This analysis included 132 R/R DLBCL pts from 7 centers. Median age was 68.6 years.</a:t>
            </a:r>
          </a:p>
          <a:p>
            <a:pPr>
              <a:lnSpc>
                <a:spcPct val="103000"/>
              </a:lnSpc>
              <a:spcAft>
                <a:spcPts val="300"/>
              </a:spcAft>
              <a:defRPr sz="580">
                <a:solidFill>
                  <a:srgbClr val="21242A"/>
                </a:solidFill>
                <a:latin typeface="Microsoft YaHei"/>
              </a:defRPr>
            </a:pPr>
            <a:r>
              <a:t>Median number of prior lines of therapy (LOT) was 3 (interquartile range: 2-4) and 65.9% received prior CAR T.</a:t>
            </a:r>
          </a:p>
          <a:p>
            <a:pPr>
              <a:lnSpc>
                <a:spcPct val="103000"/>
              </a:lnSpc>
              <a:spcAft>
                <a:spcPts val="300"/>
              </a:spcAft>
              <a:defRPr sz="580">
                <a:solidFill>
                  <a:srgbClr val="21242A"/>
                </a:solidFill>
                <a:latin typeface="Microsoft YaHei"/>
              </a:defRPr>
            </a:pPr>
            <a:r>
              <a:t>Median time from end of last LOT to Epcor initiation was 39 days.</a:t>
            </a:r>
          </a:p>
          <a:p>
            <a:pPr>
              <a:lnSpc>
                <a:spcPct val="103000"/>
              </a:lnSpc>
              <a:spcAft>
                <a:spcPts val="300"/>
              </a:spcAft>
              <a:defRPr sz="580">
                <a:solidFill>
                  <a:srgbClr val="21242A"/>
                </a:solidFill>
                <a:latin typeface="Microsoft YaHei"/>
              </a:defRPr>
            </a:pPr>
            <a:r>
              <a:t>32.0% had lactate dehydrogenase (LDH) ≥2x upper limit of normal (ULN), 22.7% had double/triple-hit, 57.9% had primary refractory disease, and 71.8% were re</a:t>
            </a:r>
          </a:p>
          <a:p>
            <a:pPr>
              <a:lnSpc>
                <a:spcPct val="103000"/>
              </a:lnSpc>
              <a:spcAft>
                <a:spcPts val="300"/>
              </a:spcAft>
              <a:defRPr sz="580">
                <a:solidFill>
                  <a:srgbClr val="21242A"/>
                </a:solidFill>
                <a:latin typeface="Microsoft YaHei"/>
              </a:defRPr>
            </a:pPr>
            <a:r>
              <a:t>fractory to their last LOT.</a:t>
            </a:r>
          </a:p>
          <a:p>
            <a:pPr>
              <a:lnSpc>
                <a:spcPct val="103000"/>
              </a:lnSpc>
              <a:spcAft>
                <a:spcPts val="300"/>
              </a:spcAft>
              <a:defRPr sz="580">
                <a:solidFill>
                  <a:srgbClr val="21242A"/>
                </a:solidFill>
                <a:latin typeface="Microsoft YaHei"/>
              </a:defRPr>
            </a:pPr>
            <a:r>
              <a:t>34.1% received first Epcor dose inpatient.</a:t>
            </a:r>
          </a:p>
          <a:p>
            <a:pPr>
              <a:lnSpc>
                <a:spcPct val="103000"/>
              </a:lnSpc>
              <a:spcAft>
                <a:spcPts val="300"/>
              </a:spcAft>
              <a:defRPr sz="580">
                <a:solidFill>
                  <a:srgbClr val="21242A"/>
                </a:solidFill>
                <a:latin typeface="Microsoft YaHei"/>
              </a:defRPr>
            </a:pPr>
            <a:r>
              <a:t>\n Pts who received &gt; 2 cycles (N=73) including descriptively shorter time from last prior LOT to Epcor initiation (median 25 vs.</a:t>
            </a:r>
          </a:p>
          <a:p>
            <a:pPr>
              <a:lnSpc>
                <a:spcPct val="103000"/>
              </a:lnSpc>
              <a:spcAft>
                <a:spcPts val="300"/>
              </a:spcAft>
              <a:defRPr sz="580">
                <a:solidFill>
                  <a:srgbClr val="21242A"/>
                </a:solidFill>
                <a:latin typeface="Microsoft YaHei"/>
              </a:defRPr>
            </a:pPr>
            <a:r>
              <a:t>48 days), and higher proportions with ECOG PS ≥2 (40.7% vs 16.4%), primary refractory disease (64.2% vs 52.9%), LDH ≥2x ULN (48.3% vs 18.6%), and double/tr</a:t>
            </a:r>
          </a:p>
          <a:p>
            <a:pPr>
              <a:lnSpc>
                <a:spcPct val="103000"/>
              </a:lnSpc>
              <a:spcAft>
                <a:spcPts val="300"/>
              </a:spcAft>
              <a:defRPr sz="580">
                <a:solidFill>
                  <a:srgbClr val="21242A"/>
                </a:solidFill>
                <a:latin typeface="Microsoft YaHei"/>
              </a:defRPr>
            </a:pPr>
            <a:r>
              <a:t>iple-hit (30.5% vs 16.4%).</a:t>
            </a:r>
          </a:p>
          <a:p>
            <a:pPr>
              <a:lnSpc>
                <a:spcPct val="103000"/>
              </a:lnSpc>
              <a:spcAft>
                <a:spcPts val="300"/>
              </a:spcAft>
              <a:defRPr sz="580">
                <a:solidFill>
                  <a:srgbClr val="21242A"/>
                </a:solidFill>
                <a:latin typeface="Microsoft YaHei"/>
              </a:defRPr>
            </a:pPr>
            <a:r>
              <a:t>\n Median follow-up among all patients was 5.8 months. ORR and CRR for each cohort are presented in Table 1 . \n Table 1.</a:t>
            </a:r>
          </a:p>
          <a:p>
            <a:pPr>
              <a:lnSpc>
                <a:spcPct val="103000"/>
              </a:lnSpc>
              <a:spcAft>
                <a:spcPts val="300"/>
              </a:spcAft>
              <a:defRPr sz="580">
                <a:solidFill>
                  <a:srgbClr val="21242A"/>
                </a:solidFill>
                <a:latin typeface="Microsoft YaHei"/>
              </a:defRPr>
            </a:pPr>
            <a:r>
              <a:t>ORR and CRR among pts treated with Epcor \n \n \n \n \n \n ORR, n (%) \n \n \n CR R , n (%) \n \n \n \n \n Real-world pts \n \n \n \n \n \n \n \n \n \n \n </a:t>
            </a:r>
          </a:p>
          <a:p>
            <a:pPr>
              <a:lnSpc>
                <a:spcPct val="103000"/>
              </a:lnSpc>
              <a:spcAft>
                <a:spcPts val="300"/>
              </a:spcAft>
              <a:defRPr sz="580">
                <a:solidFill>
                  <a:srgbClr val="21242A"/>
                </a:solidFill>
                <a:latin typeface="Microsoft YaHei"/>
              </a:defRPr>
            </a:pPr>
            <a:r>
              <a:t>All pts (n=132) \n \n \n 50 (37.9) \n \n \n 30 (22.7) \n \n \n \n \n Pts who received ≥2 cycles (n=73) \n \n \n 49 (67.1) \n \n \n 30 (41.1) \n \n \n \n \n</a:t>
            </a:r>
          </a:p>
          <a:p>
            <a:pPr>
              <a:lnSpc>
                <a:spcPct val="103000"/>
              </a:lnSpc>
              <a:spcAft>
                <a:spcPts val="300"/>
              </a:spcAft>
              <a:defRPr sz="580">
                <a:solidFill>
                  <a:srgbClr val="21242A"/>
                </a:solidFill>
                <a:latin typeface="Microsoft YaHei"/>
              </a:defRPr>
            </a:pPr>
            <a:r>
              <a:t> Response-evaluable pts \n \n \n \n \n \n \n All pts (n=92) \n \n \n 50 (54.3) \n \n \n 30 (32.6) \n \n \n \n \n Pts who received ≥2 cycles (n=67) \n \n \n</a:t>
            </a:r>
          </a:p>
          <a:p>
            <a:pPr>
              <a:lnSpc>
                <a:spcPct val="103000"/>
              </a:lnSpc>
              <a:spcAft>
                <a:spcPts val="300"/>
              </a:spcAft>
              <a:defRPr sz="580">
                <a:solidFill>
                  <a:srgbClr val="21242A"/>
                </a:solidFill>
                <a:latin typeface="Microsoft YaHei"/>
              </a:defRPr>
            </a:pPr>
            <a:r>
              <a:t> 49 (73.1) \n \n \n 30 (44.8) \n \n \n \n</a:t>
            </a:r>
          </a:p>
          <a:p>
            <a:pPr>
              <a:lnSpc>
                <a:spcPct val="103000"/>
              </a:lnSpc>
              <a:spcAft>
                <a:spcPts val="300"/>
              </a:spcAft>
              <a:defRPr sz="580">
                <a:solidFill>
                  <a:srgbClr val="21242A"/>
                </a:solidFill>
                <a:latin typeface="Microsoft YaHei"/>
              </a:defRPr>
            </a:pPr>
            <a:r>
              <a:t>Conclusion: Real-world pts with R/R DLBCL treated with Epcor in 3L+ were characterized by a high prevalence of disease characteristics associated with poor</a:t>
            </a:r>
          </a:p>
          <a:p>
            <a:pPr>
              <a:lnSpc>
                <a:spcPct val="103000"/>
              </a:lnSpc>
              <a:spcAft>
                <a:spcPts val="300"/>
              </a:spcAft>
              <a:defRPr sz="580">
                <a:solidFill>
                  <a:srgbClr val="21242A"/>
                </a:solidFill>
                <a:latin typeface="Microsoft YaHei"/>
              </a:defRPr>
            </a:pPr>
            <a:r>
              <a:t> prognosis.</a:t>
            </a:r>
          </a:p>
          <a:p>
            <a:pPr>
              <a:lnSpc>
                <a:spcPct val="103000"/>
              </a:lnSpc>
              <a:spcAft>
                <a:spcPts val="300"/>
              </a:spcAft>
              <a:defRPr sz="580">
                <a:solidFill>
                  <a:srgbClr val="21242A"/>
                </a:solidFill>
                <a:latin typeface="Microsoft YaHei"/>
              </a:defRPr>
            </a:pPr>
            <a:r>
              <a:t>Pts with</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摘要号：PS2086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tp53突变对大b细胞淋巴瘤cd19嵌合抗原受体t细胞治疗的影响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tp53 mutation on cd19-chimeric antigen receptor t-cell therapy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回顾性临床研究结果：impact of tp53 mutation on cd19-chimeric antigen rece...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TP53突变发生率：55/139（39.6%），包含48个独特突变位点，错义突变占92.7%。</a:t>
            </a:r>
          </a:p>
          <a:p>
            <a:pPr>
              <a:lnSpc>
                <a:spcPct val="103000"/>
              </a:lnSpc>
              <a:spcAft>
                <a:spcPts val="300"/>
              </a:spcAft>
              <a:defRPr sz="800">
                <a:solidFill>
                  <a:srgbClr val="21242A"/>
                </a:solidFill>
                <a:latin typeface="Microsoft YaHei"/>
              </a:defRPr>
            </a:pPr>
            <a:r>
              <a:t>在4-1BB CAR-T产品中，TP53突变患者vs野生型患者的中位PFS为6.3个月 vs 未达到（p=0.024）。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研究主题：impact of tp53 mutation on cd19-chimeric antigen receptor t-cell therapy in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tp53突变对大b细胞淋巴瘤cd19嵌合抗原受体t细胞治疗的影响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tp53 mutation on cd19-chimeric antigen receptor t-cell therapy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TP53 mutation is a well-established adverse prognostic factor in large B-cell lymphoma (LBCL).</a:t>
            </a:r>
          </a:p>
          <a:p>
            <a:pPr>
              <a:lnSpc>
                <a:spcPct val="103000"/>
              </a:lnSpc>
              <a:spcAft>
                <a:spcPts val="300"/>
              </a:spcAft>
              <a:defRPr sz="570">
                <a:solidFill>
                  <a:srgbClr val="21242A"/>
                </a:solidFill>
                <a:latin typeface="Microsoft YaHei"/>
              </a:defRPr>
            </a:pPr>
            <a:r>
              <a:t>However, its role in predicting response to CD19-chimeric antigen receptor T-cell (CAR-T) therapy remains controversial.</a:t>
            </a:r>
          </a:p>
          <a:p>
            <a:pPr>
              <a:lnSpc>
                <a:spcPct val="103000"/>
              </a:lnSpc>
              <a:spcAft>
                <a:spcPts val="300"/>
              </a:spcAft>
              <a:defRPr sz="570">
                <a:solidFill>
                  <a:srgbClr val="21242A"/>
                </a:solidFill>
                <a:latin typeface="Microsoft YaHei"/>
              </a:defRPr>
            </a:pPr>
            <a:r>
              <a:t>While several studies have suggested that TP53 mutation confers inferior outcomes after CAR-T treatment, others have reported no significant association.</a:t>
            </a:r>
          </a:p>
          <a:p>
            <a:pPr>
              <a:lnSpc>
                <a:spcPct val="103000"/>
              </a:lnSpc>
              <a:spcAft>
                <a:spcPts val="300"/>
              </a:spcAft>
              <a:defRPr sz="570">
                <a:solidFill>
                  <a:srgbClr val="21242A"/>
                </a:solidFill>
                <a:latin typeface="Microsoft YaHei"/>
              </a:defRPr>
            </a:pPr>
            <a:r>
              <a:t>The underlying mechanisms and potential modulating factors, such as CAR costimulatory domains, are poorly understood.</a:t>
            </a:r>
          </a:p>
          <a:p>
            <a:pPr>
              <a:lnSpc>
                <a:spcPct val="103000"/>
              </a:lnSpc>
              <a:spcAft>
                <a:spcPts val="300"/>
              </a:spcAft>
              <a:defRPr sz="570">
                <a:solidFill>
                  <a:srgbClr val="21242A"/>
                </a:solidFill>
                <a:latin typeface="Microsoft YaHei"/>
              </a:defRPr>
            </a:pPr>
            <a:r>
              <a:t>Aims: This study aimed to: (1) comprehensively characterize the TP53 mutation spectrum in relapsed/refractory LBCL (R/R LBCL) patients receiving CD19-CAR-T;(2) </a:t>
            </a:r>
          </a:p>
          <a:p>
            <a:pPr>
              <a:lnSpc>
                <a:spcPct val="103000"/>
              </a:lnSpc>
              <a:spcAft>
                <a:spcPts val="300"/>
              </a:spcAft>
              <a:defRPr sz="570">
                <a:solidFill>
                  <a:srgbClr val="21242A"/>
                </a:solidFill>
                <a:latin typeface="Microsoft YaHei"/>
              </a:defRPr>
            </a:pPr>
            <a:r>
              <a:t>evaluate the independent prognostic value of TP53 mutation for progression-free survival (PFS); (3) investigate the impact of TP53 mutation on CAR-T cell expans</a:t>
            </a:r>
          </a:p>
          <a:p>
            <a:pPr>
              <a:lnSpc>
                <a:spcPct val="103000"/>
              </a:lnSpc>
              <a:spcAft>
                <a:spcPts val="300"/>
              </a:spcAft>
              <a:defRPr sz="570">
                <a:solidFill>
                  <a:srgbClr val="21242A"/>
                </a:solidFill>
                <a:latin typeface="Microsoft YaHei"/>
              </a:defRPr>
            </a:pPr>
            <a:r>
              <a:t>ion, toxicity, peripheral blood T-cell subsets, and tumor microenvironment T-cell functionality using flow cytometry, CyTOF, and single-cell RNA sequencing.</a:t>
            </a:r>
          </a:p>
          <a:p>
            <a:pPr>
              <a:lnSpc>
                <a:spcPct val="103000"/>
              </a:lnSpc>
              <a:spcAft>
                <a:spcPts val="300"/>
              </a:spcAft>
              <a:defRPr sz="570">
                <a:solidFill>
                  <a:srgbClr val="21242A"/>
                </a:solidFill>
                <a:latin typeface="Microsoft YaHei"/>
              </a:defRPr>
            </a:pPr>
            <a:r>
              <a:t>Methods: We retrospectively analyzed 139 R/R LBCL patients treated with CD19-CAR-T at Ruijin Hospital (2018–2024).</a:t>
            </a:r>
          </a:p>
          <a:p>
            <a:pPr>
              <a:lnSpc>
                <a:spcPct val="103000"/>
              </a:lnSpc>
              <a:spcAft>
                <a:spcPts val="300"/>
              </a:spcAft>
              <a:defRPr sz="570">
                <a:solidFill>
                  <a:srgbClr val="21242A"/>
                </a:solidFill>
                <a:latin typeface="Microsoft YaHei"/>
              </a:defRPr>
            </a:pPr>
            <a:r>
              <a:t>TP53 mutations were identified via next-generation sequencing (152-gene panel) from tumor tissues. Mutation types and loci were annotated.</a:t>
            </a:r>
          </a:p>
          <a:p>
            <a:pPr>
              <a:lnSpc>
                <a:spcPct val="103000"/>
              </a:lnSpc>
              <a:spcAft>
                <a:spcPts val="300"/>
              </a:spcAft>
              <a:defRPr sz="570">
                <a:solidFill>
                  <a:srgbClr val="21242A"/>
                </a:solidFill>
                <a:latin typeface="Microsoft YaHei"/>
              </a:defRPr>
            </a:pPr>
            <a:r>
              <a:t>CAR-T cell expansion (Cmax) was assessed by flow cytometry. Peripheral blood T-cell subsets were analyzed by CyTOF prior to leukapheresis.</a:t>
            </a:r>
          </a:p>
          <a:p>
            <a:pPr>
              <a:lnSpc>
                <a:spcPct val="103000"/>
              </a:lnSpc>
              <a:spcAft>
                <a:spcPts val="300"/>
              </a:spcAft>
              <a:defRPr sz="570">
                <a:solidFill>
                  <a:srgbClr val="21242A"/>
                </a:solidFill>
                <a:latin typeface="Microsoft YaHei"/>
              </a:defRPr>
            </a:pPr>
            <a:r>
              <a:t>Single-cell RNA sequencing was performed on tumor tissues to evaluate T-cell functional status.</a:t>
            </a:r>
          </a:p>
          <a:p>
            <a:pPr>
              <a:lnSpc>
                <a:spcPct val="103000"/>
              </a:lnSpc>
              <a:spcAft>
                <a:spcPts val="300"/>
              </a:spcAft>
              <a:defRPr sz="570">
                <a:solidFill>
                  <a:srgbClr val="21242A"/>
                </a:solidFill>
                <a:latin typeface="Microsoft YaHei"/>
              </a:defRPr>
            </a:pPr>
            <a:r>
              <a:t>Univariate and multivariate Cox regression were performed to identify predictors of PFS.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data demonstrate that TP53 mutation is frequent in R/R LBCL and is associated with reduced CAR-T expansion, altered peripheral T-cell subsets (notably γδ T-</a:t>
            </a:r>
          </a:p>
          <a:p>
            <a:pPr>
              <a:lnSpc>
                <a:spcPct val="103000"/>
              </a:lnSpc>
              <a:spcAft>
                <a:spcPts val="300"/>
              </a:spcAft>
              <a:defRPr sz="590">
                <a:solidFill>
                  <a:srgbClr val="21242A"/>
                </a:solidFill>
                <a:latin typeface="Microsoft YaHei"/>
              </a:defRPr>
            </a:pPr>
            <a:r>
              <a:t>cell depletion), and impaired T-cell functionality in the tumor microenvironment.</a:t>
            </a:r>
          </a:p>
          <a:p>
            <a:pPr>
              <a:lnSpc>
                <a:spcPct val="103000"/>
              </a:lnSpc>
              <a:spcAft>
                <a:spcPts val="300"/>
              </a:spcAft>
              <a:defRPr sz="590">
                <a:solidFill>
                  <a:srgbClr val="21242A"/>
                </a:solidFill>
                <a:latin typeface="Microsoft YaHei"/>
              </a:defRPr>
            </a:pPr>
            <a:r>
              <a:t>Despite these effects, TP53 mutation does not independently predict toxicity.</a:t>
            </a:r>
          </a:p>
          <a:p>
            <a:pPr>
              <a:lnSpc>
                <a:spcPct val="103000"/>
              </a:lnSpc>
              <a:spcAft>
                <a:spcPts val="300"/>
              </a:spcAft>
              <a:defRPr sz="590">
                <a:solidFill>
                  <a:srgbClr val="21242A"/>
                </a:solidFill>
                <a:latin typeface="Microsoft YaHei"/>
              </a:defRPr>
            </a:pPr>
            <a:r>
              <a:t>Importantly, the negative prognostic impact of TP53 mutation on PFS was observed only in patients receiving 41BB-costimulated CAR-T, whereas CD28-based products</a:t>
            </a:r>
          </a:p>
          <a:p>
            <a:pPr>
              <a:lnSpc>
                <a:spcPct val="103000"/>
              </a:lnSpc>
              <a:spcAft>
                <a:spcPts val="300"/>
              </a:spcAft>
              <a:defRPr sz="590">
                <a:solidFill>
                  <a:srgbClr val="21242A"/>
                </a:solidFill>
                <a:latin typeface="Microsoft YaHei"/>
              </a:defRPr>
            </a:pPr>
            <a:r>
              <a:t> appeared to overcome this effect.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TP53突变发生率</a:t>
                      </a:r>
                    </a:p>
                  </a:txBody>
                  <a:tcPr>
                    <a:solidFill>
                      <a:srgbClr val="F6F8FB"/>
                    </a:solidFill>
                  </a:tcPr>
                </a:tc>
                <a:tc>
                  <a:txBody>
                    <a:bodyPr wrap="square" lIns="36576" rIns="36576" tIns="18288" bIns="18288"/>
                    <a:lstStyle/>
                    <a:p>
                      <a:r>
                        <a:rPr sz="540" b="0">
                          <a:solidFill>
                            <a:srgbClr val="21242A"/>
                          </a:solidFill>
                          <a:latin typeface="Microsoft YaHei"/>
                        </a:rPr>
                        <a:t>55/139（39.6%），包含48个独特突变位点，错义突变占92.7%。</a:t>
                      </a:r>
                    </a:p>
                  </a:txBody>
                  <a:tcPr>
                    <a:solidFill>
                      <a:srgbClr val="F6F8FB"/>
                    </a:solidFill>
                  </a:tcPr>
                </a:tc>
              </a:tr>
              <a:tr h="214230">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在4-1BB CAR-T产品中，TP53突变患者vs野生型患者的中位PFS为6.3个月 vs 未达到（p=0.024）。</a:t>
                      </a:r>
                    </a:p>
                  </a:txBody>
                  <a:tcPr>
                    <a:solidFill>
                      <a:srgbClr val="FFFFFF"/>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在CD28 CAR-T产品中，TP53突变与野生型患者的PFS无显著差异。</a:t>
                      </a:r>
                    </a:p>
                  </a:txBody>
                  <a:tcPr>
                    <a:solidFill>
                      <a:srgbClr val="F6F8FB"/>
                    </a:solidFill>
                  </a:tcPr>
                </a:tc>
              </a:tr>
              <a:tr h="214230">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TP53野生型患者的CAR-T细胞最大扩增（Cmax）显著高于突变型患者。</a:t>
                      </a:r>
                    </a:p>
                  </a:txBody>
                  <a:tcPr>
                    <a:solidFill>
                      <a:srgbClr val="FFFFFF"/>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TP53突变患者的γδT细胞在白细胞分离前显著减少。</a:t>
                      </a:r>
                    </a:p>
                  </a:txBody>
                  <a:tcPr>
                    <a:solidFill>
                      <a:srgbClr val="F6F8FB"/>
                    </a:solidFill>
                  </a:tcPr>
                </a:tc>
              </a:tr>
              <a:tr h="2142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单细胞RNA测序显示TP53突变患者肿瘤组织中T细胞功能受损（激活、效应、迁移、黏附能力降低）。</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摘要号：PS2071</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弥漫性大b细胞淋巴瘤的真实总体生存率比较：car t细胞疗法与双特异性抗体</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comparative real‑world overall survival in diffuse large b‑cell lymphoma: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N=561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多组/多方案比较：试验组1：双特异性抗体组（epcoritamab，glofitamab）</a:t>
            </a:r>
          </a:p>
          <a:p>
            <a:pPr>
              <a:lnSpc>
                <a:spcPct val="103000"/>
              </a:lnSpc>
              <a:spcAft>
                <a:spcPts val="300"/>
              </a:spcAft>
              <a:defRPr sz="800">
                <a:solidFill>
                  <a:srgbClr val="21242A"/>
                </a:solidFill>
                <a:latin typeface="Microsoft YaHei"/>
              </a:defRPr>
            </a:pPr>
            <a:r>
              <a:t>试验组2：CAR T细胞治疗组（tisacel，axicel，lisocel）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2年总生存率：双特异性抗体组47.5% vs CAR T细胞治疗组67.3%</a:t>
            </a:r>
          </a:p>
          <a:p>
            <a:pPr>
              <a:lnSpc>
                <a:spcPct val="103000"/>
              </a:lnSpc>
              <a:spcAft>
                <a:spcPts val="300"/>
              </a:spcAft>
              <a:defRPr sz="800">
                <a:solidFill>
                  <a:srgbClr val="21242A"/>
                </a:solidFill>
                <a:latin typeface="Microsoft YaHei"/>
              </a:defRPr>
            </a:pPr>
            <a:r>
              <a:t>死亡风险比（RR）：1.468（95%CI 1.116-1.932）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人数：561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试验药/方案：阿基仑赛、格菲妥单抗、艾可瑞妥单抗</a:t>
            </a:r>
          </a:p>
          <a:p>
            <a:pPr>
              <a:lnSpc>
                <a:spcPct val="103000"/>
              </a:lnSpc>
              <a:spcAft>
                <a:spcPts val="300"/>
              </a:spcAft>
              <a:defRPr sz="810">
                <a:solidFill>
                  <a:srgbClr val="21242A"/>
                </a:solidFill>
                <a:latin typeface="Microsoft YaHei"/>
              </a:defRPr>
            </a:pPr>
            <a:r>
              <a:t>靶点：CD19、CD20、CD3</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弥漫性大b细胞淋巴瘤的真实总体生存率比较：car t细胞疗法与双特异性抗体</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comparative real‑world overall survival in diffuse large b‑cell lymphoma: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Treatment options for diffuse large B‑cell lymphoma (DLBCL) have expanded, especially in relapsed/refractory (R/R) cases, with CAR T‑cell therapies </a:t>
            </a:r>
          </a:p>
          <a:p>
            <a:pPr>
              <a:lnSpc>
                <a:spcPct val="103000"/>
              </a:lnSpc>
              <a:spcAft>
                <a:spcPts val="300"/>
              </a:spcAft>
              <a:defRPr sz="570">
                <a:solidFill>
                  <a:srgbClr val="21242A"/>
                </a:solidFill>
                <a:latin typeface="Microsoft YaHei"/>
              </a:defRPr>
            </a:pPr>
            <a:r>
              <a:t>and CD20×CD3 bispecific antibodies (BsAbs) being notable advances.</a:t>
            </a:r>
          </a:p>
          <a:p>
            <a:pPr>
              <a:lnSpc>
                <a:spcPct val="103000"/>
              </a:lnSpc>
              <a:spcAft>
                <a:spcPts val="300"/>
              </a:spcAft>
              <a:defRPr sz="570">
                <a:solidFill>
                  <a:srgbClr val="21242A"/>
                </a:solidFill>
                <a:latin typeface="Microsoft YaHei"/>
              </a:defRPr>
            </a:pPr>
            <a:r>
              <a:t>While trials suggest CAR T‑cells may be more effective and improve survival, these findings come from controlled populations that may not mirror clinical practi</a:t>
            </a:r>
          </a:p>
          <a:p>
            <a:pPr>
              <a:lnSpc>
                <a:spcPct val="103000"/>
              </a:lnSpc>
              <a:spcAft>
                <a:spcPts val="300"/>
              </a:spcAft>
              <a:defRPr sz="570">
                <a:solidFill>
                  <a:srgbClr val="21242A"/>
                </a:solidFill>
                <a:latin typeface="Microsoft YaHei"/>
              </a:defRPr>
            </a:pPr>
            <a:r>
              <a:t>ce.</a:t>
            </a:r>
          </a:p>
          <a:p>
            <a:pPr>
              <a:lnSpc>
                <a:spcPct val="103000"/>
              </a:lnSpc>
              <a:spcAft>
                <a:spcPts val="300"/>
              </a:spcAft>
              <a:defRPr sz="570">
                <a:solidFill>
                  <a:srgbClr val="21242A"/>
                </a:solidFill>
                <a:latin typeface="Microsoft YaHei"/>
              </a:defRPr>
            </a:pPr>
            <a:r>
              <a:t>Aims: This study aims to evaluate overall survival (OS) in DLBCL patients treated with CAR T‑cells or BsAbs using real‑world data (RWD).</a:t>
            </a:r>
          </a:p>
          <a:p>
            <a:pPr>
              <a:lnSpc>
                <a:spcPct val="103000"/>
              </a:lnSpc>
              <a:spcAft>
                <a:spcPts val="300"/>
              </a:spcAft>
              <a:defRPr sz="570">
                <a:solidFill>
                  <a:srgbClr val="21242A"/>
                </a:solidFill>
                <a:latin typeface="Microsoft YaHei"/>
              </a:defRPr>
            </a:pPr>
            <a:r>
              <a:t>Methods: A retrospective analysis of RWD was conducted using TriNetX Dataworks Global database on February 21, 2026.</a:t>
            </a:r>
          </a:p>
          <a:p>
            <a:pPr>
              <a:lnSpc>
                <a:spcPct val="103000"/>
              </a:lnSpc>
              <a:spcAft>
                <a:spcPts val="300"/>
              </a:spcAft>
              <a:defRPr sz="570">
                <a:solidFill>
                  <a:srgbClr val="21242A"/>
                </a:solidFill>
                <a:latin typeface="Microsoft YaHei"/>
              </a:defRPr>
            </a:pPr>
            <a:r>
              <a:t>Two cohorts were analyzed: (1) DLBCL patients ≤60 years old treated solely with BsAbs (epcoritamab/glofitamab), and (2) DLBCL patients ≤60 years old treated sol</a:t>
            </a:r>
          </a:p>
          <a:p>
            <a:pPr>
              <a:lnSpc>
                <a:spcPct val="103000"/>
              </a:lnSpc>
              <a:spcAft>
                <a:spcPts val="300"/>
              </a:spcAft>
              <a:defRPr sz="570">
                <a:solidFill>
                  <a:srgbClr val="21242A"/>
                </a:solidFill>
                <a:latin typeface="Microsoft YaHei"/>
              </a:defRPr>
            </a:pPr>
            <a:r>
              <a:t>ely with CAR T-therapies (tisacel/axicel/lisocel).</a:t>
            </a:r>
          </a:p>
          <a:p>
            <a:pPr>
              <a:lnSpc>
                <a:spcPct val="103000"/>
              </a:lnSpc>
              <a:spcAft>
                <a:spcPts val="300"/>
              </a:spcAft>
              <a:defRPr sz="570">
                <a:solidFill>
                  <a:srgbClr val="21242A"/>
                </a:solidFill>
                <a:latin typeface="Microsoft YaHei"/>
              </a:defRPr>
            </a:pPr>
            <a:r>
              <a:t>Patients treated with both therapeutic options were excluded from analysis to control for “crossover” between cohorts and impact on OS.</a:t>
            </a:r>
          </a:p>
          <a:p>
            <a:pPr>
              <a:lnSpc>
                <a:spcPct val="103000"/>
              </a:lnSpc>
              <a:spcAft>
                <a:spcPts val="300"/>
              </a:spcAft>
              <a:defRPr sz="570">
                <a:solidFill>
                  <a:srgbClr val="21242A"/>
                </a:solidFill>
                <a:latin typeface="Microsoft YaHei"/>
              </a:defRPr>
            </a:pPr>
            <a:r>
              <a:t>Standardized mean differences were used to ascertain the distribution balance among baseline variables.</a:t>
            </a:r>
          </a:p>
          <a:p>
            <a:pPr>
              <a:lnSpc>
                <a:spcPct val="103000"/>
              </a:lnSpc>
              <a:spcAft>
                <a:spcPts val="300"/>
              </a:spcAft>
              <a:defRPr sz="570">
                <a:solidFill>
                  <a:srgbClr val="21242A"/>
                </a:solidFill>
                <a:latin typeface="Microsoft YaHei"/>
              </a:defRPr>
            </a:pPr>
            <a:r>
              <a:t>Kaplan-Meier analysis, log-rank test, hazard ratios (HR), risk ratios (RR), and 95% confidence intervals (CI) were used to assess the primary outcomes, which we</a:t>
            </a:r>
          </a:p>
          <a:p>
            <a:pPr>
              <a:lnSpc>
                <a:spcPct val="103000"/>
              </a:lnSpc>
              <a:spcAft>
                <a:spcPts val="300"/>
              </a:spcAft>
              <a:defRPr sz="570">
                <a:solidFill>
                  <a:srgbClr val="21242A"/>
                </a:solidFill>
                <a:latin typeface="Microsoft YaHei"/>
              </a:defRPr>
            </a:pPr>
            <a:r>
              <a:t>re risk of death and OS.</a:t>
            </a:r>
          </a:p>
          <a:p>
            <a:pPr>
              <a:lnSpc>
                <a:spcPct val="103000"/>
              </a:lnSpc>
              <a:spcAft>
                <a:spcPts val="300"/>
              </a:spcAft>
              <a:defRPr sz="570">
                <a:solidFill>
                  <a:srgbClr val="21242A"/>
                </a:solidFill>
                <a:latin typeface="Microsoft YaHei"/>
              </a:defRPr>
            </a:pPr>
            <a:r>
              <a:t>Propensity score matching (PSM) was utilized to account for the effects of specific known confounders.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real-world analysis of DLBCL patients ≤60 years old, treatment with BsAbs was linked to worse OS and higher death risk compared to CAR T-cell therapies.</a:t>
            </a:r>
          </a:p>
          <a:p>
            <a:pPr>
              <a:lnSpc>
                <a:spcPct val="103000"/>
              </a:lnSpc>
              <a:spcAft>
                <a:spcPts val="300"/>
              </a:spcAft>
              <a:defRPr sz="590">
                <a:solidFill>
                  <a:srgbClr val="21242A"/>
                </a:solidFill>
                <a:latin typeface="Microsoft YaHei"/>
              </a:defRPr>
            </a:pPr>
            <a:r>
              <a:t>These findings remained consistent before and after PSM, highlighting the robustness of the results.</a:t>
            </a:r>
          </a:p>
          <a:p>
            <a:pPr>
              <a:lnSpc>
                <a:spcPct val="103000"/>
              </a:lnSpc>
              <a:spcAft>
                <a:spcPts val="300"/>
              </a:spcAft>
              <a:defRPr sz="590">
                <a:solidFill>
                  <a:srgbClr val="21242A"/>
                </a:solidFill>
                <a:latin typeface="Microsoft YaHei"/>
              </a:defRPr>
            </a:pPr>
            <a:r>
              <a:t>While CAR T-cell therapies showed better survival over 2 years, the data's aggregate nature limits detailed clinical interpretation, including disease and treat</a:t>
            </a:r>
          </a:p>
          <a:p>
            <a:pPr>
              <a:lnSpc>
                <a:spcPct val="103000"/>
              </a:lnSpc>
              <a:spcAft>
                <a:spcPts val="300"/>
              </a:spcAft>
              <a:defRPr sz="590">
                <a:solidFill>
                  <a:srgbClr val="21242A"/>
                </a:solidFill>
                <a:latin typeface="Microsoft YaHei"/>
              </a:defRPr>
            </a:pPr>
            <a:r>
              <a:t>ment factors affecting outcomes.</a:t>
            </a:r>
          </a:p>
          <a:p>
            <a:pPr>
              <a:lnSpc>
                <a:spcPct val="103000"/>
              </a:lnSpc>
              <a:spcAft>
                <a:spcPts val="300"/>
              </a:spcAft>
              <a:defRPr sz="590">
                <a:solidFill>
                  <a:srgbClr val="21242A"/>
                </a:solidFill>
                <a:latin typeface="Microsoft YaHei"/>
              </a:defRPr>
            </a:pPr>
            <a:r>
              <a:t>Still, the results support using CAR T-cell therapies over BsAbs for eligible younger patients with R/R DLBCL and emphasize the need for more research with pati</a:t>
            </a:r>
          </a:p>
          <a:p>
            <a:pPr>
              <a:lnSpc>
                <a:spcPct val="103000"/>
              </a:lnSpc>
              <a:spcAft>
                <a:spcPts val="300"/>
              </a:spcAft>
              <a:defRPr sz="590">
                <a:solidFill>
                  <a:srgbClr val="21242A"/>
                </a:solidFill>
                <a:latin typeface="Microsoft YaHei"/>
              </a:defRPr>
            </a:pPr>
            <a:r>
              <a:t>ent-level data to improve comparative assessments.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561 patients with DLBCL were enrolled, including 123 treated with BsAbs and 438 treated with CAR T-cell therapies.</a:t>
            </a:r>
          </a:p>
          <a:p>
            <a:pPr>
              <a:lnSpc>
                <a:spcPct val="103000"/>
              </a:lnSpc>
              <a:spcAft>
                <a:spcPts val="300"/>
              </a:spcAft>
              <a:defRPr sz="580">
                <a:solidFill>
                  <a:srgbClr val="21242A"/>
                </a:solidFill>
                <a:latin typeface="Microsoft YaHei"/>
              </a:defRPr>
            </a:pPr>
            <a:r>
              <a:t>The mean age at the index event (initiation of BsAbs for Cohort 1; initiation of CAR T-cell therapy for Cohort 2) was 47.2±9.2 for Cohort 1 and 44.5±11.3 f</a:t>
            </a:r>
          </a:p>
          <a:p>
            <a:pPr>
              <a:lnSpc>
                <a:spcPct val="103000"/>
              </a:lnSpc>
              <a:spcAft>
                <a:spcPts val="300"/>
              </a:spcAft>
              <a:defRPr sz="580">
                <a:solidFill>
                  <a:srgbClr val="21242A"/>
                </a:solidFill>
                <a:latin typeface="Microsoft YaHei"/>
              </a:defRPr>
            </a:pPr>
            <a:r>
              <a:t>or Cohort 2 (p=0.015).</a:t>
            </a:r>
          </a:p>
          <a:p>
            <a:pPr>
              <a:lnSpc>
                <a:spcPct val="103000"/>
              </a:lnSpc>
              <a:spcAft>
                <a:spcPts val="300"/>
              </a:spcAft>
              <a:defRPr sz="580">
                <a:solidFill>
                  <a:srgbClr val="21242A"/>
                </a:solidFill>
                <a:latin typeface="Microsoft YaHei"/>
              </a:defRPr>
            </a:pPr>
            <a:r>
              <a:t>There were 63% and 66% male patients, respectively (p=0.664).</a:t>
            </a:r>
          </a:p>
          <a:p>
            <a:pPr>
              <a:lnSpc>
                <a:spcPct val="103000"/>
              </a:lnSpc>
              <a:spcAft>
                <a:spcPts val="300"/>
              </a:spcAft>
              <a:defRPr sz="580">
                <a:solidFill>
                  <a:srgbClr val="21242A"/>
                </a:solidFill>
                <a:latin typeface="Microsoft YaHei"/>
              </a:defRPr>
            </a:pPr>
            <a:r>
              <a:t>Over a 2-year follow-up period from the index event, Cohort 1 had a significantly higher risk of death compared to Cohort 2 (RR 1.468, 95%CI 1.116-1.932).</a:t>
            </a:r>
          </a:p>
          <a:p>
            <a:pPr>
              <a:lnSpc>
                <a:spcPct val="103000"/>
              </a:lnSpc>
              <a:spcAft>
                <a:spcPts val="300"/>
              </a:spcAft>
              <a:defRPr sz="580">
                <a:solidFill>
                  <a:srgbClr val="21242A"/>
                </a:solidFill>
                <a:latin typeface="Microsoft YaHei"/>
              </a:defRPr>
            </a:pPr>
            <a:r>
              <a:t>Cohort 1 had a significantly shorter two-year OS probability and a higher risk of death at two years (47.5% vs.</a:t>
            </a:r>
          </a:p>
          <a:p>
            <a:pPr>
              <a:lnSpc>
                <a:spcPct val="103000"/>
              </a:lnSpc>
              <a:spcAft>
                <a:spcPts val="300"/>
              </a:spcAft>
              <a:defRPr sz="580">
                <a:solidFill>
                  <a:srgbClr val="21242A"/>
                </a:solidFill>
                <a:latin typeface="Microsoft YaHei"/>
              </a:defRPr>
            </a:pPr>
            <a:r>
              <a:t>67.3% survival probability at 2 years from the index event, log-rank test, χ2=20.034, p</a:t>
            </a:r>
          </a:p>
          <a:p>
            <a:pPr>
              <a:lnSpc>
                <a:spcPct val="103000"/>
              </a:lnSpc>
              <a:spcAft>
                <a:spcPts val="300"/>
              </a:spcAft>
              <a:defRPr sz="580">
                <a:solidFill>
                  <a:srgbClr val="21242A"/>
                </a:solidFill>
                <a:latin typeface="Microsoft YaHei"/>
              </a:defRPr>
            </a:pPr>
            <a:r>
              <a:t>Conclusion: In this real-world analysis of DLBCL patients ≤60 years old, treatment with BsAbs was linked to worse OS and higher death risk compared to CAR </a:t>
            </a:r>
          </a:p>
          <a:p>
            <a:pPr>
              <a:lnSpc>
                <a:spcPct val="103000"/>
              </a:lnSpc>
              <a:spcAft>
                <a:spcPts val="300"/>
              </a:spcAft>
              <a:defRPr sz="580">
                <a:solidFill>
                  <a:srgbClr val="21242A"/>
                </a:solidFill>
                <a:latin typeface="Microsoft YaHei"/>
              </a:defRPr>
            </a:pPr>
            <a:r>
              <a:t>T-cell therapies.</a:t>
            </a:r>
          </a:p>
          <a:p>
            <a:pPr>
              <a:lnSpc>
                <a:spcPct val="103000"/>
              </a:lnSpc>
              <a:spcAft>
                <a:spcPts val="300"/>
              </a:spcAft>
              <a:defRPr sz="580">
                <a:solidFill>
                  <a:srgbClr val="21242A"/>
                </a:solidFill>
                <a:latin typeface="Microsoft YaHei"/>
              </a:defRPr>
            </a:pPr>
            <a:r>
              <a:t>These findings remained consistent before and after PSM, highlighting the robustness of the results.</a:t>
            </a:r>
          </a:p>
          <a:p>
            <a:pPr>
              <a:lnSpc>
                <a:spcPct val="103000"/>
              </a:lnSpc>
              <a:spcAft>
                <a:spcPts val="300"/>
              </a:spcAft>
              <a:defRPr sz="580">
                <a:solidFill>
                  <a:srgbClr val="21242A"/>
                </a:solidFill>
                <a:latin typeface="Microsoft YaHei"/>
              </a:defRPr>
            </a:pPr>
            <a:r>
              <a:t>While CAR T-cell therapies showed better survival over 2 years, the data's aggregate nature limits detailed clinical interpretation, including disease and </a:t>
            </a:r>
          </a:p>
          <a:p>
            <a:pPr>
              <a:lnSpc>
                <a:spcPct val="103000"/>
              </a:lnSpc>
              <a:spcAft>
                <a:spcPts val="300"/>
              </a:spcAft>
              <a:defRPr sz="580">
                <a:solidFill>
                  <a:srgbClr val="21242A"/>
                </a:solidFill>
                <a:latin typeface="Microsoft YaHei"/>
              </a:defRPr>
            </a:pPr>
            <a:r>
              <a:t>treatment factors affecting outcomes.</a:t>
            </a:r>
          </a:p>
          <a:p>
            <a:pPr>
              <a:lnSpc>
                <a:spcPct val="103000"/>
              </a:lnSpc>
              <a:spcAft>
                <a:spcPts val="300"/>
              </a:spcAft>
              <a:defRPr sz="580">
                <a:solidFill>
                  <a:srgbClr val="21242A"/>
                </a:solidFill>
                <a:latin typeface="Microsoft YaHei"/>
              </a:defRPr>
            </a:pPr>
            <a:r>
              <a:t>Still, the results support using CAR T-cell therapies over BsAbs for eligible younger patients with R/R DLBCL and emphasize the need for more research with</a:t>
            </a:r>
          </a:p>
          <a:p>
            <a:pPr>
              <a:lnSpc>
                <a:spcPct val="103000"/>
              </a:lnSpc>
              <a:spcAft>
                <a:spcPts val="300"/>
              </a:spcAft>
              <a:defRPr sz="580">
                <a:solidFill>
                  <a:srgbClr val="21242A"/>
                </a:solidFill>
                <a:latin typeface="Microsoft YaHei"/>
              </a:defRPr>
            </a:pPr>
            <a:r>
              <a:t> patient-level data to improve comparative assessments.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波兰淋巴瘤研究组（plrg）的倾向评分匹配分析：复发/难治性dlbcl中polatuzumab br与tafasita...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polatuzumab-br vs tafasitamab-lenalidomide in relapsed/refractory dlbcl: a pr...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N=206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苯达莫司汀</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多组/多方案比较：试验组1：polatuzumab vedotin，bendamustine，rituximab（Pola-B...</a:t>
            </a:r>
          </a:p>
          <a:p>
            <a:pPr>
              <a:lnSpc>
                <a:spcPct val="103000"/>
              </a:lnSpc>
              <a:spcAft>
                <a:spcPts val="300"/>
              </a:spcAft>
              <a:defRPr sz="800">
                <a:solidFill>
                  <a:srgbClr val="21242A"/>
                </a:solidFill>
                <a:latin typeface="Microsoft YaHei"/>
              </a:defRPr>
            </a:pPr>
            <a:r>
              <a:t>试验组2：tafasitamab，lenalidomide（Tafa-Len）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总缓解率（ORR）：Pola-BR组显著高于Tafa-Len组</a:t>
            </a:r>
          </a:p>
          <a:p>
            <a:pPr>
              <a:lnSpc>
                <a:spcPct val="103000"/>
              </a:lnSpc>
              <a:spcAft>
                <a:spcPts val="300"/>
              </a:spcAft>
              <a:defRPr sz="800">
                <a:solidFill>
                  <a:srgbClr val="21242A"/>
                </a:solidFill>
                <a:latin typeface="Microsoft YaHei"/>
              </a:defRPr>
            </a:pPr>
            <a:r>
              <a:t>完全缓解率（CR）：Pola-BR组更高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人数：206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试验药/方案：维泊妥珠单抗、苯达莫司汀、利妥昔单抗、来那度胺</a:t>
            </a:r>
          </a:p>
          <a:p>
            <a:pPr>
              <a:lnSpc>
                <a:spcPct val="103000"/>
              </a:lnSpc>
              <a:spcAft>
                <a:spcPts val="300"/>
              </a:spcAft>
              <a:defRPr sz="810">
                <a:solidFill>
                  <a:srgbClr val="21242A"/>
                </a:solidFill>
                <a:latin typeface="Microsoft YaHei"/>
              </a:defRPr>
            </a:pPr>
            <a:r>
              <a:t>靶点：CD79B、DNA、CD20、IKZF3</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波兰淋巴瘤研究组（plrg）的倾向评分匹配分析：复发/难治性dlbcl中polatuzumab br与tafasita...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polatuzumab-br vs tafasitamab-lenalidomide in relapsed/refractory dlbcl: a pr...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This multicenter study conducted by the Polish Lymphoma Research Group (PLRG) compared real-world outcomes of two salvage regimens—polatuzumab vedot</a:t>
            </a:r>
          </a:p>
          <a:p>
            <a:pPr>
              <a:lnSpc>
                <a:spcPct val="103000"/>
              </a:lnSpc>
              <a:spcAft>
                <a:spcPts val="300"/>
              </a:spcAft>
              <a:defRPr sz="570">
                <a:solidFill>
                  <a:srgbClr val="21242A"/>
                </a:solidFill>
                <a:latin typeface="Microsoft YaHei"/>
              </a:defRPr>
            </a:pPr>
            <a:r>
              <a:t>in with bendamustine and rituximab (Pola-BR) and tafasitamab plus lenalidomide (Tafa-Len)—in patients with relapsed/refractory diffuse large B-cell lymphoma (R/</a:t>
            </a:r>
          </a:p>
          <a:p>
            <a:pPr>
              <a:lnSpc>
                <a:spcPct val="103000"/>
              </a:lnSpc>
              <a:spcAft>
                <a:spcPts val="300"/>
              </a:spcAft>
              <a:defRPr sz="570">
                <a:solidFill>
                  <a:srgbClr val="21242A"/>
                </a:solidFill>
                <a:latin typeface="Microsoft YaHei"/>
              </a:defRPr>
            </a:pPr>
            <a:r>
              <a:t>R DLBCL).</a:t>
            </a:r>
          </a:p>
          <a:p>
            <a:pPr>
              <a:lnSpc>
                <a:spcPct val="103000"/>
              </a:lnSpc>
              <a:spcAft>
                <a:spcPts val="300"/>
              </a:spcAft>
              <a:defRPr sz="570">
                <a:solidFill>
                  <a:srgbClr val="21242A"/>
                </a:solidFill>
                <a:latin typeface="Microsoft YaHei"/>
              </a:defRPr>
            </a:pPr>
            <a:r>
              <a:t>Direct comparative data remain limited.</a:t>
            </a:r>
          </a:p>
          <a:p>
            <a:pPr>
              <a:lnSpc>
                <a:spcPct val="103000"/>
              </a:lnSpc>
              <a:spcAft>
                <a:spcPts val="300"/>
              </a:spcAft>
              <a:defRPr sz="570">
                <a:solidFill>
                  <a:srgbClr val="21242A"/>
                </a:solidFill>
                <a:latin typeface="Microsoft YaHei"/>
              </a:defRPr>
            </a:pPr>
            <a:r>
              <a:t>Aims: To verify and compare real-world outcomes for Pola-BR and Tafa-Len regimens in R/R DLBCL patients in a routine clinical setting.</a:t>
            </a:r>
          </a:p>
          <a:p>
            <a:pPr>
              <a:lnSpc>
                <a:spcPct val="103000"/>
              </a:lnSpc>
              <a:spcAft>
                <a:spcPts val="300"/>
              </a:spcAft>
              <a:defRPr sz="570">
                <a:solidFill>
                  <a:srgbClr val="21242A"/>
                </a:solidFill>
                <a:latin typeface="Microsoft YaHei"/>
              </a:defRPr>
            </a:pPr>
            <a:r>
              <a:t>Methods: In this retrospective analysis, 206 patients with R/R DLBCL treated with Pola-BR (n=152) or Tafa-Len (n=54) in the second or subsequent lines were iden</a:t>
            </a:r>
          </a:p>
          <a:p>
            <a:pPr>
              <a:lnSpc>
                <a:spcPct val="103000"/>
              </a:lnSpc>
              <a:spcAft>
                <a:spcPts val="300"/>
              </a:spcAft>
              <a:defRPr sz="570">
                <a:solidFill>
                  <a:srgbClr val="21242A"/>
                </a:solidFill>
                <a:latin typeface="Microsoft YaHei"/>
              </a:defRPr>
            </a:pPr>
            <a:r>
              <a:t>tified.</a:t>
            </a:r>
          </a:p>
          <a:p>
            <a:pPr>
              <a:lnSpc>
                <a:spcPct val="103000"/>
              </a:lnSpc>
              <a:spcAft>
                <a:spcPts val="300"/>
              </a:spcAft>
              <a:defRPr sz="570">
                <a:solidFill>
                  <a:srgbClr val="21242A"/>
                </a:solidFill>
                <a:latin typeface="Microsoft YaHei"/>
              </a:defRPr>
            </a:pPr>
            <a:r>
              <a:t>Propensity score matching (PSM) was performed based on 14 baseline clinical and disease-related variables, including age, sex, ECOG performance status, DLBCL ce</a:t>
            </a:r>
          </a:p>
          <a:p>
            <a:pPr>
              <a:lnSpc>
                <a:spcPct val="103000"/>
              </a:lnSpc>
              <a:spcAft>
                <a:spcPts val="300"/>
              </a:spcAft>
              <a:defRPr sz="570">
                <a:solidFill>
                  <a:srgbClr val="21242A"/>
                </a:solidFill>
                <a:latin typeface="Microsoft YaHei"/>
              </a:defRPr>
            </a:pPr>
            <a:r>
              <a:t>ll-of-origin subtype, clinical stage, IPI at diagnosis and at salvage, type of first-line failure (primary refractory disease vs early relapse vs late relapse),</a:t>
            </a:r>
          </a:p>
          <a:p>
            <a:pPr>
              <a:lnSpc>
                <a:spcPct val="103000"/>
              </a:lnSpc>
              <a:spcAft>
                <a:spcPts val="300"/>
              </a:spcAft>
              <a:defRPr sz="570">
                <a:solidFill>
                  <a:srgbClr val="21242A"/>
                </a:solidFill>
                <a:latin typeface="Microsoft YaHei"/>
              </a:defRPr>
            </a:pPr>
            <a:r>
              <a:t> number of prior treatment lines, refractoriness to the last therapy, disease status, bulky disease, and B symptoms at salvage.</a:t>
            </a:r>
          </a:p>
          <a:p>
            <a:pPr>
              <a:lnSpc>
                <a:spcPct val="103000"/>
              </a:lnSpc>
              <a:spcAft>
                <a:spcPts val="300"/>
              </a:spcAft>
              <a:defRPr sz="570">
                <a:solidFill>
                  <a:srgbClr val="21242A"/>
                </a:solidFill>
                <a:latin typeface="Microsoft YaHei"/>
              </a:defRPr>
            </a:pPr>
            <a:r>
              <a:t>After PSM, 36 matched patients in each group were included in the comparative analysis.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PSM analysis of real-world PLRG data, Pola-BR achieved higher response rates and longer PFS than Tafa-Len in high-risk R/R DLBCL, while OS was comparabl</a:t>
            </a:r>
          </a:p>
          <a:p>
            <a:pPr>
              <a:lnSpc>
                <a:spcPct val="103000"/>
              </a:lnSpc>
              <a:spcAft>
                <a:spcPts val="300"/>
              </a:spcAft>
              <a:defRPr sz="590">
                <a:solidFill>
                  <a:srgbClr val="21242A"/>
                </a:solidFill>
                <a:latin typeface="Microsoft YaHei"/>
              </a:defRPr>
            </a:pPr>
            <a:r>
              <a:t>e.</a:t>
            </a:r>
          </a:p>
          <a:p>
            <a:pPr>
              <a:lnSpc>
                <a:spcPct val="103000"/>
              </a:lnSpc>
              <a:spcAft>
                <a:spcPts val="300"/>
              </a:spcAft>
              <a:defRPr sz="590">
                <a:solidFill>
                  <a:srgbClr val="21242A"/>
                </a:solidFill>
                <a:latin typeface="Microsoft YaHei"/>
              </a:defRPr>
            </a:pPr>
            <a:r>
              <a:t>Tafa-Len was developed for transplant-ineligible patients, and primary refractory disease was excluded from L-MIND.</a:t>
            </a:r>
          </a:p>
          <a:p>
            <a:pPr>
              <a:lnSpc>
                <a:spcPct val="103000"/>
              </a:lnSpc>
              <a:spcAft>
                <a:spcPts val="300"/>
              </a:spcAft>
              <a:defRPr sz="590">
                <a:solidFill>
                  <a:srgbClr val="21242A"/>
                </a:solidFill>
                <a:latin typeface="Microsoft YaHei"/>
              </a:defRPr>
            </a:pPr>
            <a:r>
              <a:t>However, our cohort was largely composed of primary refractory cases, which may not represent the optimal setting for this regimen.</a:t>
            </a:r>
          </a:p>
          <a:p>
            <a:pPr>
              <a:lnSpc>
                <a:spcPct val="103000"/>
              </a:lnSpc>
              <a:spcAft>
                <a:spcPts val="300"/>
              </a:spcAft>
              <a:defRPr sz="590">
                <a:solidFill>
                  <a:srgbClr val="21242A"/>
                </a:solidFill>
                <a:latin typeface="Microsoft YaHei"/>
              </a:defRPr>
            </a:pPr>
            <a:r>
              <a:t>At that time, novel T-cell–engaging (TCE) therapies were not available in the second line.</a:t>
            </a:r>
          </a:p>
          <a:p>
            <a:pPr>
              <a:lnSpc>
                <a:spcPct val="103000"/>
              </a:lnSpc>
              <a:spcAft>
                <a:spcPts val="300"/>
              </a:spcAft>
              <a:defRPr sz="590">
                <a:solidFill>
                  <a:srgbClr val="21242A"/>
                </a:solidFill>
                <a:latin typeface="Microsoft YaHei"/>
              </a:defRPr>
            </a:pPr>
            <a:r>
              <a:t>With expanding access to CAR T-cell therapy and bispecific antibodies, TCE approaches should be incorporated early for primary refractory disease and early rela</a:t>
            </a:r>
          </a:p>
          <a:p>
            <a:pPr>
              <a:lnSpc>
                <a:spcPct val="103000"/>
              </a:lnSpc>
              <a:spcAft>
                <a:spcPts val="300"/>
              </a:spcAft>
              <a:defRPr sz="590">
                <a:solidFill>
                  <a:srgbClr val="21242A"/>
                </a:solidFill>
                <a:latin typeface="Microsoft YaHei"/>
              </a:defRPr>
            </a:pPr>
            <a:r>
              <a:t>pse, consistent with benefits shown in second-line CAR-T trials and the STARGLO study.</a:t>
            </a:r>
          </a:p>
          <a:p>
            <a:pPr>
              <a:lnSpc>
                <a:spcPct val="103000"/>
              </a:lnSpc>
              <a:spcAft>
                <a:spcPts val="300"/>
              </a:spcAft>
              <a:defRPr sz="590">
                <a:solidFill>
                  <a:srgbClr val="21242A"/>
                </a:solidFill>
                <a:latin typeface="Microsoft YaHei"/>
              </a:defRPr>
            </a:pPr>
            <a:r>
              <a:t>The optimal positioning of Pola-BR and Tafa-Len in R/R DLBCL requires further clarification given their meaningful efficacy and manageable safety profiles.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Pola-BR组显著高于Tafa-Len组</a:t>
                      </a:r>
                    </a:p>
                  </a:txBody>
                  <a:tcPr>
                    <a:solidFill>
                      <a:srgbClr val="F6F8FB"/>
                    </a:solidFill>
                  </a:tcPr>
                </a:tc>
              </a:tr>
              <a:tr h="249936">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Pola-BR组更高</a:t>
                      </a:r>
                    </a:p>
                  </a:txBody>
                  <a:tcPr>
                    <a:solidFill>
                      <a:srgbClr val="FFFFFF"/>
                    </a:solidFill>
                  </a:tcPr>
                </a:tc>
              </a:tr>
              <a:tr h="249936">
                <a:tc>
                  <a:txBody>
                    <a:bodyPr wrap="square" lIns="36576" rIns="36576" tIns="18288" bIns="18288"/>
                    <a:lstStyle/>
                    <a:p>
                      <a:r>
                        <a:rPr sz="540" b="1">
                          <a:solidFill>
                            <a:srgbClr val="21242A"/>
                          </a:solidFill>
                          <a:latin typeface="Microsoft YaHei"/>
                        </a:rPr>
                        <a:t>部分缓解率（PR）</a:t>
                      </a:r>
                    </a:p>
                  </a:txBody>
                  <a:tcPr>
                    <a:solidFill>
                      <a:srgbClr val="F6F8FB"/>
                    </a:solidFill>
                  </a:tcPr>
                </a:tc>
                <a:tc>
                  <a:txBody>
                    <a:bodyPr wrap="square" lIns="36576" rIns="36576" tIns="18288" bIns="18288"/>
                    <a:lstStyle/>
                    <a:p>
                      <a:r>
                        <a:rPr sz="540" b="0">
                          <a:solidFill>
                            <a:srgbClr val="21242A"/>
                          </a:solidFill>
                          <a:latin typeface="Microsoft YaHei"/>
                        </a:rPr>
                        <a:t>Pola-BR组更高</a:t>
                      </a:r>
                    </a:p>
                  </a:txBody>
                  <a:tcPr>
                    <a:solidFill>
                      <a:srgbClr val="F6F8FB"/>
                    </a:solidFill>
                  </a:tcPr>
                </a:tc>
              </a:tr>
              <a:tr h="249936">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Pola-BR组优于Tafa-Len组</a:t>
                      </a:r>
                    </a:p>
                  </a:txBody>
                  <a:tcPr>
                    <a:solidFill>
                      <a:srgbClr val="FFFFFF"/>
                    </a:solidFill>
                  </a:tcPr>
                </a:tc>
              </a:tr>
              <a:tr h="249936">
                <a:tc>
                  <a:txBody>
                    <a:bodyPr wrap="square" lIns="36576" rIns="36576" tIns="18288" bIns="18288"/>
                    <a:lstStyle/>
                    <a:p>
                      <a:r>
                        <a:rPr sz="540" b="1">
                          <a:solidFill>
                            <a:srgbClr val="21242A"/>
                          </a:solidFill>
                          <a:latin typeface="Microsoft YaHei"/>
                        </a:rPr>
                        <a:t>1年总生存率（OS）</a:t>
                      </a:r>
                    </a:p>
                  </a:txBody>
                  <a:tcPr>
                    <a:solidFill>
                      <a:srgbClr val="F6F8FB"/>
                    </a:solidFill>
                  </a:tcPr>
                </a:tc>
                <a:tc>
                  <a:txBody>
                    <a:bodyPr wrap="square" lIns="36576" rIns="36576" tIns="18288" bIns="18288"/>
                    <a:lstStyle/>
                    <a:p>
                      <a:r>
                        <a:rPr sz="540" b="0">
                          <a:solidFill>
                            <a:srgbClr val="21242A"/>
                          </a:solidFill>
                          <a:latin typeface="Microsoft YaHei"/>
                        </a:rPr>
                        <a:t>Pola-BR组50% vs Tafa-Len组44%（p=0.20）</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N=273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试验药/方案：Lisocabtagene maraleucel</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多组/多方案比较：试验组1：lisocabtagene maraleucel</a:t>
            </a:r>
          </a:p>
          <a:p>
            <a:pPr>
              <a:lnSpc>
                <a:spcPct val="103000"/>
              </a:lnSpc>
              <a:spcAft>
                <a:spcPts val="300"/>
              </a:spcAft>
              <a:defRPr sz="800">
                <a:solidFill>
                  <a:srgbClr val="21242A"/>
                </a:solidFill>
                <a:latin typeface="Microsoft YaHei"/>
              </a:defRPr>
            </a:pPr>
            <a:r>
              <a:t>试验组2：双特异性抗体（epcoritamab, glofitamab）</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总生存期（OS）：调整后HR 0.62（P=0.023）</a:t>
            </a:r>
          </a:p>
          <a:p>
            <a:pPr>
              <a:lnSpc>
                <a:spcPct val="103000"/>
              </a:lnSpc>
              <a:spcAft>
                <a:spcPts val="300"/>
              </a:spcAft>
              <a:defRPr sz="800">
                <a:solidFill>
                  <a:srgbClr val="21242A"/>
                </a:solidFill>
                <a:latin typeface="Microsoft YaHei"/>
              </a:defRPr>
            </a:pPr>
            <a:r>
              <a:t>liso-cel组中位OS未达到，BsAb组11个月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人数：273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治疗线数：三线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试验药/方案：Lisocabtagene maraleucel、格菲妥单抗、艾可瑞妥单抗</a:t>
            </a:r>
          </a:p>
          <a:p>
            <a:pPr>
              <a:lnSpc>
                <a:spcPct val="103000"/>
              </a:lnSpc>
              <a:spcAft>
                <a:spcPts val="300"/>
              </a:spcAft>
              <a:defRPr sz="810">
                <a:solidFill>
                  <a:srgbClr val="21242A"/>
                </a:solidFill>
                <a:latin typeface="Microsoft YaHei"/>
              </a:defRPr>
            </a:pPr>
            <a:r>
              <a:t>靶点：CD19、CD20、CD3</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Lisocabtagene maraleucel (liso-cel) and CD3×CD20 T-cell engaging bispecific antibodies (BsAb) are approved LBCL therapies; liso-cel in second line o</a:t>
            </a:r>
          </a:p>
          <a:p>
            <a:pPr>
              <a:lnSpc>
                <a:spcPct val="103000"/>
              </a:lnSpc>
              <a:spcAft>
                <a:spcPts val="300"/>
              </a:spcAft>
              <a:defRPr sz="570">
                <a:solidFill>
                  <a:srgbClr val="21242A"/>
                </a:solidFill>
                <a:latin typeface="Microsoft YaHei"/>
              </a:defRPr>
            </a:pPr>
            <a:r>
              <a:t>r later and BsAb in third-line (3L) or later (3L+) in the United States (US).</a:t>
            </a:r>
          </a:p>
          <a:p>
            <a:pPr>
              <a:lnSpc>
                <a:spcPct val="103000"/>
              </a:lnSpc>
              <a:spcAft>
                <a:spcPts val="300"/>
              </a:spcAft>
              <a:defRPr sz="570">
                <a:solidFill>
                  <a:srgbClr val="21242A"/>
                </a:solidFill>
                <a:latin typeface="Microsoft YaHei"/>
              </a:defRPr>
            </a:pPr>
            <a:r>
              <a:t>Understanding their comparative effectiveness, safety, and HCRU in the real-world (RW) setting can inform optimal treatment selection.</a:t>
            </a:r>
          </a:p>
          <a:p>
            <a:pPr>
              <a:lnSpc>
                <a:spcPct val="103000"/>
              </a:lnSpc>
              <a:spcAft>
                <a:spcPts val="300"/>
              </a:spcAft>
              <a:defRPr sz="570">
                <a:solidFill>
                  <a:srgbClr val="21242A"/>
                </a:solidFill>
                <a:latin typeface="Microsoft YaHei"/>
              </a:defRPr>
            </a:pPr>
            <a:r>
              <a:t>Aims: To compare RW effectiveness, safety, and HCRU among patients with R/R LBCL treated with liso-cel or BsAb in the 3L+ setting.</a:t>
            </a:r>
          </a:p>
          <a:p>
            <a:pPr>
              <a:lnSpc>
                <a:spcPct val="103000"/>
              </a:lnSpc>
              <a:spcAft>
                <a:spcPts val="300"/>
              </a:spcAft>
              <a:defRPr sz="570">
                <a:solidFill>
                  <a:srgbClr val="21242A"/>
                </a:solidFill>
                <a:latin typeface="Microsoft YaHei"/>
              </a:defRPr>
            </a:pPr>
            <a:r>
              <a:t>Methods: Patients with LBCL who were newly treated with liso-cel or BsAb (epcoritamab, glofitamab) in the 3L+ setting (April 2022–May 2025) were identified from</a:t>
            </a:r>
          </a:p>
          <a:p>
            <a:pPr>
              <a:lnSpc>
                <a:spcPct val="103000"/>
              </a:lnSpc>
              <a:spcAft>
                <a:spcPts val="300"/>
              </a:spcAft>
              <a:defRPr sz="570">
                <a:solidFill>
                  <a:srgbClr val="21242A"/>
                </a:solidFill>
                <a:latin typeface="Microsoft YaHei"/>
              </a:defRPr>
            </a:pPr>
            <a:r>
              <a:t> the US Flatiron Health Research Database, which collects longitudinal electronic health records from the routine clinical setting.</a:t>
            </a:r>
          </a:p>
          <a:p>
            <a:pPr>
              <a:lnSpc>
                <a:spcPct val="103000"/>
              </a:lnSpc>
              <a:spcAft>
                <a:spcPts val="300"/>
              </a:spcAft>
              <a:defRPr sz="570">
                <a:solidFill>
                  <a:srgbClr val="21242A"/>
                </a:solidFill>
                <a:latin typeface="Microsoft YaHei"/>
              </a:defRPr>
            </a:pPr>
            <a:r>
              <a:t>Baseline differences were adjusted using inverse probability of treatment weighting (IPTW) for efficacy, safety, and HCRU.</a:t>
            </a:r>
          </a:p>
          <a:p>
            <a:pPr>
              <a:lnSpc>
                <a:spcPct val="103000"/>
              </a:lnSpc>
              <a:spcAft>
                <a:spcPts val="300"/>
              </a:spcAft>
              <a:defRPr sz="570">
                <a:solidFill>
                  <a:srgbClr val="21242A"/>
                </a:solidFill>
                <a:latin typeface="Microsoft YaHei"/>
              </a:defRPr>
            </a:pPr>
            <a:r>
              <a:t>Sensitivity analysis was conducted in 3L-only patients.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retrospective, RW analysis, liso-cel demonstrated significantly better efficacy and similar HCRU and safety vs BsAb as a 3L+ therapy for LBCL; further d</a:t>
            </a:r>
          </a:p>
          <a:p>
            <a:pPr>
              <a:lnSpc>
                <a:spcPct val="103000"/>
              </a:lnSpc>
              <a:spcAft>
                <a:spcPts val="300"/>
              </a:spcAft>
              <a:defRPr sz="590">
                <a:solidFill>
                  <a:srgbClr val="21242A"/>
                </a:solidFill>
                <a:latin typeface="Microsoft YaHei"/>
              </a:defRPr>
            </a:pPr>
            <a:r>
              <a:t>ata are needed to compare these treatments in earlier lines of therapy.</a:t>
            </a:r>
          </a:p>
          <a:p>
            <a:pPr>
              <a:lnSpc>
                <a:spcPct val="103000"/>
              </a:lnSpc>
              <a:spcAft>
                <a:spcPts val="300"/>
              </a:spcAft>
              <a:defRPr sz="590">
                <a:solidFill>
                  <a:srgbClr val="21242A"/>
                </a:solidFill>
                <a:latin typeface="Microsoft YaHei"/>
              </a:defRPr>
            </a:pPr>
            <a:r>
              <a:t>Table 1.</a:t>
            </a:r>
          </a:p>
          <a:p>
            <a:pPr>
              <a:lnSpc>
                <a:spcPct val="103000"/>
              </a:lnSpc>
              <a:spcAft>
                <a:spcPts val="300"/>
              </a:spcAft>
              <a:defRPr sz="590">
                <a:solidFill>
                  <a:srgbClr val="21242A"/>
                </a:solidFill>
                <a:latin typeface="Microsoft YaHei"/>
              </a:defRPr>
            </a:pPr>
            <a:r>
              <a:t>Efficacy outcomes \n \n \n \n Outcome \n Liso-cel (n=161) \n BsAb (n=112) \n P value \n \n \n OS, (95% CI) \n \n \n Unadjusted median, mo \n NE (20–NE) \n 11 (8</a:t>
            </a:r>
          </a:p>
          <a:p>
            <a:pPr>
              <a:lnSpc>
                <a:spcPct val="103000"/>
              </a:lnSpc>
              <a:spcAft>
                <a:spcPts val="300"/>
              </a:spcAft>
              <a:defRPr sz="590">
                <a:solidFill>
                  <a:srgbClr val="21242A"/>
                </a:solidFill>
                <a:latin typeface="Microsoft YaHei"/>
              </a:defRPr>
            </a:pPr>
            <a:r>
              <a:t>–NE) \n \n \n \n Unadjusted HR \n 0.50 (0.33–0.75) \n \n \n \n Adjusted HR a \n n=154 \n n=105 \n 0.023 \n \n \n 0.62 (0.41–0.94) \n \n \n PFS, (95% CI) \n \n \</a:t>
            </a:r>
          </a:p>
          <a:p>
            <a:pPr>
              <a:lnSpc>
                <a:spcPct val="103000"/>
              </a:lnSpc>
              <a:spcAft>
                <a:spcPts val="300"/>
              </a:spcAft>
              <a:defRPr sz="590">
                <a:solidFill>
                  <a:srgbClr val="21242A"/>
                </a:solidFill>
                <a:latin typeface="Microsoft YaHei"/>
              </a:defRPr>
            </a:pPr>
            <a:r>
              <a:t>n Unadjusted median, mo \n 12 (10–22) \n 5 (3–7) \n \n \n \n Unadjusted HR \n 0.48 (0.34–0.67) \n \n \n \n Adjusted HR a \n n=154 \n n=105 \n \n \n \n 0.53 (0.3</a:t>
            </a:r>
          </a:p>
          <a:p>
            <a:pPr>
              <a:lnSpc>
                <a:spcPct val="103000"/>
              </a:lnSpc>
              <a:spcAft>
                <a:spcPts val="300"/>
              </a:spcAft>
              <a:defRPr sz="590">
                <a:solidFill>
                  <a:srgbClr val="21242A"/>
                </a:solidFill>
                <a:latin typeface="Microsoft YaHei"/>
              </a:defRPr>
            </a:pPr>
            <a:r>
              <a:t>7–0.74) \n \n \n ORR, % (95% CI) b \n \n \n Unadjusted \n n=138 80 (73–87) \n n=87 66 (55–75) \n 0.012 \n \n \n Adjusted a \n n=133 81 (74–87.5) \n n=81 64 (52–</a:t>
            </a:r>
          </a:p>
          <a:p>
            <a:pPr>
              <a:lnSpc>
                <a:spcPct val="103000"/>
              </a:lnSpc>
              <a:spcAft>
                <a:spcPts val="300"/>
              </a:spcAft>
              <a:defRPr sz="590">
                <a:solidFill>
                  <a:srgbClr val="21242A"/>
                </a:solidFill>
                <a:latin typeface="Microsoft YaHei"/>
              </a:defRPr>
            </a:pPr>
            <a:r>
              <a:t>74) \n 0.004 \n \n \n CRR, % (95% CI) b \n \n \n Unadjusted \n n=138 60 (51.5–68) \n n=87 28 (18.5–38) \n \n \n \n Adjusted a \n n=133 61 (52.5–70) \n n=81 28 (</a:t>
            </a:r>
          </a:p>
          <a:p>
            <a:pPr>
              <a:lnSpc>
                <a:spcPct val="103000"/>
              </a:lnSpc>
              <a:spcAft>
                <a:spcPts val="300"/>
              </a:spcAft>
              <a:defRPr sz="590">
                <a:solidFill>
                  <a:srgbClr val="21242A"/>
                </a:solidFill>
                <a:latin typeface="Microsoft YaHei"/>
              </a:defRPr>
            </a:pPr>
            <a:r>
              <a:t>19–39) \n \n \n \n \n a Patients with rare histologies removed after adjustment; b Excluding patients with ORR/CRR not documented.</a:t>
            </a:r>
          </a:p>
          <a:p>
            <a:pPr>
              <a:lnSpc>
                <a:spcPct val="103000"/>
              </a:lnSpc>
              <a:spcAft>
                <a:spcPts val="300"/>
              </a:spcAft>
              <a:defRPr sz="590">
                <a:solidFill>
                  <a:srgbClr val="21242A"/>
                </a:solidFill>
                <a:latin typeface="Microsoft YaHei"/>
              </a:defRPr>
            </a:pPr>
            <a:r>
              <a:t>\n NE, nonevaluable. \n Table 2.</a:t>
            </a:r>
          </a:p>
          <a:p>
            <a:pPr>
              <a:lnSpc>
                <a:spcPct val="103000"/>
              </a:lnSpc>
              <a:spcAft>
                <a:spcPts val="300"/>
              </a:spcAft>
              <a:defRPr sz="590">
                <a:solidFill>
                  <a:srgbClr val="21242A"/>
                </a:solidFill>
                <a:latin typeface="Microsoft YaHei"/>
              </a:defRPr>
            </a:pPr>
            <a:r>
              <a:t>Adjusted safety outcomes \n \n \n \n Outcome \n Liso-cel (n=154) \n \n BsAb (n=105) \n \n P value \n \n \n CRS, n (%) \n \n \n Yes \n 61 (40) \n 27 (26) \n 0.02</a:t>
            </a:r>
          </a:p>
          <a:p>
            <a:pPr>
              <a:lnSpc>
                <a:spcPct val="103000"/>
              </a:lnSpc>
              <a:spcAft>
                <a:spcPts val="300"/>
              </a:spcAft>
              <a:defRPr sz="590">
                <a:solidFill>
                  <a:srgbClr val="21242A"/>
                </a:solidFill>
                <a:latin typeface="Microsoft YaHei"/>
              </a:defRPr>
            </a:pPr>
            <a:r>
              <a:t> \n \n \n Grade \n 60 (39) \n 20 (19) \n \n \n \n Grade ≥3 \n 0 \n 3 (3) \n \n \n Unknown \n 1 (1) \n 4 (4) \n \n \n ICANS, n (%) \n \n \n Yes \n 31 (20) \n 7 (</a:t>
            </a:r>
          </a:p>
          <a:p>
            <a:pPr>
              <a:lnSpc>
                <a:spcPct val="103000"/>
              </a:lnSpc>
              <a:spcAft>
                <a:spcPts val="300"/>
              </a:spcAft>
              <a:defRPr sz="590">
                <a:solidFill>
                  <a:srgbClr val="21242A"/>
                </a:solidFill>
                <a:latin typeface="Microsoft YaHei"/>
              </a:defRPr>
            </a:pPr>
            <a:r>
              <a:t>7) \n 0.003 \n \n \n Grade \n 22 (14) \n 3 (3) \n 0.555 \n \n \n Grade ≥3 \n 8 (5) \n 3 (3) \n \n \n Unknown \n 1 (1) \n 1 (1) \n \n \n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273 patients were included, with 161 receiving liso-cel and 112 receiving BsAb (median [IQR] age at index, 72 y [62–77] vs 75 y [65–81]</a:t>
            </a:r>
          </a:p>
          <a:p>
            <a:pPr>
              <a:lnSpc>
                <a:spcPct val="103000"/>
              </a:lnSpc>
              <a:spcAft>
                <a:spcPts val="300"/>
              </a:spcAft>
              <a:defRPr sz="580">
                <a:solidFill>
                  <a:srgbClr val="21242A"/>
                </a:solidFill>
                <a:latin typeface="Microsoft YaHei"/>
              </a:defRPr>
            </a:pPr>
            <a:r>
              <a:t>; DLBCL, not otherwise specified, 87% vs 76%; high-grade B-cell lymphoma, 2% vs 8%; elevated LDH, 28% vs 54%; bulky disease, 66% vs 66%; 3L, 70% vs 54%; an</a:t>
            </a:r>
          </a:p>
          <a:p>
            <a:pPr>
              <a:lnSpc>
                <a:spcPct val="103000"/>
              </a:lnSpc>
              <a:spcAft>
                <a:spcPts val="300"/>
              </a:spcAft>
              <a:defRPr sz="580">
                <a:solidFill>
                  <a:srgbClr val="21242A"/>
                </a:solidFill>
                <a:latin typeface="Microsoft YaHei"/>
              </a:defRPr>
            </a:pPr>
            <a:r>
              <a:t>d median follow-up time of 12.4 mo vs 9.1 mo).</a:t>
            </a:r>
          </a:p>
          <a:p>
            <a:pPr>
              <a:lnSpc>
                <a:spcPct val="103000"/>
              </a:lnSpc>
              <a:spcAft>
                <a:spcPts val="300"/>
              </a:spcAft>
              <a:defRPr sz="580">
                <a:solidFill>
                  <a:srgbClr val="21242A"/>
                </a:solidFill>
                <a:latin typeface="Microsoft YaHei"/>
              </a:defRPr>
            </a:pPr>
            <a:r>
              <a:t>In both unadjusted and adjusted analyses, liso-cel was associated with a statistically significant improvement in OS (adjusted HR, 0.62; P =0.023) and PFS </a:t>
            </a:r>
          </a:p>
          <a:p>
            <a:pPr>
              <a:lnSpc>
                <a:spcPct val="103000"/>
              </a:lnSpc>
              <a:spcAft>
                <a:spcPts val="300"/>
              </a:spcAft>
              <a:defRPr sz="580">
                <a:solidFill>
                  <a:srgbClr val="21242A"/>
                </a:solidFill>
                <a:latin typeface="Microsoft YaHei"/>
              </a:defRPr>
            </a:pPr>
            <a:r>
              <a:t>(adjusted HR, 0.53; P P =0.004) and CRR (61% vs 28%; P Table 1 ).</a:t>
            </a:r>
          </a:p>
          <a:p>
            <a:pPr>
              <a:lnSpc>
                <a:spcPct val="103000"/>
              </a:lnSpc>
              <a:spcAft>
                <a:spcPts val="300"/>
              </a:spcAft>
              <a:defRPr sz="580">
                <a:solidFill>
                  <a:srgbClr val="21242A"/>
                </a:solidFill>
                <a:latin typeface="Microsoft YaHei"/>
              </a:defRPr>
            </a:pPr>
            <a:r>
              <a:t>\n In a sensitivity analysis of 3L-only patients (liso-cel, n=113; BsAb, n=60), liso-cel had a statistically significant benefit for OS (HR, 0.35; P P with</a:t>
            </a:r>
          </a:p>
          <a:p>
            <a:pPr>
              <a:lnSpc>
                <a:spcPct val="103000"/>
              </a:lnSpc>
              <a:spcAft>
                <a:spcPts val="300"/>
              </a:spcAft>
              <a:defRPr sz="580">
                <a:solidFill>
                  <a:srgbClr val="21242A"/>
                </a:solidFill>
                <a:latin typeface="Microsoft YaHei"/>
              </a:defRPr>
            </a:pPr>
            <a:r>
              <a:t> higher ORR (83% vs 64%) and CRR (65% vs 27%) vs BsAb.</a:t>
            </a:r>
          </a:p>
          <a:p>
            <a:pPr>
              <a:lnSpc>
                <a:spcPct val="103000"/>
              </a:lnSpc>
              <a:spcAft>
                <a:spcPts val="300"/>
              </a:spcAft>
              <a:defRPr sz="580">
                <a:solidFill>
                  <a:srgbClr val="21242A"/>
                </a:solidFill>
                <a:latin typeface="Microsoft YaHei"/>
              </a:defRPr>
            </a:pPr>
            <a:r>
              <a:t>\n Any-grade cytokine release syndrome (CRS) and immune effector cell–associated neurotoxicity syndrome (ICANS) incidence was higher with liso-cel, mostly </a:t>
            </a:r>
          </a:p>
          <a:p>
            <a:pPr>
              <a:lnSpc>
                <a:spcPct val="103000"/>
              </a:lnSpc>
              <a:spcAft>
                <a:spcPts val="300"/>
              </a:spcAft>
              <a:defRPr sz="580">
                <a:solidFill>
                  <a:srgbClr val="21242A"/>
                </a:solidFill>
                <a:latin typeface="Microsoft YaHei"/>
              </a:defRPr>
            </a:pPr>
            <a:r>
              <a:t>due to grade 1–2 events ( Table 2 ).</a:t>
            </a:r>
          </a:p>
          <a:p>
            <a:pPr>
              <a:lnSpc>
                <a:spcPct val="103000"/>
              </a:lnSpc>
              <a:spcAft>
                <a:spcPts val="300"/>
              </a:spcAft>
              <a:defRPr sz="580">
                <a:solidFill>
                  <a:srgbClr val="21242A"/>
                </a:solidFill>
                <a:latin typeface="Microsoft YaHei"/>
              </a:defRPr>
            </a:pPr>
            <a:r>
              <a:t>There was no grade ≥3 CRS with liso-cel and low rates of grade ≥3 ICANS overall.</a:t>
            </a:r>
          </a:p>
          <a:p>
            <a:pPr>
              <a:lnSpc>
                <a:spcPct val="103000"/>
              </a:lnSpc>
              <a:spcAft>
                <a:spcPts val="300"/>
              </a:spcAft>
              <a:defRPr sz="580">
                <a:solidFill>
                  <a:srgbClr val="21242A"/>
                </a:solidFill>
                <a:latin typeface="Microsoft YaHei"/>
              </a:defRPr>
            </a:pPr>
            <a:r>
              <a:t>Rates of prolonged cytopenia (liso-cel, 32%; BsAb, 29%) and infections (liso-cel, 8%; BsAb, 14%) were comparable between cohorts.</a:t>
            </a:r>
          </a:p>
          <a:p>
            <a:pPr>
              <a:lnSpc>
                <a:spcPct val="103000"/>
              </a:lnSpc>
              <a:spcAft>
                <a:spcPts val="300"/>
              </a:spcAft>
              <a:defRPr sz="580">
                <a:solidFill>
                  <a:srgbClr val="21242A"/>
                </a:solidFill>
                <a:latin typeface="Microsoft YaHei"/>
              </a:defRPr>
            </a:pPr>
            <a:r>
              <a:t>There were lower hospitalization and ICU admission rates with liso-cel vs BsAb across most time periods ( Figure 1 ).</a:t>
            </a:r>
          </a:p>
          <a:p>
            <a:pPr>
              <a:lnSpc>
                <a:spcPct val="103000"/>
              </a:lnSpc>
              <a:spcAft>
                <a:spcPts val="300"/>
              </a:spcAft>
              <a:defRPr sz="580">
                <a:solidFill>
                  <a:srgbClr val="21242A"/>
                </a:solidFill>
                <a:latin typeface="Microsoft YaHei"/>
              </a:defRPr>
            </a:pPr>
            <a:r>
              <a:t>Conclusion: In this retrospective, RW analysis, liso-cel demonstrated significantly better efficacy and similar HCRU and safety vs BsAb as a 3L+ therapy fo</a:t>
            </a:r>
          </a:p>
          <a:p>
            <a:pPr>
              <a:lnSpc>
                <a:spcPct val="103000"/>
              </a:lnSpc>
              <a:spcAft>
                <a:spcPts val="300"/>
              </a:spcAft>
              <a:defRPr sz="580">
                <a:solidFill>
                  <a:srgbClr val="21242A"/>
                </a:solidFill>
                <a:latin typeface="Microsoft YaHei"/>
              </a:defRPr>
            </a:pPr>
            <a:r>
              <a:t>r LBCL; further data are needed to compare these treatments in earlier lines of therapy.</a:t>
            </a:r>
          </a:p>
          <a:p>
            <a:pPr>
              <a:lnSpc>
                <a:spcPct val="103000"/>
              </a:lnSpc>
              <a:spcAft>
                <a:spcPts val="300"/>
              </a:spcAft>
              <a:defRPr sz="580">
                <a:solidFill>
                  <a:srgbClr val="21242A"/>
                </a:solidFill>
                <a:latin typeface="Microsoft YaHei"/>
              </a:defRPr>
            </a:pPr>
            <a:r>
              <a:t>Table 1.</a:t>
            </a:r>
          </a:p>
          <a:p>
            <a:pPr>
              <a:lnSpc>
                <a:spcPct val="103000"/>
              </a:lnSpc>
              <a:spcAft>
                <a:spcPts val="300"/>
              </a:spcAft>
              <a:defRPr sz="580">
                <a:solidFill>
                  <a:srgbClr val="21242A"/>
                </a:solidFill>
                <a:latin typeface="Microsoft YaHei"/>
              </a:defRPr>
            </a:pPr>
            <a:r>
              <a:t>Efficacy outcomes \n \n \n \n Outcome \n Liso-cel (n=161) \n BsAb (n=112) \n P value \n \n \n OS, (95% CI) \n \n \n Unadjusted median, mo \n NE (20–NE) \n </a:t>
            </a:r>
          </a:p>
          <a:p>
            <a:pPr>
              <a:lnSpc>
                <a:spcPct val="103000"/>
              </a:lnSpc>
              <a:spcAft>
                <a:spcPts val="300"/>
              </a:spcAft>
              <a:defRPr sz="580">
                <a:solidFill>
                  <a:srgbClr val="21242A"/>
                </a:solidFill>
                <a:latin typeface="Microsoft YaHei"/>
              </a:defRPr>
            </a:pPr>
            <a:r>
              <a:t>11 (8–NE) \n \n \n \n Unadjusted HR \n 0.50 (0.33–0.75) \n \n \n \n Adjusted HR a \n n=154 \n n=105 \n 0.023 \n \n \n 0.62 (0.41–0.94) \n \n \n PFS, (95% C</a:t>
            </a:r>
          </a:p>
          <a:p>
            <a:pPr>
              <a:lnSpc>
                <a:spcPct val="103000"/>
              </a:lnSpc>
              <a:spcAft>
                <a:spcPts val="300"/>
              </a:spcAft>
              <a:defRPr sz="580">
                <a:solidFill>
                  <a:srgbClr val="21242A"/>
                </a:solidFill>
                <a:latin typeface="Microsoft YaHei"/>
              </a:defRPr>
            </a:pPr>
            <a:r>
              <a:t>I) \n \n \n Unadjusted median, mo \n 12 (10–22) \n 5 (3–7) \n \n \n \n Unadjusted HR \n 0.48 (0.34–0.67) \n \n \n \n Adjusted HR a \n n=154 \n n=105 \n \n </a:t>
            </a:r>
          </a:p>
          <a:p>
            <a:pPr>
              <a:lnSpc>
                <a:spcPct val="103000"/>
              </a:lnSpc>
              <a:spcAft>
                <a:spcPts val="300"/>
              </a:spcAft>
              <a:defRPr sz="580">
                <a:solidFill>
                  <a:srgbClr val="21242A"/>
                </a:solidFill>
                <a:latin typeface="Microsoft YaHei"/>
              </a:defRPr>
            </a:pPr>
            <a:r>
              <a:t>\n \n 0.53 (0.37–0.74) \n \n \n ORR, % (95% CI) b \n \n \n Unadjusted \n n=138 80 (73–87) \n n=87 66 (55–75) \n 0.012 \n \n \n Adjusted a \n n=133 81 (74–8</a:t>
            </a:r>
          </a:p>
          <a:p>
            <a:pPr>
              <a:lnSpc>
                <a:spcPct val="103000"/>
              </a:lnSpc>
              <a:spcAft>
                <a:spcPts val="300"/>
              </a:spcAft>
              <a:defRPr sz="580">
                <a:solidFill>
                  <a:srgbClr val="21242A"/>
                </a:solidFill>
                <a:latin typeface="Microsoft YaHei"/>
              </a:defRPr>
            </a:pPr>
            <a:r>
              <a:t>7.5) \n n=81 64 (52–74) \n 0.004 \n \n \n CRR, % (95% CI) b \n \n \n Unadjusted \n n=138 60 (51.5–68) \n n=87 28 (18.5–38) \n \n \n \n Adjusted a \n n=133 </a:t>
            </a:r>
          </a:p>
          <a:p>
            <a:pPr>
              <a:lnSpc>
                <a:spcPct val="103000"/>
              </a:lnSpc>
              <a:spcAft>
                <a:spcPts val="300"/>
              </a:spcAft>
              <a:defRPr sz="580">
                <a:solidFill>
                  <a:srgbClr val="21242A"/>
                </a:solidFill>
                <a:latin typeface="Microsoft YaHei"/>
              </a:defRPr>
            </a:pPr>
            <a:r>
              <a:t>61 (52.5–70) \n n=81 28 (19–39) \n \n \n \n \n a Patients with rare histologies removed after adjustment; b Excluding patients with ORR/CRR not documented.</a:t>
            </a:r>
          </a:p>
          <a:p>
            <a:pPr>
              <a:lnSpc>
                <a:spcPct val="103000"/>
              </a:lnSpc>
              <a:spcAft>
                <a:spcPts val="300"/>
              </a:spcAft>
              <a:defRPr sz="580">
                <a:solidFill>
                  <a:srgbClr val="21242A"/>
                </a:solidFill>
                <a:latin typeface="Microsoft YaHei"/>
              </a:defRPr>
            </a:pPr>
            <a:r>
              <a:t>\n NE, nonevaluable. \n Table 2.</a:t>
            </a:r>
          </a:p>
          <a:p>
            <a:pPr>
              <a:lnSpc>
                <a:spcPct val="103000"/>
              </a:lnSpc>
              <a:spcAft>
                <a:spcPts val="300"/>
              </a:spcAft>
              <a:defRPr sz="580">
                <a:solidFill>
                  <a:srgbClr val="21242A"/>
                </a:solidFill>
                <a:latin typeface="Microsoft YaHei"/>
              </a:defRPr>
            </a:pPr>
            <a:r>
              <a:t>Adjusted safety outcomes \n \n \n \n Outcome \n Liso-cel (n=154) \n \n BsAb (n=105) \n \n P value \n \n \n CRS, n (%) \n \n \n Yes \n 61 (40) \n 27 (26) \n</a:t>
            </a:r>
          </a:p>
          <a:p>
            <a:pPr>
              <a:lnSpc>
                <a:spcPct val="103000"/>
              </a:lnSpc>
              <a:spcAft>
                <a:spcPts val="300"/>
              </a:spcAft>
              <a:defRPr sz="580">
                <a:solidFill>
                  <a:srgbClr val="21242A"/>
                </a:solidFill>
                <a:latin typeface="Microsoft YaHei"/>
              </a:defRPr>
            </a:pPr>
            <a:r>
              <a:t> 0.02 \n \n \n Grade \n 60 (39) \n 20 (19) \n \n \n \n Grade ≥3 \n 0 \n 3 (3) \n \n \n Unknown \n 1 (1) \n 4 (4) \n \n \n ICANS, n (%) \n \n \n Yes \n 31 (</a:t>
            </a:r>
          </a:p>
          <a:p>
            <a:pPr>
              <a:lnSpc>
                <a:spcPct val="103000"/>
              </a:lnSpc>
              <a:spcAft>
                <a:spcPts val="300"/>
              </a:spcAft>
              <a:defRPr sz="580">
                <a:solidFill>
                  <a:srgbClr val="21242A"/>
                </a:solidFill>
                <a:latin typeface="Microsoft YaHei"/>
              </a:defRPr>
            </a:pPr>
            <a:r>
              <a:t>20) \n 7 (7) \n 0.003 \n \n \n Grade \n 22 (14) \n 3 (3) \n 0.555 \n \n \n Grade ≥3 \n 8 (5) \n 3 (3) \n \n \n Unknown \n 1 (1) \n 1 (1) \n \n \n</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ciloleucel与非ar-t方法在大b细胞淋巴瘤患者二线治疗中的实际结果：一项西班牙多中...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axicabtagene ciloleucel versus non-car-t approaches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N=841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对照/比较：试验组：axicabtagene ciloleucel</a:t>
            </a:r>
          </a:p>
          <a:p>
            <a:pPr>
              <a:lnSpc>
                <a:spcPct val="103000"/>
              </a:lnSpc>
              <a:spcAft>
                <a:spcPts val="300"/>
              </a:spcAft>
              <a:defRPr sz="800">
                <a:solidFill>
                  <a:srgbClr val="21242A"/>
                </a:solidFill>
                <a:latin typeface="Microsoft YaHei"/>
              </a:defRPr>
            </a:pPr>
            <a:r>
              <a:t>对照组1：化疗免疫治疗（适合移植）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12个月OS率：66.3% (95% CI 59.0-74.4) || 中位PFS：12.7个月 (95% CI 10.4-N...</a:t>
            </a:r>
          </a:p>
          <a:p>
            <a:pPr>
              <a:lnSpc>
                <a:spcPct val="103000"/>
              </a:lnSpc>
              <a:spcAft>
                <a:spcPts val="300"/>
              </a:spcAft>
              <a:defRPr sz="800">
                <a:solidFill>
                  <a:srgbClr val="21242A"/>
                </a:solidFill>
                <a:latin typeface="Microsoft YaHei"/>
              </a:defRPr>
            </a:pPr>
            <a:r>
              <a:t>3-4级：4%） || 免疫效应细胞相关神经毒性综合征发生率：47%（2-4级：26%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人数：841</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ciloleucel与非ar-t方法在大b细胞淋巴瘤患者二线治疗中的实际结果：一项西班牙多中...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axicabtagene ciloleucel versus non-car-t approaches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Clinical trials have demonstrated the superiority of anti-CD19 CAR T-cell therapy over standard chemoimmunotherapy (CIT) as second-line (2L) treatme</a:t>
            </a:r>
          </a:p>
          <a:p>
            <a:pPr>
              <a:lnSpc>
                <a:spcPct val="103000"/>
              </a:lnSpc>
              <a:spcAft>
                <a:spcPts val="300"/>
              </a:spcAft>
              <a:defRPr sz="570">
                <a:solidFill>
                  <a:srgbClr val="21242A"/>
                </a:solidFill>
                <a:latin typeface="Microsoft YaHei"/>
              </a:defRPr>
            </a:pPr>
            <a:r>
              <a:t>nt for patients with refractory or early-relapsed large B-cell lymphoma (LBCL).</a:t>
            </a:r>
          </a:p>
          <a:p>
            <a:pPr>
              <a:lnSpc>
                <a:spcPct val="103000"/>
              </a:lnSpc>
              <a:spcAft>
                <a:spcPts val="300"/>
              </a:spcAft>
              <a:defRPr sz="570">
                <a:solidFill>
                  <a:srgbClr val="21242A"/>
                </a:solidFill>
                <a:latin typeface="Microsoft YaHei"/>
              </a:defRPr>
            </a:pPr>
            <a:r>
              <a:t>However, real-world (RW) comparative data remain limited, particularly according to transplant eligibility.</a:t>
            </a:r>
          </a:p>
          <a:p>
            <a:pPr>
              <a:lnSpc>
                <a:spcPct val="103000"/>
              </a:lnSpc>
              <a:spcAft>
                <a:spcPts val="300"/>
              </a:spcAft>
              <a:defRPr sz="570">
                <a:solidFill>
                  <a:srgbClr val="21242A"/>
                </a:solidFill>
                <a:latin typeface="Microsoft YaHei"/>
              </a:defRPr>
            </a:pPr>
            <a:r>
              <a:t>Aims: We aimed to describe RW outcomes of axicabtagene ciloleucel (axi-cel) as 2L treatment for LBCL in Spain and to compare progression-free survival (PFS) and</a:t>
            </a:r>
          </a:p>
          <a:p>
            <a:pPr>
              <a:lnSpc>
                <a:spcPct val="103000"/>
              </a:lnSpc>
              <a:spcAft>
                <a:spcPts val="300"/>
              </a:spcAft>
              <a:defRPr sz="570">
                <a:solidFill>
                  <a:srgbClr val="21242A"/>
                </a:solidFill>
                <a:latin typeface="Microsoft YaHei"/>
              </a:defRPr>
            </a:pPr>
            <a:r>
              <a:t> overall survival (OS) between these patients and a RW cohort (non-CAR-T) treated with 2L CIT, stratified by transplant eligibility.</a:t>
            </a:r>
          </a:p>
          <a:p>
            <a:pPr>
              <a:lnSpc>
                <a:spcPct val="103000"/>
              </a:lnSpc>
              <a:spcAft>
                <a:spcPts val="300"/>
              </a:spcAft>
              <a:defRPr sz="570">
                <a:solidFill>
                  <a:srgbClr val="21242A"/>
                </a:solidFill>
                <a:latin typeface="Microsoft YaHei"/>
              </a:defRPr>
            </a:pPr>
            <a:r>
              <a:t>Methods: We conducted a retrospective, multicenter, RW study including patients with LBCL receiving 2L treatment in Spain.</a:t>
            </a:r>
          </a:p>
          <a:p>
            <a:pPr>
              <a:lnSpc>
                <a:spcPct val="103000"/>
              </a:lnSpc>
              <a:spcAft>
                <a:spcPts val="300"/>
              </a:spcAft>
              <a:defRPr sz="570">
                <a:solidFill>
                  <a:srgbClr val="21242A"/>
                </a:solidFill>
                <a:latin typeface="Microsoft YaHei"/>
              </a:defRPr>
            </a:pPr>
            <a:r>
              <a:t>The CAR-T cohort comprised patients treated with axi-cel (03/2024 to 12/2025), while the non-CAR-T cohort included patients treated with CIT from a large retros</a:t>
            </a:r>
          </a:p>
          <a:p>
            <a:pPr>
              <a:lnSpc>
                <a:spcPct val="103000"/>
              </a:lnSpc>
              <a:spcAft>
                <a:spcPts val="300"/>
              </a:spcAft>
              <a:defRPr sz="570">
                <a:solidFill>
                  <a:srgbClr val="21242A"/>
                </a:solidFill>
                <a:latin typeface="Microsoft YaHei"/>
              </a:defRPr>
            </a:pPr>
            <a:r>
              <a:t>pective GELTAMO dataset (01/2013 to 12/2023), encompassing both transplant-eligible (T-E) and transplant-ineligible (T-I) patients.</a:t>
            </a:r>
          </a:p>
          <a:p>
            <a:pPr>
              <a:lnSpc>
                <a:spcPct val="103000"/>
              </a:lnSpc>
              <a:spcAft>
                <a:spcPts val="300"/>
              </a:spcAft>
              <a:defRPr sz="570">
                <a:solidFill>
                  <a:srgbClr val="21242A"/>
                </a:solidFill>
                <a:latin typeface="Microsoft YaHei"/>
              </a:defRPr>
            </a:pPr>
            <a:r>
              <a:t>Propensity score matching was applied to balance baseline clinical characteristics between cohorts (gender, age, refractoriness, histology, IPI and stage).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large RW Spanish cohort, axi-cel as 2L showed high response rates, favourable survival, and manageable safety.</a:t>
            </a:r>
          </a:p>
          <a:p>
            <a:pPr>
              <a:lnSpc>
                <a:spcPct val="103000"/>
              </a:lnSpc>
              <a:spcAft>
                <a:spcPts val="300"/>
              </a:spcAft>
              <a:defRPr sz="590">
                <a:solidFill>
                  <a:srgbClr val="21242A"/>
                </a:solidFill>
                <a:latin typeface="Microsoft YaHei"/>
              </a:defRPr>
            </a:pPr>
            <a:r>
              <a:t>After adjustment, axi-cel provided a clinically meaningful PFS advantage over CIT in both T-E and T-I patients.</a:t>
            </a:r>
          </a:p>
          <a:p>
            <a:pPr>
              <a:lnSpc>
                <a:spcPct val="103000"/>
              </a:lnSpc>
              <a:spcAft>
                <a:spcPts val="300"/>
              </a:spcAft>
              <a:defRPr sz="590">
                <a:solidFill>
                  <a:srgbClr val="21242A"/>
                </a:solidFill>
                <a:latin typeface="Microsoft YaHei"/>
              </a:defRPr>
            </a:pPr>
            <a:r>
              <a:t>An OS benefit was seen in T-I, while in T-E it may have been mitigated by subsequent CAR-T use in ≥3L.</a:t>
            </a:r>
          </a:p>
          <a:p>
            <a:pPr>
              <a:lnSpc>
                <a:spcPct val="103000"/>
              </a:lnSpc>
              <a:spcAft>
                <a:spcPts val="300"/>
              </a:spcAft>
              <a:defRPr sz="590">
                <a:solidFill>
                  <a:srgbClr val="21242A"/>
                </a:solidFill>
                <a:latin typeface="Microsoft YaHei"/>
              </a:defRPr>
            </a:pPr>
            <a:r>
              <a:t>These findings support CAR-T as an effective 2L strategy for LBCL in routine practice.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37490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374904">
                <a:tc>
                  <a:txBody>
                    <a:bodyPr wrap="square" lIns="36576" rIns="36576" tIns="18288" bIns="18288"/>
                    <a:lstStyle/>
                    <a:p>
                      <a:r>
                        <a:rPr sz="540" b="1">
                          <a:solidFill>
                            <a:srgbClr val="21242A"/>
                          </a:solidFill>
                          <a:latin typeface="Microsoft YaHei"/>
                        </a:rPr>
                        <a:t>12个月OS率</a:t>
                      </a:r>
                    </a:p>
                  </a:txBody>
                  <a:tcPr>
                    <a:solidFill>
                      <a:srgbClr val="F6F8FB"/>
                    </a:solidFill>
                  </a:tcPr>
                </a:tc>
                <a:tc>
                  <a:txBody>
                    <a:bodyPr wrap="square" lIns="36576" rIns="36576" tIns="18288" bIns="18288"/>
                    <a:lstStyle/>
                    <a:p>
                      <a:r>
                        <a:rPr sz="540" b="0">
                          <a:solidFill>
                            <a:srgbClr val="21242A"/>
                          </a:solidFill>
                          <a:latin typeface="Microsoft YaHei"/>
                        </a:rPr>
                        <a:t>66.3% (95% CI 59.0-74.4) || 中位PFS：12.7个月 (95% CI 10.4-NR) || 12个月PFS率：53.8% (95% CI 47.0-61.7) || 总体缓解率：81.3% || 完全缓解率：...</a:t>
                      </a:r>
                    </a:p>
                  </a:txBody>
                  <a:tcPr>
                    <a:solidFill>
                      <a:srgbClr val="F6F8FB"/>
                    </a:solidFill>
                  </a:tcPr>
                </a:tc>
              </a:tr>
              <a:tr h="374904">
                <a:tc>
                  <a:txBody>
                    <a:bodyPr wrap="square" lIns="36576" rIns="36576" tIns="18288" bIns="18288"/>
                    <a:lstStyle/>
                    <a:p>
                      <a:r>
                        <a:rPr sz="540" b="1">
                          <a:solidFill>
                            <a:srgbClr val="21242A"/>
                          </a:solidFill>
                          <a:latin typeface="Microsoft YaHei"/>
                        </a:rPr>
                        <a:t>3-4级</a:t>
                      </a:r>
                    </a:p>
                  </a:txBody>
                  <a:tcPr>
                    <a:solidFill>
                      <a:srgbClr val="FFFFFF"/>
                    </a:solidFill>
                  </a:tcPr>
                </a:tc>
                <a:tc>
                  <a:txBody>
                    <a:bodyPr wrap="square" lIns="36576" rIns="36576" tIns="18288" bIns="18288"/>
                    <a:lstStyle/>
                    <a:p>
                      <a:r>
                        <a:rPr sz="540" b="0">
                          <a:solidFill>
                            <a:srgbClr val="21242A"/>
                          </a:solidFill>
                          <a:latin typeface="Microsoft YaHei"/>
                        </a:rPr>
                        <a:t>4%） || 免疫效应细胞相关神经毒性综合征发生率：47%（2-4级：26%</a:t>
                      </a:r>
                    </a:p>
                  </a:txBody>
                  <a:tcPr>
                    <a:solidFill>
                      <a:srgbClr val="FFFFFF"/>
                    </a:solidFill>
                  </a:tcPr>
                </a:tc>
              </a:tr>
              <a:tr h="374904">
                <a:tc>
                  <a:txBody>
                    <a:bodyPr wrap="square" lIns="36576" rIns="36576" tIns="18288" bIns="18288"/>
                    <a:lstStyle/>
                    <a:p>
                      <a:r>
                        <a:rPr sz="540" b="1">
                          <a:solidFill>
                            <a:srgbClr val="21242A"/>
                          </a:solidFill>
                          <a:latin typeface="Microsoft YaHei"/>
                        </a:rPr>
                        <a:t>3-4级</a:t>
                      </a:r>
                    </a:p>
                  </a:txBody>
                  <a:tcPr>
                    <a:solidFill>
                      <a:srgbClr val="F6F8FB"/>
                    </a:solidFill>
                  </a:tcPr>
                </a:tc>
                <a:tc>
                  <a:txBody>
                    <a:bodyPr wrap="square" lIns="36576" rIns="36576" tIns="18288" bIns="18288"/>
                    <a:lstStyle/>
                    <a:p>
                      <a:r>
                        <a:rPr sz="540" b="0">
                          <a:solidFill>
                            <a:srgbClr val="21242A"/>
                          </a:solidFill>
                          <a:latin typeface="Microsoft YaHei"/>
                        </a:rPr>
                        <a:t>12.5%） || 移植适合患者中位PFS：axi-cel组未达到 vs CIT组4.60个月 (HR 2.06) || 移植不适合患者中位PFS：axi-cel组未达到 vs CIT组2.50个月 (HR 2.84)</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摘要号：PF976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相同的人工智能，不同的医生：专业知识决定对淋巴瘤治疗建议的反应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same ai, different doctors: expertise determines response to treatment recomm...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PF1431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研究设计描述：same ai, different doctors: expertise determines respons...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LLM可接受性：83% (95% CI: 74.5-89.1%)</a:t>
            </a:r>
          </a:p>
          <a:p>
            <a:pPr>
              <a:lnSpc>
                <a:spcPct val="103000"/>
              </a:lnSpc>
              <a:spcAft>
                <a:spcPts val="300"/>
              </a:spcAft>
              <a:defRPr sz="800">
                <a:solidFill>
                  <a:srgbClr val="21242A"/>
                </a:solidFill>
                <a:latin typeface="Microsoft YaHei"/>
              </a:defRPr>
            </a:pPr>
            <a:r>
              <a:t>LS拒绝而GH接受的建议：8个（16%），GH拒绝而LS接受的建议：1个（2%）（McNemar p=0.039）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研究类型：研究设计描述</a:t>
            </a:r>
          </a:p>
          <a:p>
            <a:pPr>
              <a:lnSpc>
                <a:spcPct val="103000"/>
              </a:lnSpc>
              <a:spcAft>
                <a:spcPts val="300"/>
              </a:spcAft>
              <a:defRPr sz="810">
                <a:solidFill>
                  <a:srgbClr val="21242A"/>
                </a:solidFill>
                <a:latin typeface="Microsoft YaHei"/>
              </a:defRPr>
            </a:pPr>
            <a:r>
              <a:t>人数：50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研究主题：same ai, different doctors: expertise determines response to treatment recommendations in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相同的人工智能，不同的医生：专业知识决定对淋巴瘤治疗建议的反应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same ai, different doctors: expertise determines response to treatment recomm...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PF1431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Relapsed/refractory DLBCL management involves rapidly evolving therapies (CAR-T, bispecific antibodies, ADCs) often lacking comparative evidence.</a:t>
            </a:r>
          </a:p>
          <a:p>
            <a:pPr>
              <a:lnSpc>
                <a:spcPct val="103000"/>
              </a:lnSpc>
              <a:spcAft>
                <a:spcPts val="300"/>
              </a:spcAft>
              <a:defRPr sz="570">
                <a:solidFill>
                  <a:srgbClr val="21242A"/>
                </a:solidFill>
                <a:latin typeface="Microsoft YaHei"/>
              </a:defRPr>
            </a:pPr>
            <a:r>
              <a:t>LLMs are explored as decision-support tools, yet their clinical acceptability and influence on physicians with varying expertise remain poorly characterized.</a:t>
            </a:r>
          </a:p>
          <a:p>
            <a:pPr>
              <a:lnSpc>
                <a:spcPct val="103000"/>
              </a:lnSpc>
              <a:spcAft>
                <a:spcPts val="300"/>
              </a:spcAft>
              <a:defRPr sz="570">
                <a:solidFill>
                  <a:srgbClr val="21242A"/>
                </a:solidFill>
                <a:latin typeface="Microsoft YaHei"/>
              </a:defRPr>
            </a:pPr>
            <a:r>
              <a:t>While LLMs achieve high scores on medical benchmarks, their readiness for clinical deployment remains uncertain.</a:t>
            </a:r>
          </a:p>
          <a:p>
            <a:pPr>
              <a:lnSpc>
                <a:spcPct val="103000"/>
              </a:lnSpc>
              <a:spcAft>
                <a:spcPts val="300"/>
              </a:spcAft>
              <a:defRPr sz="570">
                <a:solidFill>
                  <a:srgbClr val="21242A"/>
                </a:solidFill>
                <a:latin typeface="Microsoft YaHei"/>
              </a:defRPr>
            </a:pPr>
            <a:r>
              <a:t>Aims: To evaluate clinical acceptability of LLM-generated R/R DLBCL treatment recommendations, assess their influence on hematologist decision-making, and chara</a:t>
            </a:r>
          </a:p>
          <a:p>
            <a:pPr>
              <a:lnSpc>
                <a:spcPct val="103000"/>
              </a:lnSpc>
              <a:spcAft>
                <a:spcPts val="300"/>
              </a:spcAft>
              <a:defRPr sz="570">
                <a:solidFill>
                  <a:srgbClr val="21242A"/>
                </a:solidFill>
                <a:latin typeface="Microsoft YaHei"/>
              </a:defRPr>
            </a:pPr>
            <a:r>
              <a:t>cterize patterns of unacceptable recommendations.</a:t>
            </a:r>
          </a:p>
          <a:p>
            <a:pPr>
              <a:lnSpc>
                <a:spcPct val="103000"/>
              </a:lnSpc>
              <a:spcAft>
                <a:spcPts val="300"/>
              </a:spcAft>
              <a:defRPr sz="570">
                <a:solidFill>
                  <a:srgbClr val="21242A"/>
                </a:solidFill>
                <a:latin typeface="Microsoft YaHei"/>
              </a:defRPr>
            </a:pPr>
            <a:r>
              <a:t>Methods: We developed \"Ariadne\", a RAG-augmented LLM with curated R/R DLBCL treatment database and guidelines.</a:t>
            </a:r>
          </a:p>
          <a:p>
            <a:pPr>
              <a:lnSpc>
                <a:spcPct val="103000"/>
              </a:lnSpc>
              <a:spcAft>
                <a:spcPts val="300"/>
              </a:spcAft>
              <a:defRPr sz="570">
                <a:solidFill>
                  <a:srgbClr val="21242A"/>
                </a:solidFill>
                <a:latin typeface="Microsoft YaHei"/>
              </a:defRPr>
            </a:pPr>
            <a:r>
              <a:t>Fifty validated cases were evaluated by paired Lymphoma Subspecialists (LS) and General Hematologists (GH) (100 evaluations).</a:t>
            </a:r>
          </a:p>
          <a:p>
            <a:pPr>
              <a:lnSpc>
                <a:spcPct val="103000"/>
              </a:lnSpc>
              <a:spcAft>
                <a:spcPts val="300"/>
              </a:spcAft>
              <a:defRPr sz="570">
                <a:solidFill>
                  <a:srgbClr val="21242A"/>
                </a:solidFill>
                <a:latin typeface="Microsoft YaHei"/>
              </a:defRPr>
            </a:pPr>
            <a:r>
              <a:t>Experts provided treatment recommendations, reviewed LLM outputs, and rated acceptability. Rejection reasons were collected.</a:t>
            </a:r>
          </a:p>
          <a:p>
            <a:pPr>
              <a:lnSpc>
                <a:spcPct val="103000"/>
              </a:lnSpc>
              <a:spcAft>
                <a:spcPts val="300"/>
              </a:spcAft>
              <a:defRPr sz="570">
                <a:solidFill>
                  <a:srgbClr val="21242A"/>
                </a:solidFill>
                <a:latin typeface="Microsoft YaHei"/>
              </a:defRPr>
            </a:pPr>
            <a:r>
              <a:t>Analysis used GEE with cluster-robust standard errors.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RAG-enhanced LLMs achieved 83% acceptability in R/R DLBCL recommendations, comparable to their performance on health benchmarks.</a:t>
            </a:r>
          </a:p>
          <a:p>
            <a:pPr>
              <a:lnSpc>
                <a:spcPct val="103000"/>
              </a:lnSpc>
              <a:spcAft>
                <a:spcPts val="300"/>
              </a:spcAft>
              <a:defRPr sz="590">
                <a:solidFill>
                  <a:srgbClr val="21242A"/>
                </a:solidFill>
                <a:latin typeface="Microsoft YaHei"/>
              </a:defRPr>
            </a:pPr>
            <a:r>
              <a:t>However, important limitations challenge clinical deployment readiness.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LLM achieved 83% acceptability (95% CI: 74.5-89.1%).</a:t>
            </a:r>
          </a:p>
          <a:p>
            <a:pPr>
              <a:lnSpc>
                <a:spcPct val="103000"/>
              </a:lnSpc>
              <a:spcAft>
                <a:spcPts val="300"/>
              </a:spcAft>
              <a:defRPr sz="580">
                <a:solidFill>
                  <a:srgbClr val="21242A"/>
                </a:solidFill>
                <a:latin typeface="Microsoft YaHei"/>
              </a:defRPr>
            </a:pPr>
            <a:r>
              <a:t>Concordance analysis revealed asymmetry: LS rejected 8 recommendations (16%) that GH accepted versus 1 (2%) reverse (McNemar p=0.039).</a:t>
            </a:r>
          </a:p>
          <a:p>
            <a:pPr>
              <a:lnSpc>
                <a:spcPct val="103000"/>
              </a:lnSpc>
              <a:spcAft>
                <a:spcPts val="300"/>
              </a:spcAft>
              <a:defRPr sz="580">
                <a:solidFill>
                  <a:srgbClr val="21242A"/>
                </a:solidFill>
                <a:latin typeface="Microsoft YaHei"/>
              </a:defRPr>
            </a:pPr>
            <a:r>
              <a:t>Behavioral influence differed markedly: GH modified recommendations significantly more than LS (32% vs 6%, p=0.002), a 5-fold difference.</a:t>
            </a:r>
          </a:p>
          <a:p>
            <a:pPr>
              <a:lnSpc>
                <a:spcPct val="103000"/>
              </a:lnSpc>
              <a:spcAft>
                <a:spcPts val="300"/>
              </a:spcAft>
              <a:defRPr sz="580">
                <a:solidFill>
                  <a:srgbClr val="21242A"/>
                </a:solidFill>
                <a:latin typeface="Microsoft YaHei"/>
              </a:defRPr>
            </a:pPr>
            <a:r>
              <a:t>Conclusion: RAG-enhanced LLMs achieved 83% acceptability in R/R DLBCL recommendations, comparable to their performance on health benchmarks.</a:t>
            </a:r>
          </a:p>
          <a:p>
            <a:pPr>
              <a:lnSpc>
                <a:spcPct val="103000"/>
              </a:lnSpc>
              <a:spcAft>
                <a:spcPts val="300"/>
              </a:spcAft>
              <a:defRPr sz="580">
                <a:solidFill>
                  <a:srgbClr val="21242A"/>
                </a:solidFill>
                <a:latin typeface="Microsoft YaHei"/>
              </a:defRPr>
            </a:pPr>
            <a:r>
              <a:t>However, important limitations challenge clinical deployment readiness.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摘要号：PF1431</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患者分布：低剥夺组58人（28.9%），中剥夺组102人（50.7%），高剥夺组41人（20.4%）。</a:t>
            </a:r>
          </a:p>
          <a:p>
            <a:pPr>
              <a:lnSpc>
                <a:spcPct val="103000"/>
              </a:lnSpc>
              <a:spcAft>
                <a:spcPts val="300"/>
              </a:spcAft>
              <a:defRPr sz="800">
                <a:solidFill>
                  <a:srgbClr val="21242A"/>
                </a:solidFill>
                <a:latin typeface="Microsoft YaHei"/>
              </a:defRPr>
            </a:pPr>
            <a:r>
              <a:t>种族分布：白人166人（89.2%），亚裔15人（8.1%），黑人5人（2.7%），18人未知。</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人数：204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We previously showed that for large B cell lymphoma (LBCL) patients treated with 3 rd line (3L) CD19 CAR-T at three UK National Health Service (NHS)</a:t>
            </a:r>
          </a:p>
          <a:p>
            <a:pPr>
              <a:lnSpc>
                <a:spcPct val="103000"/>
              </a:lnSpc>
              <a:spcAft>
                <a:spcPts val="300"/>
              </a:spcAft>
              <a:defRPr sz="570">
                <a:solidFill>
                  <a:srgbClr val="21242A"/>
                </a:solidFill>
                <a:latin typeface="Microsoft YaHei"/>
              </a:defRPr>
            </a:pPr>
            <a:r>
              <a:t> CAR-T centres in 2019-2022, 25% of patients travelled &gt;100km; and that the most deprived patients experienced poorer survival, driven by higher rates of pre-in</a:t>
            </a:r>
          </a:p>
          <a:p>
            <a:pPr>
              <a:lnSpc>
                <a:spcPct val="103000"/>
              </a:lnSpc>
              <a:spcAft>
                <a:spcPts val="300"/>
              </a:spcAft>
              <a:defRPr sz="570">
                <a:solidFill>
                  <a:srgbClr val="21242A"/>
                </a:solidFill>
                <a:latin typeface="Microsoft YaHei"/>
              </a:defRPr>
            </a:pPr>
            <a:r>
              <a:t>fusion drop-out and COVID-19 death (Dragoi et al, BJHaem, 2025).</a:t>
            </a:r>
          </a:p>
          <a:p>
            <a:pPr>
              <a:lnSpc>
                <a:spcPct val="103000"/>
              </a:lnSpc>
              <a:spcAft>
                <a:spcPts val="300"/>
              </a:spcAft>
              <a:defRPr sz="570">
                <a:solidFill>
                  <a:srgbClr val="21242A"/>
                </a:solidFill>
                <a:latin typeface="Microsoft YaHei"/>
              </a:defRPr>
            </a:pPr>
            <a:r>
              <a:t>Aims: We aimed to evaluate the impact of distance to CAR-T centre, socio-economic deprivation, and ethnicity on LBCL outcomes following 2L CAR-T in the UK.</a:t>
            </a:r>
          </a:p>
          <a:p>
            <a:pPr>
              <a:lnSpc>
                <a:spcPct val="103000"/>
              </a:lnSpc>
              <a:spcAft>
                <a:spcPts val="300"/>
              </a:spcAft>
              <a:defRPr sz="570">
                <a:solidFill>
                  <a:srgbClr val="21242A"/>
                </a:solidFill>
                <a:latin typeface="Microsoft YaHei"/>
              </a:defRPr>
            </a:pPr>
            <a:r>
              <a:t>\n \n</a:t>
            </a:r>
          </a:p>
          <a:p>
            <a:pPr>
              <a:lnSpc>
                <a:spcPct val="103000"/>
              </a:lnSpc>
              <a:spcAft>
                <a:spcPts val="300"/>
              </a:spcAft>
              <a:defRPr sz="570">
                <a:solidFill>
                  <a:srgbClr val="21242A"/>
                </a:solidFill>
                <a:latin typeface="Microsoft YaHei"/>
              </a:defRPr>
            </a:pPr>
            <a:r>
              <a:t>Methods: We analysed these factors in a cohort of 204 patients approved for 2L axicabtagene ciloleucel at eight CAR-T centres in England between May 2023 and No</a:t>
            </a:r>
          </a:p>
          <a:p>
            <a:pPr>
              <a:lnSpc>
                <a:spcPct val="103000"/>
              </a:lnSpc>
              <a:spcAft>
                <a:spcPts val="300"/>
              </a:spcAft>
              <a:defRPr sz="570">
                <a:solidFill>
                  <a:srgbClr val="21242A"/>
                </a:solidFill>
                <a:latin typeface="Microsoft YaHei"/>
              </a:defRPr>
            </a:pPr>
            <a:r>
              <a:t>vember 2024, with median follow-up of 16.4 months (IQR 12.0-20.1).</a:t>
            </a:r>
          </a:p>
          <a:p>
            <a:pPr>
              <a:lnSpc>
                <a:spcPct val="103000"/>
              </a:lnSpc>
              <a:spcAft>
                <a:spcPts val="300"/>
              </a:spcAft>
              <a:defRPr sz="570">
                <a:solidFill>
                  <a:srgbClr val="21242A"/>
                </a:solidFill>
                <a:latin typeface="Microsoft YaHei"/>
              </a:defRPr>
            </a:pPr>
            <a:r>
              <a:t>Postcode-level data on deprivation were derived using the English “Index of Multiple Deprivation” (IMD) 2019, with patients grouped by high (IMD 1-3), intermedi</a:t>
            </a:r>
          </a:p>
          <a:p>
            <a:pPr>
              <a:lnSpc>
                <a:spcPct val="103000"/>
              </a:lnSpc>
              <a:spcAft>
                <a:spcPts val="300"/>
              </a:spcAft>
              <a:defRPr sz="570">
                <a:solidFill>
                  <a:srgbClr val="21242A"/>
                </a:solidFill>
                <a:latin typeface="Microsoft YaHei"/>
              </a:defRPr>
            </a:pPr>
            <a:r>
              <a:t>ate (IMD 4-7) and low (IMD 8-10) deprivation.</a:t>
            </a:r>
          </a:p>
          <a:p>
            <a:pPr>
              <a:lnSpc>
                <a:spcPct val="103000"/>
              </a:lnSpc>
              <a:spcAft>
                <a:spcPts val="300"/>
              </a:spcAft>
              <a:defRPr sz="570">
                <a:solidFill>
                  <a:srgbClr val="21242A"/>
                </a:solidFill>
                <a:latin typeface="Microsoft YaHei"/>
              </a:defRPr>
            </a:pPr>
            <a:r>
              <a:t>\n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data suggest similar outcomes for patients receiving 2L axi-cel irrespective of socio-economic deprivation, ethnicity or distance to centre in a diverse UK </a:t>
            </a:r>
          </a:p>
          <a:p>
            <a:pPr>
              <a:lnSpc>
                <a:spcPct val="103000"/>
              </a:lnSpc>
              <a:spcAft>
                <a:spcPts val="300"/>
              </a:spcAft>
              <a:defRPr sz="590">
                <a:solidFill>
                  <a:srgbClr val="21242A"/>
                </a:solidFill>
                <a:latin typeface="Microsoft YaHei"/>
              </a:defRPr>
            </a:pPr>
            <a:r>
              <a:t>cohort, contrasting with findings at 3L.</a:t>
            </a:r>
          </a:p>
          <a:p>
            <a:pPr>
              <a:lnSpc>
                <a:spcPct val="103000"/>
              </a:lnSpc>
              <a:spcAft>
                <a:spcPts val="300"/>
              </a:spcAft>
              <a:defRPr sz="590">
                <a:solidFill>
                  <a:srgbClr val="21242A"/>
                </a:solidFill>
                <a:latin typeface="Microsoft YaHei"/>
              </a:defRPr>
            </a:pPr>
            <a:r>
              <a:t>Moving CAR-T to earlier treatment line, more pro-active bridging strategies, and the decline in the COVID-19 pandemic, may have helped mitigate competing risks </a:t>
            </a:r>
          </a:p>
          <a:p>
            <a:pPr>
              <a:lnSpc>
                <a:spcPct val="103000"/>
              </a:lnSpc>
              <a:spcAft>
                <a:spcPts val="300"/>
              </a:spcAft>
              <a:defRPr sz="590">
                <a:solidFill>
                  <a:srgbClr val="21242A"/>
                </a:solidFill>
                <a:latin typeface="Microsoft YaHei"/>
              </a:defRPr>
            </a:pPr>
            <a:r>
              <a:t>felt by more deprived patients; although deprivation, ethnicity and distance may impact on patient experience and outcomes in ways not captured here.</a:t>
            </a:r>
          </a:p>
          <a:p>
            <a:pPr>
              <a:lnSpc>
                <a:spcPct val="103000"/>
              </a:lnSpc>
              <a:spcAft>
                <a:spcPts val="300"/>
              </a:spcAft>
              <a:defRPr sz="590">
                <a:solidFill>
                  <a:srgbClr val="21242A"/>
                </a:solidFill>
                <a:latin typeface="Microsoft YaHei"/>
              </a:defRPr>
            </a:pPr>
            <a:r>
              <a:t>Furthermore, the effect of these factors on rate of referral for CAR-T was not examined and warrants separate analysis.</a:t>
            </a:r>
          </a:p>
          <a:p>
            <a:pPr>
              <a:lnSpc>
                <a:spcPct val="103000"/>
              </a:lnSpc>
              <a:spcAft>
                <a:spcPts val="300"/>
              </a:spcAft>
              <a:defRPr sz="590">
                <a:solidFill>
                  <a:srgbClr val="21242A"/>
                </a:solidFill>
                <a:latin typeface="Microsoft YaHei"/>
              </a:defRPr>
            </a:pPr>
            <a:r>
              <a:t>We saw fewer patients travelling &gt;100km - attributable to an increase in the number of UK CAR-T centres - but for those still facing this barrier, outcomes were</a:t>
            </a:r>
          </a:p>
          <a:p>
            <a:pPr>
              <a:lnSpc>
                <a:spcPct val="103000"/>
              </a:lnSpc>
              <a:spcAft>
                <a:spcPts val="300"/>
              </a:spcAft>
              <a:defRPr sz="590">
                <a:solidFill>
                  <a:srgbClr val="21242A"/>
                </a:solidFill>
                <a:latin typeface="Microsoft YaHei"/>
              </a:defRPr>
            </a:pPr>
            <a:r>
              <a:t> equivalent, underlining that they should still be offered CAR-T and the necessary support to travel.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distribution by deprivation was: 58 Low (28.9%), 102 Medium (50.7%), and 41 High (20.4%).</a:t>
            </a:r>
          </a:p>
          <a:p>
            <a:pPr>
              <a:lnSpc>
                <a:spcPct val="103000"/>
              </a:lnSpc>
              <a:spcAft>
                <a:spcPts val="300"/>
              </a:spcAft>
              <a:defRPr sz="580">
                <a:solidFill>
                  <a:srgbClr val="21242A"/>
                </a:solidFill>
                <a:latin typeface="Microsoft YaHei"/>
              </a:defRPr>
            </a:pPr>
            <a:r>
              <a:t>The distribution by ethnicity was: 166 White (89.2%), 15 Asian (8.1%), 5 Black (2.7%) (18 Unknown).</a:t>
            </a:r>
          </a:p>
          <a:p>
            <a:pPr>
              <a:lnSpc>
                <a:spcPct val="103000"/>
              </a:lnSpc>
              <a:spcAft>
                <a:spcPts val="300"/>
              </a:spcAft>
              <a:defRPr sz="580">
                <a:solidFill>
                  <a:srgbClr val="21242A"/>
                </a:solidFill>
                <a:latin typeface="Microsoft YaHei"/>
              </a:defRPr>
            </a:pPr>
            <a:r>
              <a:t>There was a trend to greater proportion of ethnic minority patients from more deprived areas (Low 7.3%, Medium 10.6%, High 17.5%, p=0.14).</a:t>
            </a:r>
          </a:p>
          <a:p>
            <a:pPr>
              <a:lnSpc>
                <a:spcPct val="103000"/>
              </a:lnSpc>
              <a:spcAft>
                <a:spcPts val="300"/>
              </a:spcAft>
              <a:defRPr sz="580">
                <a:solidFill>
                  <a:srgbClr val="21242A"/>
                </a:solidFill>
                <a:latin typeface="Microsoft YaHei"/>
              </a:defRPr>
            </a:pPr>
            <a:r>
              <a:t>Patients from the most deprived areas travelled less for CAR-T (median distance by IMD: Low 42.6km, Medium 43.1km, High 29.6km, p=0.026), likely reflecting</a:t>
            </a:r>
          </a:p>
          <a:p>
            <a:pPr>
              <a:lnSpc>
                <a:spcPct val="103000"/>
              </a:lnSpc>
              <a:spcAft>
                <a:spcPts val="300"/>
              </a:spcAft>
              <a:defRPr sz="580">
                <a:solidFill>
                  <a:srgbClr val="21242A"/>
                </a:solidFill>
                <a:latin typeface="Microsoft YaHei"/>
              </a:defRPr>
            </a:pPr>
            <a:r>
              <a:t> the inner-city location of most centres.</a:t>
            </a:r>
          </a:p>
          <a:p>
            <a:pPr>
              <a:lnSpc>
                <a:spcPct val="103000"/>
              </a:lnSpc>
              <a:spcAft>
                <a:spcPts val="300"/>
              </a:spcAft>
              <a:defRPr sz="580">
                <a:solidFill>
                  <a:srgbClr val="21242A"/>
                </a:solidFill>
                <a:latin typeface="Microsoft YaHei"/>
              </a:defRPr>
            </a:pPr>
            <a:r>
              <a:t>8% of patients travelled &gt;100km.</a:t>
            </a:r>
          </a:p>
          <a:p>
            <a:pPr>
              <a:lnSpc>
                <a:spcPct val="103000"/>
              </a:lnSpc>
              <a:spcAft>
                <a:spcPts val="300"/>
              </a:spcAft>
              <a:defRPr sz="580">
                <a:solidFill>
                  <a:srgbClr val="21242A"/>
                </a:solidFill>
                <a:latin typeface="Microsoft YaHei"/>
              </a:defRPr>
            </a:pPr>
            <a:r>
              <a:t>\n There were no significant differences in baseline characteristics (including age, stage, LDH, bulk, IPI) according to deprivation.</a:t>
            </a:r>
          </a:p>
          <a:p>
            <a:pPr>
              <a:lnSpc>
                <a:spcPct val="103000"/>
              </a:lnSpc>
              <a:spcAft>
                <a:spcPts val="300"/>
              </a:spcAft>
              <a:defRPr sz="580">
                <a:solidFill>
                  <a:srgbClr val="21242A"/>
                </a:solidFill>
                <a:latin typeface="Microsoft YaHei"/>
              </a:defRPr>
            </a:pPr>
            <a:r>
              <a:t>94.7% of patients received bridging therapy, with no significant differences by deprivation.</a:t>
            </a:r>
          </a:p>
          <a:p>
            <a:pPr>
              <a:lnSpc>
                <a:spcPct val="103000"/>
              </a:lnSpc>
              <a:spcAft>
                <a:spcPts val="300"/>
              </a:spcAft>
              <a:defRPr sz="580">
                <a:solidFill>
                  <a:srgbClr val="21242A"/>
                </a:solidFill>
                <a:latin typeface="Microsoft YaHei"/>
              </a:defRPr>
            </a:pPr>
            <a:r>
              <a:t>Importantly, there were no differences in vein-to-vein time, or drop-out rate by deprivation (92.0% infused for whole cohort).</a:t>
            </a:r>
          </a:p>
          <a:p>
            <a:pPr>
              <a:lnSpc>
                <a:spcPct val="103000"/>
              </a:lnSpc>
              <a:spcAft>
                <a:spcPts val="300"/>
              </a:spcAft>
              <a:defRPr sz="580">
                <a:solidFill>
                  <a:srgbClr val="21242A"/>
                </a:solidFill>
                <a:latin typeface="Microsoft YaHei"/>
              </a:defRPr>
            </a:pPr>
            <a:r>
              <a:t>\n In the low deprivation group, there was a trend to superior response to bridging (overall response rate by IMD: Low 68.0%, Medium 43.1%, High 44.1%, p=0</a:t>
            </a:r>
          </a:p>
          <a:p>
            <a:pPr>
              <a:lnSpc>
                <a:spcPct val="103000"/>
              </a:lnSpc>
              <a:spcAft>
                <a:spcPts val="300"/>
              </a:spcAft>
              <a:defRPr sz="580">
                <a:solidFill>
                  <a:srgbClr val="21242A"/>
                </a:solidFill>
                <a:latin typeface="Microsoft YaHei"/>
              </a:defRPr>
            </a:pPr>
            <a:r>
              <a:t>.099), and more grade 3+ CRS events (% by IMD: Low 9.4%, Medium 3.2%, High 0%, p=0.024); but no significant difference in grade 3+ ICANS, tocilizumab/stero</a:t>
            </a:r>
          </a:p>
          <a:p>
            <a:pPr>
              <a:lnSpc>
                <a:spcPct val="103000"/>
              </a:lnSpc>
              <a:spcAft>
                <a:spcPts val="300"/>
              </a:spcAft>
              <a:defRPr sz="580">
                <a:solidFill>
                  <a:srgbClr val="21242A"/>
                </a:solidFill>
                <a:latin typeface="Microsoft YaHei"/>
              </a:defRPr>
            </a:pPr>
            <a:r>
              <a:t>id use or ICU admission.</a:t>
            </a:r>
          </a:p>
          <a:p>
            <a:pPr>
              <a:lnSpc>
                <a:spcPct val="103000"/>
              </a:lnSpc>
              <a:spcAft>
                <a:spcPts val="300"/>
              </a:spcAft>
              <a:defRPr sz="580">
                <a:solidFill>
                  <a:srgbClr val="21242A"/>
                </a:solidFill>
                <a:latin typeface="Microsoft YaHei"/>
              </a:defRPr>
            </a:pPr>
            <a:r>
              <a:t>There were no significant differences in complete metabolic response rate, PFS/OS, or non-relapse mortality by deprivation.</a:t>
            </a:r>
          </a:p>
          <a:p>
            <a:pPr>
              <a:lnSpc>
                <a:spcPct val="103000"/>
              </a:lnSpc>
              <a:spcAft>
                <a:spcPts val="300"/>
              </a:spcAft>
              <a:defRPr sz="580">
                <a:solidFill>
                  <a:srgbClr val="21242A"/>
                </a:solidFill>
                <a:latin typeface="Microsoft YaHei"/>
              </a:defRPr>
            </a:pPr>
            <a:r>
              <a:t>There were no significant differences in toxicity / efficacy outcomes in ethnic minority patients, or for patients travelling &gt;100km.</a:t>
            </a:r>
          </a:p>
          <a:p>
            <a:pPr>
              <a:lnSpc>
                <a:spcPct val="103000"/>
              </a:lnSpc>
              <a:spcAft>
                <a:spcPts val="300"/>
              </a:spcAft>
              <a:defRPr sz="580">
                <a:solidFill>
                  <a:srgbClr val="21242A"/>
                </a:solidFill>
                <a:latin typeface="Microsoft YaHei"/>
              </a:defRPr>
            </a:pPr>
            <a:r>
              <a:t>There were no reported COVID-19 deaths in this cohort, highlighting the evolution in COVID-19 risk. \n \n</a:t>
            </a:r>
          </a:p>
          <a:p>
            <a:pPr>
              <a:lnSpc>
                <a:spcPct val="103000"/>
              </a:lnSpc>
              <a:spcAft>
                <a:spcPts val="300"/>
              </a:spcAft>
              <a:defRPr sz="580">
                <a:solidFill>
                  <a:srgbClr val="21242A"/>
                </a:solidFill>
                <a:latin typeface="Microsoft YaHei"/>
              </a:defRPr>
            </a:pPr>
            <a:r>
              <a:t>Conclusion: Our data suggest similar outcomes for patients receiving 2L axi-cel irrespective of socio-economic deprivation, ethnicity or distance to centre</a:t>
            </a:r>
          </a:p>
          <a:p>
            <a:pPr>
              <a:lnSpc>
                <a:spcPct val="103000"/>
              </a:lnSpc>
              <a:spcAft>
                <a:spcPts val="300"/>
              </a:spcAft>
              <a:defRPr sz="580">
                <a:solidFill>
                  <a:srgbClr val="21242A"/>
                </a:solidFill>
                <a:latin typeface="Microsoft YaHei"/>
              </a:defRPr>
            </a:pPr>
            <a:r>
              <a:t> in a diverse UK cohort, contrasting with findings at 3L.</a:t>
            </a:r>
          </a:p>
          <a:p>
            <a:pPr>
              <a:lnSpc>
                <a:spcPct val="103000"/>
              </a:lnSpc>
              <a:spcAft>
                <a:spcPts val="300"/>
              </a:spcAft>
              <a:defRPr sz="580">
                <a:solidFill>
                  <a:srgbClr val="21242A"/>
                </a:solidFill>
                <a:latin typeface="Microsoft YaHei"/>
              </a:defRPr>
            </a:pPr>
            <a:r>
              <a:t>Moving CAR-T to earlier treatment line, more pro-active bridging strategies, and the decline in the COVID-19 pandemic, may have helped mitigate competing r</a:t>
            </a:r>
          </a:p>
          <a:p>
            <a:pPr>
              <a:lnSpc>
                <a:spcPct val="103000"/>
              </a:lnSpc>
              <a:spcAft>
                <a:spcPts val="300"/>
              </a:spcAft>
              <a:defRPr sz="580">
                <a:solidFill>
                  <a:srgbClr val="21242A"/>
                </a:solidFill>
                <a:latin typeface="Microsoft YaHei"/>
              </a:defRPr>
            </a:pPr>
            <a:r>
              <a:t>isks felt by more deprived patients; although deprivation, ethnicity and distance may impact on patient experience and outcomes in ways not captured here.</a:t>
            </a:r>
          </a:p>
          <a:p>
            <a:pPr>
              <a:lnSpc>
                <a:spcPct val="103000"/>
              </a:lnSpc>
              <a:spcAft>
                <a:spcPts val="300"/>
              </a:spcAft>
              <a:defRPr sz="580">
                <a:solidFill>
                  <a:srgbClr val="21242A"/>
                </a:solidFill>
                <a:latin typeface="Microsoft YaHei"/>
              </a:defRPr>
            </a:pPr>
            <a:r>
              <a:t>Furthermore, the effect of these factors on rate of referral for CAR-T was not examined and warrants separate analysis.</a:t>
            </a:r>
          </a:p>
          <a:p>
            <a:pPr>
              <a:lnSpc>
                <a:spcPct val="103000"/>
              </a:lnSpc>
              <a:spcAft>
                <a:spcPts val="300"/>
              </a:spcAft>
              <a:defRPr sz="580">
                <a:solidFill>
                  <a:srgbClr val="21242A"/>
                </a:solidFill>
                <a:latin typeface="Microsoft YaHei"/>
              </a:defRPr>
            </a:pPr>
            <a:r>
              <a:t>We saw fewer patients travelling &gt;100km - attributable to an increase in the number of UK CAR-T centres - but for those still facing this barrier, outcomes</a:t>
            </a:r>
          </a:p>
          <a:p>
            <a:pPr>
              <a:lnSpc>
                <a:spcPct val="103000"/>
              </a:lnSpc>
              <a:spcAft>
                <a:spcPts val="300"/>
              </a:spcAft>
              <a:defRPr sz="580">
                <a:solidFill>
                  <a:srgbClr val="21242A"/>
                </a:solidFill>
                <a:latin typeface="Microsoft YaHei"/>
              </a:defRPr>
            </a:pPr>
            <a:r>
              <a:t> were equivalent, underlining that they should still be offered CAR-T and the necessary support to travel.</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摘要号：PF1408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在r/r lbcl中，通过hbv-dna引导监测乙型肝炎病毒再激活，可以在不进行常规抗病毒预防的情况下进行安全管理</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hbv-dna–guided monitoring for hepatitis b virus reactivation enables safe man...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PF1317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回顾性临床研究结果：hbv-dna–guided monitoring for hepatitis b virus react...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HBV-DNA再激活发生率：2/25（8%）</a:t>
            </a:r>
          </a:p>
          <a:p>
            <a:pPr>
              <a:lnSpc>
                <a:spcPct val="103000"/>
              </a:lnSpc>
              <a:spcAft>
                <a:spcPts val="300"/>
              </a:spcAft>
              <a:defRPr sz="800">
                <a:solidFill>
                  <a:srgbClr val="21242A"/>
                </a:solidFill>
                <a:latin typeface="Microsoft YaHei"/>
              </a:defRPr>
            </a:pPr>
            <a:r>
              <a:t>2例再激活患者均成功使用核苷类似物治疗，HBV-DNA水平迅速下降</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人数：25</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研究主题：hbv-dna–guided monitoring for hepatitis b virus reactivation enables safe management without routine antiviral prophyla...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在r/r lbcl中，通过hbv-dna引导监测乙型肝炎病毒再激活，可以在不进行常规抗病毒预防的情况下进行安全管理</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hbv-dna–guided monitoring for hepatitis b virus reactivation enables safe man...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PF1317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Data regarding hepatitis B virus (HBV) reactivation after chimeric antigen receptor (CAR) T-cell therapy are limited, and optimal strategies for mon</a:t>
            </a:r>
          </a:p>
          <a:p>
            <a:pPr>
              <a:lnSpc>
                <a:spcPct val="103000"/>
              </a:lnSpc>
              <a:spcAft>
                <a:spcPts val="300"/>
              </a:spcAft>
              <a:defRPr sz="570">
                <a:solidFill>
                  <a:srgbClr val="21242A"/>
                </a:solidFill>
                <a:latin typeface="Microsoft YaHei"/>
              </a:defRPr>
            </a:pPr>
            <a:r>
              <a:t>itoring and prophylaxis remain unclear.</a:t>
            </a:r>
          </a:p>
          <a:p>
            <a:pPr>
              <a:lnSpc>
                <a:spcPct val="103000"/>
              </a:lnSpc>
              <a:spcAft>
                <a:spcPts val="300"/>
              </a:spcAft>
              <a:defRPr sz="570">
                <a:solidFill>
                  <a:srgbClr val="21242A"/>
                </a:solidFill>
                <a:latin typeface="Microsoft YaHei"/>
              </a:defRPr>
            </a:pPr>
            <a:r>
              <a:t>In the US and Europe, prophylactic antiviral therapy has been recommended for patients (pts) with B-cell lymphoma who are positive for hepatitis B core antibody</a:t>
            </a:r>
          </a:p>
          <a:p>
            <a:pPr>
              <a:lnSpc>
                <a:spcPct val="103000"/>
              </a:lnSpc>
              <a:spcAft>
                <a:spcPts val="300"/>
              </a:spcAft>
              <a:defRPr sz="570">
                <a:solidFill>
                  <a:srgbClr val="21242A"/>
                </a:solidFill>
                <a:latin typeface="Microsoft YaHei"/>
              </a:defRPr>
            </a:pPr>
            <a:r>
              <a:t> (HBcAb).</a:t>
            </a:r>
          </a:p>
          <a:p>
            <a:pPr>
              <a:lnSpc>
                <a:spcPct val="103000"/>
              </a:lnSpc>
              <a:spcAft>
                <a:spcPts val="300"/>
              </a:spcAft>
              <a:defRPr sz="570">
                <a:solidFill>
                  <a:srgbClr val="21242A"/>
                </a:solidFill>
                <a:latin typeface="Microsoft YaHei"/>
              </a:defRPr>
            </a:pPr>
            <a:r>
              <a:t>In contrast, Japanese guidelines recommend HBV-DNA–guided monitoring for patients receiving anti-CD20 antibody-containing chemotherapy; however, specific recomm</a:t>
            </a:r>
          </a:p>
          <a:p>
            <a:pPr>
              <a:lnSpc>
                <a:spcPct val="103000"/>
              </a:lnSpc>
              <a:spcAft>
                <a:spcPts val="300"/>
              </a:spcAft>
              <a:defRPr sz="570">
                <a:solidFill>
                  <a:srgbClr val="21242A"/>
                </a:solidFill>
                <a:latin typeface="Microsoft YaHei"/>
              </a:defRPr>
            </a:pPr>
            <a:r>
              <a:t>endations for CAR-T therapy remain unestablished.</a:t>
            </a:r>
          </a:p>
          <a:p>
            <a:pPr>
              <a:lnSpc>
                <a:spcPct val="103000"/>
              </a:lnSpc>
              <a:spcAft>
                <a:spcPts val="300"/>
              </a:spcAft>
              <a:defRPr sz="570">
                <a:solidFill>
                  <a:srgbClr val="21242A"/>
                </a:solidFill>
                <a:latin typeface="Microsoft YaHei"/>
              </a:defRPr>
            </a:pPr>
            <a:r>
              <a:t>Aims: This study aimed to clarify the incidence and clinical features of HBV reactivation after CAR T-cell therapy and to assess the feasibility of HBV-DNA–guid</a:t>
            </a:r>
          </a:p>
          <a:p>
            <a:pPr>
              <a:lnSpc>
                <a:spcPct val="103000"/>
              </a:lnSpc>
              <a:spcAft>
                <a:spcPts val="300"/>
              </a:spcAft>
              <a:defRPr sz="570">
                <a:solidFill>
                  <a:srgbClr val="21242A"/>
                </a:solidFill>
                <a:latin typeface="Microsoft YaHei"/>
              </a:defRPr>
            </a:pPr>
            <a:r>
              <a:t>ed monitoring without routine antiviral prophylaxis.</a:t>
            </a:r>
          </a:p>
          <a:p>
            <a:pPr>
              <a:lnSpc>
                <a:spcPct val="103000"/>
              </a:lnSpc>
              <a:spcAft>
                <a:spcPts val="300"/>
              </a:spcAft>
              <a:defRPr sz="570">
                <a:solidFill>
                  <a:srgbClr val="21242A"/>
                </a:solidFill>
                <a:latin typeface="Microsoft YaHei"/>
              </a:defRPr>
            </a:pPr>
            <a:r>
              <a:t>Methods: We retrospectively analyzed pts with large B-cell lymphoma who received anti-CD19 CAR T-cell therapy at National Cancer Center Hospital, Tokyo, Japan b</a:t>
            </a:r>
          </a:p>
          <a:p>
            <a:pPr>
              <a:lnSpc>
                <a:spcPct val="103000"/>
              </a:lnSpc>
              <a:spcAft>
                <a:spcPts val="300"/>
              </a:spcAft>
              <a:defRPr sz="570">
                <a:solidFill>
                  <a:srgbClr val="21242A"/>
                </a:solidFill>
                <a:latin typeface="Microsoft YaHei"/>
              </a:defRPr>
            </a:pPr>
            <a:r>
              <a:t>etween December 2020 and January 2026.</a:t>
            </a:r>
          </a:p>
          <a:p>
            <a:pPr>
              <a:lnSpc>
                <a:spcPct val="103000"/>
              </a:lnSpc>
              <a:spcAft>
                <a:spcPts val="300"/>
              </a:spcAft>
              <a:defRPr sz="570">
                <a:solidFill>
                  <a:srgbClr val="21242A"/>
                </a:solidFill>
                <a:latin typeface="Microsoft YaHei"/>
              </a:defRPr>
            </a:pPr>
            <a:r>
              <a:t>HBV serological status was confirmed in all pts prior to CAR T-cell infusion.</a:t>
            </a:r>
          </a:p>
          <a:p>
            <a:pPr>
              <a:lnSpc>
                <a:spcPct val="103000"/>
              </a:lnSpc>
              <a:spcAft>
                <a:spcPts val="300"/>
              </a:spcAft>
              <a:defRPr sz="570">
                <a:solidFill>
                  <a:srgbClr val="21242A"/>
                </a:solidFill>
                <a:latin typeface="Microsoft YaHei"/>
              </a:defRPr>
            </a:pPr>
            <a:r>
              <a:t>According to the Japanese hepatitis B treatment guidelines, pts positive for either HBcAb or hepatitis B surface antibody (HBsAb) underwent serial HBV-DNA monit</a:t>
            </a:r>
          </a:p>
          <a:p>
            <a:pPr>
              <a:lnSpc>
                <a:spcPct val="103000"/>
              </a:lnSpc>
              <a:spcAft>
                <a:spcPts val="300"/>
              </a:spcAft>
              <a:defRPr sz="570">
                <a:solidFill>
                  <a:srgbClr val="21242A"/>
                </a:solidFill>
                <a:latin typeface="Microsoft YaHei"/>
              </a:defRPr>
            </a:pPr>
            <a:r>
              <a:t>oring, except for those with isolated HBsAb positivity associated with prior HBV vaccination.</a:t>
            </a:r>
          </a:p>
          <a:p>
            <a:pPr>
              <a:lnSpc>
                <a:spcPct val="103000"/>
              </a:lnSpc>
              <a:spcAft>
                <a:spcPts val="300"/>
              </a:spcAft>
              <a:defRPr sz="570">
                <a:solidFill>
                  <a:srgbClr val="21242A"/>
                </a:solidFill>
                <a:latin typeface="Microsoft YaHei"/>
              </a:defRPr>
            </a:pPr>
            <a:r>
              <a:t>We excluded pts with 1) isolated HBsAb positivity due to vaccination, 2) hepatitis B surface antigen (HBsAg) positivity requiring nucleotide analog therapy, 3) </a:t>
            </a:r>
          </a:p>
          <a:p>
            <a:pPr>
              <a:lnSpc>
                <a:spcPct val="103000"/>
              </a:lnSpc>
              <a:spcAft>
                <a:spcPts val="300"/>
              </a:spcAft>
              <a:defRPr sz="570">
                <a:solidFill>
                  <a:srgbClr val="21242A"/>
                </a:solidFill>
                <a:latin typeface="Microsoft YaHei"/>
              </a:defRPr>
            </a:pPr>
            <a:r>
              <a:t>a history of HBV reactivation requiring nucleotide analog therapy prior to CAR T-cell therapy, or 4) early disease progression preventing HBV-DNA testing after </a:t>
            </a:r>
          </a:p>
          <a:p>
            <a:pPr>
              <a:lnSpc>
                <a:spcPct val="103000"/>
              </a:lnSpc>
              <a:spcAft>
                <a:spcPts val="300"/>
              </a:spcAft>
              <a:defRPr sz="570">
                <a:solidFill>
                  <a:srgbClr val="21242A"/>
                </a:solidFill>
                <a:latin typeface="Microsoft YaHei"/>
              </a:defRPr>
            </a:pPr>
            <a:r>
              <a:t>CAR T-cell therapy.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Although HBV reactivation can occur following CAR T-cell therapy, the incidence was low (2/25, 8%) in our cohort.</a:t>
            </a:r>
          </a:p>
          <a:p>
            <a:pPr>
              <a:lnSpc>
                <a:spcPct val="103000"/>
              </a:lnSpc>
              <a:spcAft>
                <a:spcPts val="300"/>
              </a:spcAft>
              <a:defRPr sz="590">
                <a:solidFill>
                  <a:srgbClr val="21242A"/>
                </a:solidFill>
                <a:latin typeface="Microsoft YaHei"/>
              </a:defRPr>
            </a:pPr>
            <a:r>
              <a:t>Reactivation was successfully controlled through HBV-DNA–guided monitoring and timely nucleotide analog therapy, and no cases of hepatitis.</a:t>
            </a:r>
          </a:p>
          <a:p>
            <a:pPr>
              <a:lnSpc>
                <a:spcPct val="103000"/>
              </a:lnSpc>
              <a:spcAft>
                <a:spcPts val="300"/>
              </a:spcAft>
              <a:defRPr sz="590">
                <a:solidFill>
                  <a:srgbClr val="21242A"/>
                </a:solidFill>
                <a:latin typeface="Microsoft YaHei"/>
              </a:defRPr>
            </a:pPr>
            <a:r>
              <a:t>Among pts with resolved HBV infection managed with HBV-DNA monitoring alone, 23 pts maintained persistently negative HBV-DNA levels and did not require prophyla</a:t>
            </a:r>
          </a:p>
          <a:p>
            <a:pPr>
              <a:lnSpc>
                <a:spcPct val="103000"/>
              </a:lnSpc>
              <a:spcAft>
                <a:spcPts val="300"/>
              </a:spcAft>
              <a:defRPr sz="590">
                <a:solidFill>
                  <a:srgbClr val="21242A"/>
                </a:solidFill>
                <a:latin typeface="Microsoft YaHei"/>
              </a:defRPr>
            </a:pPr>
            <a:r>
              <a:t>ctic nucleotide analog.</a:t>
            </a:r>
          </a:p>
          <a:p>
            <a:pPr>
              <a:lnSpc>
                <a:spcPct val="103000"/>
              </a:lnSpc>
              <a:spcAft>
                <a:spcPts val="300"/>
              </a:spcAft>
              <a:defRPr sz="590">
                <a:solidFill>
                  <a:srgbClr val="21242A"/>
                </a:solidFill>
                <a:latin typeface="Microsoft YaHei"/>
              </a:defRPr>
            </a:pPr>
            <a:r>
              <a:t>These findings highlight the clinical benefit of avoiding unnecessary long-term nucleotide analog exposure and suggest that an HBV-DNA–based monitoring strategy</a:t>
            </a:r>
          </a:p>
          <a:p>
            <a:pPr>
              <a:lnSpc>
                <a:spcPct val="103000"/>
              </a:lnSpc>
              <a:spcAft>
                <a:spcPts val="300"/>
              </a:spcAft>
              <a:defRPr sz="590">
                <a:solidFill>
                  <a:srgbClr val="21242A"/>
                </a:solidFill>
                <a:latin typeface="Microsoft YaHei"/>
              </a:defRPr>
            </a:pPr>
            <a:r>
              <a:t> without routine prophylaxis represents a feasible management option after CAR T-cell therapy, particularly in regions where HBV-DNA testing is readily accessib</a:t>
            </a:r>
          </a:p>
          <a:p>
            <a:pPr>
              <a:lnSpc>
                <a:spcPct val="103000"/>
              </a:lnSpc>
              <a:spcAft>
                <a:spcPts val="300"/>
              </a:spcAft>
              <a:defRPr sz="590">
                <a:solidFill>
                  <a:srgbClr val="21242A"/>
                </a:solidFill>
                <a:latin typeface="Microsoft YaHei"/>
              </a:defRPr>
            </a:pPr>
            <a:r>
              <a:t>le.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HBV-DNA再激活发生率：2/25（8%）；2例再激活患者均成功使用核苷类似物治疗，HBV-DNA水平迅速下降；无乙肝相关性肝炎发生；23例患者随访期间HBV-DNA持续阴性；中位随访时间16.9个月（范围1.3-62.4），其中17例随访超过1年。</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摘要号：PF1317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N=80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中位无进展生存期（PFS）：fit组未达到（60个月，95% CI 33.7-NR），borderline-fit组12.2个...</a:t>
            </a:r>
          </a:p>
          <a:p>
            <a:pPr>
              <a:lnSpc>
                <a:spcPct val="103000"/>
              </a:lnSpc>
              <a:spcAft>
                <a:spcPts val="300"/>
              </a:spcAft>
              <a:defRPr sz="800">
                <a:solidFill>
                  <a:srgbClr val="21242A"/>
                </a:solidFill>
                <a:latin typeface="Microsoft YaHei"/>
              </a:defRPr>
            </a:pPr>
            <a:r>
              <a:t>36个月总生存率：fit组85.2%（95% CI 70.6-100%），borderline-fit组66.7%（95% C...</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Selecting patients for chimeric antigen receptor T-cell (CAR-T) therapy is essential to minimise preventable adverse outcomes and support appropriat</a:t>
            </a:r>
          </a:p>
          <a:p>
            <a:pPr>
              <a:lnSpc>
                <a:spcPct val="103000"/>
              </a:lnSpc>
              <a:spcAft>
                <a:spcPts val="300"/>
              </a:spcAft>
              <a:defRPr sz="570">
                <a:solidFill>
                  <a:srgbClr val="21242A"/>
                </a:solidFill>
                <a:latin typeface="Microsoft YaHei"/>
              </a:defRPr>
            </a:pPr>
            <a:r>
              <a:t>e use of healthcare resources, yet it remains largely subjective in current clinical settings.</a:t>
            </a:r>
          </a:p>
          <a:p>
            <a:pPr>
              <a:lnSpc>
                <a:spcPct val="103000"/>
              </a:lnSpc>
              <a:spcAft>
                <a:spcPts val="300"/>
              </a:spcAft>
              <a:defRPr sz="570">
                <a:solidFill>
                  <a:srgbClr val="21242A"/>
                </a:solidFill>
                <a:latin typeface="Microsoft YaHei"/>
              </a:defRPr>
            </a:pPr>
            <a:r>
              <a:t>Existing tools to evaluate co-morbidities include the cumulative illness rating scale (CIRS), “Severe4” and Cellular Therapy Comorbidity Index (CTCI).</a:t>
            </a:r>
          </a:p>
          <a:p>
            <a:pPr>
              <a:lnSpc>
                <a:spcPct val="103000"/>
              </a:lnSpc>
              <a:spcAft>
                <a:spcPts val="300"/>
              </a:spcAft>
              <a:defRPr sz="570">
                <a:solidFill>
                  <a:srgbClr val="21242A"/>
                </a:solidFill>
                <a:latin typeface="Microsoft YaHei"/>
              </a:defRPr>
            </a:pPr>
            <a:r>
              <a:t>However, individual scores may not reflect the complex interplay between disease burden and kinetics, frailty and pre-existing co-morbidities.</a:t>
            </a:r>
          </a:p>
          <a:p>
            <a:pPr>
              <a:lnSpc>
                <a:spcPct val="103000"/>
              </a:lnSpc>
              <a:spcAft>
                <a:spcPts val="300"/>
              </a:spcAft>
              <a:defRPr sz="570">
                <a:solidFill>
                  <a:srgbClr val="21242A"/>
                </a:solidFill>
                <a:latin typeface="Microsoft YaHei"/>
              </a:defRPr>
            </a:pPr>
            <a:r>
              <a:t>We propose a stepwise framework that systematically integrates frailty and comorbidity assessments to enable objective stratification of patients along a fitnes</a:t>
            </a:r>
          </a:p>
          <a:p>
            <a:pPr>
              <a:lnSpc>
                <a:spcPct val="103000"/>
              </a:lnSpc>
              <a:spcAft>
                <a:spcPts val="300"/>
              </a:spcAft>
              <a:defRPr sz="570">
                <a:solidFill>
                  <a:srgbClr val="21242A"/>
                </a:solidFill>
                <a:latin typeface="Microsoft YaHei"/>
              </a:defRPr>
            </a:pPr>
            <a:r>
              <a:t>s continuum.</a:t>
            </a:r>
          </a:p>
          <a:p>
            <a:pPr>
              <a:lnSpc>
                <a:spcPct val="103000"/>
              </a:lnSpc>
              <a:spcAft>
                <a:spcPts val="300"/>
              </a:spcAft>
              <a:defRPr sz="570">
                <a:solidFill>
                  <a:srgbClr val="21242A"/>
                </a:solidFill>
                <a:latin typeface="Microsoft YaHei"/>
              </a:defRPr>
            </a:pPr>
            <a:r>
              <a:t>This approach aims to guide optimization of the “borderline fit” patients to access CAR-T therapy safely whilst minimizing undue risk in patients on the far end</a:t>
            </a:r>
          </a:p>
          <a:p>
            <a:pPr>
              <a:lnSpc>
                <a:spcPct val="103000"/>
              </a:lnSpc>
              <a:spcAft>
                <a:spcPts val="300"/>
              </a:spcAft>
              <a:defRPr sz="570">
                <a:solidFill>
                  <a:srgbClr val="21242A"/>
                </a:solidFill>
                <a:latin typeface="Microsoft YaHei"/>
              </a:defRPr>
            </a:pPr>
            <a:r>
              <a:t> of the fitness spectrum.</a:t>
            </a:r>
          </a:p>
          <a:p>
            <a:pPr>
              <a:lnSpc>
                <a:spcPct val="103000"/>
              </a:lnSpc>
              <a:spcAft>
                <a:spcPts val="300"/>
              </a:spcAft>
              <a:defRPr sz="570">
                <a:solidFill>
                  <a:srgbClr val="21242A"/>
                </a:solidFill>
                <a:latin typeface="Microsoft YaHei"/>
              </a:defRPr>
            </a:pPr>
            <a:r>
              <a:t>Aims: We aim to correlate comorbidity assessments with clinical outcomes and develop a framework that integrates comorbidity and frailty assessments to optimall</a:t>
            </a:r>
          </a:p>
          <a:p>
            <a:pPr>
              <a:lnSpc>
                <a:spcPct val="103000"/>
              </a:lnSpc>
              <a:spcAft>
                <a:spcPts val="300"/>
              </a:spcAft>
              <a:defRPr sz="570">
                <a:solidFill>
                  <a:srgbClr val="21242A"/>
                </a:solidFill>
                <a:latin typeface="Microsoft YaHei"/>
              </a:defRPr>
            </a:pPr>
            <a:r>
              <a:t>y balance safety and equity of CAR-T access in clinical practice.</a:t>
            </a:r>
          </a:p>
          <a:p>
            <a:pPr>
              <a:lnSpc>
                <a:spcPct val="103000"/>
              </a:lnSpc>
              <a:spcAft>
                <a:spcPts val="300"/>
              </a:spcAft>
              <a:defRPr sz="570">
                <a:solidFill>
                  <a:srgbClr val="21242A"/>
                </a:solidFill>
                <a:latin typeface="Microsoft YaHei"/>
              </a:defRPr>
            </a:pPr>
            <a:r>
              <a:t>Methods: Data from 80 patients with relapsed refractory diffuse large B cell lymphoma treated with CAR-T therapy between 2020-2025 in two treating institutions </a:t>
            </a:r>
          </a:p>
          <a:p>
            <a:pPr>
              <a:lnSpc>
                <a:spcPct val="103000"/>
              </a:lnSpc>
              <a:spcAft>
                <a:spcPts val="300"/>
              </a:spcAft>
              <a:defRPr sz="570">
                <a:solidFill>
                  <a:srgbClr val="21242A"/>
                </a:solidFill>
                <a:latin typeface="Microsoft YaHei"/>
              </a:defRPr>
            </a:pPr>
            <a:r>
              <a:t>in Singapore were retrospectively analysed.</a:t>
            </a:r>
          </a:p>
          <a:p>
            <a:pPr>
              <a:lnSpc>
                <a:spcPct val="103000"/>
              </a:lnSpc>
              <a:spcAft>
                <a:spcPts val="300"/>
              </a:spcAft>
              <a:defRPr sz="570">
                <a:solidFill>
                  <a:srgbClr val="21242A"/>
                </a:solidFill>
                <a:latin typeface="Microsoft YaHei"/>
              </a:defRPr>
            </a:pPr>
            <a:r>
              <a:t>Outcomes included overall survival (OS), progression-free survival (PFS), and severe treatment-related complications, defined as Grade ≥3 cytokine release syndr</a:t>
            </a:r>
          </a:p>
          <a:p>
            <a:pPr>
              <a:lnSpc>
                <a:spcPct val="103000"/>
              </a:lnSpc>
              <a:spcAft>
                <a:spcPts val="300"/>
              </a:spcAft>
              <a:defRPr sz="570">
                <a:solidFill>
                  <a:srgbClr val="21242A"/>
                </a:solidFill>
                <a:latin typeface="Microsoft YaHei"/>
              </a:defRPr>
            </a:pPr>
            <a:r>
              <a:t>ome, immune-effector cell-associated neurotoxicity syndrome, or immune effector cell-associated haematotoxicity.</a:t>
            </a:r>
          </a:p>
          <a:p>
            <a:pPr>
              <a:lnSpc>
                <a:spcPct val="103000"/>
              </a:lnSpc>
              <a:spcAft>
                <a:spcPts val="300"/>
              </a:spcAft>
              <a:defRPr sz="570">
                <a:solidFill>
                  <a:srgbClr val="21242A"/>
                </a:solidFill>
                <a:latin typeface="Microsoft YaHei"/>
              </a:defRPr>
            </a:pPr>
            <a:r>
              <a:t>Patients’ fitness and comorbidities were assessed using ECOG, Karnofsky, CIRS, Severe4 and CTCI.</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Combining CIRS, Severe4, and CTCI improves outcome stratification compared with any individual score alone.</a:t>
            </a:r>
          </a:p>
          <a:p>
            <a:pPr>
              <a:lnSpc>
                <a:spcPct val="103000"/>
              </a:lnSpc>
              <a:spcAft>
                <a:spcPts val="300"/>
              </a:spcAft>
              <a:defRPr sz="590">
                <a:solidFill>
                  <a:srgbClr val="21242A"/>
                </a:solidFill>
                <a:latin typeface="Microsoft YaHei"/>
              </a:defRPr>
            </a:pPr>
            <a:r>
              <a:t>When integrated with frailty assessment, this approach can refine patient selection to allow safer access to potentially eligible candidates.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median age was 60 years. The majority of patients had ECOG 0–1 and Karnofsky scores of 90–100. (Table 1).</a:t>
            </a:r>
          </a:p>
          <a:p>
            <a:pPr>
              <a:lnSpc>
                <a:spcPct val="103000"/>
              </a:lnSpc>
              <a:spcAft>
                <a:spcPts val="300"/>
              </a:spcAft>
              <a:defRPr sz="580">
                <a:solidFill>
                  <a:srgbClr val="21242A"/>
                </a:solidFill>
                <a:latin typeface="Microsoft YaHei"/>
              </a:defRPr>
            </a:pPr>
            <a:r>
              <a:t>Using novel prognostic indices, a subset of patients had higher comorbidity burden: 30% (n=24) had CIRS ≥7, 8.8% (n=7) had presence of Severe4, and 5% (n=4</a:t>
            </a:r>
          </a:p>
          <a:p>
            <a:pPr>
              <a:lnSpc>
                <a:spcPct val="103000"/>
              </a:lnSpc>
              <a:spcAft>
                <a:spcPts val="300"/>
              </a:spcAft>
              <a:defRPr sz="580">
                <a:solidFill>
                  <a:srgbClr val="21242A"/>
                </a:solidFill>
                <a:latin typeface="Microsoft YaHei"/>
              </a:defRPr>
            </a:pPr>
            <a:r>
              <a:t>) had CTCI &gt;3.</a:t>
            </a:r>
          </a:p>
          <a:p>
            <a:pPr>
              <a:lnSpc>
                <a:spcPct val="103000"/>
              </a:lnSpc>
              <a:spcAft>
                <a:spcPts val="300"/>
              </a:spcAft>
              <a:defRPr sz="580">
                <a:solidFill>
                  <a:srgbClr val="21242A"/>
                </a:solidFill>
                <a:latin typeface="Microsoft YaHei"/>
              </a:defRPr>
            </a:pPr>
            <a:r>
              <a:t>\n We propose a clinical algorithm to guide clinicians in using comorbidity assessments in daily practice. (Figure 1).</a:t>
            </a:r>
          </a:p>
          <a:p>
            <a:pPr>
              <a:lnSpc>
                <a:spcPct val="103000"/>
              </a:lnSpc>
              <a:spcAft>
                <a:spcPts val="300"/>
              </a:spcAft>
              <a:defRPr sz="580">
                <a:solidFill>
                  <a:srgbClr val="21242A"/>
                </a:solidFill>
                <a:latin typeface="Microsoft YaHei"/>
              </a:defRPr>
            </a:pPr>
            <a:r>
              <a:t>With the suggested classification framework, 51.2% (N=41) of patients were fit, 28.8% (N=23) were borderline-fit and 20% (N=16) were unfit.</a:t>
            </a:r>
          </a:p>
          <a:p>
            <a:pPr>
              <a:lnSpc>
                <a:spcPct val="103000"/>
              </a:lnSpc>
              <a:spcAft>
                <a:spcPts val="300"/>
              </a:spcAft>
              <a:defRPr sz="580">
                <a:solidFill>
                  <a:srgbClr val="21242A"/>
                </a:solidFill>
                <a:latin typeface="Microsoft YaHei"/>
              </a:defRPr>
            </a:pPr>
            <a:r>
              <a:t>There was a significant difference in median PFS among the fit, borderline and unfit groups (not reached at 60 months, 95% CI 33.7-NR; 12.2 months, 95% CI </a:t>
            </a:r>
          </a:p>
          <a:p>
            <a:pPr>
              <a:lnSpc>
                <a:spcPct val="103000"/>
              </a:lnSpc>
              <a:spcAft>
                <a:spcPts val="300"/>
              </a:spcAft>
              <a:defRPr sz="580">
                <a:solidFill>
                  <a:srgbClr val="21242A"/>
                </a:solidFill>
                <a:latin typeface="Microsoft YaHei"/>
              </a:defRPr>
            </a:pPr>
            <a:r>
              <a:t>6.03-NR; 8.7 months, 95% CI 6.27-NR), log-rank p = 0.027.</a:t>
            </a:r>
          </a:p>
          <a:p>
            <a:pPr>
              <a:lnSpc>
                <a:spcPct val="103000"/>
              </a:lnSpc>
              <a:spcAft>
                <a:spcPts val="300"/>
              </a:spcAft>
              <a:defRPr sz="580">
                <a:solidFill>
                  <a:srgbClr val="21242A"/>
                </a:solidFill>
                <a:latin typeface="Microsoft YaHei"/>
              </a:defRPr>
            </a:pPr>
            <a:r>
              <a:t>A corresponding difference in OS at 36 months was also noted, fit (85.2%, 95% CI 70.6-100%), borderline-fit (66.7%, 95% CI 47.3-94.1%) and unfit (did not r</a:t>
            </a:r>
          </a:p>
          <a:p>
            <a:pPr>
              <a:lnSpc>
                <a:spcPct val="103000"/>
              </a:lnSpc>
              <a:spcAft>
                <a:spcPts val="300"/>
              </a:spcAft>
              <a:defRPr sz="580">
                <a:solidFill>
                  <a:srgbClr val="21242A"/>
                </a:solidFill>
                <a:latin typeface="Microsoft YaHei"/>
              </a:defRPr>
            </a:pPr>
            <a:r>
              <a:t>each 36 months), p \n Table 1.</a:t>
            </a:r>
          </a:p>
          <a:p>
            <a:pPr>
              <a:lnSpc>
                <a:spcPct val="103000"/>
              </a:lnSpc>
              <a:spcAft>
                <a:spcPts val="300"/>
              </a:spcAft>
              <a:defRPr sz="580">
                <a:solidFill>
                  <a:srgbClr val="21242A"/>
                </a:solidFill>
                <a:latin typeface="Microsoft YaHei"/>
              </a:defRPr>
            </a:pPr>
            <a:r>
              <a:t>Demographics, CAR-T cell product, adverse events.</a:t>
            </a:r>
          </a:p>
          <a:p>
            <a:pPr>
              <a:lnSpc>
                <a:spcPct val="103000"/>
              </a:lnSpc>
              <a:spcAft>
                <a:spcPts val="300"/>
              </a:spcAft>
              <a:defRPr sz="580">
                <a:solidFill>
                  <a:srgbClr val="21242A"/>
                </a:solidFill>
                <a:latin typeface="Microsoft YaHei"/>
              </a:defRPr>
            </a:pPr>
            <a:r>
              <a:t>\n \n \n \n \n Variable \n \n \n Overall (N = 80) \n \n \n \n \n Age, median (IQR) \n \n \n 60 (51-70) \n \n \n \n \n Gender, n (%) \n \n \n \n \n \n \n \n</a:t>
            </a:r>
          </a:p>
          <a:p>
            <a:pPr>
              <a:lnSpc>
                <a:spcPct val="103000"/>
              </a:lnSpc>
              <a:spcAft>
                <a:spcPts val="300"/>
              </a:spcAft>
              <a:defRPr sz="580">
                <a:solidFill>
                  <a:srgbClr val="21242A"/>
                </a:solidFill>
                <a:latin typeface="Microsoft YaHei"/>
              </a:defRPr>
            </a:pPr>
            <a:r>
              <a:t> Male \n \n \n 43 (53.8) \n \n \n \n \n Female \n \n \n 37 (46.2) \n \n \n \n \n ECOG 0-1, n (%) \n \n \n 71 (88.7) \n \n \n \n \n Karnofsky, median (IQR) </a:t>
            </a:r>
          </a:p>
          <a:p>
            <a:pPr>
              <a:lnSpc>
                <a:spcPct val="103000"/>
              </a:lnSpc>
              <a:spcAft>
                <a:spcPts val="300"/>
              </a:spcAft>
              <a:defRPr sz="580">
                <a:solidFill>
                  <a:srgbClr val="21242A"/>
                </a:solidFill>
                <a:latin typeface="Microsoft YaHei"/>
              </a:defRPr>
            </a:pPr>
            <a:r>
              <a:t>\n \n \n 90 (80-100) \n \n \n \n \n CAR-T product \n \n \n \n \n \n \n \n Tisagenlecleucel \n \n \n 34 (42.5) \n \n \n \n \n Axicabtagene ciloleucel \n \n </a:t>
            </a:r>
          </a:p>
          <a:p>
            <a:pPr>
              <a:lnSpc>
                <a:spcPct val="103000"/>
              </a:lnSpc>
              <a:spcAft>
                <a:spcPts val="300"/>
              </a:spcAft>
              <a:defRPr sz="580">
                <a:solidFill>
                  <a:srgbClr val="21242A"/>
                </a:solidFill>
                <a:latin typeface="Microsoft YaHei"/>
              </a:defRPr>
            </a:pPr>
            <a:r>
              <a:t>\n 36 (45.0) \n \n \n \n \n Academic \n \n \n 10 (12.5) \n \n \n \n \n Adverse events \n \n \n \n \n \n \n \n CRS Grade ≥ 3, n (%) \n \n \n 5 (6.2) \n \n \</a:t>
            </a:r>
          </a:p>
          <a:p>
            <a:pPr>
              <a:lnSpc>
                <a:spcPct val="103000"/>
              </a:lnSpc>
              <a:spcAft>
                <a:spcPts val="300"/>
              </a:spcAft>
              <a:defRPr sz="580">
                <a:solidFill>
                  <a:srgbClr val="21242A"/>
                </a:solidFill>
                <a:latin typeface="Microsoft YaHei"/>
              </a:defRPr>
            </a:pPr>
            <a:r>
              <a:t>n \n \n ICANS Grade ≥ 3, n (%) \n \n \n 8 (10.0) \n \n \n \n \n T-ICAHT Grade ≥ 3, n (%) \n \n \n 20 (25.0) \n \n \n \n \n N-ICAHT Grade ≥ 3, n (%) \n \n \</a:t>
            </a:r>
          </a:p>
          <a:p>
            <a:pPr>
              <a:lnSpc>
                <a:spcPct val="103000"/>
              </a:lnSpc>
              <a:spcAft>
                <a:spcPts val="300"/>
              </a:spcAft>
              <a:defRPr sz="580">
                <a:solidFill>
                  <a:srgbClr val="21242A"/>
                </a:solidFill>
                <a:latin typeface="Microsoft YaHei"/>
              </a:defRPr>
            </a:pPr>
            <a:r>
              <a:t>n 44 (55.0) \n \n \n \n \n</a:t>
            </a:r>
          </a:p>
          <a:p>
            <a:pPr>
              <a:lnSpc>
                <a:spcPct val="103000"/>
              </a:lnSpc>
              <a:spcAft>
                <a:spcPts val="300"/>
              </a:spcAft>
              <a:defRPr sz="580">
                <a:solidFill>
                  <a:srgbClr val="21242A"/>
                </a:solidFill>
                <a:latin typeface="Microsoft YaHei"/>
              </a:defRPr>
            </a:pPr>
            <a:r>
              <a:t>Conclusion: Combining CIRS, Severe4, and CTCI improves outcome stratification compared with any individual score alone.</a:t>
            </a:r>
          </a:p>
          <a:p>
            <a:pPr>
              <a:lnSpc>
                <a:spcPct val="103000"/>
              </a:lnSpc>
              <a:spcAft>
                <a:spcPts val="300"/>
              </a:spcAft>
              <a:defRPr sz="580">
                <a:solidFill>
                  <a:srgbClr val="21242A"/>
                </a:solidFill>
                <a:latin typeface="Microsoft YaHei"/>
              </a:defRPr>
            </a:pPr>
            <a:r>
              <a:t>When integrated with frailty assessment, this approach can refine patient selection to allow safer access to potentially eligible candidates.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摘要号：PF1253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治疗前脑磁共振白质变化提示小血管疾病预测嵌合抗原受体t细胞治疗后免疫效应细胞相关神经毒性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white matter changes on brain mri suggesting small vessel disea...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N=93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ICANS累积发生率：低Fazekas组11%，中Fazekas组20%，高Fazekas组44%（p=0.03）||多因素分...</a:t>
            </a:r>
          </a:p>
          <a:p>
            <a:pPr>
              <a:lnSpc>
                <a:spcPct val="103000"/>
              </a:lnSpc>
              <a:spcAft>
                <a:spcPts val="300"/>
              </a:spcAft>
              <a:defRPr sz="800">
                <a:solidFill>
                  <a:srgbClr val="21242A"/>
                </a:solidFill>
                <a:latin typeface="Microsoft YaHei"/>
              </a:defRPr>
            </a:pPr>
            <a:r>
              <a:t>≥2级CRS p=0.87）||无进展生存期和总生存期：各组无差异（p=0.82和p=0.70）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治疗前脑磁共振白质变化提示小血管疾病预测嵌合抗原受体t细胞治疗后免疫效应细胞相关神经毒性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white matter changes on brain mri suggesting small vessel disea...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Immune effector cell–associated neurotoxicity syndrome (ICANS) is an important adverse effect following chimeric antigen receptor T-cell (CAR-T) the</a:t>
            </a:r>
          </a:p>
          <a:p>
            <a:pPr>
              <a:lnSpc>
                <a:spcPct val="103000"/>
              </a:lnSpc>
              <a:spcAft>
                <a:spcPts val="300"/>
              </a:spcAft>
              <a:defRPr sz="570">
                <a:solidFill>
                  <a:srgbClr val="21242A"/>
                </a:solidFill>
                <a:latin typeface="Microsoft YaHei"/>
              </a:defRPr>
            </a:pPr>
            <a:r>
              <a:t>rapy, and some patients experience prolonged neurologic symptoms.</a:t>
            </a:r>
          </a:p>
          <a:p>
            <a:pPr>
              <a:lnSpc>
                <a:spcPct val="103000"/>
              </a:lnSpc>
              <a:spcAft>
                <a:spcPts val="300"/>
              </a:spcAft>
              <a:defRPr sz="570">
                <a:solidFill>
                  <a:srgbClr val="21242A"/>
                </a:solidFill>
                <a:latin typeface="Microsoft YaHei"/>
              </a:defRPr>
            </a:pPr>
            <a:r>
              <a:t>Therefore, prevention and early risk stratification are crucial; however, pre-treatment predictors of ICANS are limited.</a:t>
            </a:r>
          </a:p>
          <a:p>
            <a:pPr>
              <a:lnSpc>
                <a:spcPct val="103000"/>
              </a:lnSpc>
              <a:spcAft>
                <a:spcPts val="300"/>
              </a:spcAft>
              <a:defRPr sz="570">
                <a:solidFill>
                  <a:srgbClr val="21242A"/>
                </a:solidFill>
                <a:latin typeface="Microsoft YaHei"/>
              </a:defRPr>
            </a:pPr>
            <a:r>
              <a:t>Because disruption of the blood–brain barrier with leakage of cytokines or inflammatory cells into the central nervous system (CNS) has been implicated in ICANS</a:t>
            </a:r>
          </a:p>
          <a:p>
            <a:pPr>
              <a:lnSpc>
                <a:spcPct val="103000"/>
              </a:lnSpc>
              <a:spcAft>
                <a:spcPts val="300"/>
              </a:spcAft>
              <a:defRPr sz="570">
                <a:solidFill>
                  <a:srgbClr val="21242A"/>
                </a:solidFill>
                <a:latin typeface="Microsoft YaHei"/>
              </a:defRPr>
            </a:pPr>
            <a:r>
              <a:t> pathogenesis, we focused on small-vessel disease–related white matter changes as markers of vascular fragility and reduced resilience to neurotoxicity.</a:t>
            </a:r>
          </a:p>
          <a:p>
            <a:pPr>
              <a:lnSpc>
                <a:spcPct val="103000"/>
              </a:lnSpc>
              <a:spcAft>
                <a:spcPts val="300"/>
              </a:spcAft>
              <a:defRPr sz="570">
                <a:solidFill>
                  <a:srgbClr val="21242A"/>
                </a:solidFill>
                <a:latin typeface="Microsoft YaHei"/>
              </a:defRPr>
            </a:pPr>
            <a:r>
              <a:t>Aims: We aimed to determine whether the pre-treatment Fazekas score (AJR Am J Roentgenol.</a:t>
            </a:r>
          </a:p>
          <a:p>
            <a:pPr>
              <a:lnSpc>
                <a:spcPct val="103000"/>
              </a:lnSpc>
              <a:spcAft>
                <a:spcPts val="300"/>
              </a:spcAft>
              <a:defRPr sz="570">
                <a:solidFill>
                  <a:srgbClr val="21242A"/>
                </a:solidFill>
                <a:latin typeface="Microsoft YaHei"/>
              </a:defRPr>
            </a:pPr>
            <a:r>
              <a:t>1987; 149:351), reflecting brain white matter changes, is associated with ICANS and prolonged neurologic symptoms after CAR-T therapy.</a:t>
            </a:r>
          </a:p>
          <a:p>
            <a:pPr>
              <a:lnSpc>
                <a:spcPct val="103000"/>
              </a:lnSpc>
              <a:spcAft>
                <a:spcPts val="300"/>
              </a:spcAft>
              <a:defRPr sz="570">
                <a:solidFill>
                  <a:srgbClr val="21242A"/>
                </a:solidFill>
                <a:latin typeface="Microsoft YaHei"/>
              </a:defRPr>
            </a:pPr>
            <a:r>
              <a:t>Methods: We retrospectively analyzed 93 patients who underwent commercial CAR-T therapy for large B-cell lymphoma at Okayama University Hospital between Decembe</a:t>
            </a:r>
          </a:p>
          <a:p>
            <a:pPr>
              <a:lnSpc>
                <a:spcPct val="103000"/>
              </a:lnSpc>
              <a:spcAft>
                <a:spcPts val="300"/>
              </a:spcAft>
              <a:defRPr sz="570">
                <a:solidFill>
                  <a:srgbClr val="21242A"/>
                </a:solidFill>
                <a:latin typeface="Microsoft YaHei"/>
              </a:defRPr>
            </a:pPr>
            <a:r>
              <a:t>r 2019 and June 2025 with brain magnetic resonance imaging (MRI).</a:t>
            </a:r>
          </a:p>
          <a:p>
            <a:pPr>
              <a:lnSpc>
                <a:spcPct val="103000"/>
              </a:lnSpc>
              <a:spcAft>
                <a:spcPts val="300"/>
              </a:spcAft>
              <a:defRPr sz="570">
                <a:solidFill>
                  <a:srgbClr val="21242A"/>
                </a:solidFill>
                <a:latin typeface="Microsoft YaHei"/>
              </a:defRPr>
            </a:pPr>
            <a:r>
              <a:t>The Fazekas score (0–6, sum of periventricular and deep white matter ratings) was assessed on pre-infusion MRI, excluding lesions attributable to prior CNS even</a:t>
            </a:r>
          </a:p>
          <a:p>
            <a:pPr>
              <a:lnSpc>
                <a:spcPct val="103000"/>
              </a:lnSpc>
              <a:spcAft>
                <a:spcPts val="300"/>
              </a:spcAft>
              <a:defRPr sz="570">
                <a:solidFill>
                  <a:srgbClr val="21242A"/>
                </a:solidFill>
                <a:latin typeface="Microsoft YaHei"/>
              </a:defRPr>
            </a:pPr>
            <a:r>
              <a:t>ts or lymphoma involvement, and categorized into three groups: low (0–2), intermediate (int; 3–4), and high (5–6).</a:t>
            </a:r>
          </a:p>
          <a:p>
            <a:pPr>
              <a:lnSpc>
                <a:spcPct val="103000"/>
              </a:lnSpc>
              <a:spcAft>
                <a:spcPts val="300"/>
              </a:spcAft>
              <a:defRPr sz="570">
                <a:solidFill>
                  <a:srgbClr val="21242A"/>
                </a:solidFill>
                <a:latin typeface="Microsoft YaHei"/>
              </a:defRPr>
            </a:pPr>
            <a:r>
              <a:t>Prolonged neurologic symptoms were defined as lasting for ≥28 days.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data suggest that pre-existing brain white matter changes are associated with both the development of ICANS and the risk of prolonged neurologic symptoms.</a:t>
            </a:r>
          </a:p>
          <a:p>
            <a:pPr>
              <a:lnSpc>
                <a:spcPct val="103000"/>
              </a:lnSpc>
              <a:spcAft>
                <a:spcPts val="300"/>
              </a:spcAft>
              <a:defRPr sz="590">
                <a:solidFill>
                  <a:srgbClr val="21242A"/>
                </a:solidFill>
                <a:latin typeface="Microsoft YaHei"/>
              </a:defRPr>
            </a:pPr>
            <a:r>
              <a:t>Incorporating brain MRI and Fazekas scoring before CAR-T therapy may help refine neurotoxicity risk stratification and could be particularly informative regardi</a:t>
            </a:r>
          </a:p>
          <a:p>
            <a:pPr>
              <a:lnSpc>
                <a:spcPct val="103000"/>
              </a:lnSpc>
              <a:spcAft>
                <a:spcPts val="300"/>
              </a:spcAft>
              <a:defRPr sz="590">
                <a:solidFill>
                  <a:srgbClr val="21242A"/>
                </a:solidFill>
                <a:latin typeface="Microsoft YaHei"/>
              </a:defRPr>
            </a:pPr>
            <a:r>
              <a:t>ng CAR-T product selection and identification of patients who need closer ICANS surveillance.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ICANS累积发生率：低Fazekas组11%，中Fazekas组20%，高Fazekas组44%（p=0.03）||多因素分析：Fazekas评分与ICANS独立相关（HR 1.51, 95% CI 1.09-2.10）||延长神经症状（≥28天）发生率：低组1.6%（1/64），中组0%（0/20），高组</a:t>
            </a:r>
          </a:p>
          <a:p>
            <a:pPr>
              <a:lnSpc>
                <a:spcPct val="103000"/>
              </a:lnSpc>
              <a:spcAft>
                <a:spcPts val="300"/>
              </a:spcAft>
              <a:defRPr sz="580">
                <a:solidFill>
                  <a:srgbClr val="21242A"/>
                </a:solidFill>
                <a:latin typeface="Microsoft YaHei"/>
              </a:defRPr>
            </a:pPr>
            <a:r>
              <a:t>22%（2/9）（p=0.046）||细胞因子释放综合征（CRS）发生率：各组无差异（p=0.32；≥2级CRS p=0.87）||无进展生存期和总生存期：各组无差异（p=0.82和p=0.70）</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摘要号：PF1249</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car-t细胞治疗双表达tp53阳性复发/难治性弥漫性大b细胞淋巴瘤的疗效：一项多中心现实研究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of car-t cell therapy in double-expressor tp53-positive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中位OS：270天（95% CI 108.15-431.85）</a:t>
            </a:r>
          </a:p>
          <a:p>
            <a:pPr>
              <a:lnSpc>
                <a:spcPct val="103000"/>
              </a:lnSpc>
              <a:spcAft>
                <a:spcPts val="300"/>
              </a:spcAft>
              <a:defRPr sz="800">
                <a:solidFill>
                  <a:srgbClr val="21242A"/>
                </a:solidFill>
                <a:latin typeface="Microsoft YaHei"/>
              </a:defRPr>
            </a:pPr>
            <a:r>
              <a:t>中位PFS：108天（95% CI 62.23-146.77）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a:p>
            <a:pPr>
              <a:lnSpc>
                <a:spcPct val="103000"/>
              </a:lnSpc>
              <a:spcAft>
                <a:spcPts val="300"/>
              </a:spcAft>
              <a:defRPr sz="810">
                <a:solidFill>
                  <a:srgbClr val="21242A"/>
                </a:solidFill>
                <a:latin typeface="Microsoft YaHei"/>
              </a:defRPr>
            </a:pPr>
            <a:r>
              <a:t>分组/治疗流程：单组：CAR-T细胞治疗（包括自体造血干细胞移植联合CD19 CAR-T的2例患者）</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car-t细胞治疗双表达tp53阳性复发/难治性弥漫性大b细胞淋巴瘤的疗效：一项多中心现实研究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of car-t cell therapy in double-expressor tp53-positive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Double-expressor TP53-positive diffuse large B-cell lymphoma (DLBCL) represents a highly aggressive subtype associated with poor prognosis.</a:t>
            </a:r>
          </a:p>
          <a:p>
            <a:pPr>
              <a:lnSpc>
                <a:spcPct val="103000"/>
              </a:lnSpc>
              <a:spcAft>
                <a:spcPts val="300"/>
              </a:spcAft>
              <a:defRPr sz="570">
                <a:solidFill>
                  <a:srgbClr val="21242A"/>
                </a:solidFill>
                <a:latin typeface="Microsoft YaHei"/>
              </a:defRPr>
            </a:pPr>
            <a:r>
              <a:t>Outcomes are particularly dismal in relapsed/refractory (r/r) patients.</a:t>
            </a:r>
          </a:p>
          <a:p>
            <a:pPr>
              <a:lnSpc>
                <a:spcPct val="103000"/>
              </a:lnSpc>
              <a:spcAft>
                <a:spcPts val="300"/>
              </a:spcAft>
              <a:defRPr sz="570">
                <a:solidFill>
                  <a:srgbClr val="21242A"/>
                </a:solidFill>
                <a:latin typeface="Microsoft YaHei"/>
              </a:defRPr>
            </a:pPr>
            <a:r>
              <a:t>Chimeric antigen receptor T-cell (CAR-T) therapy has emerged as an effective treatment option for r/r DLBCL; however, its efficacy in this high-risk biological </a:t>
            </a:r>
          </a:p>
          <a:p>
            <a:pPr>
              <a:lnSpc>
                <a:spcPct val="103000"/>
              </a:lnSpc>
              <a:spcAft>
                <a:spcPts val="300"/>
              </a:spcAft>
              <a:defRPr sz="570">
                <a:solidFill>
                  <a:srgbClr val="21242A"/>
                </a:solidFill>
                <a:latin typeface="Microsoft YaHei"/>
              </a:defRPr>
            </a:pPr>
            <a:r>
              <a:t>subgroup remains unclear.</a:t>
            </a:r>
          </a:p>
          <a:p>
            <a:pPr>
              <a:lnSpc>
                <a:spcPct val="103000"/>
              </a:lnSpc>
              <a:spcAft>
                <a:spcPts val="300"/>
              </a:spcAft>
              <a:defRPr sz="570">
                <a:solidFill>
                  <a:srgbClr val="21242A"/>
                </a:solidFill>
                <a:latin typeface="Microsoft YaHei"/>
              </a:defRPr>
            </a:pPr>
            <a:r>
              <a:t>Aims: To evaluate the clinical efficacy, overall survival (OS), and progression-free survival (PFS) of CAR-T therapy in patients with double-expressor TP53-posi</a:t>
            </a:r>
          </a:p>
          <a:p>
            <a:pPr>
              <a:lnSpc>
                <a:spcPct val="103000"/>
              </a:lnSpc>
              <a:spcAft>
                <a:spcPts val="300"/>
              </a:spcAft>
              <a:defRPr sz="570">
                <a:solidFill>
                  <a:srgbClr val="21242A"/>
                </a:solidFill>
                <a:latin typeface="Microsoft YaHei"/>
              </a:defRPr>
            </a:pPr>
            <a:r>
              <a:t>tive r/r DLBCL.</a:t>
            </a:r>
          </a:p>
          <a:p>
            <a:pPr>
              <a:lnSpc>
                <a:spcPct val="103000"/>
              </a:lnSpc>
              <a:spcAft>
                <a:spcPts val="300"/>
              </a:spcAft>
              <a:defRPr sz="570">
                <a:solidFill>
                  <a:srgbClr val="21242A"/>
                </a:solidFill>
                <a:latin typeface="Microsoft YaHei"/>
              </a:defRPr>
            </a:pPr>
            <a:r>
              <a:t>Methods: This multicenter retrospective study included patients with double-expressor TP53-positive r/r DLBCL who received CAR-T therapy between February 1, 201</a:t>
            </a:r>
          </a:p>
          <a:p>
            <a:pPr>
              <a:lnSpc>
                <a:spcPct val="103000"/>
              </a:lnSpc>
              <a:spcAft>
                <a:spcPts val="300"/>
              </a:spcAft>
              <a:defRPr sz="570">
                <a:solidFill>
                  <a:srgbClr val="21242A"/>
                </a:solidFill>
                <a:latin typeface="Microsoft YaHei"/>
              </a:defRPr>
            </a:pPr>
            <a:r>
              <a:t>7, and December 31, 2025, at three tertiary centers.</a:t>
            </a:r>
          </a:p>
          <a:p>
            <a:pPr>
              <a:lnSpc>
                <a:spcPct val="103000"/>
              </a:lnSpc>
              <a:spcAft>
                <a:spcPts val="300"/>
              </a:spcAft>
              <a:defRPr sz="570">
                <a:solidFill>
                  <a:srgbClr val="21242A"/>
                </a:solidFill>
                <a:latin typeface="Microsoft YaHei"/>
              </a:defRPr>
            </a:pPr>
            <a:r>
              <a:t>Clinical data were collected and analyzed using SPSS software. Overall response rate (ORR) at 1 and 3 months, median OS, and median PFS were assessed.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patients with double-expressor TP53-positive r/r DLBCL, CAR-T therapy induces initial responses; however, durability remains limited, with short median PFS a</a:t>
            </a:r>
          </a:p>
          <a:p>
            <a:pPr>
              <a:lnSpc>
                <a:spcPct val="103000"/>
              </a:lnSpc>
              <a:spcAft>
                <a:spcPts val="300"/>
              </a:spcAft>
              <a:defRPr sz="590">
                <a:solidFill>
                  <a:srgbClr val="21242A"/>
                </a:solidFill>
                <a:latin typeface="Microsoft YaHei"/>
              </a:defRPr>
            </a:pPr>
            <a:r>
              <a:t>nd OS observed in this high-risk population.</a:t>
            </a:r>
          </a:p>
          <a:p>
            <a:pPr>
              <a:lnSpc>
                <a:spcPct val="103000"/>
              </a:lnSpc>
              <a:spcAft>
                <a:spcPts val="300"/>
              </a:spcAft>
              <a:defRPr sz="590">
                <a:solidFill>
                  <a:srgbClr val="21242A"/>
                </a:solidFill>
                <a:latin typeface="Microsoft YaHei"/>
              </a:defRPr>
            </a:pPr>
            <a:r>
              <a:t>These findings suggest that additional therapeutic strategies, including combination or consolidation approaches, may be required to improve long-term outcomes.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中位OS</a:t>
                      </a:r>
                    </a:p>
                  </a:txBody>
                  <a:tcPr>
                    <a:solidFill>
                      <a:srgbClr val="F6F8FB"/>
                    </a:solidFill>
                  </a:tcPr>
                </a:tc>
                <a:tc>
                  <a:txBody>
                    <a:bodyPr wrap="square" lIns="36576" rIns="36576" tIns="18288" bIns="18288"/>
                    <a:lstStyle/>
                    <a:p>
                      <a:r>
                        <a:rPr sz="540" b="0">
                          <a:solidFill>
                            <a:srgbClr val="21242A"/>
                          </a:solidFill>
                          <a:latin typeface="Microsoft YaHei"/>
                        </a:rPr>
                        <a:t>270天（95% CI 108.15-431.85）</a:t>
                      </a:r>
                    </a:p>
                  </a:txBody>
                  <a:tcPr>
                    <a:solidFill>
                      <a:srgbClr val="F6F8FB"/>
                    </a:solidFill>
                  </a:tcPr>
                </a:tc>
              </a:tr>
              <a:tr h="249936">
                <a:tc>
                  <a:txBody>
                    <a:bodyPr wrap="square" lIns="36576" rIns="36576" tIns="18288" bIns="18288"/>
                    <a:lstStyle/>
                    <a:p>
                      <a:r>
                        <a:rPr sz="540" b="1">
                          <a:solidFill>
                            <a:srgbClr val="21242A"/>
                          </a:solidFill>
                          <a:latin typeface="Microsoft YaHei"/>
                        </a:rPr>
                        <a:t>中位PFS</a:t>
                      </a:r>
                    </a:p>
                  </a:txBody>
                  <a:tcPr>
                    <a:solidFill>
                      <a:srgbClr val="FFFFFF"/>
                    </a:solidFill>
                  </a:tcPr>
                </a:tc>
                <a:tc>
                  <a:txBody>
                    <a:bodyPr wrap="square" lIns="36576" rIns="36576" tIns="18288" bIns="18288"/>
                    <a:lstStyle/>
                    <a:p>
                      <a:r>
                        <a:rPr sz="540" b="0">
                          <a:solidFill>
                            <a:srgbClr val="21242A"/>
                          </a:solidFill>
                          <a:latin typeface="Microsoft YaHei"/>
                        </a:rPr>
                        <a:t>108天（95% CI 62.23-146.77）</a:t>
                      </a:r>
                    </a:p>
                  </a:txBody>
                  <a:tcPr>
                    <a:solidFill>
                      <a:srgbClr val="FFFFFF"/>
                    </a:solidFill>
                  </a:tcPr>
                </a:tc>
              </a:tr>
              <a:tr h="249936">
                <a:tc>
                  <a:txBody>
                    <a:bodyPr wrap="square" lIns="36576" rIns="36576" tIns="18288" bIns="18288"/>
                    <a:lstStyle/>
                    <a:p>
                      <a:r>
                        <a:rPr sz="540" b="1">
                          <a:solidFill>
                            <a:srgbClr val="21242A"/>
                          </a:solidFill>
                          <a:latin typeface="Microsoft YaHei"/>
                        </a:rPr>
                        <a:t>1个月ORR</a:t>
                      </a:r>
                    </a:p>
                  </a:txBody>
                  <a:tcPr>
                    <a:solidFill>
                      <a:srgbClr val="F6F8FB"/>
                    </a:solidFill>
                  </a:tcPr>
                </a:tc>
                <a:tc>
                  <a:txBody>
                    <a:bodyPr wrap="square" lIns="36576" rIns="36576" tIns="18288" bIns="18288"/>
                    <a:lstStyle/>
                    <a:p>
                      <a:r>
                        <a:rPr sz="540" b="0">
                          <a:solidFill>
                            <a:srgbClr val="21242A"/>
                          </a:solidFill>
                          <a:latin typeface="Microsoft YaHei"/>
                        </a:rPr>
                        <a:t>70.21%（CR 29.79%，PR 40.42%）</a:t>
                      </a:r>
                    </a:p>
                  </a:txBody>
                  <a:tcPr>
                    <a:solidFill>
                      <a:srgbClr val="F6F8FB"/>
                    </a:solidFill>
                  </a:tcPr>
                </a:tc>
              </a:tr>
              <a:tr h="249936">
                <a:tc>
                  <a:txBody>
                    <a:bodyPr wrap="square" lIns="36576" rIns="36576" tIns="18288" bIns="18288"/>
                    <a:lstStyle/>
                    <a:p>
                      <a:r>
                        <a:rPr sz="540" b="1">
                          <a:solidFill>
                            <a:srgbClr val="21242A"/>
                          </a:solidFill>
                          <a:latin typeface="Microsoft YaHei"/>
                        </a:rPr>
                        <a:t>3个月ORR</a:t>
                      </a:r>
                    </a:p>
                  </a:txBody>
                  <a:tcPr>
                    <a:solidFill>
                      <a:srgbClr val="FFFFFF"/>
                    </a:solidFill>
                  </a:tcPr>
                </a:tc>
                <a:tc>
                  <a:txBody>
                    <a:bodyPr wrap="square" lIns="36576" rIns="36576" tIns="18288" bIns="18288"/>
                    <a:lstStyle/>
                    <a:p>
                      <a:r>
                        <a:rPr sz="540" b="0">
                          <a:solidFill>
                            <a:srgbClr val="21242A"/>
                          </a:solidFill>
                          <a:latin typeface="Microsoft YaHei"/>
                        </a:rPr>
                        <a:t>53.33%（CR 31.11%，PR 22.22%）</a:t>
                      </a:r>
                    </a:p>
                  </a:txBody>
                  <a:tcPr>
                    <a:solidFill>
                      <a:srgbClr val="FFFFFF"/>
                    </a:solidFill>
                  </a:tcPr>
                </a:tc>
              </a:tr>
              <a:tr h="249936">
                <a:tc>
                  <a:txBody>
                    <a:bodyPr wrap="square" lIns="36576" rIns="36576" tIns="18288" bIns="18288"/>
                    <a:lstStyle/>
                    <a:p>
                      <a:r>
                        <a:rPr sz="540" b="1">
                          <a:solidFill>
                            <a:srgbClr val="21242A"/>
                          </a:solidFill>
                          <a:latin typeface="Microsoft YaHei"/>
                        </a:rPr>
                        <a:t>死亡率</a:t>
                      </a:r>
                    </a:p>
                  </a:txBody>
                  <a:tcPr>
                    <a:solidFill>
                      <a:srgbClr val="F6F8FB"/>
                    </a:solidFill>
                  </a:tcPr>
                </a:tc>
                <a:tc>
                  <a:txBody>
                    <a:bodyPr wrap="square" lIns="36576" rIns="36576" tIns="18288" bIns="18288"/>
                    <a:lstStyle/>
                    <a:p>
                      <a:r>
                        <a:rPr sz="540" b="0">
                          <a:solidFill>
                            <a:srgbClr val="21242A"/>
                          </a:solidFill>
                          <a:latin typeface="Microsoft YaHei"/>
                        </a:rPr>
                        <a:t>50.94%</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阿昔布他烯-西洛卢塞一线治疗dlbcl的早期毒性：2l与≥3l治疗的现实比较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toxicity of axicabtagene ciloleucel by line of therapy in dlbcl: a real...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N=413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多组/多方案比较：2L组：axicabtagene ciloleucel</a:t>
            </a:r>
          </a:p>
          <a:p>
            <a:pPr>
              <a:lnSpc>
                <a:spcPct val="103000"/>
              </a:lnSpc>
              <a:spcAft>
                <a:spcPts val="300"/>
              </a:spcAft>
              <a:defRPr sz="800">
                <a:solidFill>
                  <a:srgbClr val="21242A"/>
                </a:solidFill>
                <a:latin typeface="Microsoft YaHei"/>
              </a:defRPr>
            </a:pPr>
            <a:r>
              <a:t>≥3L组：axicabtagene ciloleucel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CRS任何级别发生率：2L组95%，≥3L组92%</a:t>
            </a:r>
          </a:p>
          <a:p>
            <a:pPr>
              <a:lnSpc>
                <a:spcPct val="103000"/>
              </a:lnSpc>
              <a:spcAft>
                <a:spcPts val="300"/>
              </a:spcAft>
              <a:defRPr sz="800">
                <a:solidFill>
                  <a:srgbClr val="21242A"/>
                </a:solidFill>
                <a:latin typeface="Microsoft YaHei"/>
              </a:defRPr>
            </a:pPr>
            <a:r>
              <a:t>CRS≥3级发生率：2L组4%，≥3L组8%（p=0.002）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人数：413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阿昔布他烯-西洛卢塞一线治疗dlbcl的早期毒性：2l与≥3l治疗的现实比较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toxicity of axicabtagene ciloleucel by line of therapy in dlbcl: a real...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Axicabtagene ciloleucel (axi-cel) is approved for relapsed/refractory large B-cell lymphoma, with early toxicities driven by cytokine release syndro</a:t>
            </a:r>
          </a:p>
          <a:p>
            <a:pPr>
              <a:lnSpc>
                <a:spcPct val="103000"/>
              </a:lnSpc>
              <a:spcAft>
                <a:spcPts val="300"/>
              </a:spcAft>
              <a:defRPr sz="570">
                <a:solidFill>
                  <a:srgbClr val="21242A"/>
                </a:solidFill>
                <a:latin typeface="Microsoft YaHei"/>
              </a:defRPr>
            </a:pPr>
            <a:r>
              <a:t>me (CRS) and immune effector cell–associated neurotoxicity syndrome (ICANS).</a:t>
            </a:r>
          </a:p>
          <a:p>
            <a:pPr>
              <a:lnSpc>
                <a:spcPct val="103000"/>
              </a:lnSpc>
              <a:spcAft>
                <a:spcPts val="300"/>
              </a:spcAft>
              <a:defRPr sz="570">
                <a:solidFill>
                  <a:srgbClr val="21242A"/>
                </a:solidFill>
                <a:latin typeface="Microsoft YaHei"/>
              </a:defRPr>
            </a:pPr>
            <a:r>
              <a:t>Pivotal studies reported typical early onset within the first week and a considerable burden of grade ≥3 events, prompting interest in whether toxicity differs </a:t>
            </a:r>
          </a:p>
          <a:p>
            <a:pPr>
              <a:lnSpc>
                <a:spcPct val="103000"/>
              </a:lnSpc>
              <a:spcAft>
                <a:spcPts val="300"/>
              </a:spcAft>
              <a:defRPr sz="570">
                <a:solidFill>
                  <a:srgbClr val="21242A"/>
                </a:solidFill>
                <a:latin typeface="Microsoft YaHei"/>
              </a:defRPr>
            </a:pPr>
            <a:r>
              <a:t>when axi-cel is administered in second line (2L) versus later lines (≥3L).</a:t>
            </a:r>
          </a:p>
          <a:p>
            <a:pPr>
              <a:lnSpc>
                <a:spcPct val="103000"/>
              </a:lnSpc>
              <a:spcAft>
                <a:spcPts val="300"/>
              </a:spcAft>
              <a:defRPr sz="570">
                <a:solidFill>
                  <a:srgbClr val="21242A"/>
                </a:solidFill>
                <a:latin typeface="Microsoft YaHei"/>
              </a:defRPr>
            </a:pPr>
            <a:r>
              <a:t>Aims: To compare early toxicity patterns (CRS and ICANS) of axi-cel in diffuse large B-cell lymphoma (DLBCL) treated in 2L versus ≥3L, including timing, severit</a:t>
            </a:r>
          </a:p>
          <a:p>
            <a:pPr>
              <a:lnSpc>
                <a:spcPct val="103000"/>
              </a:lnSpc>
              <a:spcAft>
                <a:spcPts val="300"/>
              </a:spcAft>
              <a:defRPr sz="570">
                <a:solidFill>
                  <a:srgbClr val="21242A"/>
                </a:solidFill>
                <a:latin typeface="Microsoft YaHei"/>
              </a:defRPr>
            </a:pPr>
            <a:r>
              <a:t>y, duration, and toxicity-directed interventions.</a:t>
            </a:r>
          </a:p>
          <a:p>
            <a:pPr>
              <a:lnSpc>
                <a:spcPct val="103000"/>
              </a:lnSpc>
              <a:spcAft>
                <a:spcPts val="300"/>
              </a:spcAft>
              <a:defRPr sz="570">
                <a:solidFill>
                  <a:srgbClr val="21242A"/>
                </a:solidFill>
                <a:latin typeface="Microsoft YaHei"/>
              </a:defRPr>
            </a:pPr>
            <a:r>
              <a:t>Methods: This retrospective, multicenter study on behalf of the GETH-TC (Spanish Group of Stem Transplantation and Cell Therapy) group compared consecutive DLBC</a:t>
            </a:r>
          </a:p>
          <a:p>
            <a:pPr>
              <a:lnSpc>
                <a:spcPct val="103000"/>
              </a:lnSpc>
              <a:spcAft>
                <a:spcPts val="300"/>
              </a:spcAft>
              <a:defRPr sz="570">
                <a:solidFill>
                  <a:srgbClr val="21242A"/>
                </a:solidFill>
                <a:latin typeface="Microsoft YaHei"/>
              </a:defRPr>
            </a:pPr>
            <a:r>
              <a:t>L patients receiving axi-cel in second line from April 2024 (following regulatory approval in Spain) with a previously published historical cohort from our grou</a:t>
            </a:r>
          </a:p>
          <a:p>
            <a:pPr>
              <a:lnSpc>
                <a:spcPct val="103000"/>
              </a:lnSpc>
              <a:spcAft>
                <a:spcPts val="300"/>
              </a:spcAft>
              <a:defRPr sz="570">
                <a:solidFill>
                  <a:srgbClr val="21242A"/>
                </a:solidFill>
                <a:latin typeface="Microsoft YaHei"/>
              </a:defRPr>
            </a:pPr>
            <a:r>
              <a:t>p treated between 2018 and 2021 in third or later line (Bailén et al.</a:t>
            </a:r>
          </a:p>
          <a:p>
            <a:pPr>
              <a:lnSpc>
                <a:spcPct val="103000"/>
              </a:lnSpc>
              <a:spcAft>
                <a:spcPts val="300"/>
              </a:spcAft>
              <a:defRPr sz="570">
                <a:solidFill>
                  <a:srgbClr val="21242A"/>
                </a:solidFill>
                <a:latin typeface="Microsoft YaHei"/>
              </a:defRPr>
            </a:pPr>
            <a:r>
              <a:t>Transpl Cell Ther 2022). Patients were grouped by line of therapy at infusion: 2L vs ≥3L. CRS and ICANS were graded per ASTCT consensus criteria.</a:t>
            </a:r>
          </a:p>
          <a:p>
            <a:pPr>
              <a:lnSpc>
                <a:spcPct val="103000"/>
              </a:lnSpc>
              <a:spcAft>
                <a:spcPts val="300"/>
              </a:spcAft>
              <a:defRPr sz="570">
                <a:solidFill>
                  <a:srgbClr val="21242A"/>
                </a:solidFill>
                <a:latin typeface="Microsoft YaHei"/>
              </a:defRPr>
            </a:pPr>
            <a:r>
              <a:t>Endpoints included incidence (any grade; grade ≥3), time-to-onset (days from infusion), duration (days), ICU admission, and treatment (tocilizumab, corticostero</a:t>
            </a:r>
          </a:p>
          <a:p>
            <a:pPr>
              <a:lnSpc>
                <a:spcPct val="103000"/>
              </a:lnSpc>
              <a:spcAft>
                <a:spcPts val="300"/>
              </a:spcAft>
              <a:defRPr sz="570">
                <a:solidFill>
                  <a:srgbClr val="21242A"/>
                </a:solidFill>
                <a:latin typeface="Microsoft YaHei"/>
              </a:defRPr>
            </a:pPr>
            <a:r>
              <a:t>ids, anakinra if applicable).</a:t>
            </a:r>
          </a:p>
          <a:p>
            <a:pPr>
              <a:lnSpc>
                <a:spcPct val="103000"/>
              </a:lnSpc>
              <a:spcAft>
                <a:spcPts val="300"/>
              </a:spcAft>
              <a:defRPr sz="570">
                <a:solidFill>
                  <a:srgbClr val="21242A"/>
                </a:solidFill>
                <a:latin typeface="Microsoft YaHei"/>
              </a:defRPr>
            </a:pPr>
            <a:r>
              <a:t>Comparative analyses used χ²/Fisher for categorical and Mann-Withney/t-test for continuous variables.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real-world DLBCL axi-cel cohort, second line of therapy was associated with lower rates of grade ≥3 early toxicities (CRS and ICANS) as compared to ≥3L.</a:t>
            </a:r>
          </a:p>
          <a:p>
            <a:pPr>
              <a:lnSpc>
                <a:spcPct val="103000"/>
              </a:lnSpc>
              <a:spcAft>
                <a:spcPts val="300"/>
              </a:spcAft>
              <a:defRPr sz="590">
                <a:solidFill>
                  <a:srgbClr val="21242A"/>
                </a:solidFill>
                <a:latin typeface="Microsoft YaHei"/>
              </a:defRPr>
            </a:pPr>
            <a:r>
              <a:t>Despite this reduced incidence of high-grade toxicity, corticosteroid use for CRS was more frequent in the 2L cohort, likely reflecting a temporal shift toward </a:t>
            </a:r>
          </a:p>
          <a:p>
            <a:pPr>
              <a:lnSpc>
                <a:spcPct val="103000"/>
              </a:lnSpc>
              <a:spcAft>
                <a:spcPts val="300"/>
              </a:spcAft>
              <a:defRPr sz="590">
                <a:solidFill>
                  <a:srgbClr val="21242A"/>
                </a:solidFill>
                <a:latin typeface="Microsoft YaHei"/>
              </a:defRPr>
            </a:pPr>
            <a:r>
              <a:t>earlier and more proactive toxicity management in the more recent treatment period.</a:t>
            </a:r>
          </a:p>
          <a:p>
            <a:pPr>
              <a:lnSpc>
                <a:spcPct val="103000"/>
              </a:lnSpc>
              <a:spcAft>
                <a:spcPts val="300"/>
              </a:spcAft>
              <a:defRPr sz="590">
                <a:solidFill>
                  <a:srgbClr val="21242A"/>
                </a:solidFill>
                <a:latin typeface="Microsoft YaHei"/>
              </a:defRPr>
            </a:pPr>
            <a:r>
              <a:t>Further analysis are needed to discard an impact of disease characteristics on these findings.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N=413 patients were included (2L n=184, ≥3L n=229). Baseline characteristics are summarized in Table 1.</a:t>
            </a:r>
          </a:p>
          <a:p>
            <a:pPr>
              <a:lnSpc>
                <a:spcPct val="103000"/>
              </a:lnSpc>
              <a:spcAft>
                <a:spcPts val="300"/>
              </a:spcAft>
              <a:defRPr sz="580">
                <a:solidFill>
                  <a:srgbClr val="21242A"/>
                </a:solidFill>
                <a:latin typeface="Microsoft YaHei"/>
              </a:defRPr>
            </a:pPr>
            <a:r>
              <a:t>Briefly, the 2L cohort showed a better ECOG performance status at infusion, lower R-IPI, lower prior ASCT exposure, lower rates of bulky disease and elevat</a:t>
            </a:r>
          </a:p>
          <a:p>
            <a:pPr>
              <a:lnSpc>
                <a:spcPct val="103000"/>
              </a:lnSpc>
              <a:spcAft>
                <a:spcPts val="300"/>
              </a:spcAft>
              <a:defRPr sz="580">
                <a:solidFill>
                  <a:srgbClr val="21242A"/>
                </a:solidFill>
                <a:latin typeface="Microsoft YaHei"/>
              </a:defRPr>
            </a:pPr>
            <a:r>
              <a:t>ed LDH, and more frequent use of bridging therapy.</a:t>
            </a:r>
          </a:p>
          <a:p>
            <a:pPr>
              <a:lnSpc>
                <a:spcPct val="103000"/>
              </a:lnSpc>
              <a:spcAft>
                <a:spcPts val="300"/>
              </a:spcAft>
              <a:defRPr sz="580">
                <a:solidFill>
                  <a:srgbClr val="21242A"/>
                </a:solidFill>
                <a:latin typeface="Microsoft YaHei"/>
              </a:defRPr>
            </a:pPr>
            <a:r>
              <a:t>No differences were observed in the median time from apheresis to infusion between groups.</a:t>
            </a:r>
          </a:p>
          <a:p>
            <a:pPr>
              <a:lnSpc>
                <a:spcPct val="103000"/>
              </a:lnSpc>
              <a:spcAft>
                <a:spcPts val="300"/>
              </a:spcAft>
              <a:defRPr sz="580">
                <a:solidFill>
                  <a:srgbClr val="21242A"/>
                </a:solidFill>
                <a:latin typeface="Microsoft YaHei"/>
              </a:defRPr>
            </a:pPr>
            <a:r>
              <a:t>Comparing 2L vs ≥3L, any-grade CRS occurred in 95% vs 92%, with grade ≥3 CRS in 4% vs 8% (p=0.002).</a:t>
            </a:r>
          </a:p>
          <a:p>
            <a:pPr>
              <a:lnSpc>
                <a:spcPct val="103000"/>
              </a:lnSpc>
              <a:spcAft>
                <a:spcPts val="300"/>
              </a:spcAft>
              <a:defRPr sz="580">
                <a:solidFill>
                  <a:srgbClr val="21242A"/>
                </a:solidFill>
                <a:latin typeface="Microsoft YaHei"/>
              </a:defRPr>
            </a:pPr>
            <a:r>
              <a:t>Median time-to-onset was 2 days in both groups and median duration 4 vs 5 days (p=0.02).</a:t>
            </a:r>
          </a:p>
          <a:p>
            <a:pPr>
              <a:lnSpc>
                <a:spcPct val="103000"/>
              </a:lnSpc>
              <a:spcAft>
                <a:spcPts val="300"/>
              </a:spcAft>
              <a:defRPr sz="580">
                <a:solidFill>
                  <a:srgbClr val="21242A"/>
                </a:solidFill>
                <a:latin typeface="Microsoft YaHei"/>
              </a:defRPr>
            </a:pPr>
            <a:r>
              <a:t>Tocilizumab was administered in 61% vs 62% patients (median doses 1.5 vs 2, p=0.03), and corticosteroids were administered in 48% vs 32% (p ICU admission r</a:t>
            </a:r>
          </a:p>
          <a:p>
            <a:pPr>
              <a:lnSpc>
                <a:spcPct val="103000"/>
              </a:lnSpc>
              <a:spcAft>
                <a:spcPts val="300"/>
              </a:spcAft>
              <a:defRPr sz="580">
                <a:solidFill>
                  <a:srgbClr val="21242A"/>
                </a:solidFill>
                <a:latin typeface="Microsoft YaHei"/>
              </a:defRPr>
            </a:pPr>
            <a:r>
              <a:t>elated to toxicity occurred in 21% vs 24%.</a:t>
            </a:r>
          </a:p>
          <a:p>
            <a:pPr>
              <a:lnSpc>
                <a:spcPct val="103000"/>
              </a:lnSpc>
              <a:spcAft>
                <a:spcPts val="300"/>
              </a:spcAft>
              <a:defRPr sz="580">
                <a:solidFill>
                  <a:srgbClr val="21242A"/>
                </a:solidFill>
                <a:latin typeface="Microsoft YaHei"/>
              </a:defRPr>
            </a:pPr>
            <a:r>
              <a:t>No differences were observed in non-relapse mortality (NRM).</a:t>
            </a:r>
          </a:p>
          <a:p>
            <a:pPr>
              <a:lnSpc>
                <a:spcPct val="103000"/>
              </a:lnSpc>
              <a:spcAft>
                <a:spcPts val="300"/>
              </a:spcAft>
              <a:defRPr sz="580">
                <a:solidFill>
                  <a:srgbClr val="21242A"/>
                </a:solidFill>
                <a:latin typeface="Microsoft YaHei"/>
              </a:defRPr>
            </a:pPr>
            <a:r>
              <a:t>Conclusion: In this real-world DLBCL axi-cel cohort, second line of therapy was associated with lower rates of grade ≥3 early toxicities (CRS and ICANS) as</a:t>
            </a:r>
          </a:p>
          <a:p>
            <a:pPr>
              <a:lnSpc>
                <a:spcPct val="103000"/>
              </a:lnSpc>
              <a:spcAft>
                <a:spcPts val="300"/>
              </a:spcAft>
              <a:defRPr sz="580">
                <a:solidFill>
                  <a:srgbClr val="21242A"/>
                </a:solidFill>
                <a:latin typeface="Microsoft YaHei"/>
              </a:defRPr>
            </a:pPr>
            <a:r>
              <a:t> compared to ≥3L.</a:t>
            </a:r>
          </a:p>
          <a:p>
            <a:pPr>
              <a:lnSpc>
                <a:spcPct val="103000"/>
              </a:lnSpc>
              <a:spcAft>
                <a:spcPts val="300"/>
              </a:spcAft>
              <a:defRPr sz="580">
                <a:solidFill>
                  <a:srgbClr val="21242A"/>
                </a:solidFill>
                <a:latin typeface="Microsoft YaHei"/>
              </a:defRPr>
            </a:pPr>
            <a:r>
              <a:t>Despite this reduced incidence of high-grade toxicity, corticosteroid use for CRS was more frequent in the 2L cohort, likely reflecting a temporal shift to</a:t>
            </a:r>
          </a:p>
          <a:p>
            <a:pPr>
              <a:lnSpc>
                <a:spcPct val="103000"/>
              </a:lnSpc>
              <a:spcAft>
                <a:spcPts val="300"/>
              </a:spcAft>
              <a:defRPr sz="580">
                <a:solidFill>
                  <a:srgbClr val="21242A"/>
                </a:solidFill>
                <a:latin typeface="Microsoft YaHei"/>
              </a:defRPr>
            </a:pPr>
            <a:r>
              <a:t>ward earlier and more proactive toxicity management in the more recent treatment period.</a:t>
            </a:r>
          </a:p>
          <a:p>
            <a:pPr>
              <a:lnSpc>
                <a:spcPct val="103000"/>
              </a:lnSpc>
              <a:spcAft>
                <a:spcPts val="300"/>
              </a:spcAft>
              <a:defRPr sz="580">
                <a:solidFill>
                  <a:srgbClr val="21242A"/>
                </a:solidFill>
                <a:latin typeface="Microsoft YaHei"/>
              </a:defRPr>
            </a:pPr>
            <a:r>
              <a:t>Further analysis are needed to discard an impact of disease characteristics on these findings.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关于大b细胞淋巴瘤中真实世界汽车t细胞合格性的国际专家共识：一项e-delphi研究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international expert consensus on real-world car t-cell eligibility in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专家共识：international expert consensus on real-world car t-cell 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对一线治疗后2-4周期内进行中期PET评估应答，共识率82.6%</a:t>
            </a:r>
          </a:p>
          <a:p>
            <a:pPr>
              <a:lnSpc>
                <a:spcPct val="103000"/>
              </a:lnSpc>
              <a:spcAft>
                <a:spcPts val="300"/>
              </a:spcAft>
              <a:defRPr sz="800">
                <a:solidFill>
                  <a:srgbClr val="21242A"/>
                </a:solidFill>
                <a:latin typeface="Microsoft YaHei"/>
              </a:defRPr>
            </a:pPr>
            <a:r>
              <a:t>疾病稳定患者应转诊，共识率87.0%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研究类型：专家共识</a:t>
            </a:r>
          </a:p>
          <a:p>
            <a:pPr>
              <a:lnSpc>
                <a:spcPct val="103000"/>
              </a:lnSpc>
              <a:spcAft>
                <a:spcPts val="300"/>
              </a:spcAft>
              <a:defRPr sz="810">
                <a:solidFill>
                  <a:srgbClr val="21242A"/>
                </a:solidFill>
                <a:latin typeface="Microsoft YaHei"/>
              </a:defRPr>
            </a:pPr>
            <a:r>
              <a:t>人数：23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研究主题：international expert consensus on real-world car t-cell eligibility in large b-cell lymphomas: an e-delphi study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关于大b细胞淋巴瘤中真实世界汽车t细胞合格性的国际专家共识：一项e-delphi研究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international expert consensus on real-world car t-cell eligibility in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Despite robust clinical evidence, regulatory approval and guideline recommendations in second- and third-line settings, disparities persist for refe</a:t>
            </a:r>
          </a:p>
          <a:p>
            <a:pPr>
              <a:lnSpc>
                <a:spcPct val="103000"/>
              </a:lnSpc>
              <a:spcAft>
                <a:spcPts val="300"/>
              </a:spcAft>
              <a:defRPr sz="570">
                <a:solidFill>
                  <a:srgbClr val="21242A"/>
                </a:solidFill>
                <a:latin typeface="Microsoft YaHei"/>
              </a:defRPr>
            </a:pPr>
            <a:r>
              <a:t>rring patients with relapsed or refractory diffuse large B-cell lymphoma (r/r DLBCL) for chimeric antigen receptor T-cell therapy (CAR T).</a:t>
            </a:r>
          </a:p>
          <a:p>
            <a:pPr>
              <a:lnSpc>
                <a:spcPct val="103000"/>
              </a:lnSpc>
              <a:spcAft>
                <a:spcPts val="300"/>
              </a:spcAft>
              <a:defRPr sz="570">
                <a:solidFill>
                  <a:srgbClr val="21242A"/>
                </a:solidFill>
                <a:latin typeface="Microsoft YaHei"/>
              </a:defRPr>
            </a:pPr>
            <a:r>
              <a:t>Recent studies estimate only one-third of CAR T-eligible patients are ultimately treated, partly due to uncertainty regarding referral eligibility criteria.</a:t>
            </a:r>
          </a:p>
          <a:p>
            <a:pPr>
              <a:lnSpc>
                <a:spcPct val="103000"/>
              </a:lnSpc>
              <a:spcAft>
                <a:spcPts val="300"/>
              </a:spcAft>
              <a:defRPr sz="570">
                <a:solidFill>
                  <a:srgbClr val="21242A"/>
                </a:solidFill>
                <a:latin typeface="Microsoft YaHei"/>
              </a:defRPr>
            </a:pPr>
            <a:r>
              <a:t>Consensus-driven guidance is needed to support equitable, timely referral practices.</a:t>
            </a:r>
          </a:p>
          <a:p>
            <a:pPr>
              <a:lnSpc>
                <a:spcPct val="103000"/>
              </a:lnSpc>
              <a:spcAft>
                <a:spcPts val="300"/>
              </a:spcAft>
              <a:defRPr sz="570">
                <a:solidFill>
                  <a:srgbClr val="21242A"/>
                </a:solidFill>
                <a:latin typeface="Microsoft YaHei"/>
              </a:defRPr>
            </a:pPr>
            <a:r>
              <a:t>Aims: To identify and characterize consensus on core clinical eligibility criteria to guide referral of patients with r/r DLBCL by community-based physicians to</a:t>
            </a:r>
          </a:p>
          <a:p>
            <a:pPr>
              <a:lnSpc>
                <a:spcPct val="103000"/>
              </a:lnSpc>
              <a:spcAft>
                <a:spcPts val="300"/>
              </a:spcAft>
              <a:defRPr sz="570">
                <a:solidFill>
                  <a:srgbClr val="21242A"/>
                </a:solidFill>
                <a:latin typeface="Microsoft YaHei"/>
              </a:defRPr>
            </a:pPr>
            <a:r>
              <a:t> specialized centers for evaluation for CAR T.</a:t>
            </a:r>
          </a:p>
          <a:p>
            <a:pPr>
              <a:lnSpc>
                <a:spcPct val="103000"/>
              </a:lnSpc>
              <a:spcAft>
                <a:spcPts val="300"/>
              </a:spcAft>
              <a:defRPr sz="570">
                <a:solidFill>
                  <a:srgbClr val="21242A"/>
                </a:solidFill>
                <a:latin typeface="Microsoft YaHei"/>
              </a:defRPr>
            </a:pPr>
            <a:r>
              <a:t>Methods: An e-Delphi study was conducted in accordance with established consensus reporting standards.</a:t>
            </a:r>
          </a:p>
          <a:p>
            <a:pPr>
              <a:lnSpc>
                <a:spcPct val="103000"/>
              </a:lnSpc>
              <a:spcAft>
                <a:spcPts val="300"/>
              </a:spcAft>
              <a:defRPr sz="570">
                <a:solidFill>
                  <a:srgbClr val="21242A"/>
                </a:solidFill>
                <a:latin typeface="Microsoft YaHei"/>
              </a:defRPr>
            </a:pPr>
            <a:r>
              <a:t>All study materials, designed in alignment with ACCORD (ACcurate COnsensus Reporting Document) guidelines, received approval from an independent steering commit</a:t>
            </a:r>
          </a:p>
          <a:p>
            <a:pPr>
              <a:lnSpc>
                <a:spcPct val="103000"/>
              </a:lnSpc>
              <a:spcAft>
                <a:spcPts val="300"/>
              </a:spcAft>
              <a:defRPr sz="570">
                <a:solidFill>
                  <a:srgbClr val="21242A"/>
                </a:solidFill>
                <a:latin typeface="Microsoft YaHei"/>
              </a:defRPr>
            </a:pPr>
            <a:r>
              <a:t>tee of clinical experts, and independent institutional review boards.</a:t>
            </a:r>
          </a:p>
          <a:p>
            <a:pPr>
              <a:lnSpc>
                <a:spcPct val="103000"/>
              </a:lnSpc>
              <a:spcAft>
                <a:spcPts val="300"/>
              </a:spcAft>
              <a:defRPr sz="570">
                <a:solidFill>
                  <a:srgbClr val="21242A"/>
                </a:solidFill>
                <a:latin typeface="Microsoft YaHei"/>
              </a:defRPr>
            </a:pPr>
            <a:r>
              <a:t>A panel of 23 expert hematology and/or oncology clinicians in USA, Canada, UK, France, Germany, and Italy, anonymously responded to statements via a web-based q</a:t>
            </a:r>
          </a:p>
          <a:p>
            <a:pPr>
              <a:lnSpc>
                <a:spcPct val="103000"/>
              </a:lnSpc>
              <a:spcAft>
                <a:spcPts val="300"/>
              </a:spcAft>
              <a:defRPr sz="570">
                <a:solidFill>
                  <a:srgbClr val="21242A"/>
                </a:solidFill>
                <a:latin typeface="Microsoft YaHei"/>
              </a:defRPr>
            </a:pPr>
            <a:r>
              <a:t>uestionnaire (≥75% consensus threshold).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Round 1 analysis demonstrates robust international expert consensus on referral eligibility for CAR T in patients with r/r DLBCL.</a:t>
            </a:r>
          </a:p>
          <a:p>
            <a:pPr>
              <a:lnSpc>
                <a:spcPct val="103000"/>
              </a:lnSpc>
              <a:spcAft>
                <a:spcPts val="300"/>
              </a:spcAft>
              <a:defRPr sz="590">
                <a:solidFill>
                  <a:srgbClr val="21242A"/>
                </a:solidFill>
                <a:latin typeface="Microsoft YaHei"/>
              </a:defRPr>
            </a:pPr>
            <a:r>
              <a:t>The panel strongly endorsed broad eligibility for referral independent of ASCT eligibility, and provided clarity regarding disease status, age, performance, and</a:t>
            </a:r>
          </a:p>
          <a:p>
            <a:pPr>
              <a:lnSpc>
                <a:spcPct val="103000"/>
              </a:lnSpc>
              <a:spcAft>
                <a:spcPts val="300"/>
              </a:spcAft>
              <a:defRPr sz="590">
                <a:solidFill>
                  <a:srgbClr val="21242A"/>
                </a:solidFill>
                <a:latin typeface="Microsoft YaHei"/>
              </a:defRPr>
            </a:pPr>
            <a:r>
              <a:t> organ function as core referral criteria.</a:t>
            </a:r>
          </a:p>
          <a:p>
            <a:pPr>
              <a:lnSpc>
                <a:spcPct val="103000"/>
              </a:lnSpc>
              <a:spcAft>
                <a:spcPts val="300"/>
              </a:spcAft>
              <a:defRPr sz="590">
                <a:solidFill>
                  <a:srgbClr val="21242A"/>
                </a:solidFill>
                <a:latin typeface="Microsoft YaHei"/>
              </a:defRPr>
            </a:pPr>
            <a:r>
              <a:t>These consensus recommendations have the potential to reduce unwarranted variation in referral practices and support more equitable access to CAR T.</a:t>
            </a:r>
          </a:p>
          <a:p>
            <a:pPr>
              <a:lnSpc>
                <a:spcPct val="103000"/>
              </a:lnSpc>
              <a:spcAft>
                <a:spcPts val="300"/>
              </a:spcAft>
              <a:defRPr sz="590">
                <a:solidFill>
                  <a:srgbClr val="21242A"/>
                </a:solidFill>
                <a:latin typeface="Microsoft YaHei"/>
              </a:defRPr>
            </a:pPr>
            <a:r>
              <a:t>Final recommendations will be presented at congress.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对一线治疗后2-4周期内进行中期PET评估应答，共识率82.6%</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疾病稳定患者应转诊，共识率87.0%</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疾病进展患者应转诊，共识率100%</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年龄不能作为绝对禁忌证，共识率100%</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ECOG PS 0-2自动转诊，共识率91.3%</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肌酐清除率&gt;30 mL/min自动转诊，共识率82.6%</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心功能为核心标准，共识率78.2%</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复发难治性大b细胞淋巴瘤二线car-t细胞治疗后的免疫缺陷和感染风险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immune deficiency and infection risk following second line car-t cells 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N=57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多组/多方案比较：试验组1：axi-cel</a:t>
            </a:r>
          </a:p>
          <a:p>
            <a:pPr>
              <a:lnSpc>
                <a:spcPct val="103000"/>
              </a:lnSpc>
              <a:spcAft>
                <a:spcPts val="300"/>
              </a:spcAft>
              <a:defRPr sz="800">
                <a:solidFill>
                  <a:srgbClr val="21242A"/>
                </a:solidFill>
                <a:latin typeface="Microsoft YaHei"/>
              </a:defRPr>
            </a:pPr>
            <a:r>
              <a:t>试验组2：liso-cel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第3个月时，低丙种球蛋白血症发生率11%，无严重低丙种球蛋白血症</a:t>
            </a:r>
          </a:p>
          <a:p>
            <a:pPr>
              <a:lnSpc>
                <a:spcPct val="103000"/>
              </a:lnSpc>
              <a:spcAft>
                <a:spcPts val="300"/>
              </a:spcAft>
              <a:defRPr sz="800">
                <a:solidFill>
                  <a:srgbClr val="21242A"/>
                </a:solidFill>
                <a:latin typeface="Microsoft YaHei"/>
              </a:defRPr>
            </a:pPr>
            <a:r>
              <a:t>所有患者均出现B细胞再生障碍</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复发难治性大b细胞淋巴瘤二线car-t细胞治疗后的免疫缺陷和感染风险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immune deficiency and infection risk following second line car-t cells 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Anti-CD19 CAR T-cell is approved in second line (L2) for patients with refractory or early relapsed large B-cell lymphoma (R/R LBCL).</a:t>
            </a:r>
          </a:p>
          <a:p>
            <a:pPr>
              <a:lnSpc>
                <a:spcPct val="103000"/>
              </a:lnSpc>
              <a:spcAft>
                <a:spcPts val="300"/>
              </a:spcAft>
              <a:defRPr sz="570">
                <a:solidFill>
                  <a:srgbClr val="21242A"/>
                </a:solidFill>
                <a:latin typeface="Microsoft YaHei"/>
              </a:defRPr>
            </a:pPr>
            <a:r>
              <a:t>In L3+, prolonged immune defects associated with infections and non-relapse mortality.</a:t>
            </a:r>
          </a:p>
          <a:p>
            <a:pPr>
              <a:lnSpc>
                <a:spcPct val="103000"/>
              </a:lnSpc>
              <a:spcAft>
                <a:spcPts val="300"/>
              </a:spcAft>
              <a:defRPr sz="570">
                <a:solidFill>
                  <a:srgbClr val="21242A"/>
                </a:solidFill>
                <a:latin typeface="Microsoft YaHei"/>
              </a:defRPr>
            </a:pPr>
            <a:r>
              <a:t>However, immune reconstitution (IR) and infectious risk after L2 CAR T-cell therapy remain insufficiently characterized.</a:t>
            </a:r>
          </a:p>
          <a:p>
            <a:pPr>
              <a:lnSpc>
                <a:spcPct val="103000"/>
              </a:lnSpc>
              <a:spcAft>
                <a:spcPts val="300"/>
              </a:spcAft>
              <a:defRPr sz="570">
                <a:solidFill>
                  <a:srgbClr val="21242A"/>
                </a:solidFill>
                <a:latin typeface="Microsoft YaHei"/>
              </a:defRPr>
            </a:pPr>
            <a:r>
              <a:t>Aims: To describe immune deficiency after L2 anti-CD19 CAR T-cell in R/R LBCL, including: (1) lymphocyte B and T subsets recovery and immunoglobulin levels, (2)</a:t>
            </a:r>
          </a:p>
          <a:p>
            <a:pPr>
              <a:lnSpc>
                <a:spcPct val="103000"/>
              </a:lnSpc>
              <a:spcAft>
                <a:spcPts val="300"/>
              </a:spcAft>
              <a:defRPr sz="570">
                <a:solidFill>
                  <a:srgbClr val="21242A"/>
                </a:solidFill>
                <a:latin typeface="Microsoft YaHei"/>
              </a:defRPr>
            </a:pPr>
            <a:r>
              <a:t> incidence, timing and type of infections after month 3 (M3), and (3) association with survival outcomes.</a:t>
            </a:r>
          </a:p>
          <a:p>
            <a:pPr>
              <a:lnSpc>
                <a:spcPct val="103000"/>
              </a:lnSpc>
              <a:spcAft>
                <a:spcPts val="300"/>
              </a:spcAft>
              <a:defRPr sz="570">
                <a:solidFill>
                  <a:srgbClr val="21242A"/>
                </a:solidFill>
                <a:latin typeface="Microsoft YaHei"/>
              </a:defRPr>
            </a:pPr>
            <a:r>
              <a:t>Secondary aims were to explore factors associated with immune deficiency and infectious complications, and the impact of immunoglobulin (Ig) supplementation.</a:t>
            </a:r>
          </a:p>
          <a:p>
            <a:pPr>
              <a:lnSpc>
                <a:spcPct val="103000"/>
              </a:lnSpc>
              <a:spcAft>
                <a:spcPts val="300"/>
              </a:spcAft>
              <a:defRPr sz="570">
                <a:solidFill>
                  <a:srgbClr val="21242A"/>
                </a:solidFill>
                <a:latin typeface="Microsoft YaHei"/>
              </a:defRPr>
            </a:pPr>
            <a:r>
              <a:t>Methods: We performed a retrospective analysis including consecutive patients with R/R LBCL treated in L2 with commercial anti-CD19 CAR T cells between 01/04/20</a:t>
            </a:r>
          </a:p>
          <a:p>
            <a:pPr>
              <a:lnSpc>
                <a:spcPct val="103000"/>
              </a:lnSpc>
              <a:spcAft>
                <a:spcPts val="300"/>
              </a:spcAft>
              <a:defRPr sz="570">
                <a:solidFill>
                  <a:srgbClr val="21242A"/>
                </a:solidFill>
                <a:latin typeface="Microsoft YaHei"/>
              </a:defRPr>
            </a:pPr>
            <a:r>
              <a:t>22 and 31/12/2024.</a:t>
            </a:r>
          </a:p>
          <a:p>
            <a:pPr>
              <a:lnSpc>
                <a:spcPct val="103000"/>
              </a:lnSpc>
              <a:spcAft>
                <a:spcPts val="300"/>
              </a:spcAft>
              <a:defRPr sz="570">
                <a:solidFill>
                  <a:srgbClr val="21242A"/>
                </a:solidFill>
                <a:latin typeface="Microsoft YaHei"/>
              </a:defRPr>
            </a:pPr>
            <a:r>
              <a:t>Immune monitoring included serum Ig and lymphocyte subsets (including CD4+ T cells and B cells) at M1, M3, M6, M9, M12, and beyond when available.</a:t>
            </a:r>
          </a:p>
          <a:p>
            <a:pPr>
              <a:lnSpc>
                <a:spcPct val="103000"/>
              </a:lnSpc>
              <a:spcAft>
                <a:spcPts val="300"/>
              </a:spcAft>
              <a:defRPr sz="570">
                <a:solidFill>
                  <a:srgbClr val="21242A"/>
                </a:solidFill>
                <a:latin typeface="Microsoft YaHei"/>
              </a:defRPr>
            </a:pPr>
            <a:r>
              <a:t>Hypogammaglobulinemia (HypoGG) was defined as hypoGG 200/mL, 2/detectable B cells, and 3/IgG &gt;4 g/L) as: no IR, 1, or 2 criteria.</a:t>
            </a:r>
          </a:p>
          <a:p>
            <a:pPr>
              <a:lnSpc>
                <a:spcPct val="103000"/>
              </a:lnSpc>
              <a:spcAft>
                <a:spcPts val="300"/>
              </a:spcAft>
              <a:defRPr sz="570">
                <a:solidFill>
                  <a:srgbClr val="21242A"/>
                </a:solidFill>
                <a:latin typeface="Microsoft YaHei"/>
              </a:defRPr>
            </a:pPr>
            <a:r>
              <a:t>Landmark comparison of occurrence of infection post-M3 was performed, and factors associated with reconstitution were explored.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real-world L2 R/R LBCL population treated with anti-CD19 CAR T cells, immune deficiency remained frequent, with persistent hypoGG, B-cell aplasia and de</a:t>
            </a:r>
          </a:p>
          <a:p>
            <a:pPr>
              <a:lnSpc>
                <a:spcPct val="103000"/>
              </a:lnSpc>
              <a:spcAft>
                <a:spcPts val="300"/>
              </a:spcAft>
              <a:defRPr sz="590">
                <a:solidFill>
                  <a:srgbClr val="21242A"/>
                </a:solidFill>
                <a:latin typeface="Microsoft YaHei"/>
              </a:defRPr>
            </a:pPr>
            <a:r>
              <a:t>layed CD4+ T-cell recovery in a substantial proportion of patients.</a:t>
            </a:r>
          </a:p>
          <a:p>
            <a:pPr>
              <a:lnSpc>
                <a:spcPct val="103000"/>
              </a:lnSpc>
              <a:spcAft>
                <a:spcPts val="300"/>
              </a:spcAft>
              <a:defRPr sz="590">
                <a:solidFill>
                  <a:srgbClr val="21242A"/>
                </a:solidFill>
                <a:latin typeface="Microsoft YaHei"/>
              </a:defRPr>
            </a:pPr>
            <a:r>
              <a:t>Infectious complications were common and extended beyond the early post-infusion period.</a:t>
            </a:r>
          </a:p>
          <a:p>
            <a:pPr>
              <a:lnSpc>
                <a:spcPct val="103000"/>
              </a:lnSpc>
              <a:spcAft>
                <a:spcPts val="300"/>
              </a:spcAft>
              <a:defRPr sz="590">
                <a:solidFill>
                  <a:srgbClr val="21242A"/>
                </a:solidFill>
                <a:latin typeface="Microsoft YaHei"/>
              </a:defRPr>
            </a:pPr>
            <a:r>
              <a:t>These findings support systematic immune monitoring after L2 CAR T-cell and may help refine prophylactic and Ig replacement strategies.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第3个月时，低丙种球蛋白血症发生率11%，无严重低丙种球蛋白血症；所有患者均出现B细胞再生障碍；51%患者CD4+ T细胞计数&lt;200/mL；16%患者未恢复任何免疫重建标准，45%恢复1项标准，39%恢复2项标准。</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第6个月和第12个月时，分别有9%和26%的患者恢复全部3项标准。</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21%患者接受了免疫球蛋白补充。</a:t>
                      </a:r>
                    </a:p>
                  </a:txBody>
                  <a:tcPr>
                    <a:solidFill>
                      <a:srgbClr val="F6F8FB"/>
                    </a:solidFill>
                  </a:tcPr>
                </a:tc>
              </a:tr>
              <a:tr h="187452">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第3个月时，56%患者至少发生过一次感染；25%患者发生过至少一次严重感染（≥3级）。</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第3个月后共发生49次感染，其中53%为细菌、45%为病毒、2%为真菌感染。</a:t>
                      </a:r>
                    </a:p>
                  </a:txBody>
                  <a:tcPr>
                    <a:solidFill>
                      <a:srgbClr val="F6F8FB"/>
                    </a:solidFill>
                  </a:tcPr>
                </a:tc>
              </a:tr>
              <a:tr h="187452">
                <a:tc>
                  <a:txBody>
                    <a:bodyPr wrap="square" lIns="36576" rIns="36576" tIns="18288" bIns="18288"/>
                    <a:lstStyle/>
                    <a:p>
                      <a:r>
                        <a:rPr sz="540" b="1">
                          <a:solidFill>
                            <a:srgbClr val="21242A"/>
                          </a:solidFill>
                          <a:latin typeface="Microsoft YaHei"/>
                        </a:rPr>
                        <a:t>第3个月后感染累积计数在不同免疫重建标准组间无显著差异（MCC at M12</a:t>
                      </a:r>
                    </a:p>
                  </a:txBody>
                  <a:tcPr>
                    <a:solidFill>
                      <a:srgbClr val="FFFFFF"/>
                    </a:solidFill>
                  </a:tcPr>
                </a:tc>
                <a:tc>
                  <a:txBody>
                    <a:bodyPr wrap="square" lIns="36576" rIns="36576" tIns="18288" bIns="18288"/>
                    <a:lstStyle/>
                    <a:p>
                      <a:r>
                        <a:rPr sz="540" b="0">
                          <a:solidFill>
                            <a:srgbClr val="21242A"/>
                          </a:solidFill>
                          <a:latin typeface="Microsoft YaHei"/>
                        </a:rPr>
                        <a:t>0,55 vs 0,96 vs 1,2）。</a:t>
                      </a:r>
                    </a:p>
                  </a:txBody>
                  <a:tcPr>
                    <a:solidFill>
                      <a:srgbClr val="FFFFFF"/>
                    </a:solidFill>
                  </a:tcPr>
                </a:tc>
              </a:tr>
              <a:tr h="187452">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CAR-T治疗后1年PFS为54%，OS为77%。以第3个月为起点，不同免疫重建标准组1年PFS分别为83%、56%、87%；OS分别为88%、63%、90%。</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摘要号：PF1019</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在复发/难治性大b细胞淋巴瘤中，接受滞留治疗与整个car t治疗途径的不良结果有关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receipt of holding therapy is associated with inferior outcomes across the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N=219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回顾性临床研究结果：receipt of holding therapy is associated with inferio...</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意向治疗人群总生存期：HT组中位OS 5.7个月 vs 无HT组26.6个月，调整后HR=2.03（95%CI 1.29-3....</a:t>
            </a:r>
          </a:p>
          <a:p>
            <a:pPr>
              <a:lnSpc>
                <a:spcPct val="103000"/>
              </a:lnSpc>
              <a:spcAft>
                <a:spcPts val="300"/>
              </a:spcAft>
              <a:defRPr sz="800">
                <a:solidFill>
                  <a:srgbClr val="21242A"/>
                </a:solidFill>
                <a:latin typeface="Microsoft YaHei"/>
              </a:defRPr>
            </a:pPr>
            <a:r>
              <a:t>输注后总生存期：HT组中位OS 12.3个月 vs 无HT组未达到，调整后HR=2.12（95%CI 1.11-4.04，p=...</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人数：219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研究主题：receipt of holding therapy is associated with inferior outcomes across the car t treatment pathway in relapsed/refracto...</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在复发/难治性大b细胞淋巴瘤中，接受滞留治疗与整个car t治疗途径的不良结果有关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receipt of holding therapy is associated with inferior outcomes across the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Although CD19-directed chimeric antigen receptor T cell (CAR T) therapy has improved outcomes for relapsed/refractory large B cell lymphoma (R/R LBC</a:t>
            </a:r>
          </a:p>
          <a:p>
            <a:pPr>
              <a:lnSpc>
                <a:spcPct val="103000"/>
              </a:lnSpc>
              <a:spcAft>
                <a:spcPts val="300"/>
              </a:spcAft>
              <a:defRPr sz="570">
                <a:solidFill>
                  <a:srgbClr val="21242A"/>
                </a:solidFill>
                <a:latin typeface="Microsoft YaHei"/>
              </a:defRPr>
            </a:pPr>
            <a:r>
              <a:t>L), up to a third of referred pts don’t reach infusion.</a:t>
            </a:r>
          </a:p>
          <a:p>
            <a:pPr>
              <a:lnSpc>
                <a:spcPct val="103000"/>
              </a:lnSpc>
              <a:spcAft>
                <a:spcPts val="300"/>
              </a:spcAft>
              <a:defRPr sz="570">
                <a:solidFill>
                  <a:srgbClr val="21242A"/>
                </a:solidFill>
                <a:latin typeface="Microsoft YaHei"/>
              </a:defRPr>
            </a:pPr>
            <a:r>
              <a:t>While outcomes associated with bridging therapy (BT) have been described, there is a lack of data reporting on the association of holding therapy (HT) administe</a:t>
            </a:r>
          </a:p>
          <a:p>
            <a:pPr>
              <a:lnSpc>
                <a:spcPct val="103000"/>
              </a:lnSpc>
              <a:spcAft>
                <a:spcPts val="300"/>
              </a:spcAft>
              <a:defRPr sz="570">
                <a:solidFill>
                  <a:srgbClr val="21242A"/>
                </a:solidFill>
                <a:latin typeface="Microsoft YaHei"/>
              </a:defRPr>
            </a:pPr>
            <a:r>
              <a:t>red between referral and apheresis across the full intention-to-treat (ITT) pathway.</a:t>
            </a:r>
          </a:p>
          <a:p>
            <a:pPr>
              <a:lnSpc>
                <a:spcPct val="103000"/>
              </a:lnSpc>
              <a:spcAft>
                <a:spcPts val="300"/>
              </a:spcAft>
              <a:defRPr sz="570">
                <a:solidFill>
                  <a:srgbClr val="21242A"/>
                </a:solidFill>
                <a:latin typeface="Microsoft YaHei"/>
              </a:defRPr>
            </a:pPr>
            <a:r>
              <a:t>Aims: To evaluate the association of receipt of HT across the complete CAR T treatment journey from referral through infusion.</a:t>
            </a:r>
          </a:p>
          <a:p>
            <a:pPr>
              <a:lnSpc>
                <a:spcPct val="103000"/>
              </a:lnSpc>
              <a:spcAft>
                <a:spcPts val="300"/>
              </a:spcAft>
              <a:defRPr sz="570">
                <a:solidFill>
                  <a:srgbClr val="21242A"/>
                </a:solidFill>
                <a:latin typeface="Microsoft YaHei"/>
              </a:defRPr>
            </a:pPr>
            <a:r>
              <a:t>Methods: We retrospectively analyzed 219 patients (pts) with R/R LBCL referred for axicel or tisacel at Princess Margaret Cancer Centre (2017-2024), with follow</a:t>
            </a:r>
          </a:p>
          <a:p>
            <a:pPr>
              <a:lnSpc>
                <a:spcPct val="103000"/>
              </a:lnSpc>
              <a:spcAft>
                <a:spcPts val="300"/>
              </a:spcAft>
              <a:defRPr sz="570">
                <a:solidFill>
                  <a:srgbClr val="21242A"/>
                </a:solidFill>
                <a:latin typeface="Microsoft YaHei"/>
              </a:defRPr>
            </a:pPr>
            <a:r>
              <a:t>-up through August 2025.</a:t>
            </a:r>
          </a:p>
          <a:p>
            <a:pPr>
              <a:lnSpc>
                <a:spcPct val="103000"/>
              </a:lnSpc>
              <a:spcAft>
                <a:spcPts val="300"/>
              </a:spcAft>
              <a:defRPr sz="570">
                <a:solidFill>
                  <a:srgbClr val="21242A"/>
                </a:solidFill>
                <a:latin typeface="Microsoft YaHei"/>
              </a:defRPr>
            </a:pPr>
            <a:r>
              <a:t>Outcomes were assessed across sequential treatment phases: referral to apheresis (HT), apheresis to infusion (BT), and post-CAR T infusion.</a:t>
            </a:r>
          </a:p>
          <a:p>
            <a:pPr>
              <a:lnSpc>
                <a:spcPct val="103000"/>
              </a:lnSpc>
              <a:spcAft>
                <a:spcPts val="300"/>
              </a:spcAft>
              <a:defRPr sz="570">
                <a:solidFill>
                  <a:srgbClr val="21242A"/>
                </a:solidFill>
                <a:latin typeface="Microsoft YaHei"/>
              </a:defRPr>
            </a:pPr>
            <a:r>
              <a:t>HT and BT were selected at the discretion of the treating physician. Cox models evaluated overall survival (OS) in the ITT, apheresed, and infused cohorts.</a:t>
            </a:r>
          </a:p>
          <a:p>
            <a:pPr>
              <a:lnSpc>
                <a:spcPct val="103000"/>
              </a:lnSpc>
              <a:spcAft>
                <a:spcPts val="300"/>
              </a:spcAft>
              <a:defRPr sz="570">
                <a:solidFill>
                  <a:srgbClr val="21242A"/>
                </a:solidFill>
                <a:latin typeface="Microsoft YaHei"/>
              </a:defRPr>
            </a:pPr>
            <a:r>
              <a:t>Kaplan-Meier curves estimated OS, with multivariable Cox models assessing the association of HT and BT with outcomes.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cohort of pts referred for CAR T evaluation, receipt of HT but not BT was independently associated with inferior OS across the CAR T treatment journey t</a:t>
            </a:r>
          </a:p>
          <a:p>
            <a:pPr>
              <a:lnSpc>
                <a:spcPct val="103000"/>
              </a:lnSpc>
              <a:spcAft>
                <a:spcPts val="300"/>
              </a:spcAft>
              <a:defRPr sz="590">
                <a:solidFill>
                  <a:srgbClr val="21242A"/>
                </a:solidFill>
                <a:latin typeface="Microsoft YaHei"/>
              </a:defRPr>
            </a:pPr>
            <a:r>
              <a:t>hrough to infusion.</a:t>
            </a:r>
          </a:p>
          <a:p>
            <a:pPr>
              <a:lnSpc>
                <a:spcPct val="103000"/>
              </a:lnSpc>
              <a:spcAft>
                <a:spcPts val="300"/>
              </a:spcAft>
              <a:defRPr sz="590">
                <a:solidFill>
                  <a:srgbClr val="21242A"/>
                </a:solidFill>
                <a:latin typeface="Microsoft YaHei"/>
              </a:defRPr>
            </a:pPr>
            <a:r>
              <a:t>This distinction is clinically important as it identifies the pre-apheresis interval as a critical prognostic window, suggesting that pts requiring disease cont</a:t>
            </a:r>
          </a:p>
          <a:p>
            <a:pPr>
              <a:lnSpc>
                <a:spcPct val="103000"/>
              </a:lnSpc>
              <a:spcAft>
                <a:spcPts val="300"/>
              </a:spcAft>
              <a:defRPr sz="590">
                <a:solidFill>
                  <a:srgbClr val="21242A"/>
                </a:solidFill>
                <a:latin typeface="Microsoft YaHei"/>
              </a:defRPr>
            </a:pPr>
            <a:r>
              <a:t>rol prior to apheresis represent a high-risk population whose inferior outcomes persist despite eventual CAR T infusion.</a:t>
            </a:r>
          </a:p>
          <a:p>
            <a:pPr>
              <a:lnSpc>
                <a:spcPct val="103000"/>
              </a:lnSpc>
              <a:spcAft>
                <a:spcPts val="300"/>
              </a:spcAft>
              <a:defRPr sz="590">
                <a:solidFill>
                  <a:srgbClr val="21242A"/>
                </a:solidFill>
                <a:latin typeface="Microsoft YaHei"/>
              </a:defRPr>
            </a:pPr>
            <a:r>
              <a:t>\n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37490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374904">
                <a:tc>
                  <a:txBody>
                    <a:bodyPr wrap="square" lIns="36576" rIns="36576" tIns="18288" bIns="18288"/>
                    <a:lstStyle/>
                    <a:p>
                      <a:r>
                        <a:rPr sz="540" b="1">
                          <a:solidFill>
                            <a:srgbClr val="21242A"/>
                          </a:solidFill>
                          <a:latin typeface="Microsoft YaHei"/>
                        </a:rPr>
                        <a:t>意向治疗人群总生存期</a:t>
                      </a:r>
                    </a:p>
                  </a:txBody>
                  <a:tcPr>
                    <a:solidFill>
                      <a:srgbClr val="F6F8FB"/>
                    </a:solidFill>
                  </a:tcPr>
                </a:tc>
                <a:tc>
                  <a:txBody>
                    <a:bodyPr wrap="square" lIns="36576" rIns="36576" tIns="18288" bIns="18288"/>
                    <a:lstStyle/>
                    <a:p>
                      <a:r>
                        <a:rPr sz="540" b="0">
                          <a:solidFill>
                            <a:srgbClr val="21242A"/>
                          </a:solidFill>
                          <a:latin typeface="Microsoft YaHei"/>
                        </a:rPr>
                        <a:t>HT组中位OS 5.7个月 vs 无HT组26.6个月，调整后HR=2.03（95%CI 1.29-3.17，p=0.002）</a:t>
                      </a:r>
                    </a:p>
                  </a:txBody>
                  <a:tcPr>
                    <a:solidFill>
                      <a:srgbClr val="F6F8FB"/>
                    </a:solidFill>
                  </a:tcPr>
                </a:tc>
              </a:tr>
              <a:tr h="374904">
                <a:tc>
                  <a:txBody>
                    <a:bodyPr wrap="square" lIns="36576" rIns="36576" tIns="18288" bIns="18288"/>
                    <a:lstStyle/>
                    <a:p>
                      <a:r>
                        <a:rPr sz="540" b="1">
                          <a:solidFill>
                            <a:srgbClr val="21242A"/>
                          </a:solidFill>
                          <a:latin typeface="Microsoft YaHei"/>
                        </a:rPr>
                        <a:t>输注后总生存期</a:t>
                      </a:r>
                    </a:p>
                  </a:txBody>
                  <a:tcPr>
                    <a:solidFill>
                      <a:srgbClr val="FFFFFF"/>
                    </a:solidFill>
                  </a:tcPr>
                </a:tc>
                <a:tc>
                  <a:txBody>
                    <a:bodyPr wrap="square" lIns="36576" rIns="36576" tIns="18288" bIns="18288"/>
                    <a:lstStyle/>
                    <a:p>
                      <a:r>
                        <a:rPr sz="540" b="0">
                          <a:solidFill>
                            <a:srgbClr val="21242A"/>
                          </a:solidFill>
                          <a:latin typeface="Microsoft YaHei"/>
                        </a:rPr>
                        <a:t>HT组中位OS 12.3个月 vs 无HT组未达到，调整后HR=2.12（95%CI 1.11-4.04，p=0.023）</a:t>
                      </a:r>
                    </a:p>
                  </a:txBody>
                  <a:tcPr>
                    <a:solidFill>
                      <a:srgbClr val="FFFFFF"/>
                    </a:solidFill>
                  </a:tcPr>
                </a:tc>
              </a:tr>
              <a:tr h="374904">
                <a:tc>
                  <a:txBody>
                    <a:bodyPr wrap="square" lIns="36576" rIns="36576" tIns="18288" bIns="18288"/>
                    <a:lstStyle/>
                    <a:p>
                      <a:r>
                        <a:rPr sz="540" b="1">
                          <a:solidFill>
                            <a:srgbClr val="21242A"/>
                          </a:solidFill>
                          <a:latin typeface="Microsoft YaHei"/>
                        </a:rPr>
                        <a:t>接受BT与未接受BT的输注后OS</a:t>
                      </a:r>
                    </a:p>
                  </a:txBody>
                  <a:tcPr>
                    <a:solidFill>
                      <a:srgbClr val="F6F8FB"/>
                    </a:solidFill>
                  </a:tcPr>
                </a:tc>
                <a:tc>
                  <a:txBody>
                    <a:bodyPr wrap="square" lIns="36576" rIns="36576" tIns="18288" bIns="18288"/>
                    <a:lstStyle/>
                    <a:p>
                      <a:r>
                        <a:rPr sz="540" b="0">
                          <a:solidFill>
                            <a:srgbClr val="21242A"/>
                          </a:solidFill>
                          <a:latin typeface="Microsoft YaHei"/>
                        </a:rPr>
                        <a:t>中位OS 47.9个月 vs 37个月，调整后HR=1.05（95%CI 0.54-2.05，p=0.88）</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新诊断的高危大b细胞淋巴瘤患者的现实世界（rw）治疗模式和生存结果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(rw) treatment patterns and survival outcomes in patients (pts) wi...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N=666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回顾性临床研究结果：real-world (rw) treatment patterns and survival outco...</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总人群（2011-2025年，666例）：</a:t>
            </a:r>
          </a:p>
          <a:p>
            <a:pPr>
              <a:lnSpc>
                <a:spcPct val="103000"/>
              </a:lnSpc>
              <a:spcAft>
                <a:spcPts val="300"/>
              </a:spcAft>
              <a:defRPr sz="800">
                <a:solidFill>
                  <a:srgbClr val="21242A"/>
                </a:solidFill>
                <a:latin typeface="Microsoft YaHei"/>
              </a:defRPr>
            </a:pPr>
            <a:r>
              <a:t>- 中位OS（从一线治疗开始）：35个月（95% CI 29-47）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人数：666</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研究主题：real-world (rw) treatment patterns and survival outcomes in patients (pts) with newly diagnosed high-risk (hr) large b-...</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新诊断的高危大b细胞淋巴瘤患者的现实世界（rw）治疗模式和生存结果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(rw) treatment patterns and survival outcomes in patients (pts) wi...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LBCL is curable in ~60% of pts treated with first-line (1L) chemoimmunotherapy (CIT); however, outcomes remain poor for pts with HR disease, defined</a:t>
            </a:r>
          </a:p>
          <a:p>
            <a:pPr>
              <a:lnSpc>
                <a:spcPct val="103000"/>
              </a:lnSpc>
              <a:spcAft>
                <a:spcPts val="300"/>
              </a:spcAft>
              <a:defRPr sz="570">
                <a:solidFill>
                  <a:srgbClr val="21242A"/>
                </a:solidFill>
                <a:latin typeface="Microsoft YaHei"/>
              </a:defRPr>
            </a:pPr>
            <a:r>
              <a:t> as International Prognostic Index (IPI) 4-5.</a:t>
            </a:r>
          </a:p>
          <a:p>
            <a:pPr>
              <a:lnSpc>
                <a:spcPct val="103000"/>
              </a:lnSpc>
              <a:spcAft>
                <a:spcPts val="300"/>
              </a:spcAft>
              <a:defRPr sz="570">
                <a:solidFill>
                  <a:srgbClr val="21242A"/>
                </a:solidFill>
                <a:latin typeface="Microsoft YaHei"/>
              </a:defRPr>
            </a:pPr>
            <a:r>
              <a:t>RW data on contemporary outcomes and subsequent therapy pathways in this population are limited.</a:t>
            </a:r>
          </a:p>
          <a:p>
            <a:pPr>
              <a:lnSpc>
                <a:spcPct val="103000"/>
              </a:lnSpc>
              <a:spcAft>
                <a:spcPts val="300"/>
              </a:spcAft>
              <a:defRPr sz="570">
                <a:solidFill>
                  <a:srgbClr val="21242A"/>
                </a:solidFill>
                <a:latin typeface="Microsoft YaHei"/>
              </a:defRPr>
            </a:pPr>
            <a:r>
              <a:t>Aims: To evaluate RW treatment patterns, time to next treatment (rwTTNT), overall survival (rwOS), and utilization of second-line (2L) therapies in pts with HR </a:t>
            </a:r>
          </a:p>
          <a:p>
            <a:pPr>
              <a:lnSpc>
                <a:spcPct val="103000"/>
              </a:lnSpc>
              <a:spcAft>
                <a:spcPts val="300"/>
              </a:spcAft>
              <a:defRPr sz="570">
                <a:solidFill>
                  <a:srgbClr val="21242A"/>
                </a:solidFill>
                <a:latin typeface="Microsoft YaHei"/>
              </a:defRPr>
            </a:pPr>
            <a:r>
              <a:t>LBCL treated with 1L CIT.</a:t>
            </a:r>
          </a:p>
          <a:p>
            <a:pPr>
              <a:lnSpc>
                <a:spcPct val="103000"/>
              </a:lnSpc>
              <a:spcAft>
                <a:spcPts val="300"/>
              </a:spcAft>
              <a:defRPr sz="570">
                <a:solidFill>
                  <a:srgbClr val="21242A"/>
                </a:solidFill>
                <a:latin typeface="Microsoft YaHei"/>
              </a:defRPr>
            </a:pPr>
            <a:r>
              <a:t>Methods: This retrospective study used electronic health records from the US-based Flatiron Health database.</a:t>
            </a:r>
          </a:p>
          <a:p>
            <a:pPr>
              <a:lnSpc>
                <a:spcPct val="103000"/>
              </a:lnSpc>
              <a:spcAft>
                <a:spcPts val="300"/>
              </a:spcAft>
              <a:defRPr sz="570">
                <a:solidFill>
                  <a:srgbClr val="21242A"/>
                </a:solidFill>
                <a:latin typeface="Microsoft YaHei"/>
              </a:defRPr>
            </a:pPr>
            <a:r>
              <a:t>Pts had HR LBCL, initiated 1L therapy Jan 1, 2011-Feb 28, 2025 (all pts), or Jan 1, 2019-Feb 28, 2025 (recent cohort, a subset of all pts), and had ≥6 mo follow</a:t>
            </a:r>
          </a:p>
          <a:p>
            <a:pPr>
              <a:lnSpc>
                <a:spcPct val="103000"/>
              </a:lnSpc>
              <a:spcAft>
                <a:spcPts val="300"/>
              </a:spcAft>
              <a:defRPr sz="570">
                <a:solidFill>
                  <a:srgbClr val="21242A"/>
                </a:solidFill>
                <a:latin typeface="Microsoft YaHei"/>
              </a:defRPr>
            </a:pPr>
            <a:r>
              <a:t>-up opportunity through Aug 31, 2025.</a:t>
            </a:r>
          </a:p>
          <a:p>
            <a:pPr>
              <a:lnSpc>
                <a:spcPct val="103000"/>
              </a:lnSpc>
              <a:spcAft>
                <a:spcPts val="300"/>
              </a:spcAft>
              <a:defRPr sz="570">
                <a:solidFill>
                  <a:srgbClr val="21242A"/>
                </a:solidFill>
                <a:latin typeface="Microsoft YaHei"/>
              </a:defRPr>
            </a:pPr>
            <a:r>
              <a:t>Outcomes were rwTTNT, rwOS, 1L therapy utilization, and pathway to 2L therapy and were analyzed descriptively.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Outcomes remain poor among pts with HR LBCL despite newer 1L CIT regimens.</a:t>
            </a:r>
          </a:p>
          <a:p>
            <a:pPr>
              <a:lnSpc>
                <a:spcPct val="103000"/>
              </a:lnSpc>
              <a:spcAft>
                <a:spcPts val="300"/>
              </a:spcAft>
              <a:defRPr sz="590">
                <a:solidFill>
                  <a:srgbClr val="21242A"/>
                </a:solidFill>
                <a:latin typeface="Microsoft YaHei"/>
              </a:defRPr>
            </a:pPr>
            <a:r>
              <a:t>A significant proportion of pts (73%) progressed to 2L or died even before receiving 2L, highlighting a critical unmet need for improved 1L therapies.</a:t>
            </a:r>
          </a:p>
          <a:p>
            <a:pPr>
              <a:lnSpc>
                <a:spcPct val="103000"/>
              </a:lnSpc>
              <a:spcAft>
                <a:spcPts val="300"/>
              </a:spcAft>
              <a:defRPr sz="590">
                <a:solidFill>
                  <a:srgbClr val="21242A"/>
                </a:solidFill>
                <a:latin typeface="Microsoft YaHei"/>
              </a:defRPr>
            </a:pPr>
            <a:r>
              <a:t>Differences in rwOS, but not rwTTNT, between all pts and the recent cohort suggest evolution of 2L+ therapies over time.</a:t>
            </a:r>
          </a:p>
          <a:p>
            <a:pPr>
              <a:lnSpc>
                <a:spcPct val="103000"/>
              </a:lnSpc>
              <a:spcAft>
                <a:spcPts val="300"/>
              </a:spcAft>
              <a:defRPr sz="590">
                <a:solidFill>
                  <a:srgbClr val="21242A"/>
                </a:solidFill>
                <a:latin typeface="Microsoft YaHei"/>
              </a:defRPr>
            </a:pPr>
            <a:r>
              <a:t>Study limitations include unknown rationales for and possible misclassification of specific therapy/drug combinations as well as different duration of follow-up</a:t>
            </a:r>
          </a:p>
          <a:p>
            <a:pPr>
              <a:lnSpc>
                <a:spcPct val="103000"/>
              </a:lnSpc>
              <a:spcAft>
                <a:spcPts val="300"/>
              </a:spcAft>
              <a:defRPr sz="590">
                <a:solidFill>
                  <a:srgbClr val="21242A"/>
                </a:solidFill>
                <a:latin typeface="Microsoft YaHei"/>
              </a:defRPr>
            </a:pPr>
            <a:r>
              <a:t> and censoring between the recent cohort and all pts.</a:t>
            </a:r>
          </a:p>
          <a:p>
            <a:pPr>
              <a:lnSpc>
                <a:spcPct val="103000"/>
              </a:lnSpc>
              <a:spcAft>
                <a:spcPts val="300"/>
              </a:spcAft>
              <a:defRPr sz="590">
                <a:solidFill>
                  <a:srgbClr val="21242A"/>
                </a:solidFill>
                <a:latin typeface="Microsoft YaHei"/>
              </a:defRPr>
            </a:pPr>
            <a:r>
              <a:t>\n RR and JM contributed equally.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07115">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07115">
                <a:tc>
                  <a:txBody>
                    <a:bodyPr wrap="square" lIns="36576" rIns="36576" tIns="18288" bIns="18288"/>
                    <a:lstStyle/>
                    <a:p>
                      <a:r>
                        <a:rPr sz="540" b="1">
                          <a:solidFill>
                            <a:srgbClr val="21242A"/>
                          </a:solidFill>
                          <a:latin typeface="Microsoft YaHei"/>
                        </a:rPr>
                        <a:t>总人群（2011-2025年，666例）</a:t>
                      </a:r>
                    </a:p>
                  </a:txBody>
                  <a:tcPr>
                    <a:solidFill>
                      <a:srgbClr val="F6F8FB"/>
                    </a:solidFill>
                  </a:tcPr>
                </a:tc>
                <a:tc>
                  <a:txBody>
                    <a:bodyPr wrap="square" lIns="36576" rIns="36576" tIns="18288" bIns="18288"/>
                    <a:lstStyle/>
                    <a:p>
                      <a:r>
                        <a:rPr sz="540" b="0">
                          <a:solidFill>
                            <a:srgbClr val="21242A"/>
                          </a:solidFill>
                          <a:latin typeface="Microsoft YaHei"/>
                        </a:rPr>
                        <a:t/>
                      </a:r>
                    </a:p>
                  </a:txBody>
                  <a:tcPr>
                    <a:solidFill>
                      <a:srgbClr val="F6F8FB"/>
                    </a:solidFill>
                  </a:tcPr>
                </a:tc>
              </a:tr>
              <a:tr h="107115">
                <a:tc>
                  <a:txBody>
                    <a:bodyPr wrap="square" lIns="36576" rIns="36576" tIns="18288" bIns="18288"/>
                    <a:lstStyle/>
                    <a:p>
                      <a:r>
                        <a:rPr sz="540" b="1">
                          <a:solidFill>
                            <a:srgbClr val="21242A"/>
                          </a:solidFill>
                          <a:latin typeface="Microsoft YaHei"/>
                        </a:rPr>
                        <a:t>- 中位OS（从一线治疗开始）</a:t>
                      </a:r>
                    </a:p>
                  </a:txBody>
                  <a:tcPr>
                    <a:solidFill>
                      <a:srgbClr val="FFFFFF"/>
                    </a:solidFill>
                  </a:tcPr>
                </a:tc>
                <a:tc>
                  <a:txBody>
                    <a:bodyPr wrap="square" lIns="36576" rIns="36576" tIns="18288" bIns="18288"/>
                    <a:lstStyle/>
                    <a:p>
                      <a:r>
                        <a:rPr sz="540" b="0">
                          <a:solidFill>
                            <a:srgbClr val="21242A"/>
                          </a:solidFill>
                          <a:latin typeface="Microsoft YaHei"/>
                        </a:rPr>
                        <a:t>35个月（95% CI 29-47）</a:t>
                      </a:r>
                    </a:p>
                  </a:txBody>
                  <a:tcPr>
                    <a:solidFill>
                      <a:srgbClr val="FFFFFF"/>
                    </a:solidFill>
                  </a:tcPr>
                </a:tc>
              </a:tr>
              <a:tr h="107115">
                <a:tc>
                  <a:txBody>
                    <a:bodyPr wrap="square" lIns="36576" rIns="36576" tIns="18288" bIns="18288"/>
                    <a:lstStyle/>
                    <a:p>
                      <a:r>
                        <a:rPr sz="540" b="1">
                          <a:solidFill>
                            <a:srgbClr val="21242A"/>
                          </a:solidFill>
                          <a:latin typeface="Microsoft YaHei"/>
                        </a:rPr>
                        <a:t>- 2年OS率</a:t>
                      </a:r>
                    </a:p>
                  </a:txBody>
                  <a:tcPr>
                    <a:solidFill>
                      <a:srgbClr val="F6F8FB"/>
                    </a:solidFill>
                  </a:tcPr>
                </a:tc>
                <a:tc>
                  <a:txBody>
                    <a:bodyPr wrap="square" lIns="36576" rIns="36576" tIns="18288" bIns="18288"/>
                    <a:lstStyle/>
                    <a:p>
                      <a:r>
                        <a:rPr sz="540" b="0">
                          <a:solidFill>
                            <a:srgbClr val="21242A"/>
                          </a:solidFill>
                          <a:latin typeface="Microsoft YaHei"/>
                        </a:rPr>
                        <a:t>57%</a:t>
                      </a:r>
                    </a:p>
                  </a:txBody>
                  <a:tcPr>
                    <a:solidFill>
                      <a:srgbClr val="F6F8FB"/>
                    </a:solidFill>
                  </a:tcPr>
                </a:tc>
              </a:tr>
              <a:tr h="107115">
                <a:tc>
                  <a:txBody>
                    <a:bodyPr wrap="square" lIns="36576" rIns="36576" tIns="18288" bIns="18288"/>
                    <a:lstStyle/>
                    <a:p>
                      <a:r>
                        <a:rPr sz="540" b="1">
                          <a:solidFill>
                            <a:srgbClr val="21242A"/>
                          </a:solidFill>
                          <a:latin typeface="Microsoft YaHei"/>
                        </a:rPr>
                        <a:t>- 中位rwTTNT</a:t>
                      </a:r>
                    </a:p>
                  </a:txBody>
                  <a:tcPr>
                    <a:solidFill>
                      <a:srgbClr val="FFFFFF"/>
                    </a:solidFill>
                  </a:tcPr>
                </a:tc>
                <a:tc>
                  <a:txBody>
                    <a:bodyPr wrap="square" lIns="36576" rIns="36576" tIns="18288" bIns="18288"/>
                    <a:lstStyle/>
                    <a:p>
                      <a:r>
                        <a:rPr sz="540" b="0">
                          <a:solidFill>
                            <a:srgbClr val="21242A"/>
                          </a:solidFill>
                          <a:latin typeface="Microsoft YaHei"/>
                        </a:rPr>
                        <a:t>11个月</a:t>
                      </a:r>
                    </a:p>
                  </a:txBody>
                  <a:tcPr>
                    <a:solidFill>
                      <a:srgbClr val="FFFFFF"/>
                    </a:solidFill>
                  </a:tcPr>
                </a:tc>
              </a:tr>
              <a:tr h="107115">
                <a:tc>
                  <a:txBody>
                    <a:bodyPr wrap="square" lIns="36576" rIns="36576" tIns="18288" bIns="18288"/>
                    <a:lstStyle/>
                    <a:p>
                      <a:r>
                        <a:rPr sz="540" b="1">
                          <a:solidFill>
                            <a:srgbClr val="21242A"/>
                          </a:solidFill>
                          <a:latin typeface="Microsoft YaHei"/>
                        </a:rPr>
                        <a:t>- 接受二线治疗比例</a:t>
                      </a:r>
                    </a:p>
                  </a:txBody>
                  <a:tcPr>
                    <a:solidFill>
                      <a:srgbClr val="F6F8FB"/>
                    </a:solidFill>
                  </a:tcPr>
                </a:tc>
                <a:tc>
                  <a:txBody>
                    <a:bodyPr wrap="square" lIns="36576" rIns="36576" tIns="18288" bIns="18288"/>
                    <a:lstStyle/>
                    <a:p>
                      <a:r>
                        <a:rPr sz="540" b="0">
                          <a:solidFill>
                            <a:srgbClr val="21242A"/>
                          </a:solidFill>
                          <a:latin typeface="Microsoft YaHei"/>
                        </a:rPr>
                        <a:t>38%</a:t>
                      </a:r>
                    </a:p>
                  </a:txBody>
                  <a:tcPr>
                    <a:solidFill>
                      <a:srgbClr val="F6F8FB"/>
                    </a:solidFill>
                  </a:tcPr>
                </a:tc>
              </a:tr>
              <a:tr h="107115">
                <a:tc>
                  <a:txBody>
                    <a:bodyPr wrap="square" lIns="36576" rIns="36576" tIns="18288" bIns="18288"/>
                    <a:lstStyle/>
                    <a:p>
                      <a:r>
                        <a:rPr sz="540" b="1">
                          <a:solidFill>
                            <a:srgbClr val="21242A"/>
                          </a:solidFill>
                          <a:latin typeface="Microsoft YaHei"/>
                        </a:rPr>
                        <a:t>- 未接受二线治疗仍存活</a:t>
                      </a:r>
                    </a:p>
                  </a:txBody>
                  <a:tcPr>
                    <a:solidFill>
                      <a:srgbClr val="FFFFFF"/>
                    </a:solidFill>
                  </a:tcPr>
                </a:tc>
                <a:tc>
                  <a:txBody>
                    <a:bodyPr wrap="square" lIns="36576" rIns="36576" tIns="18288" bIns="18288"/>
                    <a:lstStyle/>
                    <a:p>
                      <a:r>
                        <a:rPr sz="540" b="0">
                          <a:solidFill>
                            <a:srgbClr val="21242A"/>
                          </a:solidFill>
                          <a:latin typeface="Microsoft YaHei"/>
                        </a:rPr>
                        <a:t>27%</a:t>
                      </a:r>
                    </a:p>
                  </a:txBody>
                  <a:tcPr>
                    <a:solidFill>
                      <a:srgbClr val="FFFFFF"/>
                    </a:solidFill>
                  </a:tcPr>
                </a:tc>
              </a:tr>
              <a:tr h="107115">
                <a:tc>
                  <a:txBody>
                    <a:bodyPr wrap="square" lIns="36576" rIns="36576" tIns="18288" bIns="18288"/>
                    <a:lstStyle/>
                    <a:p>
                      <a:r>
                        <a:rPr sz="540" b="1">
                          <a:solidFill>
                            <a:srgbClr val="21242A"/>
                          </a:solidFill>
                          <a:latin typeface="Microsoft YaHei"/>
                        </a:rPr>
                        <a:t>- 死亡前未接受二线治疗</a:t>
                      </a:r>
                    </a:p>
                  </a:txBody>
                  <a:tcPr>
                    <a:solidFill>
                      <a:srgbClr val="F6F8FB"/>
                    </a:solidFill>
                  </a:tcPr>
                </a:tc>
                <a:tc>
                  <a:txBody>
                    <a:bodyPr wrap="square" lIns="36576" rIns="36576" tIns="18288" bIns="18288"/>
                    <a:lstStyle/>
                    <a:p>
                      <a:r>
                        <a:rPr sz="540" b="0">
                          <a:solidFill>
                            <a:srgbClr val="21242A"/>
                          </a:solidFill>
                          <a:latin typeface="Microsoft YaHei"/>
                        </a:rPr>
                        <a:t>35%</a:t>
                      </a:r>
                    </a:p>
                  </a:txBody>
                  <a:tcPr>
                    <a:solidFill>
                      <a:srgbClr val="F6F8FB"/>
                    </a:solidFill>
                  </a:tcPr>
                </a:tc>
              </a:tr>
              <a:tr h="107115">
                <a:tc>
                  <a:txBody>
                    <a:bodyPr wrap="square" lIns="36576" rIns="36576" tIns="18288" bIns="18288"/>
                    <a:lstStyle/>
                    <a:p>
                      <a:r>
                        <a:rPr sz="540" b="1">
                          <a:solidFill>
                            <a:srgbClr val="21242A"/>
                          </a:solidFill>
                          <a:latin typeface="Microsoft YaHei"/>
                        </a:rPr>
                        <a:t>近期队列（2019-2025年，337例）</a:t>
                      </a:r>
                    </a:p>
                  </a:txBody>
                  <a:tcPr>
                    <a:solidFill>
                      <a:srgbClr val="FFFFFF"/>
                    </a:solidFill>
                  </a:tcPr>
                </a:tc>
                <a:tc>
                  <a:txBody>
                    <a:bodyPr wrap="square" lIns="36576" rIns="36576" tIns="18288" bIns="18288"/>
                    <a:lstStyle/>
                    <a:p>
                      <a:r>
                        <a:rPr sz="540" b="0">
                          <a:solidFill>
                            <a:srgbClr val="21242A"/>
                          </a:solidFill>
                          <a:latin typeface="Microsoft YaHei"/>
                        </a:rPr>
                        <a:t/>
                      </a:r>
                    </a:p>
                  </a:txBody>
                  <a:tcPr>
                    <a:solidFill>
                      <a:srgbClr val="FFFFFF"/>
                    </a:solidFill>
                  </a:tcPr>
                </a:tc>
              </a:tr>
              <a:tr h="107115">
                <a:tc>
                  <a:txBody>
                    <a:bodyPr wrap="square" lIns="36576" rIns="36576" tIns="18288" bIns="18288"/>
                    <a:lstStyle/>
                    <a:p>
                      <a:r>
                        <a:rPr sz="540" b="1">
                          <a:solidFill>
                            <a:srgbClr val="21242A"/>
                          </a:solidFill>
                          <a:latin typeface="Microsoft YaHei"/>
                        </a:rPr>
                        <a:t>- 中位OS</a:t>
                      </a:r>
                    </a:p>
                  </a:txBody>
                  <a:tcPr>
                    <a:solidFill>
                      <a:srgbClr val="F6F8FB"/>
                    </a:solidFill>
                  </a:tcPr>
                </a:tc>
                <a:tc>
                  <a:txBody>
                    <a:bodyPr wrap="square" lIns="36576" rIns="36576" tIns="18288" bIns="18288"/>
                    <a:lstStyle/>
                    <a:p>
                      <a:r>
                        <a:rPr sz="540" b="0">
                          <a:solidFill>
                            <a:srgbClr val="21242A"/>
                          </a:solidFill>
                          <a:latin typeface="Microsoft YaHei"/>
                        </a:rPr>
                        <a:t>39个月（95% CI 26-56）</a:t>
                      </a:r>
                    </a:p>
                  </a:txBody>
                  <a:tcPr>
                    <a:solidFill>
                      <a:srgbClr val="F6F8FB"/>
                    </a:solidFill>
                  </a:tcPr>
                </a:tc>
              </a:tr>
              <a:tr h="107115">
                <a:tc>
                  <a:txBody>
                    <a:bodyPr wrap="square" lIns="36576" rIns="36576" tIns="18288" bIns="18288"/>
                    <a:lstStyle/>
                    <a:p>
                      <a:r>
                        <a:rPr sz="540" b="1">
                          <a:solidFill>
                            <a:srgbClr val="21242A"/>
                          </a:solidFill>
                          <a:latin typeface="Microsoft YaHei"/>
                        </a:rPr>
                        <a:t>- 2年OS率</a:t>
                      </a:r>
                    </a:p>
                  </a:txBody>
                  <a:tcPr>
                    <a:solidFill>
                      <a:srgbClr val="FFFFFF"/>
                    </a:solidFill>
                  </a:tcPr>
                </a:tc>
                <a:tc>
                  <a:txBody>
                    <a:bodyPr wrap="square" lIns="36576" rIns="36576" tIns="18288" bIns="18288"/>
                    <a:lstStyle/>
                    <a:p>
                      <a:r>
                        <a:rPr sz="540" b="0">
                          <a:solidFill>
                            <a:srgbClr val="21242A"/>
                          </a:solidFill>
                          <a:latin typeface="Microsoft YaHei"/>
                        </a:rPr>
                        <a:t>58%</a:t>
                      </a:r>
                    </a:p>
                  </a:txBody>
                  <a:tcPr>
                    <a:solidFill>
                      <a:srgbClr val="FFFFFF"/>
                    </a:solidFill>
                  </a:tcPr>
                </a:tc>
              </a:tr>
              <a:tr h="107115">
                <a:tc>
                  <a:txBody>
                    <a:bodyPr wrap="square" lIns="36576" rIns="36576" tIns="18288" bIns="18288"/>
                    <a:lstStyle/>
                    <a:p>
                      <a:r>
                        <a:rPr sz="540" b="1">
                          <a:solidFill>
                            <a:srgbClr val="21242A"/>
                          </a:solidFill>
                          <a:latin typeface="Microsoft YaHei"/>
                        </a:rPr>
                        <a:t>- 接受二线治疗比例</a:t>
                      </a:r>
                    </a:p>
                  </a:txBody>
                  <a:tcPr>
                    <a:solidFill>
                      <a:srgbClr val="F6F8FB"/>
                    </a:solidFill>
                  </a:tcPr>
                </a:tc>
                <a:tc>
                  <a:txBody>
                    <a:bodyPr wrap="square" lIns="36576" rIns="36576" tIns="18288" bIns="18288"/>
                    <a:lstStyle/>
                    <a:p>
                      <a:r>
                        <a:rPr sz="540" b="0">
                          <a:solidFill>
                            <a:srgbClr val="21242A"/>
                          </a:solidFill>
                          <a:latin typeface="Microsoft YaHei"/>
                        </a:rPr>
                        <a:t>32%</a:t>
                      </a:r>
                    </a:p>
                  </a:txBody>
                  <a:tcPr>
                    <a:solidFill>
                      <a:srgbClr val="F6F8FB"/>
                    </a:solidFill>
                  </a:tcPr>
                </a:tc>
              </a:tr>
              <a:tr h="107115">
                <a:tc>
                  <a:txBody>
                    <a:bodyPr wrap="square" lIns="36576" rIns="36576" tIns="18288" bIns="18288"/>
                    <a:lstStyle/>
                    <a:p>
                      <a:r>
                        <a:rPr sz="540" b="1">
                          <a:solidFill>
                            <a:srgbClr val="21242A"/>
                          </a:solidFill>
                          <a:latin typeface="Microsoft YaHei"/>
                        </a:rPr>
                        <a:t>- 未接受二线治疗仍存活</a:t>
                      </a:r>
                    </a:p>
                  </a:txBody>
                  <a:tcPr>
                    <a:solidFill>
                      <a:srgbClr val="FFFFFF"/>
                    </a:solidFill>
                  </a:tcPr>
                </a:tc>
                <a:tc>
                  <a:txBody>
                    <a:bodyPr wrap="square" lIns="36576" rIns="36576" tIns="18288" bIns="18288"/>
                    <a:lstStyle/>
                    <a:p>
                      <a:r>
                        <a:rPr sz="540" b="0">
                          <a:solidFill>
                            <a:srgbClr val="21242A"/>
                          </a:solidFill>
                          <a:latin typeface="Microsoft YaHei"/>
                        </a:rPr>
                        <a:t>36%</a:t>
                      </a:r>
                    </a:p>
                  </a:txBody>
                  <a:tcPr>
                    <a:solidFill>
                      <a:srgbClr val="FFFFFF"/>
                    </a:solidFill>
                  </a:tcPr>
                </a:tc>
              </a:tr>
              <a:tr h="107121">
                <a:tc>
                  <a:txBody>
                    <a:bodyPr wrap="square" lIns="36576" rIns="36576" tIns="18288" bIns="18288"/>
                    <a:lstStyle/>
                    <a:p>
                      <a:r>
                        <a:rPr sz="540" b="1">
                          <a:solidFill>
                            <a:srgbClr val="21242A"/>
                          </a:solidFill>
                          <a:latin typeface="Microsoft YaHei"/>
                        </a:rPr>
                        <a:t>- 死亡前未接受二线治疗</a:t>
                      </a:r>
                    </a:p>
                  </a:txBody>
                  <a:tcPr>
                    <a:solidFill>
                      <a:srgbClr val="F6F8FB"/>
                    </a:solidFill>
                  </a:tcPr>
                </a:tc>
                <a:tc>
                  <a:txBody>
                    <a:bodyPr wrap="square" lIns="36576" rIns="36576" tIns="18288" bIns="18288"/>
                    <a:lstStyle/>
                    <a:p>
                      <a:r>
                        <a:rPr sz="540" b="0">
                          <a:solidFill>
                            <a:srgbClr val="21242A"/>
                          </a:solidFill>
                          <a:latin typeface="Microsoft YaHei"/>
                        </a:rPr>
                        <a:t>32%</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t细胞亚群的空间分布揭示了与弥漫性大b细胞淋巴瘤生存相关的不同免疫微环境模式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 profiling of t cell subsets reveals distinct immune microenvironment...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N=365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回顾性临床研究结果：spatial profiling of t cell subsets reveals distinct...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多重免疫荧光显示T细胞浸润在不同患者间存在巨大变异</a:t>
            </a:r>
          </a:p>
          <a:p>
            <a:pPr>
              <a:lnSpc>
                <a:spcPct val="103000"/>
              </a:lnSpc>
              <a:spcAft>
                <a:spcPts val="300"/>
              </a:spcAft>
              <a:defRPr sz="800">
                <a:solidFill>
                  <a:srgbClr val="21242A"/>
                </a:solidFill>
                <a:latin typeface="Microsoft YaHei"/>
              </a:defRPr>
            </a:pPr>
            <a:r>
              <a:t>无监督聚类识别出六种TIME亚型，各自与不同的总生存期相关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人数：365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研究主题：spatial profiling of t cell subsets reveals distinct immune microenvironment patterns associated with survival in diffu...</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t细胞亚群的空间分布揭示了与弥漫性大b细胞淋巴瘤生存相关的不同免疫微环境模式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 profiling of t cell subsets reveals distinct immune microenvironment...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 cell lymphoma (DLBCL) is a heterogeneous disease with variable clinical outcomes.</a:t>
            </a:r>
          </a:p>
          <a:p>
            <a:pPr>
              <a:lnSpc>
                <a:spcPct val="103000"/>
              </a:lnSpc>
              <a:spcAft>
                <a:spcPts val="300"/>
              </a:spcAft>
              <a:defRPr sz="570">
                <a:solidFill>
                  <a:srgbClr val="21242A"/>
                </a:solidFill>
                <a:latin typeface="Microsoft YaHei"/>
              </a:defRPr>
            </a:pPr>
            <a:r>
              <a:t>Success of standard treatment with immunochemotherapy (R-CHOP) is still limited, with a 5-year overall survival of 75%.</a:t>
            </a:r>
          </a:p>
          <a:p>
            <a:pPr>
              <a:lnSpc>
                <a:spcPct val="103000"/>
              </a:lnSpc>
              <a:spcAft>
                <a:spcPts val="300"/>
              </a:spcAft>
              <a:defRPr sz="570">
                <a:solidFill>
                  <a:srgbClr val="21242A"/>
                </a:solidFill>
                <a:latin typeface="Microsoft YaHei"/>
              </a:defRPr>
            </a:pPr>
            <a:r>
              <a:t>Current clinical risk stratification relies primarily on the International Prognostic Index (IPI), based on clinical parameters.</a:t>
            </a:r>
          </a:p>
          <a:p>
            <a:pPr>
              <a:lnSpc>
                <a:spcPct val="103000"/>
              </a:lnSpc>
              <a:spcAft>
                <a:spcPts val="300"/>
              </a:spcAft>
              <a:defRPr sz="570">
                <a:solidFill>
                  <a:srgbClr val="21242A"/>
                </a:solidFill>
                <a:latin typeface="Microsoft YaHei"/>
              </a:defRPr>
            </a:pPr>
            <a:r>
              <a:t>\n The tumor immune microenvironment (TIME) is increasingly recognized as a critical determinant of tumor progression, yet its heterogeneity and spatial organiz</a:t>
            </a:r>
          </a:p>
          <a:p>
            <a:pPr>
              <a:lnSpc>
                <a:spcPct val="103000"/>
              </a:lnSpc>
              <a:spcAft>
                <a:spcPts val="300"/>
              </a:spcAft>
              <a:defRPr sz="570">
                <a:solidFill>
                  <a:srgbClr val="21242A"/>
                </a:solidFill>
                <a:latin typeface="Microsoft YaHei"/>
              </a:defRPr>
            </a:pPr>
            <a:r>
              <a:t>ation remain largely uncharacterized.</a:t>
            </a:r>
          </a:p>
          <a:p>
            <a:pPr>
              <a:lnSpc>
                <a:spcPct val="103000"/>
              </a:lnSpc>
              <a:spcAft>
                <a:spcPts val="300"/>
              </a:spcAft>
              <a:defRPr sz="570">
                <a:solidFill>
                  <a:srgbClr val="21242A"/>
                </a:solidFill>
                <a:latin typeface="Microsoft YaHei"/>
              </a:defRPr>
            </a:pPr>
            <a:r>
              <a:t>While the PD1/PD-L1 axis is central to immune regulation, immune checkpoint blockade has demonstrated limited efficacy in DLBCL, underscoring the need for deepe</a:t>
            </a:r>
          </a:p>
          <a:p>
            <a:pPr>
              <a:lnSpc>
                <a:spcPct val="103000"/>
              </a:lnSpc>
              <a:spcAft>
                <a:spcPts val="300"/>
              </a:spcAft>
              <a:defRPr sz="570">
                <a:solidFill>
                  <a:srgbClr val="21242A"/>
                </a:solidFill>
                <a:latin typeface="Microsoft YaHei"/>
              </a:defRPr>
            </a:pPr>
            <a:r>
              <a:t>r insight into tumor-immune interactions.</a:t>
            </a:r>
          </a:p>
          <a:p>
            <a:pPr>
              <a:lnSpc>
                <a:spcPct val="103000"/>
              </a:lnSpc>
              <a:spcAft>
                <a:spcPts val="300"/>
              </a:spcAft>
              <a:defRPr sz="570">
                <a:solidFill>
                  <a:srgbClr val="21242A"/>
                </a:solidFill>
                <a:latin typeface="Microsoft YaHei"/>
              </a:defRPr>
            </a:pPr>
            <a:r>
              <a:t>Incorporating spatial immune metrics with genetic information and clinical parameters may refine biological understanding and prognostic modeling.</a:t>
            </a:r>
          </a:p>
          <a:p>
            <a:pPr>
              <a:lnSpc>
                <a:spcPct val="103000"/>
              </a:lnSpc>
              <a:spcAft>
                <a:spcPts val="300"/>
              </a:spcAft>
              <a:defRPr sz="570">
                <a:solidFill>
                  <a:srgbClr val="21242A"/>
                </a:solidFill>
                <a:latin typeface="Microsoft YaHei"/>
              </a:defRPr>
            </a:pPr>
            <a:r>
              <a:t>Aims: This study aimed to (i) in depth investigate the role of infiltrating T-lymphocyte subsets in relation to clinical outcomes and to (ii) identify novel bio</a:t>
            </a:r>
          </a:p>
          <a:p>
            <a:pPr>
              <a:lnSpc>
                <a:spcPct val="103000"/>
              </a:lnSpc>
              <a:spcAft>
                <a:spcPts val="300"/>
              </a:spcAft>
              <a:defRPr sz="570">
                <a:solidFill>
                  <a:srgbClr val="21242A"/>
                </a:solidFill>
                <a:latin typeface="Microsoft YaHei"/>
              </a:defRPr>
            </a:pPr>
            <a:r>
              <a:t>markers for better patient stratification by linking T cell infiltration and spatial organization of the tumor immune microenvironment to genetic factors and ou</a:t>
            </a:r>
          </a:p>
          <a:p>
            <a:pPr>
              <a:lnSpc>
                <a:spcPct val="103000"/>
              </a:lnSpc>
              <a:spcAft>
                <a:spcPts val="300"/>
              </a:spcAft>
              <a:defRPr sz="570">
                <a:solidFill>
                  <a:srgbClr val="21242A"/>
                </a:solidFill>
                <a:latin typeface="Microsoft YaHei"/>
              </a:defRPr>
            </a:pPr>
            <a:r>
              <a:t>tcome.</a:t>
            </a:r>
          </a:p>
          <a:p>
            <a:pPr>
              <a:lnSpc>
                <a:spcPct val="103000"/>
              </a:lnSpc>
              <a:spcAft>
                <a:spcPts val="300"/>
              </a:spcAft>
              <a:defRPr sz="570">
                <a:solidFill>
                  <a:srgbClr val="21242A"/>
                </a:solidFill>
                <a:latin typeface="Microsoft YaHei"/>
              </a:defRPr>
            </a:pPr>
            <a:r>
              <a:t>Methods: The study included 650 patients diagnosed with DLBCL between 2000-2014 in southern Sweden.</a:t>
            </a:r>
          </a:p>
          <a:p>
            <a:pPr>
              <a:lnSpc>
                <a:spcPct val="103000"/>
              </a:lnSpc>
              <a:spcAft>
                <a:spcPts val="300"/>
              </a:spcAft>
              <a:defRPr sz="570">
                <a:solidFill>
                  <a:srgbClr val="21242A"/>
                </a:solidFill>
                <a:latin typeface="Microsoft YaHei"/>
              </a:defRPr>
            </a:pPr>
            <a:r>
              <a:t>365 patients diagnosed with DLBCL-NOS were selected for analysis.</a:t>
            </a:r>
          </a:p>
          <a:p>
            <a:pPr>
              <a:lnSpc>
                <a:spcPct val="103000"/>
              </a:lnSpc>
              <a:spcAft>
                <a:spcPts val="300"/>
              </a:spcAft>
              <a:defRPr sz="570">
                <a:solidFill>
                  <a:srgbClr val="21242A"/>
                </a:solidFill>
                <a:latin typeface="Microsoft YaHei"/>
              </a:defRPr>
            </a:pPr>
            <a:r>
              <a:t>To investigate T cell infiltration, a 6-plex panel targeting DAPI, CD20, CD3, CD8, FoxP3 and PD1 was applied to TMA slides.</a:t>
            </a:r>
          </a:p>
          <a:p>
            <a:pPr>
              <a:lnSpc>
                <a:spcPct val="103000"/>
              </a:lnSpc>
              <a:spcAft>
                <a:spcPts val="300"/>
              </a:spcAft>
              <a:defRPr sz="570">
                <a:solidFill>
                  <a:srgbClr val="21242A"/>
                </a:solidFill>
                <a:latin typeface="Microsoft YaHei"/>
              </a:defRPr>
            </a:pPr>
            <a:r>
              <a:t>Transcriptional analysis was performed using GeoMx DSP.</a:t>
            </a:r>
          </a:p>
          <a:p>
            <a:pPr>
              <a:lnSpc>
                <a:spcPct val="103000"/>
              </a:lnSpc>
              <a:spcAft>
                <a:spcPts val="300"/>
              </a:spcAft>
              <a:defRPr sz="570">
                <a:solidFill>
                  <a:srgbClr val="21242A"/>
                </a:solidFill>
                <a:latin typeface="Microsoft YaHei"/>
              </a:defRPr>
            </a:pPr>
            <a:r>
              <a:t>DNA samples from 74 of 365 patients were sequenced with a targeted panel (GMS lymphoid panel, TWIST Bioscience).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Across patients we identified substantial heterogeneity in the tumor immune microenvironment, revealing six distinct TIME subtypes with different clinical outco</a:t>
            </a:r>
          </a:p>
          <a:p>
            <a:pPr>
              <a:lnSpc>
                <a:spcPct val="103000"/>
              </a:lnSpc>
              <a:spcAft>
                <a:spcPts val="300"/>
              </a:spcAft>
              <a:defRPr sz="590">
                <a:solidFill>
                  <a:srgbClr val="21242A"/>
                </a:solidFill>
                <a:latin typeface="Microsoft YaHei"/>
              </a:defRPr>
            </a:pPr>
            <a:r>
              <a:t>mes.</a:t>
            </a:r>
          </a:p>
          <a:p>
            <a:pPr>
              <a:lnSpc>
                <a:spcPct val="103000"/>
              </a:lnSpc>
              <a:spcAft>
                <a:spcPts val="300"/>
              </a:spcAft>
              <a:defRPr sz="590">
                <a:solidFill>
                  <a:srgbClr val="21242A"/>
                </a:solidFill>
                <a:latin typeface="Microsoft YaHei"/>
              </a:defRPr>
            </a:pPr>
            <a:r>
              <a:t>Spatial, transcriptional, and neighborhood‑level analyses demonstrated that poor‑prognosis TIMEs were characterized by dysfunctional T cell organization, altere</a:t>
            </a:r>
          </a:p>
          <a:p>
            <a:pPr>
              <a:lnSpc>
                <a:spcPct val="103000"/>
              </a:lnSpc>
              <a:spcAft>
                <a:spcPts val="300"/>
              </a:spcAft>
              <a:defRPr sz="590">
                <a:solidFill>
                  <a:srgbClr val="21242A"/>
                </a:solidFill>
                <a:latin typeface="Microsoft YaHei"/>
              </a:defRPr>
            </a:pPr>
            <a:r>
              <a:t>d T cell-tumor interactions, and unique gene expression patterns, highlighting spatial immune architecture as a promising biomarker to improve patient stratific</a:t>
            </a:r>
          </a:p>
          <a:p>
            <a:pPr>
              <a:lnSpc>
                <a:spcPct val="103000"/>
              </a:lnSpc>
              <a:spcAft>
                <a:spcPts val="300"/>
              </a:spcAft>
              <a:defRPr sz="590">
                <a:solidFill>
                  <a:srgbClr val="21242A"/>
                </a:solidFill>
                <a:latin typeface="Microsoft YaHei"/>
              </a:defRPr>
            </a:pPr>
            <a:r>
              <a:t>ation beyond current models.</a:t>
            </a:r>
          </a:p>
          <a:p>
            <a:pPr>
              <a:lnSpc>
                <a:spcPct val="103000"/>
              </a:lnSpc>
              <a:spcAft>
                <a:spcPts val="300"/>
              </a:spcAft>
              <a:defRPr sz="590">
                <a:solidFill>
                  <a:srgbClr val="21242A"/>
                </a:solidFill>
                <a:latin typeface="Microsoft YaHei"/>
              </a:defRPr>
            </a:pPr>
            <a:r>
              <a:t>\n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1. 多重免疫荧光显示T细胞浸润在不同患者间存在巨大变异</a:t>
                      </a:r>
                    </a:p>
                  </a:txBody>
                  <a:tcPr>
                    <a:solidFill>
                      <a:srgbClr val="F6F8FB"/>
                    </a:solidFill>
                  </a:tcPr>
                </a:tc>
              </a:tr>
              <a:tr h="214230">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2. 无监督聚类识别出六种TIME亚型，各自与不同的总生存期相关</a:t>
                      </a:r>
                    </a:p>
                  </a:txBody>
                  <a:tcPr>
                    <a:solidFill>
                      <a:srgbClr val="FFFFFF"/>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3. B细胞丰富、免疫贫乏的肿瘤预后较差；B细胞贫乏、CD8+T细胞丰富的肿瘤预后更优</a:t>
                      </a:r>
                    </a:p>
                  </a:txBody>
                  <a:tcPr>
                    <a:solidFill>
                      <a:srgbClr val="F6F8FB"/>
                    </a:solidFill>
                  </a:tcPr>
                </a:tc>
              </a:tr>
              <a:tr h="214230">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4. 差异基因表达分析发现B细胞丰富、免疫贫乏的TIME中BRCA1、NASP、MYBL2、HELLS、BIRC5、HMGA1上调</a:t>
                      </a:r>
                    </a:p>
                  </a:txBody>
                  <a:tcPr>
                    <a:solidFill>
                      <a:srgbClr val="FFFFFF"/>
                    </a:solidFill>
                  </a:tcPr>
                </a:tc>
              </a:tr>
              <a:tr h="214230">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5. 空间分析显示，预后较差的TIME中PD1+T细胞与肿瘤细胞之间的吸引显著更多</a:t>
                      </a:r>
                    </a:p>
                  </a:txBody>
                  <a:tcPr>
                    <a:solidFill>
                      <a:srgbClr val="F6F8FB"/>
                    </a:solidFill>
                  </a:tcPr>
                </a:tc>
              </a:tr>
              <a:tr h="2142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6. 邻域分析识别出五种反复出现的细胞邻域结构</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摘要号：PF1066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 vedotin的弥漫性大b细胞淋巴瘤一线治疗的真实疗效和基因组景观：重点关注tp53突变和治...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genomic landscape of polatuzuma vedotin-based first-l...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N=236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分组：试验组1：Pola-R-CHP（polatuzuma vedotin，利妥昔单抗，环磷酰胺，多柔比星，泼尼松）</a:t>
            </a:r>
          </a:p>
          <a:p>
            <a:pPr>
              <a:lnSpc>
                <a:spcPct val="103000"/>
              </a:lnSpc>
              <a:spcAft>
                <a:spcPts val="300"/>
              </a:spcAft>
              <a:defRPr sz="800">
                <a:solidFill>
                  <a:srgbClr val="21242A"/>
                </a:solidFill>
                <a:latin typeface="Microsoft YaHei"/>
              </a:defRPr>
            </a:pPr>
            <a:r>
              <a:t>对照组：R-CHOP（利妥昔单抗，环磷酰胺，多柔比星，长春新碱，泼尼松）</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对照/比较：试验组1：Pola-R-CHP（polatuzuma vedotin，利妥昔单抗，环磷酰胺，多柔比星，泼尼松）</a:t>
            </a:r>
          </a:p>
          <a:p>
            <a:pPr>
              <a:lnSpc>
                <a:spcPct val="103000"/>
              </a:lnSpc>
              <a:spcAft>
                <a:spcPts val="300"/>
              </a:spcAft>
              <a:defRPr sz="800">
                <a:solidFill>
                  <a:srgbClr val="21242A"/>
                </a:solidFill>
                <a:latin typeface="Microsoft YaHei"/>
              </a:defRPr>
            </a:pPr>
            <a:r>
              <a:t>对照组：R-CHOP（利妥昔单抗，环磷酰胺，多柔比星，长春新碱，泼尼松）</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完全缓解率：Pola-R-CHP组81.6% vs R-CHOP组66.3%，加权OR=2.26，95%CI 1.16-4.3...</a:t>
            </a:r>
          </a:p>
          <a:p>
            <a:pPr>
              <a:lnSpc>
                <a:spcPct val="103000"/>
              </a:lnSpc>
              <a:spcAft>
                <a:spcPts val="300"/>
              </a:spcAft>
              <a:defRPr sz="800">
                <a:solidFill>
                  <a:srgbClr val="21242A"/>
                </a:solidFill>
                <a:latin typeface="Microsoft YaHei"/>
              </a:defRPr>
            </a:pPr>
            <a:r>
              <a:t>无进展生存期：加权HR=0.41，95%CI 0.21-0.80，P=0.009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人数：236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分组/治疗流程：试验组1：Pola-R-CHP（polatuzuma vedotin、利妥昔单抗、环磷酰胺</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 vedotin的弥漫性大b细胞淋巴瘤一线治疗的真实疗效和基因组景观：重点关注tp53突变和治...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genomic landscape of polatuzuma vedotin-based first-l...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POLARIX trial established the Pola-R-CHP regimen as the standard first-line treatment for newly diagnosed diffuse large B-cell lymphoma (DLBCL).</a:t>
            </a:r>
          </a:p>
          <a:p>
            <a:pPr>
              <a:lnSpc>
                <a:spcPct val="103000"/>
              </a:lnSpc>
              <a:spcAft>
                <a:spcPts val="300"/>
              </a:spcAft>
              <a:defRPr sz="570">
                <a:solidFill>
                  <a:srgbClr val="21242A"/>
                </a:solidFill>
                <a:latin typeface="Microsoft YaHei"/>
              </a:defRPr>
            </a:pPr>
            <a:r>
              <a:t>However, its efficacy in real-world populations, especially in patients with TP53 mutations, remains to be fully elucidated.</a:t>
            </a:r>
          </a:p>
          <a:p>
            <a:pPr>
              <a:lnSpc>
                <a:spcPct val="103000"/>
              </a:lnSpc>
              <a:spcAft>
                <a:spcPts val="300"/>
              </a:spcAft>
              <a:defRPr sz="570">
                <a:solidFill>
                  <a:srgbClr val="21242A"/>
                </a:solidFill>
                <a:latin typeface="Microsoft YaHei"/>
              </a:defRPr>
            </a:pPr>
            <a:r>
              <a:t>Aims: To compare the efficacy and survival outcomes of Pola-R-CHP and R-CHOP in newly diagnosed DLBCL patients in a real-world cohort using inverse probability </a:t>
            </a:r>
          </a:p>
          <a:p>
            <a:pPr>
              <a:lnSpc>
                <a:spcPct val="103000"/>
              </a:lnSpc>
              <a:spcAft>
                <a:spcPts val="300"/>
              </a:spcAft>
              <a:defRPr sz="570">
                <a:solidFill>
                  <a:srgbClr val="21242A"/>
                </a:solidFill>
                <a:latin typeface="Microsoft YaHei"/>
              </a:defRPr>
            </a:pPr>
            <a:r>
              <a:t>treatment weighting (IPTW).</a:t>
            </a:r>
          </a:p>
          <a:p>
            <a:pPr>
              <a:lnSpc>
                <a:spcPct val="103000"/>
              </a:lnSpc>
              <a:spcAft>
                <a:spcPts val="300"/>
              </a:spcAft>
              <a:defRPr sz="570">
                <a:solidFill>
                  <a:srgbClr val="21242A"/>
                </a:solidFill>
                <a:latin typeface="Microsoft YaHei"/>
              </a:defRPr>
            </a:pPr>
            <a:r>
              <a:t>The study also explores the molecular characteristics and prognostic impact of TP53 mutations using next-generation sequencing (NGS).</a:t>
            </a:r>
          </a:p>
          <a:p>
            <a:pPr>
              <a:lnSpc>
                <a:spcPct val="103000"/>
              </a:lnSpc>
              <a:spcAft>
                <a:spcPts val="300"/>
              </a:spcAft>
              <a:defRPr sz="570">
                <a:solidFill>
                  <a:srgbClr val="21242A"/>
                </a:solidFill>
                <a:latin typeface="Microsoft YaHei"/>
              </a:defRPr>
            </a:pPr>
            <a:r>
              <a:t>Methods: We retrospectively included 236 newly diagnosed DLBCL patients who received Pola-R-CHP or R-CHOP as first-line treatment at Renji Hospital from Februar</a:t>
            </a:r>
          </a:p>
          <a:p>
            <a:pPr>
              <a:lnSpc>
                <a:spcPct val="103000"/>
              </a:lnSpc>
              <a:spcAft>
                <a:spcPts val="300"/>
              </a:spcAft>
              <a:defRPr sz="570">
                <a:solidFill>
                  <a:srgbClr val="21242A"/>
                </a:solidFill>
                <a:latin typeface="Microsoft YaHei"/>
              </a:defRPr>
            </a:pPr>
            <a:r>
              <a:t>y 2023 to June 2025.</a:t>
            </a:r>
          </a:p>
          <a:p>
            <a:pPr>
              <a:lnSpc>
                <a:spcPct val="103000"/>
              </a:lnSpc>
              <a:spcAft>
                <a:spcPts val="300"/>
              </a:spcAft>
              <a:defRPr sz="570">
                <a:solidFill>
                  <a:srgbClr val="21242A"/>
                </a:solidFill>
                <a:latin typeface="Microsoft YaHei"/>
              </a:defRPr>
            </a:pPr>
            <a:r>
              <a:t>IPTW were used to balance baseline confounders. Extreme weights were trimmed at the 99th percentile to ensure model stability.</a:t>
            </a:r>
          </a:p>
          <a:p>
            <a:pPr>
              <a:lnSpc>
                <a:spcPct val="103000"/>
              </a:lnSpc>
              <a:spcAft>
                <a:spcPts val="300"/>
              </a:spcAft>
              <a:defRPr sz="570">
                <a:solidFill>
                  <a:srgbClr val="21242A"/>
                </a:solidFill>
                <a:latin typeface="Microsoft YaHei"/>
              </a:defRPr>
            </a:pPr>
            <a:r>
              <a:t>NGS analysis was performed on available tissue samples to assess molecular features.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real-world study confirms that the Pola-R-CHP regimen induces deeper remission and significantly improves PFS compared to R-CHOP in newly diagnosed DLBCL p</a:t>
            </a:r>
          </a:p>
          <a:p>
            <a:pPr>
              <a:lnSpc>
                <a:spcPct val="103000"/>
              </a:lnSpc>
              <a:spcAft>
                <a:spcPts val="300"/>
              </a:spcAft>
              <a:defRPr sz="590">
                <a:solidFill>
                  <a:srgbClr val="21242A"/>
                </a:solidFill>
                <a:latin typeface="Microsoft YaHei"/>
              </a:defRPr>
            </a:pPr>
            <a:r>
              <a:t>atients, especially those with TP53 mutations.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完全缓解率</a:t>
                      </a:r>
                    </a:p>
                  </a:txBody>
                  <a:tcPr>
                    <a:solidFill>
                      <a:srgbClr val="F6F8FB"/>
                    </a:solidFill>
                  </a:tcPr>
                </a:tc>
                <a:tc>
                  <a:txBody>
                    <a:bodyPr wrap="square" lIns="36576" rIns="36576" tIns="18288" bIns="18288"/>
                    <a:lstStyle/>
                    <a:p>
                      <a:r>
                        <a:rPr sz="540" b="0">
                          <a:solidFill>
                            <a:srgbClr val="21242A"/>
                          </a:solidFill>
                          <a:latin typeface="Microsoft YaHei"/>
                        </a:rPr>
                        <a:t>Pola-R-CHP组81.6% vs R-CHOP组66.3%，加权OR=2.26，95%CI 1.16-4.39，P=0.017</a:t>
                      </a:r>
                    </a:p>
                  </a:txBody>
                  <a:tcPr>
                    <a:solidFill>
                      <a:srgbClr val="F6F8FB"/>
                    </a:solidFill>
                  </a:tcPr>
                </a:tc>
              </a:tr>
              <a:tr h="299923">
                <a:tc>
                  <a:txBody>
                    <a:bodyPr wrap="square" lIns="36576" rIns="36576" tIns="18288" bIns="18288"/>
                    <a:lstStyle/>
                    <a:p>
                      <a:r>
                        <a:rPr sz="540" b="1">
                          <a:solidFill>
                            <a:srgbClr val="21242A"/>
                          </a:solidFill>
                          <a:latin typeface="Microsoft YaHei"/>
                        </a:rPr>
                        <a:t>无进展生存期</a:t>
                      </a:r>
                    </a:p>
                  </a:txBody>
                  <a:tcPr>
                    <a:solidFill>
                      <a:srgbClr val="FFFFFF"/>
                    </a:solidFill>
                  </a:tcPr>
                </a:tc>
                <a:tc>
                  <a:txBody>
                    <a:bodyPr wrap="square" lIns="36576" rIns="36576" tIns="18288" bIns="18288"/>
                    <a:lstStyle/>
                    <a:p>
                      <a:r>
                        <a:rPr sz="540" b="0">
                          <a:solidFill>
                            <a:srgbClr val="21242A"/>
                          </a:solidFill>
                          <a:latin typeface="Microsoft YaHei"/>
                        </a:rPr>
                        <a:t>加权HR=0.41，95%CI 0.21-0.80，P=0.009</a:t>
                      </a:r>
                    </a:p>
                  </a:txBody>
                  <a:tcPr>
                    <a:solidFill>
                      <a:srgbClr val="FFFFFF"/>
                    </a:solidFill>
                  </a:tcPr>
                </a:tc>
              </a:tr>
              <a:tr h="299923">
                <a:tc>
                  <a:txBody>
                    <a:bodyPr wrap="square" lIns="36576" rIns="36576" tIns="18288" bIns="18288"/>
                    <a:lstStyle/>
                    <a:p>
                      <a:r>
                        <a:rPr sz="540" b="1">
                          <a:solidFill>
                            <a:srgbClr val="21242A"/>
                          </a:solidFill>
                          <a:latin typeface="Microsoft YaHei"/>
                        </a:rPr>
                        <a:t>估计1年PFS</a:t>
                      </a:r>
                    </a:p>
                  </a:txBody>
                  <a:tcPr>
                    <a:solidFill>
                      <a:srgbClr val="F6F8FB"/>
                    </a:solidFill>
                  </a:tcPr>
                </a:tc>
                <a:tc>
                  <a:txBody>
                    <a:bodyPr wrap="square" lIns="36576" rIns="36576" tIns="18288" bIns="18288"/>
                    <a:lstStyle/>
                    <a:p>
                      <a:r>
                        <a:rPr sz="540" b="0">
                          <a:solidFill>
                            <a:srgbClr val="21242A"/>
                          </a:solidFill>
                          <a:latin typeface="Microsoft YaHei"/>
                        </a:rPr>
                        <a:t>91.4% vs 74.2%</a:t>
                      </a:r>
                    </a:p>
                  </a:txBody>
                  <a:tcPr>
                    <a:solidFill>
                      <a:srgbClr val="F6F8FB"/>
                    </a:solidFill>
                  </a:tcPr>
                </a:tc>
              </a:tr>
              <a:tr h="299924">
                <a:tc>
                  <a:txBody>
                    <a:bodyPr wrap="square" lIns="36576" rIns="36576" tIns="18288" bIns="18288"/>
                    <a:lstStyle/>
                    <a:p>
                      <a:r>
                        <a:rPr sz="540" b="1">
                          <a:solidFill>
                            <a:srgbClr val="21242A"/>
                          </a:solidFill>
                          <a:latin typeface="Microsoft YaHei"/>
                        </a:rPr>
                        <a:t>2年PFS</a:t>
                      </a:r>
                    </a:p>
                  </a:txBody>
                  <a:tcPr>
                    <a:solidFill>
                      <a:srgbClr val="FFFFFF"/>
                    </a:solidFill>
                  </a:tcPr>
                </a:tc>
                <a:tc>
                  <a:txBody>
                    <a:bodyPr wrap="square" lIns="36576" rIns="36576" tIns="18288" bIns="18288"/>
                    <a:lstStyle/>
                    <a:p>
                      <a:r>
                        <a:rPr sz="540" b="0">
                          <a:solidFill>
                            <a:srgbClr val="21242A"/>
                          </a:solidFill>
                          <a:latin typeface="Microsoft YaHei"/>
                        </a:rPr>
                        <a:t>84.6% vs 63.6%</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综合分子和代谢特征分析确定了复发/难治性大b细胞淋巴瘤患者使用龙考昔单抗治疗结果的决定因素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molecular and metabolic profiling identifies determinants of outco...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试验药/方案：泰朗妥昔单抗</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总缓解率(ORR)：53.7%（完全缓解17.1%，部分缓解36.6%）</a:t>
            </a:r>
          </a:p>
          <a:p>
            <a:pPr>
              <a:lnSpc>
                <a:spcPct val="103000"/>
              </a:lnSpc>
              <a:spcAft>
                <a:spcPts val="300"/>
              </a:spcAft>
              <a:defRPr sz="800">
                <a:solidFill>
                  <a:srgbClr val="21242A"/>
                </a:solidFill>
                <a:latin typeface="Microsoft YaHei"/>
              </a:defRPr>
            </a:pPr>
            <a:r>
              <a:t>中位无进展生存期(mPFS)：3.6个月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登记号：NCT03589469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试验药/方案：泰朗妥昔单抗</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药物/技术类别：缬氨酸-丙氨酸 VA、PBD二聚体：SG3199、抗体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综合分子和代谢特征分析确定了复发/难治性大b细胞淋巴瘤患者使用龙考昔单抗治疗结果的决定因素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molecular and metabolic profiling identifies determinants of outco...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Relapsed or refractory large B-cell lymphoma (LBCL) remains associated with poor prognosis.</a:t>
            </a:r>
          </a:p>
          <a:p>
            <a:pPr>
              <a:lnSpc>
                <a:spcPct val="103000"/>
              </a:lnSpc>
              <a:spcAft>
                <a:spcPts val="300"/>
              </a:spcAft>
              <a:defRPr sz="570">
                <a:solidFill>
                  <a:srgbClr val="21242A"/>
                </a:solidFill>
                <a:latin typeface="Microsoft YaHei"/>
              </a:defRPr>
            </a:pPr>
            <a:r>
              <a:t>Loncastuximab Tesirine is a CD19 directed antibody drug conjugate with demonstrated clinical activity in heavily pretreated disease.</a:t>
            </a:r>
          </a:p>
          <a:p>
            <a:pPr>
              <a:lnSpc>
                <a:spcPct val="103000"/>
              </a:lnSpc>
              <a:spcAft>
                <a:spcPts val="300"/>
              </a:spcAft>
              <a:defRPr sz="570">
                <a:solidFill>
                  <a:srgbClr val="21242A"/>
                </a:solidFill>
                <a:latin typeface="Microsoft YaHei"/>
              </a:defRPr>
            </a:pPr>
            <a:r>
              <a:t>However, treatment benefit is heterogeneous and no validated biomarkers currently enable biological stratification or prediction of outcome, underscoring the ne</a:t>
            </a:r>
          </a:p>
          <a:p>
            <a:pPr>
              <a:lnSpc>
                <a:spcPct val="103000"/>
              </a:lnSpc>
              <a:spcAft>
                <a:spcPts val="300"/>
              </a:spcAft>
              <a:defRPr sz="570">
                <a:solidFill>
                  <a:srgbClr val="21242A"/>
                </a:solidFill>
                <a:latin typeface="Microsoft YaHei"/>
              </a:defRPr>
            </a:pPr>
            <a:r>
              <a:t>ed to define determinants of response.</a:t>
            </a:r>
          </a:p>
          <a:p>
            <a:pPr>
              <a:lnSpc>
                <a:spcPct val="103000"/>
              </a:lnSpc>
              <a:spcAft>
                <a:spcPts val="300"/>
              </a:spcAft>
              <a:defRPr sz="570">
                <a:solidFill>
                  <a:srgbClr val="21242A"/>
                </a:solidFill>
                <a:latin typeface="Microsoft YaHei"/>
              </a:defRPr>
            </a:pPr>
            <a:r>
              <a:t>Aims: To evaluate the prognostic and predictive role of circulating tumor DNA (ctDNA) and total metabolic tumor volume (TMTV), alone and in combination, in pati</a:t>
            </a:r>
          </a:p>
          <a:p>
            <a:pPr>
              <a:lnSpc>
                <a:spcPct val="103000"/>
              </a:lnSpc>
              <a:spcAft>
                <a:spcPts val="300"/>
              </a:spcAft>
              <a:defRPr sz="570">
                <a:solidFill>
                  <a:srgbClr val="21242A"/>
                </a:solidFill>
                <a:latin typeface="Microsoft YaHei"/>
              </a:defRPr>
            </a:pPr>
            <a:r>
              <a:t>ents with relapsed or refractory LBCL treated with Loncastuximab Tesirine.</a:t>
            </a:r>
          </a:p>
          <a:p>
            <a:pPr>
              <a:lnSpc>
                <a:spcPct val="103000"/>
              </a:lnSpc>
              <a:spcAft>
                <a:spcPts val="300"/>
              </a:spcAft>
              <a:defRPr sz="570">
                <a:solidFill>
                  <a:srgbClr val="21242A"/>
                </a:solidFill>
                <a:latin typeface="Microsoft YaHei"/>
              </a:defRPr>
            </a:pPr>
            <a:r>
              <a:t>Methods: This single-center retrospective analysis included 41 patients with relapsed or refractory LBCL treated at Humanitas Research Hospital within the LOTIS</a:t>
            </a:r>
          </a:p>
          <a:p>
            <a:pPr>
              <a:lnSpc>
                <a:spcPct val="103000"/>
              </a:lnSpc>
              <a:spcAft>
                <a:spcPts val="300"/>
              </a:spcAft>
              <a:defRPr sz="570">
                <a:solidFill>
                  <a:srgbClr val="21242A"/>
                </a:solidFill>
                <a:latin typeface="Microsoft YaHei"/>
              </a:defRPr>
            </a:pPr>
            <a:r>
              <a:t> 1 and LOTIS 2 trials.</a:t>
            </a:r>
          </a:p>
          <a:p>
            <a:pPr>
              <a:lnSpc>
                <a:spcPct val="103000"/>
              </a:lnSpc>
              <a:spcAft>
                <a:spcPts val="300"/>
              </a:spcAft>
              <a:defRPr sz="570">
                <a:solidFill>
                  <a:srgbClr val="21242A"/>
                </a:solidFill>
                <a:latin typeface="Microsoft YaHei"/>
              </a:defRPr>
            </a:pPr>
            <a:r>
              <a:t>ctDNA and TMTV were analyzed prior to therapy initiation (Baseline, BL), at cycle 3 (C3) and at end of treatment (EoT).</a:t>
            </a:r>
          </a:p>
          <a:p>
            <a:pPr>
              <a:lnSpc>
                <a:spcPct val="103000"/>
              </a:lnSpc>
              <a:spcAft>
                <a:spcPts val="300"/>
              </a:spcAft>
              <a:defRPr sz="570">
                <a:solidFill>
                  <a:srgbClr val="21242A"/>
                </a:solidFill>
                <a:latin typeface="Microsoft YaHei"/>
              </a:defRPr>
            </a:pPr>
            <a:r>
              <a:t>ctDNA was assessed using Cancer Personalized Profiling by Deep Sequencing (CAPP-Seq) and the tumor burden was expressed as haploid genome equivalents per mL (hG</a:t>
            </a:r>
          </a:p>
          <a:p>
            <a:pPr>
              <a:lnSpc>
                <a:spcPct val="103000"/>
              </a:lnSpc>
              <a:spcAft>
                <a:spcPts val="300"/>
              </a:spcAft>
              <a:defRPr sz="570">
                <a:solidFill>
                  <a:srgbClr val="21242A"/>
                </a:solidFill>
                <a:latin typeface="Microsoft YaHei"/>
              </a:defRPr>
            </a:pPr>
            <a:r>
              <a:t>E/mL) of plasma.</a:t>
            </a:r>
          </a:p>
          <a:p>
            <a:pPr>
              <a:lnSpc>
                <a:spcPct val="103000"/>
              </a:lnSpc>
              <a:spcAft>
                <a:spcPts val="300"/>
              </a:spcAft>
              <a:defRPr sz="570">
                <a:solidFill>
                  <a:srgbClr val="21242A"/>
                </a:solidFill>
                <a:latin typeface="Microsoft YaHei"/>
              </a:defRPr>
            </a:pPr>
            <a:r>
              <a:t>Copy number variation (CNV) analysis from ctDNA was performed using CNVkit to detect focal and broad chromosomal alterations.</a:t>
            </a:r>
          </a:p>
          <a:p>
            <a:pPr>
              <a:lnSpc>
                <a:spcPct val="103000"/>
              </a:lnSpc>
              <a:spcAft>
                <a:spcPts val="300"/>
              </a:spcAft>
              <a:defRPr sz="570">
                <a:solidFill>
                  <a:srgbClr val="21242A"/>
                </a:solidFill>
                <a:latin typeface="Microsoft YaHei"/>
              </a:defRPr>
            </a:pPr>
            <a:r>
              <a:t>3 patients with undetectable BL ctDNA were excluded from subsequent analyses. TMTV was calculated using an SUV threshold of 4.0.</a:t>
            </a:r>
          </a:p>
          <a:p>
            <a:pPr>
              <a:lnSpc>
                <a:spcPct val="103000"/>
              </a:lnSpc>
              <a:spcAft>
                <a:spcPts val="300"/>
              </a:spcAft>
              <a:defRPr sz="570">
                <a:solidFill>
                  <a:srgbClr val="21242A"/>
                </a:solidFill>
                <a:latin typeface="Microsoft YaHei"/>
              </a:defRPr>
            </a:pPr>
            <a:r>
              <a:t>Optimal biomarker cutoffs were defined by ROC analysis.</a:t>
            </a:r>
          </a:p>
          <a:p>
            <a:pPr>
              <a:lnSpc>
                <a:spcPct val="103000"/>
              </a:lnSpc>
              <a:spcAft>
                <a:spcPts val="300"/>
              </a:spcAft>
              <a:defRPr sz="570">
                <a:solidFill>
                  <a:srgbClr val="21242A"/>
                </a:solidFill>
                <a:latin typeface="Microsoft YaHei"/>
              </a:defRPr>
            </a:pPr>
            <a:r>
              <a:t>Progression-free survival (PFS) was estimated using the Kaplan-Meier method, censoring patients at the time of stem cell transplantation when applicable.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cohort treated with Loncastuximab Tesirine, baseline tumor burden captured by ctDNA and TMTV appears to be the main determinant of outcome in this polyr</a:t>
            </a:r>
          </a:p>
          <a:p>
            <a:pPr>
              <a:lnSpc>
                <a:spcPct val="103000"/>
              </a:lnSpc>
              <a:spcAft>
                <a:spcPts val="300"/>
              </a:spcAft>
              <a:defRPr sz="590">
                <a:solidFill>
                  <a:srgbClr val="21242A"/>
                </a:solidFill>
                <a:latin typeface="Microsoft YaHei"/>
              </a:defRPr>
            </a:pPr>
            <a:r>
              <a:t>efractory setting.</a:t>
            </a:r>
          </a:p>
          <a:p>
            <a:pPr>
              <a:lnSpc>
                <a:spcPct val="103000"/>
              </a:lnSpc>
              <a:spcAft>
                <a:spcPts val="300"/>
              </a:spcAft>
              <a:defRPr sz="590">
                <a:solidFill>
                  <a:srgbClr val="21242A"/>
                </a:solidFill>
                <a:latin typeface="Microsoft YaHei"/>
              </a:defRPr>
            </a:pPr>
            <a:r>
              <a:t>Baseline biomarkers do not predict depth of response but influence durability of benefit, and early ctDNA clearance identifies patients with improved disease co</a:t>
            </a:r>
          </a:p>
          <a:p>
            <a:pPr>
              <a:lnSpc>
                <a:spcPct val="103000"/>
              </a:lnSpc>
              <a:spcAft>
                <a:spcPts val="300"/>
              </a:spcAft>
              <a:defRPr sz="590">
                <a:solidFill>
                  <a:srgbClr val="21242A"/>
                </a:solidFill>
                <a:latin typeface="Microsoft YaHei"/>
              </a:defRPr>
            </a:pPr>
            <a:r>
              <a:t>ntrol.</a:t>
            </a:r>
          </a:p>
          <a:p>
            <a:pPr>
              <a:lnSpc>
                <a:spcPct val="103000"/>
              </a:lnSpc>
              <a:spcAft>
                <a:spcPts val="300"/>
              </a:spcAft>
              <a:defRPr sz="590">
                <a:solidFill>
                  <a:srgbClr val="21242A"/>
                </a:solidFill>
                <a:latin typeface="Microsoft YaHei"/>
              </a:defRPr>
            </a:pPr>
            <a:r>
              <a:t>Lack of prognostic impact of TP53 alterations and CD19 loss suggests alternative resistance mechanisms.</a:t>
            </a:r>
          </a:p>
          <a:p>
            <a:pPr>
              <a:lnSpc>
                <a:spcPct val="103000"/>
              </a:lnSpc>
              <a:spcAft>
                <a:spcPts val="300"/>
              </a:spcAft>
              <a:defRPr sz="590">
                <a:solidFill>
                  <a:srgbClr val="21242A"/>
                </a:solidFill>
                <a:latin typeface="Microsoft YaHei"/>
              </a:defRPr>
            </a:pPr>
            <a:r>
              <a:t>Integrated molecular and metabolic profiling enables meaningful risk stratification in relapsed or refractory 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总缓解率(ORR)</a:t>
                      </a:r>
                    </a:p>
                  </a:txBody>
                  <a:tcPr>
                    <a:solidFill>
                      <a:srgbClr val="F6F8FB"/>
                    </a:solidFill>
                  </a:tcPr>
                </a:tc>
                <a:tc>
                  <a:txBody>
                    <a:bodyPr wrap="square" lIns="36576" rIns="36576" tIns="18288" bIns="18288"/>
                    <a:lstStyle/>
                    <a:p>
                      <a:r>
                        <a:rPr sz="540" b="0">
                          <a:solidFill>
                            <a:srgbClr val="21242A"/>
                          </a:solidFill>
                          <a:latin typeface="Microsoft YaHei"/>
                        </a:rPr>
                        <a:t>53.7%（完全缓解17.1%，部分缓解36.6%）</a:t>
                      </a:r>
                    </a:p>
                  </a:txBody>
                  <a:tcPr>
                    <a:solidFill>
                      <a:srgbClr val="F6F8FB"/>
                    </a:solidFill>
                  </a:tcPr>
                </a:tc>
              </a:tr>
              <a:tr h="249936">
                <a:tc>
                  <a:txBody>
                    <a:bodyPr wrap="square" lIns="36576" rIns="36576" tIns="18288" bIns="18288"/>
                    <a:lstStyle/>
                    <a:p>
                      <a:r>
                        <a:rPr sz="540" b="1">
                          <a:solidFill>
                            <a:srgbClr val="21242A"/>
                          </a:solidFill>
                          <a:latin typeface="Microsoft YaHei"/>
                        </a:rPr>
                        <a:t>中位无进展生存期(mPFS)</a:t>
                      </a:r>
                    </a:p>
                  </a:txBody>
                  <a:tcPr>
                    <a:solidFill>
                      <a:srgbClr val="FFFFFF"/>
                    </a:solidFill>
                  </a:tcPr>
                </a:tc>
                <a:tc>
                  <a:txBody>
                    <a:bodyPr wrap="square" lIns="36576" rIns="36576" tIns="18288" bIns="18288"/>
                    <a:lstStyle/>
                    <a:p>
                      <a:r>
                        <a:rPr sz="540" b="0">
                          <a:solidFill>
                            <a:srgbClr val="21242A"/>
                          </a:solidFill>
                          <a:latin typeface="Microsoft YaHei"/>
                        </a:rPr>
                        <a:t>3.6个月</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基线ctDNA≥245 hGE/mL与较低PFS相关（中位PFS 2.7 vs 7.8个月）</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基线TMTV&gt;135 mL与较短PFS相关（中位PFS 2.6 vs 7.8个月）</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第3周期ctDNA阴性患者PFS更优（8.6 vs 3.7个月）</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摘要号：PF1096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pola-r-chp与r-epoch在dlbcl结外受累一线治疗中的比较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vs r-epoch for frontline therapy in dlbcl with extranodal involvem...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多组/多方案比较：组1：Pola-R-CHP</a:t>
            </a:r>
          </a:p>
          <a:p>
            <a:pPr>
              <a:lnSpc>
                <a:spcPct val="103000"/>
              </a:lnSpc>
              <a:spcAft>
                <a:spcPts val="300"/>
              </a:spcAft>
              <a:defRPr sz="800">
                <a:solidFill>
                  <a:srgbClr val="21242A"/>
                </a:solidFill>
                <a:latin typeface="Microsoft YaHei"/>
              </a:defRPr>
            </a:pPr>
            <a:r>
              <a:t>组2：R-EPOCH</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4周期ORR（未匹配）：Pola-R-CHP组95% vs R-EPOCH组69%，P=0.019</a:t>
            </a:r>
          </a:p>
          <a:p>
            <a:pPr>
              <a:lnSpc>
                <a:spcPct val="103000"/>
              </a:lnSpc>
              <a:spcAft>
                <a:spcPts val="300"/>
              </a:spcAft>
              <a:defRPr sz="800">
                <a:solidFill>
                  <a:srgbClr val="21242A"/>
                </a:solidFill>
                <a:latin typeface="Microsoft YaHei"/>
              </a:defRPr>
            </a:pPr>
            <a:r>
              <a:t>4周期ORR（匹配后）：Pola-R-CHP组96% vs R-EPOCH组70%，P=0.006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pola-r-chp与r-epoch在dlbcl结外受累一线治疗中的比较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vs r-epoch for frontline therapy in dlbcl with extranodal involvem...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newly diagnosed diffuse large B-cell lymphoma (DLBCL) patients with extra nodal organ involvement (ENI) occur in approximately 30-40% and have l</a:t>
            </a:r>
          </a:p>
          <a:p>
            <a:pPr>
              <a:lnSpc>
                <a:spcPct val="103000"/>
              </a:lnSpc>
              <a:spcAft>
                <a:spcPts val="300"/>
              </a:spcAft>
              <a:defRPr sz="570">
                <a:solidFill>
                  <a:srgbClr val="21242A"/>
                </a:solidFill>
                <a:latin typeface="Microsoft YaHei"/>
              </a:defRPr>
            </a:pPr>
            <a:r>
              <a:t>imited efficacy and poor survival in the era of rituximab.</a:t>
            </a:r>
          </a:p>
          <a:p>
            <a:pPr>
              <a:lnSpc>
                <a:spcPct val="103000"/>
              </a:lnSpc>
              <a:spcAft>
                <a:spcPts val="300"/>
              </a:spcAft>
              <a:defRPr sz="570">
                <a:solidFill>
                  <a:srgbClr val="21242A"/>
                </a:solidFill>
                <a:latin typeface="Microsoft YaHei"/>
              </a:defRPr>
            </a:pPr>
            <a:r>
              <a:t>Therefore, the R-EPOCH regimen was generally adopted for such patients in our center.</a:t>
            </a:r>
          </a:p>
          <a:p>
            <a:pPr>
              <a:lnSpc>
                <a:spcPct val="103000"/>
              </a:lnSpc>
              <a:spcAft>
                <a:spcPts val="300"/>
              </a:spcAft>
              <a:defRPr sz="570">
                <a:solidFill>
                  <a:srgbClr val="21242A"/>
                </a:solidFill>
                <a:latin typeface="Microsoft YaHei"/>
              </a:defRPr>
            </a:pPr>
            <a:r>
              <a:t>Pola-R-CHP has been proven to improve the progression-free survival (PFS) of some patients in first-line treatment.</a:t>
            </a:r>
          </a:p>
          <a:p>
            <a:pPr>
              <a:lnSpc>
                <a:spcPct val="103000"/>
              </a:lnSpc>
              <a:spcAft>
                <a:spcPts val="300"/>
              </a:spcAft>
              <a:defRPr sz="570">
                <a:solidFill>
                  <a:srgbClr val="21242A"/>
                </a:solidFill>
                <a:latin typeface="Microsoft YaHei"/>
              </a:defRPr>
            </a:pPr>
            <a:r>
              <a:t>However, there is still insufficient data available for ENI-DLBCL.</a:t>
            </a:r>
          </a:p>
          <a:p>
            <a:pPr>
              <a:lnSpc>
                <a:spcPct val="103000"/>
              </a:lnSpc>
              <a:spcAft>
                <a:spcPts val="300"/>
              </a:spcAft>
              <a:defRPr sz="570">
                <a:solidFill>
                  <a:srgbClr val="21242A"/>
                </a:solidFill>
                <a:latin typeface="Microsoft YaHei"/>
              </a:defRPr>
            </a:pPr>
            <a:r>
              <a:t>This study conducted a retrospective analysis of the clinical data of 83 newly diagnosed patients with ENI-DLBCL.</a:t>
            </a:r>
          </a:p>
          <a:p>
            <a:pPr>
              <a:lnSpc>
                <a:spcPct val="103000"/>
              </a:lnSpc>
              <a:spcAft>
                <a:spcPts val="300"/>
              </a:spcAft>
              <a:defRPr sz="570">
                <a:solidFill>
                  <a:srgbClr val="21242A"/>
                </a:solidFill>
                <a:latin typeface="Microsoft YaHei"/>
              </a:defRPr>
            </a:pPr>
            <a:r>
              <a:t>The efficacy and safety of the Pola-R-CHP and R-EPOCH regimens were compared, aiming to provide reasonable treatment for such patients.</a:t>
            </a:r>
          </a:p>
          <a:p>
            <a:pPr>
              <a:lnSpc>
                <a:spcPct val="103000"/>
              </a:lnSpc>
              <a:spcAft>
                <a:spcPts val="300"/>
              </a:spcAft>
              <a:defRPr sz="570">
                <a:solidFill>
                  <a:srgbClr val="21242A"/>
                </a:solidFill>
                <a:latin typeface="Microsoft YaHei"/>
              </a:defRPr>
            </a:pPr>
            <a:r>
              <a:t>Aims: To compare the efficacy and safety of the Pola-R-CHP and R-EPOCH regimens in patients with newly diagnosed ENI-DLBCL.</a:t>
            </a:r>
          </a:p>
          <a:p>
            <a:pPr>
              <a:lnSpc>
                <a:spcPct val="103000"/>
              </a:lnSpc>
              <a:spcAft>
                <a:spcPts val="300"/>
              </a:spcAft>
              <a:defRPr sz="570">
                <a:solidFill>
                  <a:srgbClr val="21242A"/>
                </a:solidFill>
                <a:latin typeface="Microsoft YaHei"/>
              </a:defRPr>
            </a:pPr>
            <a:r>
              <a:t>Methods: This is a real-world, single-center, retrospective, observational study. 83 patients who adopted the two regimens were enrolled.</a:t>
            </a:r>
          </a:p>
          <a:p>
            <a:pPr>
              <a:lnSpc>
                <a:spcPct val="103000"/>
              </a:lnSpc>
              <a:spcAft>
                <a:spcPts val="300"/>
              </a:spcAft>
              <a:defRPr sz="570">
                <a:solidFill>
                  <a:srgbClr val="21242A"/>
                </a:solidFill>
                <a:latin typeface="Microsoft YaHei"/>
              </a:defRPr>
            </a:pPr>
            <a:r>
              <a:t>Propensity score matching was conducted based on age, sex, COO, stage, IPI, and Bulky ≥7.5cm.</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Pola-R-CHP regimen provided promising efficacy and lower toxicity for patients with ENI-DLBCL, especially bone involvement.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07115">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07115">
                <a:tc>
                  <a:txBody>
                    <a:bodyPr wrap="square" lIns="36576" rIns="36576" tIns="18288" bIns="18288"/>
                    <a:lstStyle/>
                    <a:p>
                      <a:r>
                        <a:rPr sz="540" b="1">
                          <a:solidFill>
                            <a:srgbClr val="21242A"/>
                          </a:solidFill>
                          <a:latin typeface="Microsoft YaHei"/>
                        </a:rPr>
                        <a:t>4周期ORR（未匹配）</a:t>
                      </a:r>
                    </a:p>
                  </a:txBody>
                  <a:tcPr>
                    <a:solidFill>
                      <a:srgbClr val="F6F8FB"/>
                    </a:solidFill>
                  </a:tcPr>
                </a:tc>
                <a:tc>
                  <a:txBody>
                    <a:bodyPr wrap="square" lIns="36576" rIns="36576" tIns="18288" bIns="18288"/>
                    <a:lstStyle/>
                    <a:p>
                      <a:r>
                        <a:rPr sz="540" b="0">
                          <a:solidFill>
                            <a:srgbClr val="21242A"/>
                          </a:solidFill>
                          <a:latin typeface="Microsoft YaHei"/>
                        </a:rPr>
                        <a:t>Pola-R-CHP组95% vs R-EPOCH组69%，P=0.019</a:t>
                      </a:r>
                    </a:p>
                  </a:txBody>
                  <a:tcPr>
                    <a:solidFill>
                      <a:srgbClr val="F6F8FB"/>
                    </a:solidFill>
                  </a:tcPr>
                </a:tc>
              </a:tr>
              <a:tr h="107115">
                <a:tc>
                  <a:txBody>
                    <a:bodyPr wrap="square" lIns="36576" rIns="36576" tIns="18288" bIns="18288"/>
                    <a:lstStyle/>
                    <a:p>
                      <a:r>
                        <a:rPr sz="540" b="1">
                          <a:solidFill>
                            <a:srgbClr val="21242A"/>
                          </a:solidFill>
                          <a:latin typeface="Microsoft YaHei"/>
                        </a:rPr>
                        <a:t>4周期ORR（匹配后）</a:t>
                      </a:r>
                    </a:p>
                  </a:txBody>
                  <a:tcPr>
                    <a:solidFill>
                      <a:srgbClr val="FFFFFF"/>
                    </a:solidFill>
                  </a:tcPr>
                </a:tc>
                <a:tc>
                  <a:txBody>
                    <a:bodyPr wrap="square" lIns="36576" rIns="36576" tIns="18288" bIns="18288"/>
                    <a:lstStyle/>
                    <a:p>
                      <a:r>
                        <a:rPr sz="540" b="0">
                          <a:solidFill>
                            <a:srgbClr val="21242A"/>
                          </a:solidFill>
                          <a:latin typeface="Microsoft YaHei"/>
                        </a:rPr>
                        <a:t>Pola-R-CHP组96% vs R-EPOCH组70%，P=0.006</a:t>
                      </a:r>
                    </a:p>
                  </a:txBody>
                  <a:tcPr>
                    <a:solidFill>
                      <a:srgbClr val="FFFFFF"/>
                    </a:solidFill>
                  </a:tcPr>
                </a:tc>
              </a:tr>
              <a:tr h="107115">
                <a:tc>
                  <a:txBody>
                    <a:bodyPr wrap="square" lIns="36576" rIns="36576" tIns="18288" bIns="18288"/>
                    <a:lstStyle/>
                    <a:p>
                      <a:r>
                        <a:rPr sz="540" b="1">
                          <a:solidFill>
                            <a:srgbClr val="21242A"/>
                          </a:solidFill>
                          <a:latin typeface="Microsoft YaHei"/>
                        </a:rPr>
                        <a:t>6周期ORR（未匹配）</a:t>
                      </a:r>
                    </a:p>
                  </a:txBody>
                  <a:tcPr>
                    <a:solidFill>
                      <a:srgbClr val="F6F8FB"/>
                    </a:solidFill>
                  </a:tcPr>
                </a:tc>
                <a:tc>
                  <a:txBody>
                    <a:bodyPr wrap="square" lIns="36576" rIns="36576" tIns="18288" bIns="18288"/>
                    <a:lstStyle/>
                    <a:p>
                      <a:r>
                        <a:rPr sz="540" b="0">
                          <a:solidFill>
                            <a:srgbClr val="21242A"/>
                          </a:solidFill>
                          <a:latin typeface="Microsoft YaHei"/>
                        </a:rPr>
                        <a:t>Pola-R-CHP组90% vs R-EPOCH组63%，P=0.030</a:t>
                      </a:r>
                    </a:p>
                  </a:txBody>
                  <a:tcPr>
                    <a:solidFill>
                      <a:srgbClr val="F6F8FB"/>
                    </a:solidFill>
                  </a:tcPr>
                </a:tc>
              </a:tr>
              <a:tr h="107115">
                <a:tc>
                  <a:txBody>
                    <a:bodyPr wrap="square" lIns="36576" rIns="36576" tIns="18288" bIns="18288"/>
                    <a:lstStyle/>
                    <a:p>
                      <a:r>
                        <a:rPr sz="540" b="1">
                          <a:solidFill>
                            <a:srgbClr val="21242A"/>
                          </a:solidFill>
                          <a:latin typeface="Microsoft YaHei"/>
                        </a:rPr>
                        <a:t>6周期ORR（匹配后）</a:t>
                      </a:r>
                    </a:p>
                  </a:txBody>
                  <a:tcPr>
                    <a:solidFill>
                      <a:srgbClr val="FFFFFF"/>
                    </a:solidFill>
                  </a:tcPr>
                </a:tc>
                <a:tc>
                  <a:txBody>
                    <a:bodyPr wrap="square" lIns="36576" rIns="36576" tIns="18288" bIns="18288"/>
                    <a:lstStyle/>
                    <a:p>
                      <a:r>
                        <a:rPr sz="540" b="0">
                          <a:solidFill>
                            <a:srgbClr val="21242A"/>
                          </a:solidFill>
                          <a:latin typeface="Microsoft YaHei"/>
                        </a:rPr>
                        <a:t>Pola-R-CHP组88% vs R-EPOCH组61%，P=0.014</a:t>
                      </a:r>
                    </a:p>
                  </a:txBody>
                  <a:tcPr>
                    <a:solidFill>
                      <a:srgbClr val="FFFFFF"/>
                    </a:solidFill>
                  </a:tcPr>
                </a:tc>
              </a:tr>
              <a:tr h="107115">
                <a:tc>
                  <a:txBody>
                    <a:bodyPr wrap="square" lIns="36576" rIns="36576" tIns="18288" bIns="18288"/>
                    <a:lstStyle/>
                    <a:p>
                      <a:r>
                        <a:rPr sz="540" b="1">
                          <a:solidFill>
                            <a:srgbClr val="21242A"/>
                          </a:solidFill>
                          <a:latin typeface="Microsoft YaHei"/>
                        </a:rPr>
                        <a:t>4周期CR（未匹配）</a:t>
                      </a:r>
                    </a:p>
                  </a:txBody>
                  <a:tcPr>
                    <a:solidFill>
                      <a:srgbClr val="F6F8FB"/>
                    </a:solidFill>
                  </a:tcPr>
                </a:tc>
                <a:tc>
                  <a:txBody>
                    <a:bodyPr wrap="square" lIns="36576" rIns="36576" tIns="18288" bIns="18288"/>
                    <a:lstStyle/>
                    <a:p>
                      <a:r>
                        <a:rPr sz="540" b="0">
                          <a:solidFill>
                            <a:srgbClr val="21242A"/>
                          </a:solidFill>
                          <a:latin typeface="Microsoft YaHei"/>
                        </a:rPr>
                        <a:t>Pola-R-CHP组50% vs R-EPOCH组47%，P=0.82</a:t>
                      </a:r>
                    </a:p>
                  </a:txBody>
                  <a:tcPr>
                    <a:solidFill>
                      <a:srgbClr val="F6F8FB"/>
                    </a:solidFill>
                  </a:tcPr>
                </a:tc>
              </a:tr>
              <a:tr h="107115">
                <a:tc>
                  <a:txBody>
                    <a:bodyPr wrap="square" lIns="36576" rIns="36576" tIns="18288" bIns="18288"/>
                    <a:lstStyle/>
                    <a:p>
                      <a:r>
                        <a:rPr sz="540" b="1">
                          <a:solidFill>
                            <a:srgbClr val="21242A"/>
                          </a:solidFill>
                          <a:latin typeface="Microsoft YaHei"/>
                        </a:rPr>
                        <a:t>6周期CR（未匹配）</a:t>
                      </a:r>
                    </a:p>
                  </a:txBody>
                  <a:tcPr>
                    <a:solidFill>
                      <a:srgbClr val="FFFFFF"/>
                    </a:solidFill>
                  </a:tcPr>
                </a:tc>
                <a:tc>
                  <a:txBody>
                    <a:bodyPr wrap="square" lIns="36576" rIns="36576" tIns="18288" bIns="18288"/>
                    <a:lstStyle/>
                    <a:p>
                      <a:r>
                        <a:rPr sz="540" b="0">
                          <a:solidFill>
                            <a:srgbClr val="21242A"/>
                          </a:solidFill>
                          <a:latin typeface="Microsoft YaHei"/>
                        </a:rPr>
                        <a:t>Pola-R-CHP组70% vs R-EPOCH组47%，P=0.10</a:t>
                      </a:r>
                    </a:p>
                  </a:txBody>
                  <a:tcPr>
                    <a:solidFill>
                      <a:srgbClr val="FFFFFF"/>
                    </a:solidFill>
                  </a:tcPr>
                </a:tc>
              </a:tr>
              <a:tr h="107115">
                <a:tc>
                  <a:txBody>
                    <a:bodyPr wrap="square" lIns="36576" rIns="36576" tIns="18288" bIns="18288"/>
                    <a:lstStyle/>
                    <a:p>
                      <a:r>
                        <a:rPr sz="540" b="1">
                          <a:solidFill>
                            <a:srgbClr val="21242A"/>
                          </a:solidFill>
                          <a:latin typeface="Microsoft YaHei"/>
                        </a:rPr>
                        <a:t>中位PFS</a:t>
                      </a:r>
                    </a:p>
                  </a:txBody>
                  <a:tcPr>
                    <a:solidFill>
                      <a:srgbClr val="F6F8FB"/>
                    </a:solidFill>
                  </a:tcPr>
                </a:tc>
                <a:tc>
                  <a:txBody>
                    <a:bodyPr wrap="square" lIns="36576" rIns="36576" tIns="18288" bIns="18288"/>
                    <a:lstStyle/>
                    <a:p>
                      <a:r>
                        <a:rPr sz="540" b="0">
                          <a:solidFill>
                            <a:srgbClr val="21242A"/>
                          </a:solidFill>
                          <a:latin typeface="Microsoft YaHei"/>
                        </a:rPr>
                        <a:t>未匹配时Pola-R-CHP组显著长于R-EPOCH组</a:t>
                      </a:r>
                    </a:p>
                  </a:txBody>
                  <a:tcPr>
                    <a:solidFill>
                      <a:srgbClr val="F6F8FB"/>
                    </a:solidFill>
                  </a:tcPr>
                </a:tc>
              </a:tr>
              <a:tr h="107115">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匹配后两组无显著差异</a:t>
                      </a:r>
                    </a:p>
                  </a:txBody>
                  <a:tcPr>
                    <a:solidFill>
                      <a:srgbClr val="FFFFFF"/>
                    </a:solidFill>
                  </a:tcPr>
                </a:tc>
              </a:tr>
              <a:tr h="107115">
                <a:tc>
                  <a:txBody>
                    <a:bodyPr wrap="square" lIns="36576" rIns="36576" tIns="18288" bIns="18288"/>
                    <a:lstStyle/>
                    <a:p>
                      <a:r>
                        <a:rPr sz="540" b="1">
                          <a:solidFill>
                            <a:srgbClr val="21242A"/>
                          </a:solidFill>
                          <a:latin typeface="Microsoft YaHei"/>
                        </a:rPr>
                        <a:t>中位OS</a:t>
                      </a:r>
                    </a:p>
                  </a:txBody>
                  <a:tcPr>
                    <a:solidFill>
                      <a:srgbClr val="F6F8FB"/>
                    </a:solidFill>
                  </a:tcPr>
                </a:tc>
                <a:tc>
                  <a:txBody>
                    <a:bodyPr wrap="square" lIns="36576" rIns="36576" tIns="18288" bIns="18288"/>
                    <a:lstStyle/>
                    <a:p>
                      <a:r>
                        <a:rPr sz="540" b="0">
                          <a:solidFill>
                            <a:srgbClr val="21242A"/>
                          </a:solidFill>
                          <a:latin typeface="Microsoft YaHei"/>
                        </a:rPr>
                        <a:t>匹配后两组无显著差异</a:t>
                      </a:r>
                    </a:p>
                  </a:txBody>
                  <a:tcPr>
                    <a:solidFill>
                      <a:srgbClr val="F6F8FB"/>
                    </a:solidFill>
                  </a:tcPr>
                </a:tc>
              </a:tr>
              <a:tr h="107115">
                <a:tc>
                  <a:txBody>
                    <a:bodyPr wrap="square" lIns="36576" rIns="36576" tIns="18288" bIns="18288"/>
                    <a:lstStyle/>
                    <a:p>
                      <a:r>
                        <a:rPr sz="540" b="1">
                          <a:solidFill>
                            <a:srgbClr val="21242A"/>
                          </a:solidFill>
                          <a:latin typeface="Microsoft YaHei"/>
                        </a:rPr>
                        <a:t>3级及以上中性粒细胞减少（未匹配）</a:t>
                      </a:r>
                    </a:p>
                  </a:txBody>
                  <a:tcPr>
                    <a:solidFill>
                      <a:srgbClr val="FFFFFF"/>
                    </a:solidFill>
                  </a:tcPr>
                </a:tc>
                <a:tc>
                  <a:txBody>
                    <a:bodyPr wrap="square" lIns="36576" rIns="36576" tIns="18288" bIns="18288"/>
                    <a:lstStyle/>
                    <a:p>
                      <a:r>
                        <a:rPr sz="540" b="0">
                          <a:solidFill>
                            <a:srgbClr val="21242A"/>
                          </a:solidFill>
                          <a:latin typeface="Microsoft YaHei"/>
                        </a:rPr>
                        <a:t>Pola-R-CHP组18.5% vs R-EPOCH组50%，P=0.006</a:t>
                      </a:r>
                    </a:p>
                  </a:txBody>
                  <a:tcPr>
                    <a:solidFill>
                      <a:srgbClr val="FFFFFF"/>
                    </a:solidFill>
                  </a:tcPr>
                </a:tc>
              </a:tr>
              <a:tr h="107115">
                <a:tc>
                  <a:txBody>
                    <a:bodyPr wrap="square" lIns="36576" rIns="36576" tIns="18288" bIns="18288"/>
                    <a:lstStyle/>
                    <a:p>
                      <a:r>
                        <a:rPr sz="540" b="1">
                          <a:solidFill>
                            <a:srgbClr val="21242A"/>
                          </a:solidFill>
                          <a:latin typeface="Microsoft YaHei"/>
                        </a:rPr>
                        <a:t>3级及以上血小板减少（未匹配）</a:t>
                      </a:r>
                    </a:p>
                  </a:txBody>
                  <a:tcPr>
                    <a:solidFill>
                      <a:srgbClr val="F6F8FB"/>
                    </a:solidFill>
                  </a:tcPr>
                </a:tc>
                <a:tc>
                  <a:txBody>
                    <a:bodyPr wrap="square" lIns="36576" rIns="36576" tIns="18288" bIns="18288"/>
                    <a:lstStyle/>
                    <a:p>
                      <a:r>
                        <a:rPr sz="540" b="0">
                          <a:solidFill>
                            <a:srgbClr val="21242A"/>
                          </a:solidFill>
                          <a:latin typeface="Microsoft YaHei"/>
                        </a:rPr>
                        <a:t>Pola-R-CHP组0% vs R-EPOCH组32.1%，P=0.007</a:t>
                      </a:r>
                    </a:p>
                  </a:txBody>
                  <a:tcPr>
                    <a:solidFill>
                      <a:srgbClr val="F6F8FB"/>
                    </a:solidFill>
                  </a:tcPr>
                </a:tc>
              </a:tr>
              <a:tr h="107115">
                <a:tc>
                  <a:txBody>
                    <a:bodyPr wrap="square" lIns="36576" rIns="36576" tIns="18288" bIns="18288"/>
                    <a:lstStyle/>
                    <a:p>
                      <a:r>
                        <a:rPr sz="540" b="1">
                          <a:solidFill>
                            <a:srgbClr val="21242A"/>
                          </a:solidFill>
                          <a:latin typeface="Microsoft YaHei"/>
                        </a:rPr>
                        <a:t>3级及以上贫血（未匹配）</a:t>
                      </a:r>
                    </a:p>
                  </a:txBody>
                  <a:tcPr>
                    <a:solidFill>
                      <a:srgbClr val="FFFFFF"/>
                    </a:solidFill>
                  </a:tcPr>
                </a:tc>
                <a:tc>
                  <a:txBody>
                    <a:bodyPr wrap="square" lIns="36576" rIns="36576" tIns="18288" bIns="18288"/>
                    <a:lstStyle/>
                    <a:p>
                      <a:r>
                        <a:rPr sz="540" b="0">
                          <a:solidFill>
                            <a:srgbClr val="21242A"/>
                          </a:solidFill>
                          <a:latin typeface="Microsoft YaHei"/>
                        </a:rPr>
                        <a:t>Pola-R-CHP组7.4% vs R-EPOCH组30.4%，P=0.020</a:t>
                      </a:r>
                    </a:p>
                  </a:txBody>
                  <a:tcPr>
                    <a:solidFill>
                      <a:srgbClr val="FFFFFF"/>
                    </a:solidFill>
                  </a:tcPr>
                </a:tc>
              </a:tr>
              <a:tr h="107121">
                <a:tc>
                  <a:txBody>
                    <a:bodyPr wrap="square" lIns="36576" rIns="36576" tIns="18288" bIns="18288"/>
                    <a:lstStyle/>
                    <a:p>
                      <a:r>
                        <a:rPr sz="540" b="1">
                          <a:solidFill>
                            <a:srgbClr val="21242A"/>
                          </a:solidFill>
                          <a:latin typeface="Microsoft YaHei"/>
                        </a:rPr>
                        <a:t>严重感染（未匹配）</a:t>
                      </a:r>
                    </a:p>
                  </a:txBody>
                  <a:tcPr>
                    <a:solidFill>
                      <a:srgbClr val="F6F8FB"/>
                    </a:solidFill>
                  </a:tcPr>
                </a:tc>
                <a:tc>
                  <a:txBody>
                    <a:bodyPr wrap="square" lIns="36576" rIns="36576" tIns="18288" bIns="18288"/>
                    <a:lstStyle/>
                    <a:p>
                      <a:r>
                        <a:rPr sz="540" b="0">
                          <a:solidFill>
                            <a:srgbClr val="21242A"/>
                          </a:solidFill>
                          <a:latin typeface="Microsoft YaHei"/>
                        </a:rPr>
                        <a:t>Pola-R-CHP组11.1% vs R-EPOCH组28.6%，P=0.076</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结外代谢肿瘤体积确定受益于pola-r-chp的大型b细胞淋巴瘤亚群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metabolic tumor volume identifies large b‑cell lymphoma subgroups...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对照/比较：试验组：Pola-R-CHP（polatuzumab vedotin，利妥昔单抗，环磷酰胺，多柔比星，泼尼松）</a:t>
            </a:r>
          </a:p>
          <a:p>
            <a:pPr>
              <a:lnSpc>
                <a:spcPct val="103000"/>
              </a:lnSpc>
              <a:spcAft>
                <a:spcPts val="300"/>
              </a:spcAft>
              <a:defRPr sz="800">
                <a:solidFill>
                  <a:srgbClr val="21242A"/>
                </a:solidFill>
                <a:latin typeface="Microsoft YaHei"/>
              </a:defRPr>
            </a:pPr>
            <a:r>
              <a:t>对照组：R-CHOP（利妥昔单抗，环磷酰胺，多柔比星，泼尼松）</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3年无进展生存率（PFS）：两组整体相似，未报告具体数值。</a:t>
            </a:r>
          </a:p>
          <a:p>
            <a:pPr>
              <a:lnSpc>
                <a:spcPct val="103000"/>
              </a:lnSpc>
              <a:spcAft>
                <a:spcPts val="300"/>
              </a:spcAft>
              <a:defRPr sz="800">
                <a:solidFill>
                  <a:srgbClr val="21242A"/>
                </a:solidFill>
                <a:latin typeface="Microsoft YaHei"/>
              </a:defRPr>
            </a:pPr>
            <a:r>
              <a:t>在低TMTV（&lt;350 mL）且高EN/TMTV亚组中，Pola-R-CHP组3年PFS为96.3%，R-CHOP组为74.0...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人数：625</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结外代谢肿瘤体积确定受益于pola-r-chp的大型b细胞淋巴瘤亚群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metabolic tumor volume identifies large b‑cell lymphoma subgroups...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R‑CHOP has been the standard first‑line regimen for large B‑cell lymphoma (LBCL) for over two decades, until the POLARIX trial demonstrated improved</a:t>
            </a:r>
          </a:p>
          <a:p>
            <a:pPr>
              <a:lnSpc>
                <a:spcPct val="103000"/>
              </a:lnSpc>
              <a:spcAft>
                <a:spcPts val="300"/>
              </a:spcAft>
              <a:defRPr sz="570">
                <a:solidFill>
                  <a:srgbClr val="21242A"/>
                </a:solidFill>
                <a:latin typeface="Microsoft YaHei"/>
              </a:defRPr>
            </a:pPr>
            <a:r>
              <a:t> progression‑free survival (PFS) with polatuzumab vedotin (PV) in Pola‑R‑CHP.</a:t>
            </a:r>
          </a:p>
          <a:p>
            <a:pPr>
              <a:lnSpc>
                <a:spcPct val="103000"/>
              </a:lnSpc>
              <a:spcAft>
                <a:spcPts val="300"/>
              </a:spcAft>
              <a:defRPr sz="570">
                <a:solidFill>
                  <a:srgbClr val="21242A"/>
                </a:solidFill>
                <a:latin typeface="Microsoft YaHei"/>
              </a:defRPr>
            </a:pPr>
            <a:r>
              <a:t>However, overall survival (OS) did not differ, and there remains no validated strategy to identify patients who benefit most from PV‑based therapy.</a:t>
            </a:r>
          </a:p>
          <a:p>
            <a:pPr>
              <a:lnSpc>
                <a:spcPct val="103000"/>
              </a:lnSpc>
              <a:spcAft>
                <a:spcPts val="300"/>
              </a:spcAft>
              <a:defRPr sz="570">
                <a:solidFill>
                  <a:srgbClr val="21242A"/>
                </a:solidFill>
                <a:latin typeface="Microsoft YaHei"/>
              </a:defRPr>
            </a:pPr>
            <a:r>
              <a:t>Aims: \n To determine whether the composition of total metabolic tumor volume (TMTV), particularly extranodal burden, improves frontline treatment stratificatio</a:t>
            </a:r>
          </a:p>
          <a:p>
            <a:pPr>
              <a:lnSpc>
                <a:spcPct val="103000"/>
              </a:lnSpc>
              <a:spcAft>
                <a:spcPts val="300"/>
              </a:spcAft>
              <a:defRPr sz="570">
                <a:solidFill>
                  <a:srgbClr val="21242A"/>
                </a:solidFill>
                <a:latin typeface="Microsoft YaHei"/>
              </a:defRPr>
            </a:pPr>
            <a:r>
              <a:t>n between Pola‑R‑CHP and R‑CHOP in LBCL.</a:t>
            </a:r>
          </a:p>
          <a:p>
            <a:pPr>
              <a:lnSpc>
                <a:spcPct val="103000"/>
              </a:lnSpc>
              <a:spcAft>
                <a:spcPts val="300"/>
              </a:spcAft>
              <a:defRPr sz="570">
                <a:solidFill>
                  <a:srgbClr val="21242A"/>
                </a:solidFill>
                <a:latin typeface="Microsoft YaHei"/>
              </a:defRPr>
            </a:pPr>
            <a:r>
              <a:t>\n Methods: We retrospectively analyzed patients with newly diagnosed LBCL treated with R‑CHOP or Pola‑R‑CHP from 2007 to 2025.</a:t>
            </a:r>
          </a:p>
          <a:p>
            <a:pPr>
              <a:lnSpc>
                <a:spcPct val="103000"/>
              </a:lnSpc>
              <a:spcAft>
                <a:spcPts val="300"/>
              </a:spcAft>
              <a:defRPr sz="570">
                <a:solidFill>
                  <a:srgbClr val="21242A"/>
                </a:solidFill>
                <a:latin typeface="Microsoft YaHei"/>
              </a:defRPr>
            </a:pPr>
            <a:r>
              <a:t>Baseline positron emission tomography-computed tomography was used to quantify TMTV and extranodal metabolic tumor volume.</a:t>
            </a:r>
          </a:p>
          <a:p>
            <a:pPr>
              <a:lnSpc>
                <a:spcPct val="103000"/>
              </a:lnSpc>
              <a:spcAft>
                <a:spcPts val="300"/>
              </a:spcAft>
              <a:defRPr sz="570">
                <a:solidFill>
                  <a:srgbClr val="21242A"/>
                </a:solidFill>
                <a:latin typeface="Microsoft YaHei"/>
              </a:defRPr>
            </a:pPr>
            <a:r>
              <a:t>The proportion of extranodal disease (EN/TMTV) was derived.</a:t>
            </a:r>
          </a:p>
          <a:p>
            <a:pPr>
              <a:lnSpc>
                <a:spcPct val="103000"/>
              </a:lnSpc>
              <a:spcAft>
                <a:spcPts val="300"/>
              </a:spcAft>
              <a:defRPr sz="570">
                <a:solidFill>
                  <a:srgbClr val="21242A"/>
                </a:solidFill>
                <a:latin typeface="Microsoft YaHei"/>
              </a:defRPr>
            </a:pPr>
            <a:r>
              <a:t>Associations with 3-year PFS and treatment interactions were evaluated using multivariable Cox models with interaction terms.</a:t>
            </a:r>
          </a:p>
          <a:p>
            <a:pPr>
              <a:lnSpc>
                <a:spcPct val="103000"/>
              </a:lnSpc>
              <a:spcAft>
                <a:spcPts val="300"/>
              </a:spcAft>
              <a:defRPr sz="570">
                <a:solidFill>
                  <a:srgbClr val="21242A"/>
                </a:solidFill>
                <a:latin typeface="Microsoft YaHei"/>
              </a:defRPr>
            </a:pPr>
            <a:r>
              <a:t>Survival was assessed using Kaplan Meier analysis.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High EN/TMTV identifies a subgroup with low tumor burden who appear to derive particular benefit from Pola‑R‑CHP.</a:t>
            </a:r>
          </a:p>
          <a:p>
            <a:pPr>
              <a:lnSpc>
                <a:spcPct val="103000"/>
              </a:lnSpc>
              <a:spcAft>
                <a:spcPts val="300"/>
              </a:spcAft>
              <a:defRPr sz="590">
                <a:solidFill>
                  <a:srgbClr val="21242A"/>
                </a:solidFill>
                <a:latin typeface="Microsoft YaHei"/>
              </a:defRPr>
            </a:pPr>
            <a:r>
              <a:t>Imaging‑derived extranodal burden may provide a rapid, non‑invasive biomarker to guide frontline regimen selection and could complement emerging molecular class</a:t>
            </a:r>
          </a:p>
          <a:p>
            <a:pPr>
              <a:lnSpc>
                <a:spcPct val="103000"/>
              </a:lnSpc>
              <a:spcAft>
                <a:spcPts val="300"/>
              </a:spcAft>
              <a:defRPr sz="590">
                <a:solidFill>
                  <a:srgbClr val="21242A"/>
                </a:solidFill>
                <a:latin typeface="Microsoft YaHei"/>
              </a:defRPr>
            </a:pPr>
            <a:r>
              <a:t>ifiers.</a:t>
            </a:r>
          </a:p>
          <a:p>
            <a:pPr>
              <a:lnSpc>
                <a:spcPct val="103000"/>
              </a:lnSpc>
              <a:spcAft>
                <a:spcPts val="300"/>
              </a:spcAft>
              <a:defRPr sz="590">
                <a:solidFill>
                  <a:srgbClr val="21242A"/>
                </a:solidFill>
                <a:latin typeface="Microsoft YaHei"/>
              </a:defRPr>
            </a:pPr>
            <a:r>
              <a:t>External validation integrating molecular and imaging data is warranted.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1. 3年无进展生存率（PFS）</a:t>
                      </a:r>
                    </a:p>
                  </a:txBody>
                  <a:tcPr>
                    <a:solidFill>
                      <a:srgbClr val="F6F8FB"/>
                    </a:solidFill>
                  </a:tcPr>
                </a:tc>
                <a:tc>
                  <a:txBody>
                    <a:bodyPr wrap="square" lIns="36576" rIns="36576" tIns="18288" bIns="18288"/>
                    <a:lstStyle/>
                    <a:p>
                      <a:r>
                        <a:rPr sz="540" b="0">
                          <a:solidFill>
                            <a:srgbClr val="21242A"/>
                          </a:solidFill>
                          <a:latin typeface="Microsoft YaHei"/>
                        </a:rPr>
                        <a:t>两组整体相似，未报告具体数值。</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2. 在低TMTV（&lt;350 mL）且高EN/TMTV亚组中，Pola-R-CHP组3年PFS为96.3%，R-CHOP组为74.0%。</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3. 在低TMTV且高EN/TMTV亚组中，Pola-R-CHP组3年总生存率（OS）为100%，R-CHOP组为80.2%。</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4. 高TMTV（≥350 mL）与较差生存相关（HR 2.72 [95% CI 2.02–3.67]）。</a:t>
                      </a:r>
                    </a:p>
                  </a:txBody>
                  <a:tcPr>
                    <a:solidFill>
                      <a:srgbClr val="FFFFFF"/>
                    </a:solidFill>
                  </a:tcPr>
                </a:tc>
              </a:tr>
              <a:tr h="249936">
                <a:tc>
                  <a:txBody>
                    <a:bodyPr wrap="square" lIns="36576" rIns="36576" tIns="18288" bIns="18288"/>
                    <a:lstStyle/>
                    <a:p>
                      <a:r>
                        <a:rPr sz="540" b="1">
                          <a:solidFill>
                            <a:srgbClr val="21242A"/>
                          </a:solidFill>
                          <a:latin typeface="Microsoft YaHei"/>
                        </a:rPr>
                        <a:t>5. 治疗交互作用</a:t>
                      </a:r>
                    </a:p>
                  </a:txBody>
                  <a:tcPr>
                    <a:solidFill>
                      <a:srgbClr val="F6F8FB"/>
                    </a:solidFill>
                  </a:tcPr>
                </a:tc>
                <a:tc>
                  <a:txBody>
                    <a:bodyPr wrap="square" lIns="36576" rIns="36576" tIns="18288" bIns="18288"/>
                    <a:lstStyle/>
                    <a:p>
                      <a:r>
                        <a:rPr sz="540" b="0">
                          <a:solidFill>
                            <a:srgbClr val="21242A"/>
                          </a:solidFill>
                          <a:latin typeface="Microsoft YaHei"/>
                        </a:rPr>
                        <a:t>Pola-R-CHP仅在低TMTV且高EN/TMTV亚组中显著改善PFS（HR 0.11 [95% CI 0.02–0.81]）。</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摘要号：PF1012</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噬血细胞淋巴组织细胞增生症作为弥漫性大b细胞淋巴瘤发病的早期死亡和生存率低的危险因素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factors for early death and poor survival in hemophagocytic lymphohistio...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N=130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回顾性临床研究结果：risk factors for early death and poor survival in hem...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早期死亡（≤30天）率：19.2%</a:t>
            </a:r>
          </a:p>
          <a:p>
            <a:pPr>
              <a:lnSpc>
                <a:spcPct val="103000"/>
              </a:lnSpc>
              <a:spcAft>
                <a:spcPts val="300"/>
              </a:spcAft>
              <a:defRPr sz="800">
                <a:solidFill>
                  <a:srgbClr val="21242A"/>
                </a:solidFill>
                <a:latin typeface="Microsoft YaHei"/>
              </a:defRPr>
            </a:pPr>
            <a:r>
              <a:t>独立早期死亡预测因子：年龄&gt;75岁（OR=25.0，P&lt;0.001）、铁蛋白&gt;5000 μg/L（OR=25.9，P=0.00...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研究主题：risk factors for early death and poor survival in hemophagocytic lymphohistiocytosis as an onset of diffuse large b-cel...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噬血细胞淋巴组织细胞增生症作为弥漫性大b细胞淋巴瘤发病的早期死亡和生存率低的危险因素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factors for early death and poor survival in hemophagocytic lymphohistio...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with hemophagocytic lymphohistiocytosis as the initial presentation (HLH-onset DLBCL) is a highly aggressive clinical </a:t>
            </a:r>
          </a:p>
          <a:p>
            <a:pPr>
              <a:lnSpc>
                <a:spcPct val="103000"/>
              </a:lnSpc>
              <a:spcAft>
                <a:spcPts val="300"/>
              </a:spcAft>
              <a:defRPr sz="570">
                <a:solidFill>
                  <a:srgbClr val="21242A"/>
                </a:solidFill>
                <a:latin typeface="Microsoft YaHei"/>
              </a:defRPr>
            </a:pPr>
            <a:r>
              <a:t>subtype characterized by a \"tumor-inflammation self-driving loop\".</a:t>
            </a:r>
          </a:p>
          <a:p>
            <a:pPr>
              <a:lnSpc>
                <a:spcPct val="103000"/>
              </a:lnSpc>
              <a:spcAft>
                <a:spcPts val="300"/>
              </a:spcAft>
              <a:defRPr sz="570">
                <a:solidFill>
                  <a:srgbClr val="21242A"/>
                </a:solidFill>
                <a:latin typeface="Microsoft YaHei"/>
              </a:defRPr>
            </a:pPr>
            <a:r>
              <a:t>This population exhibits unique clinical features and an extremely poor prognosis; however, robust risk-stratification models and systematic evaluations of trea</a:t>
            </a:r>
          </a:p>
          <a:p>
            <a:pPr>
              <a:lnSpc>
                <a:spcPct val="103000"/>
              </a:lnSpc>
              <a:spcAft>
                <a:spcPts val="300"/>
              </a:spcAft>
              <a:defRPr sz="570">
                <a:solidFill>
                  <a:srgbClr val="21242A"/>
                </a:solidFill>
                <a:latin typeface="Microsoft YaHei"/>
              </a:defRPr>
            </a:pPr>
            <a:r>
              <a:t>tment strategies remain scarce.</a:t>
            </a:r>
          </a:p>
          <a:p>
            <a:pPr>
              <a:lnSpc>
                <a:spcPct val="103000"/>
              </a:lnSpc>
              <a:spcAft>
                <a:spcPts val="300"/>
              </a:spcAft>
              <a:defRPr sz="570">
                <a:solidFill>
                  <a:srgbClr val="21242A"/>
                </a:solidFill>
                <a:latin typeface="Microsoft YaHei"/>
              </a:defRPr>
            </a:pPr>
            <a:r>
              <a:t>Aims: This study aimed to: 1) identify independent risk factors for early death (ED, ≤30 days) and develop a bedside scoring model (ED-SSM); 2) establish a nove</a:t>
            </a:r>
          </a:p>
          <a:p>
            <a:pPr>
              <a:lnSpc>
                <a:spcPct val="103000"/>
              </a:lnSpc>
              <a:spcAft>
                <a:spcPts val="300"/>
              </a:spcAft>
              <a:defRPr sz="570">
                <a:solidFill>
                  <a:srgbClr val="21242A"/>
                </a:solidFill>
                <a:latin typeface="Microsoft YaHei"/>
              </a:defRPr>
            </a:pPr>
            <a:r>
              <a:t>l long-term prognostic system (OS-PSS); 3) evaluate the impact of treatment intensity using inverse probability of treatment weighting (IPTW); and 4) characteri</a:t>
            </a:r>
          </a:p>
          <a:p>
            <a:pPr>
              <a:lnSpc>
                <a:spcPct val="103000"/>
              </a:lnSpc>
              <a:spcAft>
                <a:spcPts val="300"/>
              </a:spcAft>
              <a:defRPr sz="570">
                <a:solidFill>
                  <a:srgbClr val="21242A"/>
                </a:solidFill>
                <a:latin typeface="Microsoft YaHei"/>
              </a:defRPr>
            </a:pPr>
            <a:r>
              <a:t>ze the genomic landscape using targeted next-generation sequencing (NGS).</a:t>
            </a:r>
          </a:p>
          <a:p>
            <a:pPr>
              <a:lnSpc>
                <a:spcPct val="103000"/>
              </a:lnSpc>
              <a:spcAft>
                <a:spcPts val="300"/>
              </a:spcAft>
              <a:defRPr sz="570">
                <a:solidFill>
                  <a:srgbClr val="21242A"/>
                </a:solidFill>
                <a:latin typeface="Microsoft YaHei"/>
              </a:defRPr>
            </a:pPr>
            <a:r>
              <a:t>Methods: A total of 130 treatment-naïve patients with HLH-onset DLBCL admitted between January 1, 2019, and January 1, 2025, were retrospectively analyzed.</a:t>
            </a:r>
          </a:p>
          <a:p>
            <a:pPr>
              <a:lnSpc>
                <a:spcPct val="103000"/>
              </a:lnSpc>
              <a:spcAft>
                <a:spcPts val="300"/>
              </a:spcAft>
              <a:defRPr sz="570">
                <a:solidFill>
                  <a:srgbClr val="21242A"/>
                </a:solidFill>
                <a:latin typeface="Microsoft YaHei"/>
              </a:defRPr>
            </a:pPr>
            <a:r>
              <a:t>Multivariable logistic and Cox proportional hazards models identified prognostic determinants.</a:t>
            </a:r>
          </a:p>
          <a:p>
            <a:pPr>
              <a:lnSpc>
                <a:spcPct val="103000"/>
              </a:lnSpc>
              <a:spcAft>
                <a:spcPts val="300"/>
              </a:spcAft>
              <a:defRPr sz="570">
                <a:solidFill>
                  <a:srgbClr val="21242A"/>
                </a:solidFill>
                <a:latin typeface="Microsoft YaHei"/>
              </a:defRPr>
            </a:pPr>
            <a:r>
              <a:t>IPTW was implemented to balance six core baseline parameters (age, platelets, APTT, LDH, albumin, and ferritin) to minimize selection bias.</a:t>
            </a:r>
          </a:p>
          <a:p>
            <a:pPr>
              <a:lnSpc>
                <a:spcPct val="103000"/>
              </a:lnSpc>
              <a:spcAft>
                <a:spcPts val="300"/>
              </a:spcAft>
              <a:defRPr sz="570">
                <a:solidFill>
                  <a:srgbClr val="21242A"/>
                </a:solidFill>
                <a:latin typeface="Microsoft YaHei"/>
              </a:defRPr>
            </a:pPr>
            <a:r>
              <a:t>Targeted NGS (475-gene panel) was performed on 38 patients to identify mutational clusters and molecular subtypes.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HLH-onset DLBCL is characterized by high early mortality and unique molecular features. Our ED-SSM and OS-PSS models enable precise bedside risk stratification.</a:t>
            </a:r>
          </a:p>
          <a:p>
            <a:pPr>
              <a:lnSpc>
                <a:spcPct val="103000"/>
              </a:lnSpc>
              <a:spcAft>
                <a:spcPts val="300"/>
              </a:spcAft>
              <a:defRPr sz="590">
                <a:solidFill>
                  <a:srgbClr val="21242A"/>
                </a:solidFill>
                <a:latin typeface="Microsoft YaHei"/>
              </a:defRPr>
            </a:pPr>
            <a:r>
              <a:t>Crucially, concurrent standard-intensity lymphoma-directed therapy is essential for improving survival, even in fragile patients.</a:t>
            </a:r>
          </a:p>
          <a:p>
            <a:pPr>
              <a:lnSpc>
                <a:spcPct val="103000"/>
              </a:lnSpc>
              <a:spcAft>
                <a:spcPts val="300"/>
              </a:spcAft>
              <a:defRPr sz="590">
                <a:solidFill>
                  <a:srgbClr val="21242A"/>
                </a:solidFill>
                <a:latin typeface="Microsoft YaHei"/>
              </a:defRPr>
            </a:pPr>
            <a:r>
              <a:t>The enrichment of the MCD subtype suggests that integrating targeted agents, such as BTK inhibitors, warrants further investigation.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median age was 67 years; 92.3% were in stage III–IV and 86.2% had bone marrow involvement. The ED rate was 19.2%.</a:t>
            </a:r>
          </a:p>
          <a:p>
            <a:pPr>
              <a:lnSpc>
                <a:spcPct val="103000"/>
              </a:lnSpc>
              <a:spcAft>
                <a:spcPts val="300"/>
              </a:spcAft>
              <a:defRPr sz="580">
                <a:solidFill>
                  <a:srgbClr val="21242A"/>
                </a:solidFill>
                <a:latin typeface="Microsoft YaHei"/>
              </a:defRPr>
            </a:pPr>
            <a:r>
              <a:t>Multivariable analysis identified age &gt;75 years (OR=25.0, P 5000 μg/L (OR=25.9, P=0.008), and PCT &gt;0.5 ng/mL (OR=5.52, P=0.007) as independent ED predictor</a:t>
            </a:r>
          </a:p>
          <a:p>
            <a:pPr>
              <a:lnSpc>
                <a:spcPct val="103000"/>
              </a:lnSpc>
              <a:spcAft>
                <a:spcPts val="300"/>
              </a:spcAft>
              <a:defRPr sz="580">
                <a:solidFill>
                  <a:srgbClr val="21242A"/>
                </a:solidFill>
                <a:latin typeface="Microsoft YaHei"/>
              </a:defRPr>
            </a:pPr>
            <a:r>
              <a:t>s.</a:t>
            </a:r>
          </a:p>
          <a:p>
            <a:pPr>
              <a:lnSpc>
                <a:spcPct val="103000"/>
              </a:lnSpc>
              <a:spcAft>
                <a:spcPts val="300"/>
              </a:spcAft>
              <a:defRPr sz="580">
                <a:solidFill>
                  <a:srgbClr val="21242A"/>
                </a:solidFill>
                <a:latin typeface="Microsoft YaHei"/>
              </a:defRPr>
            </a:pPr>
            <a:r>
              <a:t>The ED-SSM (0–5 points) achieved an AUC of 0.848.</a:t>
            </a:r>
          </a:p>
          <a:p>
            <a:pPr>
              <a:lnSpc>
                <a:spcPct val="103000"/>
              </a:lnSpc>
              <a:spcAft>
                <a:spcPts val="300"/>
              </a:spcAft>
              <a:defRPr sz="580">
                <a:solidFill>
                  <a:srgbClr val="21242A"/>
                </a:solidFill>
                <a:latin typeface="Microsoft YaHei"/>
              </a:defRPr>
            </a:pPr>
            <a:r>
              <a:t>Traditional IPI failed to provide effective risk stratification, as 95.4% of patients clustered in the high-risk category.</a:t>
            </a:r>
          </a:p>
          <a:p>
            <a:pPr>
              <a:lnSpc>
                <a:spcPct val="103000"/>
              </a:lnSpc>
              <a:spcAft>
                <a:spcPts val="300"/>
              </a:spcAft>
              <a:defRPr sz="580">
                <a:solidFill>
                  <a:srgbClr val="21242A"/>
                </a:solidFill>
                <a:latin typeface="Microsoft YaHei"/>
              </a:defRPr>
            </a:pPr>
            <a:r>
              <a:t>In contrast, the OS-PSS (incorporating age, platelets, ferritin, and PCT) demonstrated superior discriminative power (C-index 0.746).</a:t>
            </a:r>
          </a:p>
          <a:p>
            <a:pPr>
              <a:lnSpc>
                <a:spcPct val="103000"/>
              </a:lnSpc>
              <a:spcAft>
                <a:spcPts val="300"/>
              </a:spcAft>
              <a:defRPr sz="580">
                <a:solidFill>
                  <a:srgbClr val="21242A"/>
                </a:solidFill>
                <a:latin typeface="Microsoft YaHei"/>
              </a:defRPr>
            </a:pPr>
            <a:r>
              <a:t>After IPTW adjustment, standard-intensity chemoimmunotherapy significantly reduced the risk of death compared to no treatment (HR=0.012, 95% CI: 0.005–0.03</a:t>
            </a:r>
          </a:p>
          <a:p>
            <a:pPr>
              <a:lnSpc>
                <a:spcPct val="103000"/>
              </a:lnSpc>
              <a:spcAft>
                <a:spcPts val="300"/>
              </a:spcAft>
              <a:defRPr sz="580">
                <a:solidFill>
                  <a:srgbClr val="21242A"/>
                </a:solidFill>
                <a:latin typeface="Microsoft YaHei"/>
              </a:defRPr>
            </a:pPr>
            <a:r>
              <a:t>2, P 65 or ECOG &gt;2), standard intensity remained the key driver of survival (HR=0.017, P</a:t>
            </a:r>
          </a:p>
          <a:p>
            <a:pPr>
              <a:lnSpc>
                <a:spcPct val="103000"/>
              </a:lnSpc>
              <a:spcAft>
                <a:spcPts val="300"/>
              </a:spcAft>
              <a:defRPr sz="580">
                <a:solidFill>
                  <a:srgbClr val="21242A"/>
                </a:solidFill>
                <a:latin typeface="Microsoft YaHei"/>
              </a:defRPr>
            </a:pPr>
            <a:r>
              <a:t>Conclusion: HLH-onset DLBCL is characterized by high early mortality and unique molecular features.</a:t>
            </a:r>
          </a:p>
          <a:p>
            <a:pPr>
              <a:lnSpc>
                <a:spcPct val="103000"/>
              </a:lnSpc>
              <a:spcAft>
                <a:spcPts val="300"/>
              </a:spcAft>
              <a:defRPr sz="580">
                <a:solidFill>
                  <a:srgbClr val="21242A"/>
                </a:solidFill>
                <a:latin typeface="Microsoft YaHei"/>
              </a:defRPr>
            </a:pPr>
            <a:r>
              <a:t>Our ED-SSM and OS-PSS models enable precise bedside risk stratification.</a:t>
            </a:r>
          </a:p>
          <a:p>
            <a:pPr>
              <a:lnSpc>
                <a:spcPct val="103000"/>
              </a:lnSpc>
              <a:spcAft>
                <a:spcPts val="300"/>
              </a:spcAft>
              <a:defRPr sz="580">
                <a:solidFill>
                  <a:srgbClr val="21242A"/>
                </a:solidFill>
                <a:latin typeface="Microsoft YaHei"/>
              </a:defRPr>
            </a:pPr>
            <a:r>
              <a:t>Crucially, concurrent standard-intensity lymphoma-directed therapy is essential for improving survival, even in fragile patients.</a:t>
            </a:r>
          </a:p>
          <a:p>
            <a:pPr>
              <a:lnSpc>
                <a:spcPct val="103000"/>
              </a:lnSpc>
              <a:spcAft>
                <a:spcPts val="300"/>
              </a:spcAft>
              <a:defRPr sz="580">
                <a:solidFill>
                  <a:srgbClr val="21242A"/>
                </a:solidFill>
                <a:latin typeface="Microsoft YaHei"/>
              </a:defRPr>
            </a:pPr>
            <a:r>
              <a:t>The enrichment of the MCD subtype suggests that integrating targeted agents, such as BTK inhibitors, warrants further investigation.</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摘要号：PF999</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空间组织的巨噬细胞表型定义了侵袭性b-nhl的治疗反应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spatially organized macrophage phenotypes define treatment response in aggres...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B细胞非霍奇金淋巴瘤，弥漫性大B细胞淋巴瘤</a:t>
            </a:r>
          </a:p>
          <a:p>
            <a:pPr>
              <a:lnSpc>
                <a:spcPct val="103000"/>
              </a:lnSpc>
              <a:spcAft>
                <a:spcPts val="300"/>
              </a:spcAft>
              <a:defRPr sz="800">
                <a:solidFill>
                  <a:srgbClr val="21242A"/>
                </a:solidFill>
                <a:latin typeface="Microsoft YaHei"/>
              </a:defRPr>
            </a:pPr>
            <a:r>
              <a:t>N=156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回顾性临床研究结果：spatially organized macrophage phenotypes define trea...</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细胞毒性T细胞频率较高与更长PFS相关</a:t>
            </a:r>
          </a:p>
          <a:p>
            <a:pPr>
              <a:lnSpc>
                <a:spcPct val="103000"/>
              </a:lnSpc>
              <a:spcAft>
                <a:spcPts val="300"/>
              </a:spcAft>
              <a:defRPr sz="800">
                <a:solidFill>
                  <a:srgbClr val="21242A"/>
                </a:solidFill>
                <a:latin typeface="Microsoft YaHei"/>
              </a:defRPr>
            </a:pPr>
            <a:r>
              <a:t>耗竭细胞毒性T细胞比例增加与更短PFS趋势相关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人数：156</a:t>
            </a:r>
          </a:p>
          <a:p>
            <a:pPr>
              <a:lnSpc>
                <a:spcPct val="103000"/>
              </a:lnSpc>
              <a:spcAft>
                <a:spcPts val="300"/>
              </a:spcAft>
              <a:defRPr sz="810">
                <a:solidFill>
                  <a:srgbClr val="21242A"/>
                </a:solidFill>
                <a:latin typeface="Microsoft YaHei"/>
              </a:defRPr>
            </a:pPr>
            <a:r>
              <a:t>适应症：B细胞非霍奇金淋巴瘤、弥漫性大B细胞淋巴瘤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研究主题：spatially organized macrophage phenotypes define treatment response in aggressive b-nhl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空间组织的巨噬细胞表型定义了侵袭性b-nhl的治疗反应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spatially organized macrophage phenotypes define treatment response in aggres...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tumor microenvironment (TME) is increasingly recognized as an important contributor to therapeutic response across malignancies.</a:t>
            </a:r>
          </a:p>
          <a:p>
            <a:pPr>
              <a:lnSpc>
                <a:spcPct val="103000"/>
              </a:lnSpc>
              <a:spcAft>
                <a:spcPts val="300"/>
              </a:spcAft>
              <a:defRPr sz="570">
                <a:solidFill>
                  <a:srgbClr val="21242A"/>
                </a:solidFill>
                <a:latin typeface="Microsoft YaHei"/>
              </a:defRPr>
            </a:pPr>
            <a:r>
              <a:t>While cellular composition has been studied in diffuse large B-cell lymphoma (DLBCL), the spatial organization of tumor and immune cells and its link to clinica</a:t>
            </a:r>
          </a:p>
          <a:p>
            <a:pPr>
              <a:lnSpc>
                <a:spcPct val="103000"/>
              </a:lnSpc>
              <a:spcAft>
                <a:spcPts val="300"/>
              </a:spcAft>
              <a:defRPr sz="570">
                <a:solidFill>
                  <a:srgbClr val="21242A"/>
                </a:solidFill>
                <a:latin typeface="Microsoft YaHei"/>
              </a:defRPr>
            </a:pPr>
            <a:r>
              <a:t>l outcome remain insufficiently characterized .</a:t>
            </a:r>
          </a:p>
          <a:p>
            <a:pPr>
              <a:lnSpc>
                <a:spcPct val="103000"/>
              </a:lnSpc>
              <a:spcAft>
                <a:spcPts val="300"/>
              </a:spcAft>
              <a:defRPr sz="570">
                <a:solidFill>
                  <a:srgbClr val="21242A"/>
                </a:solidFill>
                <a:latin typeface="Microsoft YaHei"/>
              </a:defRPr>
            </a:pPr>
            <a:r>
              <a:t>Aims: This study aimed to characterize the cellular composition and spatial architecture of the DLBCL microenvironment and correlate these features with clinica</a:t>
            </a:r>
          </a:p>
          <a:p>
            <a:pPr>
              <a:lnSpc>
                <a:spcPct val="103000"/>
              </a:lnSpc>
              <a:spcAft>
                <a:spcPts val="300"/>
              </a:spcAft>
              <a:defRPr sz="570">
                <a:solidFill>
                  <a:srgbClr val="21242A"/>
                </a:solidFill>
                <a:latin typeface="Microsoft YaHei"/>
              </a:defRPr>
            </a:pPr>
            <a:r>
              <a:t>l outcomes following frontline chemotherapy.</a:t>
            </a:r>
          </a:p>
          <a:p>
            <a:pPr>
              <a:lnSpc>
                <a:spcPct val="103000"/>
              </a:lnSpc>
              <a:spcAft>
                <a:spcPts val="300"/>
              </a:spcAft>
              <a:defRPr sz="570">
                <a:solidFill>
                  <a:srgbClr val="21242A"/>
                </a:solidFill>
                <a:latin typeface="Microsoft YaHei"/>
              </a:defRPr>
            </a:pPr>
            <a:r>
              <a:t>Methods: We analyzed diagnostic tumor samples from patients with aggressive B-cell non-Hodgkin lymphoma (B-NHL) treated with standard chemo- or chemoimmunothera</a:t>
            </a:r>
          </a:p>
          <a:p>
            <a:pPr>
              <a:lnSpc>
                <a:spcPct val="103000"/>
              </a:lnSpc>
              <a:spcAft>
                <a:spcPts val="300"/>
              </a:spcAft>
              <a:defRPr sz="570">
                <a:solidFill>
                  <a:srgbClr val="21242A"/>
                </a:solidFill>
                <a:latin typeface="Microsoft YaHei"/>
              </a:defRPr>
            </a:pPr>
            <a:r>
              <a:t>py.</a:t>
            </a:r>
          </a:p>
          <a:p>
            <a:pPr>
              <a:lnSpc>
                <a:spcPct val="103000"/>
              </a:lnSpc>
              <a:spcAft>
                <a:spcPts val="300"/>
              </a:spcAft>
              <a:defRPr sz="570">
                <a:solidFill>
                  <a:srgbClr val="21242A"/>
                </a:solidFill>
                <a:latin typeface="Microsoft YaHei"/>
              </a:defRPr>
            </a:pPr>
            <a:r>
              <a:t>Multiplexed immunofluorescence based on CO-Detection by indEXing (CODEX, n=156) and Xenium spatial transcriptomics (n=68) were used to characterize the spatial </a:t>
            </a:r>
          </a:p>
          <a:p>
            <a:pPr>
              <a:lnSpc>
                <a:spcPct val="103000"/>
              </a:lnSpc>
              <a:spcAft>
                <a:spcPts val="300"/>
              </a:spcAft>
              <a:defRPr sz="570">
                <a:solidFill>
                  <a:srgbClr val="21242A"/>
                </a:solidFill>
                <a:latin typeface="Microsoft YaHei"/>
              </a:defRPr>
            </a:pPr>
            <a:r>
              <a:t>proteome and transcriptome respectively.</a:t>
            </a:r>
          </a:p>
          <a:p>
            <a:pPr>
              <a:lnSpc>
                <a:spcPct val="103000"/>
              </a:lnSpc>
              <a:spcAft>
                <a:spcPts val="300"/>
              </a:spcAft>
              <a:defRPr sz="570">
                <a:solidFill>
                  <a:srgbClr val="21242A"/>
                </a:solidFill>
                <a:latin typeface="Microsoft YaHei"/>
              </a:defRPr>
            </a:pPr>
            <a:r>
              <a:t>Cellular composition and spatial relationships were assessed using radius-based cellular neighborhoods, pairwise cell–cell proximities, and ligand-receptor anal</a:t>
            </a:r>
          </a:p>
          <a:p>
            <a:pPr>
              <a:lnSpc>
                <a:spcPct val="103000"/>
              </a:lnSpc>
              <a:spcAft>
                <a:spcPts val="300"/>
              </a:spcAft>
              <a:defRPr sz="570">
                <a:solidFill>
                  <a:srgbClr val="21242A"/>
                </a:solidFill>
                <a:latin typeface="Microsoft YaHei"/>
              </a:defRPr>
            </a:pPr>
            <a:r>
              <a:t>ysis.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study demonstrates that microenvironmental features, including immune cell composition and spatial organization, have prognostic relevance in aggressive B-N</a:t>
            </a:r>
          </a:p>
          <a:p>
            <a:pPr>
              <a:lnSpc>
                <a:spcPct val="103000"/>
              </a:lnSpc>
              <a:spcAft>
                <a:spcPts val="300"/>
              </a:spcAft>
              <a:defRPr sz="590">
                <a:solidFill>
                  <a:srgbClr val="21242A"/>
                </a:solidFill>
                <a:latin typeface="Microsoft YaHei"/>
              </a:defRPr>
            </a:pPr>
            <a:r>
              <a:t>HL.</a:t>
            </a:r>
          </a:p>
          <a:p>
            <a:pPr>
              <a:lnSpc>
                <a:spcPct val="103000"/>
              </a:lnSpc>
              <a:spcAft>
                <a:spcPts val="300"/>
              </a:spcAft>
              <a:defRPr sz="590">
                <a:solidFill>
                  <a:srgbClr val="21242A"/>
                </a:solidFill>
                <a:latin typeface="Microsoft YaHei"/>
              </a:defRPr>
            </a:pPr>
            <a:r>
              <a:t>Beyond overall cell frequencies, spatial proximities provide additional stratification of outcomes, highlighting the importance of spatially resolved phenotypes</a:t>
            </a:r>
          </a:p>
          <a:p>
            <a:pPr>
              <a:lnSpc>
                <a:spcPct val="103000"/>
              </a:lnSpc>
              <a:spcAft>
                <a:spcPts val="300"/>
              </a:spcAft>
              <a:defRPr sz="590">
                <a:solidFill>
                  <a:srgbClr val="21242A"/>
                </a:solidFill>
                <a:latin typeface="Microsoft YaHei"/>
              </a:defRPr>
            </a:pPr>
            <a:r>
              <a:t> for predicting therapy response and guiding biomarker development.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1. 细胞毒性T细胞频率较高与更长PFS相关；2. 耗竭细胞毒性T细胞比例增加与更短PFS趋势相关；3. 巨噬细胞水平升高与更长PFS相关（p=0.009）；4. 巨噬细胞空间邻近性在巨噬细胞高频率组中与更长PFS相关（p=0.04）；5. 耗竭T细胞与增殖B细胞的邻近性与较差预后相关（p=0.00006）</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摘要号：PS2164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长春新碱剂量调整或替代对r-chop治疗dlbcl患者临床结局的影响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vincristine dose modifications or substitution on clinical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试验药/方案：长春新碱</a:t>
            </a:r>
          </a:p>
          <a:p>
            <a:pPr>
              <a:lnSpc>
                <a:spcPct val="103000"/>
              </a:lnSpc>
              <a:spcAft>
                <a:spcPts val="300"/>
              </a:spcAft>
              <a:defRPr sz="800">
                <a:solidFill>
                  <a:srgbClr val="21242A"/>
                </a:solidFill>
                <a:latin typeface="Microsoft YaHei"/>
              </a:defRPr>
            </a:pPr>
            <a:r>
              <a:t>靶点：Tubulin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多组/多方案比较：试验组1：标准R-CHOP组（rituximab, cyclophosphamide, doxorubici...</a:t>
            </a:r>
          </a:p>
          <a:p>
            <a:pPr>
              <a:lnSpc>
                <a:spcPct val="103000"/>
              </a:lnSpc>
              <a:spcAft>
                <a:spcPts val="300"/>
              </a:spcAft>
              <a:defRPr sz="800">
                <a:solidFill>
                  <a:srgbClr val="21242A"/>
                </a:solidFill>
                <a:latin typeface="Microsoft YaHei"/>
              </a:defRPr>
            </a:pPr>
            <a:r>
              <a:t>试验组2：改良治疗组（长春新碱剂量减少或省略或长春碱替代，其他药物保持不变）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2年OS：标准组80%（75%,86%），改良组83%（76%,92%），p=0.90</a:t>
            </a:r>
          </a:p>
          <a:p>
            <a:pPr>
              <a:lnSpc>
                <a:spcPct val="103000"/>
              </a:lnSpc>
              <a:spcAft>
                <a:spcPts val="300"/>
              </a:spcAft>
              <a:defRPr sz="800">
                <a:solidFill>
                  <a:srgbClr val="21242A"/>
                </a:solidFill>
                <a:latin typeface="Microsoft YaHei"/>
              </a:defRPr>
            </a:pPr>
            <a:r>
              <a:t>2年DFS：标准组77%（72%,83%），改良组78%（69%,88%），p=0.79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人数：294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试验药/方案：长春新碱</a:t>
            </a:r>
          </a:p>
          <a:p>
            <a:pPr>
              <a:lnSpc>
                <a:spcPct val="103000"/>
              </a:lnSpc>
              <a:spcAft>
                <a:spcPts val="300"/>
              </a:spcAft>
              <a:defRPr sz="810">
                <a:solidFill>
                  <a:srgbClr val="21242A"/>
                </a:solidFill>
                <a:latin typeface="Microsoft YaHei"/>
              </a:defRPr>
            </a:pPr>
            <a:r>
              <a:t>靶点：Tubulin</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长春新碱剂量调整或替代对r-chop治疗dlbcl患者临床结局的影响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vincristine dose modifications or substitution on clinical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Standard 1 st line treatment for diffuse large B‑cell lymphoma (DLBCL) is the R‑CHOP regimen (rituximab, cyclophosphamide, doxorubicin, vincristine,</a:t>
            </a:r>
          </a:p>
          <a:p>
            <a:pPr>
              <a:lnSpc>
                <a:spcPct val="103000"/>
              </a:lnSpc>
              <a:spcAft>
                <a:spcPts val="300"/>
              </a:spcAft>
              <a:defRPr sz="570">
                <a:solidFill>
                  <a:srgbClr val="21242A"/>
                </a:solidFill>
                <a:latin typeface="Microsoft YaHei"/>
              </a:defRPr>
            </a:pPr>
            <a:r>
              <a:t> and prednisone).</a:t>
            </a:r>
          </a:p>
          <a:p>
            <a:pPr>
              <a:lnSpc>
                <a:spcPct val="103000"/>
              </a:lnSpc>
              <a:spcAft>
                <a:spcPts val="300"/>
              </a:spcAft>
              <a:defRPr sz="570">
                <a:solidFill>
                  <a:srgbClr val="21242A"/>
                </a:solidFill>
                <a:latin typeface="Microsoft YaHei"/>
              </a:defRPr>
            </a:pPr>
            <a:r>
              <a:t>Vincristine is for many patients associated with treatment‑limiting neurotoxicity.</a:t>
            </a:r>
          </a:p>
          <a:p>
            <a:pPr>
              <a:lnSpc>
                <a:spcPct val="103000"/>
              </a:lnSpc>
              <a:spcAft>
                <a:spcPts val="300"/>
              </a:spcAft>
              <a:defRPr sz="570">
                <a:solidFill>
                  <a:srgbClr val="21242A"/>
                </a:solidFill>
                <a:latin typeface="Microsoft YaHei"/>
              </a:defRPr>
            </a:pPr>
            <a:r>
              <a:t>In clinical practice, management options include dose reduction or omission of vincristine or substitution with vinblastine in case neurotoxicity occurs.</a:t>
            </a:r>
          </a:p>
          <a:p>
            <a:pPr>
              <a:lnSpc>
                <a:spcPct val="103000"/>
              </a:lnSpc>
              <a:spcAft>
                <a:spcPts val="300"/>
              </a:spcAft>
              <a:defRPr sz="570">
                <a:solidFill>
                  <a:srgbClr val="21242A"/>
                </a:solidFill>
                <a:latin typeface="Microsoft YaHei"/>
              </a:defRPr>
            </a:pPr>
            <a:r>
              <a:t>Several registry studies have shown that omission of vincristine from R‑CHOP does not compromise survival.</a:t>
            </a:r>
          </a:p>
          <a:p>
            <a:pPr>
              <a:lnSpc>
                <a:spcPct val="103000"/>
              </a:lnSpc>
              <a:spcAft>
                <a:spcPts val="300"/>
              </a:spcAft>
              <a:defRPr sz="570">
                <a:solidFill>
                  <a:srgbClr val="21242A"/>
                </a:solidFill>
                <a:latin typeface="Microsoft YaHei"/>
              </a:defRPr>
            </a:pPr>
            <a:r>
              <a:t>Aims: This study compares clinical outcomes in patients with DLBCL treated with R-CHOP with or without vincristine dose modifications or substitution with vinbl</a:t>
            </a:r>
          </a:p>
          <a:p>
            <a:pPr>
              <a:lnSpc>
                <a:spcPct val="103000"/>
              </a:lnSpc>
              <a:spcAft>
                <a:spcPts val="300"/>
              </a:spcAft>
              <a:defRPr sz="570">
                <a:solidFill>
                  <a:srgbClr val="21242A"/>
                </a:solidFill>
                <a:latin typeface="Microsoft YaHei"/>
              </a:defRPr>
            </a:pPr>
            <a:r>
              <a:t>astine.</a:t>
            </a:r>
          </a:p>
          <a:p>
            <a:pPr>
              <a:lnSpc>
                <a:spcPct val="103000"/>
              </a:lnSpc>
              <a:spcAft>
                <a:spcPts val="300"/>
              </a:spcAft>
              <a:defRPr sz="570">
                <a:solidFill>
                  <a:srgbClr val="21242A"/>
                </a:solidFill>
                <a:latin typeface="Microsoft YaHei"/>
              </a:defRPr>
            </a:pPr>
            <a:r>
              <a:t>Methods: Patients aged ≥18 years diagnosed with de novo DLBCL between January 2006 and December 2020 and treated with R‑CHOP–based 1 st line therapy in the Nort</a:t>
            </a:r>
          </a:p>
          <a:p>
            <a:pPr>
              <a:lnSpc>
                <a:spcPct val="103000"/>
              </a:lnSpc>
              <a:spcAft>
                <a:spcPts val="300"/>
              </a:spcAft>
              <a:defRPr sz="570">
                <a:solidFill>
                  <a:srgbClr val="21242A"/>
                </a:solidFill>
                <a:latin typeface="Microsoft YaHei"/>
              </a:defRPr>
            </a:pPr>
            <a:r>
              <a:t>h Denmark Region were identified through the Danish National Lymphoma Registry.</a:t>
            </a:r>
          </a:p>
          <a:p>
            <a:pPr>
              <a:lnSpc>
                <a:spcPct val="103000"/>
              </a:lnSpc>
              <a:spcAft>
                <a:spcPts val="300"/>
              </a:spcAft>
              <a:defRPr sz="570">
                <a:solidFill>
                  <a:srgbClr val="21242A"/>
                </a:solidFill>
                <a:latin typeface="Microsoft YaHei"/>
              </a:defRPr>
            </a:pPr>
            <a:r>
              <a:t>Treatment cohorts were defined according to continuation of standard R‑CHOP, reduction or omission of vincristine, or substitution with vinblastine.</a:t>
            </a:r>
          </a:p>
          <a:p>
            <a:pPr>
              <a:lnSpc>
                <a:spcPct val="103000"/>
              </a:lnSpc>
              <a:spcAft>
                <a:spcPts val="300"/>
              </a:spcAft>
              <a:defRPr sz="570">
                <a:solidFill>
                  <a:srgbClr val="21242A"/>
                </a:solidFill>
                <a:latin typeface="Microsoft YaHei"/>
              </a:defRPr>
            </a:pPr>
            <a:r>
              <a:t>\n A complete-case landmark analysis was performed with a landmark set at 105 days after diagnosis, corresponding to the time where all eventual treatment modif</a:t>
            </a:r>
          </a:p>
          <a:p>
            <a:pPr>
              <a:lnSpc>
                <a:spcPct val="103000"/>
              </a:lnSpc>
              <a:spcAft>
                <a:spcPts val="300"/>
              </a:spcAft>
              <a:defRPr sz="570">
                <a:solidFill>
                  <a:srgbClr val="21242A"/>
                </a:solidFill>
                <a:latin typeface="Microsoft YaHei"/>
              </a:defRPr>
            </a:pPr>
            <a:r>
              <a:t>ications to vincristine were observed completed.</a:t>
            </a:r>
          </a:p>
          <a:p>
            <a:pPr>
              <a:lnSpc>
                <a:spcPct val="103000"/>
              </a:lnSpc>
              <a:spcAft>
                <a:spcPts val="300"/>
              </a:spcAft>
              <a:defRPr sz="570">
                <a:solidFill>
                  <a:srgbClr val="21242A"/>
                </a:solidFill>
                <a:latin typeface="Microsoft YaHei"/>
              </a:defRPr>
            </a:pPr>
            <a:r>
              <a:t>Overall survival (OS) and disease-free survival (DFS) were assessed using the Kaplan-Meier estimator in patients who continued standard R-CHOP versus those who </a:t>
            </a:r>
          </a:p>
          <a:p>
            <a:pPr>
              <a:lnSpc>
                <a:spcPct val="103000"/>
              </a:lnSpc>
              <a:spcAft>
                <a:spcPts val="300"/>
              </a:spcAft>
              <a:defRPr sz="570">
                <a:solidFill>
                  <a:srgbClr val="21242A"/>
                </a:solidFill>
                <a:latin typeface="Microsoft YaHei"/>
              </a:defRPr>
            </a:pPr>
            <a:r>
              <a:t>received modified treatment with vincristine.</a:t>
            </a:r>
          </a:p>
          <a:p>
            <a:pPr>
              <a:lnSpc>
                <a:spcPct val="103000"/>
              </a:lnSpc>
              <a:spcAft>
                <a:spcPts val="300"/>
              </a:spcAft>
              <a:defRPr sz="570">
                <a:solidFill>
                  <a:srgbClr val="21242A"/>
                </a:solidFill>
                <a:latin typeface="Microsoft YaHei"/>
              </a:defRPr>
            </a:pPr>
            <a:r>
              <a:t>Both crude and adjusted (age, sex, and stage) OS and DFS estimates were presented and compared using the log-rank tests.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population‑based cohort of patients with de novo DLBCL, modification of vincristine during R‑CHOP therapy either through dose reduction, omission, or su</a:t>
            </a:r>
          </a:p>
          <a:p>
            <a:pPr>
              <a:lnSpc>
                <a:spcPct val="103000"/>
              </a:lnSpc>
              <a:spcAft>
                <a:spcPts val="300"/>
              </a:spcAft>
              <a:defRPr sz="590">
                <a:solidFill>
                  <a:srgbClr val="21242A"/>
                </a:solidFill>
                <a:latin typeface="Microsoft YaHei"/>
              </a:defRPr>
            </a:pPr>
            <a:r>
              <a:t>bstitution with vinblastine, no significant differences in overall survival or disease‑free survival compared with continued standard full-dose vincristine thro</a:t>
            </a:r>
          </a:p>
          <a:p>
            <a:pPr>
              <a:lnSpc>
                <a:spcPct val="103000"/>
              </a:lnSpc>
              <a:spcAft>
                <a:spcPts val="300"/>
              </a:spcAft>
              <a:defRPr sz="590">
                <a:solidFill>
                  <a:srgbClr val="21242A"/>
                </a:solidFill>
                <a:latin typeface="Microsoft YaHei"/>
              </a:defRPr>
            </a:pPr>
            <a:r>
              <a:t>ughout the R‑CHOP-therapy were found.</a:t>
            </a:r>
          </a:p>
          <a:p>
            <a:pPr>
              <a:lnSpc>
                <a:spcPct val="103000"/>
              </a:lnSpc>
              <a:spcAft>
                <a:spcPts val="300"/>
              </a:spcAft>
              <a:defRPr sz="590">
                <a:solidFill>
                  <a:srgbClr val="21242A"/>
                </a:solidFill>
                <a:latin typeface="Microsoft YaHei"/>
              </a:defRPr>
            </a:pPr>
            <a:r>
              <a:t>These findings suggest that adjustments of vincristine doses can be implemented without compromising long‑term clinical outcomes.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294 patients were included.</a:t>
            </a:r>
          </a:p>
          <a:p>
            <a:pPr>
              <a:lnSpc>
                <a:spcPct val="103000"/>
              </a:lnSpc>
              <a:spcAft>
                <a:spcPts val="300"/>
              </a:spcAft>
              <a:defRPr sz="580">
                <a:solidFill>
                  <a:srgbClr val="21242A"/>
                </a:solidFill>
                <a:latin typeface="Microsoft YaHei"/>
              </a:defRPr>
            </a:pPr>
            <a:r>
              <a:t>Among these, 210 patients (71%) with a median age of 68 years (range 19-84) continued full-dose vincristine throughout the R-CHOP-therapy, while 84 patient</a:t>
            </a:r>
          </a:p>
          <a:p>
            <a:pPr>
              <a:lnSpc>
                <a:spcPct val="103000"/>
              </a:lnSpc>
              <a:spcAft>
                <a:spcPts val="300"/>
              </a:spcAft>
              <a:defRPr sz="580">
                <a:solidFill>
                  <a:srgbClr val="21242A"/>
                </a:solidFill>
                <a:latin typeface="Microsoft YaHei"/>
              </a:defRPr>
            </a:pPr>
            <a:r>
              <a:t>s (29%) with a median age of 67 years (range 19-84) transitioned to modified treatment.</a:t>
            </a:r>
          </a:p>
          <a:p>
            <a:pPr>
              <a:lnSpc>
                <a:spcPct val="103000"/>
              </a:lnSpc>
              <a:spcAft>
                <a:spcPts val="300"/>
              </a:spcAft>
              <a:defRPr sz="580">
                <a:solidFill>
                  <a:srgbClr val="21242A"/>
                </a:solidFill>
                <a:latin typeface="Microsoft YaHei"/>
              </a:defRPr>
            </a:pPr>
            <a:r>
              <a:t>Baseline demographics and disease characteristics were largely comparable between groups.</a:t>
            </a:r>
          </a:p>
          <a:p>
            <a:pPr>
              <a:lnSpc>
                <a:spcPct val="103000"/>
              </a:lnSpc>
              <a:spcAft>
                <a:spcPts val="300"/>
              </a:spcAft>
              <a:defRPr sz="580">
                <a:solidFill>
                  <a:srgbClr val="21242A"/>
                </a:solidFill>
                <a:latin typeface="Microsoft YaHei"/>
              </a:defRPr>
            </a:pPr>
            <a:r>
              <a:t>In both groups, the majority were male (58%) and had performance status 0-1 (88%).</a:t>
            </a:r>
          </a:p>
          <a:p>
            <a:pPr>
              <a:lnSpc>
                <a:spcPct val="103000"/>
              </a:lnSpc>
              <a:spcAft>
                <a:spcPts val="300"/>
              </a:spcAft>
              <a:defRPr sz="580">
                <a:solidFill>
                  <a:srgbClr val="21242A"/>
                </a:solidFill>
                <a:latin typeface="Microsoft YaHei"/>
              </a:defRPr>
            </a:pPr>
            <a:r>
              <a:t>Extra nodal disease was present in 60% and 62% of cases, respectively, and low-intermediate risk disease (IPI 0-2) in 56% and 54%.</a:t>
            </a:r>
          </a:p>
          <a:p>
            <a:pPr>
              <a:lnSpc>
                <a:spcPct val="103000"/>
              </a:lnSpc>
              <a:spcAft>
                <a:spcPts val="300"/>
              </a:spcAft>
              <a:defRPr sz="580">
                <a:solidFill>
                  <a:srgbClr val="21242A"/>
                </a:solidFill>
                <a:latin typeface="Microsoft YaHei"/>
              </a:defRPr>
            </a:pPr>
            <a:r>
              <a:t>In the modified cohort, 14 (17%) underwent vincristine dose reduction, 10 (12%) had vincristine omitted, 38 (45%) received vinblastine substitution, and 22</a:t>
            </a:r>
          </a:p>
          <a:p>
            <a:pPr>
              <a:lnSpc>
                <a:spcPct val="103000"/>
              </a:lnSpc>
              <a:spcAft>
                <a:spcPts val="300"/>
              </a:spcAft>
              <a:defRPr sz="580">
                <a:solidFill>
                  <a:srgbClr val="21242A"/>
                </a:solidFill>
                <a:latin typeface="Microsoft YaHei"/>
              </a:defRPr>
            </a:pPr>
            <a:r>
              <a:t> (26%) experienced both reduction and substitution.</a:t>
            </a:r>
          </a:p>
          <a:p>
            <a:pPr>
              <a:lnSpc>
                <a:spcPct val="103000"/>
              </a:lnSpc>
              <a:spcAft>
                <a:spcPts val="300"/>
              </a:spcAft>
              <a:defRPr sz="580">
                <a:solidFill>
                  <a:srgbClr val="21242A"/>
                </a:solidFill>
                <a:latin typeface="Microsoft YaHei"/>
              </a:defRPr>
            </a:pPr>
            <a:r>
              <a:t>\n The landmark analysis showed no statistically significant difference in adjusted OS (p=0.90) or DFS (p=0.79).</a:t>
            </a:r>
          </a:p>
          <a:p>
            <a:pPr>
              <a:lnSpc>
                <a:spcPct val="103000"/>
              </a:lnSpc>
              <a:spcAft>
                <a:spcPts val="300"/>
              </a:spcAft>
              <a:defRPr sz="580">
                <a:solidFill>
                  <a:srgbClr val="21242A"/>
                </a:solidFill>
                <a:latin typeface="Microsoft YaHei"/>
              </a:defRPr>
            </a:pPr>
            <a:r>
              <a:t>The two years OS estimates were 80% (75%, 86%) and 83% (76%, 92%) between patients remaining on R‑CHOP and those who received modified vincristine treatmen</a:t>
            </a:r>
          </a:p>
          <a:p>
            <a:pPr>
              <a:lnSpc>
                <a:spcPct val="103000"/>
              </a:lnSpc>
              <a:spcAft>
                <a:spcPts val="300"/>
              </a:spcAft>
              <a:defRPr sz="580">
                <a:solidFill>
                  <a:srgbClr val="21242A"/>
                </a:solidFill>
                <a:latin typeface="Microsoft YaHei"/>
              </a:defRPr>
            </a:pPr>
            <a:r>
              <a:t>t, respectively (Figure 1).</a:t>
            </a:r>
          </a:p>
          <a:p>
            <a:pPr>
              <a:lnSpc>
                <a:spcPct val="103000"/>
              </a:lnSpc>
              <a:spcAft>
                <a:spcPts val="300"/>
              </a:spcAft>
              <a:defRPr sz="580">
                <a:solidFill>
                  <a:srgbClr val="21242A"/>
                </a:solidFill>
                <a:latin typeface="Microsoft YaHei"/>
              </a:defRPr>
            </a:pPr>
            <a:r>
              <a:t>The corresponding two years DFS estimates were 77% (72%, 83%) and 78% (69, 88%).</a:t>
            </a:r>
          </a:p>
          <a:p>
            <a:pPr>
              <a:lnSpc>
                <a:spcPct val="103000"/>
              </a:lnSpc>
              <a:spcAft>
                <a:spcPts val="300"/>
              </a:spcAft>
              <a:defRPr sz="580">
                <a:solidFill>
                  <a:srgbClr val="21242A"/>
                </a:solidFill>
                <a:latin typeface="Microsoft YaHei"/>
              </a:defRPr>
            </a:pPr>
            <a:r>
              <a:t>The five years OS estimates were 72% (65%,79%) and 72% (62%,84%) and the five years DFS estimates were 68% (61%,75%) and 67% (56%,79%).</a:t>
            </a:r>
          </a:p>
          <a:p>
            <a:pPr>
              <a:lnSpc>
                <a:spcPct val="103000"/>
              </a:lnSpc>
              <a:spcAft>
                <a:spcPts val="300"/>
              </a:spcAft>
              <a:defRPr sz="580">
                <a:solidFill>
                  <a:srgbClr val="21242A"/>
                </a:solidFill>
                <a:latin typeface="Microsoft YaHei"/>
              </a:defRPr>
            </a:pPr>
            <a:r>
              <a:t>Both curves demonstrated a gradual decline over 10 years without clear separation between treatment strategies.</a:t>
            </a:r>
          </a:p>
          <a:p>
            <a:pPr>
              <a:lnSpc>
                <a:spcPct val="103000"/>
              </a:lnSpc>
              <a:spcAft>
                <a:spcPts val="300"/>
              </a:spcAft>
              <a:defRPr sz="580">
                <a:solidFill>
                  <a:srgbClr val="21242A"/>
                </a:solidFill>
                <a:latin typeface="Microsoft YaHei"/>
              </a:defRPr>
            </a:pPr>
            <a:r>
              <a:t>Conclusion: In this population‑based cohort of patients with de novo DLBCL, modification of vincristine during R‑CHOP therapy either through dose reduction</a:t>
            </a:r>
          </a:p>
          <a:p>
            <a:pPr>
              <a:lnSpc>
                <a:spcPct val="103000"/>
              </a:lnSpc>
              <a:spcAft>
                <a:spcPts val="300"/>
              </a:spcAft>
              <a:defRPr sz="580">
                <a:solidFill>
                  <a:srgbClr val="21242A"/>
                </a:solidFill>
                <a:latin typeface="Microsoft YaHei"/>
              </a:defRPr>
            </a:pPr>
            <a:r>
              <a:t>, omission, or substitution with vinblastine, no significant differences in overall survival or disease‑free survival compared with continued standard full</a:t>
            </a:r>
          </a:p>
          <a:p>
            <a:pPr>
              <a:lnSpc>
                <a:spcPct val="103000"/>
              </a:lnSpc>
              <a:spcAft>
                <a:spcPts val="300"/>
              </a:spcAft>
              <a:defRPr sz="580">
                <a:solidFill>
                  <a:srgbClr val="21242A"/>
                </a:solidFill>
                <a:latin typeface="Microsoft YaHei"/>
              </a:defRPr>
            </a:pPr>
            <a:r>
              <a:t>-dose vincristine throughout the R‑CHOP-therapy were found.</a:t>
            </a:r>
          </a:p>
          <a:p>
            <a:pPr>
              <a:lnSpc>
                <a:spcPct val="103000"/>
              </a:lnSpc>
              <a:spcAft>
                <a:spcPts val="300"/>
              </a:spcAft>
              <a:defRPr sz="580">
                <a:solidFill>
                  <a:srgbClr val="21242A"/>
                </a:solidFill>
                <a:latin typeface="Microsoft YaHei"/>
              </a:defRPr>
            </a:pPr>
            <a:r>
              <a:t>These findings suggest that adjustments of vincristine doses can be implemented without compromising long‑term clinical outcomes.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美国社区肿瘤学环境中新诊断的弥漫性大b细胞淋巴瘤（dlbcl）患者的一线治疗模式和结果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treatment patterns and outcomes of first-line (1l) treatments in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N=4291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分组：R-CHOP组：R-CHOP</a:t>
            </a:r>
          </a:p>
          <a:p>
            <a:pPr>
              <a:lnSpc>
                <a:spcPct val="103000"/>
              </a:lnSpc>
              <a:spcAft>
                <a:spcPts val="300"/>
              </a:spcAft>
              <a:defRPr sz="800">
                <a:solidFill>
                  <a:srgbClr val="21242A"/>
                </a:solidFill>
                <a:latin typeface="Microsoft YaHei"/>
              </a:defRPr>
            </a:pPr>
            <a:r>
              <a:t>Pola-R-CHP组：Pola-R-CHP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多组/多方案比较：R-CHOP组：R-CHOP</a:t>
            </a:r>
          </a:p>
          <a:p>
            <a:pPr>
              <a:lnSpc>
                <a:spcPct val="103000"/>
              </a:lnSpc>
              <a:spcAft>
                <a:spcPts val="300"/>
              </a:spcAft>
              <a:defRPr sz="800">
                <a:solidFill>
                  <a:srgbClr val="21242A"/>
                </a:solidFill>
                <a:latin typeface="Microsoft YaHei"/>
              </a:defRPr>
            </a:pPr>
            <a:r>
              <a:t>Pola-R-CHP组：Pola-R-CHP</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中位随访时间：37.6个月（总体），42.0个月（R-CHOP），17.8个月（Pola-R-CHP），36.1个月（Othe...</a:t>
            </a:r>
          </a:p>
          <a:p>
            <a:pPr>
              <a:lnSpc>
                <a:spcPct val="103000"/>
              </a:lnSpc>
              <a:spcAft>
                <a:spcPts val="300"/>
              </a:spcAft>
              <a:defRPr sz="800">
                <a:solidFill>
                  <a:srgbClr val="21242A"/>
                </a:solidFill>
                <a:latin typeface="Microsoft YaHei"/>
              </a:defRPr>
            </a:pPr>
            <a:r>
              <a:t>中位TTNTD：63.5个月（总体，95% CI: 59.4, NR），68.5个月（R-CHOP，95% CI: 63.5,...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人数：4291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分组/治疗流程：R-CHOP组：R-CHOP、Pola-R-CHP组：Pola-R-CHP、Other组：其他方案（包含R-mini-CHOP和其他化疗）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美国社区肿瘤学环境中新诊断的弥漫性大b细胞淋巴瘤（dlbcl）患者的一线治疗模式和结果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treatment patterns and outcomes of first-line (1l) treatments in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majority of US DLBCL patients are diagnosed and receive cancer care in community settings (Sineshaw et al., 2023), where patient characteristics</a:t>
            </a:r>
          </a:p>
          <a:p>
            <a:pPr>
              <a:lnSpc>
                <a:spcPct val="103000"/>
              </a:lnSpc>
              <a:spcAft>
                <a:spcPts val="300"/>
              </a:spcAft>
              <a:defRPr sz="570">
                <a:solidFill>
                  <a:srgbClr val="21242A"/>
                </a:solidFill>
                <a:latin typeface="Microsoft YaHei"/>
              </a:defRPr>
            </a:pPr>
            <a:r>
              <a:t>, care services, and resources can vary; these factors can influence treatment management and outcomes.</a:t>
            </a:r>
          </a:p>
          <a:p>
            <a:pPr>
              <a:lnSpc>
                <a:spcPct val="103000"/>
              </a:lnSpc>
              <a:spcAft>
                <a:spcPts val="300"/>
              </a:spcAft>
              <a:defRPr sz="570">
                <a:solidFill>
                  <a:srgbClr val="21242A"/>
                </a:solidFill>
                <a:latin typeface="Microsoft YaHei"/>
              </a:defRPr>
            </a:pPr>
            <a:r>
              <a:t>R-CHOP has been the preferred 1L therapy recommended by clinical guidelines. As of 2023, the introduction of Pola-R-CHP has expanded treatment options.</a:t>
            </a:r>
          </a:p>
          <a:p>
            <a:pPr>
              <a:lnSpc>
                <a:spcPct val="103000"/>
              </a:lnSpc>
              <a:spcAft>
                <a:spcPts val="300"/>
              </a:spcAft>
              <a:defRPr sz="570">
                <a:solidFill>
                  <a:srgbClr val="21242A"/>
                </a:solidFill>
                <a:latin typeface="Microsoft YaHei"/>
              </a:defRPr>
            </a:pPr>
            <a:r>
              <a:t>However, there has been limited real-world data published on 1L utilization in the community oncology settings.</a:t>
            </a:r>
          </a:p>
          <a:p>
            <a:pPr>
              <a:lnSpc>
                <a:spcPct val="103000"/>
              </a:lnSpc>
              <a:spcAft>
                <a:spcPts val="300"/>
              </a:spcAft>
              <a:defRPr sz="570">
                <a:solidFill>
                  <a:srgbClr val="21242A"/>
                </a:solidFill>
                <a:latin typeface="Microsoft YaHei"/>
              </a:defRPr>
            </a:pPr>
            <a:r>
              <a:t>Aims: The goal of this analysis was to characterize treatment patterns and outcomes by 1L treatment in this setting.</a:t>
            </a:r>
          </a:p>
          <a:p>
            <a:pPr>
              <a:lnSpc>
                <a:spcPct val="103000"/>
              </a:lnSpc>
              <a:spcAft>
                <a:spcPts val="300"/>
              </a:spcAft>
              <a:defRPr sz="570">
                <a:solidFill>
                  <a:srgbClr val="21242A"/>
                </a:solidFill>
                <a:latin typeface="Microsoft YaHei"/>
              </a:defRPr>
            </a:pPr>
            <a:r>
              <a:t>Methods: This study included patients with DLBCL (not otherwise specified) who initiated a 1L regimen within the US Oncology Network from January 1, 2020, to Ja</a:t>
            </a:r>
          </a:p>
          <a:p>
            <a:pPr>
              <a:lnSpc>
                <a:spcPct val="103000"/>
              </a:lnSpc>
              <a:spcAft>
                <a:spcPts val="300"/>
              </a:spcAft>
              <a:defRPr sz="570">
                <a:solidFill>
                  <a:srgbClr val="21242A"/>
                </a:solidFill>
                <a:latin typeface="Microsoft YaHei"/>
              </a:defRPr>
            </a:pPr>
            <a:r>
              <a:t>nuary 31, 2025.</a:t>
            </a:r>
          </a:p>
          <a:p>
            <a:pPr>
              <a:lnSpc>
                <a:spcPct val="103000"/>
              </a:lnSpc>
              <a:spcAft>
                <a:spcPts val="300"/>
              </a:spcAft>
              <a:defRPr sz="570">
                <a:solidFill>
                  <a:srgbClr val="21242A"/>
                </a:solidFill>
                <a:latin typeface="Microsoft YaHei"/>
              </a:defRPr>
            </a:pPr>
            <a:r>
              <a:t>Structured electronic health record data was analyzed until death or the last contact by September 2025.</a:t>
            </a:r>
          </a:p>
          <a:p>
            <a:pPr>
              <a:lnSpc>
                <a:spcPct val="103000"/>
              </a:lnSpc>
              <a:spcAft>
                <a:spcPts val="300"/>
              </a:spcAft>
              <a:defRPr sz="570">
                <a:solidFill>
                  <a:srgbClr val="21242A"/>
                </a:solidFill>
                <a:latin typeface="Microsoft YaHei"/>
              </a:defRPr>
            </a:pPr>
            <a:r>
              <a:t>Time-to-next-treatment or death (TTNTD) was estimated using Kaplan-Meier methods with corresponding 95% confidence intervals (CIs).</a:t>
            </a:r>
          </a:p>
          <a:p>
            <a:pPr>
              <a:lnSpc>
                <a:spcPct val="103000"/>
              </a:lnSpc>
              <a:spcAft>
                <a:spcPts val="300"/>
              </a:spcAft>
              <a:defRPr sz="570">
                <a:solidFill>
                  <a:srgbClr val="21242A"/>
                </a:solidFill>
                <a:latin typeface="Microsoft YaHei"/>
              </a:defRPr>
            </a:pPr>
            <a:r>
              <a:t>Refractory disease was defined as initiation of second-line (2L) therapy ≤ 6 months of the end of 1L.</a:t>
            </a:r>
          </a:p>
          <a:p>
            <a:pPr>
              <a:lnSpc>
                <a:spcPct val="103000"/>
              </a:lnSpc>
              <a:spcAft>
                <a:spcPts val="300"/>
              </a:spcAft>
              <a:defRPr sz="570">
                <a:solidFill>
                  <a:srgbClr val="21242A"/>
                </a:solidFill>
                <a:latin typeface="Microsoft YaHei"/>
              </a:defRPr>
            </a:pPr>
            <a:r>
              <a:t>Relapsed disease was defined as initiation of 2L &gt; 6 months after the end of 1L. Line of therapy was based on regimen start and stop dates.</a:t>
            </a:r>
          </a:p>
          <a:p>
            <a:pPr>
              <a:lnSpc>
                <a:spcPct val="103000"/>
              </a:lnSpc>
              <a:spcAft>
                <a:spcPts val="300"/>
              </a:spcAft>
              <a:defRPr sz="570">
                <a:solidFill>
                  <a:srgbClr val="21242A"/>
                </a:solidFill>
                <a:latin typeface="Microsoft YaHei"/>
              </a:defRPr>
            </a:pPr>
            <a:r>
              <a:t>Treatment patterns and outcomes were presented overall and by 1L regimen (R-CHOP, Pola-R-CHP, or Other).</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the US community setting, Pola-R-CHP utilization is increasing over time, but R-CHOP remains the most common 1L treatment.</a:t>
            </a:r>
          </a:p>
          <a:p>
            <a:pPr>
              <a:lnSpc>
                <a:spcPct val="103000"/>
              </a:lnSpc>
              <a:spcAft>
                <a:spcPts val="300"/>
              </a:spcAft>
              <a:defRPr sz="590">
                <a:solidFill>
                  <a:srgbClr val="21242A"/>
                </a:solidFill>
                <a:latin typeface="Microsoft YaHei"/>
              </a:defRPr>
            </a:pPr>
            <a:r>
              <a:t>2‑year TTNTD was similar for R‑CHOP and Pola‑R‑CHP, although additional follow‑up is needed to assess the effectiveness of newer regimens, such as Pola‑R‑CHP.</a:t>
            </a:r>
          </a:p>
          <a:p>
            <a:pPr>
              <a:lnSpc>
                <a:spcPct val="103000"/>
              </a:lnSpc>
              <a:spcAft>
                <a:spcPts val="300"/>
              </a:spcAft>
              <a:defRPr sz="590">
                <a:solidFill>
                  <a:srgbClr val="21242A"/>
                </a:solidFill>
                <a:latin typeface="Microsoft YaHei"/>
              </a:defRPr>
            </a:pPr>
            <a:r>
              <a:t>This data highlights an unmet need for optimizing frontline therapy selection and supportive pathways, as well as continued novel therapy development, to improv</a:t>
            </a:r>
          </a:p>
          <a:p>
            <a:pPr>
              <a:lnSpc>
                <a:spcPct val="103000"/>
              </a:lnSpc>
              <a:spcAft>
                <a:spcPts val="300"/>
              </a:spcAft>
              <a:defRPr sz="590">
                <a:solidFill>
                  <a:srgbClr val="21242A"/>
                </a:solidFill>
                <a:latin typeface="Microsoft YaHei"/>
              </a:defRPr>
            </a:pPr>
            <a:r>
              <a:t>e real-world effectiveness.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中位随访时间</a:t>
                      </a:r>
                    </a:p>
                  </a:txBody>
                  <a:tcPr>
                    <a:solidFill>
                      <a:srgbClr val="F6F8FB"/>
                    </a:solidFill>
                  </a:tcPr>
                </a:tc>
                <a:tc>
                  <a:txBody>
                    <a:bodyPr wrap="square" lIns="36576" rIns="36576" tIns="18288" bIns="18288"/>
                    <a:lstStyle/>
                    <a:p>
                      <a:r>
                        <a:rPr sz="540" b="0">
                          <a:solidFill>
                            <a:srgbClr val="21242A"/>
                          </a:solidFill>
                          <a:latin typeface="Microsoft YaHei"/>
                        </a:rPr>
                        <a:t>37.6个月（总体），42.0个月（R-CHOP），17.8个月（Pola-R-CHP），36.1个月（Other）</a:t>
                      </a:r>
                    </a:p>
                  </a:txBody>
                  <a:tcPr>
                    <a:solidFill>
                      <a:srgbClr val="F6F8FB"/>
                    </a:solidFill>
                  </a:tcPr>
                </a:tc>
              </a:tr>
              <a:tr h="166624">
                <a:tc>
                  <a:txBody>
                    <a:bodyPr wrap="square" lIns="36576" rIns="36576" tIns="18288" bIns="18288"/>
                    <a:lstStyle/>
                    <a:p>
                      <a:r>
                        <a:rPr sz="540" b="1">
                          <a:solidFill>
                            <a:srgbClr val="21242A"/>
                          </a:solidFill>
                          <a:latin typeface="Microsoft YaHei"/>
                        </a:rPr>
                        <a:t>中位TTNTD</a:t>
                      </a:r>
                    </a:p>
                  </a:txBody>
                  <a:tcPr>
                    <a:solidFill>
                      <a:srgbClr val="FFFFFF"/>
                    </a:solidFill>
                  </a:tcPr>
                </a:tc>
                <a:tc>
                  <a:txBody>
                    <a:bodyPr wrap="square" lIns="36576" rIns="36576" tIns="18288" bIns="18288"/>
                    <a:lstStyle/>
                    <a:p>
                      <a:r>
                        <a:rPr sz="540" b="0">
                          <a:solidFill>
                            <a:srgbClr val="21242A"/>
                          </a:solidFill>
                          <a:latin typeface="Microsoft YaHei"/>
                        </a:rPr>
                        <a:t>63.5个月（总体，95% CI: 59.4, NR），68.5个月（R-CHOP，95% CI: 63.5, NR），NR（Pola-R-CHP，95% CI: 34.2, NR），17.9个月（Other，95% CI: 13.5,...</a:t>
                      </a:r>
                    </a:p>
                  </a:txBody>
                  <a:tcPr>
                    <a:solidFill>
                      <a:srgbClr val="FFFFFF"/>
                    </a:solidFill>
                  </a:tcPr>
                </a:tc>
              </a:tr>
              <a:tr h="166624">
                <a:tc>
                  <a:txBody>
                    <a:bodyPr wrap="square" lIns="36576" rIns="36576" tIns="18288" bIns="18288"/>
                    <a:lstStyle/>
                    <a:p>
                      <a:r>
                        <a:rPr sz="540" b="1">
                          <a:solidFill>
                            <a:srgbClr val="21242A"/>
                          </a:solidFill>
                          <a:latin typeface="Microsoft YaHei"/>
                        </a:rPr>
                        <a:t>2年TTNTD率</a:t>
                      </a:r>
                    </a:p>
                  </a:txBody>
                  <a:tcPr>
                    <a:solidFill>
                      <a:srgbClr val="F6F8FB"/>
                    </a:solidFill>
                  </a:tcPr>
                </a:tc>
                <a:tc>
                  <a:txBody>
                    <a:bodyPr wrap="square" lIns="36576" rIns="36576" tIns="18288" bIns="18288"/>
                    <a:lstStyle/>
                    <a:p>
                      <a:r>
                        <a:rPr sz="540" b="0">
                          <a:solidFill>
                            <a:srgbClr val="21242A"/>
                          </a:solidFill>
                          <a:latin typeface="Microsoft YaHei"/>
                        </a:rPr>
                        <a:t>66.8%（总体，95% CI: 65.2%, 68.3%），70.6%（R-CHOP，95% CI: 68.8%, 72.3%），73.6%（Pola-R-CHP，95% CI: 68.4%, 78.1%），47.3%（Other，95...</a:t>
                      </a:r>
                    </a:p>
                  </a:txBody>
                  <a:tcPr>
                    <a:solidFill>
                      <a:srgbClr val="F6F8FB"/>
                    </a:solidFill>
                  </a:tcPr>
                </a:tc>
              </a:tr>
              <a:tr h="166624">
                <a:tc>
                  <a:txBody>
                    <a:bodyPr wrap="square" lIns="36576" rIns="36576" tIns="18288" bIns="18288"/>
                    <a:lstStyle/>
                    <a:p>
                      <a:r>
                        <a:rPr sz="540" b="1">
                          <a:solidFill>
                            <a:srgbClr val="21242A"/>
                          </a:solidFill>
                          <a:latin typeface="Microsoft YaHei"/>
                        </a:rPr>
                        <a:t>2L治疗比例</a:t>
                      </a:r>
                    </a:p>
                  </a:txBody>
                  <a:tcPr>
                    <a:solidFill>
                      <a:srgbClr val="FFFFFF"/>
                    </a:solidFill>
                  </a:tcPr>
                </a:tc>
                <a:tc>
                  <a:txBody>
                    <a:bodyPr wrap="square" lIns="36576" rIns="36576" tIns="18288" bIns="18288"/>
                    <a:lstStyle/>
                    <a:p>
                      <a:r>
                        <a:rPr sz="540" b="0">
                          <a:solidFill>
                            <a:srgbClr val="21242A"/>
                          </a:solidFill>
                          <a:latin typeface="Microsoft YaHei"/>
                        </a:rPr>
                        <a:t>13.1%（总体），12.8%（R-CHOP），9.5%（Pola-R-CHP），16.2%（Other）</a:t>
                      </a:r>
                    </a:p>
                  </a:txBody>
                  <a:tcPr>
                    <a:solidFill>
                      <a:srgbClr val="FFFFFF"/>
                    </a:solidFill>
                  </a:tcPr>
                </a:tc>
              </a:tr>
              <a:tr h="166624">
                <a:tc>
                  <a:txBody>
                    <a:bodyPr wrap="square" lIns="36576" rIns="36576" tIns="18288" bIns="18288"/>
                    <a:lstStyle/>
                    <a:p>
                      <a:r>
                        <a:rPr sz="540" b="1">
                          <a:solidFill>
                            <a:srgbClr val="21242A"/>
                          </a:solidFill>
                          <a:latin typeface="Microsoft YaHei"/>
                        </a:rPr>
                        <a:t>2L患者中复发/难治比例</a:t>
                      </a:r>
                    </a:p>
                  </a:txBody>
                  <a:tcPr>
                    <a:solidFill>
                      <a:srgbClr val="F6F8FB"/>
                    </a:solidFill>
                  </a:tcPr>
                </a:tc>
                <a:tc>
                  <a:txBody>
                    <a:bodyPr wrap="square" lIns="36576" rIns="36576" tIns="18288" bIns="18288"/>
                    <a:lstStyle/>
                    <a:p>
                      <a:r>
                        <a:rPr sz="540" b="0">
                          <a:solidFill>
                            <a:srgbClr val="21242A"/>
                          </a:solidFill>
                          <a:latin typeface="Microsoft YaHei"/>
                        </a:rPr>
                        <a:t>复发28.9%、难治71.1%（总体）</a:t>
                      </a:r>
                    </a:p>
                  </a:txBody>
                  <a:tcPr>
                    <a:solidFill>
                      <a:srgbClr val="F6F8FB"/>
                    </a:solidFill>
                  </a:tcPr>
                </a:tc>
              </a:tr>
              <a:tr h="166624">
                <a:tc>
                  <a:txBody>
                    <a:bodyPr wrap="square" lIns="36576" rIns="36576" tIns="18288" bIns="18288"/>
                    <a:lstStyle/>
                    <a:p>
                      <a:r>
                        <a:rPr sz="540" b="1">
                          <a:solidFill>
                            <a:srgbClr val="21242A"/>
                          </a:solidFill>
                          <a:latin typeface="Microsoft YaHei"/>
                        </a:rPr>
                        <a:t>R-CHOP</a:t>
                      </a:r>
                    </a:p>
                  </a:txBody>
                  <a:tcPr>
                    <a:solidFill>
                      <a:srgbClr val="FFFFFF"/>
                    </a:solidFill>
                  </a:tcPr>
                </a:tc>
                <a:tc>
                  <a:txBody>
                    <a:bodyPr wrap="square" lIns="36576" rIns="36576" tIns="18288" bIns="18288"/>
                    <a:lstStyle/>
                    <a:p>
                      <a:r>
                        <a:rPr sz="540" b="0">
                          <a:solidFill>
                            <a:srgbClr val="21242A"/>
                          </a:solidFill>
                          <a:latin typeface="Microsoft YaHei"/>
                        </a:rPr>
                        <a:t>复发30.1%、难治69.9%</a:t>
                      </a:r>
                    </a:p>
                  </a:txBody>
                  <a:tcPr>
                    <a:solidFill>
                      <a:srgbClr val="FFFFFF"/>
                    </a:solidFill>
                  </a:tcPr>
                </a:tc>
              </a:tr>
              <a:tr h="166624">
                <a:tc>
                  <a:txBody>
                    <a:bodyPr wrap="square" lIns="36576" rIns="36576" tIns="18288" bIns="18288"/>
                    <a:lstStyle/>
                    <a:p>
                      <a:r>
                        <a:rPr sz="540" b="1">
                          <a:solidFill>
                            <a:srgbClr val="21242A"/>
                          </a:solidFill>
                          <a:latin typeface="Microsoft YaHei"/>
                        </a:rPr>
                        <a:t>Pola-R-CHP</a:t>
                      </a:r>
                    </a:p>
                  </a:txBody>
                  <a:tcPr>
                    <a:solidFill>
                      <a:srgbClr val="F6F8FB"/>
                    </a:solidFill>
                  </a:tcPr>
                </a:tc>
                <a:tc>
                  <a:txBody>
                    <a:bodyPr wrap="square" lIns="36576" rIns="36576" tIns="18288" bIns="18288"/>
                    <a:lstStyle/>
                    <a:p>
                      <a:r>
                        <a:rPr sz="540" b="0">
                          <a:solidFill>
                            <a:srgbClr val="21242A"/>
                          </a:solidFill>
                          <a:latin typeface="Microsoft YaHei"/>
                        </a:rPr>
                        <a:t>复发7.7%、难治92.3%</a:t>
                      </a:r>
                    </a:p>
                  </a:txBody>
                  <a:tcPr>
                    <a:solidFill>
                      <a:srgbClr val="F6F8FB"/>
                    </a:solidFill>
                  </a:tcPr>
                </a:tc>
              </a:tr>
              <a:tr h="166624">
                <a:tc>
                  <a:txBody>
                    <a:bodyPr wrap="square" lIns="36576" rIns="36576" tIns="18288" bIns="18288"/>
                    <a:lstStyle/>
                    <a:p>
                      <a:r>
                        <a:rPr sz="540" b="1">
                          <a:solidFill>
                            <a:srgbClr val="21242A"/>
                          </a:solidFill>
                          <a:latin typeface="Microsoft YaHei"/>
                        </a:rPr>
                        <a:t>Other</a:t>
                      </a:r>
                    </a:p>
                  </a:txBody>
                  <a:tcPr>
                    <a:solidFill>
                      <a:srgbClr val="FFFFFF"/>
                    </a:solidFill>
                  </a:tcPr>
                </a:tc>
                <a:tc>
                  <a:txBody>
                    <a:bodyPr wrap="square" lIns="36576" rIns="36576" tIns="18288" bIns="18288"/>
                    <a:lstStyle/>
                    <a:p>
                      <a:r>
                        <a:rPr sz="540" b="0">
                          <a:solidFill>
                            <a:srgbClr val="21242A"/>
                          </a:solidFill>
                          <a:latin typeface="Microsoft YaHei"/>
                        </a:rPr>
                        <a:t>复发31.7%、难治68.3%</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zfp36l1的低表达预示着不良预后，并与dlbcl中的线粒体翻译程序有关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 expression of zfp36l1 predicts poor outcomes and associates with mitochon...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N=600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回顾性临床研究结果：low expression of zfp36l1 predicts poor outcomes and...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ZFP36L1低表达组与高表达组相比，总生存期（OS）和无进展生存期（PFS）更差（均p&lt;0.05）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人数：600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研究主题：low expression of zfp36l1 predicts poor outcomes and associates with mitochondrial translation programs in dlbcl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zfp36l1的低表达预示着不良预后，并与dlbcl中的线粒体翻译程序有关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 expression of zfp36l1 predicts poor outcomes and associates with mitochon...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ZFP36L1 is an AU-rich element (ARE)–binding RNA-binding protein of the TTP family that promotes ARE-dependent mRNA decay and post-transcriptional ge</a:t>
            </a:r>
          </a:p>
          <a:p>
            <a:pPr>
              <a:lnSpc>
                <a:spcPct val="103000"/>
              </a:lnSpc>
              <a:spcAft>
                <a:spcPts val="300"/>
              </a:spcAft>
              <a:defRPr sz="570">
                <a:solidFill>
                  <a:srgbClr val="21242A"/>
                </a:solidFill>
                <a:latin typeface="Microsoft YaHei"/>
              </a:defRPr>
            </a:pPr>
            <a:r>
              <a:t>ne regulation.</a:t>
            </a:r>
          </a:p>
          <a:p>
            <a:pPr>
              <a:lnSpc>
                <a:spcPct val="103000"/>
              </a:lnSpc>
              <a:spcAft>
                <a:spcPts val="300"/>
              </a:spcAft>
              <a:defRPr sz="570">
                <a:solidFill>
                  <a:srgbClr val="21242A"/>
                </a:solidFill>
                <a:latin typeface="Microsoft YaHei"/>
              </a:defRPr>
            </a:pPr>
            <a:r>
              <a:t>Although ZFP36L1 has been implicated in multiple malignancies, its clinical and biological relevance to the progression of diffuse large B-cell lymphoma (DLBCL)</a:t>
            </a:r>
          </a:p>
          <a:p>
            <a:pPr>
              <a:lnSpc>
                <a:spcPct val="103000"/>
              </a:lnSpc>
              <a:spcAft>
                <a:spcPts val="300"/>
              </a:spcAft>
              <a:defRPr sz="570">
                <a:solidFill>
                  <a:srgbClr val="21242A"/>
                </a:solidFill>
                <a:latin typeface="Microsoft YaHei"/>
              </a:defRPr>
            </a:pPr>
            <a:r>
              <a:t> remains to be fully elucidated.</a:t>
            </a:r>
          </a:p>
          <a:p>
            <a:pPr>
              <a:lnSpc>
                <a:spcPct val="103000"/>
              </a:lnSpc>
              <a:spcAft>
                <a:spcPts val="300"/>
              </a:spcAft>
              <a:defRPr sz="570">
                <a:solidFill>
                  <a:srgbClr val="21242A"/>
                </a:solidFill>
                <a:latin typeface="Microsoft YaHei"/>
              </a:defRPr>
            </a:pPr>
            <a:r>
              <a:t>Aims: To define the prognostic significance of ZFP36L1 in DLBCL and to characterize associated transcriptional programs, immune contexture, and mitochondrial tr</a:t>
            </a:r>
          </a:p>
          <a:p>
            <a:pPr>
              <a:lnSpc>
                <a:spcPct val="103000"/>
              </a:lnSpc>
              <a:spcAft>
                <a:spcPts val="300"/>
              </a:spcAft>
              <a:defRPr sz="570">
                <a:solidFill>
                  <a:srgbClr val="21242A"/>
                </a:solidFill>
                <a:latin typeface="Microsoft YaHei"/>
              </a:defRPr>
            </a:pPr>
            <a:r>
              <a:t>anslation–related features with functional validation.</a:t>
            </a:r>
          </a:p>
          <a:p>
            <a:pPr>
              <a:lnSpc>
                <a:spcPct val="103000"/>
              </a:lnSpc>
              <a:spcAft>
                <a:spcPts val="300"/>
              </a:spcAft>
              <a:defRPr sz="570">
                <a:solidFill>
                  <a:srgbClr val="21242A"/>
                </a:solidFill>
                <a:latin typeface="Microsoft YaHei"/>
              </a:defRPr>
            </a:pPr>
            <a:r>
              <a:t>Methods: RNA-seq and clinical data from 600 de novo DLBCL patients treated with R-CHOP were analyzed.</a:t>
            </a:r>
          </a:p>
          <a:p>
            <a:pPr>
              <a:lnSpc>
                <a:spcPct val="103000"/>
              </a:lnSpc>
              <a:spcAft>
                <a:spcPts val="300"/>
              </a:spcAft>
              <a:defRPr sz="570">
                <a:solidFill>
                  <a:srgbClr val="21242A"/>
                </a:solidFill>
                <a:latin typeface="Microsoft YaHei"/>
              </a:defRPr>
            </a:pPr>
            <a:r>
              <a:t>An optimal cutoff for ZFP36L1 expression was determined using time-dependent ROC analysis, which stratified patients into ZFP36L1-high (n = 280) and ZFP36L1-low</a:t>
            </a:r>
          </a:p>
          <a:p>
            <a:pPr>
              <a:lnSpc>
                <a:spcPct val="103000"/>
              </a:lnSpc>
              <a:spcAft>
                <a:spcPts val="300"/>
              </a:spcAft>
              <a:defRPr sz="570">
                <a:solidFill>
                  <a:srgbClr val="21242A"/>
                </a:solidFill>
                <a:latin typeface="Microsoft YaHei"/>
              </a:defRPr>
            </a:pPr>
            <a:r>
              <a:t> (n = 320) groups.</a:t>
            </a:r>
          </a:p>
          <a:p>
            <a:pPr>
              <a:lnSpc>
                <a:spcPct val="103000"/>
              </a:lnSpc>
              <a:spcAft>
                <a:spcPts val="300"/>
              </a:spcAft>
              <a:defRPr sz="570">
                <a:solidFill>
                  <a:srgbClr val="21242A"/>
                </a:solidFill>
                <a:latin typeface="Microsoft YaHei"/>
              </a:defRPr>
            </a:pPr>
            <a:r>
              <a:t>Overall survival (OS), progression-free survival (PFS), and baseline clinicopathologic variables were compared between groups.</a:t>
            </a:r>
          </a:p>
          <a:p>
            <a:pPr>
              <a:lnSpc>
                <a:spcPct val="103000"/>
              </a:lnSpc>
              <a:spcAft>
                <a:spcPts val="300"/>
              </a:spcAft>
              <a:defRPr sz="570">
                <a:solidFill>
                  <a:srgbClr val="21242A"/>
                </a:solidFill>
                <a:latin typeface="Microsoft YaHei"/>
              </a:defRPr>
            </a:pPr>
            <a:r>
              <a:t>Differential expression and pathway enrichment analyses were conducted using RNA-seq data.</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ZFP36L1 downregulation identifies a high-risk DLBCL subset and is linked to enhanced mitochondrial translation programs and an immunosuppressive microenvironmen</a:t>
            </a:r>
          </a:p>
          <a:p>
            <a:pPr>
              <a:lnSpc>
                <a:spcPct val="103000"/>
              </a:lnSpc>
              <a:spcAft>
                <a:spcPts val="300"/>
              </a:spcAft>
              <a:defRPr sz="590">
                <a:solidFill>
                  <a:srgbClr val="21242A"/>
                </a:solidFill>
                <a:latin typeface="Microsoft YaHei"/>
              </a:defRPr>
            </a:pPr>
            <a:r>
              <a:t>t.</a:t>
            </a:r>
          </a:p>
          <a:p>
            <a:pPr>
              <a:lnSpc>
                <a:spcPct val="103000"/>
              </a:lnSpc>
              <a:spcAft>
                <a:spcPts val="300"/>
              </a:spcAft>
              <a:defRPr sz="590">
                <a:solidFill>
                  <a:srgbClr val="21242A"/>
                </a:solidFill>
                <a:latin typeface="Microsoft YaHei"/>
              </a:defRPr>
            </a:pPr>
            <a:r>
              <a:t>ZFP36L1 may serve as a prognostic biomarker and inform risk stratification, providing a rationale for therapeutic targeting in DLBCL patients.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Low ZFP36L1 expression was associated with inferior OS and PFS (both p</a:t>
            </a:r>
          </a:p>
          <a:p>
            <a:pPr>
              <a:lnSpc>
                <a:spcPct val="103000"/>
              </a:lnSpc>
              <a:spcAft>
                <a:spcPts val="300"/>
              </a:spcAft>
              <a:defRPr sz="580">
                <a:solidFill>
                  <a:srgbClr val="21242A"/>
                </a:solidFill>
                <a:latin typeface="Microsoft YaHei"/>
              </a:defRPr>
            </a:pPr>
            <a:r>
              <a:t>Conclusion: ZFP36L1 downregulation identifies a high-risk DLBCL subset and is linked to enhanced mitochondrial translation programs and an immunosuppressiv</a:t>
            </a:r>
          </a:p>
          <a:p>
            <a:pPr>
              <a:lnSpc>
                <a:spcPct val="103000"/>
              </a:lnSpc>
              <a:spcAft>
                <a:spcPts val="300"/>
              </a:spcAft>
              <a:defRPr sz="580">
                <a:solidFill>
                  <a:srgbClr val="21242A"/>
                </a:solidFill>
                <a:latin typeface="Microsoft YaHei"/>
              </a:defRPr>
            </a:pPr>
            <a:r>
              <a:t>e microenvironment.</a:t>
            </a:r>
          </a:p>
          <a:p>
            <a:pPr>
              <a:lnSpc>
                <a:spcPct val="103000"/>
              </a:lnSpc>
              <a:spcAft>
                <a:spcPts val="300"/>
              </a:spcAft>
              <a:defRPr sz="580">
                <a:solidFill>
                  <a:srgbClr val="21242A"/>
                </a:solidFill>
                <a:latin typeface="Microsoft YaHei"/>
              </a:defRPr>
            </a:pPr>
            <a:r>
              <a:t>ZFP36L1 may serve as a prognostic biomarker and inform risk stratification, providing a rationale for therapeutic targeting in DLBCL patients.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摘要号：PF980</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基于治疗组学数据预测弥漫性大b细胞淋巴瘤患者的早期预后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outcome prediction of diffuse large b-cell lymphoma patients using on-t...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回顾性临床研究结果：early outcome prediction of diffuse large b-cell lymp...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The combination of ctDNA copy numbers and EV-derived mRNA expre...</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研究主题：early outcome prediction of diffuse large b-cell lymphoma patients using on-treatment omics data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基于治疗组学数据预测弥漫性大b细胞淋巴瘤患者的早期预后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outcome prediction of diffuse large b-cell lymphoma patients using on-t...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Currently, standard-of-care treatment for patients with Diffuse Large B-Cell Lymphoma (DLBCL) consists of 6 cycles of R-CHOP facing two significant </a:t>
            </a:r>
          </a:p>
          <a:p>
            <a:pPr>
              <a:lnSpc>
                <a:spcPct val="103000"/>
              </a:lnSpc>
              <a:spcAft>
                <a:spcPts val="300"/>
              </a:spcAft>
              <a:defRPr sz="570">
                <a:solidFill>
                  <a:srgbClr val="21242A"/>
                </a:solidFill>
                <a:latin typeface="Microsoft YaHei"/>
              </a:defRPr>
            </a:pPr>
            <a:r>
              <a:t>issues:\n \n Ineffective treatment: 30-40% of patients either relapse or do not respond.</a:t>
            </a:r>
          </a:p>
          <a:p>
            <a:pPr>
              <a:lnSpc>
                <a:spcPct val="103000"/>
              </a:lnSpc>
              <a:spcAft>
                <a:spcPts val="300"/>
              </a:spcAft>
              <a:defRPr sz="570">
                <a:solidFill>
                  <a:srgbClr val="21242A"/>
                </a:solidFill>
                <a:latin typeface="Microsoft YaHei"/>
              </a:defRPr>
            </a:pPr>
            <a:r>
              <a:t>An early switch to alternative treatments could improve outcome of these patients.</a:t>
            </a:r>
          </a:p>
          <a:p>
            <a:pPr>
              <a:lnSpc>
                <a:spcPct val="103000"/>
              </a:lnSpc>
              <a:spcAft>
                <a:spcPts val="300"/>
              </a:spcAft>
              <a:defRPr sz="570">
                <a:solidFill>
                  <a:srgbClr val="21242A"/>
                </a:solidFill>
                <a:latin typeface="Microsoft YaHei"/>
              </a:defRPr>
            </a:pPr>
            <a:r>
              <a:t>\n Overtreatment: fewer cycles of therapy might be sufficient for some patients with low-risk disease, allowing de-escalation to 4 cycles reducing unnecessary t</a:t>
            </a:r>
          </a:p>
          <a:p>
            <a:pPr>
              <a:lnSpc>
                <a:spcPct val="103000"/>
              </a:lnSpc>
              <a:spcAft>
                <a:spcPts val="300"/>
              </a:spcAft>
              <a:defRPr sz="570">
                <a:solidFill>
                  <a:srgbClr val="21242A"/>
                </a:solidFill>
                <a:latin typeface="Microsoft YaHei"/>
              </a:defRPr>
            </a:pPr>
            <a:r>
              <a:t>oxicities.</a:t>
            </a:r>
          </a:p>
          <a:p>
            <a:pPr>
              <a:lnSpc>
                <a:spcPct val="103000"/>
              </a:lnSpc>
              <a:spcAft>
                <a:spcPts val="300"/>
              </a:spcAft>
              <a:defRPr sz="570">
                <a:solidFill>
                  <a:srgbClr val="21242A"/>
                </a:solidFill>
                <a:latin typeface="Microsoft YaHei"/>
              </a:defRPr>
            </a:pPr>
            <a:r>
              <a:t>\n \nEarly outcome prediction could tackle both issues.</a:t>
            </a:r>
          </a:p>
          <a:p>
            <a:pPr>
              <a:lnSpc>
                <a:spcPct val="103000"/>
              </a:lnSpc>
              <a:spcAft>
                <a:spcPts val="300"/>
              </a:spcAft>
              <a:defRPr sz="570">
                <a:solidFill>
                  <a:srgbClr val="21242A"/>
                </a:solidFill>
                <a:latin typeface="Microsoft YaHei"/>
              </a:defRPr>
            </a:pPr>
            <a:r>
              <a:t>Currently available tools (International Prognostic Index (IPI), interim PET-scans and other biomarkers) have prognostic significance but their low predictive p</a:t>
            </a:r>
          </a:p>
          <a:p>
            <a:pPr>
              <a:lnSpc>
                <a:spcPct val="103000"/>
              </a:lnSpc>
              <a:spcAft>
                <a:spcPts val="300"/>
              </a:spcAft>
              <a:defRPr sz="570">
                <a:solidFill>
                  <a:srgbClr val="21242A"/>
                </a:solidFill>
                <a:latin typeface="Microsoft YaHei"/>
              </a:defRPr>
            </a:pPr>
            <a:r>
              <a:t>ower does not allow use in clinical practice yet.</a:t>
            </a:r>
          </a:p>
          <a:p>
            <a:pPr>
              <a:lnSpc>
                <a:spcPct val="103000"/>
              </a:lnSpc>
              <a:spcAft>
                <a:spcPts val="300"/>
              </a:spcAft>
              <a:defRPr sz="570">
                <a:solidFill>
                  <a:srgbClr val="21242A"/>
                </a:solidFill>
                <a:latin typeface="Microsoft YaHei"/>
              </a:defRPr>
            </a:pPr>
            <a:r>
              <a:t>Aims: We aimed to combine pre-treatment data with on-treatment liquid-biopsy derived data to predict patient outcomes.</a:t>
            </a:r>
          </a:p>
          <a:p>
            <a:pPr>
              <a:lnSpc>
                <a:spcPct val="103000"/>
              </a:lnSpc>
              <a:spcAft>
                <a:spcPts val="300"/>
              </a:spcAft>
              <a:defRPr sz="570">
                <a:solidFill>
                  <a:srgbClr val="21242A"/>
                </a:solidFill>
                <a:latin typeface="Microsoft YaHei"/>
              </a:defRPr>
            </a:pPr>
            <a:r>
              <a:t>Specifically, we used both circulating tumor DNA (ctDNA) and extracellular vesicle (EV) derived omics.</a:t>
            </a:r>
          </a:p>
          <a:p>
            <a:pPr>
              <a:lnSpc>
                <a:spcPct val="103000"/>
              </a:lnSpc>
              <a:spcAft>
                <a:spcPts val="300"/>
              </a:spcAft>
              <a:defRPr sz="570">
                <a:solidFill>
                  <a:srgbClr val="21242A"/>
                </a:solidFill>
                <a:latin typeface="Microsoft YaHei"/>
              </a:defRPr>
            </a:pPr>
            <a:r>
              <a:t>EVs are small lipid nanoparticles that are secreted by both healthy and tumor cells.</a:t>
            </a:r>
          </a:p>
          <a:p>
            <a:pPr>
              <a:lnSpc>
                <a:spcPct val="103000"/>
              </a:lnSpc>
              <a:spcAft>
                <a:spcPts val="300"/>
              </a:spcAft>
              <a:defRPr sz="570">
                <a:solidFill>
                  <a:srgbClr val="21242A"/>
                </a:solidFill>
                <a:latin typeface="Microsoft YaHei"/>
              </a:defRPr>
            </a:pPr>
            <a:r>
              <a:t>As such, data from EVs are informative of tumor cells, the microenvironment and the immune response.</a:t>
            </a:r>
          </a:p>
          <a:p>
            <a:pPr>
              <a:lnSpc>
                <a:spcPct val="103000"/>
              </a:lnSpc>
              <a:spcAft>
                <a:spcPts val="300"/>
              </a:spcAft>
              <a:defRPr sz="570">
                <a:solidFill>
                  <a:srgbClr val="21242A"/>
                </a:solidFill>
                <a:latin typeface="Microsoft YaHei"/>
              </a:defRPr>
            </a:pPr>
            <a:r>
              <a:t>We hypothesized that better predictions are possible earlier on by combining all the above mentioned data.</a:t>
            </a:r>
          </a:p>
          <a:p>
            <a:pPr>
              <a:lnSpc>
                <a:spcPct val="103000"/>
              </a:lnSpc>
              <a:spcAft>
                <a:spcPts val="300"/>
              </a:spcAft>
              <a:defRPr sz="570">
                <a:solidFill>
                  <a:srgbClr val="21242A"/>
                </a:solidFill>
                <a:latin typeface="Microsoft YaHei"/>
              </a:defRPr>
            </a:pPr>
            <a:r>
              <a:t>Our main goal was to stratify patients into three groups with pre-determined clinically relevant 2yr progression-free survival (PFS) rates (Low-risk &gt; 90%, Inte</a:t>
            </a:r>
          </a:p>
          <a:p>
            <a:pPr>
              <a:lnSpc>
                <a:spcPct val="103000"/>
              </a:lnSpc>
              <a:spcAft>
                <a:spcPts val="300"/>
              </a:spcAft>
              <a:defRPr sz="570">
                <a:solidFill>
                  <a:srgbClr val="21242A"/>
                </a:solidFill>
                <a:latin typeface="Microsoft YaHei"/>
              </a:defRPr>
            </a:pPr>
            <a:r>
              <a:t>rmediate-risk 20-90%, High-risk</a:t>
            </a:r>
          </a:p>
          <a:p>
            <a:pPr>
              <a:lnSpc>
                <a:spcPct val="103000"/>
              </a:lnSpc>
              <a:spcAft>
                <a:spcPts val="300"/>
              </a:spcAft>
              <a:defRPr sz="570">
                <a:solidFill>
                  <a:srgbClr val="21242A"/>
                </a:solidFill>
                <a:latin typeface="Microsoft YaHei"/>
              </a:defRPr>
            </a:pPr>
            <a:r>
              <a:t>Methods: We used data from 2 clinical studies (HOVON-152 and HOVON-902), involving a unique dataset from 115 DLBCL patients treated with R-CHOP and R-CHOP-like </a:t>
            </a:r>
          </a:p>
          <a:p>
            <a:pPr>
              <a:lnSpc>
                <a:spcPct val="103000"/>
              </a:lnSpc>
              <a:spcAft>
                <a:spcPts val="300"/>
              </a:spcAft>
              <a:defRPr sz="570">
                <a:solidFill>
                  <a:srgbClr val="21242A"/>
                </a:solidFill>
                <a:latin typeface="Microsoft YaHei"/>
              </a:defRPr>
            </a:pPr>
            <a:r>
              <a:t>regimens, containing four different data modalities:\n Pre-treatment baseline characteristics \n \n Age, IPI score, sex, BCL2 and BCL6 translocation status \n \</a:t>
            </a:r>
          </a:p>
          <a:p>
            <a:pPr>
              <a:lnSpc>
                <a:spcPct val="103000"/>
              </a:lnSpc>
              <a:spcAft>
                <a:spcPts val="300"/>
              </a:spcAft>
              <a:defRPr sz="570">
                <a:solidFill>
                  <a:srgbClr val="21242A"/>
                </a:solidFill>
                <a:latin typeface="Microsoft YaHei"/>
              </a:defRPr>
            </a:pPr>
            <a:r>
              <a:t>n On-treatment (after 1 cycle of R-CHOP) liquid biopsy characteristics: \n \n CtDNA-derived copy numbers \n EV-derived whole transcriptomics mRNA sequencing \n </a:t>
            </a:r>
          </a:p>
          <a:p>
            <a:pPr>
              <a:lnSpc>
                <a:spcPct val="103000"/>
              </a:lnSpc>
              <a:spcAft>
                <a:spcPts val="300"/>
              </a:spcAft>
              <a:defRPr sz="570">
                <a:solidFill>
                  <a:srgbClr val="21242A"/>
                </a:solidFill>
                <a:latin typeface="Microsoft YaHei"/>
              </a:defRPr>
            </a:pPr>
            <a:r>
              <a:t>EV-derived miRNA sequencing \n \nAll sequencing was performed on the Novaseq 6000 using paired-end sequencing.</a:t>
            </a:r>
          </a:p>
          <a:p>
            <a:pPr>
              <a:lnSpc>
                <a:spcPct val="103000"/>
              </a:lnSpc>
              <a:spcAft>
                <a:spcPts val="300"/>
              </a:spcAft>
              <a:defRPr sz="570">
                <a:solidFill>
                  <a:srgbClr val="21242A"/>
                </a:solidFill>
                <a:latin typeface="Microsoft YaHei"/>
              </a:defRPr>
            </a:pPr>
            <a:r>
              <a:t>We explored all possible combinations of modalities to predict 2yr PFS using a logistic-ridge regression model.</a:t>
            </a:r>
          </a:p>
          <a:p>
            <a:pPr>
              <a:lnSpc>
                <a:spcPct val="103000"/>
              </a:lnSpc>
              <a:spcAft>
                <a:spcPts val="300"/>
              </a:spcAft>
              <a:defRPr sz="570">
                <a:solidFill>
                  <a:srgbClr val="21242A"/>
                </a:solidFill>
                <a:latin typeface="Microsoft YaHei"/>
              </a:defRPr>
            </a:pPr>
            <a:r>
              <a:t>Models were trained by using 10x nested cross validation and performance was compared by the AUC on all test sets.</a:t>
            </a:r>
          </a:p>
          <a:p>
            <a:pPr>
              <a:lnSpc>
                <a:spcPct val="103000"/>
              </a:lnSpc>
              <a:spcAft>
                <a:spcPts val="300"/>
              </a:spcAft>
              <a:defRPr sz="570">
                <a:solidFill>
                  <a:srgbClr val="21242A"/>
                </a:solidFill>
                <a:latin typeface="Microsoft YaHei"/>
              </a:defRPr>
            </a:pPr>
            <a:r>
              <a:t>Patient stratification was compared to the current gold standard method, interim PET-CT scan (iPET).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combination of ctDNA copy numbers and EV-derived mRNA expression after 1 cycle of therapy was able to identify high-risk patients with a predictive value of</a:t>
            </a:r>
          </a:p>
          <a:p>
            <a:pPr>
              <a:lnSpc>
                <a:spcPct val="103000"/>
              </a:lnSpc>
              <a:spcAft>
                <a:spcPts val="300"/>
              </a:spcAft>
              <a:defRPr sz="590">
                <a:solidFill>
                  <a:srgbClr val="21242A"/>
                </a:solidFill>
                <a:latin typeface="Microsoft YaHei"/>
              </a:defRPr>
            </a:pPr>
            <a:r>
              <a:t> 100%.</a:t>
            </a:r>
          </a:p>
          <a:p>
            <a:pPr>
              <a:lnSpc>
                <a:spcPct val="103000"/>
              </a:lnSpc>
              <a:spcAft>
                <a:spcPts val="300"/>
              </a:spcAft>
              <a:defRPr sz="590">
                <a:solidFill>
                  <a:srgbClr val="21242A"/>
                </a:solidFill>
                <a:latin typeface="Microsoft YaHei"/>
              </a:defRPr>
            </a:pPr>
            <a:r>
              <a:t>Combined information on both dying and living cells might reflect tumor and immune response on treatment and is independent of baseline patient and tumor charac</a:t>
            </a:r>
          </a:p>
          <a:p>
            <a:pPr>
              <a:lnSpc>
                <a:spcPct val="103000"/>
              </a:lnSpc>
              <a:spcAft>
                <a:spcPts val="300"/>
              </a:spcAft>
              <a:defRPr sz="590">
                <a:solidFill>
                  <a:srgbClr val="21242A"/>
                </a:solidFill>
                <a:latin typeface="Microsoft YaHei"/>
              </a:defRPr>
            </a:pPr>
            <a:r>
              <a:t>teristics, holding promise for clinical implementation in the future.</a:t>
            </a:r>
          </a:p>
          <a:p>
            <a:pPr>
              <a:lnSpc>
                <a:spcPct val="103000"/>
              </a:lnSpc>
              <a:spcAft>
                <a:spcPts val="300"/>
              </a:spcAft>
              <a:defRPr sz="590">
                <a:solidFill>
                  <a:srgbClr val="21242A"/>
                </a:solidFill>
                <a:latin typeface="Microsoft YaHei"/>
              </a:defRPr>
            </a:pPr>
            <a:r>
              <a:t>For further validation, we will expand our dataset data with 95 more patients.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The combination of ctDNA copy numbers and EV-derived mRNA expression after 1 cycle of therapy was able to identify high-risk patients with a predictive val</a:t>
            </a:r>
          </a:p>
          <a:p>
            <a:pPr>
              <a:lnSpc>
                <a:spcPct val="103000"/>
              </a:lnSpc>
              <a:spcAft>
                <a:spcPts val="300"/>
              </a:spcAft>
              <a:defRPr sz="580">
                <a:solidFill>
                  <a:srgbClr val="21242A"/>
                </a:solidFill>
                <a:latin typeface="Microsoft YaHei"/>
              </a:defRPr>
            </a:pPr>
            <a:r>
              <a:t>ue of 100%.</a:t>
            </a:r>
          </a:p>
          <a:p>
            <a:pPr>
              <a:lnSpc>
                <a:spcPct val="103000"/>
              </a:lnSpc>
              <a:spcAft>
                <a:spcPts val="300"/>
              </a:spcAft>
              <a:defRPr sz="580">
                <a:solidFill>
                  <a:srgbClr val="21242A"/>
                </a:solidFill>
                <a:latin typeface="Microsoft YaHei"/>
              </a:defRPr>
            </a:pPr>
            <a:r>
              <a:t>Combined information on both dying and living cells might reflect tumor and immune response on treatment and is independent of baseline patient and tumor c</a:t>
            </a:r>
          </a:p>
          <a:p>
            <a:pPr>
              <a:lnSpc>
                <a:spcPct val="103000"/>
              </a:lnSpc>
              <a:spcAft>
                <a:spcPts val="300"/>
              </a:spcAft>
              <a:defRPr sz="580">
                <a:solidFill>
                  <a:srgbClr val="21242A"/>
                </a:solidFill>
                <a:latin typeface="Microsoft YaHei"/>
              </a:defRPr>
            </a:pPr>
            <a:r>
              <a:t>haracteristics, holding promise for clinical implementation in the future.</a:t>
            </a:r>
          </a:p>
          <a:p>
            <a:pPr>
              <a:lnSpc>
                <a:spcPct val="103000"/>
              </a:lnSpc>
              <a:spcAft>
                <a:spcPts val="300"/>
              </a:spcAft>
              <a:defRPr sz="580">
                <a:solidFill>
                  <a:srgbClr val="21242A"/>
                </a:solidFill>
                <a:latin typeface="Microsoft YaHei"/>
              </a:defRPr>
            </a:pPr>
            <a:r>
              <a:t>For further validation…</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摘要号：PF1063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巩固性放疗与有限期胃弥漫性大b细胞淋巴瘤完全缓解的生存率：一项来自中国的多中心研究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consolidative radiotherapy and survival in limited-stage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N=202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分组：试验组1：化疗（R-CHOP样方案）后巩固性放疗</a:t>
            </a:r>
          </a:p>
          <a:p>
            <a:pPr>
              <a:lnSpc>
                <a:spcPct val="103000"/>
              </a:lnSpc>
              <a:spcAft>
                <a:spcPts val="300"/>
              </a:spcAft>
              <a:defRPr sz="800">
                <a:solidFill>
                  <a:srgbClr val="21242A"/>
                </a:solidFill>
                <a:latin typeface="Microsoft YaHei"/>
              </a:defRPr>
            </a:pPr>
            <a:r>
              <a:t>试验组2：仅化疗（R-CHOP样方案）</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多组/多方案比较：试验组1：化疗（R-CHOP样方案）后巩固性放疗</a:t>
            </a:r>
          </a:p>
          <a:p>
            <a:pPr>
              <a:lnSpc>
                <a:spcPct val="103000"/>
              </a:lnSpc>
              <a:spcAft>
                <a:spcPts val="300"/>
              </a:spcAft>
              <a:defRPr sz="800">
                <a:solidFill>
                  <a:srgbClr val="21242A"/>
                </a:solidFill>
                <a:latin typeface="Microsoft YaHei"/>
              </a:defRPr>
            </a:pPr>
            <a:r>
              <a:t>试验组2：仅化疗（R-CHOP样方案）</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5年总生存率（OS）：CT+RT组98.5%，CT-alone组86.4%（P=0.06）</a:t>
            </a:r>
          </a:p>
          <a:p>
            <a:pPr>
              <a:lnSpc>
                <a:spcPct val="103000"/>
              </a:lnSpc>
              <a:spcAft>
                <a:spcPts val="300"/>
              </a:spcAft>
              <a:defRPr sz="800">
                <a:solidFill>
                  <a:srgbClr val="21242A"/>
                </a:solidFill>
                <a:latin typeface="Microsoft YaHei"/>
              </a:defRPr>
            </a:pPr>
            <a:r>
              <a:t>5年无进展生存率（PFS）：CT+RT组92.2%，CT-alone组83.5%（P=0.04）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人数：202</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分组/治疗流程：试验组1：化疗（R-CHOP样方案）后巩固性放疗、试验组2：仅化疗（R-CHOP样方案）</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巩固性放疗与有限期胃弥漫性大b细胞淋巴瘤完全缓解的生存率：一项来自中国的多中心研究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consolidative radiotherapy and survival in limited-stage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gastric diffuse large B-cell lymphoma (PG-DLBCL) accounts for approximately 30% of all gastric lymphomas.While R-CHOP has been the standard </a:t>
            </a:r>
          </a:p>
          <a:p>
            <a:pPr>
              <a:lnSpc>
                <a:spcPct val="103000"/>
              </a:lnSpc>
              <a:spcAft>
                <a:spcPts val="300"/>
              </a:spcAft>
              <a:defRPr sz="570">
                <a:solidFill>
                  <a:srgbClr val="21242A"/>
                </a:solidFill>
                <a:latin typeface="Microsoft YaHei"/>
              </a:defRPr>
            </a:pPr>
            <a:r>
              <a:t>first-line treatment for over two decades,achieving long-term disease control in a majority of PG-DLBCL patients,the necessity of consolidative radiotherapy (RT</a:t>
            </a:r>
          </a:p>
          <a:p>
            <a:pPr>
              <a:lnSpc>
                <a:spcPct val="103000"/>
              </a:lnSpc>
              <a:spcAft>
                <a:spcPts val="300"/>
              </a:spcAft>
              <a:defRPr sz="570">
                <a:solidFill>
                  <a:srgbClr val="21242A"/>
                </a:solidFill>
                <a:latin typeface="Microsoft YaHei"/>
              </a:defRPr>
            </a:pPr>
            <a:r>
              <a:t>) for those reaching complete remission (CR) remains controversial in the rituximab era.</a:t>
            </a:r>
          </a:p>
          <a:p>
            <a:pPr>
              <a:lnSpc>
                <a:spcPct val="103000"/>
              </a:lnSpc>
              <a:spcAft>
                <a:spcPts val="300"/>
              </a:spcAft>
              <a:defRPr sz="570">
                <a:solidFill>
                  <a:srgbClr val="21242A"/>
                </a:solidFill>
                <a:latin typeface="Microsoft YaHei"/>
              </a:defRPr>
            </a:pPr>
            <a:r>
              <a:t>Aims: This study aims to evaluate the role of consolidative radiotherapy and survival outcomes in patients with limited-stage PG-DLBCL who achieved CR after fir</a:t>
            </a:r>
          </a:p>
          <a:p>
            <a:pPr>
              <a:lnSpc>
                <a:spcPct val="103000"/>
              </a:lnSpc>
              <a:spcAft>
                <a:spcPts val="300"/>
              </a:spcAft>
              <a:defRPr sz="570">
                <a:solidFill>
                  <a:srgbClr val="21242A"/>
                </a:solidFill>
                <a:latin typeface="Microsoft YaHei"/>
              </a:defRPr>
            </a:pPr>
            <a:r>
              <a:t>st-line chemotherapy(CT).</a:t>
            </a:r>
          </a:p>
          <a:p>
            <a:pPr>
              <a:lnSpc>
                <a:spcPct val="103000"/>
              </a:lnSpc>
              <a:spcAft>
                <a:spcPts val="300"/>
              </a:spcAft>
              <a:defRPr sz="570">
                <a:solidFill>
                  <a:srgbClr val="21242A"/>
                </a:solidFill>
                <a:latin typeface="Microsoft YaHei"/>
              </a:defRPr>
            </a:pPr>
            <a:r>
              <a:t>Methods: Adult patients with limited-stage PG-DLBCL who achieved CR after first-line chemotherapy were retrospectively reviewed from May 2008 to September 2024 </a:t>
            </a:r>
          </a:p>
          <a:p>
            <a:pPr>
              <a:lnSpc>
                <a:spcPct val="103000"/>
              </a:lnSpc>
              <a:spcAft>
                <a:spcPts val="300"/>
              </a:spcAft>
              <a:defRPr sz="570">
                <a:solidFill>
                  <a:srgbClr val="21242A"/>
                </a:solidFill>
                <a:latin typeface="Microsoft YaHei"/>
              </a:defRPr>
            </a:pPr>
            <a:r>
              <a:t>across two Chinese institutions.</a:t>
            </a:r>
          </a:p>
          <a:p>
            <a:pPr>
              <a:lnSpc>
                <a:spcPct val="103000"/>
              </a:lnSpc>
              <a:spcAft>
                <a:spcPts val="300"/>
              </a:spcAft>
              <a:defRPr sz="570">
                <a:solidFill>
                  <a:srgbClr val="21242A"/>
                </a:solidFill>
                <a:latin typeface="Microsoft YaHei"/>
              </a:defRPr>
            </a:pPr>
            <a:r>
              <a:t>Survival outcomes were estimated using the Kaplan-Meier method and compared with the log-rank test.</a:t>
            </a:r>
          </a:p>
          <a:p>
            <a:pPr>
              <a:lnSpc>
                <a:spcPct val="103000"/>
              </a:lnSpc>
              <a:spcAft>
                <a:spcPts val="300"/>
              </a:spcAft>
              <a:defRPr sz="570">
                <a:solidFill>
                  <a:srgbClr val="21242A"/>
                </a:solidFill>
                <a:latin typeface="Microsoft YaHei"/>
              </a:defRPr>
            </a:pPr>
            <a:r>
              <a:t>Standardized mortality ratios (SMRs) were calculated to assess curability by comparing observed deaths with expected deaths in the age- and sex-matched general </a:t>
            </a:r>
          </a:p>
          <a:p>
            <a:pPr>
              <a:lnSpc>
                <a:spcPct val="103000"/>
              </a:lnSpc>
              <a:spcAft>
                <a:spcPts val="300"/>
              </a:spcAft>
              <a:defRPr sz="570">
                <a:solidFill>
                  <a:srgbClr val="21242A"/>
                </a:solidFill>
                <a:latin typeface="Microsoft YaHei"/>
              </a:defRPr>
            </a:pPr>
            <a:r>
              <a:t>Chinese population (UN World Population Prospects 2024).</a:t>
            </a:r>
          </a:p>
          <a:p>
            <a:pPr>
              <a:lnSpc>
                <a:spcPct val="103000"/>
              </a:lnSpc>
              <a:spcAft>
                <a:spcPts val="300"/>
              </a:spcAft>
              <a:defRPr sz="570">
                <a:solidFill>
                  <a:srgbClr val="21242A"/>
                </a:solidFill>
                <a:latin typeface="Microsoft YaHei"/>
              </a:defRPr>
            </a:pPr>
            <a:r>
              <a:t>A competing risk framework differentiated lymphoma-specific mortality (LSM) from non-lymphoma mortality (NLM), with cumulative incidence functions (CIFs) compar</a:t>
            </a:r>
          </a:p>
          <a:p>
            <a:pPr>
              <a:lnSpc>
                <a:spcPct val="103000"/>
              </a:lnSpc>
              <a:spcAft>
                <a:spcPts val="300"/>
              </a:spcAft>
              <a:defRPr sz="570">
                <a:solidFill>
                  <a:srgbClr val="21242A"/>
                </a:solidFill>
                <a:latin typeface="Microsoft YaHei"/>
              </a:defRPr>
            </a:pPr>
            <a:r>
              <a:t>ed using Gray’s test.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For limited-stage PG-DLBCL achieving CR after first-line chemotherapy, consolidative RT provides limited survival benefit due to exceptional local control and s</a:t>
            </a:r>
          </a:p>
          <a:p>
            <a:pPr>
              <a:lnSpc>
                <a:spcPct val="103000"/>
              </a:lnSpc>
              <a:spcAft>
                <a:spcPts val="300"/>
              </a:spcAft>
              <a:defRPr sz="590">
                <a:solidFill>
                  <a:srgbClr val="21242A"/>
                </a:solidFill>
                <a:latin typeface="Microsoft YaHei"/>
              </a:defRPr>
            </a:pPr>
            <a:r>
              <a:t>urvival normalization.</a:t>
            </a:r>
          </a:p>
          <a:p>
            <a:pPr>
              <a:lnSpc>
                <a:spcPct val="103000"/>
              </a:lnSpc>
              <a:spcAft>
                <a:spcPts val="300"/>
              </a:spcAft>
              <a:defRPr sz="590">
                <a:solidFill>
                  <a:srgbClr val="21242A"/>
                </a:solidFill>
                <a:latin typeface="Microsoft YaHei"/>
              </a:defRPr>
            </a:pPr>
            <a:r>
              <a:t>Competing risk analysis identifies NLM as the primary late mortality driver.</a:t>
            </a:r>
          </a:p>
          <a:p>
            <a:pPr>
              <a:lnSpc>
                <a:spcPct val="103000"/>
              </a:lnSpc>
              <a:spcAft>
                <a:spcPts val="300"/>
              </a:spcAft>
              <a:defRPr sz="590">
                <a:solidFill>
                  <a:srgbClr val="21242A"/>
                </a:solidFill>
                <a:latin typeface="Microsoft YaHei"/>
              </a:defRPr>
            </a:pPr>
            <a:r>
              <a:t>While RT may not be mandatory for all, it may serve as a strategic enabler for chemotherapy de-escalation.</a:t>
            </a:r>
          </a:p>
          <a:p>
            <a:pPr>
              <a:lnSpc>
                <a:spcPct val="103000"/>
              </a:lnSpc>
              <a:spcAft>
                <a:spcPts val="300"/>
              </a:spcAft>
              <a:defRPr sz="590">
                <a:solidFill>
                  <a:srgbClr val="21242A"/>
                </a:solidFill>
                <a:latin typeface="Microsoft YaHei"/>
              </a:defRPr>
            </a:pPr>
            <a:r>
              <a:t>The next step is to further investigate whether RT can serve as a key enabler for chemotherapy de-escalation.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202 patients were included, with a median age of 55 years (range from 18 to 81).</a:t>
            </a:r>
          </a:p>
          <a:p>
            <a:pPr>
              <a:lnSpc>
                <a:spcPct val="103000"/>
              </a:lnSpc>
              <a:spcAft>
                <a:spcPts val="300"/>
              </a:spcAft>
              <a:defRPr sz="580">
                <a:solidFill>
                  <a:srgbClr val="21242A"/>
                </a:solidFill>
                <a:latin typeface="Microsoft YaHei"/>
              </a:defRPr>
            </a:pPr>
            <a:r>
              <a:t>96 (47.5%) patients received consolidative RT after chemotherapy , while 106 (52.5%) received CT alone.</a:t>
            </a:r>
          </a:p>
          <a:p>
            <a:pPr>
              <a:lnSpc>
                <a:spcPct val="103000"/>
              </a:lnSpc>
              <a:spcAft>
                <a:spcPts val="300"/>
              </a:spcAft>
              <a:defRPr sz="580">
                <a:solidFill>
                  <a:srgbClr val="21242A"/>
                </a:solidFill>
                <a:latin typeface="Microsoft YaHei"/>
              </a:defRPr>
            </a:pPr>
            <a:r>
              <a:t>R-CHOP-like regimens were used in 83.2% of cases, with 48% and 48% completing baseline and post-treatment PET/CT assessments, respectively.</a:t>
            </a:r>
          </a:p>
          <a:p>
            <a:pPr>
              <a:lnSpc>
                <a:spcPct val="103000"/>
              </a:lnSpc>
              <a:spcAft>
                <a:spcPts val="300"/>
              </a:spcAft>
              <a:defRPr sz="580">
                <a:solidFill>
                  <a:srgbClr val="21242A"/>
                </a:solidFill>
                <a:latin typeface="Microsoft YaHei"/>
              </a:defRPr>
            </a:pPr>
            <a:r>
              <a:t>With a median follow-up of 80.8 months, the 5-year OS, PFS, and LRC rates were 98.5% , 92.2% and 97.6% in the CT+RT group , compared to 86.4% (P=0.06), 83.</a:t>
            </a:r>
          </a:p>
          <a:p>
            <a:pPr>
              <a:lnSpc>
                <a:spcPct val="103000"/>
              </a:lnSpc>
              <a:spcAft>
                <a:spcPts val="300"/>
              </a:spcAft>
              <a:defRPr sz="580">
                <a:solidFill>
                  <a:srgbClr val="21242A"/>
                </a:solidFill>
                <a:latin typeface="Microsoft YaHei"/>
              </a:defRPr>
            </a:pPr>
            <a:r>
              <a:t>5(P=0.04)and 95.8% (P=0.5) for the CT-alone group, respectively.</a:t>
            </a:r>
          </a:p>
          <a:p>
            <a:pPr>
              <a:lnSpc>
                <a:spcPct val="103000"/>
              </a:lnSpc>
              <a:spcAft>
                <a:spcPts val="300"/>
              </a:spcAft>
              <a:defRPr sz="580">
                <a:solidFill>
                  <a:srgbClr val="21242A"/>
                </a:solidFill>
                <a:latin typeface="Microsoft YaHei"/>
              </a:defRPr>
            </a:pPr>
            <a:r>
              <a:t>Although a statistical difference in PFS was observed, consolidative RT did not significantly improve OS or LRC, consistent with the exceptionally low loca</a:t>
            </a:r>
          </a:p>
          <a:p>
            <a:pPr>
              <a:lnSpc>
                <a:spcPct val="103000"/>
              </a:lnSpc>
              <a:spcAft>
                <a:spcPts val="300"/>
              </a:spcAft>
              <a:defRPr sz="580">
                <a:solidFill>
                  <a:srgbClr val="21242A"/>
                </a:solidFill>
                <a:latin typeface="Microsoft YaHei"/>
              </a:defRPr>
            </a:pPr>
            <a:r>
              <a:t>l recurrence rate (only 6 cases) across the entire cohort.</a:t>
            </a:r>
          </a:p>
          <a:p>
            <a:pPr>
              <a:lnSpc>
                <a:spcPct val="103000"/>
              </a:lnSpc>
              <a:spcAft>
                <a:spcPts val="300"/>
              </a:spcAft>
              <a:defRPr sz="580">
                <a:solidFill>
                  <a:srgbClr val="21242A"/>
                </a:solidFill>
                <a:latin typeface="Microsoft YaHei"/>
              </a:defRPr>
            </a:pPr>
            <a:r>
              <a:t>A total of 14 deaths were recorded during follow-up.</a:t>
            </a:r>
          </a:p>
          <a:p>
            <a:pPr>
              <a:lnSpc>
                <a:spcPct val="103000"/>
              </a:lnSpc>
              <a:spcAft>
                <a:spcPts val="300"/>
              </a:spcAft>
              <a:defRPr sz="580">
                <a:solidFill>
                  <a:srgbClr val="21242A"/>
                </a:solidFill>
                <a:latin typeface="Microsoft YaHei"/>
              </a:defRPr>
            </a:pPr>
            <a:r>
              <a:t>Notably, only 3 patients (21.4%) died of lymphoma-specific causes, 11 patients (78.6%) died of non-lymphoma-related causes, including second primary malign</a:t>
            </a:r>
          </a:p>
          <a:p>
            <a:pPr>
              <a:lnSpc>
                <a:spcPct val="103000"/>
              </a:lnSpc>
              <a:spcAft>
                <a:spcPts val="300"/>
              </a:spcAft>
              <a:defRPr sz="580">
                <a:solidFill>
                  <a:srgbClr val="21242A"/>
                </a:solidFill>
                <a:latin typeface="Microsoft YaHei"/>
              </a:defRPr>
            </a:pPr>
            <a:r>
              <a:t>ancies (n=3), hepatic disease (n=1), and other unknown causes (n=7).</a:t>
            </a:r>
          </a:p>
          <a:p>
            <a:pPr>
              <a:lnSpc>
                <a:spcPct val="103000"/>
              </a:lnSpc>
              <a:spcAft>
                <a:spcPts val="300"/>
              </a:spcAft>
              <a:defRPr sz="580">
                <a:solidFill>
                  <a:srgbClr val="21242A"/>
                </a:solidFill>
                <a:latin typeface="Microsoft YaHei"/>
              </a:defRPr>
            </a:pPr>
            <a:r>
              <a:t>Survival outcomes were favorable and equivalent to the age- and sex-matched general population in both groups, with SMR of 0.64 (95% CI: 0.17–1.64; P = 0.5</a:t>
            </a:r>
          </a:p>
          <a:p>
            <a:pPr>
              <a:lnSpc>
                <a:spcPct val="103000"/>
              </a:lnSpc>
              <a:spcAft>
                <a:spcPts val="300"/>
              </a:spcAft>
              <a:defRPr sz="580">
                <a:solidFill>
                  <a:srgbClr val="21242A"/>
                </a:solidFill>
                <a:latin typeface="Microsoft YaHei"/>
              </a:defRPr>
            </a:pPr>
            <a:r>
              <a:t>4) for the CT+RT group and 1.41 (95% CI: 0.68–2.60; P = 0.25) for the CT-alone group, indicating that patients achieved life expectancy comparable to the g</a:t>
            </a:r>
          </a:p>
          <a:p>
            <a:pPr>
              <a:lnSpc>
                <a:spcPct val="103000"/>
              </a:lnSpc>
              <a:spcAft>
                <a:spcPts val="300"/>
              </a:spcAft>
              <a:defRPr sz="580">
                <a:solidFill>
                  <a:srgbClr val="21242A"/>
                </a:solidFill>
                <a:latin typeface="Microsoft YaHei"/>
              </a:defRPr>
            </a:pPr>
            <a:r>
              <a:t>eneral population.</a:t>
            </a:r>
          </a:p>
          <a:p>
            <a:pPr>
              <a:lnSpc>
                <a:spcPct val="103000"/>
              </a:lnSpc>
              <a:spcAft>
                <a:spcPts val="300"/>
              </a:spcAft>
              <a:defRPr sz="580">
                <a:solidFill>
                  <a:srgbClr val="21242A"/>
                </a:solidFill>
                <a:latin typeface="Microsoft YaHei"/>
              </a:defRPr>
            </a:pPr>
            <a:r>
              <a:t>Competing risk analysis revealed that NLM was a prominent contributor to late mortality events, whereas the cumulative incidence of LSM remained low and co</a:t>
            </a:r>
          </a:p>
          <a:p>
            <a:pPr>
              <a:lnSpc>
                <a:spcPct val="103000"/>
              </a:lnSpc>
              <a:spcAft>
                <a:spcPts val="300"/>
              </a:spcAft>
              <a:defRPr sz="580">
                <a:solidFill>
                  <a:srgbClr val="21242A"/>
                </a:solidFill>
                <a:latin typeface="Microsoft YaHei"/>
              </a:defRPr>
            </a:pPr>
            <a:r>
              <a:t>mparable between the CT-alone and CT+RT groups (2.3% vs 1.6%, p = 0.53).</a:t>
            </a:r>
          </a:p>
          <a:p>
            <a:pPr>
              <a:lnSpc>
                <a:spcPct val="103000"/>
              </a:lnSpc>
              <a:spcAft>
                <a:spcPts val="300"/>
              </a:spcAft>
              <a:defRPr sz="580">
                <a:solidFill>
                  <a:srgbClr val="21242A"/>
                </a:solidFill>
                <a:latin typeface="Microsoft YaHei"/>
              </a:defRPr>
            </a:pPr>
            <a:r>
              <a:t>Conclusion: For limited-stage PG-DLBCL achieving CR after first-line chemotherapy, consolidative RT provides limited survival benefit due to exceptional lo</a:t>
            </a:r>
          </a:p>
          <a:p>
            <a:pPr>
              <a:lnSpc>
                <a:spcPct val="103000"/>
              </a:lnSpc>
              <a:spcAft>
                <a:spcPts val="300"/>
              </a:spcAft>
              <a:defRPr sz="580">
                <a:solidFill>
                  <a:srgbClr val="21242A"/>
                </a:solidFill>
                <a:latin typeface="Microsoft YaHei"/>
              </a:defRPr>
            </a:pPr>
            <a:r>
              <a:t>cal control and survival normalization.</a:t>
            </a:r>
          </a:p>
          <a:p>
            <a:pPr>
              <a:lnSpc>
                <a:spcPct val="103000"/>
              </a:lnSpc>
              <a:spcAft>
                <a:spcPts val="300"/>
              </a:spcAft>
              <a:defRPr sz="580">
                <a:solidFill>
                  <a:srgbClr val="21242A"/>
                </a:solidFill>
                <a:latin typeface="Microsoft YaHei"/>
              </a:defRPr>
            </a:pPr>
            <a:r>
              <a:t>Competing risk analysis identifies NLM as the primary late mortality driver.</a:t>
            </a:r>
          </a:p>
          <a:p>
            <a:pPr>
              <a:lnSpc>
                <a:spcPct val="103000"/>
              </a:lnSpc>
              <a:spcAft>
                <a:spcPts val="300"/>
              </a:spcAft>
              <a:defRPr sz="580">
                <a:solidFill>
                  <a:srgbClr val="21242A"/>
                </a:solidFill>
                <a:latin typeface="Microsoft YaHei"/>
              </a:defRPr>
            </a:pPr>
            <a:r>
              <a:t>While RT may not be mandatory for all, it may serve as a strategic enabler for chemotherapy de-escalation.</a:t>
            </a:r>
          </a:p>
          <a:p>
            <a:pPr>
              <a:lnSpc>
                <a:spcPct val="103000"/>
              </a:lnSpc>
              <a:spcAft>
                <a:spcPts val="300"/>
              </a:spcAft>
              <a:defRPr sz="580">
                <a:solidFill>
                  <a:srgbClr val="21242A"/>
                </a:solidFill>
                <a:latin typeface="Microsoft YaHei"/>
              </a:defRPr>
            </a:pPr>
            <a:r>
              <a:t>The next step is to further investigate whether RT can serve as a key enabler for chemotherapy de-escalation.</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摘要号：PF1021</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在弥漫性大b细胞淋巴瘤患者的标准一线免疫化疗中添加大剂量甲氨蝶呤与急性但非慢性肾脏疾病有关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addition of high-dose methotrexate to standard first-line immunochemotherapy...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N=1537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分组：试验组1：HD-MTX组：大剂量甲氨蝶呤，R-CHOP（免疫化疗）</a:t>
            </a:r>
          </a:p>
          <a:p>
            <a:pPr>
              <a:lnSpc>
                <a:spcPct val="103000"/>
              </a:lnSpc>
              <a:spcAft>
                <a:spcPts val="300"/>
              </a:spcAft>
              <a:defRPr sz="800">
                <a:solidFill>
                  <a:srgbClr val="21242A"/>
                </a:solidFill>
                <a:latin typeface="Microsoft YaHei"/>
              </a:defRPr>
            </a:pPr>
            <a:r>
              <a:t>试验组2：无HD-MTX组：R-CHOP（免疫化疗）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多组/多方案比较：试验组1：HD-MTX组：大剂量甲氨蝶呤，R-CHOP（免疫化疗）</a:t>
            </a:r>
          </a:p>
          <a:p>
            <a:pPr>
              <a:lnSpc>
                <a:spcPct val="103000"/>
              </a:lnSpc>
              <a:spcAft>
                <a:spcPts val="300"/>
              </a:spcAft>
              <a:defRPr sz="800">
                <a:solidFill>
                  <a:srgbClr val="21242A"/>
                </a:solidFill>
                <a:latin typeface="Microsoft YaHei"/>
              </a:defRPr>
            </a:pPr>
            <a:r>
              <a:t>试验组2：无HD-MTX组：R-CHOP（免疫化疗）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IPTW调整后5年CKD（stage≥G3a）累积发病率：HD-MTX组5.3%（95%CI:3.2-7.5） vs 无HD-...</a:t>
            </a:r>
          </a:p>
          <a:p>
            <a:pPr>
              <a:lnSpc>
                <a:spcPct val="103000"/>
              </a:lnSpc>
              <a:spcAft>
                <a:spcPts val="300"/>
              </a:spcAft>
              <a:defRPr sz="800">
                <a:solidFill>
                  <a:srgbClr val="21242A"/>
                </a:solidFill>
                <a:latin typeface="Microsoft YaHei"/>
              </a:defRPr>
            </a:pPr>
            <a:r>
              <a:t>5年CKD stage G5累积发病率无显著差异</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人数：1537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分组/治疗流程：试验组1：HD-MTX组：大剂量甲氨蝶呤、R-CHOP（免疫化疗）、试验组2：无HD-MTX组：R-CHOP（免疫化疗）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在弥漫性大b细胞淋巴瘤患者的标准一线免疫化疗中添加大剂量甲氨蝶呤与急性但非慢性肾脏疾病有关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addition of high-dose methotrexate to standard first-line immunochemotherapy...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High-dose methotrexate (HD-MTX) remains widely used as CNS prophylaxis in diffuse large B-cell lymphoma (DLBCL), despite a lack of confirmatory rand</a:t>
            </a:r>
          </a:p>
          <a:p>
            <a:pPr>
              <a:lnSpc>
                <a:spcPct val="103000"/>
              </a:lnSpc>
              <a:spcAft>
                <a:spcPts val="300"/>
              </a:spcAft>
              <a:defRPr sz="570">
                <a:solidFill>
                  <a:srgbClr val="21242A"/>
                </a:solidFill>
                <a:latin typeface="Microsoft YaHei"/>
              </a:defRPr>
            </a:pPr>
            <a:r>
              <a:t>omized clinical trials.</a:t>
            </a:r>
          </a:p>
          <a:p>
            <a:pPr>
              <a:lnSpc>
                <a:spcPct val="103000"/>
              </a:lnSpc>
              <a:spcAft>
                <a:spcPts val="300"/>
              </a:spcAft>
              <a:defRPr sz="570">
                <a:solidFill>
                  <a:srgbClr val="21242A"/>
                </a:solidFill>
                <a:latin typeface="Microsoft YaHei"/>
              </a:defRPr>
            </a:pPr>
            <a:r>
              <a:t>Nephrotoxicity, an important HD-MTX-related adverse event, can delay the delivery of curative immunochemotherapy but its occurrence has not been extensively stu</a:t>
            </a:r>
          </a:p>
          <a:p>
            <a:pPr>
              <a:lnSpc>
                <a:spcPct val="103000"/>
              </a:lnSpc>
              <a:spcAft>
                <a:spcPts val="300"/>
              </a:spcAft>
              <a:defRPr sz="570">
                <a:solidFill>
                  <a:srgbClr val="21242A"/>
                </a:solidFill>
                <a:latin typeface="Microsoft YaHei"/>
              </a:defRPr>
            </a:pPr>
            <a:r>
              <a:t>died in this setting.</a:t>
            </a:r>
          </a:p>
          <a:p>
            <a:pPr>
              <a:lnSpc>
                <a:spcPct val="103000"/>
              </a:lnSpc>
              <a:spcAft>
                <a:spcPts val="300"/>
              </a:spcAft>
              <a:defRPr sz="570">
                <a:solidFill>
                  <a:srgbClr val="21242A"/>
                </a:solidFill>
                <a:latin typeface="Microsoft YaHei"/>
              </a:defRPr>
            </a:pPr>
            <a:r>
              <a:t>Aims: To explore the association between HD-MTX in first-line treatment of DLBCL and nephrotoxicity.</a:t>
            </a:r>
          </a:p>
          <a:p>
            <a:pPr>
              <a:lnSpc>
                <a:spcPct val="103000"/>
              </a:lnSpc>
              <a:spcAft>
                <a:spcPts val="300"/>
              </a:spcAft>
              <a:defRPr sz="570">
                <a:solidFill>
                  <a:srgbClr val="21242A"/>
                </a:solidFill>
                <a:latin typeface="Microsoft YaHei"/>
              </a:defRPr>
            </a:pPr>
            <a:r>
              <a:t>Methods: Adults aged 18-79 years with first diagnosis of DLBCL between 01/07-2015 and 31/12-2023 were identified from the Danish Lymphoma Registry.</a:t>
            </a:r>
          </a:p>
          <a:p>
            <a:pPr>
              <a:lnSpc>
                <a:spcPct val="103000"/>
              </a:lnSpc>
              <a:spcAft>
                <a:spcPts val="300"/>
              </a:spcAft>
              <a:defRPr sz="570">
                <a:solidFill>
                  <a:srgbClr val="21242A"/>
                </a:solidFill>
                <a:latin typeface="Microsoft YaHei"/>
              </a:defRPr>
            </a:pPr>
            <a:r>
              <a:t>Patients without CNS involvement and with no prior history of kidney disease, according to national laboratory registries and/or diagnosis registries, were incl</a:t>
            </a:r>
          </a:p>
          <a:p>
            <a:pPr>
              <a:lnSpc>
                <a:spcPct val="103000"/>
              </a:lnSpc>
              <a:spcAft>
                <a:spcPts val="300"/>
              </a:spcAft>
              <a:defRPr sz="570">
                <a:solidFill>
                  <a:srgbClr val="21242A"/>
                </a:solidFill>
                <a:latin typeface="Microsoft YaHei"/>
              </a:defRPr>
            </a:pPr>
            <a:r>
              <a:t>uded if they were treated with R-CHOP(-like) immunochemotherapy.</a:t>
            </a:r>
          </a:p>
          <a:p>
            <a:pPr>
              <a:lnSpc>
                <a:spcPct val="103000"/>
              </a:lnSpc>
              <a:spcAft>
                <a:spcPts val="300"/>
              </a:spcAft>
              <a:defRPr sz="570">
                <a:solidFill>
                  <a:srgbClr val="21242A"/>
                </a:solidFill>
                <a:latin typeface="Microsoft YaHei"/>
              </a:defRPr>
            </a:pPr>
            <a:r>
              <a:t>\n Eligible patients were grouped by use of HD-MTX in first line (HD-MTX group vs no-HD-MTX group).</a:t>
            </a:r>
          </a:p>
          <a:p>
            <a:pPr>
              <a:lnSpc>
                <a:spcPct val="103000"/>
              </a:lnSpc>
              <a:spcAft>
                <a:spcPts val="300"/>
              </a:spcAft>
              <a:defRPr sz="570">
                <a:solidFill>
                  <a:srgbClr val="21242A"/>
                </a:solidFill>
                <a:latin typeface="Microsoft YaHei"/>
              </a:defRPr>
            </a:pPr>
            <a:r>
              <a:t>The primary endpoint was the 5-year cumulative incidence of stage ≥G3a chronic kidney disease (CKD).</a:t>
            </a:r>
          </a:p>
          <a:p>
            <a:pPr>
              <a:lnSpc>
                <a:spcPct val="103000"/>
              </a:lnSpc>
              <a:spcAft>
                <a:spcPts val="300"/>
              </a:spcAft>
              <a:defRPr sz="570">
                <a:solidFill>
                  <a:srgbClr val="21242A"/>
                </a:solidFill>
                <a:latin typeface="Microsoft YaHei"/>
              </a:defRPr>
            </a:pPr>
            <a:r>
              <a:t>Secondary endpoints were 5-year cumulative incidence of stage G5 CKD and 1-year cumulative incidences of any-stage acute kidney injury (AKI) and stage ≥2 AKI.</a:t>
            </a:r>
          </a:p>
          <a:p>
            <a:pPr>
              <a:lnSpc>
                <a:spcPct val="103000"/>
              </a:lnSpc>
              <a:spcAft>
                <a:spcPts val="300"/>
              </a:spcAft>
              <a:defRPr sz="570">
                <a:solidFill>
                  <a:srgbClr val="21242A"/>
                </a:solidFill>
                <a:latin typeface="Microsoft YaHei"/>
              </a:defRPr>
            </a:pPr>
            <a:r>
              <a:t>CKD (stage ≥G3a) was defined as renal replacement therapy or two measurements of eGFR \n Death and re-treatment/relapse were treated as competing risks.</a:t>
            </a:r>
          </a:p>
          <a:p>
            <a:pPr>
              <a:lnSpc>
                <a:spcPct val="103000"/>
              </a:lnSpc>
              <a:spcAft>
                <a:spcPts val="300"/>
              </a:spcAft>
              <a:defRPr sz="570">
                <a:solidFill>
                  <a:srgbClr val="21242A"/>
                </a:solidFill>
                <a:latin typeface="Microsoft YaHei"/>
              </a:defRPr>
            </a:pPr>
            <a:r>
              <a:t>Inverse probability of treatment weighting (IPTW) was used to adjust for differences in age, sex, hypertension, diabetes, bulk, Ann Arbor stage, number of extra</a:t>
            </a:r>
          </a:p>
          <a:p>
            <a:pPr>
              <a:lnSpc>
                <a:spcPct val="103000"/>
              </a:lnSpc>
              <a:spcAft>
                <a:spcPts val="300"/>
              </a:spcAft>
              <a:defRPr sz="570">
                <a:solidFill>
                  <a:srgbClr val="21242A"/>
                </a:solidFill>
                <a:latin typeface="Microsoft YaHei"/>
              </a:defRPr>
            </a:pPr>
            <a:r>
              <a:t>nodal sites, LDH, kidney involvement, B-symptoms, and Charlson Comorbidity Index.</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use of HD-MTX as CNS prophylaxis was not associated with CKD in patients with DLBCL.</a:t>
            </a:r>
          </a:p>
          <a:p>
            <a:pPr>
              <a:lnSpc>
                <a:spcPct val="103000"/>
              </a:lnSpc>
              <a:spcAft>
                <a:spcPts val="300"/>
              </a:spcAft>
              <a:defRPr sz="590">
                <a:solidFill>
                  <a:srgbClr val="21242A"/>
                </a:solidFill>
                <a:latin typeface="Microsoft YaHei"/>
              </a:defRPr>
            </a:pPr>
            <a:r>
              <a:t>However, HD-MTX did lead to a substantially higher cumulative incidence of AKI, which could lead to untoward delays in immunochemotherapy or dose reductions.</a:t>
            </a:r>
          </a:p>
          <a:p>
            <a:pPr>
              <a:lnSpc>
                <a:spcPct val="103000"/>
              </a:lnSpc>
              <a:spcAft>
                <a:spcPts val="300"/>
              </a:spcAft>
              <a:defRPr sz="590">
                <a:solidFill>
                  <a:srgbClr val="21242A"/>
                </a:solidFill>
                <a:latin typeface="Microsoft YaHei"/>
              </a:defRPr>
            </a:pPr>
            <a:r>
              <a:t>Without firmly documented efficacy of early intercalated HD-MTX, its use should be deferred till after completion of standard immunochemotherapy.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IPTW调整后5年CKD（stage≥G3a）累积发病率</a:t>
                      </a:r>
                    </a:p>
                  </a:txBody>
                  <a:tcPr>
                    <a:solidFill>
                      <a:srgbClr val="F6F8FB"/>
                    </a:solidFill>
                  </a:tcPr>
                </a:tc>
                <a:tc>
                  <a:txBody>
                    <a:bodyPr wrap="square" lIns="36576" rIns="36576" tIns="18288" bIns="18288"/>
                    <a:lstStyle/>
                    <a:p>
                      <a:r>
                        <a:rPr sz="540" b="0">
                          <a:solidFill>
                            <a:srgbClr val="21242A"/>
                          </a:solidFill>
                          <a:latin typeface="Microsoft YaHei"/>
                        </a:rPr>
                        <a:t>HD-MTX组5.3%（95%CI:3.2-7.5） vs 无HD-MTX组6.5%（95%CI:5.0-8.2），RR=0.81（95%CI:0.5-1.3）</a:t>
                      </a:r>
                    </a:p>
                  </a:txBody>
                  <a:tcPr>
                    <a:solidFill>
                      <a:srgbClr val="F6F8FB"/>
                    </a:solidFill>
                  </a:tcPr>
                </a:tc>
              </a:tr>
              <a:tr h="299923">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5年CKD stage G5累积发病率无显著差异</a:t>
                      </a:r>
                    </a:p>
                  </a:txBody>
                  <a:tcPr>
                    <a:solidFill>
                      <a:srgbClr val="FFFFFF"/>
                    </a:solidFill>
                  </a:tcPr>
                </a:tc>
              </a:tr>
              <a:tr h="299923">
                <a:tc>
                  <a:txBody>
                    <a:bodyPr wrap="square" lIns="36576" rIns="36576" tIns="18288" bIns="18288"/>
                    <a:lstStyle/>
                    <a:p>
                      <a:r>
                        <a:rPr sz="540" b="1">
                          <a:solidFill>
                            <a:srgbClr val="21242A"/>
                          </a:solidFill>
                          <a:latin typeface="Microsoft YaHei"/>
                        </a:rPr>
                        <a:t>1年任何阶段AKI累积发病率</a:t>
                      </a:r>
                    </a:p>
                  </a:txBody>
                  <a:tcPr>
                    <a:solidFill>
                      <a:srgbClr val="F6F8FB"/>
                    </a:solidFill>
                  </a:tcPr>
                </a:tc>
                <a:tc>
                  <a:txBody>
                    <a:bodyPr wrap="square" lIns="36576" rIns="36576" tIns="18288" bIns="18288"/>
                    <a:lstStyle/>
                    <a:p>
                      <a:r>
                        <a:rPr sz="540" b="0">
                          <a:solidFill>
                            <a:srgbClr val="21242A"/>
                          </a:solidFill>
                          <a:latin typeface="Microsoft YaHei"/>
                        </a:rPr>
                        <a:t>HD-MTX组显著高于无HD-MTX组（具体数值未完全给出）</a:t>
                      </a:r>
                    </a:p>
                  </a:txBody>
                  <a:tcPr>
                    <a:solidFill>
                      <a:srgbClr val="F6F8FB"/>
                    </a:solidFill>
                  </a:tcPr>
                </a:tc>
              </a:tr>
              <a:tr h="299924">
                <a:tc>
                  <a:txBody>
                    <a:bodyPr wrap="square" lIns="36576" rIns="36576" tIns="18288" bIns="18288"/>
                    <a:lstStyle/>
                    <a:p>
                      <a:r>
                        <a:rPr sz="540" b="1">
                          <a:solidFill>
                            <a:srgbClr val="21242A"/>
                          </a:solidFill>
                          <a:latin typeface="Microsoft YaHei"/>
                        </a:rPr>
                        <a:t>5年OS</a:t>
                      </a:r>
                    </a:p>
                  </a:txBody>
                  <a:tcPr>
                    <a:solidFill>
                      <a:srgbClr val="FFFFFF"/>
                    </a:solidFill>
                  </a:tcPr>
                </a:tc>
                <a:tc>
                  <a:txBody>
                    <a:bodyPr wrap="square" lIns="36576" rIns="36576" tIns="18288" bIns="18288"/>
                    <a:lstStyle/>
                    <a:p>
                      <a:r>
                        <a:rPr sz="540" b="0">
                          <a:solidFill>
                            <a:srgbClr val="21242A"/>
                          </a:solidFill>
                          <a:latin typeface="Microsoft YaHei"/>
                        </a:rPr>
                        <a:t>HD-MTX组91%（95%CI:88-94） vs 无HD-MTX组93%（95%CI:91-94）</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摘要号：PF1008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治疗机会消除了种族差异，但无法克服结构性贫困：可治愈淋巴瘤生存公平性的全国分析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treatment access eliminates racial disparities but cannot overcome structural...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N=91246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分组：试验组1：R-CHOP（利妥昔单抗，环磷酰胺，多柔比星，长春新碱，泼尼松）</a:t>
            </a:r>
          </a:p>
          <a:p>
            <a:pPr>
              <a:lnSpc>
                <a:spcPct val="103000"/>
              </a:lnSpc>
              <a:spcAft>
                <a:spcPts val="300"/>
              </a:spcAft>
              <a:defRPr sz="800">
                <a:solidFill>
                  <a:srgbClr val="21242A"/>
                </a:solidFill>
                <a:latin typeface="Microsoft YaHei"/>
              </a:defRPr>
            </a:pPr>
            <a:r>
              <a:t>对照组：未接受R-CHOP（其他治疗）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对照/比较：试验组1：R-CHOP（利妥昔单抗，环磷酰胺，多柔比星，长春新碱，泼尼松）||对照组：未接受R-CHOP（其他治疗）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接受R-CHOP的患者与未接受者相比，生存期减少4.5个月，每1000人生命年损失373年</a:t>
            </a:r>
          </a:p>
          <a:p>
            <a:pPr>
              <a:lnSpc>
                <a:spcPct val="103000"/>
              </a:lnSpc>
              <a:spcAft>
                <a:spcPts val="300"/>
              </a:spcAft>
              <a:defRPr sz="800">
                <a:solidFill>
                  <a:srgbClr val="21242A"/>
                </a:solidFill>
                <a:latin typeface="Microsoft YaHei"/>
              </a:defRPr>
            </a:pPr>
            <a:r>
              <a:t>未保险患者比私人保险患者损失3.6个月（303 LYL/1000），Medicaid患者损失3.7个月（307 LYL/100...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人数：91246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分组/治疗流程：试验组1：R-CHOP（利妥昔单抗、环磷酰胺、多柔比星</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治疗机会消除了种族差异，但无法克服结构性贫困：可治愈淋巴瘤生存公平性的全国分析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treatment access eliminates racial disparities but cannot overcome structural...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 cell lymphoma is one of the few aggressive cancers we can cure, yet who receives that chance depends heavily on zip code, insurance </a:t>
            </a:r>
          </a:p>
          <a:p>
            <a:pPr>
              <a:lnSpc>
                <a:spcPct val="103000"/>
              </a:lnSpc>
              <a:spcAft>
                <a:spcPts val="300"/>
              </a:spcAft>
              <a:defRPr sz="570">
                <a:solidFill>
                  <a:srgbClr val="21242A"/>
                </a:solidFill>
                <a:latin typeface="Microsoft YaHei"/>
              </a:defRPr>
            </a:pPr>
            <a:r>
              <a:t>status, and where a patient seeks care.</a:t>
            </a:r>
          </a:p>
          <a:p>
            <a:pPr>
              <a:lnSpc>
                <a:spcPct val="103000"/>
              </a:lnSpc>
              <a:spcAft>
                <a:spcPts val="300"/>
              </a:spcAft>
              <a:defRPr sz="570">
                <a:solidFill>
                  <a:srgbClr val="21242A"/>
                </a:solidFill>
                <a:latin typeface="Microsoft YaHei"/>
              </a:defRPr>
            </a:pPr>
            <a:r>
              <a:t>Guideline discordance and socioeconomic disadvantage are known to worsen survival in DLBCL, yet prior studies rely on relative risk estimates and do not separat</a:t>
            </a:r>
          </a:p>
          <a:p>
            <a:pPr>
              <a:lnSpc>
                <a:spcPct val="103000"/>
              </a:lnSpc>
              <a:spcAft>
                <a:spcPts val="300"/>
              </a:spcAft>
              <a:defRPr sz="570">
                <a:solidFill>
                  <a:srgbClr val="21242A"/>
                </a:solidFill>
                <a:latin typeface="Microsoft YaHei"/>
              </a:defRPr>
            </a:pPr>
            <a:r>
              <a:t>e treatment-attributable from structural contributions to survival inequity.</a:t>
            </a:r>
          </a:p>
          <a:p>
            <a:pPr>
              <a:lnSpc>
                <a:spcPct val="103000"/>
              </a:lnSpc>
              <a:spcAft>
                <a:spcPts val="300"/>
              </a:spcAft>
              <a:defRPr sz="570">
                <a:solidFill>
                  <a:srgbClr val="21242A"/>
                </a:solidFill>
                <a:latin typeface="Microsoft YaHei"/>
              </a:defRPr>
            </a:pPr>
            <a:r>
              <a:t>Aims: We aimed to quantify absolute survival penalties across insurance, deprivation, geography, race, and facility type, and to decompose each penalty into its</a:t>
            </a:r>
          </a:p>
          <a:p>
            <a:pPr>
              <a:lnSpc>
                <a:spcPct val="103000"/>
              </a:lnSpc>
              <a:spcAft>
                <a:spcPts val="300"/>
              </a:spcAft>
              <a:defRPr sz="570">
                <a:solidFill>
                  <a:srgbClr val="21242A"/>
                </a:solidFill>
                <a:latin typeface="Microsoft YaHei"/>
              </a:defRPr>
            </a:pPr>
            <a:r>
              <a:t> preventable and structural components using a national cohort of 91,246 patients.</a:t>
            </a:r>
          </a:p>
          <a:p>
            <a:pPr>
              <a:lnSpc>
                <a:spcPct val="103000"/>
              </a:lnSpc>
              <a:spcAft>
                <a:spcPts val="300"/>
              </a:spcAft>
              <a:defRPr sz="570">
                <a:solidFill>
                  <a:srgbClr val="21242A"/>
                </a:solidFill>
                <a:latin typeface="Microsoft YaHei"/>
              </a:defRPr>
            </a:pPr>
            <a:r>
              <a:t>Methods: Using the National Cancer Database, we identified patients with DLBCL diagnosed between 2014 and 2020.</a:t>
            </a:r>
          </a:p>
          <a:p>
            <a:pPr>
              <a:lnSpc>
                <a:spcPct val="103000"/>
              </a:lnSpc>
              <a:spcAft>
                <a:spcPts val="300"/>
              </a:spcAft>
              <a:defRPr sz="570">
                <a:solidFill>
                  <a:srgbClr val="21242A"/>
                </a:solidFill>
                <a:latin typeface="Microsoft YaHei"/>
              </a:defRPr>
            </a:pPr>
            <a:r>
              <a:t>Guideline-concordant therapy was defined as multiagent chemotherapy plus rituximab.</a:t>
            </a:r>
          </a:p>
          <a:p>
            <a:pPr>
              <a:lnSpc>
                <a:spcPct val="103000"/>
              </a:lnSpc>
              <a:spcAft>
                <a:spcPts val="300"/>
              </a:spcAft>
              <a:defRPr sz="570">
                <a:solidFill>
                  <a:srgbClr val="21242A"/>
                </a:solidFill>
                <a:latin typeface="Microsoft YaHei"/>
              </a:defRPr>
            </a:pPr>
            <a:r>
              <a:t>Inverse probability of treatment weighting balanced all 40 covariates before analysis.</a:t>
            </a:r>
          </a:p>
          <a:p>
            <a:pPr>
              <a:lnSpc>
                <a:spcPct val="103000"/>
              </a:lnSpc>
              <a:spcAft>
                <a:spcPts val="300"/>
              </a:spcAft>
              <a:defRPr sz="570">
                <a:solidFill>
                  <a:srgbClr val="21242A"/>
                </a:solidFill>
                <a:latin typeface="Microsoft YaHei"/>
              </a:defRPr>
            </a:pPr>
            <a:r>
              <a:t>Survival penalties were quantified as restricted mean survival time differences at 36 months, expressed as life years lost per 1,000 patients.</a:t>
            </a:r>
          </a:p>
          <a:p>
            <a:pPr>
              <a:lnSpc>
                <a:spcPct val="103000"/>
              </a:lnSpc>
              <a:spcAft>
                <a:spcPts val="300"/>
              </a:spcAft>
              <a:defRPr sz="570">
                <a:solidFill>
                  <a:srgbClr val="21242A"/>
                </a:solidFill>
                <a:latin typeface="Microsoft YaHei"/>
              </a:defRPr>
            </a:pPr>
            <a:r>
              <a:t>Socioeconomic deprivation was quantified using a composite score derived from five NCDB provided variables: zip code level income quartile, educational attainme</a:t>
            </a:r>
          </a:p>
          <a:p>
            <a:pPr>
              <a:lnSpc>
                <a:spcPct val="103000"/>
              </a:lnSpc>
              <a:spcAft>
                <a:spcPts val="300"/>
              </a:spcAft>
              <a:defRPr sz="570">
                <a:solidFill>
                  <a:srgbClr val="21242A"/>
                </a:solidFill>
                <a:latin typeface="Microsoft YaHei"/>
              </a:defRPr>
            </a:pPr>
            <a:r>
              <a:t>nt quartile, insurance status, urban-rural classification, and distance to the treating facility.</a:t>
            </a:r>
          </a:p>
          <a:p>
            <a:pPr>
              <a:lnSpc>
                <a:spcPct val="103000"/>
              </a:lnSpc>
              <a:spcAft>
                <a:spcPts val="300"/>
              </a:spcAft>
              <a:defRPr sz="570">
                <a:solidFill>
                  <a:srgbClr val="21242A"/>
                </a:solidFill>
                <a:latin typeface="Microsoft YaHei"/>
              </a:defRPr>
            </a:pPr>
            <a:r>
              <a:t>Each variable was dichotomized and summed to generate a score ranging from 0 to 5, then categorized as none (0), low (1), Moderate (2), High (3-5).</a:t>
            </a:r>
          </a:p>
          <a:p>
            <a:pPr>
              <a:lnSpc>
                <a:spcPct val="103000"/>
              </a:lnSpc>
              <a:spcAft>
                <a:spcPts val="300"/>
              </a:spcAft>
              <a:defRPr sz="570">
                <a:solidFill>
                  <a:srgbClr val="21242A"/>
                </a:solidFill>
                <a:latin typeface="Microsoft YaHei"/>
              </a:defRPr>
            </a:pPr>
            <a:r>
              <a:t>Analyses were repeated within the 55,618 R-CHOP recipients to separate preventable from structural penalties.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Racial survival disparities in DLBCL are entirely preventable through equitable R-CHOP delivery. Socioeconomic penalties are harder to close.</a:t>
            </a:r>
          </a:p>
          <a:p>
            <a:pPr>
              <a:lnSpc>
                <a:spcPct val="103000"/>
              </a:lnSpc>
              <a:spcAft>
                <a:spcPts val="300"/>
              </a:spcAft>
              <a:defRPr sz="590">
                <a:solidFill>
                  <a:srgbClr val="21242A"/>
                </a:solidFill>
                <a:latin typeface="Microsoft YaHei"/>
              </a:defRPr>
            </a:pPr>
            <a:r>
              <a:t>Poverty follows patients through the clinic door, and the majority of the survival gap driven by insurance inadequacy and deprivation persists regardless of tre</a:t>
            </a:r>
          </a:p>
          <a:p>
            <a:pPr>
              <a:lnSpc>
                <a:spcPct val="103000"/>
              </a:lnSpc>
              <a:spcAft>
                <a:spcPts val="300"/>
              </a:spcAft>
              <a:defRPr sz="590">
                <a:solidFill>
                  <a:srgbClr val="21242A"/>
                </a:solidFill>
                <a:latin typeface="Microsoft YaHei"/>
              </a:defRPr>
            </a:pPr>
            <a:r>
              <a:t>atment received.</a:t>
            </a:r>
          </a:p>
          <a:p>
            <a:pPr>
              <a:lnSpc>
                <a:spcPct val="103000"/>
              </a:lnSpc>
              <a:spcAft>
                <a:spcPts val="300"/>
              </a:spcAft>
              <a:defRPr sz="590">
                <a:solidFill>
                  <a:srgbClr val="21242A"/>
                </a:solidFill>
                <a:latin typeface="Microsoft YaHei"/>
              </a:defRPr>
            </a:pPr>
            <a:r>
              <a:t>Eliminating survival inequity in curable lymphoma demands both equitable care delivery and the structural interventions that extend well beyond it.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接受R-CHOP的患者与未接受者相比，生存期减少4.5个月，每1000人生命年损失373年；未保险患者比私人保险患者损失3.6个月（303 LYL/1000），Medicaid患者损失3.7个月（307 LYL/1000）；高剥夺患者比无剥夺患者损失7.2个月（532 LYL/1000）；种族生存差异可通过平</a:t>
            </a:r>
          </a:p>
          <a:p>
            <a:pPr>
              <a:lnSpc>
                <a:spcPct val="103000"/>
              </a:lnSpc>
              <a:spcAft>
                <a:spcPts val="300"/>
              </a:spcAft>
              <a:defRPr sz="580">
                <a:solidFill>
                  <a:srgbClr val="21242A"/>
                </a:solidFill>
                <a:latin typeface="Microsoft YaHei"/>
              </a:defRPr>
            </a:pPr>
            <a:r>
              <a:t>等R-CHOP交付完全消除。</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摘要号：PF1006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dlbcl一线治疗后pet-ct评估deauville 5分量表的预后价值：一项回顾性研究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prognostic value of deauville 5-point scale assessed on pet-ct following firs...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回顾性临床研究结果：prognostic value of deauville 5-point scale assessed...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2年总生存率：DS1-3组为91.1%</a:t>
            </a:r>
          </a:p>
          <a:p>
            <a:pPr>
              <a:lnSpc>
                <a:spcPct val="103000"/>
              </a:lnSpc>
              <a:spcAft>
                <a:spcPts val="300"/>
              </a:spcAft>
              <a:defRPr sz="800">
                <a:solidFill>
                  <a:srgbClr val="21242A"/>
                </a:solidFill>
                <a:latin typeface="Microsoft YaHei"/>
              </a:defRPr>
            </a:pPr>
            <a:r>
              <a:t>DS4组为83.7%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人数：504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研究主题：prognostic value of deauville 5-point scale assessed on pet-ct following first-line treatment in dlbcl: a retrospective...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dlbcl一线治疗后pet-ct评估deauville 5分量表的预后价值：一项回顾性研究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prognostic value of deauville 5-point scale assessed on pet-ct following firs...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treated with immune-chemotherapy with curative intent.</a:t>
            </a:r>
          </a:p>
          <a:p>
            <a:pPr>
              <a:lnSpc>
                <a:spcPct val="103000"/>
              </a:lnSpc>
              <a:spcAft>
                <a:spcPts val="300"/>
              </a:spcAft>
              <a:defRPr sz="570">
                <a:solidFill>
                  <a:srgbClr val="21242A"/>
                </a:solidFill>
                <a:latin typeface="Microsoft YaHei"/>
              </a:defRPr>
            </a:pPr>
            <a:r>
              <a:t>Fluorodeoxyglucose positron emission tomography combined with computed tomography (FDG-PET-CT) is the preferred modality to assess treatment response using the </a:t>
            </a:r>
          </a:p>
          <a:p>
            <a:pPr>
              <a:lnSpc>
                <a:spcPct val="103000"/>
              </a:lnSpc>
              <a:spcAft>
                <a:spcPts val="300"/>
              </a:spcAft>
              <a:defRPr sz="570">
                <a:solidFill>
                  <a:srgbClr val="21242A"/>
                </a:solidFill>
                <a:latin typeface="Microsoft YaHei"/>
              </a:defRPr>
            </a:pPr>
            <a:r>
              <a:t>Deauville five-point scale (DS).</a:t>
            </a:r>
          </a:p>
          <a:p>
            <a:pPr>
              <a:lnSpc>
                <a:spcPct val="103000"/>
              </a:lnSpc>
              <a:spcAft>
                <a:spcPts val="300"/>
              </a:spcAft>
              <a:defRPr sz="570">
                <a:solidFill>
                  <a:srgbClr val="21242A"/>
                </a:solidFill>
                <a:latin typeface="Microsoft YaHei"/>
              </a:defRPr>
            </a:pPr>
            <a:r>
              <a:t>It has a high negative predictive value after first-line treatment.</a:t>
            </a:r>
          </a:p>
          <a:p>
            <a:pPr>
              <a:lnSpc>
                <a:spcPct val="103000"/>
              </a:lnSpc>
              <a:spcAft>
                <a:spcPts val="300"/>
              </a:spcAft>
              <a:defRPr sz="570">
                <a:solidFill>
                  <a:srgbClr val="21242A"/>
                </a:solidFill>
                <a:latin typeface="Microsoft YaHei"/>
              </a:defRPr>
            </a:pPr>
            <a:r>
              <a:t>DS score from 1 to 3 are widely considered as PET-negative, and scores of 4 and 5 as PET-positive indicating residual disease, however, false-positive results a</a:t>
            </a:r>
          </a:p>
          <a:p>
            <a:pPr>
              <a:lnSpc>
                <a:spcPct val="103000"/>
              </a:lnSpc>
              <a:spcAft>
                <a:spcPts val="300"/>
              </a:spcAft>
              <a:defRPr sz="570">
                <a:solidFill>
                  <a:srgbClr val="21242A"/>
                </a:solidFill>
                <a:latin typeface="Microsoft YaHei"/>
              </a:defRPr>
            </a:pPr>
            <a:r>
              <a:t>re relatively common.</a:t>
            </a:r>
          </a:p>
          <a:p>
            <a:pPr>
              <a:lnSpc>
                <a:spcPct val="103000"/>
              </a:lnSpc>
              <a:spcAft>
                <a:spcPts val="300"/>
              </a:spcAft>
              <a:defRPr sz="570">
                <a:solidFill>
                  <a:srgbClr val="21242A"/>
                </a:solidFill>
                <a:latin typeface="Microsoft YaHei"/>
              </a:defRPr>
            </a:pPr>
            <a:r>
              <a:t>Aims: To assess the prognostic value of DS after first-line treatment in real-world DLBCL patients.</a:t>
            </a:r>
          </a:p>
          <a:p>
            <a:pPr>
              <a:lnSpc>
                <a:spcPct val="103000"/>
              </a:lnSpc>
              <a:spcAft>
                <a:spcPts val="300"/>
              </a:spcAft>
              <a:defRPr sz="570">
                <a:solidFill>
                  <a:srgbClr val="21242A"/>
                </a:solidFill>
                <a:latin typeface="Microsoft YaHei"/>
              </a:defRPr>
            </a:pPr>
            <a:r>
              <a:t>Methods: This retrospective registry study included DLBCL patients with data collected from the medical records of three university hospitals in Finland.</a:t>
            </a:r>
          </a:p>
          <a:p>
            <a:pPr>
              <a:lnSpc>
                <a:spcPct val="103000"/>
              </a:lnSpc>
              <a:spcAft>
                <a:spcPts val="300"/>
              </a:spcAft>
              <a:defRPr sz="570">
                <a:solidFill>
                  <a:srgbClr val="21242A"/>
                </a:solidFill>
                <a:latin typeface="Microsoft YaHei"/>
              </a:defRPr>
            </a:pPr>
            <a:r>
              <a:t>Adult patients who had been diagnosed with DLBCL between years 2000 and 2020, and had PET-CT results at the end of first-line treatment, were included in the st</a:t>
            </a:r>
          </a:p>
          <a:p>
            <a:pPr>
              <a:lnSpc>
                <a:spcPct val="103000"/>
              </a:lnSpc>
              <a:spcAft>
                <a:spcPts val="300"/>
              </a:spcAft>
              <a:defRPr sz="570">
                <a:solidFill>
                  <a:srgbClr val="21242A"/>
                </a:solidFill>
                <a:latin typeface="Microsoft YaHei"/>
              </a:defRPr>
            </a:pPr>
            <a:r>
              <a:t>udy.</a:t>
            </a:r>
          </a:p>
          <a:p>
            <a:pPr>
              <a:lnSpc>
                <a:spcPct val="103000"/>
              </a:lnSpc>
              <a:spcAft>
                <a:spcPts val="300"/>
              </a:spcAft>
              <a:defRPr sz="570">
                <a:solidFill>
                  <a:srgbClr val="21242A"/>
                </a:solidFill>
                <a:latin typeface="Microsoft YaHei"/>
              </a:defRPr>
            </a:pPr>
            <a:r>
              <a:t>Patients were excluded if they had primary DLBCL of the central nervous system, received radiotherapy to brain, or had immunosuppressive condition, or their PET</a:t>
            </a:r>
          </a:p>
          <a:p>
            <a:pPr>
              <a:lnSpc>
                <a:spcPct val="103000"/>
              </a:lnSpc>
              <a:spcAft>
                <a:spcPts val="300"/>
              </a:spcAft>
              <a:defRPr sz="570">
                <a:solidFill>
                  <a:srgbClr val="21242A"/>
                </a:solidFill>
                <a:latin typeface="Microsoft YaHei"/>
              </a:defRPr>
            </a:pPr>
            <a:r>
              <a:t>-CT was positive, but DS could not be obtained.</a:t>
            </a:r>
          </a:p>
          <a:p>
            <a:pPr>
              <a:lnSpc>
                <a:spcPct val="103000"/>
              </a:lnSpc>
              <a:spcAft>
                <a:spcPts val="300"/>
              </a:spcAft>
              <a:defRPr sz="570">
                <a:solidFill>
                  <a:srgbClr val="21242A"/>
                </a:solidFill>
                <a:latin typeface="Microsoft YaHei"/>
              </a:defRPr>
            </a:pPr>
            <a:r>
              <a:t>The survival endpoints were overall survival (OS), disease-specific survival (DSS) and progression-free survival (PFS), and they were calculated using the Kapla</a:t>
            </a:r>
          </a:p>
          <a:p>
            <a:pPr>
              <a:lnSpc>
                <a:spcPct val="103000"/>
              </a:lnSpc>
              <a:spcAft>
                <a:spcPts val="300"/>
              </a:spcAft>
              <a:defRPr sz="570">
                <a:solidFill>
                  <a:srgbClr val="21242A"/>
                </a:solidFill>
                <a:latin typeface="Microsoft YaHei"/>
              </a:defRPr>
            </a:pPr>
            <a:r>
              <a:t>n-Meier method, and compared using the log-rank test.</a:t>
            </a:r>
          </a:p>
          <a:p>
            <a:pPr>
              <a:lnSpc>
                <a:spcPct val="103000"/>
              </a:lnSpc>
              <a:spcAft>
                <a:spcPts val="300"/>
              </a:spcAft>
              <a:defRPr sz="570">
                <a:solidFill>
                  <a:srgbClr val="21242A"/>
                </a:solidFill>
                <a:latin typeface="Microsoft YaHei"/>
              </a:defRPr>
            </a:pPr>
            <a:r>
              <a:t>The Cox regression model was used for the multivariate analysis.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DLBCL patients with DS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504 patients were included. The median age at diagnosis was 64 years (range 19 – 91), with a slight male predominance (53.4%).</a:t>
            </a:r>
          </a:p>
          <a:p>
            <a:pPr>
              <a:lnSpc>
                <a:spcPct val="103000"/>
              </a:lnSpc>
              <a:spcAft>
                <a:spcPts val="300"/>
              </a:spcAft>
              <a:defRPr sz="580">
                <a:solidFill>
                  <a:srgbClr val="21242A"/>
                </a:solidFill>
                <a:latin typeface="Microsoft YaHei"/>
              </a:defRPr>
            </a:pPr>
            <a:r>
              <a:t>A majority of patients had disease stage of III or IV (74.1%), IPI score of 3 to 5 (59.4%), elevated LDH level (72.8%), and WHO performance status score of</a:t>
            </a:r>
          </a:p>
          <a:p>
            <a:pPr>
              <a:lnSpc>
                <a:spcPct val="103000"/>
              </a:lnSpc>
              <a:spcAft>
                <a:spcPts val="300"/>
              </a:spcAft>
              <a:defRPr sz="580">
                <a:solidFill>
                  <a:srgbClr val="21242A"/>
                </a:solidFill>
                <a:latin typeface="Microsoft YaHei"/>
              </a:defRPr>
            </a:pPr>
            <a:r>
              <a:t> 0 or 1 (69.3%).</a:t>
            </a:r>
          </a:p>
          <a:p>
            <a:pPr>
              <a:lnSpc>
                <a:spcPct val="103000"/>
              </a:lnSpc>
              <a:spcAft>
                <a:spcPts val="300"/>
              </a:spcAft>
              <a:defRPr sz="580">
                <a:solidFill>
                  <a:srgbClr val="21242A"/>
                </a:solidFill>
                <a:latin typeface="Microsoft YaHei"/>
              </a:defRPr>
            </a:pPr>
            <a:r>
              <a:t>More than a quarter of the patients (28.4%) had two or more sites of extranodal involvement.</a:t>
            </a:r>
          </a:p>
          <a:p>
            <a:pPr>
              <a:lnSpc>
                <a:spcPct val="103000"/>
              </a:lnSpc>
              <a:spcAft>
                <a:spcPts val="300"/>
              </a:spcAft>
              <a:defRPr sz="580">
                <a:solidFill>
                  <a:srgbClr val="21242A"/>
                </a:solidFill>
                <a:latin typeface="Microsoft YaHei"/>
              </a:defRPr>
            </a:pPr>
            <a:r>
              <a:t>After the first-line therapy, 415 (82.3%) patients had DS score \n Overall, 114 (22.6%) patients had at least one relapse, and 82 (16.3%) of the patients d</a:t>
            </a:r>
          </a:p>
          <a:p>
            <a:pPr>
              <a:lnSpc>
                <a:spcPct val="103000"/>
              </a:lnSpc>
              <a:spcAft>
                <a:spcPts val="300"/>
              </a:spcAft>
              <a:defRPr sz="580">
                <a:solidFill>
                  <a:srgbClr val="21242A"/>
                </a:solidFill>
                <a:latin typeface="Microsoft YaHei"/>
              </a:defRPr>
            </a:pPr>
            <a:r>
              <a:t>ied of DLBCL.</a:t>
            </a:r>
          </a:p>
          <a:p>
            <a:pPr>
              <a:lnSpc>
                <a:spcPct val="103000"/>
              </a:lnSpc>
              <a:spcAft>
                <a:spcPts val="300"/>
              </a:spcAft>
              <a:defRPr sz="580">
                <a:solidFill>
                  <a:srgbClr val="21242A"/>
                </a:solidFill>
                <a:latin typeface="Microsoft YaHei"/>
              </a:defRPr>
            </a:pPr>
            <a:r>
              <a:t>After a median follow-up of 71 months, the 2-year OS rate was 91.1% for the DS \n The multivariate analysis showed that DS4 and DS5 were significant risk f</a:t>
            </a:r>
          </a:p>
          <a:p>
            <a:pPr>
              <a:lnSpc>
                <a:spcPct val="103000"/>
              </a:lnSpc>
              <a:spcAft>
                <a:spcPts val="300"/>
              </a:spcAft>
              <a:defRPr sz="580">
                <a:solidFill>
                  <a:srgbClr val="21242A"/>
                </a:solidFill>
                <a:latin typeface="Microsoft YaHei"/>
              </a:defRPr>
            </a:pPr>
            <a:r>
              <a:t>actors when compared to DS \n</a:t>
            </a:r>
          </a:p>
          <a:p>
            <a:pPr>
              <a:lnSpc>
                <a:spcPct val="103000"/>
              </a:lnSpc>
              <a:spcAft>
                <a:spcPts val="300"/>
              </a:spcAft>
              <a:defRPr sz="580">
                <a:solidFill>
                  <a:srgbClr val="21242A"/>
                </a:solidFill>
                <a:latin typeface="Microsoft YaHei"/>
              </a:defRPr>
            </a:pPr>
            <a:r>
              <a:t>Conclusion: DLBCL patients with DS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摘要号：PS2116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药物/技术：CNS穿透/放疗/MTX策略</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综合临床和遗传评分可改善暗区特征阳性（dzsigpos）弥漫性大b细胞淋巴瘤的预后：暗区预后指数（dzpi）</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clinical and genetic scoring refines prognosis in dark zone signat...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回顾性临床研究结果：integrated clinical and genetic scoring refines progn...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DZPI风险类别（低风险：评分0-1</a:t>
            </a:r>
          </a:p>
          <a:p>
            <a:pPr>
              <a:lnSpc>
                <a:spcPct val="103000"/>
              </a:lnSpc>
              <a:spcAft>
                <a:spcPts val="300"/>
              </a:spcAft>
              <a:defRPr sz="800">
                <a:solidFill>
                  <a:srgbClr val="21242A"/>
                </a:solidFill>
                <a:latin typeface="Microsoft YaHei"/>
              </a:defRPr>
            </a:pPr>
            <a:r>
              <a:t>高风险：评分2-4）的总体生存期（OS）存在显著差异（Fig.1K），并在BCC队列和本中心队列中得到验证（Fig.1L）。</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人数：259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研究主题：integrated clinical and genetic scoring refines prognosis in dark zone signature-positive (dzsigpos) diffuse large b-ce...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综合临床和遗传评分可改善暗区特征阳性（dzsigpos）弥漫性大b细胞淋巴瘤的预后：暗区预后指数（dzpi）</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clinical and genetic scoring refines prognosis in dark zone signat...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dark zone signature (DZsig) stems from transcriptional differences between high‑grade B‑cell lymphomas with MYC and BCL2 rearrangements and othe</a:t>
            </a:r>
          </a:p>
          <a:p>
            <a:pPr>
              <a:lnSpc>
                <a:spcPct val="103000"/>
              </a:lnSpc>
              <a:spcAft>
                <a:spcPts val="300"/>
              </a:spcAft>
              <a:defRPr sz="570">
                <a:solidFill>
                  <a:srgbClr val="21242A"/>
                </a:solidFill>
                <a:latin typeface="Microsoft YaHei"/>
              </a:defRPr>
            </a:pPr>
            <a:r>
              <a:t>r germinal centre B‑cell‑like (GCB) diffuse large B‑cell lymphomas (DLBCL).</a:t>
            </a:r>
          </a:p>
          <a:p>
            <a:pPr>
              <a:lnSpc>
                <a:spcPct val="103000"/>
              </a:lnSpc>
              <a:spcAft>
                <a:spcPts val="300"/>
              </a:spcAft>
              <a:defRPr sz="570">
                <a:solidFill>
                  <a:srgbClr val="21242A"/>
                </a:solidFill>
                <a:latin typeface="Microsoft YaHei"/>
              </a:defRPr>
            </a:pPr>
            <a:r>
              <a:t>Around 20% of GCB‑DLBCLs are DZsig pos (Ennishi et al., J Clin Oncol, 2019; Alduaij et al., Blood, 2023).</a:t>
            </a:r>
          </a:p>
          <a:p>
            <a:pPr>
              <a:lnSpc>
                <a:spcPct val="103000"/>
              </a:lnSpc>
              <a:spcAft>
                <a:spcPts val="300"/>
              </a:spcAft>
              <a:defRPr sz="570">
                <a:solidFill>
                  <a:srgbClr val="21242A"/>
                </a:solidFill>
                <a:latin typeface="Microsoft YaHei"/>
              </a:defRPr>
            </a:pPr>
            <a:r>
              <a:t>DZsig pos cases with TP53 abnormalities show poor survival, whereas those without exhibit favourable outcomes, reflecting prognostic heterogeneity.</a:t>
            </a:r>
          </a:p>
          <a:p>
            <a:pPr>
              <a:lnSpc>
                <a:spcPct val="103000"/>
              </a:lnSpc>
              <a:spcAft>
                <a:spcPts val="300"/>
              </a:spcAft>
              <a:defRPr sz="570">
                <a:solidFill>
                  <a:srgbClr val="21242A"/>
                </a:solidFill>
                <a:latin typeface="Microsoft YaHei"/>
              </a:defRPr>
            </a:pPr>
            <a:r>
              <a:t>DZsig is considered a refinement of cell‑of‑origin (COO) classification; however, the drivers of its heterogeneous prognosis remain unclear.</a:t>
            </a:r>
          </a:p>
          <a:p>
            <a:pPr>
              <a:lnSpc>
                <a:spcPct val="103000"/>
              </a:lnSpc>
              <a:spcAft>
                <a:spcPts val="300"/>
              </a:spcAft>
              <a:defRPr sz="570">
                <a:solidFill>
                  <a:srgbClr val="21242A"/>
                </a:solidFill>
                <a:latin typeface="Microsoft YaHei"/>
              </a:defRPr>
            </a:pPr>
            <a:r>
              <a:t>Aims: To develop and validate a prognostic scoring system for risk-stratifying DZsig pos -DLBCL.</a:t>
            </a:r>
          </a:p>
          <a:p>
            <a:pPr>
              <a:lnSpc>
                <a:spcPct val="103000"/>
              </a:lnSpc>
              <a:spcAft>
                <a:spcPts val="300"/>
              </a:spcAft>
              <a:defRPr sz="570">
                <a:solidFill>
                  <a:srgbClr val="21242A"/>
                </a:solidFill>
                <a:latin typeface="Microsoft YaHei"/>
              </a:defRPr>
            </a:pPr>
            <a:r>
              <a:t>Methods: By calculating the 104 gene DZsig score for RNAseq data, DZsig pos cases were identified from an integrated public cohort (n=238) (Chapuy B et al., REM</a:t>
            </a:r>
          </a:p>
          <a:p>
            <a:pPr>
              <a:lnSpc>
                <a:spcPct val="103000"/>
              </a:lnSpc>
              <a:spcAft>
                <a:spcPts val="300"/>
              </a:spcAft>
              <a:defRPr sz="570">
                <a:solidFill>
                  <a:srgbClr val="21242A"/>
                </a:solidFill>
                <a:latin typeface="Microsoft YaHei"/>
              </a:defRPr>
            </a:pPr>
            <a:r>
              <a:t>oDL-B, Lacy S et al., NCI, BCC cohorts) and our centre's cohort (n=21).</a:t>
            </a:r>
          </a:p>
          <a:p>
            <a:pPr>
              <a:lnSpc>
                <a:spcPct val="103000"/>
              </a:lnSpc>
              <a:spcAft>
                <a:spcPts val="300"/>
              </a:spcAft>
              <a:defRPr sz="570">
                <a:solidFill>
                  <a:srgbClr val="21242A"/>
                </a:solidFill>
                <a:latin typeface="Microsoft YaHei"/>
              </a:defRPr>
            </a:pPr>
            <a:r>
              <a:t>Excluding BCC, the remaining public cohorts served as the training set (n=114). Immune infiltration gene sets were sourced from Tumuluru et al., Blood, 2025.</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By integrating clinical and genetic factors, the DZPI stratifies DZsig pos -DLBCL into prognostic categories validated in a public cohort and our centre, with t</a:t>
            </a:r>
          </a:p>
          <a:p>
            <a:pPr>
              <a:lnSpc>
                <a:spcPct val="103000"/>
              </a:lnSpc>
              <a:spcAft>
                <a:spcPts val="300"/>
              </a:spcAft>
              <a:defRPr sz="590">
                <a:solidFill>
                  <a:srgbClr val="21242A"/>
                </a:solidFill>
                <a:latin typeface="Microsoft YaHei"/>
              </a:defRPr>
            </a:pPr>
            <a:r>
              <a:t>he high-risk category associated with a cold immune cluster and inferior survival to inform personalised therapy.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DZPI风险类别（低风险：评分0-1；高风险：评分2-4）的总体生存期（OS）存在显著差异（Fig.1K），并在BCC队列和本中心队列中得到验证（Fig.1L）。高风险类别中BCL2和IL4R突变频率显著更高（Fig.1M）。转录组分析显示高风险类别中肿瘤和代谢通路上调，免疫相关通路下调（Fig.1N）。免疫</a:t>
            </a:r>
          </a:p>
          <a:p>
            <a:pPr>
              <a:lnSpc>
                <a:spcPct val="103000"/>
              </a:lnSpc>
              <a:spcAft>
                <a:spcPts val="300"/>
              </a:spcAft>
              <a:defRPr sz="580">
                <a:solidFill>
                  <a:srgbClr val="21242A"/>
                </a:solidFill>
                <a:latin typeface="Microsoft YaHei"/>
              </a:defRPr>
            </a:pPr>
            <a:r>
              <a:t>细胞浸润分析显示高风险类别中多种免疫细胞亚群富集评分降低（Fig.1O）。高风险类别与冷免疫簇相关（Fig.1Q），且DZPI高风险且冷免疫簇的患者预后最差（Fig.1R–S）。</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摘要号：S258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循环肿瘤dna在临床诊断之前很久就揭示了淋巴瘤相关突变</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circulating tumor dna reveals lymphoma-associated mutations long before clini...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弥漫性大B细胞淋巴瘤，经典型霍奇金淋巴瘤</a:t>
            </a:r>
          </a:p>
          <a:p>
            <a:pPr>
              <a:lnSpc>
                <a:spcPct val="103000"/>
              </a:lnSpc>
              <a:spcAft>
                <a:spcPts val="300"/>
              </a:spcAft>
              <a:defRPr sz="800">
                <a:solidFill>
                  <a:srgbClr val="21242A"/>
                </a:solidFill>
                <a:latin typeface="Microsoft YaHei"/>
              </a:defRPr>
            </a:pPr>
            <a:r>
              <a:t>N=46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回顾性临床研究结果：circulating tumor dna reveals lymphoma-associated mut...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ctDNA检出率：31/46 (67%) 的病例在诊断前血浆中检出ctDNA</a:t>
            </a:r>
          </a:p>
          <a:p>
            <a:pPr>
              <a:lnSpc>
                <a:spcPct val="103000"/>
              </a:lnSpc>
              <a:spcAft>
                <a:spcPts val="300"/>
              </a:spcAft>
              <a:defRPr sz="800">
                <a:solidFill>
                  <a:srgbClr val="21242A"/>
                </a:solidFill>
                <a:latin typeface="Microsoft YaHei"/>
              </a:defRPr>
            </a:pPr>
            <a:r>
              <a:t>DLBCL: 13/33 (39%) 通过肿瘤信息指导的SNV检出ctDNA</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人数：46</a:t>
            </a:r>
          </a:p>
          <a:p>
            <a:pPr>
              <a:lnSpc>
                <a:spcPct val="103000"/>
              </a:lnSpc>
              <a:spcAft>
                <a:spcPts val="300"/>
              </a:spcAft>
              <a:defRPr sz="810">
                <a:solidFill>
                  <a:srgbClr val="21242A"/>
                </a:solidFill>
                <a:latin typeface="Microsoft YaHei"/>
              </a:defRPr>
            </a:pPr>
            <a:r>
              <a:t>适应症：弥漫性大B细胞淋巴瘤、经典型霍奇金淋巴瘤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研究主题：circulating tumor dna reveals lymphoma-associated mutations long before clinical diagnosis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循环肿瘤dna在临床诊断之前很久就揭示了淋巴瘤相关突变</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circulating tumor dna reveals lymphoma-associated mutations long before clini...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interval between early lymphoma-driving events and clinical presentation is poorly defined.</a:t>
            </a:r>
          </a:p>
          <a:p>
            <a:pPr>
              <a:lnSpc>
                <a:spcPct val="103000"/>
              </a:lnSpc>
              <a:spcAft>
                <a:spcPts val="300"/>
              </a:spcAft>
              <a:defRPr sz="570">
                <a:solidFill>
                  <a:srgbClr val="21242A"/>
                </a:solidFill>
                <a:latin typeface="Microsoft YaHei"/>
              </a:defRPr>
            </a:pPr>
            <a:r>
              <a:t>Diffuse large B-cell lymphoma (DLBCL) and classic Hodgkin lymphoma (cHL) arise from germinal-center (GC) B cells and carry recurrent genetic alterations.</a:t>
            </a:r>
          </a:p>
          <a:p>
            <a:pPr>
              <a:lnSpc>
                <a:spcPct val="103000"/>
              </a:lnSpc>
              <a:spcAft>
                <a:spcPts val="300"/>
              </a:spcAft>
              <a:defRPr sz="570">
                <a:solidFill>
                  <a:srgbClr val="21242A"/>
                </a:solidFill>
                <a:latin typeface="Microsoft YaHei"/>
              </a:defRPr>
            </a:pPr>
            <a:r>
              <a:t>Incidental findings from noninvasive prenatal testing and population biobanks have identified tumor-specific somatic variants in plasma prior to cHL diagnosis.</a:t>
            </a:r>
          </a:p>
          <a:p>
            <a:pPr>
              <a:lnSpc>
                <a:spcPct val="103000"/>
              </a:lnSpc>
              <a:spcAft>
                <a:spcPts val="300"/>
              </a:spcAft>
              <a:defRPr sz="570">
                <a:solidFill>
                  <a:srgbClr val="21242A"/>
                </a:solidFill>
                <a:latin typeface="Microsoft YaHei"/>
              </a:defRPr>
            </a:pPr>
            <a:r>
              <a:t>In cHL, serum thymus and activation-regulated chemokine (sTARC), a validated biomarker, is elevated long before symptom onset.</a:t>
            </a:r>
          </a:p>
          <a:p>
            <a:pPr>
              <a:lnSpc>
                <a:spcPct val="103000"/>
              </a:lnSpc>
              <a:spcAft>
                <a:spcPts val="300"/>
              </a:spcAft>
              <a:defRPr sz="570">
                <a:solidFill>
                  <a:srgbClr val="21242A"/>
                </a:solidFill>
                <a:latin typeface="Microsoft YaHei"/>
              </a:defRPr>
            </a:pPr>
            <a:r>
              <a:t>Aberrant somatic hypermutation produces clustered in-cis substitutions, known as multi-nucleotide variants (MNVs), which frequently affect super-enhancers (SE) </a:t>
            </a:r>
          </a:p>
          <a:p>
            <a:pPr>
              <a:lnSpc>
                <a:spcPct val="103000"/>
              </a:lnSpc>
              <a:spcAft>
                <a:spcPts val="300"/>
              </a:spcAft>
              <a:defRPr sz="570">
                <a:solidFill>
                  <a:srgbClr val="21242A"/>
                </a:solidFill>
                <a:latin typeface="Microsoft YaHei"/>
              </a:defRPr>
            </a:pPr>
            <a:r>
              <a:t>and other key B-cell regulating loci early in lymphomagenesis.</a:t>
            </a:r>
          </a:p>
          <a:p>
            <a:pPr>
              <a:lnSpc>
                <a:spcPct val="103000"/>
              </a:lnSpc>
              <a:spcAft>
                <a:spcPts val="300"/>
              </a:spcAft>
              <a:defRPr sz="570">
                <a:solidFill>
                  <a:srgbClr val="21242A"/>
                </a:solidFill>
                <a:latin typeface="Microsoft YaHei"/>
              </a:defRPr>
            </a:pPr>
            <a:r>
              <a:t>MNVs provide a distinct mutational footprint that may enable highly sensitive tumor detection in cfDNA in pre-diagnostic plasma.</a:t>
            </a:r>
          </a:p>
          <a:p>
            <a:pPr>
              <a:lnSpc>
                <a:spcPct val="103000"/>
              </a:lnSpc>
              <a:spcAft>
                <a:spcPts val="300"/>
              </a:spcAft>
              <a:defRPr sz="570">
                <a:solidFill>
                  <a:srgbClr val="21242A"/>
                </a:solidFill>
                <a:latin typeface="Microsoft YaHei"/>
              </a:defRPr>
            </a:pPr>
            <a:r>
              <a:t>We hypothesize that cfDNA analysis can capture these oncogenic events and map the temporal trajectory of lymphomagenesis.</a:t>
            </a:r>
          </a:p>
          <a:p>
            <a:pPr>
              <a:lnSpc>
                <a:spcPct val="103000"/>
              </a:lnSpc>
              <a:spcAft>
                <a:spcPts val="300"/>
              </a:spcAft>
              <a:defRPr sz="570">
                <a:solidFill>
                  <a:srgbClr val="21242A"/>
                </a:solidFill>
                <a:latin typeface="Microsoft YaHei"/>
              </a:defRPr>
            </a:pPr>
            <a:r>
              <a:t>Aims: By integrating single nucleotide variant (SNV) and MNV calling, we aim to identify early molecular aberrations preceding clinical diagnosis of DLBCL and c</a:t>
            </a:r>
          </a:p>
          <a:p>
            <a:pPr>
              <a:lnSpc>
                <a:spcPct val="103000"/>
              </a:lnSpc>
              <a:spcAft>
                <a:spcPts val="300"/>
              </a:spcAft>
              <a:defRPr sz="570">
                <a:solidFill>
                  <a:srgbClr val="21242A"/>
                </a:solidFill>
                <a:latin typeface="Microsoft YaHei"/>
              </a:defRPr>
            </a:pPr>
            <a:r>
              <a:t>HL.</a:t>
            </a:r>
          </a:p>
          <a:p>
            <a:pPr>
              <a:lnSpc>
                <a:spcPct val="103000"/>
              </a:lnSpc>
              <a:spcAft>
                <a:spcPts val="300"/>
              </a:spcAft>
              <a:defRPr sz="570">
                <a:solidFill>
                  <a:srgbClr val="21242A"/>
                </a:solidFill>
                <a:latin typeface="Microsoft YaHei"/>
              </a:defRPr>
            </a:pPr>
            <a:r>
              <a:t>Methods: We analyzed pre-diagnostic plasma from the Dutch Lifelines biobank in a retrospective case-cohort of 33 DLBCL and 13 cHL patients, including matched di</a:t>
            </a:r>
          </a:p>
          <a:p>
            <a:pPr>
              <a:lnSpc>
                <a:spcPct val="103000"/>
              </a:lnSpc>
              <a:spcAft>
                <a:spcPts val="300"/>
              </a:spcAft>
              <a:defRPr sz="570">
                <a:solidFill>
                  <a:srgbClr val="21242A"/>
                </a:solidFill>
                <a:latin typeface="Microsoft YaHei"/>
              </a:defRPr>
            </a:pPr>
            <a:r>
              <a:t>agnostic tumor tissue samples and white blood cells for 41 cases.</a:t>
            </a:r>
          </a:p>
          <a:p>
            <a:pPr>
              <a:lnSpc>
                <a:spcPct val="103000"/>
              </a:lnSpc>
              <a:spcAft>
                <a:spcPts val="300"/>
              </a:spcAft>
              <a:defRPr sz="570">
                <a:solidFill>
                  <a:srgbClr val="21242A"/>
                </a:solidFill>
                <a:latin typeface="Microsoft YaHei"/>
              </a:defRPr>
            </a:pPr>
            <a:r>
              <a:t>Targeted sequencing of 115 genes (~391 kbp), including SEs of 14 genes was performed.</a:t>
            </a:r>
          </a:p>
          <a:p>
            <a:pPr>
              <a:lnSpc>
                <a:spcPct val="103000"/>
              </a:lnSpc>
              <a:spcAft>
                <a:spcPts val="300"/>
              </a:spcAft>
              <a:defRPr sz="570">
                <a:solidFill>
                  <a:srgbClr val="21242A"/>
                </a:solidFill>
                <a:latin typeface="Microsoft YaHei"/>
              </a:defRPr>
            </a:pPr>
            <a:r>
              <a:t>SNV analysis was restricted to DLBCL, as tumor cell content in cHL tissue is too low to reliably call SNVs.</a:t>
            </a:r>
          </a:p>
          <a:p>
            <a:pPr>
              <a:lnSpc>
                <a:spcPct val="103000"/>
              </a:lnSpc>
              <a:spcAft>
                <a:spcPts val="300"/>
              </a:spcAft>
              <a:defRPr sz="570">
                <a:solidFill>
                  <a:srgbClr val="21242A"/>
                </a:solidFill>
                <a:latin typeface="Microsoft YaHei"/>
              </a:defRPr>
            </a:pPr>
            <a:r>
              <a:t>MNVs were called using our in-house developed MNVista tool.</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Summary/Conclusion: ctDNA can be detected years prior to B-cell lymphoma diagnosis. In total, 31/46 cases had detectable ctDNA in pre-diagnostic plasma samples.</a:t>
            </a:r>
          </a:p>
          <a:p>
            <a:pPr>
              <a:lnSpc>
                <a:spcPct val="103000"/>
              </a:lnSpc>
              <a:spcAft>
                <a:spcPts val="300"/>
              </a:spcAft>
              <a:defRPr sz="590">
                <a:solidFill>
                  <a:srgbClr val="21242A"/>
                </a:solidFill>
                <a:latin typeface="Microsoft YaHei"/>
              </a:defRPr>
            </a:pPr>
            <a:r>
              <a:t>Our data show that MNV-approaches are sensitive and can be used for pre-diagnostic ctDNA detection in a tumor-informed setting.</a:t>
            </a:r>
          </a:p>
          <a:p>
            <a:pPr>
              <a:lnSpc>
                <a:spcPct val="103000"/>
              </a:lnSpc>
              <a:spcAft>
                <a:spcPts val="300"/>
              </a:spcAft>
              <a:defRPr sz="590">
                <a:solidFill>
                  <a:srgbClr val="21242A"/>
                </a:solidFill>
                <a:latin typeface="Microsoft YaHei"/>
              </a:defRPr>
            </a:pPr>
            <a:r>
              <a:t>They provide novel insight in the rise of early molecular aberrations in DLBCL and cHL and support the use of ctDNA as liquid biopsy to aid in early diagnosis o</a:t>
            </a:r>
          </a:p>
          <a:p>
            <a:pPr>
              <a:lnSpc>
                <a:spcPct val="103000"/>
              </a:lnSpc>
              <a:spcAft>
                <a:spcPts val="300"/>
              </a:spcAft>
              <a:defRPr sz="590">
                <a:solidFill>
                  <a:srgbClr val="21242A"/>
                </a:solidFill>
                <a:latin typeface="Microsoft YaHei"/>
              </a:defRPr>
            </a:pPr>
            <a:r>
              <a:t>f patients suspected of lymphoma.</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ctDNA检出率</a:t>
                      </a:r>
                    </a:p>
                  </a:txBody>
                  <a:tcPr>
                    <a:solidFill>
                      <a:srgbClr val="F6F8FB"/>
                    </a:solidFill>
                  </a:tcPr>
                </a:tc>
                <a:tc>
                  <a:txBody>
                    <a:bodyPr wrap="square" lIns="36576" rIns="36576" tIns="18288" bIns="18288"/>
                    <a:lstStyle/>
                    <a:p>
                      <a:r>
                        <a:rPr sz="540" b="0">
                          <a:solidFill>
                            <a:srgbClr val="21242A"/>
                          </a:solidFill>
                          <a:latin typeface="Microsoft YaHei"/>
                        </a:rPr>
                        <a:t>31/46 (67%) 的病例在诊断前血浆中检出ctDNA</a:t>
                      </a:r>
                    </a:p>
                  </a:txBody>
                  <a:tcPr>
                    <a:solidFill>
                      <a:srgbClr val="F6F8FB"/>
                    </a:solidFill>
                  </a:tcPr>
                </a:tc>
              </a:tr>
              <a:tr h="249936">
                <a:tc>
                  <a:txBody>
                    <a:bodyPr wrap="square" lIns="36576" rIns="36576" tIns="18288" bIns="18288"/>
                    <a:lstStyle/>
                    <a:p>
                      <a:r>
                        <a:rPr sz="540" b="1">
                          <a:solidFill>
                            <a:srgbClr val="21242A"/>
                          </a:solidFill>
                          <a:latin typeface="Microsoft YaHei"/>
                        </a:rPr>
                        <a:t>DLBCL</a:t>
                      </a:r>
                    </a:p>
                  </a:txBody>
                  <a:tcPr>
                    <a:solidFill>
                      <a:srgbClr val="FFFFFF"/>
                    </a:solidFill>
                  </a:tcPr>
                </a:tc>
                <a:tc>
                  <a:txBody>
                    <a:bodyPr wrap="square" lIns="36576" rIns="36576" tIns="18288" bIns="18288"/>
                    <a:lstStyle/>
                    <a:p>
                      <a:r>
                        <a:rPr sz="540" b="0">
                          <a:solidFill>
                            <a:srgbClr val="21242A"/>
                          </a:solidFill>
                          <a:latin typeface="Microsoft YaHei"/>
                        </a:rPr>
                        <a:t>13/33 (39%) 通过肿瘤信息指导的SNV检出ctDNA；20/33 (61%) 通过MNV检出ctDNA</a:t>
                      </a:r>
                    </a:p>
                  </a:txBody>
                  <a:tcPr>
                    <a:solidFill>
                      <a:srgbClr val="FFFFFF"/>
                    </a:solidFill>
                  </a:tcPr>
                </a:tc>
              </a:tr>
              <a:tr h="249936">
                <a:tc>
                  <a:txBody>
                    <a:bodyPr wrap="square" lIns="36576" rIns="36576" tIns="18288" bIns="18288"/>
                    <a:lstStyle/>
                    <a:p>
                      <a:r>
                        <a:rPr sz="540" b="1">
                          <a:solidFill>
                            <a:srgbClr val="21242A"/>
                          </a:solidFill>
                          <a:latin typeface="Microsoft YaHei"/>
                        </a:rPr>
                        <a:t>cHL</a:t>
                      </a:r>
                    </a:p>
                  </a:txBody>
                  <a:tcPr>
                    <a:solidFill>
                      <a:srgbClr val="F6F8FB"/>
                    </a:solidFill>
                  </a:tcPr>
                </a:tc>
                <a:tc>
                  <a:txBody>
                    <a:bodyPr wrap="square" lIns="36576" rIns="36576" tIns="18288" bIns="18288"/>
                    <a:lstStyle/>
                    <a:p>
                      <a:r>
                        <a:rPr sz="540" b="0">
                          <a:solidFill>
                            <a:srgbClr val="21242A"/>
                          </a:solidFill>
                          <a:latin typeface="Microsoft YaHei"/>
                        </a:rPr>
                        <a:t>9/13 (69%) 通过MNV检出ctDNA</a:t>
                      </a:r>
                    </a:p>
                  </a:txBody>
                  <a:tcPr>
                    <a:solidFill>
                      <a:srgbClr val="F6F8FB"/>
                    </a:solidFill>
                  </a:tcPr>
                </a:tc>
              </a:tr>
              <a:tr h="249936">
                <a:tc>
                  <a:txBody>
                    <a:bodyPr wrap="square" lIns="36576" rIns="36576" tIns="18288" bIns="18288"/>
                    <a:lstStyle/>
                    <a:p>
                      <a:r>
                        <a:rPr sz="540" b="1">
                          <a:solidFill>
                            <a:srgbClr val="21242A"/>
                          </a:solidFill>
                          <a:latin typeface="Microsoft YaHei"/>
                        </a:rPr>
                        <a:t>最早检出时间</a:t>
                      </a:r>
                    </a:p>
                  </a:txBody>
                  <a:tcPr>
                    <a:solidFill>
                      <a:srgbClr val="FFFFFF"/>
                    </a:solidFill>
                  </a:tcPr>
                </a:tc>
                <a:tc>
                  <a:txBody>
                    <a:bodyPr wrap="square" lIns="36576" rIns="36576" tIns="18288" bIns="18288"/>
                    <a:lstStyle/>
                    <a:p>
                      <a:r>
                        <a:rPr sz="540" b="0">
                          <a:solidFill>
                            <a:srgbClr val="21242A"/>
                          </a:solidFill>
                          <a:latin typeface="Microsoft YaHei"/>
                        </a:rPr>
                        <a:t>DLBCL诊断前106个月，cHL诊断前55个月；</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cHL中ctDNA水平与sTARC强相关（r=0.86）</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摘要号：S256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60273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777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N=159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回顾性临床研究结果：factors predicting relapse after autologous hematopoi...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DLBCL患者：LDH升高与复发风险HR=3.75 (95% CI 1.46-9.59, p=0.006)</a:t>
            </a:r>
          </a:p>
          <a:p>
            <a:pPr>
              <a:lnSpc>
                <a:spcPct val="103000"/>
              </a:lnSpc>
              <a:spcAft>
                <a:spcPts val="300"/>
              </a:spcAft>
              <a:defRPr sz="800">
                <a:solidFill>
                  <a:srgbClr val="21242A"/>
                </a:solidFill>
                <a:latin typeface="Microsoft YaHei"/>
              </a:defRPr>
            </a:pPr>
            <a:r>
              <a:t>DLBCL患者：≥2个结外病灶与复发风险HR=2.89 (95% CI 1.21-6.91, p=0.017)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人数：159</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研究主题：factors predicting relapse after autologous hematopoietic cell transplantation in systemic diffuse large b-cell lymphom...</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60273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777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Patients with diffuse large B-cell lymphoma (DLBCL) and primary central nervous system lymphoma (PCNSL) experiencing relapse after autologous hemato</a:t>
            </a:r>
          </a:p>
          <a:p>
            <a:pPr>
              <a:lnSpc>
                <a:spcPct val="103000"/>
              </a:lnSpc>
              <a:spcAft>
                <a:spcPts val="300"/>
              </a:spcAft>
              <a:defRPr sz="570">
                <a:solidFill>
                  <a:srgbClr val="21242A"/>
                </a:solidFill>
                <a:latin typeface="Microsoft YaHei"/>
              </a:defRPr>
            </a:pPr>
            <a:r>
              <a:t>poietic cell transplantation (AHCT) have poor outcomes.</a:t>
            </a:r>
          </a:p>
          <a:p>
            <a:pPr>
              <a:lnSpc>
                <a:spcPct val="103000"/>
              </a:lnSpc>
              <a:spcAft>
                <a:spcPts val="300"/>
              </a:spcAft>
              <a:defRPr sz="570">
                <a:solidFill>
                  <a:srgbClr val="21242A"/>
                </a:solidFill>
                <a:latin typeface="Microsoft YaHei"/>
              </a:defRPr>
            </a:pPr>
            <a:r>
              <a:t>Factors predicting the risk of post-transplant relapse risk are unknown.</a:t>
            </a:r>
          </a:p>
          <a:p>
            <a:pPr>
              <a:lnSpc>
                <a:spcPct val="103000"/>
              </a:lnSpc>
              <a:spcAft>
                <a:spcPts val="300"/>
              </a:spcAft>
              <a:defRPr sz="570">
                <a:solidFill>
                  <a:srgbClr val="21242A"/>
                </a:solidFill>
                <a:latin typeface="Microsoft YaHei"/>
              </a:defRPr>
            </a:pPr>
            <a:r>
              <a:t>Aims: The aim of this multicenter real-world study was to identify factors impacting post-transplant outcomes in systemic DLBCL or PCNSL.</a:t>
            </a:r>
          </a:p>
          <a:p>
            <a:pPr>
              <a:lnSpc>
                <a:spcPct val="103000"/>
              </a:lnSpc>
              <a:spcAft>
                <a:spcPts val="300"/>
              </a:spcAft>
              <a:defRPr sz="570">
                <a:solidFill>
                  <a:srgbClr val="21242A"/>
                </a:solidFill>
                <a:latin typeface="Microsoft YaHei"/>
              </a:defRPr>
            </a:pPr>
            <a:r>
              <a:t>Methods: The study population consisted of 119 patients with systemic DLBCL and 40 patients with PCNSL who underwent AHCT between 2000 and 2019 in three Univers</a:t>
            </a:r>
          </a:p>
          <a:p>
            <a:pPr>
              <a:lnSpc>
                <a:spcPct val="103000"/>
              </a:lnSpc>
              <a:spcAft>
                <a:spcPts val="300"/>
              </a:spcAft>
              <a:defRPr sz="570">
                <a:solidFill>
                  <a:srgbClr val="21242A"/>
                </a:solidFill>
                <a:latin typeface="Microsoft YaHei"/>
              </a:defRPr>
            </a:pPr>
            <a:r>
              <a:t>ity Hospitals in Finland (Kuopio, Tampere, Oulu).</a:t>
            </a:r>
          </a:p>
          <a:p>
            <a:pPr>
              <a:lnSpc>
                <a:spcPct val="103000"/>
              </a:lnSpc>
              <a:spcAft>
                <a:spcPts val="300"/>
              </a:spcAft>
              <a:defRPr sz="570">
                <a:solidFill>
                  <a:srgbClr val="21242A"/>
                </a:solidFill>
                <a:latin typeface="Microsoft YaHei"/>
              </a:defRPr>
            </a:pPr>
            <a:r>
              <a:t>Data were retrospectively collected from patients’ medical records including e.g. patient and disease characteristics and outcome.</a:t>
            </a:r>
          </a:p>
          <a:p>
            <a:pPr>
              <a:lnSpc>
                <a:spcPct val="103000"/>
              </a:lnSpc>
              <a:spcAft>
                <a:spcPts val="300"/>
              </a:spcAft>
              <a:defRPr sz="570">
                <a:solidFill>
                  <a:srgbClr val="21242A"/>
                </a:solidFill>
                <a:latin typeface="Microsoft YaHei"/>
              </a:defRPr>
            </a:pPr>
            <a:r>
              <a:t>Early relapse was defined as occurring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PCNSL patients receiving AHCT after their first relapse were significantly more likely to experience post-transplant relapse if their pre-mobilization response </a:t>
            </a:r>
          </a:p>
          <a:p>
            <a:pPr>
              <a:lnSpc>
                <a:spcPct val="103000"/>
              </a:lnSpc>
              <a:spcAft>
                <a:spcPts val="300"/>
              </a:spcAft>
              <a:defRPr sz="590">
                <a:solidFill>
                  <a:srgbClr val="21242A"/>
                </a:solidFill>
                <a:latin typeface="Microsoft YaHei"/>
              </a:defRPr>
            </a:pPr>
            <a:r>
              <a:t>was worse than CR.</a:t>
            </a:r>
          </a:p>
          <a:p>
            <a:pPr>
              <a:lnSpc>
                <a:spcPct val="103000"/>
              </a:lnSpc>
              <a:spcAft>
                <a:spcPts val="300"/>
              </a:spcAft>
              <a:defRPr sz="590">
                <a:solidFill>
                  <a:srgbClr val="21242A"/>
                </a:solidFill>
                <a:latin typeface="Microsoft YaHei"/>
              </a:defRPr>
            </a:pPr>
            <a:r>
              <a:t>Our new risk classification for post-transplant relapse divides systemic DLBCL patients into three groups with significantly different RFS rates.</a:t>
            </a:r>
          </a:p>
          <a:p>
            <a:pPr>
              <a:lnSpc>
                <a:spcPct val="103000"/>
              </a:lnSpc>
              <a:spcAft>
                <a:spcPts val="300"/>
              </a:spcAft>
              <a:defRPr sz="590">
                <a:solidFill>
                  <a:srgbClr val="21242A"/>
                </a:solidFill>
                <a:latin typeface="Microsoft YaHei"/>
              </a:defRPr>
            </a:pPr>
            <a:r>
              <a:t>Larger studies are needed to validate this classification.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DLBCL患者</a:t>
                      </a:r>
                    </a:p>
                  </a:txBody>
                  <a:tcPr>
                    <a:solidFill>
                      <a:srgbClr val="F6F8FB"/>
                    </a:solidFill>
                  </a:tcPr>
                </a:tc>
                <a:tc>
                  <a:txBody>
                    <a:bodyPr wrap="square" lIns="36576" rIns="36576" tIns="18288" bIns="18288"/>
                    <a:lstStyle/>
                    <a:p>
                      <a:r>
                        <a:rPr sz="540" b="0">
                          <a:solidFill>
                            <a:srgbClr val="21242A"/>
                          </a:solidFill>
                          <a:latin typeface="Microsoft YaHei"/>
                        </a:rPr>
                        <a:t>LDH升高与复发风险HR=3.75 (95% CI 1.46-9.59, p=0.006)</a:t>
                      </a:r>
                    </a:p>
                  </a:txBody>
                  <a:tcPr>
                    <a:solidFill>
                      <a:srgbClr val="F6F8FB"/>
                    </a:solidFill>
                  </a:tcPr>
                </a:tc>
              </a:tr>
              <a:tr h="214230">
                <a:tc>
                  <a:txBody>
                    <a:bodyPr wrap="square" lIns="36576" rIns="36576" tIns="18288" bIns="18288"/>
                    <a:lstStyle/>
                    <a:p>
                      <a:r>
                        <a:rPr sz="540" b="1">
                          <a:solidFill>
                            <a:srgbClr val="21242A"/>
                          </a:solidFill>
                          <a:latin typeface="Microsoft YaHei"/>
                        </a:rPr>
                        <a:t>DLBCL患者</a:t>
                      </a:r>
                    </a:p>
                  </a:txBody>
                  <a:tcPr>
                    <a:solidFill>
                      <a:srgbClr val="FFFFFF"/>
                    </a:solidFill>
                  </a:tcPr>
                </a:tc>
                <a:tc>
                  <a:txBody>
                    <a:bodyPr wrap="square" lIns="36576" rIns="36576" tIns="18288" bIns="18288"/>
                    <a:lstStyle/>
                    <a:p>
                      <a:r>
                        <a:rPr sz="540" b="0">
                          <a:solidFill>
                            <a:srgbClr val="21242A"/>
                          </a:solidFill>
                          <a:latin typeface="Microsoft YaHei"/>
                        </a:rPr>
                        <a:t>≥2个结外病灶与复发风险HR=2.89 (95% CI 1.21-6.91, p=0.017)</a:t>
                      </a:r>
                    </a:p>
                  </a:txBody>
                  <a:tcPr>
                    <a:solidFill>
                      <a:srgbClr val="FFFFFF"/>
                    </a:solidFill>
                  </a:tcPr>
                </a:tc>
              </a:tr>
              <a:tr h="214230">
                <a:tc>
                  <a:txBody>
                    <a:bodyPr wrap="square" lIns="36576" rIns="36576" tIns="18288" bIns="18288"/>
                    <a:lstStyle/>
                    <a:p>
                      <a:r>
                        <a:rPr sz="540" b="1">
                          <a:solidFill>
                            <a:srgbClr val="21242A"/>
                          </a:solidFill>
                          <a:latin typeface="Microsoft YaHei"/>
                        </a:rPr>
                        <a:t>DLBCL患者</a:t>
                      </a:r>
                    </a:p>
                  </a:txBody>
                  <a:tcPr>
                    <a:solidFill>
                      <a:srgbClr val="F6F8FB"/>
                    </a:solidFill>
                  </a:tcPr>
                </a:tc>
                <a:tc>
                  <a:txBody>
                    <a:bodyPr wrap="square" lIns="36576" rIns="36576" tIns="18288" bIns="18288"/>
                    <a:lstStyle/>
                    <a:p>
                      <a:r>
                        <a:rPr sz="540" b="0">
                          <a:solidFill>
                            <a:srgbClr val="21242A"/>
                          </a:solidFill>
                          <a:latin typeface="Microsoft YaHei"/>
                        </a:rPr>
                        <a:t>AHCT前PR与复发风险HR=1.97 (95% CI 1.02-3.80, p=0.042)</a:t>
                      </a:r>
                    </a:p>
                  </a:txBody>
                  <a:tcPr>
                    <a:solidFill>
                      <a:srgbClr val="F6F8FB"/>
                    </a:solidFill>
                  </a:tcPr>
                </a:tc>
              </a:tr>
              <a:tr h="214230">
                <a:tc>
                  <a:txBody>
                    <a:bodyPr wrap="square" lIns="36576" rIns="36576" tIns="18288" bIns="18288"/>
                    <a:lstStyle/>
                    <a:p>
                      <a:r>
                        <a:rPr sz="540" b="1">
                          <a:solidFill>
                            <a:srgbClr val="21242A"/>
                          </a:solidFill>
                          <a:latin typeface="Microsoft YaHei"/>
                        </a:rPr>
                        <a:t>PCNSL患者</a:t>
                      </a:r>
                    </a:p>
                  </a:txBody>
                  <a:tcPr>
                    <a:solidFill>
                      <a:srgbClr val="FFFFFF"/>
                    </a:solidFill>
                  </a:tcPr>
                </a:tc>
                <a:tc>
                  <a:txBody>
                    <a:bodyPr wrap="square" lIns="36576" rIns="36576" tIns="18288" bIns="18288"/>
                    <a:lstStyle/>
                    <a:p>
                      <a:r>
                        <a:rPr sz="540" b="0">
                          <a:solidFill>
                            <a:srgbClr val="21242A"/>
                          </a:solidFill>
                          <a:latin typeface="Microsoft YaHei"/>
                        </a:rPr>
                        <a:t>动员前PR vs CR的复发风险HR=15.06 (95% CI 1.08-210.62, p=0.044)</a:t>
                      </a:r>
                    </a:p>
                  </a:txBody>
                  <a:tcPr>
                    <a:solidFill>
                      <a:srgbClr val="FFFFFF"/>
                    </a:solidFill>
                  </a:tcPr>
                </a:tc>
              </a:tr>
              <a:tr h="214230">
                <a:tc>
                  <a:txBody>
                    <a:bodyPr wrap="square" lIns="36576" rIns="36576" tIns="18288" bIns="18288"/>
                    <a:lstStyle/>
                    <a:p>
                      <a:r>
                        <a:rPr sz="540" b="1">
                          <a:solidFill>
                            <a:srgbClr val="21242A"/>
                          </a:solidFill>
                          <a:latin typeface="Microsoft YaHei"/>
                        </a:rPr>
                        <a:t>基于以上三个因素的风险评分</a:t>
                      </a:r>
                    </a:p>
                  </a:txBody>
                  <a:tcPr>
                    <a:solidFill>
                      <a:srgbClr val="F6F8FB"/>
                    </a:solidFill>
                  </a:tcPr>
                </a:tc>
                <a:tc>
                  <a:txBody>
                    <a:bodyPr wrap="square" lIns="36576" rIns="36576" tIns="18288" bIns="18288"/>
                    <a:lstStyle/>
                    <a:p>
                      <a:r>
                        <a:rPr sz="540" b="0">
                          <a:solidFill>
                            <a:srgbClr val="21242A"/>
                          </a:solidFill>
                          <a:latin typeface="Microsoft YaHei"/>
                        </a:rPr>
                        <a:t>低危组5年RFS 84.9%，中危组64.4%，高危组47.5% (p=0.006)</a:t>
                      </a:r>
                    </a:p>
                  </a:txBody>
                  <a:tcPr>
                    <a:solidFill>
                      <a:srgbClr val="F6F8FB"/>
                    </a:solidFill>
                  </a:tcPr>
                </a:tc>
              </a:tr>
              <a:tr h="214236">
                <a:tc>
                  <a:txBody>
                    <a:bodyPr wrap="square" lIns="36576" rIns="36576" tIns="18288" bIns="18288"/>
                    <a:lstStyle/>
                    <a:p>
                      <a:r>
                        <a:rPr sz="540" b="1">
                          <a:solidFill>
                            <a:srgbClr val="21242A"/>
                          </a:solidFill>
                          <a:latin typeface="Microsoft YaHei"/>
                        </a:rPr>
                        <a:t>早期复发患者中</a:t>
                      </a:r>
                    </a:p>
                  </a:txBody>
                  <a:tcPr>
                    <a:solidFill>
                      <a:srgbClr val="FFFFFF"/>
                    </a:solidFill>
                  </a:tcPr>
                </a:tc>
                <a:tc>
                  <a:txBody>
                    <a:bodyPr wrap="square" lIns="36576" rIns="36576" tIns="18288" bIns="18288"/>
                    <a:lstStyle/>
                    <a:p>
                      <a:r>
                        <a:rPr sz="540" b="0">
                          <a:solidFill>
                            <a:srgbClr val="21242A"/>
                          </a:solidFill>
                          <a:latin typeface="Microsoft YaHei"/>
                        </a:rPr>
                        <a:t>低危组5年RFS 89.7%，中危组71.4%，高危组48.5% (p=0.007)</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摘要号：PS2247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弥漫性大b细胞淋巴瘤肠道生态失调模式的系统评价和荟萃分析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microbiome-lymphoma axis: a systematic review and meta-analysis of gut dy...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N=4087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回顾性临床研究结果：the microbiome-lymphoma axis: a systematic review and...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This first comprehensive synthesis identifies a reproducible sp...</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人数：4087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研究主题：the microbiome-lymphoma axis: a systematic review and meta-analysis of gut dysbiosis pattern in diffuse large b-cell ly...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弥漫性大b细胞淋巴瘤肠道生态失调模式的系统评价和荟萃分析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microbiome-lymphoma axis: a systematic review and meta-analysis of gut dy...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gut microbiota plays a pivotal role in immune regulation and cancer biology.</a:t>
            </a:r>
          </a:p>
          <a:p>
            <a:pPr>
              <a:lnSpc>
                <a:spcPct val="103000"/>
              </a:lnSpc>
              <a:spcAft>
                <a:spcPts val="300"/>
              </a:spcAft>
              <a:defRPr sz="570">
                <a:solidFill>
                  <a:srgbClr val="21242A"/>
                </a:solidFill>
                <a:latin typeface="Microsoft YaHei"/>
              </a:defRPr>
            </a:pPr>
            <a:r>
              <a:t>Emerging evidence indicates that gut dysbiosis may contribute to the development of diffuse large B-cell lymphoma (DLBCL), the most prevalent and aggressive sub</a:t>
            </a:r>
          </a:p>
          <a:p>
            <a:pPr>
              <a:lnSpc>
                <a:spcPct val="103000"/>
              </a:lnSpc>
              <a:spcAft>
                <a:spcPts val="300"/>
              </a:spcAft>
              <a:defRPr sz="570">
                <a:solidFill>
                  <a:srgbClr val="21242A"/>
                </a:solidFill>
                <a:latin typeface="Microsoft YaHei"/>
              </a:defRPr>
            </a:pPr>
            <a:r>
              <a:t>type of non-Hodgkin lymphoma.</a:t>
            </a:r>
          </a:p>
          <a:p>
            <a:pPr>
              <a:lnSpc>
                <a:spcPct val="103000"/>
              </a:lnSpc>
              <a:spcAft>
                <a:spcPts val="300"/>
              </a:spcAft>
              <a:defRPr sz="570">
                <a:solidFill>
                  <a:srgbClr val="21242A"/>
                </a:solidFill>
                <a:latin typeface="Microsoft YaHei"/>
              </a:defRPr>
            </a:pPr>
            <a:r>
              <a:t>However, the specific microbial alterations associated with DLBCL have not been comprehensively synthesized.</a:t>
            </a:r>
          </a:p>
          <a:p>
            <a:pPr>
              <a:lnSpc>
                <a:spcPct val="103000"/>
              </a:lnSpc>
              <a:spcAft>
                <a:spcPts val="300"/>
              </a:spcAft>
              <a:defRPr sz="570">
                <a:solidFill>
                  <a:srgbClr val="21242A"/>
                </a:solidFill>
                <a:latin typeface="Microsoft YaHei"/>
              </a:defRPr>
            </a:pPr>
            <a:r>
              <a:t>Aims: To systematically evaluate and synthesize evidence on gut microbiota (GMB) alterations associated with DLBCL, with a focus on species-level microbial sign</a:t>
            </a:r>
          </a:p>
          <a:p>
            <a:pPr>
              <a:lnSpc>
                <a:spcPct val="103000"/>
              </a:lnSpc>
              <a:spcAft>
                <a:spcPts val="300"/>
              </a:spcAft>
              <a:defRPr sz="570">
                <a:solidFill>
                  <a:srgbClr val="21242A"/>
                </a:solidFill>
                <a:latin typeface="Microsoft YaHei"/>
              </a:defRPr>
            </a:pPr>
            <a:r>
              <a:t>atures.</a:t>
            </a:r>
          </a:p>
          <a:p>
            <a:pPr>
              <a:lnSpc>
                <a:spcPct val="103000"/>
              </a:lnSpc>
              <a:spcAft>
                <a:spcPts val="300"/>
              </a:spcAft>
              <a:defRPr sz="570">
                <a:solidFill>
                  <a:srgbClr val="21242A"/>
                </a:solidFill>
                <a:latin typeface="Microsoft YaHei"/>
              </a:defRPr>
            </a:pPr>
            <a:r>
              <a:t>Methods: A systematic review and meta-analysis of thirteen studies involving 4,087 cases was conducted.</a:t>
            </a:r>
          </a:p>
          <a:p>
            <a:pPr>
              <a:lnSpc>
                <a:spcPct val="103000"/>
              </a:lnSpc>
              <a:spcAft>
                <a:spcPts val="300"/>
              </a:spcAft>
              <a:defRPr sz="570">
                <a:solidFill>
                  <a:srgbClr val="21242A"/>
                </a:solidFill>
                <a:latin typeface="Microsoft YaHei"/>
              </a:defRPr>
            </a:pPr>
            <a:r>
              <a:t>Both observational and Mendelian randomization (MR) studies were included.</a:t>
            </a:r>
          </a:p>
          <a:p>
            <a:pPr>
              <a:lnSpc>
                <a:spcPct val="103000"/>
              </a:lnSpc>
              <a:spcAft>
                <a:spcPts val="300"/>
              </a:spcAft>
              <a:defRPr sz="570">
                <a:solidFill>
                  <a:srgbClr val="21242A"/>
                </a:solidFill>
                <a:latin typeface="Microsoft YaHei"/>
              </a:defRPr>
            </a:pPr>
            <a:r>
              <a:t>Random-effects models were used to calculate pooled odds ratios (ORs) for MR studies, while observational studies contributed to qualitative assessment.</a:t>
            </a:r>
          </a:p>
          <a:p>
            <a:pPr>
              <a:lnSpc>
                <a:spcPct val="103000"/>
              </a:lnSpc>
              <a:spcAft>
                <a:spcPts val="300"/>
              </a:spcAft>
              <a:defRPr sz="570">
                <a:solidFill>
                  <a:srgbClr val="21242A"/>
                </a:solidFill>
                <a:latin typeface="Microsoft YaHei"/>
              </a:defRPr>
            </a:pPr>
            <a:r>
              <a:t>Microbial changes were analyzed at the species level to enhance biological interpretation.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first comprehensive synthesis identifies a reproducible species-level microbial signature in DLBCL characterized by loss of beneficial taxa and enrichment </a:t>
            </a:r>
          </a:p>
          <a:p>
            <a:pPr>
              <a:lnSpc>
                <a:spcPct val="103000"/>
              </a:lnSpc>
              <a:spcAft>
                <a:spcPts val="300"/>
              </a:spcAft>
              <a:defRPr sz="590">
                <a:solidFill>
                  <a:srgbClr val="21242A"/>
                </a:solidFill>
                <a:latin typeface="Microsoft YaHei"/>
              </a:defRPr>
            </a:pPr>
            <a:r>
              <a:t>of pro-tumorigenic microbes.</a:t>
            </a:r>
          </a:p>
          <a:p>
            <a:pPr>
              <a:lnSpc>
                <a:spcPct val="103000"/>
              </a:lnSpc>
              <a:spcAft>
                <a:spcPts val="300"/>
              </a:spcAft>
              <a:defRPr sz="590">
                <a:solidFill>
                  <a:srgbClr val="21242A"/>
                </a:solidFill>
                <a:latin typeface="Microsoft YaHei"/>
              </a:defRPr>
            </a:pPr>
            <a:r>
              <a:t>These alterations may promote lymphomagenesis through inflammatory, metabolic, and immune-modulatory mechanisms.</a:t>
            </a:r>
          </a:p>
          <a:p>
            <a:pPr>
              <a:lnSpc>
                <a:spcPct val="103000"/>
              </a:lnSpc>
              <a:spcAft>
                <a:spcPts val="300"/>
              </a:spcAft>
              <a:defRPr sz="590">
                <a:solidFill>
                  <a:srgbClr val="21242A"/>
                </a:solidFill>
                <a:latin typeface="Microsoft YaHei"/>
              </a:defRPr>
            </a:pPr>
            <a:r>
              <a:t>Our findings highlight the gut microbiota as a latent biomarker source and therapeutic target, supporting microbiota-modulating strategies in precision lymphoma</a:t>
            </a:r>
          </a:p>
          <a:p>
            <a:pPr>
              <a:lnSpc>
                <a:spcPct val="103000"/>
              </a:lnSpc>
              <a:spcAft>
                <a:spcPts val="300"/>
              </a:spcAft>
              <a:defRPr sz="590">
                <a:solidFill>
                  <a:srgbClr val="21242A"/>
                </a:solidFill>
                <a:latin typeface="Microsoft YaHei"/>
              </a:defRPr>
            </a:pPr>
            <a:r>
              <a:t> care.</a:t>
            </a:r>
          </a:p>
          <a:p>
            <a:pPr>
              <a:lnSpc>
                <a:spcPct val="103000"/>
              </a:lnSpc>
              <a:spcAft>
                <a:spcPts val="300"/>
              </a:spcAft>
              <a:defRPr sz="590">
                <a:solidFill>
                  <a:srgbClr val="21242A"/>
                </a:solidFill>
                <a:latin typeface="Microsoft YaHei"/>
              </a:defRPr>
            </a:pPr>
            <a:r>
              <a:t>\n Mendelian randomization studies detected a borderline overall association of gut microbiota and DLBCL.</a:t>
            </a:r>
          </a:p>
          <a:p>
            <a:pPr>
              <a:lnSpc>
                <a:spcPct val="103000"/>
              </a:lnSpc>
              <a:spcAft>
                <a:spcPts val="300"/>
              </a:spcAft>
              <a:defRPr sz="590">
                <a:solidFill>
                  <a:srgbClr val="21242A"/>
                </a:solidFill>
                <a:latin typeface="Microsoft YaHei"/>
              </a:defRPr>
            </a:pPr>
            <a:r>
              <a:t>However, stratified analyses per taxa showed significant pooled OR shifting towards depletion for; Alistipes, Ruminococcaceae UCG011, Eubacterium coprostanolige</a:t>
            </a:r>
          </a:p>
          <a:p>
            <a:pPr>
              <a:lnSpc>
                <a:spcPct val="103000"/>
              </a:lnSpc>
              <a:spcAft>
                <a:spcPts val="300"/>
              </a:spcAft>
              <a:defRPr sz="590">
                <a:solidFill>
                  <a:srgbClr val="21242A"/>
                </a:solidFill>
                <a:latin typeface="Microsoft YaHei"/>
              </a:defRPr>
            </a:pPr>
            <a:r>
              <a:t>nes group.</a:t>
            </a:r>
          </a:p>
          <a:p>
            <a:pPr>
              <a:lnSpc>
                <a:spcPct val="103000"/>
              </a:lnSpc>
              <a:spcAft>
                <a:spcPts val="300"/>
              </a:spcAft>
              <a:defRPr sz="590">
                <a:solidFill>
                  <a:srgbClr val="21242A"/>
                </a:solidFill>
                <a:latin typeface="Microsoft YaHei"/>
              </a:defRPr>
            </a:pPr>
            <a:r>
              <a:t>Also, shifting towards abundance for; Bilophila Desulfovibrionaceae, Coprobacter \n Our qualitative analysis revealed abundance of pathogenic and pro-inflammato</a:t>
            </a:r>
          </a:p>
          <a:p>
            <a:pPr>
              <a:lnSpc>
                <a:spcPct val="103000"/>
              </a:lnSpc>
              <a:spcAft>
                <a:spcPts val="300"/>
              </a:spcAft>
              <a:defRPr sz="590">
                <a:solidFill>
                  <a:srgbClr val="21242A"/>
                </a:solidFill>
                <a:latin typeface="Microsoft YaHei"/>
              </a:defRPr>
            </a:pPr>
            <a:r>
              <a:t>ry taxa in treatment-naïve DLBCL patients, comprising Bacteroidetes_p, Bacteroides spp., Clostridium difficile, Enterobacteriaceae_f, Enterococcaceae_f, Fusobac</a:t>
            </a:r>
          </a:p>
          <a:p>
            <a:pPr>
              <a:lnSpc>
                <a:spcPct val="103000"/>
              </a:lnSpc>
              <a:spcAft>
                <a:spcPts val="300"/>
              </a:spcAft>
              <a:defRPr sz="590">
                <a:solidFill>
                  <a:srgbClr val="21242A"/>
                </a:solidFill>
                <a:latin typeface="Microsoft YaHei"/>
              </a:defRPr>
            </a:pPr>
            <a:r>
              <a:t>teriia_c, Escherichia coli spp., Proteobacteria_p , and others.</a:t>
            </a:r>
          </a:p>
          <a:p>
            <a:pPr>
              <a:lnSpc>
                <a:spcPct val="103000"/>
              </a:lnSpc>
              <a:spcAft>
                <a:spcPts val="300"/>
              </a:spcAft>
              <a:defRPr sz="590">
                <a:solidFill>
                  <a:srgbClr val="21242A"/>
                </a:solidFill>
                <a:latin typeface="Microsoft YaHei"/>
              </a:defRPr>
            </a:pPr>
            <a:r>
              <a:t>Concurrently, there was a marked depletion of beneficial commensals, including Bifidobacterium_g., Faecalibacterium_g, Roseburia_g., Eubacterium_g, Lachnospira_</a:t>
            </a:r>
          </a:p>
          <a:p>
            <a:pPr>
              <a:lnSpc>
                <a:spcPct val="103000"/>
              </a:lnSpc>
              <a:spcAft>
                <a:spcPts val="300"/>
              </a:spcAft>
              <a:defRPr sz="590">
                <a:solidFill>
                  <a:srgbClr val="21242A"/>
                </a:solidFill>
                <a:latin typeface="Microsoft YaHei"/>
              </a:defRPr>
            </a:pPr>
            <a:r>
              <a:t>g and Lactobacillus_g., which are critical for maintaining gut barrier integrity and regulating immune homeostasis.</a:t>
            </a:r>
          </a:p>
          <a:p>
            <a:pPr>
              <a:lnSpc>
                <a:spcPct val="103000"/>
              </a:lnSpc>
              <a:spcAft>
                <a:spcPts val="300"/>
              </a:spcAft>
              <a:defRPr sz="590">
                <a:solidFill>
                  <a:srgbClr val="21242A"/>
                </a:solidFill>
                <a:latin typeface="Microsoft YaHei"/>
              </a:defRPr>
            </a:pPr>
            <a:r>
              <a:t>The shift toward a microbiota dominated by inflammatory and opportunistic taxa, alongside the loss of beneficial species, may contribute to systemic immune dysr</a:t>
            </a:r>
          </a:p>
          <a:p>
            <a:pPr>
              <a:lnSpc>
                <a:spcPct val="103000"/>
              </a:lnSpc>
              <a:spcAft>
                <a:spcPts val="300"/>
              </a:spcAft>
              <a:defRPr sz="590">
                <a:solidFill>
                  <a:srgbClr val="21242A"/>
                </a:solidFill>
                <a:latin typeface="Microsoft YaHei"/>
              </a:defRPr>
            </a:pPr>
            <a:r>
              <a:t>egulation and disease progression in DLBCL.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This first comprehensive synthesis identifies a reproducible species-level microbial signature in DLBCL characterized by loss of beneficial taxa and enrich</a:t>
            </a:r>
          </a:p>
          <a:p>
            <a:pPr>
              <a:lnSpc>
                <a:spcPct val="103000"/>
              </a:lnSpc>
              <a:spcAft>
                <a:spcPts val="300"/>
              </a:spcAft>
              <a:defRPr sz="580">
                <a:solidFill>
                  <a:srgbClr val="21242A"/>
                </a:solidFill>
                <a:latin typeface="Microsoft YaHei"/>
              </a:defRPr>
            </a:pPr>
            <a:r>
              <a:t>ment of pro-tumorigenic microbes.</a:t>
            </a:r>
          </a:p>
          <a:p>
            <a:pPr>
              <a:lnSpc>
                <a:spcPct val="103000"/>
              </a:lnSpc>
              <a:spcAft>
                <a:spcPts val="300"/>
              </a:spcAft>
              <a:defRPr sz="580">
                <a:solidFill>
                  <a:srgbClr val="21242A"/>
                </a:solidFill>
                <a:latin typeface="Microsoft YaHei"/>
              </a:defRPr>
            </a:pPr>
            <a:r>
              <a:t>These alterations may promote lymphomagenesis through inflammatory, metabolic, and immune-modulatory mechanisms.</a:t>
            </a:r>
          </a:p>
          <a:p>
            <a:pPr>
              <a:lnSpc>
                <a:spcPct val="103000"/>
              </a:lnSpc>
              <a:spcAft>
                <a:spcPts val="300"/>
              </a:spcAft>
              <a:defRPr sz="580">
                <a:solidFill>
                  <a:srgbClr val="21242A"/>
                </a:solidFill>
                <a:latin typeface="Microsoft YaHei"/>
              </a:defRPr>
            </a:pPr>
            <a:r>
              <a:t>Our findings highlight the gut microbiota as a latent biomarker source and therapeutic target, supporting microbiota-…</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摘要号：PS2206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将tp53缺失和非整倍性与不同的弥漫性大b细胞淋巴瘤亚型叠加，可以细化肿瘤分类并增强风险分层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overlaying tp53 loss and aneuploidy with distinct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回顾性临床研究结果：overlaying tp53 loss and aneuploidy with distinct dif...</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TP53+肿瘤的非整倍体评分显著高于TP53-肿瘤（p&lt;0.001）</a:t>
            </a:r>
          </a:p>
          <a:p>
            <a:pPr>
              <a:lnSpc>
                <a:spcPct val="103000"/>
              </a:lnSpc>
              <a:spcAft>
                <a:spcPts val="300"/>
              </a:spcAft>
              <a:defRPr sz="800">
                <a:solidFill>
                  <a:srgbClr val="21242A"/>
                </a:solidFill>
                <a:latin typeface="Microsoft YaHei"/>
              </a:defRPr>
            </a:pPr>
            <a:r>
              <a:t>TP53+/A+状态覆盖了大多数A53/C2亚型病例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人数：1123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研究主题：overlaying tp53 loss and aneuploidy with distinct diffuse large b-cell lymphoma subtypes refines tumor classification 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将tp53缺失和非整倍性与不同的弥漫性大b细胞淋巴瘤亚型叠加，可以细化肿瘤分类并增强风险分层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overlaying tp53 loss and aneuploidy with distinct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Genetic subtypes are widely used to stratify diffuse large B-cell lymphoma (DLBCL).</a:t>
            </a:r>
          </a:p>
          <a:p>
            <a:pPr>
              <a:lnSpc>
                <a:spcPct val="103000"/>
              </a:lnSpc>
              <a:spcAft>
                <a:spcPts val="300"/>
              </a:spcAft>
              <a:defRPr sz="570">
                <a:solidFill>
                  <a:srgbClr val="21242A"/>
                </a:solidFill>
                <a:latin typeface="Microsoft YaHei"/>
              </a:defRPr>
            </a:pPr>
            <a:r>
              <a:t>Yet, patients within the same subtype often exhibit heterogeneous outcomes.</a:t>
            </a:r>
          </a:p>
          <a:p>
            <a:pPr>
              <a:lnSpc>
                <a:spcPct val="103000"/>
              </a:lnSpc>
              <a:spcAft>
                <a:spcPts val="300"/>
              </a:spcAft>
              <a:defRPr sz="570">
                <a:solidFill>
                  <a:srgbClr val="21242A"/>
                </a:solidFill>
                <a:latin typeface="Microsoft YaHei"/>
              </a:defRPr>
            </a:pPr>
            <a:r>
              <a:t>While chromosome number alteration (CNA)-driven subtypes such as A53 and C2 capture genomic instability, they encompass tumors with variable degrees of aneuploi</a:t>
            </a:r>
          </a:p>
          <a:p>
            <a:pPr>
              <a:lnSpc>
                <a:spcPct val="103000"/>
              </a:lnSpc>
              <a:spcAft>
                <a:spcPts val="300"/>
              </a:spcAft>
              <a:defRPr sz="570">
                <a:solidFill>
                  <a:srgbClr val="21242A"/>
                </a:solidFill>
                <a:latin typeface="Microsoft YaHei"/>
              </a:defRPr>
            </a:pPr>
            <a:r>
              <a:t>dy.</a:t>
            </a:r>
          </a:p>
          <a:p>
            <a:pPr>
              <a:lnSpc>
                <a:spcPct val="103000"/>
              </a:lnSpc>
              <a:spcAft>
                <a:spcPts val="300"/>
              </a:spcAft>
              <a:defRPr sz="570">
                <a:solidFill>
                  <a:srgbClr val="21242A"/>
                </a:solidFill>
                <a:latin typeface="Microsoft YaHei"/>
              </a:defRPr>
            </a:pPr>
            <a:r>
              <a:t>Loss-of-function (LOF) TP53 alterations and aneuploidy have each been associated with adverse prognosis, but their independent and combined effects in DLBCL rem</a:t>
            </a:r>
          </a:p>
          <a:p>
            <a:pPr>
              <a:lnSpc>
                <a:spcPct val="103000"/>
              </a:lnSpc>
              <a:spcAft>
                <a:spcPts val="300"/>
              </a:spcAft>
              <a:defRPr sz="570">
                <a:solidFill>
                  <a:srgbClr val="21242A"/>
                </a:solidFill>
                <a:latin typeface="Microsoft YaHei"/>
              </a:defRPr>
            </a:pPr>
            <a:r>
              <a:t>ain insufficiently defined.</a:t>
            </a:r>
          </a:p>
          <a:p>
            <a:pPr>
              <a:lnSpc>
                <a:spcPct val="103000"/>
              </a:lnSpc>
              <a:spcAft>
                <a:spcPts val="300"/>
              </a:spcAft>
              <a:defRPr sz="570">
                <a:solidFill>
                  <a:srgbClr val="21242A"/>
                </a:solidFill>
                <a:latin typeface="Microsoft YaHei"/>
              </a:defRPr>
            </a:pPr>
            <a:r>
              <a:t>Aims: To refine genomic stratification of DLBCL by disentangling the effects of TP53 loss and quantitative aneuploidy, we introduced two novel genomic instabili</a:t>
            </a:r>
          </a:p>
          <a:p>
            <a:pPr>
              <a:lnSpc>
                <a:spcPct val="103000"/>
              </a:lnSpc>
              <a:spcAft>
                <a:spcPts val="300"/>
              </a:spcAft>
              <a:defRPr sz="570">
                <a:solidFill>
                  <a:srgbClr val="21242A"/>
                </a:solidFill>
                <a:latin typeface="Microsoft YaHei"/>
              </a:defRPr>
            </a:pPr>
            <a:r>
              <a:t>ty statuses into Lymphly, our previously developed DLBCL genetic subtype classification framework.</a:t>
            </a:r>
          </a:p>
          <a:p>
            <a:pPr>
              <a:lnSpc>
                <a:spcPct val="103000"/>
              </a:lnSpc>
              <a:spcAft>
                <a:spcPts val="300"/>
              </a:spcAft>
              <a:defRPr sz="570">
                <a:solidFill>
                  <a:srgbClr val="21242A"/>
                </a:solidFill>
                <a:latin typeface="Microsoft YaHei"/>
              </a:defRPr>
            </a:pPr>
            <a:r>
              <a:t>These statuses are TP53+/−, denoting TP53 LOF alterations, and A+/−, an aneuploidy-based status.</a:t>
            </a:r>
          </a:p>
          <a:p>
            <a:pPr>
              <a:lnSpc>
                <a:spcPct val="103000"/>
              </a:lnSpc>
              <a:spcAft>
                <a:spcPts val="300"/>
              </a:spcAft>
              <a:defRPr sz="570">
                <a:solidFill>
                  <a:srgbClr val="21242A"/>
                </a:solidFill>
                <a:latin typeface="Microsoft YaHei"/>
              </a:defRPr>
            </a:pPr>
            <a:r>
              <a:t>This approach explicitly distinguishes TP53 loss from aneuploidy within Lymphly subtypes.</a:t>
            </a:r>
          </a:p>
          <a:p>
            <a:pPr>
              <a:lnSpc>
                <a:spcPct val="103000"/>
              </a:lnSpc>
              <a:spcAft>
                <a:spcPts val="300"/>
              </a:spcAft>
              <a:defRPr sz="570">
                <a:solidFill>
                  <a:srgbClr val="21242A"/>
                </a:solidFill>
                <a:latin typeface="Microsoft YaHei"/>
              </a:defRPr>
            </a:pPr>
            <a:r>
              <a:t>Methods: We analyzed 1,123 DLBCL samples with genome-wide CNA profiling. Survival data were available for 579 samples.</a:t>
            </a:r>
          </a:p>
          <a:p>
            <a:pPr>
              <a:lnSpc>
                <a:spcPct val="103000"/>
              </a:lnSpc>
              <a:spcAft>
                <a:spcPts val="300"/>
              </a:spcAft>
              <a:defRPr sz="570">
                <a:solidFill>
                  <a:srgbClr val="21242A"/>
                </a:solidFill>
                <a:latin typeface="Microsoft YaHei"/>
              </a:defRPr>
            </a:pPr>
            <a:r>
              <a:t>The aneuploidy score was defined as the number of chromosome arms deviating from average ploidy (excluding acentric arms).</a:t>
            </a:r>
          </a:p>
          <a:p>
            <a:pPr>
              <a:lnSpc>
                <a:spcPct val="103000"/>
              </a:lnSpc>
              <a:spcAft>
                <a:spcPts val="300"/>
              </a:spcAft>
              <a:defRPr sz="570">
                <a:solidFill>
                  <a:srgbClr val="21242A"/>
                </a:solidFill>
                <a:latin typeface="Microsoft YaHei"/>
              </a:defRPr>
            </a:pPr>
            <a:r>
              <a:t>The distribution was bimodal (range 0–39), with a nadir at ~15. K-means clustering defined A+ tumors as those with &gt;14 arm-level CNAs.</a:t>
            </a:r>
          </a:p>
          <a:p>
            <a:pPr>
              <a:lnSpc>
                <a:spcPct val="103000"/>
              </a:lnSpc>
              <a:spcAft>
                <a:spcPts val="300"/>
              </a:spcAft>
              <a:defRPr sz="570">
                <a:solidFill>
                  <a:srgbClr val="21242A"/>
                </a:solidFill>
                <a:latin typeface="Microsoft YaHei"/>
              </a:defRPr>
            </a:pPr>
            <a:r>
              <a:t>TP53+ status was defined as TP53 LOF mutation or deletion.</a:t>
            </a:r>
          </a:p>
          <a:p>
            <a:pPr>
              <a:lnSpc>
                <a:spcPct val="103000"/>
              </a:lnSpc>
              <a:spcAft>
                <a:spcPts val="300"/>
              </a:spcAft>
              <a:defRPr sz="570">
                <a:solidFill>
                  <a:srgbClr val="21242A"/>
                </a:solidFill>
                <a:latin typeface="Microsoft YaHei"/>
              </a:defRPr>
            </a:pPr>
            <a:r>
              <a:t>We also analyzed previously assigned A53/C2 cases to assess the concordance of these existing CNA-based subtypes with the Lymphly statuses.</a:t>
            </a:r>
          </a:p>
          <a:p>
            <a:pPr>
              <a:lnSpc>
                <a:spcPct val="103000"/>
              </a:lnSpc>
              <a:spcAft>
                <a:spcPts val="300"/>
              </a:spcAft>
              <a:defRPr sz="570">
                <a:solidFill>
                  <a:srgbClr val="21242A"/>
                </a:solidFill>
                <a:latin typeface="Microsoft YaHei"/>
              </a:defRPr>
            </a:pPr>
            <a:r>
              <a:t>To evaluate the utility of the Lymphly statuses, we characterized their expression profiles and assessed their ability to stratify patients based on survival ou</a:t>
            </a:r>
          </a:p>
          <a:p>
            <a:pPr>
              <a:lnSpc>
                <a:spcPct val="103000"/>
              </a:lnSpc>
              <a:spcAft>
                <a:spcPts val="300"/>
              </a:spcAft>
              <a:defRPr sz="570">
                <a:solidFill>
                  <a:srgbClr val="21242A"/>
                </a:solidFill>
                <a:latin typeface="Microsoft YaHei"/>
              </a:defRPr>
            </a:pPr>
            <a:r>
              <a:t>tcomes.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TP53 loss and high aneuploidy represent independent and clinically meaningful genomic dimensions in DLBCL, in addition to Lymphly subtypes.</a:t>
            </a:r>
          </a:p>
          <a:p>
            <a:pPr>
              <a:lnSpc>
                <a:spcPct val="103000"/>
              </a:lnSpc>
              <a:spcAft>
                <a:spcPts val="300"/>
              </a:spcAft>
              <a:defRPr sz="590">
                <a:solidFill>
                  <a:srgbClr val="21242A"/>
                </a:solidFill>
                <a:latin typeface="Microsoft YaHei"/>
              </a:defRPr>
            </a:pPr>
            <a:r>
              <a:t>Their integration into Lymphly refines the existing A53/C2 classification and improves risk stratification based on biologically grounded, actionable insights.</a:t>
            </a:r>
          </a:p>
          <a:p>
            <a:pPr>
              <a:lnSpc>
                <a:spcPct val="103000"/>
              </a:lnSpc>
              <a:spcAft>
                <a:spcPts val="300"/>
              </a:spcAft>
              <a:defRPr sz="590">
                <a:solidFill>
                  <a:srgbClr val="21242A"/>
                </a:solidFill>
                <a:latin typeface="Microsoft YaHei"/>
              </a:defRPr>
            </a:pPr>
            <a:r>
              <a:t>Our findings provide a robust framework for patient stratification based on genomic features, offering potential benefits for trial design, patient selection, a</a:t>
            </a:r>
          </a:p>
          <a:p>
            <a:pPr>
              <a:lnSpc>
                <a:spcPct val="103000"/>
              </a:lnSpc>
              <a:spcAft>
                <a:spcPts val="300"/>
              </a:spcAft>
              <a:defRPr sz="590">
                <a:solidFill>
                  <a:srgbClr val="21242A"/>
                </a:solidFill>
                <a:latin typeface="Microsoft YaHei"/>
              </a:defRPr>
            </a:pPr>
            <a:r>
              <a:t>nd treatment decision-making.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TP53+ tumors had significantly higher aneuploidy scores than TP53− tumors (p /− and A+ /− statuses captured most of the A53/C2 cases analyzed, dem</a:t>
            </a:r>
          </a:p>
          <a:p>
            <a:pPr>
              <a:lnSpc>
                <a:spcPct val="103000"/>
              </a:lnSpc>
              <a:spcAft>
                <a:spcPts val="300"/>
              </a:spcAft>
              <a:defRPr sz="580">
                <a:solidFill>
                  <a:srgbClr val="21242A"/>
                </a:solidFill>
                <a:latin typeface="Microsoft YaHei"/>
              </a:defRPr>
            </a:pPr>
            <a:r>
              <a:t>onstrating the ability of these two Lymphly statuses to delineate the sample composition and underlying biology of the A53 and C2 subtypes.</a:t>
            </a:r>
          </a:p>
          <a:p>
            <a:pPr>
              <a:lnSpc>
                <a:spcPct val="103000"/>
              </a:lnSpc>
              <a:spcAft>
                <a:spcPts val="300"/>
              </a:spcAft>
              <a:defRPr sz="580">
                <a:solidFill>
                  <a:srgbClr val="21242A"/>
                </a:solidFill>
                <a:latin typeface="Microsoft YaHei"/>
              </a:defRPr>
            </a:pPr>
            <a:r>
              <a:t>\n Biologically, A+ tumors were enriched for the germinal center B-cell–like cell-of-origin (GCB COO), exhibited reduced B-cell content, and showed altered</a:t>
            </a:r>
          </a:p>
          <a:p>
            <a:pPr>
              <a:lnSpc>
                <a:spcPct val="103000"/>
              </a:lnSpc>
              <a:spcAft>
                <a:spcPts val="300"/>
              </a:spcAft>
              <a:defRPr sz="580">
                <a:solidFill>
                  <a:srgbClr val="21242A"/>
                </a:solidFill>
                <a:latin typeface="Microsoft YaHei"/>
              </a:defRPr>
            </a:pPr>
            <a:r>
              <a:t> DNA replication and repair programs.</a:t>
            </a:r>
          </a:p>
          <a:p>
            <a:pPr>
              <a:lnSpc>
                <a:spcPct val="103000"/>
              </a:lnSpc>
              <a:spcAft>
                <a:spcPts val="300"/>
              </a:spcAft>
              <a:defRPr sz="580">
                <a:solidFill>
                  <a:srgbClr val="21242A"/>
                </a:solidFill>
                <a:latin typeface="Microsoft YaHei"/>
              </a:defRPr>
            </a:pPr>
            <a:r>
              <a:t>Clinically, TP53+ was associated with primary refractoriness and inferior survival, whereas A+ was associated with improved prognosis, particularly among T</a:t>
            </a:r>
          </a:p>
          <a:p>
            <a:pPr>
              <a:lnSpc>
                <a:spcPct val="103000"/>
              </a:lnSpc>
              <a:spcAft>
                <a:spcPts val="300"/>
              </a:spcAft>
              <a:defRPr sz="580">
                <a:solidFill>
                  <a:srgbClr val="21242A"/>
                </a:solidFill>
                <a:latin typeface="Microsoft YaHei"/>
              </a:defRPr>
            </a:pPr>
            <a:r>
              <a:t>P53+ tumors.</a:t>
            </a:r>
          </a:p>
          <a:p>
            <a:pPr>
              <a:lnSpc>
                <a:spcPct val="103000"/>
              </a:lnSpc>
              <a:spcAft>
                <a:spcPts val="300"/>
              </a:spcAft>
              <a:defRPr sz="580">
                <a:solidFill>
                  <a:srgbClr val="21242A"/>
                </a:solidFill>
                <a:latin typeface="Microsoft YaHei"/>
              </a:defRPr>
            </a:pPr>
            <a:r>
              <a:t>Conclusion: TP53 loss and high aneuploidy represent independent and clinically meaningful genomic dimensions in DLBCL, in addition to Lymphly subtypes.</a:t>
            </a:r>
          </a:p>
          <a:p>
            <a:pPr>
              <a:lnSpc>
                <a:spcPct val="103000"/>
              </a:lnSpc>
              <a:spcAft>
                <a:spcPts val="300"/>
              </a:spcAft>
              <a:defRPr sz="580">
                <a:solidFill>
                  <a:srgbClr val="21242A"/>
                </a:solidFill>
                <a:latin typeface="Microsoft YaHei"/>
              </a:defRPr>
            </a:pPr>
            <a:r>
              <a:t>Their integration into Lymphly refines the existing A53/C2 classification and improves risk stratification based on biologically grounded, actionable insig</a:t>
            </a:r>
          </a:p>
          <a:p>
            <a:pPr>
              <a:lnSpc>
                <a:spcPct val="103000"/>
              </a:lnSpc>
              <a:spcAft>
                <a:spcPts val="300"/>
              </a:spcAft>
              <a:defRPr sz="580">
                <a:solidFill>
                  <a:srgbClr val="21242A"/>
                </a:solidFill>
                <a:latin typeface="Microsoft YaHei"/>
              </a:defRPr>
            </a:pPr>
            <a:r>
              <a:t>hts.</a:t>
            </a:r>
          </a:p>
          <a:p>
            <a:pPr>
              <a:lnSpc>
                <a:spcPct val="103000"/>
              </a:lnSpc>
              <a:spcAft>
                <a:spcPts val="300"/>
              </a:spcAft>
              <a:defRPr sz="580">
                <a:solidFill>
                  <a:srgbClr val="21242A"/>
                </a:solidFill>
                <a:latin typeface="Microsoft YaHei"/>
              </a:defRPr>
            </a:pPr>
            <a:r>
              <a:t>Our findings provide a robust framework for patient stratification based on genomic features, offering potential benefits for trial design, patient selecti</a:t>
            </a:r>
          </a:p>
          <a:p>
            <a:pPr>
              <a:lnSpc>
                <a:spcPct val="103000"/>
              </a:lnSpc>
              <a:spcAft>
                <a:spcPts val="300"/>
              </a:spcAft>
              <a:defRPr sz="580">
                <a:solidFill>
                  <a:srgbClr val="21242A"/>
                </a:solidFill>
                <a:latin typeface="Microsoft YaHei"/>
              </a:defRPr>
            </a:pPr>
            <a:r>
              <a:t>on, and treatment decision-making.</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摘要号：PS2188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美国学术项目与社区项目治疗的老年dlbcl患者的10年生存率差异分析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differences in outcomes for elderly patients with dlbcl treated at american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N=103671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分组：学术癌症项目组（ACP）</a:t>
            </a:r>
          </a:p>
          <a:p>
            <a:pPr>
              <a:lnSpc>
                <a:spcPct val="103000"/>
              </a:lnSpc>
              <a:spcAft>
                <a:spcPts val="300"/>
              </a:spcAft>
              <a:defRPr sz="800">
                <a:solidFill>
                  <a:srgbClr val="21242A"/>
                </a:solidFill>
                <a:latin typeface="Microsoft YaHei"/>
              </a:defRPr>
            </a:pPr>
            <a:r>
              <a:t>社区癌症项目组（CCP）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多组/多方案比较：学术癌症项目组（ACP）</a:t>
            </a:r>
          </a:p>
          <a:p>
            <a:pPr>
              <a:lnSpc>
                <a:spcPct val="103000"/>
              </a:lnSpc>
              <a:spcAft>
                <a:spcPts val="300"/>
              </a:spcAft>
              <a:defRPr sz="800">
                <a:solidFill>
                  <a:srgbClr val="21242A"/>
                </a:solidFill>
                <a:latin typeface="Microsoft YaHei"/>
              </a:defRPr>
            </a:pPr>
            <a:r>
              <a:t>社区癌症项目组（CCP）</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中位总生存期（OS）：ACP组1.79年 vs CCP组1.50年</a:t>
            </a:r>
          </a:p>
          <a:p>
            <a:pPr>
              <a:lnSpc>
                <a:spcPct val="103000"/>
              </a:lnSpc>
              <a:spcAft>
                <a:spcPts val="300"/>
              </a:spcAft>
              <a:defRPr sz="800">
                <a:solidFill>
                  <a:srgbClr val="21242A"/>
                </a:solidFill>
                <a:latin typeface="Microsoft YaHei"/>
              </a:defRPr>
            </a:pPr>
            <a:r>
              <a:t>2年OS率：ACP组49% [CI: 0.48,0.49] vs CCP组46% [CI: 0.459,0.468]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人数：103671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分组/治疗流程：学术癌症项目组（ACP）、社区癌症项目组（CCP）</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美国学术项目与社区项目治疗的老年dlbcl患者的10年生存率差异分析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differences in outcomes for elderly patients with dlbcl treated at american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an aggressive B-cell malignancy that primarily affects older adults.</a:t>
            </a:r>
          </a:p>
          <a:p>
            <a:pPr>
              <a:lnSpc>
                <a:spcPct val="103000"/>
              </a:lnSpc>
              <a:spcAft>
                <a:spcPts val="300"/>
              </a:spcAft>
              <a:defRPr sz="570">
                <a:solidFill>
                  <a:srgbClr val="21242A"/>
                </a:solidFill>
                <a:latin typeface="Microsoft YaHei"/>
              </a:defRPr>
            </a:pPr>
            <a:r>
              <a:t>Optimal treatment management in the geriatric population is challenging due to the high-risk disease biology and their age-specific vulnerabilities.</a:t>
            </a:r>
          </a:p>
          <a:p>
            <a:pPr>
              <a:lnSpc>
                <a:spcPct val="103000"/>
              </a:lnSpc>
              <a:spcAft>
                <a:spcPts val="300"/>
              </a:spcAft>
              <a:defRPr sz="570">
                <a:solidFill>
                  <a:srgbClr val="21242A"/>
                </a:solidFill>
                <a:latin typeface="Microsoft YaHei"/>
              </a:defRPr>
            </a:pPr>
            <a:r>
              <a:t>Combination chemotherapy is effective, however, due to frailty often a dose-reduced regimen is administered.</a:t>
            </a:r>
          </a:p>
          <a:p>
            <a:pPr>
              <a:lnSpc>
                <a:spcPct val="103000"/>
              </a:lnSpc>
              <a:spcAft>
                <a:spcPts val="300"/>
              </a:spcAft>
              <a:defRPr sz="570">
                <a:solidFill>
                  <a:srgbClr val="21242A"/>
                </a:solidFill>
                <a:latin typeface="Microsoft YaHei"/>
              </a:defRPr>
            </a:pPr>
            <a:r>
              <a:t>This large population real-world study compares demographic, clinical and survival characteristics of patients older than 75 years and compares Academic Cancer </a:t>
            </a:r>
          </a:p>
          <a:p>
            <a:pPr>
              <a:lnSpc>
                <a:spcPct val="103000"/>
              </a:lnSpc>
              <a:spcAft>
                <a:spcPts val="300"/>
              </a:spcAft>
              <a:defRPr sz="570">
                <a:solidFill>
                  <a:srgbClr val="21242A"/>
                </a:solidFill>
                <a:latin typeface="Microsoft YaHei"/>
              </a:defRPr>
            </a:pPr>
            <a:r>
              <a:t>Programs (ACP) vs Community Cancer Programs (CCP).</a:t>
            </a:r>
          </a:p>
          <a:p>
            <a:pPr>
              <a:lnSpc>
                <a:spcPct val="103000"/>
              </a:lnSpc>
              <a:spcAft>
                <a:spcPts val="300"/>
              </a:spcAft>
              <a:defRPr sz="570">
                <a:solidFill>
                  <a:srgbClr val="21242A"/>
                </a:solidFill>
                <a:latin typeface="Microsoft YaHei"/>
              </a:defRPr>
            </a:pPr>
            <a:r>
              <a:t>Aims: To determine whether the treatment approach (adjusting for: age, race/ethnicity, insurance status, Charlson-Deyo comorbidity score, and distance from the </a:t>
            </a:r>
          </a:p>
          <a:p>
            <a:pPr>
              <a:lnSpc>
                <a:spcPct val="103000"/>
              </a:lnSpc>
              <a:spcAft>
                <a:spcPts val="300"/>
              </a:spcAft>
              <a:defRPr sz="570">
                <a:solidFill>
                  <a:srgbClr val="21242A"/>
                </a:solidFill>
                <a:latin typeface="Microsoft YaHei"/>
              </a:defRPr>
            </a:pPr>
            <a:r>
              <a:t>treating facility) among elderly patients (equal or over 75 years old) with DLBCL in academic versus community hospitals influences overall survival in this lym</a:t>
            </a:r>
          </a:p>
          <a:p>
            <a:pPr>
              <a:lnSpc>
                <a:spcPct val="103000"/>
              </a:lnSpc>
              <a:spcAft>
                <a:spcPts val="300"/>
              </a:spcAft>
              <a:defRPr sz="570">
                <a:solidFill>
                  <a:srgbClr val="21242A"/>
                </a:solidFill>
                <a:latin typeface="Microsoft YaHei"/>
              </a:defRPr>
            </a:pPr>
            <a:r>
              <a:t>phoma population.</a:t>
            </a:r>
          </a:p>
          <a:p>
            <a:pPr>
              <a:lnSpc>
                <a:spcPct val="103000"/>
              </a:lnSpc>
              <a:spcAft>
                <a:spcPts val="300"/>
              </a:spcAft>
              <a:defRPr sz="570">
                <a:solidFill>
                  <a:srgbClr val="21242A"/>
                </a:solidFill>
                <a:latin typeface="Microsoft YaHei"/>
              </a:defRPr>
            </a:pPr>
            <a:r>
              <a:t>Methods: A retrospective analysis using the National Cancer Database was conducted on 103,671 patients (ACP: 51,848; CCP: 51,823) diagnosed with DLBCL between 2</a:t>
            </a:r>
          </a:p>
          <a:p>
            <a:pPr>
              <a:lnSpc>
                <a:spcPct val="103000"/>
              </a:lnSpc>
              <a:spcAft>
                <a:spcPts val="300"/>
              </a:spcAft>
              <a:defRPr sz="570">
                <a:solidFill>
                  <a:srgbClr val="21242A"/>
                </a:solidFill>
                <a:latin typeface="Microsoft YaHei"/>
              </a:defRPr>
            </a:pPr>
            <a:r>
              <a:t>004 and 2022 was carried out.</a:t>
            </a:r>
          </a:p>
          <a:p>
            <a:pPr>
              <a:lnSpc>
                <a:spcPct val="103000"/>
              </a:lnSpc>
              <a:spcAft>
                <a:spcPts val="300"/>
              </a:spcAft>
              <a:defRPr sz="570">
                <a:solidFill>
                  <a:srgbClr val="21242A"/>
                </a:solidFill>
                <a:latin typeface="Microsoft YaHei"/>
              </a:defRPr>
            </a:pPr>
            <a:r>
              <a:t>ACP included academic and National Cancer Institute-designated research centers; CCP included community, comprehensive community, and integrated network cancer </a:t>
            </a:r>
          </a:p>
          <a:p>
            <a:pPr>
              <a:lnSpc>
                <a:spcPct val="103000"/>
              </a:lnSpc>
              <a:spcAft>
                <a:spcPts val="300"/>
              </a:spcAft>
              <a:defRPr sz="570">
                <a:solidFill>
                  <a:srgbClr val="21242A"/>
                </a:solidFill>
                <a:latin typeface="Microsoft YaHei"/>
              </a:defRPr>
            </a:pPr>
            <a:r>
              <a:t>programs.</a:t>
            </a:r>
          </a:p>
          <a:p>
            <a:pPr>
              <a:lnSpc>
                <a:spcPct val="103000"/>
              </a:lnSpc>
              <a:spcAft>
                <a:spcPts val="300"/>
              </a:spcAft>
              <a:defRPr sz="570">
                <a:solidFill>
                  <a:srgbClr val="21242A"/>
                </a:solidFill>
                <a:latin typeface="Microsoft YaHei"/>
              </a:defRPr>
            </a:pPr>
            <a:r>
              <a:t>Kaplan-Meier and Cox regression models were used to compare overall survival (OS), adjusting for: age, race/ethnicity, insurance status, Charlson-Deyo comorbidi</a:t>
            </a:r>
          </a:p>
          <a:p>
            <a:pPr>
              <a:lnSpc>
                <a:spcPct val="103000"/>
              </a:lnSpc>
              <a:spcAft>
                <a:spcPts val="300"/>
              </a:spcAft>
              <a:defRPr sz="570">
                <a:solidFill>
                  <a:srgbClr val="21242A"/>
                </a:solidFill>
                <a:latin typeface="Microsoft YaHei"/>
              </a:defRPr>
            </a:pPr>
            <a:r>
              <a:t>ty score, and distance from treating facility.</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Among patients aged ≥75 years with DLBCL, OS differed by treatment facility type, with a statistically significant but modest survival advantage observed among </a:t>
            </a:r>
          </a:p>
          <a:p>
            <a:pPr>
              <a:lnSpc>
                <a:spcPct val="103000"/>
              </a:lnSpc>
              <a:spcAft>
                <a:spcPts val="300"/>
              </a:spcAft>
              <a:defRPr sz="590">
                <a:solidFill>
                  <a:srgbClr val="21242A"/>
                </a:solidFill>
                <a:latin typeface="Microsoft YaHei"/>
              </a:defRPr>
            </a:pPr>
            <a:r>
              <a:t>patients treated at ACP compared with CCP (log-rank p</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Patients in ACP and CCP were mostly females with a median age of 81 years.</a:t>
            </a:r>
          </a:p>
          <a:p>
            <a:pPr>
              <a:lnSpc>
                <a:spcPct val="103000"/>
              </a:lnSpc>
              <a:spcAft>
                <a:spcPts val="300"/>
              </a:spcAft>
              <a:defRPr sz="580">
                <a:solidFill>
                  <a:srgbClr val="21242A"/>
                </a:solidFill>
                <a:latin typeface="Microsoft YaHei"/>
              </a:defRPr>
            </a:pPr>
            <a:r>
              <a:t>For both cohorts the majority were non-Hispanics and Whites; however, for ACP it was noted a higher rate of Hispanics (6% vs 5%) and Blacks (5% vs 3%) comp</a:t>
            </a:r>
          </a:p>
          <a:p>
            <a:pPr>
              <a:lnSpc>
                <a:spcPct val="103000"/>
              </a:lnSpc>
              <a:spcAft>
                <a:spcPts val="300"/>
              </a:spcAft>
              <a:defRPr sz="580">
                <a:solidFill>
                  <a:srgbClr val="21242A"/>
                </a:solidFill>
                <a:latin typeface="Microsoft YaHei"/>
              </a:defRPr>
            </a:pPr>
            <a:r>
              <a:t>ared to CCP.</a:t>
            </a:r>
          </a:p>
          <a:p>
            <a:pPr>
              <a:lnSpc>
                <a:spcPct val="103000"/>
              </a:lnSpc>
              <a:spcAft>
                <a:spcPts val="300"/>
              </a:spcAft>
              <a:defRPr sz="580">
                <a:solidFill>
                  <a:srgbClr val="21242A"/>
                </a:solidFill>
                <a:latin typeface="Microsoft YaHei"/>
              </a:defRPr>
            </a:pPr>
            <a:r>
              <a:t>Most of the patients in both groups were from the Metropolitan area, but the median distance in miles for ACP was 9.0 vs 7.4 in CCP.Treatment rates were hi</a:t>
            </a:r>
          </a:p>
          <a:p>
            <a:pPr>
              <a:lnSpc>
                <a:spcPct val="103000"/>
              </a:lnSpc>
              <a:spcAft>
                <a:spcPts val="300"/>
              </a:spcAft>
              <a:defRPr sz="580">
                <a:solidFill>
                  <a:srgbClr val="21242A"/>
                </a:solidFill>
                <a:latin typeface="Microsoft YaHei"/>
              </a:defRPr>
            </a:pPr>
            <a:r>
              <a:t>gher for ACP vs community settings (63% vs 59%, p Better OS was noted in elderly patients treated at ACP, p The median OS for ACP was of 1.79 years vs 1.50</a:t>
            </a:r>
          </a:p>
          <a:p>
            <a:pPr>
              <a:lnSpc>
                <a:spcPct val="103000"/>
              </a:lnSpc>
              <a:spcAft>
                <a:spcPts val="300"/>
              </a:spcAft>
              <a:defRPr sz="580">
                <a:solidFill>
                  <a:srgbClr val="21242A"/>
                </a:solidFill>
                <a:latin typeface="Microsoft YaHei"/>
              </a:defRPr>
            </a:pPr>
            <a:r>
              <a:t> years at CCP, which was consistent with a longer median follow up time of 17.7 months vs 14.1, p 2-year OS rates of 49% at ACP [CI: 0.48,0.49] vs 46% at C</a:t>
            </a:r>
          </a:p>
          <a:p>
            <a:pPr>
              <a:lnSpc>
                <a:spcPct val="103000"/>
              </a:lnSpc>
              <a:spcAft>
                <a:spcPts val="300"/>
              </a:spcAft>
              <a:defRPr sz="580">
                <a:solidFill>
                  <a:srgbClr val="21242A"/>
                </a:solidFill>
                <a:latin typeface="Microsoft YaHei"/>
              </a:defRPr>
            </a:pPr>
            <a:r>
              <a:t>CP [CI: 0.459,0.468] , 5-year OS of 34% [CI: 0.336,0.346] vs 32% [CI: 0.317,0.327] , and 10-year OS of 16% [CI: 0.154,0.164] vs 15% [CI: 0.142,0.151] , res</a:t>
            </a:r>
          </a:p>
          <a:p>
            <a:pPr>
              <a:lnSpc>
                <a:spcPct val="103000"/>
              </a:lnSpc>
              <a:spcAft>
                <a:spcPts val="300"/>
              </a:spcAft>
              <a:defRPr sz="580">
                <a:solidFill>
                  <a:srgbClr val="21242A"/>
                </a:solidFill>
                <a:latin typeface="Microsoft YaHei"/>
              </a:defRPr>
            </a:pPr>
            <a:r>
              <a:t>pectively.</a:t>
            </a:r>
          </a:p>
          <a:p>
            <a:pPr>
              <a:lnSpc>
                <a:spcPct val="103000"/>
              </a:lnSpc>
              <a:spcAft>
                <a:spcPts val="300"/>
              </a:spcAft>
              <a:defRPr sz="580">
                <a:solidFill>
                  <a:srgbClr val="21242A"/>
                </a:solidFill>
                <a:latin typeface="Microsoft YaHei"/>
              </a:defRPr>
            </a:pPr>
            <a:r>
              <a:t>Conclusion: Among patients aged ≥75 years with DLBCL, OS differed by treatment facility type, with a statistically significant but modest survival advantag</a:t>
            </a:r>
          </a:p>
          <a:p>
            <a:pPr>
              <a:lnSpc>
                <a:spcPct val="103000"/>
              </a:lnSpc>
              <a:spcAft>
                <a:spcPts val="300"/>
              </a:spcAft>
              <a:defRPr sz="580">
                <a:solidFill>
                  <a:srgbClr val="21242A"/>
                </a:solidFill>
                <a:latin typeface="Microsoft YaHei"/>
              </a:defRPr>
            </a:pPr>
            <a:r>
              <a:t>e observed among patients treated at ACP compared with CCP (log-rank p</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摘要号：PS2142</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早期弥漫性大b细胞淋巴瘤的结外浸润和位点特异性生存：一项基于人群的研究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involvement and site-specific survival in early-stage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N=3804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回顾性临床研究结果：extranodal involvement and site-specific survival in...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总生存期（OS）：结外疾病组5年OS为69%，结内疾病组为71%，p=0.072，无显著差异</a:t>
            </a:r>
          </a:p>
          <a:p>
            <a:pPr>
              <a:lnSpc>
                <a:spcPct val="103000"/>
              </a:lnSpc>
              <a:spcAft>
                <a:spcPts val="300"/>
              </a:spcAft>
              <a:defRPr sz="800">
                <a:solidFill>
                  <a:srgbClr val="21242A"/>
                </a:solidFill>
                <a:latin typeface="Microsoft YaHei"/>
              </a:defRPr>
            </a:pPr>
            <a:r>
              <a:t>调整后风险比（HR）=1.08，95%CI 0.96-1.2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人数：3804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研究主题：extranodal involvement and site-specific survival in early-stage diffuse large b-cell lymphoma: a population-based study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早期弥漫性大b细胞淋巴瘤的结外浸润和位点特异性生存：一项基于人群的研究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involvement and site-specific survival in early-stage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Understanding prognostic differences within heterogenous diseases can potentially change the way we approach individual patients.</a:t>
            </a:r>
          </a:p>
          <a:p>
            <a:pPr>
              <a:lnSpc>
                <a:spcPct val="103000"/>
              </a:lnSpc>
              <a:spcAft>
                <a:spcPts val="300"/>
              </a:spcAft>
              <a:defRPr sz="570">
                <a:solidFill>
                  <a:srgbClr val="21242A"/>
                </a:solidFill>
                <a:latin typeface="Microsoft YaHei"/>
              </a:defRPr>
            </a:pPr>
            <a:r>
              <a:t>In early-stage Diffuse Large B-cell Lymphoma (DLBCL), extranodal sites such as testis, kidney and lung have been linked to poorer survival, but evidence support</a:t>
            </a:r>
          </a:p>
          <a:p>
            <a:pPr>
              <a:lnSpc>
                <a:spcPct val="103000"/>
              </a:lnSpc>
              <a:spcAft>
                <a:spcPts val="300"/>
              </a:spcAft>
              <a:defRPr sz="570">
                <a:solidFill>
                  <a:srgbClr val="21242A"/>
                </a:solidFill>
                <a:latin typeface="Microsoft YaHei"/>
              </a:defRPr>
            </a:pPr>
            <a:r>
              <a:t>ing this association remains unclear.</a:t>
            </a:r>
          </a:p>
          <a:p>
            <a:pPr>
              <a:lnSpc>
                <a:spcPct val="103000"/>
              </a:lnSpc>
              <a:spcAft>
                <a:spcPts val="300"/>
              </a:spcAft>
              <a:defRPr sz="570">
                <a:solidFill>
                  <a:srgbClr val="21242A"/>
                </a:solidFill>
                <a:latin typeface="Microsoft YaHei"/>
              </a:defRPr>
            </a:pPr>
            <a:r>
              <a:t>Aims: This study aimed to compare survival between primary extranodal and nodal-only disease and evaluate survival by extranodal site in early-stage (Ann Arbor </a:t>
            </a:r>
          </a:p>
          <a:p>
            <a:pPr>
              <a:lnSpc>
                <a:spcPct val="103000"/>
              </a:lnSpc>
              <a:spcAft>
                <a:spcPts val="300"/>
              </a:spcAft>
              <a:defRPr sz="570">
                <a:solidFill>
                  <a:srgbClr val="21242A"/>
                </a:solidFill>
                <a:latin typeface="Microsoft YaHei"/>
              </a:defRPr>
            </a:pPr>
            <a:r>
              <a:t>stage I-II) DLBCL.</a:t>
            </a:r>
          </a:p>
          <a:p>
            <a:pPr>
              <a:lnSpc>
                <a:spcPct val="103000"/>
              </a:lnSpc>
              <a:spcAft>
                <a:spcPts val="300"/>
              </a:spcAft>
              <a:defRPr sz="570">
                <a:solidFill>
                  <a:srgbClr val="21242A"/>
                </a:solidFill>
                <a:latin typeface="Microsoft YaHei"/>
              </a:defRPr>
            </a:pPr>
            <a:r>
              <a:t>Methods: We conducted a population-based cohort study, using data from the Swedish Lymphoma Register.</a:t>
            </a:r>
          </a:p>
          <a:p>
            <a:pPr>
              <a:lnSpc>
                <a:spcPct val="103000"/>
              </a:lnSpc>
              <a:spcAft>
                <a:spcPts val="300"/>
              </a:spcAft>
              <a:defRPr sz="570">
                <a:solidFill>
                  <a:srgbClr val="21242A"/>
                </a:solidFill>
                <a:latin typeface="Microsoft YaHei"/>
              </a:defRPr>
            </a:pPr>
            <a:r>
              <a:t>The cohort consisted of adult patients diagnosed with stage I and II DLBCL in Sweden between 2007 and 2023, with follow-up through May 16 th 2024.</a:t>
            </a:r>
          </a:p>
          <a:p>
            <a:pPr>
              <a:lnSpc>
                <a:spcPct val="103000"/>
              </a:lnSpc>
              <a:spcAft>
                <a:spcPts val="300"/>
              </a:spcAft>
              <a:defRPr sz="570">
                <a:solidFill>
                  <a:srgbClr val="21242A"/>
                </a:solidFill>
                <a:latin typeface="Microsoft YaHei"/>
              </a:defRPr>
            </a:pPr>
            <a:r>
              <a:t>Patients with involvement in the bone marrow, liver, pleura, ocular or central nervous system (CNS), as well as those with multiple extranodal sites, were exclu</a:t>
            </a:r>
          </a:p>
          <a:p>
            <a:pPr>
              <a:lnSpc>
                <a:spcPct val="103000"/>
              </a:lnSpc>
              <a:spcAft>
                <a:spcPts val="300"/>
              </a:spcAft>
              <a:defRPr sz="570">
                <a:solidFill>
                  <a:srgbClr val="21242A"/>
                </a:solidFill>
                <a:latin typeface="Microsoft YaHei"/>
              </a:defRPr>
            </a:pPr>
            <a:r>
              <a:t>ded, as these features are consistent with stage IV DLBCL.</a:t>
            </a:r>
          </a:p>
          <a:p>
            <a:pPr>
              <a:lnSpc>
                <a:spcPct val="103000"/>
              </a:lnSpc>
              <a:spcAft>
                <a:spcPts val="300"/>
              </a:spcAft>
              <a:defRPr sz="570">
                <a:solidFill>
                  <a:srgbClr val="21242A"/>
                </a:solidFill>
                <a:latin typeface="Microsoft YaHei"/>
              </a:defRPr>
            </a:pPr>
            <a:r>
              <a:t>Overall survival (OS) was estimated using the Kaplan-Meier method and compared using the log-rank test.</a:t>
            </a:r>
          </a:p>
          <a:p>
            <a:pPr>
              <a:lnSpc>
                <a:spcPct val="103000"/>
              </a:lnSpc>
              <a:spcAft>
                <a:spcPts val="300"/>
              </a:spcAft>
              <a:defRPr sz="570">
                <a:solidFill>
                  <a:srgbClr val="21242A"/>
                </a:solidFill>
                <a:latin typeface="Microsoft YaHei"/>
              </a:defRPr>
            </a:pPr>
            <a:r>
              <a:t>Hazard ratios (HRs) with 95% confidence intervals, adjusted for potential confounding factors, were estimated using Cox proportional hazards models.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nationwide cohort of patients with early-stage DLBCL, the results suggest that extranodal involvement is not associated with poorer survival compared to</a:t>
            </a:r>
          </a:p>
          <a:p>
            <a:pPr>
              <a:lnSpc>
                <a:spcPct val="103000"/>
              </a:lnSpc>
              <a:spcAft>
                <a:spcPts val="300"/>
              </a:spcAft>
              <a:defRPr sz="590">
                <a:solidFill>
                  <a:srgbClr val="21242A"/>
                </a:solidFill>
                <a:latin typeface="Microsoft YaHei"/>
              </a:defRPr>
            </a:pPr>
            <a:r>
              <a:t> nodal-limited disease.</a:t>
            </a:r>
          </a:p>
          <a:p>
            <a:pPr>
              <a:lnSpc>
                <a:spcPct val="103000"/>
              </a:lnSpc>
              <a:spcAft>
                <a:spcPts val="300"/>
              </a:spcAft>
              <a:defRPr sz="590">
                <a:solidFill>
                  <a:srgbClr val="21242A"/>
                </a:solidFill>
                <a:latin typeface="Microsoft YaHei"/>
              </a:defRPr>
            </a:pPr>
            <a:r>
              <a:t>However, substantial site-specific heterogeneity exists, indicating that early-stage DLBCL is a clinical diverse group rather than a uniform entity.</a:t>
            </a:r>
          </a:p>
          <a:p>
            <a:pPr>
              <a:lnSpc>
                <a:spcPct val="103000"/>
              </a:lnSpc>
              <a:spcAft>
                <a:spcPts val="300"/>
              </a:spcAft>
              <a:defRPr sz="590">
                <a:solidFill>
                  <a:srgbClr val="21242A"/>
                </a:solidFill>
                <a:latin typeface="Microsoft YaHei"/>
              </a:defRPr>
            </a:pPr>
            <a:r>
              <a:t>Understanding site-specific survival can be useful in improving prognostic accuracy and guiding management strategies.</a:t>
            </a:r>
          </a:p>
          <a:p>
            <a:pPr>
              <a:lnSpc>
                <a:spcPct val="103000"/>
              </a:lnSpc>
              <a:spcAft>
                <a:spcPts val="300"/>
              </a:spcAft>
              <a:defRPr sz="590">
                <a:solidFill>
                  <a:srgbClr val="21242A"/>
                </a:solidFill>
                <a:latin typeface="Microsoft YaHei"/>
              </a:defRPr>
            </a:pPr>
            <a:r>
              <a:t>\n \n \n \n \n Variable \n \n \n Total N = 3804 \n \n \n Nodal N = 2,634 \n \n \n Extranodal N = 1,170 \n \n \n \n \n \n \n Age at diagnosis, years.</a:t>
            </a:r>
          </a:p>
          <a:p>
            <a:pPr>
              <a:lnSpc>
                <a:spcPct val="103000"/>
              </a:lnSpc>
              <a:spcAft>
                <a:spcPts val="300"/>
              </a:spcAft>
              <a:defRPr sz="590">
                <a:solidFill>
                  <a:srgbClr val="21242A"/>
                </a:solidFill>
                <a:latin typeface="Microsoft YaHei"/>
              </a:defRPr>
            </a:pPr>
            <a:r>
              <a:t>Median (range) \n \n \n 71 (18, 102) \n \n \n 71 (18, 99) \n \n \n 72 (20, 102) \n \n \n \n \n Sex \n \n \n \n \n \n \n \n \n \n \n \n \n \n Male \n \n \n 2,134</a:t>
            </a:r>
          </a:p>
          <a:p>
            <a:pPr>
              <a:lnSpc>
                <a:spcPct val="103000"/>
              </a:lnSpc>
              <a:spcAft>
                <a:spcPts val="300"/>
              </a:spcAft>
              <a:defRPr sz="590">
                <a:solidFill>
                  <a:srgbClr val="21242A"/>
                </a:solidFill>
                <a:latin typeface="Microsoft YaHei"/>
              </a:defRPr>
            </a:pPr>
            <a:r>
              <a:t> (56.1%) \n \n \n 1,473 (55.9%) \n \n \n 661 (56.5%) \n \n \n \n \n Female \n \n \n 1,670 (43.9%) \n \n \n 1,161 (44.1%) \n \n \n 509 (43.5%) \n \n \n \n \n Ann</a:t>
            </a:r>
          </a:p>
          <a:p>
            <a:pPr>
              <a:lnSpc>
                <a:spcPct val="103000"/>
              </a:lnSpc>
              <a:spcAft>
                <a:spcPts val="300"/>
              </a:spcAft>
              <a:defRPr sz="590">
                <a:solidFill>
                  <a:srgbClr val="21242A"/>
                </a:solidFill>
                <a:latin typeface="Microsoft YaHei"/>
              </a:defRPr>
            </a:pPr>
            <a:r>
              <a:t> Arbor Stage \n \n \n \n \n \n \n \n \n \n \n \n \n \n I \n \n \n 1,839 (48.3%) \n \n \n 1,139 (43.2%) \n \n \n 700 (59.8%) \n \n \n \n \n II \n \n \n 1,965 (51</a:t>
            </a:r>
          </a:p>
          <a:p>
            <a:pPr>
              <a:lnSpc>
                <a:spcPct val="103000"/>
              </a:lnSpc>
              <a:spcAft>
                <a:spcPts val="300"/>
              </a:spcAft>
              <a:defRPr sz="590">
                <a:solidFill>
                  <a:srgbClr val="21242A"/>
                </a:solidFill>
                <a:latin typeface="Microsoft YaHei"/>
              </a:defRPr>
            </a:pPr>
            <a:r>
              <a:t>.7%) \n \n \n 1,495 (56.8%) \n \n \n 470 (40.2%) \n \n \n \n \n Table 1: Clinical characteristics among all patients diagnosed with DLBCL 2007–2023 in Sweden an</a:t>
            </a:r>
          </a:p>
          <a:p>
            <a:pPr>
              <a:lnSpc>
                <a:spcPct val="103000"/>
              </a:lnSpc>
              <a:spcAft>
                <a:spcPts val="300"/>
              </a:spcAft>
              <a:defRPr sz="590">
                <a:solidFill>
                  <a:srgbClr val="21242A"/>
                </a:solidFill>
                <a:latin typeface="Microsoft YaHei"/>
              </a:defRPr>
            </a:pPr>
            <a:r>
              <a:t>d in nodal only vs extranodal patients separately.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37490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374904">
                <a:tc>
                  <a:txBody>
                    <a:bodyPr wrap="square" lIns="36576" rIns="36576" tIns="18288" bIns="18288"/>
                    <a:lstStyle/>
                    <a:p>
                      <a:r>
                        <a:rPr sz="540" b="1">
                          <a:solidFill>
                            <a:srgbClr val="21242A"/>
                          </a:solidFill>
                          <a:latin typeface="Microsoft YaHei"/>
                        </a:rPr>
                        <a:t>总生存期（OS）</a:t>
                      </a:r>
                    </a:p>
                  </a:txBody>
                  <a:tcPr>
                    <a:solidFill>
                      <a:srgbClr val="F6F8FB"/>
                    </a:solidFill>
                  </a:tcPr>
                </a:tc>
                <a:tc>
                  <a:txBody>
                    <a:bodyPr wrap="square" lIns="36576" rIns="36576" tIns="18288" bIns="18288"/>
                    <a:lstStyle/>
                    <a:p>
                      <a:r>
                        <a:rPr sz="540" b="0">
                          <a:solidFill>
                            <a:srgbClr val="21242A"/>
                          </a:solidFill>
                          <a:latin typeface="Microsoft YaHei"/>
                        </a:rPr>
                        <a:t>结外疾病组5年OS为69%，结内疾病组为71%，p=0.072，无显著差异</a:t>
                      </a:r>
                    </a:p>
                  </a:txBody>
                  <a:tcPr>
                    <a:solidFill>
                      <a:srgbClr val="F6F8FB"/>
                    </a:solidFill>
                  </a:tcPr>
                </a:tc>
              </a:tr>
              <a:tr h="374904">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调整后风险比（HR）=1.08，95%CI 0.96-1.2</a:t>
                      </a:r>
                    </a:p>
                  </a:txBody>
                  <a:tcPr>
                    <a:solidFill>
                      <a:srgbClr val="FFFFFF"/>
                    </a:solidFill>
                  </a:tcPr>
                </a:tc>
              </a:tr>
              <a:tr h="374904">
                <a:tc>
                  <a:txBody>
                    <a:bodyPr wrap="square" lIns="36576" rIns="36576" tIns="18288" bIns="18288"/>
                    <a:lstStyle/>
                    <a:p>
                      <a:r>
                        <a:rPr sz="540" b="1">
                          <a:solidFill>
                            <a:srgbClr val="21242A"/>
                          </a:solidFill>
                          <a:latin typeface="Microsoft YaHei"/>
                        </a:rPr>
                        <a:t>不同结外部位OS差异</a:t>
                      </a:r>
                    </a:p>
                  </a:txBody>
                  <a:tcPr>
                    <a:solidFill>
                      <a:srgbClr val="F6F8FB"/>
                    </a:solidFill>
                  </a:tcPr>
                </a:tc>
                <a:tc>
                  <a:txBody>
                    <a:bodyPr wrap="square" lIns="36576" rIns="36576" tIns="18288" bIns="18288"/>
                    <a:lstStyle/>
                    <a:p>
                      <a:r>
                        <a:rPr sz="540" b="0">
                          <a:solidFill>
                            <a:srgbClr val="21242A"/>
                          </a:solidFill>
                          <a:latin typeface="Microsoft YaHei"/>
                        </a:rPr>
                        <a:t>皮肤5年OS最差（55%），骨5年OS最好（77%）</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弥漫性大b细胞淋巴瘤的完全客观3变量预后评分：两个独立队列共776名患者的开发和外部验证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fully objective 3‑variable prognostic score for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N=776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回顾性临床研究结果：a fully objective 3‑variable prognostic score for dif...</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开发并外部验证了一个基于年龄&gt;75岁、白蛋白&lt;3.5g/dL和LDH&gt;正常上限的三变量预后评分。</a:t>
            </a:r>
          </a:p>
          <a:p>
            <a:pPr>
              <a:lnSpc>
                <a:spcPct val="103000"/>
              </a:lnSpc>
              <a:spcAft>
                <a:spcPts val="300"/>
              </a:spcAft>
              <a:defRPr sz="800">
                <a:solidFill>
                  <a:srgbClr val="21242A"/>
                </a:solidFill>
                <a:latin typeface="Microsoft YaHei"/>
              </a:defRPr>
            </a:pPr>
            <a:r>
              <a:t>该评分将患者分为低危、中危、高危组，在两个独立队列（训练集402例，验证集374例）中均展现出稳健的风险分层能力。</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人数：776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研究主题：a fully objective 3‑variable prognostic score for diffuse large b‑cell lymphoma: development and external validation in...</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弥漫性大b细胞淋巴瘤的完全客观3变量预后评分：两个独立队列共776名患者的开发和外部验证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fully objective 3‑variable prognostic score for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International Prognostic Index (IPI) and NCCN‑IPI remain widely used in diffuse large B‑cell lymphoma (DLBCL), but they include evaluator‑depend</a:t>
            </a:r>
          </a:p>
          <a:p>
            <a:pPr>
              <a:lnSpc>
                <a:spcPct val="103000"/>
              </a:lnSpc>
              <a:spcAft>
                <a:spcPts val="300"/>
              </a:spcAft>
              <a:defRPr sz="570">
                <a:solidFill>
                  <a:srgbClr val="21242A"/>
                </a:solidFill>
                <a:latin typeface="Microsoft YaHei"/>
              </a:defRPr>
            </a:pPr>
            <a:r>
              <a:t>ent variables such as performance status, extranodal involvement, and Ann Arbor stage, all of which are subject to interobserver variability.</a:t>
            </a:r>
          </a:p>
          <a:p>
            <a:pPr>
              <a:lnSpc>
                <a:spcPct val="103000"/>
              </a:lnSpc>
              <a:spcAft>
                <a:spcPts val="300"/>
              </a:spcAft>
              <a:defRPr sz="570">
                <a:solidFill>
                  <a:srgbClr val="21242A"/>
                </a:solidFill>
                <a:latin typeface="Microsoft YaHei"/>
              </a:defRPr>
            </a:pPr>
            <a:r>
              <a:t>Serum albumin has repeatedly been reported as a strong prognostic factor but is not incorporated into existing indices.</a:t>
            </a:r>
          </a:p>
          <a:p>
            <a:pPr>
              <a:lnSpc>
                <a:spcPct val="103000"/>
              </a:lnSpc>
              <a:spcAft>
                <a:spcPts val="300"/>
              </a:spcAft>
              <a:defRPr sz="570">
                <a:solidFill>
                  <a:srgbClr val="21242A"/>
                </a:solidFill>
                <a:latin typeface="Microsoft YaHei"/>
              </a:defRPr>
            </a:pPr>
            <a:r>
              <a:t>A simplified and fully objective prognostic score based solely on routine laboratory and demographic variables could improve reproducibility and clinical applic</a:t>
            </a:r>
          </a:p>
          <a:p>
            <a:pPr>
              <a:lnSpc>
                <a:spcPct val="103000"/>
              </a:lnSpc>
              <a:spcAft>
                <a:spcPts val="300"/>
              </a:spcAft>
              <a:defRPr sz="570">
                <a:solidFill>
                  <a:srgbClr val="21242A"/>
                </a:solidFill>
                <a:latin typeface="Microsoft YaHei"/>
              </a:defRPr>
            </a:pPr>
            <a:r>
              <a:t>ability.</a:t>
            </a:r>
          </a:p>
          <a:p>
            <a:pPr>
              <a:lnSpc>
                <a:spcPct val="103000"/>
              </a:lnSpc>
              <a:spcAft>
                <a:spcPts val="300"/>
              </a:spcAft>
              <a:defRPr sz="570">
                <a:solidFill>
                  <a:srgbClr val="21242A"/>
                </a:solidFill>
                <a:latin typeface="Microsoft YaHei"/>
              </a:defRPr>
            </a:pPr>
            <a:r>
              <a:t>Aims: To identify robust prognostic factors using data‑driven methods and to construct an objective prognostic score that minimizes subjectivity while preservin</a:t>
            </a:r>
          </a:p>
          <a:p>
            <a:pPr>
              <a:lnSpc>
                <a:spcPct val="103000"/>
              </a:lnSpc>
              <a:spcAft>
                <a:spcPts val="300"/>
              </a:spcAft>
              <a:defRPr sz="570">
                <a:solidFill>
                  <a:srgbClr val="21242A"/>
                </a:solidFill>
                <a:latin typeface="Microsoft YaHei"/>
              </a:defRPr>
            </a:pPr>
            <a:r>
              <a:t>g discrimination.</a:t>
            </a:r>
          </a:p>
          <a:p>
            <a:pPr>
              <a:lnSpc>
                <a:spcPct val="103000"/>
              </a:lnSpc>
              <a:spcAft>
                <a:spcPts val="300"/>
              </a:spcAft>
              <a:defRPr sz="570">
                <a:solidFill>
                  <a:srgbClr val="21242A"/>
                </a:solidFill>
                <a:latin typeface="Microsoft YaHei"/>
              </a:defRPr>
            </a:pPr>
            <a:r>
              <a:t>\n Methods: Patients were drawn from two independent Japanese institutions: 402 patients formed the derivation cohort and 374 the external validation cohort.</a:t>
            </a:r>
          </a:p>
          <a:p>
            <a:pPr>
              <a:lnSpc>
                <a:spcPct val="103000"/>
              </a:lnSpc>
              <a:spcAft>
                <a:spcPts val="300"/>
              </a:spcAft>
              <a:defRPr sz="570">
                <a:solidFill>
                  <a:srgbClr val="21242A"/>
                </a:solidFill>
                <a:latin typeface="Microsoft YaHei"/>
              </a:defRPr>
            </a:pPr>
            <a:r>
              <a:t>Candidate predictors included age, albumin, LDH, performance status, extranodal involvement, and Ann Arbor stage.</a:t>
            </a:r>
          </a:p>
          <a:p>
            <a:pPr>
              <a:lnSpc>
                <a:spcPct val="103000"/>
              </a:lnSpc>
              <a:spcAft>
                <a:spcPts val="300"/>
              </a:spcAft>
              <a:defRPr sz="570">
                <a:solidFill>
                  <a:srgbClr val="21242A"/>
                </a:solidFill>
                <a:latin typeface="Microsoft YaHei"/>
              </a:defRPr>
            </a:pPr>
            <a:r>
              <a:t>Albumin was dichotomized at 3.5 g/dL and LDH at the upper limit of normal based on widely accepted clinical thresholds, ensuring consistency with routine practi</a:t>
            </a:r>
          </a:p>
          <a:p>
            <a:pPr>
              <a:lnSpc>
                <a:spcPct val="103000"/>
              </a:lnSpc>
              <a:spcAft>
                <a:spcPts val="300"/>
              </a:spcAft>
              <a:defRPr sz="570">
                <a:solidFill>
                  <a:srgbClr val="21242A"/>
                </a:solidFill>
                <a:latin typeface="Microsoft YaHei"/>
              </a:defRPr>
            </a:pPr>
            <a:r>
              <a:t>ce.</a:t>
            </a:r>
          </a:p>
          <a:p>
            <a:pPr>
              <a:lnSpc>
                <a:spcPct val="103000"/>
              </a:lnSpc>
              <a:spcAft>
                <a:spcPts val="300"/>
              </a:spcAft>
              <a:defRPr sz="570">
                <a:solidFill>
                  <a:srgbClr val="21242A"/>
                </a:solidFill>
                <a:latin typeface="Microsoft YaHei"/>
              </a:defRPr>
            </a:pPr>
            <a:r>
              <a:t>For age, multiple dichotomization schemes (55–85 years) were evaluated using LASSO Cox regression with 1,000 bootstrap resamples, and restricted cubic spline mo</a:t>
            </a:r>
          </a:p>
          <a:p>
            <a:pPr>
              <a:lnSpc>
                <a:spcPct val="103000"/>
              </a:lnSpc>
              <a:spcAft>
                <a:spcPts val="300"/>
              </a:spcAft>
              <a:defRPr sz="570">
                <a:solidFill>
                  <a:srgbClr val="21242A"/>
                </a:solidFill>
                <a:latin typeface="Microsoft YaHei"/>
              </a:defRPr>
            </a:pPr>
            <a:r>
              <a:t>deling was used to assess the continuous effect of age and identify structural changes in risk.</a:t>
            </a:r>
          </a:p>
          <a:p>
            <a:pPr>
              <a:lnSpc>
                <a:spcPct val="103000"/>
              </a:lnSpc>
              <a:spcAft>
                <a:spcPts val="300"/>
              </a:spcAft>
              <a:defRPr sz="570">
                <a:solidFill>
                  <a:srgbClr val="21242A"/>
                </a:solidFill>
                <a:latin typeface="Microsoft YaHei"/>
              </a:defRPr>
            </a:pPr>
            <a:r>
              <a:t>Models incorporating different predictor combinations were compared using C‑index and interpretability, and the final model was externally validated.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We developed and externally validated a simplified and fully objective 3‑variable prognostic score for DLBCL based on age, albumin, and LDH.</a:t>
            </a:r>
          </a:p>
          <a:p>
            <a:pPr>
              <a:lnSpc>
                <a:spcPct val="103000"/>
              </a:lnSpc>
              <a:spcAft>
                <a:spcPts val="300"/>
              </a:spcAft>
              <a:defRPr sz="590">
                <a:solidFill>
                  <a:srgbClr val="21242A"/>
                </a:solidFill>
                <a:latin typeface="Microsoft YaHei"/>
              </a:defRPr>
            </a:pPr>
            <a:r>
              <a:t>The score demonstrated robust risk stratification across two independent cohorts totaling 776 patients and offers a reproducible and clinically practical altern</a:t>
            </a:r>
          </a:p>
          <a:p>
            <a:pPr>
              <a:lnSpc>
                <a:spcPct val="103000"/>
              </a:lnSpc>
              <a:spcAft>
                <a:spcPts val="300"/>
              </a:spcAft>
              <a:defRPr sz="590">
                <a:solidFill>
                  <a:srgbClr val="21242A"/>
                </a:solidFill>
                <a:latin typeface="Microsoft YaHei"/>
              </a:defRPr>
            </a:pPr>
            <a:r>
              <a:t>ative to existing prognostic indices.</a:t>
            </a:r>
          </a:p>
          <a:p>
            <a:pPr>
              <a:lnSpc>
                <a:spcPct val="103000"/>
              </a:lnSpc>
              <a:spcAft>
                <a:spcPts val="300"/>
              </a:spcAft>
              <a:defRPr sz="590">
                <a:solidFill>
                  <a:srgbClr val="21242A"/>
                </a:solidFill>
                <a:latin typeface="Microsoft YaHei"/>
              </a:defRPr>
            </a:pPr>
            <a:r>
              <a:t>Because it relies solely on universally available variables, this score can be readily implemented in routine clinical practice.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开发并外部验证了一个基于年龄&gt;75岁、白蛋白&lt;3.5g/dL和LDH&gt;正常上限的三变量预后评分。该评分将患者分为低危、中危、高危组，在两个独立队列（训练集402例，验证集374例）中均展现出稳健的风险分层能力。</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摘要号：PF989</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原发性乳腺弥漫性大b细胞淋巴瘤的临床、遗传和免疫微环境特征：与淋巴结和免疫特权位点dlbcl的比较研究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genetic, and immune microenvironmental landscapes of primary breast...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N=703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回顾性临床研究结果：clinical, genetic, and immune microenvironmental land...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中位年龄57岁</a:t>
            </a:r>
          </a:p>
          <a:p>
            <a:pPr>
              <a:lnSpc>
                <a:spcPct val="103000"/>
              </a:lnSpc>
              <a:spcAft>
                <a:spcPts val="300"/>
              </a:spcAft>
              <a:defRPr sz="800">
                <a:solidFill>
                  <a:srgbClr val="21242A"/>
                </a:solidFill>
                <a:latin typeface="Microsoft YaHei"/>
              </a:defRPr>
            </a:pPr>
            <a:r>
              <a:t>非GCB表型53.0%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人数：703</a:t>
            </a:r>
          </a:p>
          <a:p>
            <a:pPr>
              <a:lnSpc>
                <a:spcPct val="103000"/>
              </a:lnSpc>
              <a:spcAft>
                <a:spcPts val="300"/>
              </a:spcAft>
              <a:defRPr sz="810">
                <a:solidFill>
                  <a:srgbClr val="21242A"/>
                </a:solidFill>
                <a:latin typeface="Microsoft YaHei"/>
              </a:defRPr>
            </a:pPr>
            <a:r>
              <a:t>适应症：未提取</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研究主题：clinical, genetic, and immune microenvironmental landscapes of primary breast diffuse large b-cell lymphoma: a comparat...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原发性乳腺弥漫性大b细胞淋巴瘤的临床、遗传和免疫微环境特征：与淋巴结和免疫特权位点dlbcl的比较研究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genetic, and immune microenvironmental landscapes of primary breast...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an aggressive, heterogeneous malignancy arising in nodal or extranodal sites.</a:t>
            </a:r>
          </a:p>
          <a:p>
            <a:pPr>
              <a:lnSpc>
                <a:spcPct val="103000"/>
              </a:lnSpc>
              <a:spcAft>
                <a:spcPts val="300"/>
              </a:spcAft>
              <a:defRPr sz="570">
                <a:solidFill>
                  <a:srgbClr val="21242A"/>
                </a:solidFill>
                <a:latin typeface="Microsoft YaHei"/>
              </a:defRPr>
            </a:pPr>
            <a:r>
              <a:t>Among these, primary breast DLBCL (PB-DLBCL) represents a distinct entity characterized by unique clinicopathological features and an increased risk of central </a:t>
            </a:r>
          </a:p>
          <a:p>
            <a:pPr>
              <a:lnSpc>
                <a:spcPct val="103000"/>
              </a:lnSpc>
              <a:spcAft>
                <a:spcPts val="300"/>
              </a:spcAft>
              <a:defRPr sz="570">
                <a:solidFill>
                  <a:srgbClr val="21242A"/>
                </a:solidFill>
                <a:latin typeface="Microsoft YaHei"/>
              </a:defRPr>
            </a:pPr>
            <a:r>
              <a:t>nervous system recurrence.</a:t>
            </a:r>
          </a:p>
          <a:p>
            <a:pPr>
              <a:lnSpc>
                <a:spcPct val="103000"/>
              </a:lnSpc>
              <a:spcAft>
                <a:spcPts val="300"/>
              </a:spcAft>
              <a:defRPr sz="570">
                <a:solidFill>
                  <a:srgbClr val="21242A"/>
                </a:solidFill>
                <a:latin typeface="Microsoft YaHei"/>
              </a:defRPr>
            </a:pPr>
            <a:r>
              <a:t>However, systematic studies are currently lacking due to its rarity.</a:t>
            </a:r>
          </a:p>
          <a:p>
            <a:pPr>
              <a:lnSpc>
                <a:spcPct val="103000"/>
              </a:lnSpc>
              <a:spcAft>
                <a:spcPts val="300"/>
              </a:spcAft>
              <a:defRPr sz="570">
                <a:solidFill>
                  <a:srgbClr val="21242A"/>
                </a:solidFill>
                <a:latin typeface="Microsoft YaHei"/>
              </a:defRPr>
            </a:pPr>
            <a:r>
              <a:t>Aims: This study conducted an integrated analysis to elucidate the distinct biological characteristics of PB-DLBCL and delineate its similarities and difference</a:t>
            </a:r>
          </a:p>
          <a:p>
            <a:pPr>
              <a:lnSpc>
                <a:spcPct val="103000"/>
              </a:lnSpc>
              <a:spcAft>
                <a:spcPts val="300"/>
              </a:spcAft>
              <a:defRPr sz="570">
                <a:solidFill>
                  <a:srgbClr val="21242A"/>
                </a:solidFill>
                <a:latin typeface="Microsoft YaHei"/>
              </a:defRPr>
            </a:pPr>
            <a:r>
              <a:t>s compared to nodal and IP-DLBCL.</a:t>
            </a:r>
          </a:p>
          <a:p>
            <a:pPr>
              <a:lnSpc>
                <a:spcPct val="103000"/>
              </a:lnSpc>
              <a:spcAft>
                <a:spcPts val="300"/>
              </a:spcAft>
              <a:defRPr sz="570">
                <a:solidFill>
                  <a:srgbClr val="21242A"/>
                </a:solidFill>
                <a:latin typeface="Microsoft YaHei"/>
              </a:defRPr>
            </a:pPr>
            <a:r>
              <a:t>Methods: This single-center study enrolled 703 DLBCL patients (134 PB, 363 nodal, and 206 IP), excluding those with secondary extranodal involvement.</a:t>
            </a:r>
          </a:p>
          <a:p>
            <a:pPr>
              <a:lnSpc>
                <a:spcPct val="103000"/>
              </a:lnSpc>
              <a:spcAft>
                <a:spcPts val="300"/>
              </a:spcAft>
              <a:defRPr sz="570">
                <a:solidFill>
                  <a:srgbClr val="21242A"/>
                </a:solidFill>
                <a:latin typeface="Microsoft YaHei"/>
              </a:defRPr>
            </a:pPr>
            <a:r>
              <a:t>Baseline clinical characteristics and survival data were retrospectively collected.</a:t>
            </a:r>
          </a:p>
          <a:p>
            <a:pPr>
              <a:lnSpc>
                <a:spcPct val="103000"/>
              </a:lnSpc>
              <a:spcAft>
                <a:spcPts val="300"/>
              </a:spcAft>
              <a:defRPr sz="570">
                <a:solidFill>
                  <a:srgbClr val="21242A"/>
                </a:solidFill>
                <a:latin typeface="Microsoft YaHei"/>
              </a:defRPr>
            </a:pPr>
            <a:r>
              <a:t>Inverse probability of treatment weighting (IPTW) was applied to mitigate potential confounders.</a:t>
            </a:r>
          </a:p>
          <a:p>
            <a:pPr>
              <a:lnSpc>
                <a:spcPct val="103000"/>
              </a:lnSpc>
              <a:spcAft>
                <a:spcPts val="300"/>
              </a:spcAft>
              <a:defRPr sz="570">
                <a:solidFill>
                  <a:srgbClr val="21242A"/>
                </a:solidFill>
                <a:latin typeface="Microsoft YaHei"/>
              </a:defRPr>
            </a:pPr>
            <a:r>
              <a:t>We performed DNA (n=223; 63 PB, 127 nodal, 33 IP) and RNA sequencing (n=121; 58 PB, 48 nodal, 15 IP) on the DLBCL cohort.</a:t>
            </a:r>
          </a:p>
          <a:p>
            <a:pPr>
              <a:lnSpc>
                <a:spcPct val="103000"/>
              </a:lnSpc>
              <a:spcAft>
                <a:spcPts val="300"/>
              </a:spcAft>
              <a:defRPr sz="570">
                <a:solidFill>
                  <a:srgbClr val="21242A"/>
                </a:solidFill>
                <a:latin typeface="Microsoft YaHei"/>
              </a:defRPr>
            </a:pPr>
            <a:r>
              <a:t>The LymphGen algorithm was applied to subcategorize patients based on their genetic alteration profiles.</a:t>
            </a:r>
          </a:p>
          <a:p>
            <a:pPr>
              <a:lnSpc>
                <a:spcPct val="103000"/>
              </a:lnSpc>
              <a:spcAft>
                <a:spcPts val="300"/>
              </a:spcAft>
              <a:defRPr sz="570">
                <a:solidFill>
                  <a:srgbClr val="21242A"/>
                </a:solidFill>
                <a:latin typeface="Microsoft YaHei"/>
              </a:defRPr>
            </a:pPr>
            <a:r>
              <a:t>Microenvironmental signatures were identified using the Lymphoma Microenvironment (LME) classification.</a:t>
            </a:r>
          </a:p>
          <a:p>
            <a:pPr>
              <a:lnSpc>
                <a:spcPct val="103000"/>
              </a:lnSpc>
              <a:spcAft>
                <a:spcPts val="300"/>
              </a:spcAft>
              <a:defRPr sz="570">
                <a:solidFill>
                  <a:srgbClr val="21242A"/>
                </a:solidFill>
                <a:latin typeface="Microsoft YaHei"/>
              </a:defRPr>
            </a:pPr>
            <a:r>
              <a:t>A novel immortalized PB-DLBCL cell line was established and is intended for subsequent mechanistic research and evaluation of therapeutic strategies.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Overall, our comprehensive analysis defines PB-DLBCL as a distinct biological entity, distinguishable from nodal and IP-DLBCL.</a:t>
            </a:r>
          </a:p>
          <a:p>
            <a:pPr>
              <a:lnSpc>
                <a:spcPct val="103000"/>
              </a:lnSpc>
              <a:spcAft>
                <a:spcPts val="300"/>
              </a:spcAft>
              <a:defRPr sz="590">
                <a:solidFill>
                  <a:srgbClr val="21242A"/>
                </a:solidFill>
                <a:latin typeface="Microsoft YaHei"/>
              </a:defRPr>
            </a:pPr>
            <a:r>
              <a:t>The prevalence of specific molecular subtypes and recurrent epigenetic dysregulation highlight the potential for novel precision therapeutic strategies.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中位年龄57岁；非GCB表型53.0%；GCB表型26.1%；双侧乳腺受累4.4%；Ki-67&gt;80% 63.4%；PB-DLBCL中PIM1突变63%、SPEN突变46%、NOTCH2突变35%、CD79B突变33%、CREBBP突变33%、DNMT3A突变27%、MYD88突变24%</a:t>
                      </a:r>
                    </a:p>
                  </a:txBody>
                  <a:tcPr>
                    <a:solidFill>
                      <a:srgbClr val="F6F8FB"/>
                    </a:solidFill>
                  </a:tcPr>
                </a:tc>
              </a:tr>
              <a:tr h="249936">
                <a:tc>
                  <a:txBody>
                    <a:bodyPr wrap="square" lIns="36576" rIns="36576" tIns="18288" bIns="18288"/>
                    <a:lstStyle/>
                    <a:p>
                      <a:r>
                        <a:rPr sz="540" b="1">
                          <a:solidFill>
                            <a:srgbClr val="21242A"/>
                          </a:solidFill>
                          <a:latin typeface="Microsoft YaHei"/>
                        </a:rPr>
                        <a:t>TP53突变率</a:t>
                      </a:r>
                    </a:p>
                  </a:txBody>
                  <a:tcPr>
                    <a:solidFill>
                      <a:srgbClr val="FFFFFF"/>
                    </a:solidFill>
                  </a:tcPr>
                </a:tc>
                <a:tc>
                  <a:txBody>
                    <a:bodyPr wrap="square" lIns="36576" rIns="36576" tIns="18288" bIns="18288"/>
                    <a:lstStyle/>
                    <a:p>
                      <a:r>
                        <a:rPr sz="540" b="0">
                          <a:solidFill>
                            <a:srgbClr val="21242A"/>
                          </a:solidFill>
                          <a:latin typeface="Microsoft YaHei"/>
                        </a:rPr>
                        <a:t>nodal 29%、PB 14%、IP 9%</a:t>
                      </a:r>
                    </a:p>
                  </a:txBody>
                  <a:tcPr>
                    <a:solidFill>
                      <a:srgbClr val="FFFFFF"/>
                    </a:solidFill>
                  </a:tcPr>
                </a:tc>
              </a:tr>
              <a:tr h="249936">
                <a:tc>
                  <a:txBody>
                    <a:bodyPr wrap="square" lIns="36576" rIns="36576" tIns="18288" bIns="18288"/>
                    <a:lstStyle/>
                    <a:p>
                      <a:r>
                        <a:rPr sz="540" b="1">
                          <a:solidFill>
                            <a:srgbClr val="21242A"/>
                          </a:solidFill>
                          <a:latin typeface="Microsoft YaHei"/>
                        </a:rPr>
                        <a:t>PIM1突变率</a:t>
                      </a:r>
                    </a:p>
                  </a:txBody>
                  <a:tcPr>
                    <a:solidFill>
                      <a:srgbClr val="F6F8FB"/>
                    </a:solidFill>
                  </a:tcPr>
                </a:tc>
                <a:tc>
                  <a:txBody>
                    <a:bodyPr wrap="square" lIns="36576" rIns="36576" tIns="18288" bIns="18288"/>
                    <a:lstStyle/>
                    <a:p>
                      <a:r>
                        <a:rPr sz="540" b="0">
                          <a:solidFill>
                            <a:srgbClr val="21242A"/>
                          </a:solidFill>
                          <a:latin typeface="Microsoft YaHei"/>
                        </a:rPr>
                        <a:t>nodal 34%、PB 59%、IP 73%</a:t>
                      </a:r>
                    </a:p>
                  </a:txBody>
                  <a:tcPr>
                    <a:solidFill>
                      <a:srgbClr val="F6F8FB"/>
                    </a:solidFill>
                  </a:tcPr>
                </a:tc>
              </a:tr>
              <a:tr h="249936">
                <a:tc>
                  <a:txBody>
                    <a:bodyPr wrap="square" lIns="36576" rIns="36576" tIns="18288" bIns="18288"/>
                    <a:lstStyle/>
                    <a:p>
                      <a:r>
                        <a:rPr sz="540" b="1">
                          <a:solidFill>
                            <a:srgbClr val="21242A"/>
                          </a:solidFill>
                          <a:latin typeface="Microsoft YaHei"/>
                        </a:rPr>
                        <a:t>LymphGen亚型</a:t>
                      </a:r>
                    </a:p>
                  </a:txBody>
                  <a:tcPr>
                    <a:solidFill>
                      <a:srgbClr val="FFFFFF"/>
                    </a:solidFill>
                  </a:tcPr>
                </a:tc>
                <a:tc>
                  <a:txBody>
                    <a:bodyPr wrap="square" lIns="36576" rIns="36576" tIns="18288" bIns="18288"/>
                    <a:lstStyle/>
                    <a:p>
                      <a:r>
                        <a:rPr sz="540" b="0">
                          <a:solidFill>
                            <a:srgbClr val="21242A"/>
                          </a:solidFill>
                          <a:latin typeface="Microsoft YaHei"/>
                        </a:rPr>
                        <a:t>PB-DLBCL中MCD 48.6%、EZB 34.3%；IP-DLBCL中MCD 79.2%；nodal DLBCL中BN2、EZB、MCD、ST2分布均衡；PTPRK、MAP2K1、DNMT3A突变与PB-DLBCL较短PFS相关</a:t>
                      </a:r>
                    </a:p>
                  </a:txBody>
                  <a:tcPr>
                    <a:solidFill>
                      <a:srgbClr val="FFFFFF"/>
                    </a:solidFill>
                  </a:tcPr>
                </a:tc>
              </a:tr>
              <a:tr h="249936">
                <a:tc>
                  <a:txBody>
                    <a:bodyPr wrap="square" lIns="36576" rIns="36576" tIns="18288" bIns="18288"/>
                    <a:lstStyle/>
                    <a:p>
                      <a:r>
                        <a:rPr sz="540" b="1">
                          <a:solidFill>
                            <a:srgbClr val="21242A"/>
                          </a:solidFill>
                          <a:latin typeface="Microsoft YaHei"/>
                        </a:rPr>
                        <a:t>LME分类</a:t>
                      </a:r>
                    </a:p>
                  </a:txBody>
                  <a:tcPr>
                    <a:solidFill>
                      <a:srgbClr val="F6F8FB"/>
                    </a:solidFill>
                  </a:tcPr>
                </a:tc>
                <a:tc>
                  <a:txBody>
                    <a:bodyPr wrap="square" lIns="36576" rIns="36576" tIns="18288" bIns="18288"/>
                    <a:lstStyle/>
                    <a:p>
                      <a:r>
                        <a:rPr sz="540" b="0">
                          <a:solidFill>
                            <a:srgbClr val="21242A"/>
                          </a:solidFill>
                          <a:latin typeface="Microsoft YaHei"/>
                        </a:rPr>
                        <a:t>PB-DLBCL中depleted亚型更常见（34.5% vs 29.2%），germinal center-like亚型较少（5.2% vs 12.5%）</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摘要号：S247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克隆复杂性定义了弥漫性大b细胞淋巴瘤的独特肿瘤内在生物学和预后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complexity defines distinct tumor-intrinsic biology and prognosis in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回顾性临床研究结果：clonal complexity defines distinct tumor-intrinsic bi...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5年无事件生存率：Poly-CC肿瘤患者41.5%，Mono-CC肿瘤患者71.1%（Log-rank p=0.079）</a:t>
            </a:r>
          </a:p>
          <a:p>
            <a:pPr>
              <a:lnSpc>
                <a:spcPct val="103000"/>
              </a:lnSpc>
              <a:spcAft>
                <a:spcPts val="300"/>
              </a:spcAft>
              <a:defRPr sz="800">
                <a:solidFill>
                  <a:srgbClr val="21242A"/>
                </a:solidFill>
                <a:latin typeface="Microsoft YaHei"/>
              </a:defRPr>
            </a:pPr>
            <a:r>
              <a:t>ABC亚型中5年无事件生存率：Poly-CC肿瘤31.5%，Mono-CC肿瘤83.3%（p=0.0450）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研究主题：clonal complexity defines distinct tumor-intrinsic biology and prognosis in diffuse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克隆复杂性定义了弥漫性大b细胞淋巴瘤的独特肿瘤内在生物学和预后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complexity defines distinct tumor-intrinsic biology and prognosis in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Intratumor heterogeneity (ITH) is increasingly recognized as a determinant of clinical outcome across cancers, yet its practical assessment remains </a:t>
            </a:r>
          </a:p>
          <a:p>
            <a:pPr>
              <a:lnSpc>
                <a:spcPct val="103000"/>
              </a:lnSpc>
              <a:spcAft>
                <a:spcPts val="300"/>
              </a:spcAft>
              <a:defRPr sz="570">
                <a:solidFill>
                  <a:srgbClr val="21242A"/>
                </a:solidFill>
                <a:latin typeface="Microsoft YaHei"/>
              </a:defRPr>
            </a:pPr>
            <a:r>
              <a:t>challenging, particularly in routine biopsy specimens.</a:t>
            </a:r>
          </a:p>
          <a:p>
            <a:pPr>
              <a:lnSpc>
                <a:spcPct val="103000"/>
              </a:lnSpc>
              <a:spcAft>
                <a:spcPts val="300"/>
              </a:spcAft>
              <a:defRPr sz="570">
                <a:solidFill>
                  <a:srgbClr val="21242A"/>
                </a:solidFill>
                <a:latin typeface="Microsoft YaHei"/>
              </a:defRPr>
            </a:pPr>
            <a:r>
              <a:t>We developed a simple method to quantify ITH from copy number variation (CNVs) data derived from formalin-fixed, paraffin-embedded (FFPE) samples, generating a </a:t>
            </a:r>
          </a:p>
          <a:p>
            <a:pPr>
              <a:lnSpc>
                <a:spcPct val="103000"/>
              </a:lnSpc>
              <a:spcAft>
                <a:spcPts val="300"/>
              </a:spcAft>
              <a:defRPr sz="570">
                <a:solidFill>
                  <a:srgbClr val="21242A"/>
                </a:solidFill>
                <a:latin typeface="Microsoft YaHei"/>
              </a:defRPr>
            </a:pPr>
            <a:r>
              <a:t>Clonal Composition (CC) number that estimates the number of coexisting subclones.</a:t>
            </a:r>
          </a:p>
          <a:p>
            <a:pPr>
              <a:lnSpc>
                <a:spcPct val="103000"/>
              </a:lnSpc>
              <a:spcAft>
                <a:spcPts val="300"/>
              </a:spcAft>
              <a:defRPr sz="570">
                <a:solidFill>
                  <a:srgbClr val="21242A"/>
                </a:solidFill>
                <a:latin typeface="Microsoft YaHei"/>
              </a:defRPr>
            </a:pPr>
            <a:r>
              <a:t>This approach was previously validated in ovarian cancer and hepatocellular carcinoma, where higher CC numbers were associated with inferior outcomes.</a:t>
            </a:r>
          </a:p>
          <a:p>
            <a:pPr>
              <a:lnSpc>
                <a:spcPct val="103000"/>
              </a:lnSpc>
              <a:spcAft>
                <a:spcPts val="300"/>
              </a:spcAft>
              <a:defRPr sz="570">
                <a:solidFill>
                  <a:srgbClr val="21242A"/>
                </a:solidFill>
                <a:latin typeface="Microsoft YaHei"/>
              </a:defRPr>
            </a:pPr>
            <a:r>
              <a:t>Here, we apply this framework to diffuse large B-cell lymphoma (DLBCL), a disease with established inter-patient genetic heterogeneity but unresolved intratumor</a:t>
            </a:r>
          </a:p>
          <a:p>
            <a:pPr>
              <a:lnSpc>
                <a:spcPct val="103000"/>
              </a:lnSpc>
              <a:spcAft>
                <a:spcPts val="300"/>
              </a:spcAft>
              <a:defRPr sz="570">
                <a:solidFill>
                  <a:srgbClr val="21242A"/>
                </a:solidFill>
                <a:latin typeface="Microsoft YaHei"/>
              </a:defRPr>
            </a:pPr>
            <a:r>
              <a:t> evolutionary complexity.</a:t>
            </a:r>
          </a:p>
          <a:p>
            <a:pPr>
              <a:lnSpc>
                <a:spcPct val="103000"/>
              </a:lnSpc>
              <a:spcAft>
                <a:spcPts val="300"/>
              </a:spcAft>
              <a:defRPr sz="570">
                <a:solidFill>
                  <a:srgbClr val="21242A"/>
                </a:solidFill>
                <a:latin typeface="Microsoft YaHei"/>
              </a:defRPr>
            </a:pPr>
            <a:r>
              <a:t>Aims: We aimed to determine whether ITH can be quantitatively assessed in DLBCL, and to evaluate its association with the gene expression profiles, mutational l</a:t>
            </a:r>
          </a:p>
          <a:p>
            <a:pPr>
              <a:lnSpc>
                <a:spcPct val="103000"/>
              </a:lnSpc>
              <a:spcAft>
                <a:spcPts val="300"/>
              </a:spcAft>
              <a:defRPr sz="570">
                <a:solidFill>
                  <a:srgbClr val="21242A"/>
                </a:solidFill>
                <a:latin typeface="Microsoft YaHei"/>
              </a:defRPr>
            </a:pPr>
            <a:r>
              <a:t>andscape, tumor micro environment, and clinical outcomes, and to elucidate its impact on disease biology.</a:t>
            </a:r>
          </a:p>
          <a:p>
            <a:pPr>
              <a:lnSpc>
                <a:spcPct val="103000"/>
              </a:lnSpc>
              <a:spcAft>
                <a:spcPts val="300"/>
              </a:spcAft>
              <a:defRPr sz="570">
                <a:solidFill>
                  <a:srgbClr val="21242A"/>
                </a:solidFill>
                <a:latin typeface="Microsoft YaHei"/>
              </a:defRPr>
            </a:pPr>
            <a:r>
              <a:t>Methods: Gene expression, copy number analyses and gene mutation analysis were performed in patients with newly diagnosed advanced-stage DLBCL using FFPE tumor </a:t>
            </a:r>
          </a:p>
          <a:p>
            <a:pPr>
              <a:lnSpc>
                <a:spcPct val="103000"/>
              </a:lnSpc>
              <a:spcAft>
                <a:spcPts val="300"/>
              </a:spcAft>
              <a:defRPr sz="570">
                <a:solidFill>
                  <a:srgbClr val="21242A"/>
                </a:solidFill>
                <a:latin typeface="Microsoft YaHei"/>
              </a:defRPr>
            </a:pPr>
            <a:r>
              <a:t>specimens.</a:t>
            </a:r>
          </a:p>
          <a:p>
            <a:pPr>
              <a:lnSpc>
                <a:spcPct val="103000"/>
              </a:lnSpc>
              <a:spcAft>
                <a:spcPts val="300"/>
              </a:spcAft>
              <a:defRPr sz="570">
                <a:solidFill>
                  <a:srgbClr val="21242A"/>
                </a:solidFill>
                <a:latin typeface="Microsoft YaHei"/>
              </a:defRPr>
            </a:pPr>
            <a:r>
              <a:t>CC number was calculated using a clustering approach that clusters all segments with same the B-allele frequency (BAF) and log2 ratio (log2R) values obtained fr</a:t>
            </a:r>
          </a:p>
          <a:p>
            <a:pPr>
              <a:lnSpc>
                <a:spcPct val="103000"/>
              </a:lnSpc>
              <a:spcAft>
                <a:spcPts val="300"/>
              </a:spcAft>
              <a:defRPr sz="570">
                <a:solidFill>
                  <a:srgbClr val="21242A"/>
                </a:solidFill>
                <a:latin typeface="Microsoft YaHei"/>
              </a:defRPr>
            </a:pPr>
            <a:r>
              <a:t>om whole-genome copy number assay and then combines clusters corresponding the same percentage of aberrant cells (%AC).</a:t>
            </a:r>
          </a:p>
          <a:p>
            <a:pPr>
              <a:lnSpc>
                <a:spcPct val="103000"/>
              </a:lnSpc>
              <a:spcAft>
                <a:spcPts val="300"/>
              </a:spcAft>
              <a:defRPr sz="570">
                <a:solidFill>
                  <a:srgbClr val="21242A"/>
                </a:solidFill>
                <a:latin typeface="Microsoft YaHei"/>
              </a:defRPr>
            </a:pPr>
            <a:r>
              <a:t>The correlations between CC number and biological, clinical characteristics, and prognosis were analyzed (Kindai University Faculty of Medicine Ethics Committee</a:t>
            </a:r>
          </a:p>
          <a:p>
            <a:pPr>
              <a:lnSpc>
                <a:spcPct val="103000"/>
              </a:lnSpc>
              <a:spcAft>
                <a:spcPts val="300"/>
              </a:spcAft>
              <a:defRPr sz="570">
                <a:solidFill>
                  <a:srgbClr val="21242A"/>
                </a:solidFill>
                <a:latin typeface="Microsoft YaHei"/>
              </a:defRPr>
            </a:pPr>
            <a:r>
              <a:t>: Approval number R03-283).</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These results suggest that clonal complexity captures tumor-intrinsic features and biological diversity in DLBCL, especially in ABC subtype, offering novel insi</a:t>
            </a:r>
          </a:p>
          <a:p>
            <a:pPr>
              <a:lnSpc>
                <a:spcPct val="103000"/>
              </a:lnSpc>
              <a:spcAft>
                <a:spcPts val="300"/>
              </a:spcAft>
              <a:defRPr sz="590">
                <a:solidFill>
                  <a:srgbClr val="21242A"/>
                </a:solidFill>
                <a:latin typeface="Microsoft YaHei"/>
              </a:defRPr>
            </a:pPr>
            <a:r>
              <a:t>ghts into the disease pathogenesis.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5年无事件生存率</a:t>
                      </a:r>
                    </a:p>
                  </a:txBody>
                  <a:tcPr>
                    <a:solidFill>
                      <a:srgbClr val="F6F8FB"/>
                    </a:solidFill>
                  </a:tcPr>
                </a:tc>
                <a:tc>
                  <a:txBody>
                    <a:bodyPr wrap="square" lIns="36576" rIns="36576" tIns="18288" bIns="18288"/>
                    <a:lstStyle/>
                    <a:p>
                      <a:r>
                        <a:rPr sz="540" b="0">
                          <a:solidFill>
                            <a:srgbClr val="21242A"/>
                          </a:solidFill>
                          <a:latin typeface="Microsoft YaHei"/>
                        </a:rPr>
                        <a:t>Poly-CC肿瘤患者41.5%，Mono-CC肿瘤患者71.1%（Log-rank p=0.079）</a:t>
                      </a:r>
                    </a:p>
                  </a:txBody>
                  <a:tcPr>
                    <a:solidFill>
                      <a:srgbClr val="F6F8FB"/>
                    </a:solidFill>
                  </a:tcPr>
                </a:tc>
              </a:tr>
              <a:tr h="249936">
                <a:tc>
                  <a:txBody>
                    <a:bodyPr wrap="square" lIns="36576" rIns="36576" tIns="18288" bIns="18288"/>
                    <a:lstStyle/>
                    <a:p>
                      <a:r>
                        <a:rPr sz="540" b="1">
                          <a:solidFill>
                            <a:srgbClr val="21242A"/>
                          </a:solidFill>
                          <a:latin typeface="Microsoft YaHei"/>
                        </a:rPr>
                        <a:t>ABC亚型中5年无事件生存率</a:t>
                      </a:r>
                    </a:p>
                  </a:txBody>
                  <a:tcPr>
                    <a:solidFill>
                      <a:srgbClr val="FFFFFF"/>
                    </a:solidFill>
                  </a:tcPr>
                </a:tc>
                <a:tc>
                  <a:txBody>
                    <a:bodyPr wrap="square" lIns="36576" rIns="36576" tIns="18288" bIns="18288"/>
                    <a:lstStyle/>
                    <a:p>
                      <a:r>
                        <a:rPr sz="540" b="0">
                          <a:solidFill>
                            <a:srgbClr val="21242A"/>
                          </a:solidFill>
                          <a:latin typeface="Microsoft YaHei"/>
                        </a:rPr>
                        <a:t>Poly-CC肿瘤31.5%，Mono-CC肿瘤83.3%（p=0.0450）</a:t>
                      </a:r>
                    </a:p>
                  </a:txBody>
                  <a:tcPr>
                    <a:solidFill>
                      <a:srgbClr val="FFFFFF"/>
                    </a:solidFill>
                  </a:tcPr>
                </a:tc>
              </a:tr>
              <a:tr h="249936">
                <a:tc>
                  <a:txBody>
                    <a:bodyPr wrap="square" lIns="36576" rIns="36576" tIns="18288" bIns="18288"/>
                    <a:lstStyle/>
                    <a:p>
                      <a:r>
                        <a:rPr sz="540" b="1">
                          <a:solidFill>
                            <a:srgbClr val="21242A"/>
                          </a:solidFill>
                          <a:latin typeface="Microsoft YaHei"/>
                        </a:rPr>
                        <a:t>GCB亚型中5年无事件生存率</a:t>
                      </a:r>
                    </a:p>
                  </a:txBody>
                  <a:tcPr>
                    <a:solidFill>
                      <a:srgbClr val="F6F8FB"/>
                    </a:solidFill>
                  </a:tcPr>
                </a:tc>
                <a:tc>
                  <a:txBody>
                    <a:bodyPr wrap="square" lIns="36576" rIns="36576" tIns="18288" bIns="18288"/>
                    <a:lstStyle/>
                    <a:p>
                      <a:r>
                        <a:rPr sz="540" b="0">
                          <a:solidFill>
                            <a:srgbClr val="21242A"/>
                          </a:solidFill>
                          <a:latin typeface="Microsoft YaHei"/>
                        </a:rPr>
                        <a:t>Poly-CC肿瘤50.0%，Mono-CC肿瘤55.5%（p=0.66）</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Poly-CC肿瘤Ki-67阳性率显著高于Mono-CC肿瘤（p=0.00227）</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Poly-ABC肿瘤中致病性突变数量显著高于Mono-ABC肿瘤（p=0.0147）</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摘要号：PF1104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儿童和成人大b细胞淋巴瘤irf4重排的基因组结构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architecture of irf4 rearrangements in children and adult large b-cel...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大B细胞淋巴瘤，弥漫性大B细胞淋巴瘤</a:t>
            </a:r>
          </a:p>
          <a:p>
            <a:pPr>
              <a:lnSpc>
                <a:spcPct val="103000"/>
              </a:lnSpc>
              <a:spcAft>
                <a:spcPts val="300"/>
              </a:spcAft>
              <a:defRPr sz="800">
                <a:solidFill>
                  <a:srgbClr val="21242A"/>
                </a:solidFill>
                <a:latin typeface="Microsoft YaHei"/>
              </a:defRPr>
            </a:pPr>
            <a:r>
              <a:t>N=42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回顾性临床研究结果：genomic architecture of irf4 rearrangements in childr...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IRF4重排检测率：FISH检出38/42例</a:t>
            </a:r>
          </a:p>
          <a:p>
            <a:pPr>
              <a:lnSpc>
                <a:spcPct val="103000"/>
              </a:lnSpc>
              <a:spcAft>
                <a:spcPts val="300"/>
              </a:spcAft>
              <a:defRPr sz="800">
                <a:solidFill>
                  <a:srgbClr val="21242A"/>
                </a:solidFill>
                <a:latin typeface="Microsoft YaHei"/>
              </a:defRPr>
            </a:pPr>
            <a:r>
              <a:t>SV-NGS检出85%的病例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人数：42</a:t>
            </a:r>
          </a:p>
          <a:p>
            <a:pPr>
              <a:lnSpc>
                <a:spcPct val="103000"/>
              </a:lnSpc>
              <a:spcAft>
                <a:spcPts val="300"/>
              </a:spcAft>
              <a:defRPr sz="810">
                <a:solidFill>
                  <a:srgbClr val="21242A"/>
                </a:solidFill>
                <a:latin typeface="Microsoft YaHei"/>
              </a:defRPr>
            </a:pPr>
            <a:r>
              <a:t>适应症：大B细胞淋巴瘤、弥漫性大B细胞淋巴瘤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研究主题：genomic architecture of irf4 rearrangements in children and adult large b-cell lymphomas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儿童和成人大b细胞淋巴瘤irf4重排的基因组结构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architecture of irf4 rearrangements in children and adult large b-cel...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Large B‑cell lymphoma with IRF4 rearrangement (LBCL‑ IRF4 ) predominantly affects children and young adults (CAYA) and typically presents as localiz</a:t>
            </a:r>
          </a:p>
          <a:p>
            <a:pPr>
              <a:lnSpc>
                <a:spcPct val="103000"/>
              </a:lnSpc>
              <a:spcAft>
                <a:spcPts val="300"/>
              </a:spcAft>
              <a:defRPr sz="570">
                <a:solidFill>
                  <a:srgbClr val="21242A"/>
                </a:solidFill>
                <a:latin typeface="Microsoft YaHei"/>
              </a:defRPr>
            </a:pPr>
            <a:r>
              <a:t>ed disease with an excellent outcome.</a:t>
            </a:r>
          </a:p>
          <a:p>
            <a:pPr>
              <a:lnSpc>
                <a:spcPct val="103000"/>
              </a:lnSpc>
              <a:spcAft>
                <a:spcPts val="300"/>
              </a:spcAft>
              <a:defRPr sz="570">
                <a:solidFill>
                  <a:srgbClr val="21242A"/>
                </a:solidFill>
                <a:latin typeface="Microsoft YaHei"/>
              </a:defRPr>
            </a:pPr>
            <a:r>
              <a:t>Although IRF4 :: IGH translocations are detected in most cases, cryptic rearrangements have been proposed, and it remains unclear whether all IRF4 rearrangement</a:t>
            </a:r>
          </a:p>
          <a:p>
            <a:pPr>
              <a:lnSpc>
                <a:spcPct val="103000"/>
              </a:lnSpc>
              <a:spcAft>
                <a:spcPts val="300"/>
              </a:spcAft>
              <a:defRPr sz="570">
                <a:solidFill>
                  <a:srgbClr val="21242A"/>
                </a:solidFill>
                <a:latin typeface="Microsoft YaHei"/>
              </a:defRPr>
            </a:pPr>
            <a:r>
              <a:t> ( IRF4 -R) share a common genomic architecture, involve non‑IG partners, or evade detection by FISH.</a:t>
            </a:r>
          </a:p>
          <a:p>
            <a:pPr>
              <a:lnSpc>
                <a:spcPct val="103000"/>
              </a:lnSpc>
              <a:spcAft>
                <a:spcPts val="300"/>
              </a:spcAft>
              <a:defRPr sz="570">
                <a:solidFill>
                  <a:srgbClr val="21242A"/>
                </a:solidFill>
                <a:latin typeface="Microsoft YaHei"/>
              </a:defRPr>
            </a:pPr>
            <a:r>
              <a:t>NGS has revealed a distinct mutational profile including IRF4 and NF‑κB pathway mutations.</a:t>
            </a:r>
          </a:p>
          <a:p>
            <a:pPr>
              <a:lnSpc>
                <a:spcPct val="103000"/>
              </a:lnSpc>
              <a:spcAft>
                <a:spcPts val="300"/>
              </a:spcAft>
              <a:defRPr sz="570">
                <a:solidFill>
                  <a:srgbClr val="21242A"/>
                </a:solidFill>
                <a:latin typeface="Microsoft YaHei"/>
              </a:defRPr>
            </a:pPr>
            <a:r>
              <a:t>Whether diffuse large B-cell lymphomas (DLBCL) with IRF4 -R in adults represents the same biological entity is uncertain.</a:t>
            </a:r>
          </a:p>
          <a:p>
            <a:pPr>
              <a:lnSpc>
                <a:spcPct val="103000"/>
              </a:lnSpc>
              <a:spcAft>
                <a:spcPts val="300"/>
              </a:spcAft>
              <a:defRPr sz="570">
                <a:solidFill>
                  <a:srgbClr val="21242A"/>
                </a:solidFill>
                <a:latin typeface="Microsoft YaHei"/>
              </a:defRPr>
            </a:pPr>
            <a:r>
              <a:t>Aims: To define IRF4 ‑R architecture, characterize the mutational profile, and determine whether CAYA and adult IRF4 -R tumors share similar genomic features, s</a:t>
            </a:r>
          </a:p>
          <a:p>
            <a:pPr>
              <a:lnSpc>
                <a:spcPct val="103000"/>
              </a:lnSpc>
              <a:spcAft>
                <a:spcPts val="300"/>
              </a:spcAft>
              <a:defRPr sz="570">
                <a:solidFill>
                  <a:srgbClr val="21242A"/>
                </a:solidFill>
                <a:latin typeface="Microsoft YaHei"/>
              </a:defRPr>
            </a:pPr>
            <a:r>
              <a:t>upporting more precise diagnosis.</a:t>
            </a:r>
          </a:p>
          <a:p>
            <a:pPr>
              <a:lnSpc>
                <a:spcPct val="103000"/>
              </a:lnSpc>
              <a:spcAft>
                <a:spcPts val="300"/>
              </a:spcAft>
              <a:defRPr sz="570">
                <a:solidFill>
                  <a:srgbClr val="21242A"/>
                </a:solidFill>
                <a:latin typeface="Microsoft YaHei"/>
              </a:defRPr>
            </a:pPr>
            <a:r>
              <a:t>Methods: We assembled a retrospective cohort of 42 patients including 28 pediatric (median age: 11y) and 7 young adult (median age: 29.5y) LBCL- IRF4 as well as</a:t>
            </a:r>
          </a:p>
          <a:p>
            <a:pPr>
              <a:lnSpc>
                <a:spcPct val="103000"/>
              </a:lnSpc>
              <a:spcAft>
                <a:spcPts val="300"/>
              </a:spcAft>
              <a:defRPr sz="570">
                <a:solidFill>
                  <a:srgbClr val="21242A"/>
                </a:solidFill>
                <a:latin typeface="Microsoft YaHei"/>
              </a:defRPr>
            </a:pPr>
            <a:r>
              <a:t> 7 adult DLBCL with IRF4 -R (median age: 67.5y).</a:t>
            </a:r>
          </a:p>
          <a:p>
            <a:pPr>
              <a:lnSpc>
                <a:spcPct val="103000"/>
              </a:lnSpc>
              <a:spcAft>
                <a:spcPts val="300"/>
              </a:spcAft>
              <a:defRPr sz="570">
                <a:solidFill>
                  <a:srgbClr val="21242A"/>
                </a:solidFill>
                <a:latin typeface="Microsoft YaHei"/>
              </a:defRPr>
            </a:pPr>
            <a:r>
              <a:t>All cases were classified according to current classification of Lymphoid Neoplasms.</a:t>
            </a:r>
          </a:p>
          <a:p>
            <a:pPr>
              <a:lnSpc>
                <a:spcPct val="103000"/>
              </a:lnSpc>
              <a:spcAft>
                <a:spcPts val="300"/>
              </a:spcAft>
              <a:defRPr sz="570">
                <a:solidFill>
                  <a:srgbClr val="21242A"/>
                </a:solidFill>
                <a:latin typeface="Microsoft YaHei"/>
              </a:defRPr>
            </a:pPr>
            <a:r>
              <a:t>FISH analyses for BCL2 , BCL6 , MYC , IGH, and IRF4 were performed using commercial and custom break-apart probes, with additional custom probes to validate nov</a:t>
            </a:r>
          </a:p>
          <a:p>
            <a:pPr>
              <a:lnSpc>
                <a:spcPct val="103000"/>
              </a:lnSpc>
              <a:spcAft>
                <a:spcPts val="300"/>
              </a:spcAft>
              <a:defRPr sz="570">
                <a:solidFill>
                  <a:srgbClr val="21242A"/>
                </a:solidFill>
                <a:latin typeface="Microsoft YaHei"/>
              </a:defRPr>
            </a:pPr>
            <a:r>
              <a:t>el IRF4 partners.</a:t>
            </a:r>
          </a:p>
          <a:p>
            <a:pPr>
              <a:lnSpc>
                <a:spcPct val="103000"/>
              </a:lnSpc>
              <a:spcAft>
                <a:spcPts val="300"/>
              </a:spcAft>
              <a:defRPr sz="570">
                <a:solidFill>
                  <a:srgbClr val="21242A"/>
                </a:solidFill>
                <a:latin typeface="Microsoft YaHei"/>
              </a:defRPr>
            </a:pPr>
            <a:r>
              <a:t>Copy‑number alterations were assessed by Oncoscan/Cytoscan arrays (n=42), and cell‑of‑origin was determined using the Lymph2Cx assay.</a:t>
            </a:r>
          </a:p>
          <a:p>
            <a:pPr>
              <a:lnSpc>
                <a:spcPct val="103000"/>
              </a:lnSpc>
              <a:spcAft>
                <a:spcPts val="300"/>
              </a:spcAft>
              <a:defRPr sz="570">
                <a:solidFill>
                  <a:srgbClr val="21242A"/>
                </a:solidFill>
                <a:latin typeface="Microsoft YaHei"/>
              </a:defRPr>
            </a:pPr>
            <a:r>
              <a:t>Structural variants (SV) and mutations were profiled in 37 tumors using a custom targeted NGS panel (SV-NGS) covering 168 lymphoma‑related genes and key SV loci</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Whole‑exome sequencing (WES) was performed on 38 cases. Genetic DLBCL subtypes were assigned using the LymphGen algorithm.</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conclusion, IRF4 -R architecture and mutational profile diverge according to age, supporting that not all adult cases should be classified as LBCL- IRF4 .</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IRF4重排检测率</a:t>
                      </a:r>
                    </a:p>
                  </a:txBody>
                  <a:tcPr>
                    <a:solidFill>
                      <a:srgbClr val="F6F8FB"/>
                    </a:solidFill>
                  </a:tcPr>
                </a:tc>
                <a:tc>
                  <a:txBody>
                    <a:bodyPr wrap="square" lIns="36576" rIns="36576" tIns="18288" bIns="18288"/>
                    <a:lstStyle/>
                    <a:p>
                      <a:r>
                        <a:rPr sz="540" b="0">
                          <a:solidFill>
                            <a:srgbClr val="21242A"/>
                          </a:solidFill>
                          <a:latin typeface="Microsoft YaHei"/>
                        </a:rPr>
                        <a:t>FISH检出38/42例；SV-NGS检出85%的病例</a:t>
                      </a:r>
                    </a:p>
                  </a:txBody>
                  <a:tcPr>
                    <a:solidFill>
                      <a:srgbClr val="F6F8FB"/>
                    </a:solidFill>
                  </a:tcPr>
                </a:tc>
              </a:tr>
              <a:tr h="249936">
                <a:tc>
                  <a:txBody>
                    <a:bodyPr wrap="square" lIns="36576" rIns="36576" tIns="18288" bIns="18288"/>
                    <a:lstStyle/>
                    <a:p>
                      <a:r>
                        <a:rPr sz="540" b="1">
                          <a:solidFill>
                            <a:srgbClr val="21242A"/>
                          </a:solidFill>
                          <a:latin typeface="Microsoft YaHei"/>
                        </a:rPr>
                        <a:t>IRF4</a:t>
                      </a:r>
                    </a:p>
                  </a:txBody>
                  <a:tcPr>
                    <a:solidFill>
                      <a:srgbClr val="FFFFFF"/>
                    </a:solidFill>
                  </a:tcPr>
                </a:tc>
                <a:tc>
                  <a:txBody>
                    <a:bodyPr wrap="square" lIns="36576" rIns="36576" tIns="18288" bIns="18288"/>
                    <a:lstStyle/>
                    <a:p>
                      <a:r>
                        <a:rPr sz="540" b="0">
                          <a:solidFill>
                            <a:srgbClr val="21242A"/>
                          </a:solidFill>
                          <a:latin typeface="Microsoft YaHei"/>
                        </a:rPr>
                        <a:t>:IGH易位在CAYA LBCL-IRF4中占81%；成人DLBCL中IRF4断裂点位置不同</a:t>
                      </a:r>
                    </a:p>
                  </a:txBody>
                  <a:tcPr>
                    <a:solidFill>
                      <a:srgbClr val="FFFFFF"/>
                    </a:solidFill>
                  </a:tcPr>
                </a:tc>
              </a:tr>
              <a:tr h="249936">
                <a:tc>
                  <a:txBody>
                    <a:bodyPr wrap="square" lIns="36576" rIns="36576" tIns="18288" bIns="18288"/>
                    <a:lstStyle/>
                    <a:p>
                      <a:r>
                        <a:rPr sz="540" b="1">
                          <a:solidFill>
                            <a:srgbClr val="21242A"/>
                          </a:solidFill>
                          <a:latin typeface="Microsoft YaHei"/>
                        </a:rPr>
                        <a:t>新发现IRF4</a:t>
                      </a:r>
                    </a:p>
                  </a:txBody>
                  <a:tcPr>
                    <a:solidFill>
                      <a:srgbClr val="F6F8FB"/>
                    </a:solidFill>
                  </a:tcPr>
                </a:tc>
                <a:tc>
                  <a:txBody>
                    <a:bodyPr wrap="square" lIns="36576" rIns="36576" tIns="18288" bIns="18288"/>
                    <a:lstStyle/>
                    <a:p>
                      <a:r>
                        <a:rPr sz="540" b="0">
                          <a:solidFill>
                            <a:srgbClr val="21242A"/>
                          </a:solidFill>
                          <a:latin typeface="Microsoft YaHei"/>
                        </a:rPr>
                        <a:t>:MIR142和IRF4::BATF易位</a:t>
                      </a:r>
                    </a:p>
                  </a:txBody>
                  <a:tcPr>
                    <a:solidFill>
                      <a:srgbClr val="F6F8FB"/>
                    </a:solidFill>
                  </a:tcPr>
                </a:tc>
              </a:tr>
              <a:tr h="249936">
                <a:tc>
                  <a:txBody>
                    <a:bodyPr wrap="square" lIns="36576" rIns="36576" tIns="18288" bIns="18288"/>
                    <a:lstStyle/>
                    <a:p>
                      <a:r>
                        <a:rPr sz="540" b="1">
                          <a:solidFill>
                            <a:srgbClr val="21242A"/>
                          </a:solidFill>
                          <a:latin typeface="Microsoft YaHei"/>
                        </a:rPr>
                        <a:t>突变谱</a:t>
                      </a:r>
                    </a:p>
                  </a:txBody>
                  <a:tcPr>
                    <a:solidFill>
                      <a:srgbClr val="FFFFFF"/>
                    </a:solidFill>
                  </a:tcPr>
                </a:tc>
                <a:tc>
                  <a:txBody>
                    <a:bodyPr wrap="square" lIns="36576" rIns="36576" tIns="18288" bIns="18288"/>
                    <a:lstStyle/>
                    <a:p>
                      <a:r>
                        <a:rPr sz="540" b="0">
                          <a:solidFill>
                            <a:srgbClr val="21242A"/>
                          </a:solidFill>
                          <a:latin typeface="Microsoft YaHei"/>
                        </a:rPr>
                        <a:t>BCR/NF-κB通路基因突变频繁，成人组有KMT2D、DTX1、MYD88-L265P突变；儿童组无LymphGen分类，成人组有EZB或MCD亚型</a:t>
                      </a:r>
                    </a:p>
                  </a:txBody>
                  <a:tcPr>
                    <a:solidFill>
                      <a:srgbClr val="FFFFFF"/>
                    </a:solidFill>
                  </a:tcPr>
                </a:tc>
              </a:tr>
              <a:tr h="249936">
                <a:tc>
                  <a:txBody>
                    <a:bodyPr wrap="square" lIns="36576" rIns="36576" tIns="18288" bIns="18288"/>
                    <a:lstStyle/>
                    <a:p>
                      <a:r>
                        <a:rPr sz="540" b="1">
                          <a:solidFill>
                            <a:srgbClr val="21242A"/>
                          </a:solidFill>
                          <a:latin typeface="Microsoft YaHei"/>
                        </a:rPr>
                        <a:t>预后</a:t>
                      </a:r>
                    </a:p>
                  </a:txBody>
                  <a:tcPr>
                    <a:solidFill>
                      <a:srgbClr val="F6F8FB"/>
                    </a:solidFill>
                  </a:tcPr>
                </a:tc>
                <a:tc>
                  <a:txBody>
                    <a:bodyPr wrap="square" lIns="36576" rIns="36576" tIns="18288" bIns="18288"/>
                    <a:lstStyle/>
                    <a:p>
                      <a:r>
                        <a:rPr sz="540" b="0">
                          <a:solidFill>
                            <a:srgbClr val="21242A"/>
                          </a:solidFill>
                          <a:latin typeface="Microsoft YaHei"/>
                        </a:rPr>
                        <a:t>年龄&gt;40岁患者EFS显著较差。</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摘要号：PF1074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染色体8q拷贝数增加预测伴有myc和bcl2重排的高级别弥漫性大b细胞淋巴瘤的早期复发</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chromosome 8q copy number gain predicts early relapse in high-grade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N=736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回顾性临床研究结果：chromosome 8q copy number gain predicts early relapse...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HGBL-DH中染色体8q增益频率47%（38/76），DLBCL-NOS中23%（125/546）</a:t>
            </a:r>
          </a:p>
          <a:p>
            <a:pPr>
              <a:lnSpc>
                <a:spcPct val="103000"/>
              </a:lnSpc>
              <a:spcAft>
                <a:spcPts val="300"/>
              </a:spcAft>
              <a:defRPr sz="800">
                <a:solidFill>
                  <a:srgbClr val="21242A"/>
                </a:solidFill>
                <a:latin typeface="Microsoft YaHei"/>
              </a:defRPr>
            </a:pPr>
            <a:r>
              <a:t>HGBL-DH中染色体8q增益与MYC::non-IGH重排相关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人数：736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研究主题：chromosome 8q copy number gain predicts early relapse in high-grade diffuse large b-cell lymphoma with myc and bcl2 rea...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染色体8q拷贝数增加预测伴有myc和bcl2重排的高级别弥漫性大b细胞淋巴瘤的早期复发</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chromosome 8q copy number gain predicts early relapse in high-grade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Large B-cell lymphoma (LBCL) comprises biologically heterogeneous entities with variable clinical outcome.</a:t>
            </a:r>
          </a:p>
          <a:p>
            <a:pPr>
              <a:lnSpc>
                <a:spcPct val="103000"/>
              </a:lnSpc>
              <a:spcAft>
                <a:spcPts val="300"/>
              </a:spcAft>
              <a:defRPr sz="570">
                <a:solidFill>
                  <a:srgbClr val="21242A"/>
                </a:solidFill>
                <a:latin typeface="Microsoft YaHei"/>
              </a:defRPr>
            </a:pPr>
            <a:r>
              <a:t>Diffuse large B-cell lymphoma/high-grade B-cell lymphoma with concurrent MYC and BCL2 rearrangements (DLBCL/HGBL- MYC/BCL2, hereafter HGBL-DH (double-hit)) repr</a:t>
            </a:r>
          </a:p>
          <a:p>
            <a:pPr>
              <a:lnSpc>
                <a:spcPct val="103000"/>
              </a:lnSpc>
              <a:spcAft>
                <a:spcPts val="300"/>
              </a:spcAft>
              <a:defRPr sz="570">
                <a:solidFill>
                  <a:srgbClr val="21242A"/>
                </a:solidFill>
                <a:latin typeface="Microsoft YaHei"/>
              </a:defRPr>
            </a:pPr>
            <a:r>
              <a:t>esents a distinct entity characterized by frequent early refractory or relapsed disease.</a:t>
            </a:r>
          </a:p>
          <a:p>
            <a:pPr>
              <a:lnSpc>
                <a:spcPct val="103000"/>
              </a:lnSpc>
              <a:spcAft>
                <a:spcPts val="300"/>
              </a:spcAft>
              <a:defRPr sz="570">
                <a:solidFill>
                  <a:srgbClr val="21242A"/>
                </a:solidFill>
                <a:latin typeface="Microsoft YaHei"/>
              </a:defRPr>
            </a:pPr>
            <a:r>
              <a:t>These patients are treated with more intensified treatment regimens than patients with DLBLC without MYC and BCL2 rearrangements (DLBCL-NOS (not otherwise speci</a:t>
            </a:r>
          </a:p>
          <a:p>
            <a:pPr>
              <a:lnSpc>
                <a:spcPct val="103000"/>
              </a:lnSpc>
              <a:spcAft>
                <a:spcPts val="300"/>
              </a:spcAft>
              <a:defRPr sz="570">
                <a:solidFill>
                  <a:srgbClr val="21242A"/>
                </a:solidFill>
                <a:latin typeface="Microsoft YaHei"/>
              </a:defRPr>
            </a:pPr>
            <a:r>
              <a:t>fied)), however outcomes for HGBL-DH patients remain substantially inferior to those of DLBCL-NOS patients.</a:t>
            </a:r>
          </a:p>
          <a:p>
            <a:pPr>
              <a:lnSpc>
                <a:spcPct val="103000"/>
              </a:lnSpc>
              <a:spcAft>
                <a:spcPts val="300"/>
              </a:spcAft>
              <a:defRPr sz="570">
                <a:solidFill>
                  <a:srgbClr val="21242A"/>
                </a:solidFill>
                <a:latin typeface="Microsoft YaHei"/>
              </a:defRPr>
            </a:pPr>
            <a:r>
              <a:t>Additional biomarkers to identify high-risk patients within the HGBL-DH subgroup are lacking.</a:t>
            </a:r>
          </a:p>
          <a:p>
            <a:pPr>
              <a:lnSpc>
                <a:spcPct val="103000"/>
              </a:lnSpc>
              <a:spcAft>
                <a:spcPts val="300"/>
              </a:spcAft>
              <a:defRPr sz="570">
                <a:solidFill>
                  <a:srgbClr val="21242A"/>
                </a:solidFill>
                <a:latin typeface="Microsoft YaHei"/>
              </a:defRPr>
            </a:pPr>
            <a:r>
              <a:t>While MYC rearrangements ( MYC -R) in relation to its partner gene (Ig or non-Ig) and copy numbers at the MYC chromosome 8q locus have been studied in great det</a:t>
            </a:r>
          </a:p>
          <a:p>
            <a:pPr>
              <a:lnSpc>
                <a:spcPct val="103000"/>
              </a:lnSpc>
              <a:spcAft>
                <a:spcPts val="300"/>
              </a:spcAft>
              <a:defRPr sz="570">
                <a:solidFill>
                  <a:srgbClr val="21242A"/>
                </a:solidFill>
                <a:latin typeface="Microsoft YaHei"/>
              </a:defRPr>
            </a:pPr>
            <a:r>
              <a:t>ail, the relation of the various architectures with outcome has remained underexplored.</a:t>
            </a:r>
          </a:p>
          <a:p>
            <a:pPr>
              <a:lnSpc>
                <a:spcPct val="103000"/>
              </a:lnSpc>
              <a:spcAft>
                <a:spcPts val="300"/>
              </a:spcAft>
              <a:defRPr sz="570">
                <a:solidFill>
                  <a:srgbClr val="21242A"/>
                </a:solidFill>
                <a:latin typeface="Microsoft YaHei"/>
              </a:defRPr>
            </a:pPr>
            <a:r>
              <a:t>Aims: We aimed to stratify HGBL-DH patients based on their complete genomic architecture, and study the association with patient outcome in a large set of LBCL </a:t>
            </a:r>
          </a:p>
          <a:p>
            <a:pPr>
              <a:lnSpc>
                <a:spcPct val="103000"/>
              </a:lnSpc>
              <a:spcAft>
                <a:spcPts val="300"/>
              </a:spcAft>
              <a:defRPr sz="570">
                <a:solidFill>
                  <a:srgbClr val="21242A"/>
                </a:solidFill>
                <a:latin typeface="Microsoft YaHei"/>
              </a:defRPr>
            </a:pPr>
            <a:r>
              <a:t>patients enriched for MYC translocations.</a:t>
            </a:r>
          </a:p>
          <a:p>
            <a:pPr>
              <a:lnSpc>
                <a:spcPct val="103000"/>
              </a:lnSpc>
              <a:spcAft>
                <a:spcPts val="300"/>
              </a:spcAft>
              <a:defRPr sz="570">
                <a:solidFill>
                  <a:srgbClr val="21242A"/>
                </a:solidFill>
                <a:latin typeface="Microsoft YaHei"/>
              </a:defRPr>
            </a:pPr>
            <a:r>
              <a:t>Methods: We obtained comprehensive next-generation sequencing of 76 HGBL-DH and 660 DLBCL-NOS samples derived from four clinical trials and one multicenter coho</a:t>
            </a:r>
          </a:p>
          <a:p>
            <a:pPr>
              <a:lnSpc>
                <a:spcPct val="103000"/>
              </a:lnSpc>
              <a:spcAft>
                <a:spcPts val="300"/>
              </a:spcAft>
              <a:defRPr sz="570">
                <a:solidFill>
                  <a:srgbClr val="21242A"/>
                </a:solidFill>
                <a:latin typeface="Microsoft YaHei"/>
              </a:defRPr>
            </a:pPr>
            <a:r>
              <a:t>rt.</a:t>
            </a:r>
          </a:p>
          <a:p>
            <a:pPr>
              <a:lnSpc>
                <a:spcPct val="103000"/>
              </a:lnSpc>
              <a:spcAft>
                <a:spcPts val="300"/>
              </a:spcAft>
              <a:defRPr sz="570">
                <a:solidFill>
                  <a:srgbClr val="21242A"/>
                </a:solidFill>
                <a:latin typeface="Microsoft YaHei"/>
              </a:defRPr>
            </a:pPr>
            <a:r>
              <a:t>From this sequencing, we derived genomic mutations, translocations, and genome-wide copy number alterations.</a:t>
            </a:r>
          </a:p>
          <a:p>
            <a:pPr>
              <a:lnSpc>
                <a:spcPct val="103000"/>
              </a:lnSpc>
              <a:spcAft>
                <a:spcPts val="300"/>
              </a:spcAft>
              <a:defRPr sz="570">
                <a:solidFill>
                  <a:srgbClr val="21242A"/>
                </a:solidFill>
                <a:latin typeface="Microsoft YaHei"/>
              </a:defRPr>
            </a:pPr>
            <a:r>
              <a:t>MYC-R and large-scale chromosome 8 gains were integrated to resolve their complete genomic architecture.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conclusion, HGBL-DH patients with chromosome 8q copy number gain defines a subgroup of HGBL-DH patients with high risk of refractory/relapsed disease, while </a:t>
            </a:r>
          </a:p>
          <a:p>
            <a:pPr>
              <a:lnSpc>
                <a:spcPct val="103000"/>
              </a:lnSpc>
              <a:spcAft>
                <a:spcPts val="300"/>
              </a:spcAft>
              <a:defRPr sz="590">
                <a:solidFill>
                  <a:srgbClr val="21242A"/>
                </a:solidFill>
                <a:latin typeface="Microsoft YaHei"/>
              </a:defRPr>
            </a:pPr>
            <a:r>
              <a:t>HGBL-DH patients without chromosome 8q gain have comparable outcomes to DLBCL-NOS patients.</a:t>
            </a:r>
          </a:p>
          <a:p>
            <a:pPr>
              <a:lnSpc>
                <a:spcPct val="103000"/>
              </a:lnSpc>
              <a:spcAft>
                <a:spcPts val="300"/>
              </a:spcAft>
              <a:defRPr sz="590">
                <a:solidFill>
                  <a:srgbClr val="21242A"/>
                </a:solidFill>
                <a:latin typeface="Microsoft YaHei"/>
              </a:defRPr>
            </a:pPr>
            <a:r>
              <a:t>This allows upfront risk stratification and guiding of tailored treatment strategies based on chromosome 8q status.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HGBL-DH中染色体8q增益频率47%（38/76），DLBCL-NOS中23%（125/546）</a:t>
                      </a:r>
                    </a:p>
                  </a:txBody>
                  <a:tcPr>
                    <a:solidFill>
                      <a:srgbClr val="F6F8FB"/>
                    </a:solidFill>
                  </a:tcPr>
                </a:tc>
              </a:tr>
              <a:tr h="299923">
                <a:tc>
                  <a:txBody>
                    <a:bodyPr wrap="square" lIns="36576" rIns="36576" tIns="18288" bIns="18288"/>
                    <a:lstStyle/>
                    <a:p>
                      <a:r>
                        <a:rPr sz="540" b="1">
                          <a:solidFill>
                            <a:srgbClr val="21242A"/>
                          </a:solidFill>
                          <a:latin typeface="Microsoft YaHei"/>
                        </a:rPr>
                        <a:t>HGBL-DH中染色体8q增益与MYC</a:t>
                      </a:r>
                    </a:p>
                  </a:txBody>
                  <a:tcPr>
                    <a:solidFill>
                      <a:srgbClr val="FFFFFF"/>
                    </a:solidFill>
                  </a:tcPr>
                </a:tc>
                <a:tc>
                  <a:txBody>
                    <a:bodyPr wrap="square" lIns="36576" rIns="36576" tIns="18288" bIns="18288"/>
                    <a:lstStyle/>
                    <a:p>
                      <a:r>
                        <a:rPr sz="540" b="0">
                          <a:solidFill>
                            <a:srgbClr val="21242A"/>
                          </a:solidFill>
                          <a:latin typeface="Microsoft YaHei"/>
                        </a:rPr>
                        <a:t>:non-IGH重排相关</a:t>
                      </a:r>
                    </a:p>
                  </a:txBody>
                  <a:tcPr>
                    <a:solidFill>
                      <a:srgbClr val="FFFFFF"/>
                    </a:solidFill>
                  </a:tcPr>
                </a:tc>
              </a:tr>
              <a:tr h="299923">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8q增益且断裂点在MYC外的患者（构型III）与较差的1年PFS相关</a:t>
                      </a:r>
                    </a:p>
                  </a:txBody>
                  <a:tcPr>
                    <a:solidFill>
                      <a:srgbClr val="F6F8FB"/>
                    </a:solidFill>
                  </a:tcPr>
                </a:tc>
              </a:tr>
              <a:tr h="299924">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无8q增益的HGBL-DH患者预后与DLBCL-NOS患者相当</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摘要号：PF1071</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myc：bcl6融合在myc/bcl6双重打击淋巴瘤患者中的临床意义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clinical significance of myc::bcl6 fusion in myc/bcl6 double hit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回顾性临床研究结果：the clinical significance of myc::bcl6 fusion in myc/...</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总生存期（OS）：有MYC::BCL6融合组与无融合组无显著差异（所有患者p=0.35，仅初发患者p=0.57）</a:t>
            </a:r>
          </a:p>
          <a:p>
            <a:pPr>
              <a:lnSpc>
                <a:spcPct val="103000"/>
              </a:lnSpc>
              <a:spcAft>
                <a:spcPts val="300"/>
              </a:spcAft>
              <a:defRPr sz="800">
                <a:solidFill>
                  <a:srgbClr val="21242A"/>
                </a:solidFill>
                <a:latin typeface="Microsoft YaHei"/>
              </a:defRPr>
            </a:pPr>
            <a:r>
              <a:t>完全缓解率（CR）：有融合组40% vs 无融合组35%，p=1.0，无显著差异</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研究主题：the clinical significance of myc::bcl6 fusion in myc/bcl6 double hit lymphoma patients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myc：bcl6融合在myc/bcl6双重打击淋巴瘤患者中的临床意义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clinical significance of myc::bcl6 fusion in myc/bcl6 double hit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 small proportion of large B cell lymphoma carry MYC and BCL6 rearrangements, the so called MYC/BCL6 double hit lymphoma (DHL), of which there are </a:t>
            </a:r>
          </a:p>
          <a:p>
            <a:pPr>
              <a:lnSpc>
                <a:spcPct val="103000"/>
              </a:lnSpc>
              <a:spcAft>
                <a:spcPts val="300"/>
              </a:spcAft>
              <a:defRPr sz="570">
                <a:solidFill>
                  <a:srgbClr val="21242A"/>
                </a:solidFill>
                <a:latin typeface="Microsoft YaHei"/>
              </a:defRPr>
            </a:pPr>
            <a:r>
              <a:t>conflicting reports regarding the prognosis.</a:t>
            </a:r>
          </a:p>
          <a:p>
            <a:pPr>
              <a:lnSpc>
                <a:spcPct val="103000"/>
              </a:lnSpc>
              <a:spcAft>
                <a:spcPts val="300"/>
              </a:spcAft>
              <a:defRPr sz="570">
                <a:solidFill>
                  <a:srgbClr val="21242A"/>
                </a:solidFill>
                <a:latin typeface="Microsoft YaHei"/>
              </a:defRPr>
            </a:pPr>
            <a:r>
              <a:t>Occasional studies suggested this is likely due to the presence of pseudo MYC/BCL6 DHL, that is, those carried a single t(3;8) or MYC::BCL6 fusion, which likely</a:t>
            </a:r>
          </a:p>
          <a:p>
            <a:pPr>
              <a:lnSpc>
                <a:spcPct val="103000"/>
              </a:lnSpc>
              <a:spcAft>
                <a:spcPts val="300"/>
              </a:spcAft>
              <a:defRPr sz="570">
                <a:solidFill>
                  <a:srgbClr val="21242A"/>
                </a:solidFill>
                <a:latin typeface="Microsoft YaHei"/>
              </a:defRPr>
            </a:pPr>
            <a:r>
              <a:t> had a better prognosis.</a:t>
            </a:r>
          </a:p>
          <a:p>
            <a:pPr>
              <a:lnSpc>
                <a:spcPct val="103000"/>
              </a:lnSpc>
              <a:spcAft>
                <a:spcPts val="300"/>
              </a:spcAft>
              <a:defRPr sz="570">
                <a:solidFill>
                  <a:srgbClr val="21242A"/>
                </a:solidFill>
                <a:latin typeface="Microsoft YaHei"/>
              </a:defRPr>
            </a:pPr>
            <a:r>
              <a:t>However, the number of such studies is limited, and more studies are needed to confirm it.</a:t>
            </a:r>
          </a:p>
          <a:p>
            <a:pPr>
              <a:lnSpc>
                <a:spcPct val="103000"/>
              </a:lnSpc>
              <a:spcAft>
                <a:spcPts val="300"/>
              </a:spcAft>
              <a:defRPr sz="570">
                <a:solidFill>
                  <a:srgbClr val="21242A"/>
                </a:solidFill>
                <a:latin typeface="Microsoft YaHei"/>
              </a:defRPr>
            </a:pPr>
            <a:r>
              <a:t>Aims: To explore the prognostic significance of MYC::BCL6 fusion in MYC/BCL6 DHL patients.</a:t>
            </a:r>
          </a:p>
          <a:p>
            <a:pPr>
              <a:lnSpc>
                <a:spcPct val="103000"/>
              </a:lnSpc>
              <a:spcAft>
                <a:spcPts val="300"/>
              </a:spcAft>
              <a:defRPr sz="570">
                <a:solidFill>
                  <a:srgbClr val="21242A"/>
                </a:solidFill>
                <a:latin typeface="Microsoft YaHei"/>
              </a:defRPr>
            </a:pPr>
            <a:r>
              <a:t>Methods: FISH analysis was performed on unstained formalin-fixed, paraffin-embedded 4µm tissue sections or bone marrow aspirate smears using IGH::BCL2 dual-colo</a:t>
            </a:r>
          </a:p>
          <a:p>
            <a:pPr>
              <a:lnSpc>
                <a:spcPct val="103000"/>
              </a:lnSpc>
              <a:spcAft>
                <a:spcPts val="300"/>
              </a:spcAft>
              <a:defRPr sz="570">
                <a:solidFill>
                  <a:srgbClr val="21242A"/>
                </a:solidFill>
                <a:latin typeface="Microsoft YaHei"/>
              </a:defRPr>
            </a:pPr>
            <a:r>
              <a:t>r dual-fusion probes; MYC dual-color break-apart probe, BCL6 dual-color break-apart probe, and MYC::BCL6 dual-color dual-fusion probes.</a:t>
            </a:r>
          </a:p>
          <a:p>
            <a:pPr>
              <a:lnSpc>
                <a:spcPct val="103000"/>
              </a:lnSpc>
              <a:spcAft>
                <a:spcPts val="300"/>
              </a:spcAft>
              <a:defRPr sz="570">
                <a:solidFill>
                  <a:srgbClr val="21242A"/>
                </a:solidFill>
                <a:latin typeface="Microsoft YaHei"/>
              </a:defRPr>
            </a:pPr>
            <a:r>
              <a:t>Patient OS was analyzed using the Kaplan-Meier method and compared using the log-rank test (GraphPad Prism).</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clinicopathologic features were largely similar betwen MYC/BCL6 DHL patients with or without MYC::BCL6 fusion.</a:t>
            </a:r>
          </a:p>
          <a:p>
            <a:pPr>
              <a:lnSpc>
                <a:spcPct val="103000"/>
              </a:lnSpc>
              <a:spcAft>
                <a:spcPts val="300"/>
              </a:spcAft>
              <a:defRPr sz="590">
                <a:solidFill>
                  <a:srgbClr val="21242A"/>
                </a:solidFill>
                <a:latin typeface="Microsoft YaHei"/>
              </a:defRPr>
            </a:pPr>
            <a:r>
              <a:t>MYC::BCL6 fusion is not a prognostic factor in MYC/BCL6 DHL patients.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总生存期（OS）：有MYC::BCL6融合组与无融合组无显著差异（所有患者p=0.35，仅初发患者p=0.57）|||完全缓解率（CR）：有融合组40% vs 无融合组35%，p=1.0，无显著差异</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丹麦人群淋巴瘤感染相关死亡率的时间趋势研究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temporal trends in infection-related proportional mortality in lymphoma: a da...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S310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外周T细胞淋巴瘤，弥漫性大B细胞淋巴瘤，淋巴瘤，滤泡性淋巴瘤，霍奇金淋巴瘤</a:t>
            </a:r>
          </a:p>
          <a:p>
            <a:pPr>
              <a:lnSpc>
                <a:spcPct val="103000"/>
              </a:lnSpc>
              <a:spcAft>
                <a:spcPts val="300"/>
              </a:spcAft>
              <a:defRPr sz="800">
                <a:solidFill>
                  <a:srgbClr val="21242A"/>
                </a:solidFill>
                <a:latin typeface="Microsoft YaHei"/>
              </a:defRPr>
            </a:pPr>
            <a:r>
              <a:t>N=15849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回顾性临床研究结果：temporal trends in infection-related proportional mor...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总体感染相关比例死亡率（2001-2005）：25.6% (95% CI: 22.9-28.6)</a:t>
            </a:r>
          </a:p>
          <a:p>
            <a:pPr>
              <a:lnSpc>
                <a:spcPct val="103000"/>
              </a:lnSpc>
              <a:spcAft>
                <a:spcPts val="300"/>
              </a:spcAft>
              <a:defRPr sz="800">
                <a:solidFill>
                  <a:srgbClr val="21242A"/>
                </a:solidFill>
                <a:latin typeface="Microsoft YaHei"/>
              </a:defRPr>
            </a:pPr>
            <a:r>
              <a:t>总体感染相关比例死亡率（2006-2010）：33.8% (95% CI: 30.8-37)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人数：15849</a:t>
            </a:r>
          </a:p>
          <a:p>
            <a:pPr>
              <a:lnSpc>
                <a:spcPct val="103000"/>
              </a:lnSpc>
              <a:spcAft>
                <a:spcPts val="300"/>
              </a:spcAft>
              <a:defRPr sz="810">
                <a:solidFill>
                  <a:srgbClr val="21242A"/>
                </a:solidFill>
                <a:latin typeface="Microsoft YaHei"/>
              </a:defRPr>
            </a:pPr>
            <a:r>
              <a:t>适应症：外周T细胞淋巴瘤、弥漫性大B细胞淋巴瘤、淋巴瘤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研究主题：temporal trends in infection-related proportional mortality in lymphoma: a danish population-based study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丹麦人群淋巴瘤感染相关死亡率的时间趋势研究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temporal trends in infection-related proportional mortality in lymphoma: a da...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S310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Lymphomas are heterogeneous cancers characterized by substantial variations in outcomes across histological subtypes.</a:t>
            </a:r>
          </a:p>
          <a:p>
            <a:pPr>
              <a:lnSpc>
                <a:spcPct val="103000"/>
              </a:lnSpc>
              <a:spcAft>
                <a:spcPts val="300"/>
              </a:spcAft>
              <a:defRPr sz="570">
                <a:solidFill>
                  <a:srgbClr val="21242A"/>
                </a:solidFill>
                <a:latin typeface="Microsoft YaHei"/>
              </a:defRPr>
            </a:pPr>
            <a:r>
              <a:t>Over the past two decades, both treatment strategies and supportive care have undergone notable changes, which may have influenced the extent to which infection</a:t>
            </a:r>
          </a:p>
          <a:p>
            <a:pPr>
              <a:lnSpc>
                <a:spcPct val="103000"/>
              </a:lnSpc>
              <a:spcAft>
                <a:spcPts val="300"/>
              </a:spcAft>
              <a:defRPr sz="570">
                <a:solidFill>
                  <a:srgbClr val="21242A"/>
                </a:solidFill>
                <a:latin typeface="Microsoft YaHei"/>
              </a:defRPr>
            </a:pPr>
            <a:r>
              <a:t>s contribute to cause of death among lymphomas over time.</a:t>
            </a:r>
          </a:p>
          <a:p>
            <a:pPr>
              <a:lnSpc>
                <a:spcPct val="103000"/>
              </a:lnSpc>
              <a:spcAft>
                <a:spcPts val="300"/>
              </a:spcAft>
              <a:defRPr sz="570">
                <a:solidFill>
                  <a:srgbClr val="21242A"/>
                </a:solidFill>
                <a:latin typeface="Microsoft YaHei"/>
              </a:defRPr>
            </a:pPr>
            <a:r>
              <a:t>Aims: To examine temporal trends in proportional mortality from infections in patients with lymphoma, both overall and stratified by histological subtype and tr</a:t>
            </a:r>
          </a:p>
          <a:p>
            <a:pPr>
              <a:lnSpc>
                <a:spcPct val="103000"/>
              </a:lnSpc>
              <a:spcAft>
                <a:spcPts val="300"/>
              </a:spcAft>
              <a:defRPr sz="570">
                <a:solidFill>
                  <a:srgbClr val="21242A"/>
                </a:solidFill>
                <a:latin typeface="Microsoft YaHei"/>
              </a:defRPr>
            </a:pPr>
            <a:r>
              <a:t>eatment.</a:t>
            </a:r>
          </a:p>
          <a:p>
            <a:pPr>
              <a:lnSpc>
                <a:spcPct val="103000"/>
              </a:lnSpc>
              <a:spcAft>
                <a:spcPts val="300"/>
              </a:spcAft>
              <a:defRPr sz="570">
                <a:solidFill>
                  <a:srgbClr val="21242A"/>
                </a:solidFill>
                <a:latin typeface="Microsoft YaHei"/>
              </a:defRPr>
            </a:pPr>
            <a:r>
              <a:t>Methods: This proportional mortality study included adult Danish patients (≥ 18 years) with diffuse large B-cell lymphoma (DLBCL), follicular lymphoma (FL), per</a:t>
            </a:r>
          </a:p>
          <a:p>
            <a:pPr>
              <a:lnSpc>
                <a:spcPct val="103000"/>
              </a:lnSpc>
              <a:spcAft>
                <a:spcPts val="300"/>
              </a:spcAft>
              <a:defRPr sz="570">
                <a:solidFill>
                  <a:srgbClr val="21242A"/>
                </a:solidFill>
                <a:latin typeface="Microsoft YaHei"/>
              </a:defRPr>
            </a:pPr>
            <a:r>
              <a:t>ipheral T-cell lymphoma (PTCL), and Hodgkin’s lymphoma (HL) diagnosed in the period 2001-2020 and registered in the Danish National Lymphoma Registry (LYFO).</a:t>
            </a:r>
          </a:p>
          <a:p>
            <a:pPr>
              <a:lnSpc>
                <a:spcPct val="103000"/>
              </a:lnSpc>
              <a:spcAft>
                <a:spcPts val="300"/>
              </a:spcAft>
              <a:defRPr sz="570">
                <a:solidFill>
                  <a:srgbClr val="21242A"/>
                </a:solidFill>
                <a:latin typeface="Microsoft YaHei"/>
              </a:defRPr>
            </a:pPr>
            <a:r>
              <a:t>The primary endpoint was proportional mortality from infections evaluated in restricted 5-year intervals.</a:t>
            </a:r>
          </a:p>
          <a:p>
            <a:pPr>
              <a:lnSpc>
                <a:spcPct val="103000"/>
              </a:lnSpc>
              <a:spcAft>
                <a:spcPts val="300"/>
              </a:spcAft>
              <a:defRPr sz="570">
                <a:solidFill>
                  <a:srgbClr val="21242A"/>
                </a:solidFill>
                <a:latin typeface="Microsoft YaHei"/>
              </a:defRPr>
            </a:pPr>
            <a:r>
              <a:t>Mortality fully or partially attributed to infections was identified based on the presence of infections listed on death certificates.</a:t>
            </a:r>
          </a:p>
          <a:p>
            <a:pPr>
              <a:lnSpc>
                <a:spcPct val="103000"/>
              </a:lnSpc>
              <a:spcAft>
                <a:spcPts val="300"/>
              </a:spcAft>
              <a:defRPr sz="570">
                <a:solidFill>
                  <a:srgbClr val="21242A"/>
                </a:solidFill>
                <a:latin typeface="Microsoft YaHei"/>
              </a:defRPr>
            </a:pPr>
            <a:r>
              <a:t>Secondary analyses included trends over time by age, first-line treatment, performance status, and lymphoma subtype.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 rising trend of infection-related deaths was observed among patients with DLBCL, HL, PTCL, and FL from 2001-2005 to 2006-2010.</a:t>
            </a:r>
          </a:p>
          <a:p>
            <a:pPr>
              <a:lnSpc>
                <a:spcPct val="103000"/>
              </a:lnSpc>
              <a:spcAft>
                <a:spcPts val="300"/>
              </a:spcAft>
              <a:defRPr sz="590">
                <a:solidFill>
                  <a:srgbClr val="21242A"/>
                </a:solidFill>
                <a:latin typeface="Microsoft YaHei"/>
              </a:defRPr>
            </a:pPr>
            <a:r>
              <a:t>This pattern was also observed among those receiving standard first-line treatment for DLBCL, HL, and FL .</a:t>
            </a:r>
          </a:p>
          <a:p>
            <a:pPr>
              <a:lnSpc>
                <a:spcPct val="103000"/>
              </a:lnSpc>
              <a:spcAft>
                <a:spcPts val="300"/>
              </a:spcAft>
              <a:defRPr sz="590">
                <a:solidFill>
                  <a:srgbClr val="21242A"/>
                </a:solidFill>
                <a:latin typeface="Microsoft YaHei"/>
              </a:defRPr>
            </a:pPr>
            <a:r>
              <a:t>In the most recent calendar period (2016-2020), infection-related mortality declined, which may reflect improved supportive care measures such as wider use of g</a:t>
            </a:r>
          </a:p>
          <a:p>
            <a:pPr>
              <a:lnSpc>
                <a:spcPct val="103000"/>
              </a:lnSpc>
              <a:spcAft>
                <a:spcPts val="300"/>
              </a:spcAft>
              <a:defRPr sz="590">
                <a:solidFill>
                  <a:srgbClr val="21242A"/>
                </a:solidFill>
                <a:latin typeface="Microsoft YaHei"/>
              </a:defRPr>
            </a:pPr>
            <a:r>
              <a:t>ranulocyte-colony stimulating factor and antimicrobial prophylaxis.</a:t>
            </a:r>
          </a:p>
          <a:p>
            <a:pPr>
              <a:lnSpc>
                <a:spcPct val="103000"/>
              </a:lnSpc>
              <a:spcAft>
                <a:spcPts val="300"/>
              </a:spcAft>
              <a:defRPr sz="590">
                <a:solidFill>
                  <a:srgbClr val="21242A"/>
                </a:solidFill>
                <a:latin typeface="Microsoft YaHei"/>
              </a:defRPr>
            </a:pPr>
            <a:r>
              <a:t>The observed stability in proportional mortality related to infections over time, despite a substantial increase in the median age of patients and more frequent</a:t>
            </a:r>
          </a:p>
          <a:p>
            <a:pPr>
              <a:lnSpc>
                <a:spcPct val="103000"/>
              </a:lnSpc>
              <a:spcAft>
                <a:spcPts val="300"/>
              </a:spcAft>
              <a:defRPr sz="590">
                <a:solidFill>
                  <a:srgbClr val="21242A"/>
                </a:solidFill>
                <a:latin typeface="Microsoft YaHei"/>
              </a:defRPr>
            </a:pPr>
            <a:r>
              <a:t> use of curative chemotherapy in older patient groups, is consistent with improvements in supportive care.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6662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66624">
                <a:tc>
                  <a:txBody>
                    <a:bodyPr wrap="square" lIns="36576" rIns="36576" tIns="18288" bIns="18288"/>
                    <a:lstStyle/>
                    <a:p>
                      <a:r>
                        <a:rPr sz="540" b="1">
                          <a:solidFill>
                            <a:srgbClr val="21242A"/>
                          </a:solidFill>
                          <a:latin typeface="Microsoft YaHei"/>
                        </a:rPr>
                        <a:t>总体感染相关比例死亡率（2001-2005）</a:t>
                      </a:r>
                    </a:p>
                  </a:txBody>
                  <a:tcPr>
                    <a:solidFill>
                      <a:srgbClr val="F6F8FB"/>
                    </a:solidFill>
                  </a:tcPr>
                </a:tc>
                <a:tc>
                  <a:txBody>
                    <a:bodyPr wrap="square" lIns="36576" rIns="36576" tIns="18288" bIns="18288"/>
                    <a:lstStyle/>
                    <a:p>
                      <a:r>
                        <a:rPr sz="540" b="0">
                          <a:solidFill>
                            <a:srgbClr val="21242A"/>
                          </a:solidFill>
                          <a:latin typeface="Microsoft YaHei"/>
                        </a:rPr>
                        <a:t>25.6% (95% CI: 22.9-28.6)</a:t>
                      </a:r>
                    </a:p>
                  </a:txBody>
                  <a:tcPr>
                    <a:solidFill>
                      <a:srgbClr val="F6F8FB"/>
                    </a:solidFill>
                  </a:tcPr>
                </a:tc>
              </a:tr>
              <a:tr h="166624">
                <a:tc>
                  <a:txBody>
                    <a:bodyPr wrap="square" lIns="36576" rIns="36576" tIns="18288" bIns="18288"/>
                    <a:lstStyle/>
                    <a:p>
                      <a:r>
                        <a:rPr sz="540" b="1">
                          <a:solidFill>
                            <a:srgbClr val="21242A"/>
                          </a:solidFill>
                          <a:latin typeface="Microsoft YaHei"/>
                        </a:rPr>
                        <a:t>总体感染相关比例死亡率（2006-2010）</a:t>
                      </a:r>
                    </a:p>
                  </a:txBody>
                  <a:tcPr>
                    <a:solidFill>
                      <a:srgbClr val="FFFFFF"/>
                    </a:solidFill>
                  </a:tcPr>
                </a:tc>
                <a:tc>
                  <a:txBody>
                    <a:bodyPr wrap="square" lIns="36576" rIns="36576" tIns="18288" bIns="18288"/>
                    <a:lstStyle/>
                    <a:p>
                      <a:r>
                        <a:rPr sz="540" b="0">
                          <a:solidFill>
                            <a:srgbClr val="21242A"/>
                          </a:solidFill>
                          <a:latin typeface="Microsoft YaHei"/>
                        </a:rPr>
                        <a:t>33.8% (95% CI: 30.8-37)</a:t>
                      </a:r>
                    </a:p>
                  </a:txBody>
                  <a:tcPr>
                    <a:solidFill>
                      <a:srgbClr val="FFFFFF"/>
                    </a:solidFill>
                  </a:tcPr>
                </a:tc>
              </a:tr>
              <a:tr h="166624">
                <a:tc>
                  <a:txBody>
                    <a:bodyPr wrap="square" lIns="36576" rIns="36576" tIns="18288" bIns="18288"/>
                    <a:lstStyle/>
                    <a:p>
                      <a:r>
                        <a:rPr sz="540" b="1">
                          <a:solidFill>
                            <a:srgbClr val="21242A"/>
                          </a:solidFill>
                          <a:latin typeface="Microsoft YaHei"/>
                        </a:rPr>
                        <a:t>总体感染相关比例死亡率（2011-2015）</a:t>
                      </a:r>
                    </a:p>
                  </a:txBody>
                  <a:tcPr>
                    <a:solidFill>
                      <a:srgbClr val="F6F8FB"/>
                    </a:solidFill>
                  </a:tcPr>
                </a:tc>
                <a:tc>
                  <a:txBody>
                    <a:bodyPr wrap="square" lIns="36576" rIns="36576" tIns="18288" bIns="18288"/>
                    <a:lstStyle/>
                    <a:p>
                      <a:r>
                        <a:rPr sz="540" b="0">
                          <a:solidFill>
                            <a:srgbClr val="21242A"/>
                          </a:solidFill>
                          <a:latin typeface="Microsoft YaHei"/>
                        </a:rPr>
                        <a:t>33.6% (95% CI: 30.8-36.6)</a:t>
                      </a:r>
                    </a:p>
                  </a:txBody>
                  <a:tcPr>
                    <a:solidFill>
                      <a:srgbClr val="F6F8FB"/>
                    </a:solidFill>
                  </a:tcPr>
                </a:tc>
              </a:tr>
              <a:tr h="166624">
                <a:tc>
                  <a:txBody>
                    <a:bodyPr wrap="square" lIns="36576" rIns="36576" tIns="18288" bIns="18288"/>
                    <a:lstStyle/>
                    <a:p>
                      <a:r>
                        <a:rPr sz="540" b="1">
                          <a:solidFill>
                            <a:srgbClr val="21242A"/>
                          </a:solidFill>
                          <a:latin typeface="Microsoft YaHei"/>
                        </a:rPr>
                        <a:t>总体感染相关比例死亡率（2016-2020）</a:t>
                      </a:r>
                    </a:p>
                  </a:txBody>
                  <a:tcPr>
                    <a:solidFill>
                      <a:srgbClr val="FFFFFF"/>
                    </a:solidFill>
                  </a:tcPr>
                </a:tc>
                <a:tc>
                  <a:txBody>
                    <a:bodyPr wrap="square" lIns="36576" rIns="36576" tIns="18288" bIns="18288"/>
                    <a:lstStyle/>
                    <a:p>
                      <a:r>
                        <a:rPr sz="540" b="0">
                          <a:solidFill>
                            <a:srgbClr val="21242A"/>
                          </a:solidFill>
                          <a:latin typeface="Microsoft YaHei"/>
                        </a:rPr>
                        <a:t>26.7% (95% CI: 24-29.6)</a:t>
                      </a:r>
                    </a:p>
                  </a:txBody>
                  <a:tcPr>
                    <a:solidFill>
                      <a:srgbClr val="FFFFFF"/>
                    </a:solidFill>
                  </a:tcPr>
                </a:tc>
              </a:tr>
              <a:tr h="166624">
                <a:tc>
                  <a:txBody>
                    <a:bodyPr wrap="square" lIns="36576" rIns="36576" tIns="18288" bIns="18288"/>
                    <a:lstStyle/>
                    <a:p>
                      <a:r>
                        <a:rPr sz="540" b="1">
                          <a:solidFill>
                            <a:srgbClr val="21242A"/>
                          </a:solidFill>
                          <a:latin typeface="Microsoft YaHei"/>
                        </a:rPr>
                        <a:t>PTCL患者感染相关比例死亡率</a:t>
                      </a:r>
                    </a:p>
                  </a:txBody>
                  <a:tcPr>
                    <a:solidFill>
                      <a:srgbClr val="F6F8FB"/>
                    </a:solidFill>
                  </a:tcPr>
                </a:tc>
                <a:tc>
                  <a:txBody>
                    <a:bodyPr wrap="square" lIns="36576" rIns="36576" tIns="18288" bIns="18288"/>
                    <a:lstStyle/>
                    <a:p>
                      <a:r>
                        <a:rPr sz="540" b="0">
                          <a:solidFill>
                            <a:srgbClr val="21242A"/>
                          </a:solidFill>
                          <a:latin typeface="Microsoft YaHei"/>
                        </a:rPr>
                        <a:t>36.9% (95% CI: 32.5-41.4)</a:t>
                      </a:r>
                    </a:p>
                  </a:txBody>
                  <a:tcPr>
                    <a:solidFill>
                      <a:srgbClr val="F6F8FB"/>
                    </a:solidFill>
                  </a:tcPr>
                </a:tc>
              </a:tr>
              <a:tr h="166624">
                <a:tc>
                  <a:txBody>
                    <a:bodyPr wrap="square" lIns="36576" rIns="36576" tIns="18288" bIns="18288"/>
                    <a:lstStyle/>
                    <a:p>
                      <a:r>
                        <a:rPr sz="540" b="1">
                          <a:solidFill>
                            <a:srgbClr val="21242A"/>
                          </a:solidFill>
                          <a:latin typeface="Microsoft YaHei"/>
                        </a:rPr>
                        <a:t>HL患者感染相关比例死亡率</a:t>
                      </a:r>
                    </a:p>
                  </a:txBody>
                  <a:tcPr>
                    <a:solidFill>
                      <a:srgbClr val="FFFFFF"/>
                    </a:solidFill>
                  </a:tcPr>
                </a:tc>
                <a:tc>
                  <a:txBody>
                    <a:bodyPr wrap="square" lIns="36576" rIns="36576" tIns="18288" bIns="18288"/>
                    <a:lstStyle/>
                    <a:p>
                      <a:r>
                        <a:rPr sz="540" b="0">
                          <a:solidFill>
                            <a:srgbClr val="21242A"/>
                          </a:solidFill>
                          <a:latin typeface="Microsoft YaHei"/>
                        </a:rPr>
                        <a:t>33.4% (95% CI: 28.3-39.0)</a:t>
                      </a:r>
                    </a:p>
                  </a:txBody>
                  <a:tcPr>
                    <a:solidFill>
                      <a:srgbClr val="FFFFFF"/>
                    </a:solidFill>
                  </a:tcPr>
                </a:tc>
              </a:tr>
              <a:tr h="166624">
                <a:tc>
                  <a:txBody>
                    <a:bodyPr wrap="square" lIns="36576" rIns="36576" tIns="18288" bIns="18288"/>
                    <a:lstStyle/>
                    <a:p>
                      <a:r>
                        <a:rPr sz="540" b="1">
                          <a:solidFill>
                            <a:srgbClr val="21242A"/>
                          </a:solidFill>
                          <a:latin typeface="Microsoft YaHei"/>
                        </a:rPr>
                        <a:t>FL患者感染相关比例死亡率</a:t>
                      </a:r>
                    </a:p>
                  </a:txBody>
                  <a:tcPr>
                    <a:solidFill>
                      <a:srgbClr val="F6F8FB"/>
                    </a:solidFill>
                  </a:tcPr>
                </a:tc>
                <a:tc>
                  <a:txBody>
                    <a:bodyPr wrap="square" lIns="36576" rIns="36576" tIns="18288" bIns="18288"/>
                    <a:lstStyle/>
                    <a:p>
                      <a:r>
                        <a:rPr sz="540" b="0">
                          <a:solidFill>
                            <a:srgbClr val="21242A"/>
                          </a:solidFill>
                          <a:latin typeface="Microsoft YaHei"/>
                        </a:rPr>
                        <a:t>29.3% (95% CI: 25.2-33.8)</a:t>
                      </a:r>
                    </a:p>
                  </a:txBody>
                  <a:tcPr>
                    <a:solidFill>
                      <a:srgbClr val="F6F8FB"/>
                    </a:solidFill>
                  </a:tcPr>
                </a:tc>
              </a:tr>
              <a:tr h="166624">
                <a:tc>
                  <a:txBody>
                    <a:bodyPr wrap="square" lIns="36576" rIns="36576" tIns="18288" bIns="18288"/>
                    <a:lstStyle/>
                    <a:p>
                      <a:r>
                        <a:rPr sz="540" b="1">
                          <a:solidFill>
                            <a:srgbClr val="21242A"/>
                          </a:solidFill>
                          <a:latin typeface="Microsoft YaHei"/>
                        </a:rPr>
                        <a:t>DLBCL患者感染相关比例死亡率</a:t>
                      </a:r>
                    </a:p>
                  </a:txBody>
                  <a:tcPr>
                    <a:solidFill>
                      <a:srgbClr val="FFFFFF"/>
                    </a:solidFill>
                  </a:tcPr>
                </a:tc>
                <a:tc>
                  <a:txBody>
                    <a:bodyPr wrap="square" lIns="36576" rIns="36576" tIns="18288" bIns="18288"/>
                    <a:lstStyle/>
                    <a:p>
                      <a:r>
                        <a:rPr sz="540" b="0">
                          <a:solidFill>
                            <a:srgbClr val="21242A"/>
                          </a:solidFill>
                          <a:latin typeface="Microsoft YaHei"/>
                        </a:rPr>
                        <a:t>28.5% (95% CI: 26.8-30.3)</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摘要号：S310</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cd3xcd20双特异性抗体治疗复发/难治性大b细胞淋巴瘤后，异基因造血干细胞移植作为巩固：52例ebmt登记病例的l...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allogeneic hematopoietic stem cell transplant as consolidation after cd3xcd20...</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分组：试验分组1：完全缓解（CR）组：异基因造血干细胞移植</a:t>
            </a:r>
          </a:p>
          <a:p>
            <a:pPr>
              <a:lnSpc>
                <a:spcPct val="103000"/>
              </a:lnSpc>
              <a:spcAft>
                <a:spcPts val="300"/>
              </a:spcAft>
              <a:defRPr sz="800">
                <a:solidFill>
                  <a:srgbClr val="21242A"/>
                </a:solidFill>
                <a:latin typeface="Microsoft YaHei"/>
              </a:defRPr>
            </a:pPr>
            <a:r>
              <a:t>试验分组2：部分缓解（PR）组：异基因造血干细胞移植</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多组/多方案比较：试验分组1：完全缓解（CR）组：异基因造血干细胞移植</a:t>
            </a:r>
          </a:p>
          <a:p>
            <a:pPr>
              <a:lnSpc>
                <a:spcPct val="103000"/>
              </a:lnSpc>
              <a:spcAft>
                <a:spcPts val="300"/>
              </a:spcAft>
              <a:defRPr sz="800">
                <a:solidFill>
                  <a:srgbClr val="21242A"/>
                </a:solidFill>
                <a:latin typeface="Microsoft YaHei"/>
              </a:defRPr>
            </a:pPr>
            <a:r>
              <a:t>试验分组2：部分缓解（PR）组：异基因造血干细胞移植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1年无进展生存率（1y-PFS）：总体57%（95%CI: 43-72%）</a:t>
            </a:r>
          </a:p>
          <a:p>
            <a:pPr>
              <a:lnSpc>
                <a:spcPct val="103000"/>
              </a:lnSpc>
              <a:spcAft>
                <a:spcPts val="300"/>
              </a:spcAft>
              <a:defRPr sz="800">
                <a:solidFill>
                  <a:srgbClr val="21242A"/>
                </a:solidFill>
                <a:latin typeface="Microsoft YaHei"/>
              </a:defRPr>
            </a:pPr>
            <a:r>
              <a:t>1年总生存率（1y-OS）：总体62%（95%CI: 48-76%）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治疗线数：维持</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分组/治疗流程：试验分组1：完全缓解（CR）组：异基因造血干细胞移植、试验分组2：部分缓解（PR）组：异基因造血干细胞移植</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cd3xcd20双特异性抗体治疗复发/难治性大b细胞淋巴瘤后，异基因造血干细胞移植作为巩固：52例ebmt登记病例的l...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allogeneic hematopoietic stem cell transplant as consolidation after cd3xcd20...</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Relapsed or refractory large B-cell lymphoma (rrLBCL) is associated with poor outcomes.</a:t>
            </a:r>
          </a:p>
          <a:p>
            <a:pPr>
              <a:lnSpc>
                <a:spcPct val="103000"/>
              </a:lnSpc>
              <a:spcAft>
                <a:spcPts val="300"/>
              </a:spcAft>
              <a:defRPr sz="570">
                <a:solidFill>
                  <a:srgbClr val="21242A"/>
                </a:solidFill>
                <a:latin typeface="Microsoft YaHei"/>
              </a:defRPr>
            </a:pPr>
            <a:r>
              <a:t>Chimeric antigen receptor T-cell (CAR-T) therapy cures 30-50% of rrLBCLs, but many still relapse or progress.</a:t>
            </a:r>
          </a:p>
          <a:p>
            <a:pPr>
              <a:lnSpc>
                <a:spcPct val="103000"/>
              </a:lnSpc>
              <a:spcAft>
                <a:spcPts val="300"/>
              </a:spcAft>
              <a:defRPr sz="570">
                <a:solidFill>
                  <a:srgbClr val="21242A"/>
                </a:solidFill>
                <a:latin typeface="Microsoft YaHei"/>
              </a:defRPr>
            </a:pPr>
            <a:r>
              <a:t>CD3xCD20 bispecific antibodies (BsAb) show 50-60% overall response rates, with complete responses (CR) in 23-40%, in both CAR-T-naïve and -exposed pts.</a:t>
            </a:r>
          </a:p>
          <a:p>
            <a:pPr>
              <a:lnSpc>
                <a:spcPct val="103000"/>
              </a:lnSpc>
              <a:spcAft>
                <a:spcPts val="300"/>
              </a:spcAft>
              <a:defRPr sz="570">
                <a:solidFill>
                  <a:srgbClr val="21242A"/>
                </a:solidFill>
                <a:latin typeface="Microsoft YaHei"/>
              </a:defRPr>
            </a:pPr>
            <a:r>
              <a:t>Nevertheless, over half of responders relapse with 1-year progression-free survival (1y-PFS) of ~80% and ~30% after CR or partial response (PR), respectively.</a:t>
            </a:r>
          </a:p>
          <a:p>
            <a:pPr>
              <a:lnSpc>
                <a:spcPct val="103000"/>
              </a:lnSpc>
              <a:spcAft>
                <a:spcPts val="300"/>
              </a:spcAft>
              <a:defRPr sz="570">
                <a:solidFill>
                  <a:srgbClr val="21242A"/>
                </a:solidFill>
                <a:latin typeface="Microsoft YaHei"/>
              </a:defRPr>
            </a:pPr>
            <a:r>
              <a:t>Allogeneic hematopoietic stem cell transplant (HSCT) may be curative in selected cases, possibly enhanced by graft-versus-lymphoma effects in BsAb-sensitive pts</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Consolidation with HSCT in BsAb responders is an important mater of investigation, but non-relapse mortality (NRM) and uncertain survival benefit remain major c</a:t>
            </a:r>
          </a:p>
          <a:p>
            <a:pPr>
              <a:lnSpc>
                <a:spcPct val="103000"/>
              </a:lnSpc>
              <a:spcAft>
                <a:spcPts val="300"/>
              </a:spcAft>
              <a:defRPr sz="570">
                <a:solidFill>
                  <a:srgbClr val="21242A"/>
                </a:solidFill>
                <a:latin typeface="Microsoft YaHei"/>
              </a:defRPr>
            </a:pPr>
            <a:r>
              <a:t>oncerns.</a:t>
            </a:r>
          </a:p>
          <a:p>
            <a:pPr>
              <a:lnSpc>
                <a:spcPct val="103000"/>
              </a:lnSpc>
              <a:spcAft>
                <a:spcPts val="300"/>
              </a:spcAft>
              <a:defRPr sz="570">
                <a:solidFill>
                  <a:srgbClr val="21242A"/>
                </a:solidFill>
                <a:latin typeface="Microsoft YaHei"/>
              </a:defRPr>
            </a:pPr>
            <a:r>
              <a:t>Aims: This is a retrospective EBMT study aimed to address the efficacy and toxicity of consolidative HSCT in rrLBCL patients responding to BsAbs.</a:t>
            </a:r>
          </a:p>
          <a:p>
            <a:pPr>
              <a:lnSpc>
                <a:spcPct val="103000"/>
              </a:lnSpc>
              <a:spcAft>
                <a:spcPts val="300"/>
              </a:spcAft>
              <a:defRPr sz="570">
                <a:solidFill>
                  <a:srgbClr val="21242A"/>
                </a:solidFill>
                <a:latin typeface="Microsoft YaHei"/>
              </a:defRPr>
            </a:pPr>
            <a:r>
              <a:t>Methods: Adults with rrLBCL who achieved CR or PR after BsAb therapy and received consolidation HSCT between January 2018 and February 2025 were included.</a:t>
            </a:r>
          </a:p>
          <a:p>
            <a:pPr>
              <a:lnSpc>
                <a:spcPct val="103000"/>
              </a:lnSpc>
              <a:spcAft>
                <a:spcPts val="300"/>
              </a:spcAft>
              <a:defRPr sz="570">
                <a:solidFill>
                  <a:srgbClr val="21242A"/>
                </a:solidFill>
                <a:latin typeface="Microsoft YaHei"/>
              </a:defRPr>
            </a:pPr>
            <a:r>
              <a:t>Primary end-points were PFS and NRM.</a:t>
            </a:r>
          </a:p>
          <a:p>
            <a:pPr>
              <a:lnSpc>
                <a:spcPct val="103000"/>
              </a:lnSpc>
              <a:spcAft>
                <a:spcPts val="300"/>
              </a:spcAft>
              <a:defRPr sz="570">
                <a:solidFill>
                  <a:srgbClr val="21242A"/>
                </a:solidFill>
                <a:latin typeface="Microsoft YaHei"/>
              </a:defRPr>
            </a:pPr>
            <a:r>
              <a:t>PFS was analyzed according to Kaplan-Meier method and estimated from the date of HSCT until PD, relapse, death, or last visit of follow-up, whichever occur firs</a:t>
            </a:r>
          </a:p>
          <a:p>
            <a:pPr>
              <a:lnSpc>
                <a:spcPct val="103000"/>
              </a:lnSpc>
              <a:spcAft>
                <a:spcPts val="300"/>
              </a:spcAft>
              <a:defRPr sz="570">
                <a:solidFill>
                  <a:srgbClr val="21242A"/>
                </a:solidFill>
                <a:latin typeface="Microsoft YaHei"/>
              </a:defRPr>
            </a:pPr>
            <a:r>
              <a:t>t.</a:t>
            </a:r>
          </a:p>
          <a:p>
            <a:pPr>
              <a:lnSpc>
                <a:spcPct val="103000"/>
              </a:lnSpc>
              <a:spcAft>
                <a:spcPts val="300"/>
              </a:spcAft>
              <a:defRPr sz="570">
                <a:solidFill>
                  <a:srgbClr val="21242A"/>
                </a:solidFill>
                <a:latin typeface="Microsoft YaHei"/>
              </a:defRPr>
            </a:pPr>
            <a:r>
              <a:t>NRM was analyzed using cumulative incidence function with relapse as competing event.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With the limitations inherent to the absence of a suitable comparator and to its retrospective nature, this study suggests that the NRM of consolidative HSCT fo</a:t>
            </a:r>
          </a:p>
          <a:p>
            <a:pPr>
              <a:lnSpc>
                <a:spcPct val="103000"/>
              </a:lnSpc>
              <a:spcAft>
                <a:spcPts val="300"/>
              </a:spcAft>
              <a:defRPr sz="590">
                <a:solidFill>
                  <a:srgbClr val="21242A"/>
                </a:solidFill>
                <a:latin typeface="Microsoft YaHei"/>
              </a:defRPr>
            </a:pPr>
            <a:r>
              <a:t>llowing BsAb is not higher than that reported with the same approach in pts with rrLBCL.</a:t>
            </a:r>
          </a:p>
          <a:p>
            <a:pPr>
              <a:lnSpc>
                <a:spcPct val="103000"/>
              </a:lnSpc>
              <a:spcAft>
                <a:spcPts val="300"/>
              </a:spcAft>
              <a:defRPr sz="590">
                <a:solidFill>
                  <a:srgbClr val="21242A"/>
                </a:solidFill>
                <a:latin typeface="Microsoft YaHei"/>
              </a:defRPr>
            </a:pPr>
            <a:r>
              <a:t>The 1y-PFS observed is similar to those reported with BsAb alone in both CR and PR cohorts.</a:t>
            </a:r>
          </a:p>
          <a:p>
            <a:pPr>
              <a:lnSpc>
                <a:spcPct val="103000"/>
              </a:lnSpc>
              <a:spcAft>
                <a:spcPts val="300"/>
              </a:spcAft>
              <a:defRPr sz="590">
                <a:solidFill>
                  <a:srgbClr val="21242A"/>
                </a:solidFill>
                <a:latin typeface="Microsoft YaHei"/>
              </a:defRPr>
            </a:pPr>
            <a:r>
              <a:t>A longer follow-up and further investigation in larger cohorts may clarify the potential benefits of this strategy.</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1年无进展生存率（1y-PFS）</a:t>
                      </a:r>
                    </a:p>
                  </a:txBody>
                  <a:tcPr>
                    <a:solidFill>
                      <a:srgbClr val="F6F8FB"/>
                    </a:solidFill>
                  </a:tcPr>
                </a:tc>
                <a:tc>
                  <a:txBody>
                    <a:bodyPr wrap="square" lIns="36576" rIns="36576" tIns="18288" bIns="18288"/>
                    <a:lstStyle/>
                    <a:p>
                      <a:r>
                        <a:rPr sz="540" b="0">
                          <a:solidFill>
                            <a:srgbClr val="21242A"/>
                          </a:solidFill>
                          <a:latin typeface="Microsoft YaHei"/>
                        </a:rPr>
                        <a:t>总体57%（95%CI: 43-72%）</a:t>
                      </a:r>
                    </a:p>
                  </a:txBody>
                  <a:tcPr>
                    <a:solidFill>
                      <a:srgbClr val="F6F8FB"/>
                    </a:solidFill>
                  </a:tcPr>
                </a:tc>
              </a:tr>
              <a:tr h="214230">
                <a:tc>
                  <a:txBody>
                    <a:bodyPr wrap="square" lIns="36576" rIns="36576" tIns="18288" bIns="18288"/>
                    <a:lstStyle/>
                    <a:p>
                      <a:r>
                        <a:rPr sz="540" b="1">
                          <a:solidFill>
                            <a:srgbClr val="21242A"/>
                          </a:solidFill>
                          <a:latin typeface="Microsoft YaHei"/>
                        </a:rPr>
                        <a:t>1年总生存率（1y-OS）</a:t>
                      </a:r>
                    </a:p>
                  </a:txBody>
                  <a:tcPr>
                    <a:solidFill>
                      <a:srgbClr val="FFFFFF"/>
                    </a:solidFill>
                  </a:tcPr>
                </a:tc>
                <a:tc>
                  <a:txBody>
                    <a:bodyPr wrap="square" lIns="36576" rIns="36576" tIns="18288" bIns="18288"/>
                    <a:lstStyle/>
                    <a:p>
                      <a:r>
                        <a:rPr sz="540" b="0">
                          <a:solidFill>
                            <a:srgbClr val="21242A"/>
                          </a:solidFill>
                          <a:latin typeface="Microsoft YaHei"/>
                        </a:rPr>
                        <a:t>总体62%（95%CI: 48-76%）</a:t>
                      </a:r>
                    </a:p>
                  </a:txBody>
                  <a:tcPr>
                    <a:solidFill>
                      <a:srgbClr val="FFFFFF"/>
                    </a:solidFill>
                  </a:tcPr>
                </a:tc>
              </a:tr>
              <a:tr h="214230">
                <a:tc>
                  <a:txBody>
                    <a:bodyPr wrap="square" lIns="36576" rIns="36576" tIns="18288" bIns="18288"/>
                    <a:lstStyle/>
                    <a:p>
                      <a:r>
                        <a:rPr sz="540" b="1">
                          <a:solidFill>
                            <a:srgbClr val="21242A"/>
                          </a:solidFill>
                          <a:latin typeface="Microsoft YaHei"/>
                        </a:rPr>
                        <a:t>1年非复发死亡率（1y-NRM）</a:t>
                      </a:r>
                    </a:p>
                  </a:txBody>
                  <a:tcPr>
                    <a:solidFill>
                      <a:srgbClr val="F6F8FB"/>
                    </a:solidFill>
                  </a:tcPr>
                </a:tc>
                <a:tc>
                  <a:txBody>
                    <a:bodyPr wrap="square" lIns="36576" rIns="36576" tIns="18288" bIns="18288"/>
                    <a:lstStyle/>
                    <a:p>
                      <a:r>
                        <a:rPr sz="540" b="0">
                          <a:solidFill>
                            <a:srgbClr val="21242A"/>
                          </a:solidFill>
                          <a:latin typeface="Microsoft YaHei"/>
                        </a:rPr>
                        <a:t>17%（95%CI: 6-27%）</a:t>
                      </a:r>
                    </a:p>
                  </a:txBody>
                  <a:tcPr>
                    <a:solidFill>
                      <a:srgbClr val="F6F8FB"/>
                    </a:solidFill>
                  </a:tcPr>
                </a:tc>
              </a:tr>
              <a:tr h="214230">
                <a:tc>
                  <a:txBody>
                    <a:bodyPr wrap="square" lIns="36576" rIns="36576" tIns="18288" bIns="18288"/>
                    <a:lstStyle/>
                    <a:p>
                      <a:r>
                        <a:rPr sz="540" b="1">
                          <a:solidFill>
                            <a:srgbClr val="21242A"/>
                          </a:solidFill>
                          <a:latin typeface="Microsoft YaHei"/>
                        </a:rPr>
                        <a:t>1年累积复发率</a:t>
                      </a:r>
                    </a:p>
                  </a:txBody>
                  <a:tcPr>
                    <a:solidFill>
                      <a:srgbClr val="FFFFFF"/>
                    </a:solidFill>
                  </a:tcPr>
                </a:tc>
                <a:tc>
                  <a:txBody>
                    <a:bodyPr wrap="square" lIns="36576" rIns="36576" tIns="18288" bIns="18288"/>
                    <a:lstStyle/>
                    <a:p>
                      <a:r>
                        <a:rPr sz="540" b="0">
                          <a:solidFill>
                            <a:srgbClr val="21242A"/>
                          </a:solidFill>
                          <a:latin typeface="Microsoft YaHei"/>
                        </a:rPr>
                        <a:t>26%（95%CI: 13-39%）</a:t>
                      </a:r>
                    </a:p>
                  </a:txBody>
                  <a:tcPr>
                    <a:solidFill>
                      <a:srgbClr val="FFFFFF"/>
                    </a:solidFill>
                  </a:tcPr>
                </a:tc>
              </a:tr>
              <a:tr h="214230">
                <a:tc>
                  <a:txBody>
                    <a:bodyPr wrap="square" lIns="36576" rIns="36576" tIns="18288" bIns="18288"/>
                    <a:lstStyle/>
                    <a:p>
                      <a:r>
                        <a:rPr sz="540" b="1">
                          <a:solidFill>
                            <a:srgbClr val="21242A"/>
                          </a:solidFill>
                          <a:latin typeface="Microsoft YaHei"/>
                        </a:rPr>
                        <a:t>按HSCT时缓解状态分层</a:t>
                      </a:r>
                    </a:p>
                  </a:txBody>
                  <a:tcPr>
                    <a:solidFill>
                      <a:srgbClr val="F6F8FB"/>
                    </a:solidFill>
                  </a:tcPr>
                </a:tc>
                <a:tc>
                  <a:txBody>
                    <a:bodyPr wrap="square" lIns="36576" rIns="36576" tIns="18288" bIns="18288"/>
                    <a:lstStyle/>
                    <a:p>
                      <a:r>
                        <a:rPr sz="540" b="0">
                          <a:solidFill>
                            <a:srgbClr val="21242A"/>
                          </a:solidFill>
                          <a:latin typeface="Microsoft YaHei"/>
                        </a:rPr>
                        <a:t>CR组1y-PFS 78%（95%CI: 62-95），1y-OS 78%（95%CI: 61-95）</a:t>
                      </a:r>
                    </a:p>
                  </a:txBody>
                  <a:tcPr>
                    <a:solidFill>
                      <a:srgbClr val="F6F8FB"/>
                    </a:solidFill>
                  </a:tcPr>
                </a:tc>
              </a:tr>
              <a:tr h="214236">
                <a:tc>
                  <a:txBody>
                    <a:bodyPr wrap="square" lIns="36576" rIns="36576" tIns="18288" bIns="18288"/>
                    <a:lstStyle/>
                    <a:p>
                      <a:r>
                        <a:rPr sz="540" b="1">
                          <a:solidFill>
                            <a:srgbClr val="21242A"/>
                          </a:solidFill>
                          <a:latin typeface="Microsoft YaHei"/>
                        </a:rPr>
                        <a:t>PR组1y-PFS 35%（95%CI</a:t>
                      </a:r>
                    </a:p>
                  </a:txBody>
                  <a:tcPr>
                    <a:solidFill>
                      <a:srgbClr val="FFFFFF"/>
                    </a:solidFill>
                  </a:tcPr>
                </a:tc>
                <a:tc>
                  <a:txBody>
                    <a:bodyPr wrap="square" lIns="36576" rIns="36576" tIns="18288" bIns="18288"/>
                    <a:lstStyle/>
                    <a:p>
                      <a:r>
                        <a:rPr sz="540" b="0">
                          <a:solidFill>
                            <a:srgbClr val="21242A"/>
                          </a:solidFill>
                          <a:latin typeface="Microsoft YaHei"/>
                        </a:rPr>
                        <a:t>15-55），1y-OS 47%（95%CI: 27-67）</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摘要号：PF986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ciloleucel在台湾复发/难治性弥漫性大b细胞淋巴瘤和原发性纵隔b细胞淋巴瘤患者接受两...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in taiwanese patients with rela...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原发纵隔大B细胞淋巴瘤，弥漫性大B细胞淋巴瘤</a:t>
            </a:r>
          </a:p>
          <a:p>
            <a:pPr>
              <a:lnSpc>
                <a:spcPct val="103000"/>
              </a:lnSpc>
              <a:spcAft>
                <a:spcPts val="300"/>
              </a:spcAft>
              <a:defRPr sz="800">
                <a:solidFill>
                  <a:srgbClr val="21242A"/>
                </a:solidFill>
                <a:latin typeface="Microsoft YaHei"/>
              </a:defRPr>
            </a:pPr>
            <a:r>
              <a:t>疾病阶段：复发/难治，原发性</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对照/比较：试验组1：axicabtagene ciloleucel</a:t>
            </a:r>
          </a:p>
          <a:p>
            <a:pPr>
              <a:lnSpc>
                <a:spcPct val="103000"/>
              </a:lnSpc>
              <a:spcAft>
                <a:spcPts val="300"/>
              </a:spcAft>
              <a:defRPr sz="800">
                <a:solidFill>
                  <a:srgbClr val="21242A"/>
                </a:solidFill>
                <a:latin typeface="Microsoft YaHei"/>
              </a:defRPr>
            </a:pPr>
            <a:r>
              <a:t>对照组1：tisagenlecleucel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无折扣生存年：axi-cel 11.63年 vs tisa-cel 7.86年，增量3.77年</a:t>
            </a:r>
          </a:p>
          <a:p>
            <a:pPr>
              <a:lnSpc>
                <a:spcPct val="103000"/>
              </a:lnSpc>
              <a:spcAft>
                <a:spcPts val="300"/>
              </a:spcAft>
              <a:defRPr sz="800">
                <a:solidFill>
                  <a:srgbClr val="21242A"/>
                </a:solidFill>
                <a:latin typeface="Microsoft YaHei"/>
              </a:defRPr>
            </a:pPr>
            <a:r>
              <a:t>质量调整生存年(QALY)：axi-cel 6.84 QALYs vs tisa-cel 4.33 QALYs，增量2.51...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研究类型：卫生经济学研究</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适应症：原发纵隔大B细胞淋巴瘤、弥漫性大B细胞淋巴瘤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ciloleucel在台湾复发/难治性弥漫性大b细胞淋巴瘤和原发性纵隔b细胞淋巴瘤患者接受两...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in taiwanese patients with rela...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the most common aggressive B-cell lymphoma in Taiwan and continues to contribute substantially to the natio</a:t>
            </a:r>
          </a:p>
          <a:p>
            <a:pPr>
              <a:lnSpc>
                <a:spcPct val="103000"/>
              </a:lnSpc>
              <a:spcAft>
                <a:spcPts val="300"/>
              </a:spcAft>
              <a:defRPr sz="570">
                <a:solidFill>
                  <a:srgbClr val="21242A"/>
                </a:solidFill>
                <a:latin typeface="Microsoft YaHei"/>
              </a:defRPr>
            </a:pPr>
            <a:r>
              <a:t>nal lymphoma disease burden.</a:t>
            </a:r>
          </a:p>
          <a:p>
            <a:pPr>
              <a:lnSpc>
                <a:spcPct val="103000"/>
              </a:lnSpc>
              <a:spcAft>
                <a:spcPts val="300"/>
              </a:spcAft>
              <a:defRPr sz="570">
                <a:solidFill>
                  <a:srgbClr val="21242A"/>
                </a:solidFill>
                <a:latin typeface="Microsoft YaHei"/>
              </a:defRPr>
            </a:pPr>
            <a:r>
              <a:t>Although a proportion of patients can achieve long-term remission with frontline therapy, a clinically important subgroup progresses through multiple lines of t</a:t>
            </a:r>
          </a:p>
          <a:p>
            <a:pPr>
              <a:lnSpc>
                <a:spcPct val="103000"/>
              </a:lnSpc>
              <a:spcAft>
                <a:spcPts val="300"/>
              </a:spcAft>
              <a:defRPr sz="570">
                <a:solidFill>
                  <a:srgbClr val="21242A"/>
                </a:solidFill>
                <a:latin typeface="Microsoft YaHei"/>
              </a:defRPr>
            </a:pPr>
            <a:r>
              <a:t>reatment.</a:t>
            </a:r>
          </a:p>
          <a:p>
            <a:pPr>
              <a:lnSpc>
                <a:spcPct val="103000"/>
              </a:lnSpc>
              <a:spcAft>
                <a:spcPts val="300"/>
              </a:spcAft>
              <a:defRPr sz="570">
                <a:solidFill>
                  <a:srgbClr val="21242A"/>
                </a:solidFill>
                <a:latin typeface="Microsoft YaHei"/>
              </a:defRPr>
            </a:pPr>
            <a:r>
              <a:t>In the third-line and beyond (3L+) setting, effective therapeutic options remain limited, resulting in poor long-term survival.</a:t>
            </a:r>
          </a:p>
          <a:p>
            <a:pPr>
              <a:lnSpc>
                <a:spcPct val="103000"/>
              </a:lnSpc>
              <a:spcAft>
                <a:spcPts val="300"/>
              </a:spcAft>
              <a:defRPr sz="570">
                <a:solidFill>
                  <a:srgbClr val="21242A"/>
                </a:solidFill>
                <a:latin typeface="Microsoft YaHei"/>
              </a:defRPr>
            </a:pPr>
            <a:r>
              <a:t>The management of 3L+ DLBCL therefore represents a significant clinical and policy challenge, particularly in the context of emerging one-time cellular therapie</a:t>
            </a:r>
          </a:p>
          <a:p>
            <a:pPr>
              <a:lnSpc>
                <a:spcPct val="103000"/>
              </a:lnSpc>
              <a:spcAft>
                <a:spcPts val="300"/>
              </a:spcAft>
              <a:defRPr sz="570">
                <a:solidFill>
                  <a:srgbClr val="21242A"/>
                </a:solidFill>
                <a:latin typeface="Microsoft YaHei"/>
              </a:defRPr>
            </a:pPr>
            <a:r>
              <a:t>s and the need to prioritize healthcare resources.</a:t>
            </a:r>
          </a:p>
          <a:p>
            <a:pPr>
              <a:lnSpc>
                <a:spcPct val="103000"/>
              </a:lnSpc>
              <a:spcAft>
                <a:spcPts val="300"/>
              </a:spcAft>
              <a:defRPr sz="570">
                <a:solidFill>
                  <a:srgbClr val="21242A"/>
                </a:solidFill>
                <a:latin typeface="Microsoft YaHei"/>
              </a:defRPr>
            </a:pPr>
            <a:r>
              <a:t>\n In Taiwan, chimeric antigen receptor T-cell (CAR T-cell) therapies have been introduced into clinical practice, yet access differs by product.</a:t>
            </a:r>
          </a:p>
          <a:p>
            <a:pPr>
              <a:lnSpc>
                <a:spcPct val="103000"/>
              </a:lnSpc>
              <a:spcAft>
                <a:spcPts val="300"/>
              </a:spcAft>
              <a:defRPr sz="570">
                <a:solidFill>
                  <a:srgbClr val="21242A"/>
                </a:solidFill>
                <a:latin typeface="Microsoft YaHei"/>
              </a:defRPr>
            </a:pPr>
            <a:r>
              <a:t>Currently, the National Health Insurance (NHI) reimburses tisagenlecleucel (tisa-cel) for 3L+ treatment, while axicabtagene ciloleucel (axi-cel) remains unreimb</a:t>
            </a:r>
          </a:p>
          <a:p>
            <a:pPr>
              <a:lnSpc>
                <a:spcPct val="103000"/>
              </a:lnSpc>
              <a:spcAft>
                <a:spcPts val="300"/>
              </a:spcAft>
              <a:defRPr sz="570">
                <a:solidFill>
                  <a:srgbClr val="21242A"/>
                </a:solidFill>
                <a:latin typeface="Microsoft YaHei"/>
              </a:defRPr>
            </a:pPr>
            <a:r>
              <a:t>ursed, underscoring the need for robust local economic evidence to inform reimbursement decisions.</a:t>
            </a:r>
          </a:p>
          <a:p>
            <a:pPr>
              <a:lnSpc>
                <a:spcPct val="103000"/>
              </a:lnSpc>
              <a:spcAft>
                <a:spcPts val="300"/>
              </a:spcAft>
              <a:defRPr sz="570">
                <a:solidFill>
                  <a:srgbClr val="21242A"/>
                </a:solidFill>
                <a:latin typeface="Microsoft YaHei"/>
              </a:defRPr>
            </a:pPr>
            <a:r>
              <a:t>Aims: This study aims to assess the cost-effectiveness of axi-cel compared to tisa-cel as a 3L+ treatment for DLBCL and primary mediastinal B-cell lymphoma (PMB</a:t>
            </a:r>
          </a:p>
          <a:p>
            <a:pPr>
              <a:lnSpc>
                <a:spcPct val="103000"/>
              </a:lnSpc>
              <a:spcAft>
                <a:spcPts val="300"/>
              </a:spcAft>
              <a:defRPr sz="570">
                <a:solidFill>
                  <a:srgbClr val="21242A"/>
                </a:solidFill>
                <a:latin typeface="Microsoft YaHei"/>
              </a:defRPr>
            </a:pPr>
            <a:r>
              <a:t>CL) in Taiwan from the perspective of National Health Insurance.</a:t>
            </a:r>
          </a:p>
          <a:p>
            <a:pPr>
              <a:lnSpc>
                <a:spcPct val="103000"/>
              </a:lnSpc>
              <a:spcAft>
                <a:spcPts val="300"/>
              </a:spcAft>
              <a:defRPr sz="570">
                <a:solidFill>
                  <a:srgbClr val="21242A"/>
                </a:solidFill>
                <a:latin typeface="Microsoft YaHei"/>
              </a:defRPr>
            </a:pPr>
            <a:r>
              <a:t>Methods: To account for potential long-term survival and cure effects associated with CAR T-cell therapy, a partitioned survival mixture cure model (PS-MCM) ada</a:t>
            </a:r>
          </a:p>
          <a:p>
            <a:pPr>
              <a:lnSpc>
                <a:spcPct val="103000"/>
              </a:lnSpc>
              <a:spcAft>
                <a:spcPts val="300"/>
              </a:spcAft>
              <a:defRPr sz="570">
                <a:solidFill>
                  <a:srgbClr val="21242A"/>
                </a:solidFill>
                <a:latin typeface="Microsoft YaHei"/>
              </a:defRPr>
            </a:pPr>
            <a:r>
              <a:t>pted with Taiwan-specific parameters was used to evaluate the clinical and economic outcomes of axi-cel and tisa-cel.</a:t>
            </a:r>
          </a:p>
          <a:p>
            <a:pPr>
              <a:lnSpc>
                <a:spcPct val="103000"/>
              </a:lnSpc>
              <a:spcAft>
                <a:spcPts val="300"/>
              </a:spcAft>
              <a:defRPr sz="570">
                <a:solidFill>
                  <a:srgbClr val="21242A"/>
                </a:solidFill>
                <a:latin typeface="Microsoft YaHei"/>
              </a:defRPr>
            </a:pPr>
            <a:r>
              <a:t>The model included three health states: pre-progression survival, post-progression survival, and death.</a:t>
            </a:r>
          </a:p>
          <a:p>
            <a:pPr>
              <a:lnSpc>
                <a:spcPct val="103000"/>
              </a:lnSpc>
              <a:spcAft>
                <a:spcPts val="300"/>
              </a:spcAft>
              <a:defRPr sz="570">
                <a:solidFill>
                  <a:srgbClr val="21242A"/>
                </a:solidFill>
                <a:latin typeface="Microsoft YaHei"/>
              </a:defRPr>
            </a:pPr>
            <a:r>
              <a:t>Clinical efficacy inputs were derived from trial data adjusted using a matching-adjusted indirect comparison (MAIC) to enable comparative analysis in the absenc</a:t>
            </a:r>
          </a:p>
          <a:p>
            <a:pPr>
              <a:lnSpc>
                <a:spcPct val="103000"/>
              </a:lnSpc>
              <a:spcAft>
                <a:spcPts val="300"/>
              </a:spcAft>
              <a:defRPr sz="570">
                <a:solidFill>
                  <a:srgbClr val="21242A"/>
                </a:solidFill>
                <a:latin typeface="Microsoft YaHei"/>
              </a:defRPr>
            </a:pPr>
            <a:r>
              <a:t>e of head-to-head trials.</a:t>
            </a:r>
          </a:p>
          <a:p>
            <a:pPr>
              <a:lnSpc>
                <a:spcPct val="103000"/>
              </a:lnSpc>
              <a:spcAft>
                <a:spcPts val="300"/>
              </a:spcAft>
              <a:defRPr sz="570">
                <a:solidFill>
                  <a:srgbClr val="21242A"/>
                </a:solidFill>
                <a:latin typeface="Microsoft YaHei"/>
              </a:defRPr>
            </a:pPr>
            <a:r>
              <a:t>Costs and resource use were informed by the Taiwan NHI database, local clinical expert opinion, and published literature.</a:t>
            </a:r>
          </a:p>
          <a:p>
            <a:pPr>
              <a:lnSpc>
                <a:spcPct val="103000"/>
              </a:lnSpc>
              <a:spcAft>
                <a:spcPts val="300"/>
              </a:spcAft>
              <a:defRPr sz="570">
                <a:solidFill>
                  <a:srgbClr val="21242A"/>
                </a:solidFill>
                <a:latin typeface="Microsoft YaHei"/>
              </a:defRPr>
            </a:pPr>
            <a:r>
              <a:t>Background mortality was based on the 2023 Taiwan life tables. A lifetime horizon (40 years), monthly cycles, and a 3% annual discount rate were applied.</a:t>
            </a:r>
          </a:p>
          <a:p>
            <a:pPr>
              <a:lnSpc>
                <a:spcPct val="103000"/>
              </a:lnSpc>
              <a:spcAft>
                <a:spcPts val="300"/>
              </a:spcAft>
              <a:defRPr sz="570">
                <a:solidFill>
                  <a:srgbClr val="21242A"/>
                </a:solidFill>
                <a:latin typeface="Microsoft YaHei"/>
              </a:defRPr>
            </a:pPr>
            <a:r>
              <a:t>Measured outcomes included total costs, quality-adjusted life years (QALYs), and incremental cost-effectiveness ratios (ICERs).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analysis shows that axi-cel delivers greater health benefits at lower overall costs than tisa-cel in patients with 3L+ R/R DLBCL and PMBCL, representing a </a:t>
            </a:r>
          </a:p>
          <a:p>
            <a:pPr>
              <a:lnSpc>
                <a:spcPct val="103000"/>
              </a:lnSpc>
              <a:spcAft>
                <a:spcPts val="300"/>
              </a:spcAft>
              <a:defRPr sz="590">
                <a:solidFill>
                  <a:srgbClr val="21242A"/>
                </a:solidFill>
                <a:latin typeface="Microsoft YaHei"/>
              </a:defRPr>
            </a:pPr>
            <a:r>
              <a:t>dominant treatment option.</a:t>
            </a:r>
          </a:p>
          <a:p>
            <a:pPr>
              <a:lnSpc>
                <a:spcPct val="103000"/>
              </a:lnSpc>
              <a:spcAft>
                <a:spcPts val="300"/>
              </a:spcAft>
              <a:defRPr sz="590">
                <a:solidFill>
                  <a:srgbClr val="21242A"/>
                </a:solidFill>
                <a:latin typeface="Microsoft YaHei"/>
              </a:defRPr>
            </a:pPr>
            <a:r>
              <a:t>These findings further support axi-cel’s value for reimbursement consideration in Taiwan.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无折扣生存年</a:t>
                      </a:r>
                    </a:p>
                  </a:txBody>
                  <a:tcPr>
                    <a:solidFill>
                      <a:srgbClr val="F6F8FB"/>
                    </a:solidFill>
                  </a:tcPr>
                </a:tc>
                <a:tc>
                  <a:txBody>
                    <a:bodyPr wrap="square" lIns="36576" rIns="36576" tIns="18288" bIns="18288"/>
                    <a:lstStyle/>
                    <a:p>
                      <a:r>
                        <a:rPr sz="540" b="0">
                          <a:solidFill>
                            <a:srgbClr val="21242A"/>
                          </a:solidFill>
                          <a:latin typeface="Microsoft YaHei"/>
                        </a:rPr>
                        <a:t>axi-cel 11.63年 vs tisa-cel 7.86年，增量3.77年</a:t>
                      </a:r>
                    </a:p>
                  </a:txBody>
                  <a:tcPr>
                    <a:solidFill>
                      <a:srgbClr val="F6F8FB"/>
                    </a:solidFill>
                  </a:tcPr>
                </a:tc>
              </a:tr>
              <a:tr h="299923">
                <a:tc>
                  <a:txBody>
                    <a:bodyPr wrap="square" lIns="36576" rIns="36576" tIns="18288" bIns="18288"/>
                    <a:lstStyle/>
                    <a:p>
                      <a:r>
                        <a:rPr sz="540" b="1">
                          <a:solidFill>
                            <a:srgbClr val="21242A"/>
                          </a:solidFill>
                          <a:latin typeface="Microsoft YaHei"/>
                        </a:rPr>
                        <a:t>质量调整生存年(QALY)</a:t>
                      </a:r>
                    </a:p>
                  </a:txBody>
                  <a:tcPr>
                    <a:solidFill>
                      <a:srgbClr val="FFFFFF"/>
                    </a:solidFill>
                  </a:tcPr>
                </a:tc>
                <a:tc>
                  <a:txBody>
                    <a:bodyPr wrap="square" lIns="36576" rIns="36576" tIns="18288" bIns="18288"/>
                    <a:lstStyle/>
                    <a:p>
                      <a:r>
                        <a:rPr sz="540" b="0">
                          <a:solidFill>
                            <a:srgbClr val="21242A"/>
                          </a:solidFill>
                          <a:latin typeface="Microsoft YaHei"/>
                        </a:rPr>
                        <a:t>axi-cel 6.84 QALYs vs tisa-cel 4.33 QALYs，增量2.51 QALYs</a:t>
                      </a:r>
                    </a:p>
                  </a:txBody>
                  <a:tcPr>
                    <a:solidFill>
                      <a:srgbClr val="FFFFFF"/>
                    </a:solidFill>
                  </a:tcPr>
                </a:tc>
              </a:tr>
              <a:tr h="299923">
                <a:tc>
                  <a:txBody>
                    <a:bodyPr wrap="square" lIns="36576" rIns="36576" tIns="18288" bIns="18288"/>
                    <a:lstStyle/>
                    <a:p>
                      <a:r>
                        <a:rPr sz="540" b="1">
                          <a:solidFill>
                            <a:srgbClr val="21242A"/>
                          </a:solidFill>
                          <a:latin typeface="Microsoft YaHei"/>
                        </a:rPr>
                        <a:t>总折扣成本</a:t>
                      </a:r>
                    </a:p>
                  </a:txBody>
                  <a:tcPr>
                    <a:solidFill>
                      <a:srgbClr val="F6F8FB"/>
                    </a:solidFill>
                  </a:tcPr>
                </a:tc>
                <a:tc>
                  <a:txBody>
                    <a:bodyPr wrap="square" lIns="36576" rIns="36576" tIns="18288" bIns="18288"/>
                    <a:lstStyle/>
                    <a:p>
                      <a:r>
                        <a:rPr sz="540" b="0">
                          <a:solidFill>
                            <a:srgbClr val="21242A"/>
                          </a:solidFill>
                          <a:latin typeface="Microsoft YaHei"/>
                        </a:rPr>
                        <a:t>axi-cel NTD 9.24M (USD 307,991) vs tisa-cel NTD 9.26M (USD 308,557)</a:t>
                      </a:r>
                    </a:p>
                  </a:txBody>
                  <a:tcPr>
                    <a:solidFill>
                      <a:srgbClr val="F6F8FB"/>
                    </a:solidFill>
                  </a:tcPr>
                </a:tc>
              </a:tr>
              <a:tr h="299924">
                <a:tc>
                  <a:txBody>
                    <a:bodyPr wrap="square" lIns="36576" rIns="36576" tIns="18288" bIns="18288"/>
                    <a:lstStyle/>
                    <a:p>
                      <a:r>
                        <a:rPr sz="540" b="1">
                          <a:solidFill>
                            <a:srgbClr val="21242A"/>
                          </a:solidFill>
                          <a:latin typeface="Microsoft YaHei"/>
                        </a:rPr>
                        <a:t>增量成本效果比(ICER)</a:t>
                      </a:r>
                    </a:p>
                  </a:txBody>
                  <a:tcPr>
                    <a:solidFill>
                      <a:srgbClr val="FFFFFF"/>
                    </a:solidFill>
                  </a:tcPr>
                </a:tc>
                <a:tc>
                  <a:txBody>
                    <a:bodyPr wrap="square" lIns="36576" rIns="36576" tIns="18288" bIns="18288"/>
                    <a:lstStyle/>
                    <a:p>
                      <a:r>
                        <a:rPr sz="540" b="0">
                          <a:solidFill>
                            <a:srgbClr val="21242A"/>
                          </a:solidFill>
                          <a:latin typeface="Microsoft YaHei"/>
                        </a:rPr>
                        <a:t>axi-cel占优（成本更低，效果更好）</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摘要号：PF1414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cd3xcd20双特异性抗体治疗大b细胞淋巴瘤患者细胞因子释放综合征的风险：一项国际多中心回顾性研究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for cytokine release syndrome in patients with large b-cell lymphoma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原发纵隔大B细胞淋巴瘤，大B细胞淋巴瘤，弥漫性大B细胞淋巴瘤</a:t>
            </a:r>
          </a:p>
          <a:p>
            <a:pPr>
              <a:lnSpc>
                <a:spcPct val="103000"/>
              </a:lnSpc>
              <a:spcAft>
                <a:spcPts val="300"/>
              </a:spcAft>
              <a:defRPr sz="800">
                <a:solidFill>
                  <a:srgbClr val="21242A"/>
                </a:solidFill>
                <a:latin typeface="Microsoft YaHei"/>
              </a:defRPr>
            </a:pPr>
            <a:r>
              <a:t>N=440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任何级别CRS发生率（首次/首次全剂量后）：43%（185/435）</a:t>
            </a:r>
          </a:p>
          <a:p>
            <a:pPr>
              <a:lnSpc>
                <a:spcPct val="103000"/>
              </a:lnSpc>
              <a:spcAft>
                <a:spcPts val="300"/>
              </a:spcAft>
              <a:defRPr sz="800">
                <a:solidFill>
                  <a:srgbClr val="21242A"/>
                </a:solidFill>
                <a:latin typeface="Microsoft YaHei"/>
              </a:defRPr>
            </a:pPr>
            <a:r>
              <a:t>≥2级CRS发生率（首次/首次全剂量后）：16%（71/435）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人数：440</a:t>
            </a:r>
          </a:p>
          <a:p>
            <a:pPr>
              <a:lnSpc>
                <a:spcPct val="103000"/>
              </a:lnSpc>
              <a:spcAft>
                <a:spcPts val="300"/>
              </a:spcAft>
              <a:defRPr sz="810">
                <a:solidFill>
                  <a:srgbClr val="21242A"/>
                </a:solidFill>
                <a:latin typeface="Microsoft YaHei"/>
              </a:defRPr>
            </a:pPr>
            <a:r>
              <a:t>适应症：原发纵隔大B细胞淋巴瘤、大B细胞淋巴瘤、弥漫性大B细胞淋巴瘤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cd3xcd20双特异性抗体治疗大b细胞淋巴瘤患者细胞因子释放综合征的风险：一项国际多中心回顾性研究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for cytokine release syndrome in patients with large b-cell lymphoma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CD3xCD20 bispecific antibodies (BsAbs) have emerged as a highly effective \"off-the-shelf\" immunotherapy for relapsed/refractory (R/R) large B-cell</a:t>
            </a:r>
          </a:p>
          <a:p>
            <a:pPr>
              <a:lnSpc>
                <a:spcPct val="103000"/>
              </a:lnSpc>
              <a:spcAft>
                <a:spcPts val="300"/>
              </a:spcAft>
              <a:defRPr sz="570">
                <a:solidFill>
                  <a:srgbClr val="21242A"/>
                </a:solidFill>
                <a:latin typeface="Microsoft YaHei"/>
              </a:defRPr>
            </a:pPr>
            <a:r>
              <a:t> lymphoma (LBCL).</a:t>
            </a:r>
          </a:p>
          <a:p>
            <a:pPr>
              <a:lnSpc>
                <a:spcPct val="103000"/>
              </a:lnSpc>
              <a:spcAft>
                <a:spcPts val="300"/>
              </a:spcAft>
              <a:defRPr sz="570">
                <a:solidFill>
                  <a:srgbClr val="21242A"/>
                </a:solidFill>
                <a:latin typeface="Microsoft YaHei"/>
              </a:defRPr>
            </a:pPr>
            <a:r>
              <a:t>However, cytokine release syndrome (CRS) remains the primary toxicity limiting their clinical use.</a:t>
            </a:r>
          </a:p>
          <a:p>
            <a:pPr>
              <a:lnSpc>
                <a:spcPct val="103000"/>
              </a:lnSpc>
              <a:spcAft>
                <a:spcPts val="300"/>
              </a:spcAft>
              <a:defRPr sz="570">
                <a:solidFill>
                  <a:srgbClr val="21242A"/>
                </a:solidFill>
                <a:latin typeface="Microsoft YaHei"/>
              </a:defRPr>
            </a:pPr>
            <a:r>
              <a:t>While a predictive model for CRS risk was recently developed for glofitamab (Gritti et al., Blood Adv.</a:t>
            </a:r>
          </a:p>
          <a:p>
            <a:pPr>
              <a:lnSpc>
                <a:spcPct val="103000"/>
              </a:lnSpc>
              <a:spcAft>
                <a:spcPts val="300"/>
              </a:spcAft>
              <a:defRPr sz="570">
                <a:solidFill>
                  <a:srgbClr val="21242A"/>
                </a:solidFill>
                <a:latin typeface="Microsoft YaHei"/>
              </a:defRPr>
            </a:pPr>
            <a:r>
              <a:t>2024), its utility is limited by the need for specific parameters and a lack of validation across the broader class of CD3xCD20 BsAbs.</a:t>
            </a:r>
          </a:p>
          <a:p>
            <a:pPr>
              <a:lnSpc>
                <a:spcPct val="103000"/>
              </a:lnSpc>
              <a:spcAft>
                <a:spcPts val="300"/>
              </a:spcAft>
              <a:defRPr sz="570">
                <a:solidFill>
                  <a:srgbClr val="21242A"/>
                </a:solidFill>
                <a:latin typeface="Microsoft YaHei"/>
              </a:defRPr>
            </a:pPr>
            <a:r>
              <a:t>There is a critical need for an easily applicable, universal clinical tool to identify patients at low risk for clinically significant (grade 2+) CRS to optimiz</a:t>
            </a:r>
          </a:p>
          <a:p>
            <a:pPr>
              <a:lnSpc>
                <a:spcPct val="103000"/>
              </a:lnSpc>
              <a:spcAft>
                <a:spcPts val="300"/>
              </a:spcAft>
              <a:defRPr sz="570">
                <a:solidFill>
                  <a:srgbClr val="21242A"/>
                </a:solidFill>
                <a:latin typeface="Microsoft YaHei"/>
              </a:defRPr>
            </a:pPr>
            <a:r>
              <a:t>e management strategies and potentially facilitate outpatient administration.</a:t>
            </a:r>
          </a:p>
          <a:p>
            <a:pPr>
              <a:lnSpc>
                <a:spcPct val="103000"/>
              </a:lnSpc>
              <a:spcAft>
                <a:spcPts val="300"/>
              </a:spcAft>
              <a:defRPr sz="570">
                <a:solidFill>
                  <a:srgbClr val="21242A"/>
                </a:solidFill>
                <a:latin typeface="Microsoft YaHei"/>
              </a:defRPr>
            </a:pPr>
            <a:r>
              <a:t>Aims: The primary objective of this multicenter retrospective study is to develop and validate a clinical score to identify patients with R/R LBCL at low risk o</a:t>
            </a:r>
          </a:p>
          <a:p>
            <a:pPr>
              <a:lnSpc>
                <a:spcPct val="103000"/>
              </a:lnSpc>
              <a:spcAft>
                <a:spcPts val="300"/>
              </a:spcAft>
              <a:defRPr sz="570">
                <a:solidFill>
                  <a:srgbClr val="21242A"/>
                </a:solidFill>
                <a:latin typeface="Microsoft YaHei"/>
              </a:defRPr>
            </a:pPr>
            <a:r>
              <a:t>f developing grade 2+ CRS following the first or full therapeutic dose of a CD3xCD20 BsAb.</a:t>
            </a:r>
          </a:p>
          <a:p>
            <a:pPr>
              <a:lnSpc>
                <a:spcPct val="103000"/>
              </a:lnSpc>
              <a:spcAft>
                <a:spcPts val="300"/>
              </a:spcAft>
              <a:defRPr sz="570">
                <a:solidFill>
                  <a:srgbClr val="21242A"/>
                </a:solidFill>
                <a:latin typeface="Microsoft YaHei"/>
              </a:defRPr>
            </a:pPr>
            <a:r>
              <a:t>In this abstract preliminary analysis and characterization of the incidence of CRS will be presented.</a:t>
            </a:r>
          </a:p>
          <a:p>
            <a:pPr>
              <a:lnSpc>
                <a:spcPct val="103000"/>
              </a:lnSpc>
              <a:spcAft>
                <a:spcPts val="300"/>
              </a:spcAft>
              <a:defRPr sz="570">
                <a:solidFill>
                  <a:srgbClr val="21242A"/>
                </a:solidFill>
                <a:latin typeface="Microsoft YaHei"/>
              </a:defRPr>
            </a:pPr>
            <a:r>
              <a:t>Methods: This is a retrospective, international, multicenter study.</a:t>
            </a:r>
          </a:p>
          <a:p>
            <a:pPr>
              <a:lnSpc>
                <a:spcPct val="103000"/>
              </a:lnSpc>
              <a:spcAft>
                <a:spcPts val="300"/>
              </a:spcAft>
              <a:defRPr sz="570">
                <a:solidFill>
                  <a:srgbClr val="21242A"/>
                </a:solidFill>
                <a:latin typeface="Microsoft YaHei"/>
              </a:defRPr>
            </a:pPr>
            <a:r>
              <a:t>Data were collected from adult patients with R/R LBCL, including diffuse large B-cell lymphoma (DLBCL), LBCL transformed from indolent lymphoma (t-LBCL), high-g</a:t>
            </a:r>
          </a:p>
          <a:p>
            <a:pPr>
              <a:lnSpc>
                <a:spcPct val="103000"/>
              </a:lnSpc>
              <a:spcAft>
                <a:spcPts val="300"/>
              </a:spcAft>
              <a:defRPr sz="570">
                <a:solidFill>
                  <a:srgbClr val="21242A"/>
                </a:solidFill>
                <a:latin typeface="Microsoft YaHei"/>
              </a:defRPr>
            </a:pPr>
            <a:r>
              <a:t>rade B-cell lymphoma (HGBCL), and primary mediastinal B-cell lymphoma (PMBCL) treated with CD3xCD20 BsAbs, including glofitamab and epcoritamab.</a:t>
            </a:r>
          </a:p>
          <a:p>
            <a:pPr>
              <a:lnSpc>
                <a:spcPct val="103000"/>
              </a:lnSpc>
              <a:spcAft>
                <a:spcPts val="300"/>
              </a:spcAft>
              <a:defRPr sz="570">
                <a:solidFill>
                  <a:srgbClr val="21242A"/>
                </a:solidFill>
                <a:latin typeface="Microsoft YaHei"/>
              </a:defRPr>
            </a:pPr>
            <a:r>
              <a:t>CRS was graded according to the 2019 ASTCT criteria. Pre-treatment clinical factors, laboratory parameters, and radiologic data were analyzed.</a:t>
            </a:r>
          </a:p>
          <a:p>
            <a:pPr>
              <a:lnSpc>
                <a:spcPct val="103000"/>
              </a:lnSpc>
              <a:spcAft>
                <a:spcPts val="300"/>
              </a:spcAft>
              <a:defRPr sz="570">
                <a:solidFill>
                  <a:srgbClr val="21242A"/>
                </a:solidFill>
                <a:latin typeface="Microsoft YaHei"/>
              </a:defRPr>
            </a:pPr>
            <a:r>
              <a:t>Missing data were handled using multiple imputation by chained equations. Candidate predictors were selected using penalized regression (LASSO).</a:t>
            </a:r>
          </a:p>
          <a:p>
            <a:pPr>
              <a:lnSpc>
                <a:spcPct val="103000"/>
              </a:lnSpc>
              <a:spcAft>
                <a:spcPts val="300"/>
              </a:spcAft>
              <a:defRPr sz="570">
                <a:solidFill>
                  <a:srgbClr val="21242A"/>
                </a:solidFill>
                <a:latin typeface="Microsoft YaHei"/>
              </a:defRPr>
            </a:pPr>
            <a:r>
              <a:t>Variables identified as stable predictors were subsequently entered into a multivariable logistic regression model to identify independent factors associated wi</a:t>
            </a:r>
          </a:p>
          <a:p>
            <a:pPr>
              <a:lnSpc>
                <a:spcPct val="103000"/>
              </a:lnSpc>
              <a:spcAft>
                <a:spcPts val="300"/>
              </a:spcAft>
              <a:defRPr sz="570">
                <a:solidFill>
                  <a:srgbClr val="21242A"/>
                </a:solidFill>
                <a:latin typeface="Microsoft YaHei"/>
              </a:defRPr>
            </a:pPr>
            <a:r>
              <a:t>th CRS.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LBCL, CRS risk factors largely converge on disease burden and kinetics.</a:t>
            </a:r>
          </a:p>
          <a:p>
            <a:pPr>
              <a:lnSpc>
                <a:spcPct val="103000"/>
              </a:lnSpc>
              <a:spcAft>
                <a:spcPts val="300"/>
              </a:spcAft>
              <a:defRPr sz="590">
                <a:solidFill>
                  <a:srgbClr val="21242A"/>
                </a:solidFill>
                <a:latin typeface="Microsoft YaHei"/>
              </a:defRPr>
            </a:pPr>
            <a:r>
              <a:t>Analysis of this multi-national large cohort of patients is ongoing, full results and the predictive score will be presented at the meeting.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374904">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374904">
                <a:tc>
                  <a:txBody>
                    <a:bodyPr wrap="square" lIns="36576" rIns="36576" tIns="18288" bIns="18288"/>
                    <a:lstStyle/>
                    <a:p>
                      <a:r>
                        <a:rPr sz="540" b="1">
                          <a:solidFill>
                            <a:srgbClr val="21242A"/>
                          </a:solidFill>
                          <a:latin typeface="Microsoft YaHei"/>
                        </a:rPr>
                        <a:t>任何级别CRS发生率（首次/首次全剂量后）</a:t>
                      </a:r>
                    </a:p>
                  </a:txBody>
                  <a:tcPr>
                    <a:solidFill>
                      <a:srgbClr val="F6F8FB"/>
                    </a:solidFill>
                  </a:tcPr>
                </a:tc>
                <a:tc>
                  <a:txBody>
                    <a:bodyPr wrap="square" lIns="36576" rIns="36576" tIns="18288" bIns="18288"/>
                    <a:lstStyle/>
                    <a:p>
                      <a:r>
                        <a:rPr sz="540" b="0">
                          <a:solidFill>
                            <a:srgbClr val="21242A"/>
                          </a:solidFill>
                          <a:latin typeface="Microsoft YaHei"/>
                        </a:rPr>
                        <a:t>43%（185/435）</a:t>
                      </a:r>
                    </a:p>
                  </a:txBody>
                  <a:tcPr>
                    <a:solidFill>
                      <a:srgbClr val="F6F8FB"/>
                    </a:solidFill>
                  </a:tcPr>
                </a:tc>
              </a:tr>
              <a:tr h="374904">
                <a:tc>
                  <a:txBody>
                    <a:bodyPr wrap="square" lIns="36576" rIns="36576" tIns="18288" bIns="18288"/>
                    <a:lstStyle/>
                    <a:p>
                      <a:r>
                        <a:rPr sz="540" b="1">
                          <a:solidFill>
                            <a:srgbClr val="21242A"/>
                          </a:solidFill>
                          <a:latin typeface="Microsoft YaHei"/>
                        </a:rPr>
                        <a:t>≥2级CRS发生率（首次/首次全剂量后）</a:t>
                      </a:r>
                    </a:p>
                  </a:txBody>
                  <a:tcPr>
                    <a:solidFill>
                      <a:srgbClr val="FFFFFF"/>
                    </a:solidFill>
                  </a:tcPr>
                </a:tc>
                <a:tc>
                  <a:txBody>
                    <a:bodyPr wrap="square" lIns="36576" rIns="36576" tIns="18288" bIns="18288"/>
                    <a:lstStyle/>
                    <a:p>
                      <a:r>
                        <a:rPr sz="540" b="0">
                          <a:solidFill>
                            <a:srgbClr val="21242A"/>
                          </a:solidFill>
                          <a:latin typeface="Microsoft YaHei"/>
                        </a:rPr>
                        <a:t>16%（71/435）</a:t>
                      </a:r>
                    </a:p>
                  </a:txBody>
                  <a:tcPr>
                    <a:solidFill>
                      <a:srgbClr val="FFFFFF"/>
                    </a:solidFill>
                  </a:tcPr>
                </a:tc>
              </a:tr>
              <a:tr h="374904">
                <a:tc>
                  <a:txBody>
                    <a:bodyPr wrap="square" lIns="36576" rIns="36576" tIns="18288" bIns="18288"/>
                    <a:lstStyle/>
                    <a:p>
                      <a:r>
                        <a:rPr sz="540" b="1">
                          <a:solidFill>
                            <a:srgbClr val="21242A"/>
                          </a:solidFill>
                          <a:latin typeface="Microsoft YaHei"/>
                        </a:rPr>
                        <a:t>多变量分析中与≥2级CRS独立相关的因素</a:t>
                      </a:r>
                    </a:p>
                  </a:txBody>
                  <a:tcPr>
                    <a:solidFill>
                      <a:srgbClr val="F6F8FB"/>
                    </a:solidFill>
                  </a:tcPr>
                </a:tc>
                <a:tc>
                  <a:txBody>
                    <a:bodyPr wrap="square" lIns="36576" rIns="36576" tIns="18288" bIns="18288"/>
                    <a:lstStyle/>
                    <a:p>
                      <a:r>
                        <a:rPr sz="540" b="0">
                          <a:solidFill>
                            <a:srgbClr val="21242A"/>
                          </a:solidFill>
                          <a:latin typeface="Microsoft YaHei"/>
                        </a:rPr>
                        <a:t>bulky disease (OR 2.45, 95% CI 1.33–4.52; P=0.004), Ki67≥80% (OR 0.52, 95% CI 0.29–0.95; P=0.033), WBC≥5×10^9/L (OR 2.2...</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药物/技术：双抗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高比例的肿瘤内tcf1+t细胞预测复发/难治性原发性纵隔大b细胞淋巴瘤的良好免疫治疗反应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proportion of intratumoral tcf1+ t-cells predicts favorable immunotherap...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回顾性临床研究结果：high proportion of intratumoral tcf1+ t-cells predict...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客观缓解率（ORR）：高TCF1+组91.7%，低TCF1+组26.7%</a:t>
            </a:r>
          </a:p>
          <a:p>
            <a:pPr>
              <a:lnSpc>
                <a:spcPct val="103000"/>
              </a:lnSpc>
              <a:spcAft>
                <a:spcPts val="300"/>
              </a:spcAft>
              <a:defRPr sz="800">
                <a:solidFill>
                  <a:srgbClr val="21242A"/>
                </a:solidFill>
                <a:latin typeface="Microsoft YaHei"/>
              </a:defRPr>
            </a:pPr>
            <a:r>
              <a:t>完全缓解率（CR）：高TCF1+组58.3%，低TCF1+组6.7%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人数：27</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研究主题：high proportion of intratumoral tcf1+ t-cells predicts favorable immunotherapy response in relapsed/refractory primary...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高比例的肿瘤内tcf1+t细胞预测复发/难治性原发性纵隔大b细胞淋巴瘤的良好免疫治疗反应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proportion of intratumoral tcf1+ t-cells predicts favorable immunotherap...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Mediastinal Large B-cell Lymphoma (PMBCL) is an aggressive B-cell lymphoma predominantly affecting young adults.</a:t>
            </a:r>
          </a:p>
          <a:p>
            <a:pPr>
              <a:lnSpc>
                <a:spcPct val="103000"/>
              </a:lnSpc>
              <a:spcAft>
                <a:spcPts val="300"/>
              </a:spcAft>
              <a:defRPr sz="570">
                <a:solidFill>
                  <a:srgbClr val="21242A"/>
                </a:solidFill>
                <a:latin typeface="Microsoft YaHei"/>
              </a:defRPr>
            </a:pPr>
            <a:r>
              <a:t>While frontline chemoimmunotherapy achieves favorable outcomes, patients with relapsed/refractory (R/R) disease face poor prognosis.</a:t>
            </a:r>
          </a:p>
          <a:p>
            <a:pPr>
              <a:lnSpc>
                <a:spcPct val="103000"/>
              </a:lnSpc>
              <a:spcAft>
                <a:spcPts val="300"/>
              </a:spcAft>
              <a:defRPr sz="570">
                <a:solidFill>
                  <a:srgbClr val="21242A"/>
                </a:solidFill>
                <a:latin typeface="Microsoft YaHei"/>
              </a:defRPr>
            </a:pPr>
            <a:r>
              <a:t>Immunotherapy, such as PD-1 inhibitors, has demonstrated clinical activity, but response rates remain heterogeneous.</a:t>
            </a:r>
          </a:p>
          <a:p>
            <a:pPr>
              <a:lnSpc>
                <a:spcPct val="103000"/>
              </a:lnSpc>
              <a:spcAft>
                <a:spcPts val="300"/>
              </a:spcAft>
              <a:defRPr sz="570">
                <a:solidFill>
                  <a:srgbClr val="21242A"/>
                </a:solidFill>
                <a:latin typeface="Microsoft YaHei"/>
              </a:defRPr>
            </a:pPr>
            <a:r>
              <a:t>Recent studies have identified TCF1+ progenitor exhausted T-cells within the tumor microenvironment (TME) as a critical determinant of immunotherapy efficacy in</a:t>
            </a:r>
          </a:p>
          <a:p>
            <a:pPr>
              <a:lnSpc>
                <a:spcPct val="103000"/>
              </a:lnSpc>
              <a:spcAft>
                <a:spcPts val="300"/>
              </a:spcAft>
              <a:defRPr sz="570">
                <a:solidFill>
                  <a:srgbClr val="21242A"/>
                </a:solidFill>
                <a:latin typeface="Microsoft YaHei"/>
              </a:defRPr>
            </a:pPr>
            <a:r>
              <a:t> various malignancies.</a:t>
            </a:r>
          </a:p>
          <a:p>
            <a:pPr>
              <a:lnSpc>
                <a:spcPct val="103000"/>
              </a:lnSpc>
              <a:spcAft>
                <a:spcPts val="300"/>
              </a:spcAft>
              <a:defRPr sz="570">
                <a:solidFill>
                  <a:srgbClr val="21242A"/>
                </a:solidFill>
                <a:latin typeface="Microsoft YaHei"/>
              </a:defRPr>
            </a:pPr>
            <a:r>
              <a:t>These TCF1+ T-cells possess stem-like properties and self-renewal capacity, enabling sustained anti-tumor responses upon immune checkpoint blockade.</a:t>
            </a:r>
          </a:p>
          <a:p>
            <a:pPr>
              <a:lnSpc>
                <a:spcPct val="103000"/>
              </a:lnSpc>
              <a:spcAft>
                <a:spcPts val="300"/>
              </a:spcAft>
              <a:defRPr sz="570">
                <a:solidFill>
                  <a:srgbClr val="21242A"/>
                </a:solidFill>
                <a:latin typeface="Microsoft YaHei"/>
              </a:defRPr>
            </a:pPr>
            <a:r>
              <a:t>However, their predictive value in R/R PMBCL remains poorly characterized.</a:t>
            </a:r>
          </a:p>
          <a:p>
            <a:pPr>
              <a:lnSpc>
                <a:spcPct val="103000"/>
              </a:lnSpc>
              <a:spcAft>
                <a:spcPts val="300"/>
              </a:spcAft>
              <a:defRPr sz="570">
                <a:solidFill>
                  <a:srgbClr val="21242A"/>
                </a:solidFill>
                <a:latin typeface="Microsoft YaHei"/>
              </a:defRPr>
            </a:pPr>
            <a:r>
              <a:t>Aims: This study aimed to investigate the association between the proportion of intratumoral TCF1+ T-lymphocytes and clinical outcomes in patients with R/R PMBC</a:t>
            </a:r>
          </a:p>
          <a:p>
            <a:pPr>
              <a:lnSpc>
                <a:spcPct val="103000"/>
              </a:lnSpc>
              <a:spcAft>
                <a:spcPts val="300"/>
              </a:spcAft>
              <a:defRPr sz="570">
                <a:solidFill>
                  <a:srgbClr val="21242A"/>
                </a:solidFill>
                <a:latin typeface="Microsoft YaHei"/>
              </a:defRPr>
            </a:pPr>
            <a:r>
              <a:t>L receiving immunotherapy.</a:t>
            </a:r>
          </a:p>
          <a:p>
            <a:pPr>
              <a:lnSpc>
                <a:spcPct val="103000"/>
              </a:lnSpc>
              <a:spcAft>
                <a:spcPts val="300"/>
              </a:spcAft>
              <a:defRPr sz="570">
                <a:solidFill>
                  <a:srgbClr val="21242A"/>
                </a:solidFill>
                <a:latin typeface="Microsoft YaHei"/>
              </a:defRPr>
            </a:pPr>
            <a:r>
              <a:t>Methods: We analyzed 27 patients with R/R PMBCL who received immunotherapy as second-line therapy (anti-PD-1 monotherapy or PD1 plus chemotherapy).</a:t>
            </a:r>
          </a:p>
          <a:p>
            <a:pPr>
              <a:lnSpc>
                <a:spcPct val="103000"/>
              </a:lnSpc>
              <a:spcAft>
                <a:spcPts val="300"/>
              </a:spcAft>
              <a:defRPr sz="570">
                <a:solidFill>
                  <a:srgbClr val="21242A"/>
                </a:solidFill>
                <a:latin typeface="Microsoft YaHei"/>
              </a:defRPr>
            </a:pPr>
            <a:r>
              <a:t>Patients were stratified based on the proportion of TCF1+ cells among CD8+ tumor-infiltrating lymphocytes (TILs) assessed by immunohistochemistry: high TCF1+ gr</a:t>
            </a:r>
          </a:p>
          <a:p>
            <a:pPr>
              <a:lnSpc>
                <a:spcPct val="103000"/>
              </a:lnSpc>
              <a:spcAft>
                <a:spcPts val="300"/>
              </a:spcAft>
              <a:defRPr sz="570">
                <a:solidFill>
                  <a:srgbClr val="21242A"/>
                </a:solidFill>
                <a:latin typeface="Microsoft YaHei"/>
              </a:defRPr>
            </a:pPr>
            <a:r>
              <a:t>oup (n=12, TCF1+ ≥25%) and normal/low TCF1+ group (n=15, TCF1+</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 high proportion of intratumoral TCF1+ T-lymphocytes is strongly associated with superior response rates and significantly prolonged survival in patients with </a:t>
            </a:r>
          </a:p>
          <a:p>
            <a:pPr>
              <a:lnSpc>
                <a:spcPct val="103000"/>
              </a:lnSpc>
              <a:spcAft>
                <a:spcPts val="300"/>
              </a:spcAft>
              <a:defRPr sz="590">
                <a:solidFill>
                  <a:srgbClr val="21242A"/>
                </a:solidFill>
                <a:latin typeface="Microsoft YaHei"/>
              </a:defRPr>
            </a:pPr>
            <a:r>
              <a:t>R/R PMBCL treated with immunotherapy.</a:t>
            </a:r>
          </a:p>
          <a:p>
            <a:pPr>
              <a:lnSpc>
                <a:spcPct val="103000"/>
              </a:lnSpc>
              <a:spcAft>
                <a:spcPts val="300"/>
              </a:spcAft>
              <a:defRPr sz="590">
                <a:solidFill>
                  <a:srgbClr val="21242A"/>
                </a:solidFill>
                <a:latin typeface="Microsoft YaHei"/>
              </a:defRPr>
            </a:pPr>
            <a:r>
              <a:t>These findings support the integration of TCF1+ T-cell assessment into clinical decision-making and may facilitate the development of personalized treatment str</a:t>
            </a:r>
          </a:p>
          <a:p>
            <a:pPr>
              <a:lnSpc>
                <a:spcPct val="103000"/>
              </a:lnSpc>
              <a:spcAft>
                <a:spcPts val="300"/>
              </a:spcAft>
              <a:defRPr sz="590">
                <a:solidFill>
                  <a:srgbClr val="21242A"/>
                </a:solidFill>
                <a:latin typeface="Microsoft YaHei"/>
              </a:defRPr>
            </a:pPr>
            <a:r>
              <a:t>ategies in R/R PMBCL.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Baseline characteristics were balanced between groups, including median age (30 vs 31 years) and gender distribution (50% vs 47% female).</a:t>
            </a:r>
          </a:p>
          <a:p>
            <a:pPr>
              <a:lnSpc>
                <a:spcPct val="103000"/>
              </a:lnSpc>
              <a:spcAft>
                <a:spcPts val="300"/>
              </a:spcAft>
              <a:defRPr sz="580">
                <a:solidFill>
                  <a:srgbClr val="21242A"/>
                </a:solidFill>
                <a:latin typeface="Microsoft YaHei"/>
              </a:defRPr>
            </a:pPr>
            <a:r>
              <a:t>The mean proportion of TCF1+ T-cells was 39.4% ± 5.9% in the high group versus 11.0% ± 4.6% in the normal/low group.</a:t>
            </a:r>
          </a:p>
          <a:p>
            <a:pPr>
              <a:lnSpc>
                <a:spcPct val="103000"/>
              </a:lnSpc>
              <a:spcAft>
                <a:spcPts val="300"/>
              </a:spcAft>
              <a:defRPr sz="580">
                <a:solidFill>
                  <a:srgbClr val="21242A"/>
                </a:solidFill>
                <a:latin typeface="Microsoft YaHei"/>
              </a:defRPr>
            </a:pPr>
            <a:r>
              <a:t>CD8+ TIL density was significantly higher in the high TCF1+ group (1177 ± 262 vs 704 ± 193 cells/mm², p</a:t>
            </a:r>
          </a:p>
          <a:p>
            <a:pPr>
              <a:lnSpc>
                <a:spcPct val="103000"/>
              </a:lnSpc>
              <a:spcAft>
                <a:spcPts val="300"/>
              </a:spcAft>
              <a:defRPr sz="580">
                <a:solidFill>
                  <a:srgbClr val="21242A"/>
                </a:solidFill>
                <a:latin typeface="Microsoft YaHei"/>
              </a:defRPr>
            </a:pPr>
            <a:r>
              <a:t>Conclusion: A high proportion of intratumoral TCF1+ T-lymphocytes is strongly associated with superior response rates and significantly prolonged survival </a:t>
            </a:r>
          </a:p>
          <a:p>
            <a:pPr>
              <a:lnSpc>
                <a:spcPct val="103000"/>
              </a:lnSpc>
              <a:spcAft>
                <a:spcPts val="300"/>
              </a:spcAft>
              <a:defRPr sz="580">
                <a:solidFill>
                  <a:srgbClr val="21242A"/>
                </a:solidFill>
                <a:latin typeface="Microsoft YaHei"/>
              </a:defRPr>
            </a:pPr>
            <a:r>
              <a:t>in patients with R/R PMBCL treated with immunotherapy.</a:t>
            </a:r>
          </a:p>
          <a:p>
            <a:pPr>
              <a:lnSpc>
                <a:spcPct val="103000"/>
              </a:lnSpc>
              <a:spcAft>
                <a:spcPts val="300"/>
              </a:spcAft>
              <a:defRPr sz="580">
                <a:solidFill>
                  <a:srgbClr val="21242A"/>
                </a:solidFill>
                <a:latin typeface="Microsoft YaHei"/>
              </a:defRPr>
            </a:pPr>
            <a:r>
              <a:t>These findings support the integration of TCF1+ T-cell assessment into clinical decision-making and may facilitate the development of personalized treatmen</a:t>
            </a:r>
          </a:p>
          <a:p>
            <a:pPr>
              <a:lnSpc>
                <a:spcPct val="103000"/>
              </a:lnSpc>
              <a:spcAft>
                <a:spcPts val="300"/>
              </a:spcAft>
              <a:defRPr sz="580">
                <a:solidFill>
                  <a:srgbClr val="21242A"/>
                </a:solidFill>
                <a:latin typeface="Microsoft YaHei"/>
              </a:defRPr>
            </a:pPr>
            <a:r>
              <a:t>t strategies in R/R PMBCL.</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摘要号：PS2123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利用日本多中心注册数据研究青少年和年轻人成熟侵袭性b细胞淋巴瘤的临床和生物学特征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and biological characteristics of mature aggressive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伯基特淋巴瘤，原发纵隔大B细胞淋巴瘤，大B细胞淋巴瘤，弥漫性大B细胞淋巴瘤</a:t>
            </a:r>
          </a:p>
          <a:p>
            <a:pPr>
              <a:lnSpc>
                <a:spcPct val="103000"/>
              </a:lnSpc>
              <a:spcAft>
                <a:spcPts val="300"/>
              </a:spcAft>
              <a:defRPr sz="800">
                <a:solidFill>
                  <a:srgbClr val="21242A"/>
                </a:solidFill>
                <a:latin typeface="Microsoft YaHei"/>
              </a:defRPr>
            </a:pPr>
            <a:r>
              <a:t>N=114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回顾性临床研究结果：clinical and biological characteristics of mature agg...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5年总生存率（OS）: DLBCL 87%</a:t>
            </a:r>
          </a:p>
          <a:p>
            <a:pPr>
              <a:lnSpc>
                <a:spcPct val="103000"/>
              </a:lnSpc>
              <a:spcAft>
                <a:spcPts val="300"/>
              </a:spcAft>
              <a:defRPr sz="800">
                <a:solidFill>
                  <a:srgbClr val="21242A"/>
                </a:solidFill>
                <a:latin typeface="Microsoft YaHei"/>
              </a:defRPr>
            </a:pPr>
            <a:r>
              <a:t>5年OS: PMBCL 90%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人数：114</a:t>
            </a:r>
          </a:p>
          <a:p>
            <a:pPr>
              <a:lnSpc>
                <a:spcPct val="103000"/>
              </a:lnSpc>
              <a:spcAft>
                <a:spcPts val="300"/>
              </a:spcAft>
              <a:defRPr sz="810">
                <a:solidFill>
                  <a:srgbClr val="21242A"/>
                </a:solidFill>
                <a:latin typeface="Microsoft YaHei"/>
              </a:defRPr>
            </a:pPr>
            <a:r>
              <a:t>适应症：伯基特淋巴瘤、原发纵隔大B细胞淋巴瘤、大B细胞淋巴瘤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登记号：UMIN000046477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研究主题：clinical and biological characteristics of mature aggressive b-cell lymphoma in adolescents and young adults using mult...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利用日本多中心注册数据研究青少年和年轻人成熟侵袭性b细胞淋巴瘤的临床和生物学特征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and biological characteristics of mature aggressive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Adolescents and young adults (AYA) (ages 16–39) with lymphoma require tailored treatment strategies that address unique molecular pathologies, long-</a:t>
            </a:r>
          </a:p>
          <a:p>
            <a:pPr>
              <a:lnSpc>
                <a:spcPct val="103000"/>
              </a:lnSpc>
              <a:spcAft>
                <a:spcPts val="300"/>
              </a:spcAft>
              <a:defRPr sz="570">
                <a:solidFill>
                  <a:srgbClr val="21242A"/>
                </a:solidFill>
                <a:latin typeface="Microsoft YaHei"/>
              </a:defRPr>
            </a:pPr>
            <a:r>
              <a:t>term complications, and psychosocial factors.</a:t>
            </a:r>
          </a:p>
          <a:p>
            <a:pPr>
              <a:lnSpc>
                <a:spcPct val="103000"/>
              </a:lnSpc>
              <a:spcAft>
                <a:spcPts val="300"/>
              </a:spcAft>
              <a:defRPr sz="570">
                <a:solidFill>
                  <a:srgbClr val="21242A"/>
                </a:solidFill>
                <a:latin typeface="Microsoft YaHei"/>
              </a:defRPr>
            </a:pPr>
            <a:r>
              <a:t>However, due to the low incidence in this age group, comprehensive data regarding the clinical and biological characteristics of AYA aggressive B-cell lymphomas</a:t>
            </a:r>
          </a:p>
          <a:p>
            <a:pPr>
              <a:lnSpc>
                <a:spcPct val="103000"/>
              </a:lnSpc>
              <a:spcAft>
                <a:spcPts val="300"/>
              </a:spcAft>
              <a:defRPr sz="570">
                <a:solidFill>
                  <a:srgbClr val="21242A"/>
                </a:solidFill>
                <a:latin typeface="Microsoft YaHei"/>
              </a:defRPr>
            </a:pPr>
            <a:r>
              <a:t> (BCLs) remain limited.</a:t>
            </a:r>
          </a:p>
          <a:p>
            <a:pPr>
              <a:lnSpc>
                <a:spcPct val="103000"/>
              </a:lnSpc>
              <a:spcAft>
                <a:spcPts val="300"/>
              </a:spcAft>
              <a:defRPr sz="570">
                <a:solidFill>
                  <a:srgbClr val="21242A"/>
                </a:solidFill>
                <a:latin typeface="Microsoft YaHei"/>
              </a:defRPr>
            </a:pPr>
            <a:r>
              <a:t>Aims: To elucidate the clinical, pathological, and molecular landscape of mature aggressive BCLs in the AYA population.</a:t>
            </a:r>
          </a:p>
          <a:p>
            <a:pPr>
              <a:lnSpc>
                <a:spcPct val="103000"/>
              </a:lnSpc>
              <a:spcAft>
                <a:spcPts val="300"/>
              </a:spcAft>
              <a:defRPr sz="570">
                <a:solidFill>
                  <a:srgbClr val="21242A"/>
                </a:solidFill>
                <a:latin typeface="Microsoft YaHei"/>
              </a:defRPr>
            </a:pPr>
            <a:r>
              <a:t>Methods: We studied 119 cases diagnosed with mature aggressive BCL between 2012 and 2020.</a:t>
            </a:r>
          </a:p>
          <a:p>
            <a:pPr>
              <a:lnSpc>
                <a:spcPct val="103000"/>
              </a:lnSpc>
              <a:spcAft>
                <a:spcPts val="300"/>
              </a:spcAft>
              <a:defRPr sz="570">
                <a:solidFill>
                  <a:srgbClr val="21242A"/>
                </a:solidFill>
                <a:latin typeface="Microsoft YaHei"/>
              </a:defRPr>
            </a:pPr>
            <a:r>
              <a:t>Clinical and pathological data were collected from the Japan National Hospital Organization (NHO) registry for AYA patients.</a:t>
            </a:r>
          </a:p>
          <a:p>
            <a:pPr>
              <a:lnSpc>
                <a:spcPct val="103000"/>
              </a:lnSpc>
              <a:spcAft>
                <a:spcPts val="300"/>
              </a:spcAft>
              <a:defRPr sz="570">
                <a:solidFill>
                  <a:srgbClr val="21242A"/>
                </a:solidFill>
                <a:latin typeface="Microsoft YaHei"/>
              </a:defRPr>
            </a:pPr>
            <a:r>
              <a:t>Centralized pathological review was performed.</a:t>
            </a:r>
          </a:p>
          <a:p>
            <a:pPr>
              <a:lnSpc>
                <a:spcPct val="103000"/>
              </a:lnSpc>
              <a:spcAft>
                <a:spcPts val="300"/>
              </a:spcAft>
              <a:defRPr sz="570">
                <a:solidFill>
                  <a:srgbClr val="21242A"/>
                </a:solidFill>
                <a:latin typeface="Microsoft YaHei"/>
              </a:defRPr>
            </a:pPr>
            <a:r>
              <a:t>Formalin-fixed paraffin-embedded (FFPE) specimens were analyzed using immunohistochemistry (IHC), FISH, targeted sequencing (TS), and RNA sequencing (RNA-seq).</a:t>
            </a:r>
          </a:p>
          <a:p>
            <a:pPr>
              <a:lnSpc>
                <a:spcPct val="103000"/>
              </a:lnSpc>
              <a:spcAft>
                <a:spcPts val="300"/>
              </a:spcAft>
              <a:defRPr sz="570">
                <a:solidFill>
                  <a:srgbClr val="21242A"/>
                </a:solidFill>
                <a:latin typeface="Microsoft YaHei"/>
              </a:defRPr>
            </a:pPr>
            <a:r>
              <a:t>This study was approved by the NHO Central Research Ethics Committee and conducted in accordance with the Ethical Guidelines for Life Science and Medical Resear</a:t>
            </a:r>
          </a:p>
          <a:p>
            <a:pPr>
              <a:lnSpc>
                <a:spcPct val="103000"/>
              </a:lnSpc>
              <a:spcAft>
                <a:spcPts val="300"/>
              </a:spcAft>
              <a:defRPr sz="570">
                <a:solidFill>
                  <a:srgbClr val="21242A"/>
                </a:solidFill>
                <a:latin typeface="Microsoft YaHei"/>
              </a:defRPr>
            </a:pPr>
            <a:r>
              <a:t>ch in Japan (UMIN000046477).</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AYA mature aggressive BCLs exhibit significant molecular and histological heterogeneity that may be unique to this age group.</a:t>
            </a:r>
          </a:p>
          <a:p>
            <a:pPr>
              <a:lnSpc>
                <a:spcPct val="103000"/>
              </a:lnSpc>
              <a:spcAft>
                <a:spcPts val="300"/>
              </a:spcAft>
              <a:defRPr sz="590">
                <a:solidFill>
                  <a:srgbClr val="21242A"/>
                </a:solidFill>
                <a:latin typeface="Microsoft YaHei"/>
              </a:defRPr>
            </a:pPr>
            <a:r>
              <a:t>Although the overall prognosis for aggressive BCL in the AYA population is relatively favorable, the identification of high-risk or biologically distinct subset</a:t>
            </a:r>
          </a:p>
          <a:p>
            <a:pPr>
              <a:lnSpc>
                <a:spcPct val="103000"/>
              </a:lnSpc>
              <a:spcAft>
                <a:spcPts val="300"/>
              </a:spcAft>
              <a:defRPr sz="590">
                <a:solidFill>
                  <a:srgbClr val="21242A"/>
                </a:solidFill>
                <a:latin typeface="Microsoft YaHei"/>
              </a:defRPr>
            </a:pPr>
            <a:r>
              <a:t>s through integrated TS, RNA-seq, and histological analysis underscores the potential for more precise treatment stratification in this population.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5年总生存率（OS）</a:t>
                      </a:r>
                    </a:p>
                  </a:txBody>
                  <a:tcPr>
                    <a:solidFill>
                      <a:srgbClr val="F6F8FB"/>
                    </a:solidFill>
                  </a:tcPr>
                </a:tc>
                <a:tc>
                  <a:txBody>
                    <a:bodyPr wrap="square" lIns="36576" rIns="36576" tIns="18288" bIns="18288"/>
                    <a:lstStyle/>
                    <a:p>
                      <a:r>
                        <a:rPr sz="540" b="0">
                          <a:solidFill>
                            <a:srgbClr val="21242A"/>
                          </a:solidFill>
                          <a:latin typeface="Microsoft YaHei"/>
                        </a:rPr>
                        <a:t>DLBCL 87%</a:t>
                      </a:r>
                    </a:p>
                  </a:txBody>
                  <a:tcPr>
                    <a:solidFill>
                      <a:srgbClr val="F6F8FB"/>
                    </a:solidFill>
                  </a:tcPr>
                </a:tc>
              </a:tr>
              <a:tr h="249936">
                <a:tc>
                  <a:txBody>
                    <a:bodyPr wrap="square" lIns="36576" rIns="36576" tIns="18288" bIns="18288"/>
                    <a:lstStyle/>
                    <a:p>
                      <a:r>
                        <a:rPr sz="540" b="1">
                          <a:solidFill>
                            <a:srgbClr val="21242A"/>
                          </a:solidFill>
                          <a:latin typeface="Microsoft YaHei"/>
                        </a:rPr>
                        <a:t>5年OS</a:t>
                      </a:r>
                    </a:p>
                  </a:txBody>
                  <a:tcPr>
                    <a:solidFill>
                      <a:srgbClr val="FFFFFF"/>
                    </a:solidFill>
                  </a:tcPr>
                </a:tc>
                <a:tc>
                  <a:txBody>
                    <a:bodyPr wrap="square" lIns="36576" rIns="36576" tIns="18288" bIns="18288"/>
                    <a:lstStyle/>
                    <a:p>
                      <a:r>
                        <a:rPr sz="540" b="0">
                          <a:solidFill>
                            <a:srgbClr val="21242A"/>
                          </a:solidFill>
                          <a:latin typeface="Microsoft YaHei"/>
                        </a:rPr>
                        <a:t>PMBCL 90%</a:t>
                      </a:r>
                    </a:p>
                  </a:txBody>
                  <a:tcPr>
                    <a:solidFill>
                      <a:srgbClr val="FFFFFF"/>
                    </a:solidFill>
                  </a:tcPr>
                </a:tc>
              </a:tr>
              <a:tr h="249936">
                <a:tc>
                  <a:txBody>
                    <a:bodyPr wrap="square" lIns="36576" rIns="36576" tIns="18288" bIns="18288"/>
                    <a:lstStyle/>
                    <a:p>
                      <a:r>
                        <a:rPr sz="540" b="1">
                          <a:solidFill>
                            <a:srgbClr val="21242A"/>
                          </a:solidFill>
                          <a:latin typeface="Microsoft YaHei"/>
                        </a:rPr>
                        <a:t>5年OS</a:t>
                      </a:r>
                    </a:p>
                  </a:txBody>
                  <a:tcPr>
                    <a:solidFill>
                      <a:srgbClr val="F6F8FB"/>
                    </a:solidFill>
                  </a:tcPr>
                </a:tc>
                <a:tc>
                  <a:txBody>
                    <a:bodyPr wrap="square" lIns="36576" rIns="36576" tIns="18288" bIns="18288"/>
                    <a:lstStyle/>
                    <a:p>
                      <a:r>
                        <a:rPr sz="540" b="0">
                          <a:solidFill>
                            <a:srgbClr val="21242A"/>
                          </a:solidFill>
                          <a:latin typeface="Microsoft YaHei"/>
                        </a:rPr>
                        <a:t>BL 55%</a:t>
                      </a:r>
                    </a:p>
                  </a:txBody>
                  <a:tcPr>
                    <a:solidFill>
                      <a:srgbClr val="F6F8FB"/>
                    </a:solidFill>
                  </a:tcPr>
                </a:tc>
              </a:tr>
              <a:tr h="249936">
                <a:tc>
                  <a:txBody>
                    <a:bodyPr wrap="square" lIns="36576" rIns="36576" tIns="18288" bIns="18288"/>
                    <a:lstStyle/>
                    <a:p>
                      <a:r>
                        <a:rPr sz="540" b="1">
                          <a:solidFill>
                            <a:srgbClr val="21242A"/>
                          </a:solidFill>
                          <a:latin typeface="Microsoft YaHei"/>
                        </a:rPr>
                        <a:t>5年OS</a:t>
                      </a:r>
                    </a:p>
                  </a:txBody>
                  <a:tcPr>
                    <a:solidFill>
                      <a:srgbClr val="FFFFFF"/>
                    </a:solidFill>
                  </a:tcPr>
                </a:tc>
                <a:tc>
                  <a:txBody>
                    <a:bodyPr wrap="square" lIns="36576" rIns="36576" tIns="18288" bIns="18288"/>
                    <a:lstStyle/>
                    <a:p>
                      <a:r>
                        <a:rPr sz="540" b="0">
                          <a:solidFill>
                            <a:srgbClr val="21242A"/>
                          </a:solidFill>
                          <a:latin typeface="Microsoft YaHei"/>
                        </a:rPr>
                        <a:t>HGBL 100%</a:t>
                      </a:r>
                    </a:p>
                  </a:txBody>
                  <a:tcPr>
                    <a:solidFill>
                      <a:srgbClr val="FFFFFF"/>
                    </a:solidFill>
                  </a:tcPr>
                </a:tc>
              </a:tr>
              <a:tr h="249936">
                <a:tc>
                  <a:txBody>
                    <a:bodyPr wrap="square" lIns="36576" rIns="36576" tIns="18288" bIns="18288"/>
                    <a:lstStyle/>
                    <a:p>
                      <a:r>
                        <a:rPr sz="540" b="1">
                          <a:solidFill>
                            <a:srgbClr val="21242A"/>
                          </a:solidFill>
                          <a:latin typeface="Microsoft YaHei"/>
                        </a:rPr>
                        <a:t>RNA-seq分组5年OS</a:t>
                      </a:r>
                    </a:p>
                  </a:txBody>
                  <a:tcPr>
                    <a:solidFill>
                      <a:srgbClr val="F6F8FB"/>
                    </a:solidFill>
                  </a:tcPr>
                </a:tc>
                <a:tc>
                  <a:txBody>
                    <a:bodyPr wrap="square" lIns="36576" rIns="36576" tIns="18288" bIns="18288"/>
                    <a:lstStyle/>
                    <a:p>
                      <a:r>
                        <a:rPr sz="540" b="0">
                          <a:solidFill>
                            <a:srgbClr val="21242A"/>
                          </a:solidFill>
                          <a:latin typeface="Microsoft YaHei"/>
                        </a:rPr>
                        <a:t>Group 1 100%, Group 2 100%, Group 3 50%, Group 4 100%</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摘要号：PS2200</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疾病场景：PMBCL/特殊亚型</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持续几秒钟：第二次cd19 car t细胞输注后的临床结果和反应预测因素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going for seconds: clinical outcomes and response predictors following second...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B细胞急性淋巴细胞白血病，弥漫性大B细胞淋巴瘤，滤泡性淋巴瘤</a:t>
            </a:r>
          </a:p>
          <a:p>
            <a:pPr>
              <a:lnSpc>
                <a:spcPct val="103000"/>
              </a:lnSpc>
              <a:spcAft>
                <a:spcPts val="300"/>
              </a:spcAft>
              <a:defRPr sz="800">
                <a:solidFill>
                  <a:srgbClr val="21242A"/>
                </a:solidFill>
                <a:latin typeface="Microsoft YaHei"/>
              </a:defRPr>
            </a:pPr>
            <a:r>
              <a:t>N=12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最佳总体缓解率（ORR）：91%（完全缓解58%，部分缓解33%）</a:t>
            </a:r>
          </a:p>
          <a:p>
            <a:pPr>
              <a:lnSpc>
                <a:spcPct val="103000"/>
              </a:lnSpc>
              <a:spcAft>
                <a:spcPts val="300"/>
              </a:spcAft>
              <a:defRPr sz="800">
                <a:solidFill>
                  <a:srgbClr val="21242A"/>
                </a:solidFill>
                <a:latin typeface="Microsoft YaHei"/>
              </a:defRPr>
            </a:pPr>
            <a:r>
              <a:t>中位无进展生存期（PFS）：9.2个月（范围0.9–58.7）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人数：12</a:t>
            </a:r>
          </a:p>
          <a:p>
            <a:pPr>
              <a:lnSpc>
                <a:spcPct val="103000"/>
              </a:lnSpc>
              <a:spcAft>
                <a:spcPts val="300"/>
              </a:spcAft>
              <a:defRPr sz="810">
                <a:solidFill>
                  <a:srgbClr val="21242A"/>
                </a:solidFill>
                <a:latin typeface="Microsoft YaHei"/>
              </a:defRPr>
            </a:pPr>
            <a:r>
              <a:t>适应症：B细胞急性淋巴细胞白血病、弥漫性大B细胞淋巴瘤、滤泡性淋巴瘤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maraleucel、Tisagenlecleucel、zorpocabtagene autoleucel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持续几秒钟：第二次cd19 car t细胞输注后的临床结果和反应预测因素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going for seconds: clinical outcomes and response predictors following second...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CD19-directed CAR T-cell therapy has transformed outcomes in relapsed or refractory B-cell malignancies.</a:t>
            </a:r>
          </a:p>
          <a:p>
            <a:pPr>
              <a:lnSpc>
                <a:spcPct val="103000"/>
              </a:lnSpc>
              <a:spcAft>
                <a:spcPts val="300"/>
              </a:spcAft>
              <a:defRPr sz="570">
                <a:solidFill>
                  <a:srgbClr val="21242A"/>
                </a:solidFill>
                <a:latin typeface="Microsoft YaHei"/>
              </a:defRPr>
            </a:pPr>
            <a:r>
              <a:t>Nevertheless, a substantial proportion of patients relapse after an initial response to CAR T cell therapy (CAR1) and prognosis after progression remains poor.</a:t>
            </a:r>
          </a:p>
          <a:p>
            <a:pPr>
              <a:lnSpc>
                <a:spcPct val="103000"/>
              </a:lnSpc>
              <a:spcAft>
                <a:spcPts val="300"/>
              </a:spcAft>
              <a:defRPr sz="570">
                <a:solidFill>
                  <a:srgbClr val="21242A"/>
                </a:solidFill>
                <a:latin typeface="Microsoft YaHei"/>
              </a:defRPr>
            </a:pPr>
            <a:r>
              <a:t>In selected patients with late relapse, reinfusion of a cryopreserved second bag of the identical CAR-T product (CAR2) has been employed as a salvage strategy.</a:t>
            </a:r>
          </a:p>
          <a:p>
            <a:pPr>
              <a:lnSpc>
                <a:spcPct val="103000"/>
              </a:lnSpc>
              <a:spcAft>
                <a:spcPts val="300"/>
              </a:spcAft>
              <a:defRPr sz="570">
                <a:solidFill>
                  <a:srgbClr val="21242A"/>
                </a:solidFill>
                <a:latin typeface="Microsoft YaHei"/>
              </a:defRPr>
            </a:pPr>
            <a:r>
              <a:t>This approach allows interrogation of disease- and host-intrinsic determinants of restored sensitivity to the same CART product.</a:t>
            </a:r>
          </a:p>
          <a:p>
            <a:pPr>
              <a:lnSpc>
                <a:spcPct val="103000"/>
              </a:lnSpc>
              <a:spcAft>
                <a:spcPts val="300"/>
              </a:spcAft>
              <a:defRPr sz="570">
                <a:solidFill>
                  <a:srgbClr val="21242A"/>
                </a:solidFill>
                <a:latin typeface="Microsoft YaHei"/>
              </a:defRPr>
            </a:pPr>
            <a:r>
              <a:t>However, clinical experience remains limited, and the biological factors underlying differential outcomes after CAR2 are poorly understood.</a:t>
            </a:r>
          </a:p>
          <a:p>
            <a:pPr>
              <a:lnSpc>
                <a:spcPct val="103000"/>
              </a:lnSpc>
              <a:spcAft>
                <a:spcPts val="300"/>
              </a:spcAft>
              <a:defRPr sz="570">
                <a:solidFill>
                  <a:srgbClr val="21242A"/>
                </a:solidFill>
                <a:latin typeface="Microsoft YaHei"/>
              </a:defRPr>
            </a:pPr>
            <a:r>
              <a:t>Aims: We sought to identify determinants of restored therapeutic sensitivity to CAR2 by contrasting durable responders with patients experiencing repeat relapse</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Methods: We performed a multicenter retrospective observational cohort study of adults with B-cell malignancies relapsing after CAR1 who received CAR2 infusion.</a:t>
            </a:r>
          </a:p>
          <a:p>
            <a:pPr>
              <a:lnSpc>
                <a:spcPct val="103000"/>
              </a:lnSpc>
              <a:spcAft>
                <a:spcPts val="300"/>
              </a:spcAft>
              <a:defRPr sz="570">
                <a:solidFill>
                  <a:srgbClr val="21242A"/>
                </a:solidFill>
                <a:latin typeface="Microsoft YaHei"/>
              </a:defRPr>
            </a:pPr>
            <a:r>
              <a:t>12 patients were included (DLBCL n=7, FL n=1, B-ALL n=4) treated with axi-cel (n=6), tisa-cel (n=2), liso-cel (n=1) or MB-CART19.1 (n=3).</a:t>
            </a:r>
          </a:p>
          <a:p>
            <a:pPr>
              <a:lnSpc>
                <a:spcPct val="103000"/>
              </a:lnSpc>
              <a:spcAft>
                <a:spcPts val="300"/>
              </a:spcAft>
              <a:defRPr sz="570">
                <a:solidFill>
                  <a:srgbClr val="21242A"/>
                </a:solidFill>
                <a:latin typeface="Microsoft YaHei"/>
              </a:defRPr>
            </a:pPr>
            <a:r>
              <a:t>10 of 12 patients received a back-up bag (2nd bag) of the leukapheresis product collected prior to CAR1.</a:t>
            </a:r>
          </a:p>
          <a:p>
            <a:pPr>
              <a:lnSpc>
                <a:spcPct val="103000"/>
              </a:lnSpc>
              <a:spcAft>
                <a:spcPts val="300"/>
              </a:spcAft>
              <a:defRPr sz="570">
                <a:solidFill>
                  <a:srgbClr val="21242A"/>
                </a:solidFill>
                <a:latin typeface="Microsoft YaHei"/>
              </a:defRPr>
            </a:pPr>
            <a:r>
              <a:t>The remaining two patients underwent another round of leukapheresis after CAR1.</a:t>
            </a:r>
          </a:p>
          <a:p>
            <a:pPr>
              <a:lnSpc>
                <a:spcPct val="103000"/>
              </a:lnSpc>
              <a:spcAft>
                <a:spcPts val="300"/>
              </a:spcAft>
              <a:defRPr sz="570">
                <a:solidFill>
                  <a:srgbClr val="21242A"/>
                </a:solidFill>
                <a:latin typeface="Microsoft YaHei"/>
              </a:defRPr>
            </a:pPr>
            <a:r>
              <a:t>Variables captured for both infusions included toxicity profiles, best response according to Lugano criteria as well as PFS and OS.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In this real-world cohort, CAR2 appears to be a feasible salvage strategy in selected patients.</a:t>
            </a:r>
          </a:p>
          <a:p>
            <a:pPr>
              <a:lnSpc>
                <a:spcPct val="103000"/>
              </a:lnSpc>
              <a:spcAft>
                <a:spcPts val="300"/>
              </a:spcAft>
              <a:defRPr sz="590">
                <a:solidFill>
                  <a:srgbClr val="21242A"/>
                </a:solidFill>
                <a:latin typeface="Microsoft YaHei"/>
              </a:defRPr>
            </a:pPr>
            <a:r>
              <a:t>Late CAR1 relapse and better response to CAR1 emerge as predictors of response to CAR2.</a:t>
            </a:r>
          </a:p>
          <a:p>
            <a:pPr>
              <a:lnSpc>
                <a:spcPct val="103000"/>
              </a:lnSpc>
              <a:spcAft>
                <a:spcPts val="300"/>
              </a:spcAft>
              <a:defRPr sz="590">
                <a:solidFill>
                  <a:srgbClr val="21242A"/>
                </a:solidFill>
                <a:latin typeface="Microsoft YaHei"/>
              </a:defRPr>
            </a:pPr>
            <a:r>
              <a:t>In addition, differences in LDH levels at CAR2 reinfusion are observed between responders vs non-responders while toxicity severity diminished between CAR1 and </a:t>
            </a:r>
          </a:p>
          <a:p>
            <a:pPr>
              <a:lnSpc>
                <a:spcPct val="103000"/>
              </a:lnSpc>
              <a:spcAft>
                <a:spcPts val="300"/>
              </a:spcAft>
              <a:defRPr sz="590">
                <a:solidFill>
                  <a:srgbClr val="21242A"/>
                </a:solidFill>
                <a:latin typeface="Microsoft YaHei"/>
              </a:defRPr>
            </a:pPr>
            <a:r>
              <a:t>CAR2 within the same patient.</a:t>
            </a:r>
          </a:p>
          <a:p>
            <a:pPr>
              <a:lnSpc>
                <a:spcPct val="103000"/>
              </a:lnSpc>
              <a:spcAft>
                <a:spcPts val="300"/>
              </a:spcAft>
              <a:defRPr sz="590">
                <a:solidFill>
                  <a:srgbClr val="21242A"/>
                </a:solidFill>
                <a:latin typeface="Microsoft YaHei"/>
              </a:defRPr>
            </a:pPr>
            <a:r>
              <a:t>Further analyses investigating biological mechanisms underlying these associations are ongoing and will be presented.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最佳总体缓解率（ORR）</a:t>
                      </a:r>
                    </a:p>
                  </a:txBody>
                  <a:tcPr>
                    <a:solidFill>
                      <a:srgbClr val="F6F8FB"/>
                    </a:solidFill>
                  </a:tcPr>
                </a:tc>
                <a:tc>
                  <a:txBody>
                    <a:bodyPr wrap="square" lIns="36576" rIns="36576" tIns="18288" bIns="18288"/>
                    <a:lstStyle/>
                    <a:p>
                      <a:r>
                        <a:rPr sz="540" b="0">
                          <a:solidFill>
                            <a:srgbClr val="21242A"/>
                          </a:solidFill>
                          <a:latin typeface="Microsoft YaHei"/>
                        </a:rPr>
                        <a:t>91%（完全缓解58%，部分缓解33%）</a:t>
                      </a:r>
                    </a:p>
                  </a:txBody>
                  <a:tcPr>
                    <a:solidFill>
                      <a:srgbClr val="F6F8FB"/>
                    </a:solidFill>
                  </a:tcPr>
                </a:tc>
              </a:tr>
              <a:tr h="299923">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9.2个月（范围0.9–58.7）</a:t>
                      </a:r>
                    </a:p>
                  </a:txBody>
                  <a:tcPr>
                    <a:solidFill>
                      <a:srgbClr val="FFFFFF"/>
                    </a:solidFill>
                  </a:tcPr>
                </a:tc>
              </a:tr>
              <a:tr h="299923">
                <a:tc>
                  <a:txBody>
                    <a:bodyPr wrap="square" lIns="36576" rIns="36576" tIns="18288" bIns="18288"/>
                    <a:lstStyle/>
                    <a:p>
                      <a:r>
                        <a:rPr sz="540" b="1">
                          <a:solidFill>
                            <a:srgbClr val="21242A"/>
                          </a:solidFill>
                          <a:latin typeface="Microsoft YaHei"/>
                        </a:rPr>
                        <a:t>中位随访时间</a:t>
                      </a:r>
                    </a:p>
                  </a:txBody>
                  <a:tcPr>
                    <a:solidFill>
                      <a:srgbClr val="F6F8FB"/>
                    </a:solidFill>
                  </a:tcPr>
                </a:tc>
                <a:tc>
                  <a:txBody>
                    <a:bodyPr wrap="square" lIns="36576" rIns="36576" tIns="18288" bIns="18288"/>
                    <a:lstStyle/>
                    <a:p>
                      <a:r>
                        <a:rPr sz="540" b="0">
                          <a:solidFill>
                            <a:srgbClr val="21242A"/>
                          </a:solidFill>
                          <a:latin typeface="Microsoft YaHei"/>
                        </a:rPr>
                        <a:t>11.9个月（范围0.9–58.7）</a:t>
                      </a:r>
                    </a:p>
                  </a:txBody>
                  <a:tcPr>
                    <a:solidFill>
                      <a:srgbClr val="F6F8FB"/>
                    </a:solidFill>
                  </a:tcPr>
                </a:tc>
              </a:tr>
              <a:tr h="299924">
                <a:tc>
                  <a:txBody>
                    <a:bodyPr wrap="square" lIns="36576" rIns="36576" tIns="18288" bIns="18288"/>
                    <a:lstStyle/>
                    <a:p>
                      <a:r>
                        <a:rPr sz="540" b="1">
                          <a:solidFill>
                            <a:srgbClr val="21242A"/>
                          </a:solidFill>
                          <a:latin typeface="Microsoft YaHei"/>
                        </a:rPr>
                        <a:t>死亡人数</a:t>
                      </a:r>
                    </a:p>
                  </a:txBody>
                  <a:tcPr>
                    <a:solidFill>
                      <a:srgbClr val="FFFFFF"/>
                    </a:solidFill>
                  </a:tcPr>
                </a:tc>
                <a:tc>
                  <a:txBody>
                    <a:bodyPr wrap="square" lIns="36576" rIns="36576" tIns="18288" bIns="18288"/>
                    <a:lstStyle/>
                    <a:p>
                      <a:r>
                        <a:rPr sz="540" b="0">
                          <a:solidFill>
                            <a:srgbClr val="21242A"/>
                          </a:solidFill>
                          <a:latin typeface="Microsoft YaHei"/>
                        </a:rPr>
                        <a:t>7例，其中5例因复发/进展</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摘要号：PF1257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基线中性粒细胞与淋巴细胞比值（nlr）对双特异性抗体治疗后淋巴瘤患者生存结果的影响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baseline neutrophil-to-lymphocyte ratio (nlr) on survival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弥漫性大B细胞淋巴瘤，滤泡性淋巴瘤</a:t>
            </a:r>
          </a:p>
          <a:p>
            <a:pPr>
              <a:lnSpc>
                <a:spcPct val="103000"/>
              </a:lnSpc>
              <a:spcAft>
                <a:spcPts val="300"/>
              </a:spcAft>
              <a:defRPr sz="800">
                <a:solidFill>
                  <a:srgbClr val="21242A"/>
                </a:solidFill>
                <a:latin typeface="Microsoft YaHei"/>
              </a:defRPr>
            </a:pPr>
            <a:r>
              <a:t>N=494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中位无进展生存期（PFS）：总体6.2个月</a:t>
            </a:r>
          </a:p>
          <a:p>
            <a:pPr>
              <a:lnSpc>
                <a:spcPct val="103000"/>
              </a:lnSpc>
              <a:spcAft>
                <a:spcPts val="300"/>
              </a:spcAft>
              <a:defRPr sz="800">
                <a:solidFill>
                  <a:srgbClr val="21242A"/>
                </a:solidFill>
                <a:latin typeface="Microsoft YaHei"/>
              </a:defRPr>
            </a:pPr>
            <a:r>
              <a:t>高NLR组（&gt;5.0）3.8个月 vs 低NLR组12.1个月，HR=1.45（95%CI 1.1-1.8，p&lt;0.01）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人数：494</a:t>
            </a:r>
          </a:p>
          <a:p>
            <a:pPr>
              <a:lnSpc>
                <a:spcPct val="103000"/>
              </a:lnSpc>
              <a:spcAft>
                <a:spcPts val="300"/>
              </a:spcAft>
              <a:defRPr sz="810">
                <a:solidFill>
                  <a:srgbClr val="21242A"/>
                </a:solidFill>
                <a:latin typeface="Microsoft YaHei"/>
              </a:defRPr>
            </a:pPr>
            <a:r>
              <a:t>适应症：弥漫性大B细胞淋巴瘤、滤泡性淋巴瘤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试验药/方案：艾可瑞妥单抗、格菲妥单抗、莫妥珠单抗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基线中性粒细胞与淋巴细胞比值（nlr）对双特异性抗体治疗后淋巴瘤患者生存结果的影响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baseline neutrophil-to-lymphocyte ratio (nlr) on survival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Bispecific antibodies (BsAbs) approved for relapsed/refractory (R/R) follicular lymphoma (FL) and diffuse large B-cell lymphomas (DLBCL) harness T-c</a:t>
            </a:r>
          </a:p>
          <a:p>
            <a:pPr>
              <a:lnSpc>
                <a:spcPct val="103000"/>
              </a:lnSpc>
              <a:spcAft>
                <a:spcPts val="300"/>
              </a:spcAft>
              <a:defRPr sz="570">
                <a:solidFill>
                  <a:srgbClr val="21242A"/>
                </a:solidFill>
                <a:latin typeface="Microsoft YaHei"/>
              </a:defRPr>
            </a:pPr>
            <a:r>
              <a:t>ells to mediate anti-tumor activity.</a:t>
            </a:r>
          </a:p>
          <a:p>
            <a:pPr>
              <a:lnSpc>
                <a:spcPct val="103000"/>
              </a:lnSpc>
              <a:spcAft>
                <a:spcPts val="300"/>
              </a:spcAft>
              <a:defRPr sz="570">
                <a:solidFill>
                  <a:srgbClr val="21242A"/>
                </a:solidFill>
                <a:latin typeface="Microsoft YaHei"/>
              </a:defRPr>
            </a:pPr>
            <a:r>
              <a:t>T-cell fitness and the immunosuppressive tumor microenvironment may influence treatment response and outcomes.</a:t>
            </a:r>
          </a:p>
          <a:p>
            <a:pPr>
              <a:lnSpc>
                <a:spcPct val="103000"/>
              </a:lnSpc>
              <a:spcAft>
                <a:spcPts val="300"/>
              </a:spcAft>
              <a:defRPr sz="570">
                <a:solidFill>
                  <a:srgbClr val="21242A"/>
                </a:solidFill>
                <a:latin typeface="Microsoft YaHei"/>
              </a:defRPr>
            </a:pPr>
            <a:r>
              <a:t>The NLR is a readily available biomarker that correlates with inflammation and immune suppression by myeloid cells.</a:t>
            </a:r>
          </a:p>
          <a:p>
            <a:pPr>
              <a:lnSpc>
                <a:spcPct val="103000"/>
              </a:lnSpc>
              <a:spcAft>
                <a:spcPts val="300"/>
              </a:spcAft>
              <a:defRPr sz="570">
                <a:solidFill>
                  <a:srgbClr val="21242A"/>
                </a:solidFill>
                <a:latin typeface="Microsoft YaHei"/>
              </a:defRPr>
            </a:pPr>
            <a:r>
              <a:t>While elevated NLR at diagnosis is associated with inferior outcomes in DLBCL, its prognostic relevance in patients (pts) treated with BsAbs remains unknown.</a:t>
            </a:r>
          </a:p>
          <a:p>
            <a:pPr>
              <a:lnSpc>
                <a:spcPct val="103000"/>
              </a:lnSpc>
              <a:spcAft>
                <a:spcPts val="300"/>
              </a:spcAft>
              <a:defRPr sz="570">
                <a:solidFill>
                  <a:srgbClr val="21242A"/>
                </a:solidFill>
                <a:latin typeface="Microsoft YaHei"/>
              </a:defRPr>
            </a:pPr>
            <a:r>
              <a:t>Aims: We sought to evaluate whether the baseline NLR may be prognostic of BsAb efficacy and aimed to identify NLR thresholds associated with response and surviv</a:t>
            </a:r>
          </a:p>
          <a:p>
            <a:pPr>
              <a:lnSpc>
                <a:spcPct val="103000"/>
              </a:lnSpc>
              <a:spcAft>
                <a:spcPts val="300"/>
              </a:spcAft>
              <a:defRPr sz="570">
                <a:solidFill>
                  <a:srgbClr val="21242A"/>
                </a:solidFill>
                <a:latin typeface="Microsoft YaHei"/>
              </a:defRPr>
            </a:pPr>
            <a:r>
              <a:t>al outcomes.</a:t>
            </a:r>
          </a:p>
          <a:p>
            <a:pPr>
              <a:lnSpc>
                <a:spcPct val="103000"/>
              </a:lnSpc>
              <a:spcAft>
                <a:spcPts val="300"/>
              </a:spcAft>
              <a:defRPr sz="570">
                <a:solidFill>
                  <a:srgbClr val="21242A"/>
                </a:solidFill>
                <a:latin typeface="Microsoft YaHei"/>
              </a:defRPr>
            </a:pPr>
            <a:r>
              <a:t>Methods: We conducted a multicenter retrospective study of adult pts with R/R LBCL who received BsAbs (glofitamab (glofit), epcoritamab (epco) or mosunetuzumab </a:t>
            </a:r>
          </a:p>
          <a:p>
            <a:pPr>
              <a:lnSpc>
                <a:spcPct val="103000"/>
              </a:lnSpc>
              <a:spcAft>
                <a:spcPts val="300"/>
              </a:spcAft>
              <a:defRPr sz="570">
                <a:solidFill>
                  <a:srgbClr val="21242A"/>
                </a:solidFill>
                <a:latin typeface="Microsoft YaHei"/>
              </a:defRPr>
            </a:pPr>
            <a:r>
              <a:t>(mosu)) outside of a clinical trial between 2023 and 2026 at 10 centers in the Collaborative US Bispecifics Consortium (CUBIC).</a:t>
            </a:r>
          </a:p>
          <a:p>
            <a:pPr>
              <a:lnSpc>
                <a:spcPct val="103000"/>
              </a:lnSpc>
              <a:spcAft>
                <a:spcPts val="300"/>
              </a:spcAft>
              <a:defRPr sz="570">
                <a:solidFill>
                  <a:srgbClr val="21242A"/>
                </a:solidFill>
                <a:latin typeface="Microsoft YaHei"/>
              </a:defRPr>
            </a:pPr>
            <a:r>
              <a:t>Efficacy outcomes included overall response rate (ORR), complete response rate (CRR), progression free survival (PFS) and overall survival (OS).</a:t>
            </a:r>
          </a:p>
          <a:p>
            <a:pPr>
              <a:lnSpc>
                <a:spcPct val="103000"/>
              </a:lnSpc>
              <a:spcAft>
                <a:spcPts val="300"/>
              </a:spcAft>
              <a:defRPr sz="570">
                <a:solidFill>
                  <a:srgbClr val="21242A"/>
                </a:solidFill>
                <a:latin typeface="Microsoft YaHei"/>
              </a:defRPr>
            </a:pPr>
            <a:r>
              <a:t>Optimal NLR cutoffs were identified using receiver operating characteristic (ROC) curve analysis for ORR/CRR, and using maximally selected rank statistics for P</a:t>
            </a:r>
          </a:p>
          <a:p>
            <a:pPr>
              <a:lnSpc>
                <a:spcPct val="103000"/>
              </a:lnSpc>
              <a:spcAft>
                <a:spcPts val="300"/>
              </a:spcAft>
              <a:defRPr sz="570">
                <a:solidFill>
                  <a:srgbClr val="21242A"/>
                </a:solidFill>
                <a:latin typeface="Microsoft YaHei"/>
              </a:defRPr>
            </a:pPr>
            <a:r>
              <a:t>FS/OS, with performance assessed by 5-fold cross-validation.</a:t>
            </a:r>
          </a:p>
          <a:p>
            <a:pPr>
              <a:lnSpc>
                <a:spcPct val="103000"/>
              </a:lnSpc>
              <a:spcAft>
                <a:spcPts val="300"/>
              </a:spcAft>
              <a:defRPr sz="570">
                <a:solidFill>
                  <a:srgbClr val="21242A"/>
                </a:solidFill>
                <a:latin typeface="Microsoft YaHei"/>
              </a:defRPr>
            </a:pPr>
            <a:r>
              <a:t>Logistic regression was used to evaluate NLR (modeled continuously and dichotomized) in relation to ORR /CRR, and Cox proportional hazards models were used to a</a:t>
            </a:r>
          </a:p>
          <a:p>
            <a:pPr>
              <a:lnSpc>
                <a:spcPct val="103000"/>
              </a:lnSpc>
              <a:spcAft>
                <a:spcPts val="300"/>
              </a:spcAft>
              <a:defRPr sz="570">
                <a:solidFill>
                  <a:srgbClr val="21242A"/>
                </a:solidFill>
                <a:latin typeface="Microsoft YaHei"/>
              </a:defRPr>
            </a:pPr>
            <a:r>
              <a:t>ssess its association with PFS/OS.</a:t>
            </a:r>
          </a:p>
          <a:p>
            <a:pPr>
              <a:lnSpc>
                <a:spcPct val="103000"/>
              </a:lnSpc>
              <a:spcAft>
                <a:spcPts val="300"/>
              </a:spcAft>
              <a:defRPr sz="570">
                <a:solidFill>
                  <a:srgbClr val="21242A"/>
                </a:solidFill>
                <a:latin typeface="Microsoft YaHei"/>
              </a:defRPr>
            </a:pPr>
            <a:r>
              <a:t>All models were adjusted for baseline clinical and pathological covariates, with statistical significance defined as α = 0.05.</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 high pre-tx NLR (&gt;5.0) is associated with inferior PFS and OS in pts treated with BsAbs, independent of disease subtype or specific agent.</a:t>
            </a:r>
          </a:p>
          <a:p>
            <a:pPr>
              <a:lnSpc>
                <a:spcPct val="103000"/>
              </a:lnSpc>
              <a:spcAft>
                <a:spcPts val="300"/>
              </a:spcAft>
              <a:defRPr sz="590">
                <a:solidFill>
                  <a:srgbClr val="21242A"/>
                </a:solidFill>
                <a:latin typeface="Microsoft YaHei"/>
              </a:defRPr>
            </a:pPr>
            <a:r>
              <a:t>NLR is a readily available prognostic marker of response and survival, unlike more complex assays of T-cell phenotype and function.</a:t>
            </a:r>
          </a:p>
          <a:p>
            <a:pPr>
              <a:lnSpc>
                <a:spcPct val="103000"/>
              </a:lnSpc>
              <a:spcAft>
                <a:spcPts val="300"/>
              </a:spcAft>
              <a:defRPr sz="590">
                <a:solidFill>
                  <a:srgbClr val="21242A"/>
                </a:solidFill>
                <a:latin typeface="Microsoft YaHei"/>
              </a:defRPr>
            </a:pPr>
            <a:r>
              <a:t>Further investigation into the immunobiological mechanisms driving BsAb resistance in non-responders is warranted.</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494 pts were included; 68% (n=338) with LBCL/HGBCL (25% transformed), 19% FL (n=94), 13% other histologies (n=62).</a:t>
            </a:r>
          </a:p>
          <a:p>
            <a:pPr>
              <a:lnSpc>
                <a:spcPct val="103000"/>
              </a:lnSpc>
              <a:spcAft>
                <a:spcPts val="300"/>
              </a:spcAft>
              <a:defRPr sz="580">
                <a:solidFill>
                  <a:srgbClr val="21242A"/>
                </a:solidFill>
                <a:latin typeface="Microsoft YaHei"/>
              </a:defRPr>
            </a:pPr>
            <a:r>
              <a:t>Pts received glofit (41%), epco (35%), or mosu (24%). Prior to BsAb, median age was 69 yrs (range 22-93) and 64% had stage 4 disease.</a:t>
            </a:r>
          </a:p>
          <a:p>
            <a:pPr>
              <a:lnSpc>
                <a:spcPct val="103000"/>
              </a:lnSpc>
              <a:spcAft>
                <a:spcPts val="300"/>
              </a:spcAft>
              <a:defRPr sz="580">
                <a:solidFill>
                  <a:srgbClr val="21242A"/>
                </a:solidFill>
                <a:latin typeface="Microsoft YaHei"/>
              </a:defRPr>
            </a:pPr>
            <a:r>
              <a:t>The median pre-treatment (tx) WBC was 5.4 (range 0.1-205), ANC was 3.5 (range 0-82), ALC was 0.70 (range 0-197), and NLR was 10 (range 0-274).</a:t>
            </a:r>
          </a:p>
          <a:p>
            <a:pPr>
              <a:lnSpc>
                <a:spcPct val="103000"/>
              </a:lnSpc>
              <a:spcAft>
                <a:spcPts val="300"/>
              </a:spcAft>
              <a:defRPr sz="580">
                <a:solidFill>
                  <a:srgbClr val="21242A"/>
                </a:solidFill>
                <a:latin typeface="Microsoft YaHei"/>
              </a:defRPr>
            </a:pPr>
            <a:r>
              <a:t>There was no difference among age, sex, stage, elevated LDH, or prior therapies (CAR-T, auto-SCT, number of prior lines of therapy) among pts with pre-tx h</a:t>
            </a:r>
          </a:p>
          <a:p>
            <a:pPr>
              <a:lnSpc>
                <a:spcPct val="103000"/>
              </a:lnSpc>
              <a:spcAft>
                <a:spcPts val="300"/>
              </a:spcAft>
              <a:defRPr sz="580">
                <a:solidFill>
                  <a:srgbClr val="21242A"/>
                </a:solidFill>
                <a:latin typeface="Microsoft YaHei"/>
              </a:defRPr>
            </a:pPr>
            <a:r>
              <a:t>igh NLR vs low NLR.</a:t>
            </a:r>
          </a:p>
          <a:p>
            <a:pPr>
              <a:lnSpc>
                <a:spcPct val="103000"/>
              </a:lnSpc>
              <a:spcAft>
                <a:spcPts val="300"/>
              </a:spcAft>
              <a:defRPr sz="580">
                <a:solidFill>
                  <a:srgbClr val="21242A"/>
                </a:solidFill>
                <a:latin typeface="Microsoft YaHei"/>
              </a:defRPr>
            </a:pPr>
            <a:r>
              <a:t>Use of BsAb was similar other than lower use of mosu among pts with high NLR vs low NLR (13% vs 31%).</a:t>
            </a:r>
          </a:p>
          <a:p>
            <a:pPr>
              <a:lnSpc>
                <a:spcPct val="103000"/>
              </a:lnSpc>
              <a:spcAft>
                <a:spcPts val="300"/>
              </a:spcAft>
              <a:defRPr sz="580">
                <a:solidFill>
                  <a:srgbClr val="21242A"/>
                </a:solidFill>
                <a:latin typeface="Microsoft YaHei"/>
              </a:defRPr>
            </a:pPr>
            <a:r>
              <a:t>At a median follow up of 13 months, the median PFS and OS among all pts were 6.2 months and 21.5 months, respectively.</a:t>
            </a:r>
          </a:p>
          <a:p>
            <a:pPr>
              <a:lnSpc>
                <a:spcPct val="103000"/>
              </a:lnSpc>
              <a:spcAft>
                <a:spcPts val="300"/>
              </a:spcAft>
              <a:defRPr sz="580">
                <a:solidFill>
                  <a:srgbClr val="21242A"/>
                </a:solidFill>
                <a:latin typeface="Microsoft YaHei"/>
              </a:defRPr>
            </a:pPr>
            <a:r>
              <a:t>The optimal cutoff for a high NLR was determined to be 5.0 for PFS and 5.3 for OS.</a:t>
            </a:r>
          </a:p>
          <a:p>
            <a:pPr>
              <a:lnSpc>
                <a:spcPct val="103000"/>
              </a:lnSpc>
              <a:spcAft>
                <a:spcPts val="300"/>
              </a:spcAft>
              <a:defRPr sz="580">
                <a:solidFill>
                  <a:srgbClr val="21242A"/>
                </a:solidFill>
                <a:latin typeface="Microsoft YaHei"/>
              </a:defRPr>
            </a:pPr>
            <a:r>
              <a:t>For high vs low NLR, the median PFS and OS were 3.8 vs 12.1 months and 8.8 vs 21.5 months, respectively.</a:t>
            </a:r>
          </a:p>
          <a:p>
            <a:pPr>
              <a:lnSpc>
                <a:spcPct val="103000"/>
              </a:lnSpc>
              <a:spcAft>
                <a:spcPts val="300"/>
              </a:spcAft>
              <a:defRPr sz="580">
                <a:solidFill>
                  <a:srgbClr val="21242A"/>
                </a:solidFill>
                <a:latin typeface="Microsoft YaHei"/>
              </a:defRPr>
            </a:pPr>
            <a:r>
              <a:t>After adjusting for baseline clinico-pathological variables, high NLR was independently associated with an inferior PFS (NLR&gt;5.0, HR 1.45, 95% CI 1.1-1.8, </a:t>
            </a:r>
          </a:p>
          <a:p>
            <a:pPr>
              <a:lnSpc>
                <a:spcPct val="103000"/>
              </a:lnSpc>
              <a:spcAft>
                <a:spcPts val="300"/>
              </a:spcAft>
              <a:defRPr sz="580">
                <a:solidFill>
                  <a:srgbClr val="21242A"/>
                </a:solidFill>
                <a:latin typeface="Microsoft YaHei"/>
              </a:defRPr>
            </a:pPr>
            <a:r>
              <a:t>p 5.3, HR 1.4, 95% CI 1.06-2.05, p=0.02) compared to low NLR (Figure 1).</a:t>
            </a:r>
          </a:p>
          <a:p>
            <a:pPr>
              <a:lnSpc>
                <a:spcPct val="103000"/>
              </a:lnSpc>
              <a:spcAft>
                <a:spcPts val="300"/>
              </a:spcAft>
              <a:defRPr sz="580">
                <a:solidFill>
                  <a:srgbClr val="21242A"/>
                </a:solidFill>
                <a:latin typeface="Microsoft YaHei"/>
              </a:defRPr>
            </a:pPr>
            <a:r>
              <a:t>NLR as a continuous variable was also significantly associated with PFS (p=0.02) and OS (p</a:t>
            </a:r>
          </a:p>
          <a:p>
            <a:pPr>
              <a:lnSpc>
                <a:spcPct val="103000"/>
              </a:lnSpc>
              <a:spcAft>
                <a:spcPts val="300"/>
              </a:spcAft>
              <a:defRPr sz="580">
                <a:solidFill>
                  <a:srgbClr val="21242A"/>
                </a:solidFill>
                <a:latin typeface="Microsoft YaHei"/>
              </a:defRPr>
            </a:pPr>
            <a:r>
              <a:t>Conclusion: A high pre-tx NLR (&gt;5.0) is associated with inferior PFS and OS in pts treated with BsAbs, independent of disease subtype or specific agent.</a:t>
            </a:r>
          </a:p>
          <a:p>
            <a:pPr>
              <a:lnSpc>
                <a:spcPct val="103000"/>
              </a:lnSpc>
              <a:spcAft>
                <a:spcPts val="300"/>
              </a:spcAft>
              <a:defRPr sz="580">
                <a:solidFill>
                  <a:srgbClr val="21242A"/>
                </a:solidFill>
                <a:latin typeface="Microsoft YaHei"/>
              </a:defRPr>
            </a:pPr>
            <a:r>
              <a:t>NLR is a readily available prognostic marker of response and survival, unlike more complex assays of T-cell phenotype and function.</a:t>
            </a:r>
          </a:p>
          <a:p>
            <a:pPr>
              <a:lnSpc>
                <a:spcPct val="103000"/>
              </a:lnSpc>
              <a:spcAft>
                <a:spcPts val="300"/>
              </a:spcAft>
              <a:defRPr sz="580">
                <a:solidFill>
                  <a:srgbClr val="21242A"/>
                </a:solidFill>
                <a:latin typeface="Microsoft YaHei"/>
              </a:defRPr>
            </a:pPr>
            <a:r>
              <a:t>Further investigation into the immunobiological mechanisms driving BsAb resistance in non-responders is warranted.</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瑞典一项基于人群的研究：复发/难治性大b细胞淋巴瘤患者接受car-t治疗与自体干细胞移植的感染率以及普通人群的感染率</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infection rates in patients treated with car-t versus autologous stem cell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N=3264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分组：试验组1：CAR-T治疗</a:t>
            </a:r>
          </a:p>
          <a:p>
            <a:pPr>
              <a:lnSpc>
                <a:spcPct val="103000"/>
              </a:lnSpc>
              <a:spcAft>
                <a:spcPts val="300"/>
              </a:spcAft>
              <a:defRPr sz="800">
                <a:solidFill>
                  <a:srgbClr val="21242A"/>
                </a:solidFill>
                <a:latin typeface="Microsoft YaHei"/>
              </a:defRPr>
            </a:pPr>
            <a:r>
              <a:t>对照组1：自体干细胞移植（ASCT）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对照/比较：试验组1：CAR-T治疗</a:t>
            </a:r>
          </a:p>
          <a:p>
            <a:pPr>
              <a:lnSpc>
                <a:spcPct val="103000"/>
              </a:lnSpc>
              <a:spcAft>
                <a:spcPts val="300"/>
              </a:spcAft>
              <a:defRPr sz="800">
                <a:solidFill>
                  <a:srgbClr val="21242A"/>
                </a:solidFill>
                <a:latin typeface="Microsoft YaHei"/>
              </a:defRPr>
            </a:pPr>
            <a:r>
              <a:t>对照组1：自体干细胞移植（ASCT）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总体感染发生率（每人年）：CAR-T组2.96 (2.63-3.32)，ASCT组1.05 (0.96-1.15)，一般人群0...</a:t>
            </a:r>
          </a:p>
          <a:p>
            <a:pPr>
              <a:lnSpc>
                <a:spcPct val="103000"/>
              </a:lnSpc>
              <a:spcAft>
                <a:spcPts val="300"/>
              </a:spcAft>
              <a:defRPr sz="800">
                <a:solidFill>
                  <a:srgbClr val="21242A"/>
                </a:solidFill>
                <a:latin typeface="Microsoft YaHei"/>
              </a:defRPr>
            </a:pPr>
            <a:r>
              <a:t>CAR-T与ASCT的感染发生率比（IRR）：2.52 (95% CI 2.15-2.96)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人数：3264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分组/治疗流程：试验组1：CAR-T治疗、对照组1：自体干细胞移植（ASCT）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瑞典一项基于人群的研究：复发/难治性大b细胞淋巴瘤患者接受car-t治疗与自体干细胞移植的感染率以及普通人群的感染率</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infection rates in patients treated with car-t versus autologous stem cell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Infectious diseases are the leading cause of non-relapse mortality (NRM) in patients with relapsed/refractory large B-cell lymphoma (R/R LBCL) treat</a:t>
            </a:r>
          </a:p>
          <a:p>
            <a:pPr>
              <a:lnSpc>
                <a:spcPct val="103000"/>
              </a:lnSpc>
              <a:spcAft>
                <a:spcPts val="300"/>
              </a:spcAft>
              <a:defRPr sz="570">
                <a:solidFill>
                  <a:srgbClr val="21242A"/>
                </a:solidFill>
                <a:latin typeface="Microsoft YaHei"/>
              </a:defRPr>
            </a:pPr>
            <a:r>
              <a:t>ed with chimeric antigen receptor T-cell (CAR-T) therapy or autologous stem cell transplant (ASCT).</a:t>
            </a:r>
          </a:p>
          <a:p>
            <a:pPr>
              <a:lnSpc>
                <a:spcPct val="103000"/>
              </a:lnSpc>
              <a:spcAft>
                <a:spcPts val="300"/>
              </a:spcAft>
              <a:defRPr sz="570">
                <a:solidFill>
                  <a:srgbClr val="21242A"/>
                </a:solidFill>
                <a:latin typeface="Microsoft YaHei"/>
              </a:defRPr>
            </a:pPr>
            <a:r>
              <a:t>Direct population-based comparisons of infection rates among patients treated in clinical routine and the general population are limited.</a:t>
            </a:r>
          </a:p>
          <a:p>
            <a:pPr>
              <a:lnSpc>
                <a:spcPct val="103000"/>
              </a:lnSpc>
              <a:spcAft>
                <a:spcPts val="300"/>
              </a:spcAft>
              <a:defRPr sz="570">
                <a:solidFill>
                  <a:srgbClr val="21242A"/>
                </a:solidFill>
                <a:latin typeface="Microsoft YaHei"/>
              </a:defRPr>
            </a:pPr>
            <a:r>
              <a:t>Aims: To compare incidence rates of infection in R/R LBCL patients treated with CAR-T versus ASCT, and versus matched comparators from the general population.</a:t>
            </a:r>
          </a:p>
          <a:p>
            <a:pPr>
              <a:lnSpc>
                <a:spcPct val="103000"/>
              </a:lnSpc>
              <a:spcAft>
                <a:spcPts val="300"/>
              </a:spcAft>
              <a:defRPr sz="570">
                <a:solidFill>
                  <a:srgbClr val="21242A"/>
                </a:solidFill>
                <a:latin typeface="Microsoft YaHei"/>
              </a:defRPr>
            </a:pPr>
            <a:r>
              <a:t>Methods: LBCL patients treated with CAR-T or ASCT for between September 2019 – February 2024 were identified through the Swedish Lymphoma register and the Natio</a:t>
            </a:r>
          </a:p>
          <a:p>
            <a:pPr>
              <a:lnSpc>
                <a:spcPct val="103000"/>
              </a:lnSpc>
              <a:spcAft>
                <a:spcPts val="300"/>
              </a:spcAft>
              <a:defRPr sz="570">
                <a:solidFill>
                  <a:srgbClr val="21242A"/>
                </a:solidFill>
                <a:latin typeface="Microsoft YaHei"/>
              </a:defRPr>
            </a:pPr>
            <a:r>
              <a:t>nal Patient Register (NPR).</a:t>
            </a:r>
          </a:p>
          <a:p>
            <a:pPr>
              <a:lnSpc>
                <a:spcPct val="103000"/>
              </a:lnSpc>
              <a:spcAft>
                <a:spcPts val="300"/>
              </a:spcAft>
              <a:defRPr sz="570">
                <a:solidFill>
                  <a:srgbClr val="21242A"/>
                </a:solidFill>
                <a:latin typeface="Microsoft YaHei"/>
              </a:defRPr>
            </a:pPr>
            <a:r>
              <a:t>Patients were matched 1:10 according to birth year, sex and year of CAR-T/ASCT to comparators from the general population.</a:t>
            </a:r>
          </a:p>
          <a:p>
            <a:pPr>
              <a:lnSpc>
                <a:spcPct val="103000"/>
              </a:lnSpc>
              <a:spcAft>
                <a:spcPts val="300"/>
              </a:spcAft>
              <a:defRPr sz="570">
                <a:solidFill>
                  <a:srgbClr val="21242A"/>
                </a:solidFill>
                <a:latin typeface="Microsoft YaHei"/>
              </a:defRPr>
            </a:pPr>
            <a:r>
              <a:t>Infectious disease according to ICD-10 codes from hospital in- and outpatient visits in the NPR or dispensing of an anti-infective medication (excluding standar</a:t>
            </a:r>
          </a:p>
          <a:p>
            <a:pPr>
              <a:lnSpc>
                <a:spcPct val="103000"/>
              </a:lnSpc>
              <a:spcAft>
                <a:spcPts val="300"/>
              </a:spcAft>
              <a:defRPr sz="570">
                <a:solidFill>
                  <a:srgbClr val="21242A"/>
                </a:solidFill>
                <a:latin typeface="Microsoft YaHei"/>
              </a:defRPr>
            </a:pPr>
            <a:r>
              <a:t>d prophylaxis medications) in the National Prescribed Drug Register was counted as an infectious episode.</a:t>
            </a:r>
          </a:p>
          <a:p>
            <a:pPr>
              <a:lnSpc>
                <a:spcPct val="103000"/>
              </a:lnSpc>
              <a:spcAft>
                <a:spcPts val="300"/>
              </a:spcAft>
              <a:defRPr sz="570">
                <a:solidFill>
                  <a:srgbClr val="21242A"/>
                </a:solidFill>
                <a:latin typeface="Microsoft YaHei"/>
              </a:defRPr>
            </a:pPr>
            <a:r>
              <a:t>Follow-up started at CAR-T/ASCT (or matched index date) and ended at death, allogeneic transplantation, treatment switch between CAR-T/ASCT, or administrative c</a:t>
            </a:r>
          </a:p>
          <a:p>
            <a:pPr>
              <a:lnSpc>
                <a:spcPct val="103000"/>
              </a:lnSpc>
              <a:spcAft>
                <a:spcPts val="300"/>
              </a:spcAft>
              <a:defRPr sz="570">
                <a:solidFill>
                  <a:srgbClr val="21242A"/>
                </a:solidFill>
                <a:latin typeface="Microsoft YaHei"/>
              </a:defRPr>
            </a:pPr>
            <a:r>
              <a:t>ensoring (March 1, 2024).</a:t>
            </a:r>
          </a:p>
          <a:p>
            <a:pPr>
              <a:lnSpc>
                <a:spcPct val="103000"/>
              </a:lnSpc>
              <a:spcAft>
                <a:spcPts val="300"/>
              </a:spcAft>
              <a:defRPr sz="570">
                <a:solidFill>
                  <a:srgbClr val="21242A"/>
                </a:solidFill>
                <a:latin typeface="Microsoft YaHei"/>
              </a:defRPr>
            </a:pPr>
            <a:r>
              <a:t>Infection incidence rates (IR) and incidence rate ratios (IRR) were estimated using Poisson regression with log person-time offset and robust standard errors.</a:t>
            </a:r>
          </a:p>
          <a:p>
            <a:pPr>
              <a:lnSpc>
                <a:spcPct val="103000"/>
              </a:lnSpc>
              <a:spcAft>
                <a:spcPts val="300"/>
              </a:spcAft>
              <a:defRPr sz="570">
                <a:solidFill>
                  <a:srgbClr val="21242A"/>
                </a:solidFill>
                <a:latin typeface="Microsoft YaHei"/>
              </a:defRPr>
            </a:pPr>
            <a:r>
              <a:t>Time since treatment was modelled using restricted cubic splines.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R/R LBCL patients treated with CAR-T had several-fold higher infection rates compared with ASCT and the general population.</a:t>
            </a:r>
          </a:p>
          <a:p>
            <a:pPr>
              <a:lnSpc>
                <a:spcPct val="103000"/>
              </a:lnSpc>
              <a:spcAft>
                <a:spcPts val="300"/>
              </a:spcAft>
              <a:defRPr sz="590">
                <a:solidFill>
                  <a:srgbClr val="21242A"/>
                </a:solidFill>
                <a:latin typeface="Microsoft YaHei"/>
              </a:defRPr>
            </a:pPr>
            <a:r>
              <a:t>The higher incidence of infections appeared to persist for at least four years after CAR-T.</a:t>
            </a:r>
          </a:p>
          <a:p>
            <a:pPr>
              <a:lnSpc>
                <a:spcPct val="103000"/>
              </a:lnSpc>
              <a:spcAft>
                <a:spcPts val="300"/>
              </a:spcAft>
              <a:defRPr sz="590">
                <a:solidFill>
                  <a:srgbClr val="21242A"/>
                </a:solidFill>
                <a:latin typeface="Microsoft YaHei"/>
              </a:defRPr>
            </a:pPr>
            <a:r>
              <a:t>A hypothesized mechanism for this prolonged risk of infections in CAR-T patients may be the persistence of functional CAR-T cells and off-target B-cell aplasia </a:t>
            </a:r>
          </a:p>
          <a:p>
            <a:pPr>
              <a:lnSpc>
                <a:spcPct val="103000"/>
              </a:lnSpc>
              <a:spcAft>
                <a:spcPts val="300"/>
              </a:spcAft>
              <a:defRPr sz="590">
                <a:solidFill>
                  <a:srgbClr val="21242A"/>
                </a:solidFill>
                <a:latin typeface="Microsoft YaHei"/>
              </a:defRPr>
            </a:pPr>
            <a:r>
              <a:t>in relapse-free patients.</a:t>
            </a:r>
          </a:p>
          <a:p>
            <a:pPr>
              <a:lnSpc>
                <a:spcPct val="103000"/>
              </a:lnSpc>
              <a:spcAft>
                <a:spcPts val="300"/>
              </a:spcAft>
              <a:defRPr sz="590">
                <a:solidFill>
                  <a:srgbClr val="21242A"/>
                </a:solidFill>
                <a:latin typeface="Microsoft YaHei"/>
              </a:defRPr>
            </a:pPr>
            <a:r>
              <a:t>As expected, the leading cause of NRM in ASCT patients was infections. Contrary to previous studies, there was no mortality from infections after CAR-T.</a:t>
            </a:r>
          </a:p>
          <a:p>
            <a:pPr>
              <a:lnSpc>
                <a:spcPct val="103000"/>
              </a:lnSpc>
              <a:spcAft>
                <a:spcPts val="300"/>
              </a:spcAft>
              <a:defRPr sz="590">
                <a:solidFill>
                  <a:srgbClr val="21242A"/>
                </a:solidFill>
                <a:latin typeface="Microsoft YaHei"/>
              </a:defRPr>
            </a:pPr>
            <a:r>
              <a:t>This may be attributable to an increased use of immunoglobulin treatment or improved management of infectious complications.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总体感染发生率（每人年）</a:t>
                      </a:r>
                    </a:p>
                  </a:txBody>
                  <a:tcPr>
                    <a:solidFill>
                      <a:srgbClr val="F6F8FB"/>
                    </a:solidFill>
                  </a:tcPr>
                </a:tc>
                <a:tc>
                  <a:txBody>
                    <a:bodyPr wrap="square" lIns="36576" rIns="36576" tIns="18288" bIns="18288"/>
                    <a:lstStyle/>
                    <a:p>
                      <a:r>
                        <a:rPr sz="540" b="0">
                          <a:solidFill>
                            <a:srgbClr val="21242A"/>
                          </a:solidFill>
                          <a:latin typeface="Microsoft YaHei"/>
                        </a:rPr>
                        <a:t>CAR-T组2.96 (2.63-3.32)，ASCT组1.05 (0.96-1.15)，一般人群0.28 (0.26-0.29)</a:t>
                      </a:r>
                    </a:p>
                  </a:txBody>
                  <a:tcPr>
                    <a:solidFill>
                      <a:srgbClr val="F6F8FB"/>
                    </a:solidFill>
                  </a:tcPr>
                </a:tc>
              </a:tr>
              <a:tr h="249936">
                <a:tc>
                  <a:txBody>
                    <a:bodyPr wrap="square" lIns="36576" rIns="36576" tIns="18288" bIns="18288"/>
                    <a:lstStyle/>
                    <a:p>
                      <a:r>
                        <a:rPr sz="540" b="1">
                          <a:solidFill>
                            <a:srgbClr val="21242A"/>
                          </a:solidFill>
                          <a:latin typeface="Microsoft YaHei"/>
                        </a:rPr>
                        <a:t>CAR-T与ASCT的感染发生率比（IRR）</a:t>
                      </a:r>
                    </a:p>
                  </a:txBody>
                  <a:tcPr>
                    <a:solidFill>
                      <a:srgbClr val="FFFFFF"/>
                    </a:solidFill>
                  </a:tcPr>
                </a:tc>
                <a:tc>
                  <a:txBody>
                    <a:bodyPr wrap="square" lIns="36576" rIns="36576" tIns="18288" bIns="18288"/>
                    <a:lstStyle/>
                    <a:p>
                      <a:r>
                        <a:rPr sz="540" b="0">
                          <a:solidFill>
                            <a:srgbClr val="21242A"/>
                          </a:solidFill>
                          <a:latin typeface="Microsoft YaHei"/>
                        </a:rPr>
                        <a:t>2.52 (95% CI 2.15-2.96)</a:t>
                      </a:r>
                    </a:p>
                  </a:txBody>
                  <a:tcPr>
                    <a:solidFill>
                      <a:srgbClr val="FFFFFF"/>
                    </a:solidFill>
                  </a:tcPr>
                </a:tc>
              </a:tr>
              <a:tr h="249936">
                <a:tc>
                  <a:txBody>
                    <a:bodyPr wrap="square" lIns="36576" rIns="36576" tIns="18288" bIns="18288"/>
                    <a:lstStyle/>
                    <a:p>
                      <a:r>
                        <a:rPr sz="540" b="1">
                          <a:solidFill>
                            <a:srgbClr val="21242A"/>
                          </a:solidFill>
                          <a:latin typeface="Microsoft YaHei"/>
                        </a:rPr>
                        <a:t>CAR-T与一般人群的IRR</a:t>
                      </a:r>
                    </a:p>
                  </a:txBody>
                  <a:tcPr>
                    <a:solidFill>
                      <a:srgbClr val="F6F8FB"/>
                    </a:solidFill>
                  </a:tcPr>
                </a:tc>
                <a:tc>
                  <a:txBody>
                    <a:bodyPr wrap="square" lIns="36576" rIns="36576" tIns="18288" bIns="18288"/>
                    <a:lstStyle/>
                    <a:p>
                      <a:r>
                        <a:rPr sz="540" b="0">
                          <a:solidFill>
                            <a:srgbClr val="21242A"/>
                          </a:solidFill>
                          <a:latin typeface="Microsoft YaHei"/>
                        </a:rPr>
                        <a:t>9.26 (95% CI 7.96-10.76)</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最常见感染类型均为细菌感染，病毒和真菌感染在CAR-T和ASCT组更常见</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淋巴瘤复发是CAR-T（96%）和ASCT（76%）患者的主要死因；感染是ASCT患者非复发死亡的主要原因（14%），CAR-T患者无感染相关死亡</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摘要号：PS2085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glofitamab联合吉西他滨和奥沙利铂治疗复发/难治性大b细胞淋巴瘤的实际结果：一项欧洲多中心队列研究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glofitamab plus gemcitabine and oxaliplatin in relapse...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吉西他滨</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总缓解率（BOR）61.1%（CR 28.9%，PR 32.2%）</a:t>
            </a:r>
          </a:p>
          <a:p>
            <a:pPr>
              <a:lnSpc>
                <a:spcPct val="103000"/>
              </a:lnSpc>
              <a:spcAft>
                <a:spcPts val="300"/>
              </a:spcAft>
              <a:defRPr sz="800">
                <a:solidFill>
                  <a:srgbClr val="21242A"/>
                </a:solidFill>
                <a:latin typeface="Microsoft YaHei"/>
              </a:defRPr>
            </a:pPr>
            <a:r>
              <a:t>中位无进展生存期（PFS）13.2个月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人数：149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试验药/方案：格菲妥单抗、吉西他滨、奥沙利铂</a:t>
            </a:r>
          </a:p>
          <a:p>
            <a:pPr>
              <a:lnSpc>
                <a:spcPct val="103000"/>
              </a:lnSpc>
              <a:spcAft>
                <a:spcPts val="300"/>
              </a:spcAft>
              <a:defRPr sz="810">
                <a:solidFill>
                  <a:srgbClr val="21242A"/>
                </a:solidFill>
                <a:latin typeface="Microsoft YaHei"/>
              </a:defRPr>
            </a:pPr>
            <a:r>
              <a:t>靶点：CD20、CD3、RNR、DNA</a:t>
            </a:r>
          </a:p>
          <a:p>
            <a:pPr>
              <a:lnSpc>
                <a:spcPct val="103000"/>
              </a:lnSpc>
              <a:spcAft>
                <a:spcPts val="300"/>
              </a:spcAft>
              <a:defRPr sz="810">
                <a:solidFill>
                  <a:srgbClr val="21242A"/>
                </a:solidFill>
                <a:latin typeface="Microsoft YaHei"/>
              </a:defRPr>
            </a:pPr>
            <a:r>
              <a:t>药物/技术类别：双特异性抗体、化药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glofitamab联合吉西他滨和奥沙利铂治疗复发/难治性大b细胞淋巴瘤的实际结果：一项欧洲多中心队列研究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glofitamab plus gemcitabine and oxaliplatin in relapse...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*Contributed equally Gemcitabine and oxaliplatin with glofitamab (Glo-Gem-Ox, STARGLO regimen) is now approved in relapsed/refractory (r/r) diffuse </a:t>
            </a:r>
          </a:p>
          <a:p>
            <a:pPr>
              <a:lnSpc>
                <a:spcPct val="103000"/>
              </a:lnSpc>
              <a:spcAft>
                <a:spcPts val="300"/>
              </a:spcAft>
              <a:defRPr sz="570">
                <a:solidFill>
                  <a:srgbClr val="21242A"/>
                </a:solidFill>
                <a:latin typeface="Microsoft YaHei"/>
              </a:defRPr>
            </a:pPr>
            <a:r>
              <a:t>large B-cell lymphoma (DLBCL) in Europe.</a:t>
            </a:r>
          </a:p>
          <a:p>
            <a:pPr>
              <a:lnSpc>
                <a:spcPct val="103000"/>
              </a:lnSpc>
              <a:spcAft>
                <a:spcPts val="300"/>
              </a:spcAft>
              <a:defRPr sz="570">
                <a:solidFill>
                  <a:srgbClr val="21242A"/>
                </a:solidFill>
                <a:latin typeface="Microsoft YaHei"/>
              </a:defRPr>
            </a:pPr>
            <a:r>
              <a:t>Nevertheless real-world evidence regarding this regimen is sparse and important sub-groups such as transformed indolent or double hit (DH) - lymphoma were not i</a:t>
            </a:r>
          </a:p>
          <a:p>
            <a:pPr>
              <a:lnSpc>
                <a:spcPct val="103000"/>
              </a:lnSpc>
              <a:spcAft>
                <a:spcPts val="300"/>
              </a:spcAft>
              <a:defRPr sz="570">
                <a:solidFill>
                  <a:srgbClr val="21242A"/>
                </a:solidFill>
                <a:latin typeface="Microsoft YaHei"/>
              </a:defRPr>
            </a:pPr>
            <a:r>
              <a:t>ncluded in the privotal trial.</a:t>
            </a:r>
          </a:p>
          <a:p>
            <a:pPr>
              <a:lnSpc>
                <a:spcPct val="103000"/>
              </a:lnSpc>
              <a:spcAft>
                <a:spcPts val="300"/>
              </a:spcAft>
              <a:defRPr sz="570">
                <a:solidFill>
                  <a:srgbClr val="21242A"/>
                </a:solidFill>
                <a:latin typeface="Microsoft YaHei"/>
              </a:defRPr>
            </a:pPr>
            <a:r>
              <a:t>Aims: To evaluate response, progression-free survival (PFS), overall survival (OS), safety/toxicity and bridging intent in a multicenter real-world cohort treat</a:t>
            </a:r>
          </a:p>
          <a:p>
            <a:pPr>
              <a:lnSpc>
                <a:spcPct val="103000"/>
              </a:lnSpc>
              <a:spcAft>
                <a:spcPts val="300"/>
              </a:spcAft>
              <a:defRPr sz="570">
                <a:solidFill>
                  <a:srgbClr val="21242A"/>
                </a:solidFill>
                <a:latin typeface="Microsoft YaHei"/>
              </a:defRPr>
            </a:pPr>
            <a:r>
              <a:t>ed with Glo-Gem-Ox, including transformed low grade and DH - lymphoma.</a:t>
            </a:r>
          </a:p>
          <a:p>
            <a:pPr>
              <a:lnSpc>
                <a:spcPct val="103000"/>
              </a:lnSpc>
              <a:spcAft>
                <a:spcPts val="300"/>
              </a:spcAft>
              <a:defRPr sz="570">
                <a:solidFill>
                  <a:srgbClr val="21242A"/>
                </a:solidFill>
                <a:latin typeface="Microsoft YaHei"/>
              </a:defRPr>
            </a:pPr>
            <a:r>
              <a:t>Methods: We retrospectively analyzed 149 consecutive patients with r/r LBCL treated with Glo-Gem-Ox across multiple European centers.</a:t>
            </a:r>
          </a:p>
          <a:p>
            <a:pPr>
              <a:lnSpc>
                <a:spcPct val="103000"/>
              </a:lnSpc>
              <a:spcAft>
                <a:spcPts val="300"/>
              </a:spcAft>
              <a:defRPr sz="570">
                <a:solidFill>
                  <a:srgbClr val="21242A"/>
                </a:solidFill>
                <a:latin typeface="Microsoft YaHei"/>
              </a:defRPr>
            </a:pPr>
            <a:r>
              <a:t>Transformed low-grade and DH cases were included according to the recorded histopathologic diagnosis.</a:t>
            </a:r>
          </a:p>
          <a:p>
            <a:pPr>
              <a:lnSpc>
                <a:spcPct val="103000"/>
              </a:lnSpc>
              <a:spcAft>
                <a:spcPts val="300"/>
              </a:spcAft>
              <a:defRPr sz="570">
                <a:solidFill>
                  <a:srgbClr val="21242A"/>
                </a:solidFill>
                <a:latin typeface="Microsoft YaHei"/>
              </a:defRPr>
            </a:pPr>
            <a:r>
              <a:t>Baseline characteristics included age, Ann Arbor stage, LDH, IPI, number of prior therapy lines, and prior CAR-T therapy.</a:t>
            </a:r>
          </a:p>
          <a:p>
            <a:pPr>
              <a:lnSpc>
                <a:spcPct val="103000"/>
              </a:lnSpc>
              <a:spcAft>
                <a:spcPts val="300"/>
              </a:spcAft>
              <a:defRPr sz="570">
                <a:solidFill>
                  <a:srgbClr val="21242A"/>
                </a:solidFill>
                <a:latin typeface="Microsoft YaHei"/>
              </a:defRPr>
            </a:pPr>
            <a:r>
              <a:t>Best overall response (BOR) was categorized as CR (including metabolic CR) and PR.</a:t>
            </a:r>
          </a:p>
          <a:p>
            <a:pPr>
              <a:lnSpc>
                <a:spcPct val="103000"/>
              </a:lnSpc>
              <a:spcAft>
                <a:spcPts val="300"/>
              </a:spcAft>
              <a:defRPr sz="570">
                <a:solidFill>
                  <a:srgbClr val="21242A"/>
                </a:solidFill>
                <a:latin typeface="Microsoft YaHei"/>
              </a:defRPr>
            </a:pPr>
            <a:r>
              <a:t>PFS was calculated from treatment initiation to documented PD or death from any cause.</a:t>
            </a:r>
          </a:p>
          <a:p>
            <a:pPr>
              <a:lnSpc>
                <a:spcPct val="103000"/>
              </a:lnSpc>
              <a:spcAft>
                <a:spcPts val="300"/>
              </a:spcAft>
              <a:defRPr sz="570">
                <a:solidFill>
                  <a:srgbClr val="21242A"/>
                </a:solidFill>
                <a:latin typeface="Microsoft YaHei"/>
              </a:defRPr>
            </a:pPr>
            <a:r>
              <a:t>Overall survival (OS) was defined as the time from treatment initiation to death from any cause and was estimated using the Kaplan–Meier method.</a:t>
            </a:r>
          </a:p>
          <a:p>
            <a:pPr>
              <a:lnSpc>
                <a:spcPct val="103000"/>
              </a:lnSpc>
              <a:spcAft>
                <a:spcPts val="300"/>
              </a:spcAft>
              <a:defRPr sz="570">
                <a:solidFill>
                  <a:srgbClr val="21242A"/>
                </a:solidFill>
                <a:latin typeface="Microsoft YaHei"/>
              </a:defRPr>
            </a:pPr>
            <a:r>
              <a:t>Median follow-up was estimated using the reverse Kaplan–Meier method.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Glo-Gem-Ox demonstrated high response rates and promising outcomes despite short follow-up in this high-risk real-world r/r LBCL cohort including transformed an</a:t>
            </a:r>
          </a:p>
          <a:p>
            <a:pPr>
              <a:lnSpc>
                <a:spcPct val="103000"/>
              </a:lnSpc>
              <a:spcAft>
                <a:spcPts val="300"/>
              </a:spcAft>
              <a:defRPr sz="590">
                <a:solidFill>
                  <a:srgbClr val="21242A"/>
                </a:solidFill>
                <a:latin typeface="Microsoft YaHei"/>
              </a:defRPr>
            </a:pPr>
            <a:r>
              <a:t>d DH - cases that were excluded from the pivotal trial.</a:t>
            </a:r>
          </a:p>
          <a:p>
            <a:pPr>
              <a:lnSpc>
                <a:spcPct val="103000"/>
              </a:lnSpc>
              <a:spcAft>
                <a:spcPts val="300"/>
              </a:spcAft>
              <a:defRPr sz="590">
                <a:solidFill>
                  <a:srgbClr val="21242A"/>
                </a:solidFill>
                <a:latin typeface="Microsoft YaHei"/>
              </a:defRPr>
            </a:pPr>
            <a:r>
              <a:t>The treatment was frequently used as a bridging therapy to CART-T or alloPBSCT.</a:t>
            </a:r>
          </a:p>
          <a:p>
            <a:pPr>
              <a:lnSpc>
                <a:spcPct val="103000"/>
              </a:lnSpc>
              <a:spcAft>
                <a:spcPts val="300"/>
              </a:spcAft>
              <a:defRPr sz="590">
                <a:solidFill>
                  <a:srgbClr val="21242A"/>
                </a:solidFill>
                <a:latin typeface="Microsoft YaHei"/>
              </a:defRPr>
            </a:pPr>
            <a:r>
              <a:t>These findings support its relevance in routine practice and warrant further evaluation.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总缓解率（BOR）61.1%（CR 28.9%，PR 32.2%）</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中位无进展生存期（PFS）13.2个月</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任何级别细胞因子释放综合征（CRS）发生率51%（≥3级5%）</a:t>
                      </a:r>
                    </a:p>
                  </a:txBody>
                  <a:tcPr>
                    <a:solidFill>
                      <a:srgbClr val="F6F8FB"/>
                    </a:solidFill>
                  </a:tcPr>
                </a:tc>
              </a:tr>
              <a:tr h="249936">
                <a:tc>
                  <a:txBody>
                    <a:bodyPr wrap="square" lIns="36576" rIns="36576" tIns="18288" bIns="18288"/>
                    <a:lstStyle/>
                    <a:p>
                      <a:r>
                        <a:rPr sz="540" b="1">
                          <a:solidFill>
                            <a:srgbClr val="21242A"/>
                          </a:solidFill>
                          <a:latin typeface="Microsoft YaHei"/>
                        </a:rPr>
                        <a:t>结果</a:t>
                      </a:r>
                    </a:p>
                  </a:txBody>
                  <a:tcPr>
                    <a:solidFill>
                      <a:srgbClr val="FFFFFF"/>
                    </a:solidFill>
                  </a:tcPr>
                </a:tc>
                <a:tc>
                  <a:txBody>
                    <a:bodyPr wrap="square" lIns="36576" rIns="36576" tIns="18288" bIns="18288"/>
                    <a:lstStyle/>
                    <a:p>
                      <a:r>
                        <a:rPr sz="540" b="0">
                          <a:solidFill>
                            <a:srgbClr val="21242A"/>
                          </a:solidFill>
                          <a:latin typeface="Microsoft YaHei"/>
                        </a:rPr>
                        <a:t>免疫效应细胞相关神经毒性综合征（ICANS）发生率11.1%（≥3级2.8%）</a:t>
                      </a:r>
                    </a:p>
                  </a:txBody>
                  <a:tcPr>
                    <a:solidFill>
                      <a:srgbClr val="FFFFFF"/>
                    </a:solidFill>
                  </a:tcPr>
                </a:tc>
              </a:tr>
              <a:tr h="249936">
                <a:tc>
                  <a:txBody>
                    <a:bodyPr wrap="square" lIns="36576" rIns="36576" tIns="18288" bIns="18288"/>
                    <a:lstStyle/>
                    <a:p>
                      <a:r>
                        <a:rPr sz="540" b="1">
                          <a:solidFill>
                            <a:srgbClr val="21242A"/>
                          </a:solidFill>
                          <a:latin typeface="Microsoft YaHei"/>
                        </a:rPr>
                        <a:t>结果</a:t>
                      </a:r>
                    </a:p>
                  </a:txBody>
                  <a:tcPr>
                    <a:solidFill>
                      <a:srgbClr val="F6F8FB"/>
                    </a:solidFill>
                  </a:tcPr>
                </a:tc>
                <a:tc>
                  <a:txBody>
                    <a:bodyPr wrap="square" lIns="36576" rIns="36576" tIns="18288" bIns="18288"/>
                    <a:lstStyle/>
                    <a:p>
                      <a:r>
                        <a:rPr sz="540" b="0">
                          <a:solidFill>
                            <a:srgbClr val="21242A"/>
                          </a:solidFill>
                          <a:latin typeface="Microsoft YaHei"/>
                        </a:rPr>
                        <a:t>感染发生率43.7%</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摘要号：PS2074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试验药/方案：CD19靶向CAR-T(爱康得生物)</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CAR-IPI模型在测试集的表现：</a:t>
            </a:r>
          </a:p>
          <a:p>
            <a:pPr>
              <a:lnSpc>
                <a:spcPct val="103000"/>
              </a:lnSpc>
              <a:spcAft>
                <a:spcPts val="300"/>
              </a:spcAft>
              <a:defRPr sz="800">
                <a:solidFill>
                  <a:srgbClr val="21242A"/>
                </a:solidFill>
                <a:latin typeface="Microsoft YaHei"/>
              </a:defRPr>
            </a:pPr>
            <a:r>
              <a:t>C-index中位数：67.9%（范围67.1-68.2）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人数：2259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试验药/方案：CD19靶向CAR-T(爱康得生物)</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Anti-CD19 chimeric antigen receptor (19CAR) T-cell therapy has transformed the prognosis of large B-cell lymphoma (LBCL), yet nearly half of treated</a:t>
            </a:r>
          </a:p>
          <a:p>
            <a:pPr>
              <a:lnSpc>
                <a:spcPct val="103000"/>
              </a:lnSpc>
              <a:spcAft>
                <a:spcPts val="300"/>
              </a:spcAft>
              <a:defRPr sz="570">
                <a:solidFill>
                  <a:srgbClr val="21242A"/>
                </a:solidFill>
                <a:latin typeface="Microsoft YaHei"/>
              </a:defRPr>
            </a:pPr>
            <a:r>
              <a:t> patients relapse.</a:t>
            </a:r>
          </a:p>
          <a:p>
            <a:pPr>
              <a:lnSpc>
                <a:spcPct val="103000"/>
              </a:lnSpc>
              <a:spcAft>
                <a:spcPts val="300"/>
              </a:spcAft>
              <a:defRPr sz="570">
                <a:solidFill>
                  <a:srgbClr val="21242A"/>
                </a:solidFill>
                <a:latin typeface="Microsoft YaHei"/>
              </a:defRPr>
            </a:pPr>
            <a:r>
              <a:t>Response to and survival after 19CAR T cells is influenced by patient-, tumor- and treatment-related factors.</a:t>
            </a:r>
          </a:p>
          <a:p>
            <a:pPr>
              <a:lnSpc>
                <a:spcPct val="103000"/>
              </a:lnSpc>
              <a:spcAft>
                <a:spcPts val="300"/>
              </a:spcAft>
              <a:defRPr sz="570">
                <a:solidFill>
                  <a:srgbClr val="21242A"/>
                </a:solidFill>
                <a:latin typeface="Microsoft YaHei"/>
              </a:defRPr>
            </a:pPr>
            <a:r>
              <a:t>However, no validated prognostic score currently identifies patients at high risk of progression or relapse.</a:t>
            </a:r>
          </a:p>
          <a:p>
            <a:pPr>
              <a:lnSpc>
                <a:spcPct val="103000"/>
              </a:lnSpc>
              <a:spcAft>
                <a:spcPts val="300"/>
              </a:spcAft>
              <a:defRPr sz="570">
                <a:solidFill>
                  <a:srgbClr val="21242A"/>
                </a:solidFill>
                <a:latin typeface="Microsoft YaHei"/>
              </a:defRPr>
            </a:pPr>
            <a:r>
              <a:t>Aims: To develop a robust international prognostic score, named CAR-IPI, predicting progression-free survival (PFS) after 19CAR T cell therapy for LBCL, indepen</a:t>
            </a:r>
          </a:p>
          <a:p>
            <a:pPr>
              <a:lnSpc>
                <a:spcPct val="103000"/>
              </a:lnSpc>
              <a:spcAft>
                <a:spcPts val="300"/>
              </a:spcAft>
              <a:defRPr sz="570">
                <a:solidFill>
                  <a:srgbClr val="21242A"/>
                </a:solidFill>
                <a:latin typeface="Microsoft YaHei"/>
              </a:defRPr>
            </a:pPr>
            <a:r>
              <a:t>dently of CAR product or line of therapy, using machine-learning (ML) approaches and routinely available clinical and biological variables.</a:t>
            </a:r>
          </a:p>
          <a:p>
            <a:pPr>
              <a:lnSpc>
                <a:spcPct val="103000"/>
              </a:lnSpc>
              <a:spcAft>
                <a:spcPts val="300"/>
              </a:spcAft>
              <a:defRPr sz="570">
                <a:solidFill>
                  <a:srgbClr val="21242A"/>
                </a:solidFill>
                <a:latin typeface="Microsoft YaHei"/>
              </a:defRPr>
            </a:pPr>
            <a:r>
              <a:t>Methods: Patients from the French DESCAR-T registry receiving 19CAR T cells for LBCL in 2 nd line or more were selected (n=2259).</a:t>
            </a:r>
          </a:p>
          <a:p>
            <a:pPr>
              <a:lnSpc>
                <a:spcPct val="103000"/>
              </a:lnSpc>
              <a:spcAft>
                <a:spcPts val="300"/>
              </a:spcAft>
              <a:defRPr sz="570">
                <a:solidFill>
                  <a:srgbClr val="21242A"/>
                </a:solidFill>
                <a:latin typeface="Microsoft YaHei"/>
              </a:defRPr>
            </a:pPr>
            <a:r>
              <a:t>The cohort was randomly split into training (80%, n=1807) and testing (20%, n=452) sets. Eighteen clinically relevant variables were screened.</a:t>
            </a:r>
          </a:p>
          <a:p>
            <a:pPr>
              <a:lnSpc>
                <a:spcPct val="103000"/>
              </a:lnSpc>
              <a:spcAft>
                <a:spcPts val="300"/>
              </a:spcAft>
              <a:defRPr sz="570">
                <a:solidFill>
                  <a:srgbClr val="21242A"/>
                </a:solidFill>
                <a:latin typeface="Microsoft YaHei"/>
              </a:defRPr>
            </a:pPr>
            <a:r>
              <a:t>The treatment line (2 nd vs 3 rd or more) and CAR product were combined into a single variable and added to the models as an additional variable or as strata.</a:t>
            </a:r>
          </a:p>
          <a:p>
            <a:pPr>
              <a:lnSpc>
                <a:spcPct val="103000"/>
              </a:lnSpc>
              <a:spcAft>
                <a:spcPts val="300"/>
              </a:spcAft>
              <a:defRPr sz="570">
                <a:solidFill>
                  <a:srgbClr val="21242A"/>
                </a:solidFill>
                <a:latin typeface="Microsoft YaHei"/>
              </a:defRPr>
            </a:pPr>
            <a:r>
              <a:t>Missing data were imputed 10 times independently in training and testing sets.</a:t>
            </a:r>
          </a:p>
          <a:p>
            <a:pPr>
              <a:lnSpc>
                <a:spcPct val="103000"/>
              </a:lnSpc>
              <a:spcAft>
                <a:spcPts val="300"/>
              </a:spcAft>
              <a:defRPr sz="570">
                <a:solidFill>
                  <a:srgbClr val="21242A"/>
                </a:solidFill>
                <a:latin typeface="Microsoft YaHei"/>
              </a:defRPr>
            </a:pPr>
            <a:r>
              <a:t>Three ML approaches were applied: elastic net (EN) penalized Cox model, random survival forests (RSF), and support vector machine (SVM).</a:t>
            </a:r>
          </a:p>
          <a:p>
            <a:pPr>
              <a:lnSpc>
                <a:spcPct val="103000"/>
              </a:lnSpc>
              <a:spcAft>
                <a:spcPts val="300"/>
              </a:spcAft>
              <a:defRPr sz="570">
                <a:solidFill>
                  <a:srgbClr val="21242A"/>
                </a:solidFill>
                <a:latin typeface="Microsoft YaHei"/>
              </a:defRPr>
            </a:pPr>
            <a:r>
              <a:t>Predictive performances were assessed in each imputed test set using the C-index and time-dependent AUC at 6 and 12 months.</a:t>
            </a:r>
          </a:p>
          <a:p>
            <a:pPr>
              <a:lnSpc>
                <a:spcPct val="103000"/>
              </a:lnSpc>
              <a:spcAft>
                <a:spcPts val="300"/>
              </a:spcAft>
              <a:defRPr sz="570">
                <a:solidFill>
                  <a:srgbClr val="21242A"/>
                </a:solidFill>
                <a:latin typeface="Microsoft YaHei"/>
              </a:defRPr>
            </a:pPr>
            <a:r>
              <a:t>A simplified version of the score including four variables (sCAR-IPI) was derived from the 10-variable score CAR-IPI.</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Using ML approaches, we developed CAR-IPI, a robust 10-variable prognostic score based on parameters routinely available at lymphodepletion.</a:t>
            </a:r>
          </a:p>
          <a:p>
            <a:pPr>
              <a:lnSpc>
                <a:spcPct val="103000"/>
              </a:lnSpc>
              <a:spcAft>
                <a:spcPts val="300"/>
              </a:spcAft>
              <a:defRPr sz="590">
                <a:solidFill>
                  <a:srgbClr val="21242A"/>
                </a:solidFill>
                <a:latin typeface="Microsoft YaHei"/>
              </a:defRPr>
            </a:pPr>
            <a:r>
              <a:t>Both CAR-IPI and its simplified 4-variable version accurately predicted PFS after 19CAR T-cell therapy in LBCL, independently of CAR product and treatment line.</a:t>
            </a:r>
          </a:p>
          <a:p>
            <a:pPr>
              <a:lnSpc>
                <a:spcPct val="103000"/>
              </a:lnSpc>
              <a:spcAft>
                <a:spcPts val="300"/>
              </a:spcAft>
              <a:defRPr sz="590">
                <a:solidFill>
                  <a:srgbClr val="21242A"/>
                </a:solidFill>
                <a:latin typeface="Microsoft YaHei"/>
              </a:defRPr>
            </a:pPr>
            <a:r>
              <a:t>The model outperformed existing scores (IPI, CAR-HEMATOTOX) and may improve risk stratification, patient selection and individualized therapeutic strategies.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EN model demonstrated the best discrimination in the internal validation set and retained 10 variables: sex, histology (de novo vs transformed</a:t>
            </a:r>
          </a:p>
          <a:p>
            <a:pPr>
              <a:lnSpc>
                <a:spcPct val="103000"/>
              </a:lnSpc>
              <a:spcAft>
                <a:spcPts val="300"/>
              </a:spcAft>
              <a:defRPr sz="580">
                <a:solidFill>
                  <a:srgbClr val="21242A"/>
                </a:solidFill>
                <a:latin typeface="Microsoft YaHei"/>
              </a:defRPr>
            </a:pPr>
            <a:r>
              <a:t>), Ann Arbor stage, bridging and response to bridging, time from last treatment to infusion, LDH ratio, ferritin, CRP, hemoglobin and neutrophil count (Fig</a:t>
            </a:r>
          </a:p>
          <a:p>
            <a:pPr>
              <a:lnSpc>
                <a:spcPct val="103000"/>
              </a:lnSpc>
              <a:spcAft>
                <a:spcPts val="300"/>
              </a:spcAft>
              <a:defRPr sz="580">
                <a:solidFill>
                  <a:srgbClr val="21242A"/>
                </a:solidFill>
                <a:latin typeface="Microsoft YaHei"/>
              </a:defRPr>
            </a:pPr>
            <a:r>
              <a:t>ure).</a:t>
            </a:r>
          </a:p>
          <a:p>
            <a:pPr>
              <a:lnSpc>
                <a:spcPct val="103000"/>
              </a:lnSpc>
              <a:spcAft>
                <a:spcPts val="300"/>
              </a:spcAft>
              <a:defRPr sz="580">
                <a:solidFill>
                  <a:srgbClr val="21242A"/>
                </a:solidFill>
                <a:latin typeface="Microsoft YaHei"/>
              </a:defRPr>
            </a:pPr>
            <a:r>
              <a:t>\n Median (range) C-index was 67.9% (67.1–68.2) for EN, 67.3% (65.5–68.3) for RSF, and 61.4% (52.4–65.6) for SVM (Table).</a:t>
            </a:r>
          </a:p>
          <a:p>
            <a:pPr>
              <a:lnSpc>
                <a:spcPct val="103000"/>
              </a:lnSpc>
              <a:spcAft>
                <a:spcPts val="300"/>
              </a:spcAft>
              <a:defRPr sz="580">
                <a:solidFill>
                  <a:srgbClr val="21242A"/>
                </a:solidFill>
                <a:latin typeface="Microsoft YaHei"/>
              </a:defRPr>
            </a:pPr>
            <a:r>
              <a:t>Median (range) AUC at 6 months were 74.3% (73.4–75.4), 72.7% (70.2–74.9) and 65.7% (54.0–70.8), respectively (Table).</a:t>
            </a:r>
          </a:p>
          <a:p>
            <a:pPr>
              <a:lnSpc>
                <a:spcPct val="103000"/>
              </a:lnSpc>
              <a:spcAft>
                <a:spcPts val="300"/>
              </a:spcAft>
              <a:defRPr sz="580">
                <a:solidFill>
                  <a:srgbClr val="21242A"/>
                </a:solidFill>
                <a:latin typeface="Microsoft YaHei"/>
              </a:defRPr>
            </a:pPr>
            <a:r>
              <a:t>Both C-index and AUC at 6 and 12 months were consistently lower for IPI and CAR-HEMATOTOX compared with the EN model (Table).</a:t>
            </a:r>
          </a:p>
          <a:p>
            <a:pPr>
              <a:lnSpc>
                <a:spcPct val="103000"/>
              </a:lnSpc>
              <a:spcAft>
                <a:spcPts val="300"/>
              </a:spcAft>
              <a:defRPr sz="580">
                <a:solidFill>
                  <a:srgbClr val="21242A"/>
                </a:solidFill>
                <a:latin typeface="Microsoft YaHei"/>
              </a:defRPr>
            </a:pPr>
            <a:r>
              <a:t>\n A simplified sCAR-IPI including LDH ratio, CRP, ferritin and hemoglobin maintained satisfactory predictive performance (Table).</a:t>
            </a:r>
          </a:p>
          <a:p>
            <a:pPr>
              <a:lnSpc>
                <a:spcPct val="103000"/>
              </a:lnSpc>
              <a:spcAft>
                <a:spcPts val="300"/>
              </a:spcAft>
              <a:defRPr sz="580">
                <a:solidFill>
                  <a:srgbClr val="21242A"/>
                </a:solidFill>
                <a:latin typeface="Microsoft YaHei"/>
              </a:defRPr>
            </a:pPr>
            <a:r>
              <a:t>\n External validation in international cohorts is ongoing and will be presented at the meeting. \n Table.</a:t>
            </a:r>
          </a:p>
          <a:p>
            <a:pPr>
              <a:lnSpc>
                <a:spcPct val="103000"/>
              </a:lnSpc>
              <a:spcAft>
                <a:spcPts val="300"/>
              </a:spcAft>
              <a:defRPr sz="580">
                <a:solidFill>
                  <a:srgbClr val="21242A"/>
                </a:solidFill>
                <a:latin typeface="Microsoft YaHei"/>
              </a:defRPr>
            </a:pPr>
            <a:r>
              <a:t>Comparative performances of the different prognostic scores.</a:t>
            </a:r>
          </a:p>
          <a:p>
            <a:pPr>
              <a:lnSpc>
                <a:spcPct val="103000"/>
              </a:lnSpc>
              <a:spcAft>
                <a:spcPts val="300"/>
              </a:spcAft>
              <a:defRPr sz="580">
                <a:solidFill>
                  <a:srgbClr val="21242A"/>
                </a:solidFill>
                <a:latin typeface="Microsoft YaHei"/>
              </a:defRPr>
            </a:pPr>
            <a:r>
              <a:t>\n \n \n \n \n \n \n \n \n \n \n C-index (%) \n \n \n AUC at 6 months (%) \n \n \n AUC at 12 months (%) \n \n \n \n \n \n \n \n Set \n \n \n Median \n \n \</a:t>
            </a:r>
          </a:p>
          <a:p>
            <a:pPr>
              <a:lnSpc>
                <a:spcPct val="103000"/>
              </a:lnSpc>
              <a:spcAft>
                <a:spcPts val="300"/>
              </a:spcAft>
              <a:defRPr sz="580">
                <a:solidFill>
                  <a:srgbClr val="21242A"/>
                </a:solidFill>
                <a:latin typeface="Microsoft YaHei"/>
              </a:defRPr>
            </a:pPr>
            <a:r>
              <a:t>n Range \n \n \n Median \n \n \n Range \n \n \n Median \n \n \n Range \n \n \n \n \n CAR-IPI \n \n \n Testing \n \n \n 67.9 \n \n \n 67.1 – 68.2 \n \n \n 7</a:t>
            </a:r>
          </a:p>
          <a:p>
            <a:pPr>
              <a:lnSpc>
                <a:spcPct val="103000"/>
              </a:lnSpc>
              <a:spcAft>
                <a:spcPts val="300"/>
              </a:spcAft>
              <a:defRPr sz="580">
                <a:solidFill>
                  <a:srgbClr val="21242A"/>
                </a:solidFill>
                <a:latin typeface="Microsoft YaHei"/>
              </a:defRPr>
            </a:pPr>
            <a:r>
              <a:t>4.3 \n \n \n 73.4 – 75.4 \n \n \n 74.5 \n \n \n 73.7 – 75.2 \n \n \n \n \n sCAR-IPI \n \n \n Testing \n \n \n 66.1 \n \n \n 65.4 – 66.7 \n \n \n 71.2 \n \n</a:t>
            </a:r>
          </a:p>
          <a:p>
            <a:pPr>
              <a:lnSpc>
                <a:spcPct val="103000"/>
              </a:lnSpc>
              <a:spcAft>
                <a:spcPts val="300"/>
              </a:spcAft>
              <a:defRPr sz="580">
                <a:solidFill>
                  <a:srgbClr val="21242A"/>
                </a:solidFill>
                <a:latin typeface="Microsoft YaHei"/>
              </a:defRPr>
            </a:pPr>
            <a:r>
              <a:t> \n 70.2 – 73.1 \n \n \n 71.4 \n \n \n 70.2 – 72.0 \n \n \n \n \n RSF \n \n \n Testing \n \n \n 67.3 \n \n \n 65.5 – 68.3 \n \n \n 72.7 \n \n \n 70.2 – 74.</a:t>
            </a:r>
          </a:p>
          <a:p>
            <a:pPr>
              <a:lnSpc>
                <a:spcPct val="103000"/>
              </a:lnSpc>
              <a:spcAft>
                <a:spcPts val="300"/>
              </a:spcAft>
              <a:defRPr sz="580">
                <a:solidFill>
                  <a:srgbClr val="21242A"/>
                </a:solidFill>
                <a:latin typeface="Microsoft YaHei"/>
              </a:defRPr>
            </a:pPr>
            <a:r>
              <a:t>9 \n \n \n 73.3 \n \n \n 70.6 – 75.1 \n \n \n \n \n SVM \n \n \n Testing \n \n \n 61.4 \n \n \n 52.4 – 65.6 \n \n \n 65.7 \n \n \n 54.0 – 70.8 \n \n \n 64.</a:t>
            </a:r>
          </a:p>
          <a:p>
            <a:pPr>
              <a:lnSpc>
                <a:spcPct val="103000"/>
              </a:lnSpc>
              <a:spcAft>
                <a:spcPts val="300"/>
              </a:spcAft>
              <a:defRPr sz="580">
                <a:solidFill>
                  <a:srgbClr val="21242A"/>
                </a:solidFill>
                <a:latin typeface="Microsoft YaHei"/>
              </a:defRPr>
            </a:pPr>
            <a:r>
              <a:t>6 \n \n \n 53.1 – 70.4 \n \n \n \n \n IPI-like \n \n \n Testing \n \n \n 61.0 \n \n \n 60.4 – 61.7 \n \n \n 64.3 \n \n \n 63.5 – 65.6 \n \n \n 64.3 \n \n \</a:t>
            </a:r>
          </a:p>
          <a:p>
            <a:pPr>
              <a:lnSpc>
                <a:spcPct val="103000"/>
              </a:lnSpc>
              <a:spcAft>
                <a:spcPts val="300"/>
              </a:spcAft>
              <a:defRPr sz="580">
                <a:solidFill>
                  <a:srgbClr val="21242A"/>
                </a:solidFill>
                <a:latin typeface="Microsoft YaHei"/>
              </a:defRPr>
            </a:pPr>
            <a:r>
              <a:t>n 63.2 – 65.5 \n \n \n \n \n CAR-HEMATOTOX \n \n \n Testing \n \n \n 58.8 \n \n \n 57.4 – 59.6 \n \n \n 59.5 \n \n \n 57.6 – 60.9 \n \n \n 60.1 \n \n \n 57</a:t>
            </a:r>
          </a:p>
          <a:p>
            <a:pPr>
              <a:lnSpc>
                <a:spcPct val="103000"/>
              </a:lnSpc>
              <a:spcAft>
                <a:spcPts val="300"/>
              </a:spcAft>
              <a:defRPr sz="580">
                <a:solidFill>
                  <a:srgbClr val="21242A"/>
                </a:solidFill>
                <a:latin typeface="Microsoft YaHei"/>
              </a:defRPr>
            </a:pPr>
            <a:r>
              <a:t>.5 – 61.3 \n \n \n \n \n \n</a:t>
            </a:r>
          </a:p>
          <a:p>
            <a:pPr>
              <a:lnSpc>
                <a:spcPct val="103000"/>
              </a:lnSpc>
              <a:spcAft>
                <a:spcPts val="300"/>
              </a:spcAft>
              <a:defRPr sz="580">
                <a:solidFill>
                  <a:srgbClr val="21242A"/>
                </a:solidFill>
                <a:latin typeface="Microsoft YaHei"/>
              </a:defRPr>
            </a:pPr>
            <a:r>
              <a:t>Conclusion: Using ML approaches, we developed CAR-IPI, a robust 10-variable prognostic score based on parameters routinely available at lymphodepletion.</a:t>
            </a:r>
          </a:p>
          <a:p>
            <a:pPr>
              <a:lnSpc>
                <a:spcPct val="103000"/>
              </a:lnSpc>
              <a:spcAft>
                <a:spcPts val="300"/>
              </a:spcAft>
              <a:defRPr sz="580">
                <a:solidFill>
                  <a:srgbClr val="21242A"/>
                </a:solidFill>
                <a:latin typeface="Microsoft YaHei"/>
              </a:defRPr>
            </a:pPr>
            <a:r>
              <a:t>Both CAR-IPI and its simplified 4-variable version accurately predicted PFS after 19CAR T-cell therapy in LBCL, independently of CAR product and treatment </a:t>
            </a:r>
          </a:p>
          <a:p>
            <a:pPr>
              <a:lnSpc>
                <a:spcPct val="103000"/>
              </a:lnSpc>
              <a:spcAft>
                <a:spcPts val="300"/>
              </a:spcAft>
              <a:defRPr sz="580">
                <a:solidFill>
                  <a:srgbClr val="21242A"/>
                </a:solidFill>
                <a:latin typeface="Microsoft YaHei"/>
              </a:defRPr>
            </a:pPr>
            <a:r>
              <a:t>line.</a:t>
            </a:r>
          </a:p>
          <a:p>
            <a:pPr>
              <a:lnSpc>
                <a:spcPct val="103000"/>
              </a:lnSpc>
              <a:spcAft>
                <a:spcPts val="300"/>
              </a:spcAft>
              <a:defRPr sz="580">
                <a:solidFill>
                  <a:srgbClr val="21242A"/>
                </a:solidFill>
                <a:latin typeface="Microsoft YaHei"/>
              </a:defRPr>
            </a:pPr>
            <a:r>
              <a:t>The model outperformed existing scores (IPI, CAR-HEMATOTOX) and may improve risk stratification, patient selection and individualized therapeutic strategie</a:t>
            </a:r>
          </a:p>
          <a:p>
            <a:pPr>
              <a:lnSpc>
                <a:spcPct val="103000"/>
              </a:lnSpc>
              <a:spcAft>
                <a:spcPts val="300"/>
              </a:spcAft>
              <a:defRPr sz="580">
                <a:solidFill>
                  <a:srgbClr val="21242A"/>
                </a:solidFill>
                <a:latin typeface="Microsoft YaHei"/>
              </a:defRPr>
            </a:pPr>
            <a:r>
              <a:t>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摘要号：PF978</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cd19/cd12双特异性car-t细胞治疗后携带癌症易感性基因突变的dlbcl患者继发性外周t细胞淋巴瘤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secondary peripheral t-cell lymphoma in a patient of dlbcl harboring cancer 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试验药/方案：CD19/CD22靶向CAR-T(同仁医院)</a:t>
            </a:r>
          </a:p>
          <a:p>
            <a:pPr>
              <a:lnSpc>
                <a:spcPct val="103000"/>
              </a:lnSpc>
              <a:spcAft>
                <a:spcPts val="300"/>
              </a:spcAft>
              <a:defRPr sz="800">
                <a:solidFill>
                  <a:srgbClr val="21242A"/>
                </a:solidFill>
                <a:latin typeface="Microsoft YaHei"/>
              </a:defRPr>
            </a:pPr>
            <a:r>
              <a:t>靶点：CD19，CD22</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确认克隆起源：T细胞受体（TCR）测序显示CAR-T产物和PTCL组织具有相同的克隆重排（TRBD101/TRBJ2701和T...</a:t>
            </a:r>
          </a:p>
          <a:p>
            <a:pPr>
              <a:lnSpc>
                <a:spcPct val="103000"/>
              </a:lnSpc>
              <a:spcAft>
                <a:spcPts val="300"/>
              </a:spcAft>
              <a:defRPr sz="800">
                <a:solidFill>
                  <a:srgbClr val="21242A"/>
                </a:solidFill>
                <a:latin typeface="Microsoft YaHei"/>
              </a:defRPr>
            </a:pPr>
            <a:r>
              <a:t>基因组分析：全基因组测序发现TET2致病性体细胞突变（p.R1261H, p.E1755），在PTCL中变异等位基因频率更高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登记号：NCT07461831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试验药/方案：CD19/CD22靶向CAR-T(同仁医院)</a:t>
            </a:r>
          </a:p>
          <a:p>
            <a:pPr>
              <a:lnSpc>
                <a:spcPct val="103000"/>
              </a:lnSpc>
              <a:spcAft>
                <a:spcPts val="300"/>
              </a:spcAft>
              <a:defRPr sz="810">
                <a:solidFill>
                  <a:srgbClr val="21242A"/>
                </a:solidFill>
                <a:latin typeface="Microsoft YaHei"/>
              </a:defRPr>
            </a:pPr>
            <a:r>
              <a:t>靶点：CD19、CD22</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cd19/cd12双特异性car-t细胞治疗后携带癌症易感性基因突变的dlbcl患者继发性外周t细胞淋巴瘤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secondary peripheral t-cell lymphoma in a patient of dlbcl harboring cancer 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Chimeric antigen receptor (CAR)-T cell therapy has revolutionized treatment for relapsed/refractory B-cell malignancies, but rare secondary T-cell m</a:t>
            </a:r>
          </a:p>
          <a:p>
            <a:pPr>
              <a:lnSpc>
                <a:spcPct val="103000"/>
              </a:lnSpc>
              <a:spcAft>
                <a:spcPts val="300"/>
              </a:spcAft>
              <a:defRPr sz="570">
                <a:solidFill>
                  <a:srgbClr val="21242A"/>
                </a:solidFill>
                <a:latin typeface="Microsoft YaHei"/>
              </a:defRPr>
            </a:pPr>
            <a:r>
              <a:t>alignancies have emerged as a serious safety concern.</a:t>
            </a:r>
          </a:p>
          <a:p>
            <a:pPr>
              <a:lnSpc>
                <a:spcPct val="103000"/>
              </a:lnSpc>
              <a:spcAft>
                <a:spcPts val="300"/>
              </a:spcAft>
              <a:defRPr sz="570">
                <a:solidFill>
                  <a:srgbClr val="21242A"/>
                </a:solidFill>
                <a:latin typeface="Microsoft YaHei"/>
              </a:defRPr>
            </a:pPr>
            <a:r>
              <a:t>Aims: We report a case of secondary peripheral T-cell lymphoma (PTCL) definitively proven to originate from infused CD19/CD22 bispecific CAR-T cells, with compr</a:t>
            </a:r>
          </a:p>
          <a:p>
            <a:pPr>
              <a:lnSpc>
                <a:spcPct val="103000"/>
              </a:lnSpc>
              <a:spcAft>
                <a:spcPts val="300"/>
              </a:spcAft>
              <a:defRPr sz="570">
                <a:solidFill>
                  <a:srgbClr val="21242A"/>
                </a:solidFill>
                <a:latin typeface="Microsoft YaHei"/>
              </a:defRPr>
            </a:pPr>
            <a:r>
              <a:t>ehensive molecular characterization of oncogenic mechanisms.</a:t>
            </a:r>
          </a:p>
          <a:p>
            <a:pPr>
              <a:lnSpc>
                <a:spcPct val="103000"/>
              </a:lnSpc>
              <a:spcAft>
                <a:spcPts val="300"/>
              </a:spcAft>
              <a:defRPr sz="570">
                <a:solidFill>
                  <a:srgbClr val="21242A"/>
                </a:solidFill>
                <a:latin typeface="Microsoft YaHei"/>
              </a:defRPr>
            </a:pPr>
            <a:r>
              <a:t>Methods: A 66-year-old woman with diffuse large B-cell lymphoma (DLBCL) and history of breast and cervical cancers received autologous CD19/CD22 CAR-T cells in </a:t>
            </a:r>
          </a:p>
          <a:p>
            <a:pPr>
              <a:lnSpc>
                <a:spcPct val="103000"/>
              </a:lnSpc>
              <a:spcAft>
                <a:spcPts val="300"/>
              </a:spcAft>
              <a:defRPr sz="570">
                <a:solidFill>
                  <a:srgbClr val="21242A"/>
                </a:solidFill>
                <a:latin typeface="Microsoft YaHei"/>
              </a:defRPr>
            </a:pPr>
            <a:r>
              <a:t>November 2024 following CNS relapse.</a:t>
            </a:r>
          </a:p>
          <a:p>
            <a:pPr>
              <a:lnSpc>
                <a:spcPct val="103000"/>
              </a:lnSpc>
              <a:spcAft>
                <a:spcPts val="300"/>
              </a:spcAft>
              <a:defRPr sz="570">
                <a:solidFill>
                  <a:srgbClr val="21242A"/>
                </a:solidFill>
                <a:latin typeface="Microsoft YaHei"/>
              </a:defRPr>
            </a:pPr>
            <a:r>
              <a:t>Nine months post-infusion, she developed a lower lip mass diagnosed as PTCL, not otherwise specified (PTCL-NOS).</a:t>
            </a:r>
          </a:p>
          <a:p>
            <a:pPr>
              <a:lnSpc>
                <a:spcPct val="103000"/>
              </a:lnSpc>
              <a:spcAft>
                <a:spcPts val="300"/>
              </a:spcAft>
              <a:defRPr sz="570">
                <a:solidFill>
                  <a:srgbClr val="21242A"/>
                </a:solidFill>
                <a:latin typeface="Microsoft YaHei"/>
              </a:defRPr>
            </a:pPr>
            <a:r>
              <a:t>Comparative genomic analysis of the CAR-T product and PTCL tissue was performed.</a:t>
            </a:r>
          </a:p>
          <a:p>
            <a:pPr>
              <a:lnSpc>
                <a:spcPct val="103000"/>
              </a:lnSpc>
              <a:spcAft>
                <a:spcPts val="300"/>
              </a:spcAft>
              <a:defRPr sz="570">
                <a:solidFill>
                  <a:srgbClr val="21242A"/>
                </a:solidFill>
                <a:latin typeface="Microsoft YaHei"/>
              </a:defRPr>
            </a:pPr>
            <a:r>
              <a:t>Whole genome sequencing (WGS), T-cell receptor (TCR) clonality assessment, single-cell RNA sequencing (scRNA-seq), and targeted mutation analysis were conducted</a:t>
            </a:r>
          </a:p>
          <a:p>
            <a:pPr>
              <a:lnSpc>
                <a:spcPct val="103000"/>
              </a:lnSpc>
              <a:spcAft>
                <a:spcPts val="300"/>
              </a:spcAft>
              <a:defRPr sz="570">
                <a:solidFill>
                  <a:srgbClr val="21242A"/>
                </a:solidFill>
                <a:latin typeface="Microsoft YaHei"/>
              </a:defRPr>
            </a:pPr>
            <a:r>
              <a:t> on pre-infusion CAR-T product, peripheral blood mononuclear cells (PBMCs), and PTCL tissue.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case provides unequivocal molecular evidence of CAR-T cell malignant transformation driven by three convergent factors: (1) pre-existing TET2 driver mutati</a:t>
            </a:r>
          </a:p>
          <a:p>
            <a:pPr>
              <a:lnSpc>
                <a:spcPct val="103000"/>
              </a:lnSpc>
              <a:spcAft>
                <a:spcPts val="300"/>
              </a:spcAft>
              <a:defRPr sz="590">
                <a:solidFill>
                  <a:srgbClr val="21242A"/>
                </a:solidFill>
                <a:latin typeface="Microsoft YaHei"/>
              </a:defRPr>
            </a:pPr>
            <a:r>
              <a:t>ons representing clonal hematopoiesis, (2) germline BLM deficiency exacerbating genomic instability, and (3) insertional mutagenesis from CAR vector integration</a:t>
            </a:r>
          </a:p>
          <a:p>
            <a:pPr>
              <a:lnSpc>
                <a:spcPct val="103000"/>
              </a:lnSpc>
              <a:spcAft>
                <a:spcPts val="300"/>
              </a:spcAft>
              <a:defRPr sz="590">
                <a:solidFill>
                  <a:srgbClr val="21242A"/>
                </a:solidFill>
                <a:latin typeface="Microsoft YaHei"/>
              </a:defRPr>
            </a:pPr>
            <a:r>
              <a:t>.</a:t>
            </a:r>
          </a:p>
          <a:p>
            <a:pPr>
              <a:lnSpc>
                <a:spcPct val="103000"/>
              </a:lnSpc>
              <a:spcAft>
                <a:spcPts val="300"/>
              </a:spcAft>
              <a:defRPr sz="590">
                <a:solidFill>
                  <a:srgbClr val="21242A"/>
                </a:solidFill>
                <a:latin typeface="Microsoft YaHei"/>
              </a:defRPr>
            </a:pPr>
            <a:r>
              <a:t>These findings underscore the critical importance of pre-infusion genomic screening of CAR-T products for CHIP-related mutations, cancer susceptibility gene tes</a:t>
            </a:r>
          </a:p>
          <a:p>
            <a:pPr>
              <a:lnSpc>
                <a:spcPct val="103000"/>
              </a:lnSpc>
              <a:spcAft>
                <a:spcPts val="300"/>
              </a:spcAft>
              <a:defRPr sz="590">
                <a:solidFill>
                  <a:srgbClr val="21242A"/>
                </a:solidFill>
                <a:latin typeface="Microsoft YaHei"/>
              </a:defRPr>
            </a:pPr>
            <a:r>
              <a:t>ting in patients with prior malignancies, and lifelong surveillance for secondary malignancies in CAR-T recipients.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99923">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99923">
                <a:tc>
                  <a:txBody>
                    <a:bodyPr wrap="square" lIns="36576" rIns="36576" tIns="18288" bIns="18288"/>
                    <a:lstStyle/>
                    <a:p>
                      <a:r>
                        <a:rPr sz="540" b="1">
                          <a:solidFill>
                            <a:srgbClr val="21242A"/>
                          </a:solidFill>
                          <a:latin typeface="Microsoft YaHei"/>
                        </a:rPr>
                        <a:t>确认克隆起源</a:t>
                      </a:r>
                    </a:p>
                  </a:txBody>
                  <a:tcPr>
                    <a:solidFill>
                      <a:srgbClr val="F6F8FB"/>
                    </a:solidFill>
                  </a:tcPr>
                </a:tc>
                <a:tc>
                  <a:txBody>
                    <a:bodyPr wrap="square" lIns="36576" rIns="36576" tIns="18288" bIns="18288"/>
                    <a:lstStyle/>
                    <a:p>
                      <a:r>
                        <a:rPr sz="540" b="0">
                          <a:solidFill>
                            <a:srgbClr val="21242A"/>
                          </a:solidFill>
                          <a:latin typeface="Microsoft YaHei"/>
                        </a:rPr>
                        <a:t>T细胞受体（TCR）测序显示CAR-T产物和PTCL组织具有相同的克隆重排（TRBD101/TRBJ2701和TRGV801/TRGJ101）</a:t>
                      </a:r>
                    </a:p>
                  </a:txBody>
                  <a:tcPr>
                    <a:solidFill>
                      <a:srgbClr val="F6F8FB"/>
                    </a:solidFill>
                  </a:tcPr>
                </a:tc>
              </a:tr>
              <a:tr h="299923">
                <a:tc>
                  <a:txBody>
                    <a:bodyPr wrap="square" lIns="36576" rIns="36576" tIns="18288" bIns="18288"/>
                    <a:lstStyle/>
                    <a:p>
                      <a:r>
                        <a:rPr sz="540" b="1">
                          <a:solidFill>
                            <a:srgbClr val="21242A"/>
                          </a:solidFill>
                          <a:latin typeface="Microsoft YaHei"/>
                        </a:rPr>
                        <a:t>基因组分析</a:t>
                      </a:r>
                    </a:p>
                  </a:txBody>
                  <a:tcPr>
                    <a:solidFill>
                      <a:srgbClr val="FFFFFF"/>
                    </a:solidFill>
                  </a:tcPr>
                </a:tc>
                <a:tc>
                  <a:txBody>
                    <a:bodyPr wrap="square" lIns="36576" rIns="36576" tIns="18288" bIns="18288"/>
                    <a:lstStyle/>
                    <a:p>
                      <a:r>
                        <a:rPr sz="540" b="0">
                          <a:solidFill>
                            <a:srgbClr val="21242A"/>
                          </a:solidFill>
                          <a:latin typeface="Microsoft YaHei"/>
                        </a:rPr>
                        <a:t>全基因组测序发现TET2致病性体细胞突变（p.R1261H, p.E1755），在PTCL中变异等位基因频率更高</a:t>
                      </a:r>
                    </a:p>
                  </a:txBody>
                  <a:tcPr>
                    <a:solidFill>
                      <a:srgbClr val="FFFFFF"/>
                    </a:solidFill>
                  </a:tcPr>
                </a:tc>
              </a:tr>
              <a:tr h="299923">
                <a:tc>
                  <a:txBody>
                    <a:bodyPr wrap="square" lIns="36576" rIns="36576" tIns="18288" bIns="18288"/>
                    <a:lstStyle/>
                    <a:p>
                      <a:r>
                        <a:rPr sz="540" b="1">
                          <a:solidFill>
                            <a:srgbClr val="21242A"/>
                          </a:solidFill>
                          <a:latin typeface="Microsoft YaHei"/>
                        </a:rPr>
                        <a:t>胚系突变</a:t>
                      </a:r>
                    </a:p>
                  </a:txBody>
                  <a:tcPr>
                    <a:solidFill>
                      <a:srgbClr val="F6F8FB"/>
                    </a:solidFill>
                  </a:tcPr>
                </a:tc>
                <a:tc>
                  <a:txBody>
                    <a:bodyPr wrap="square" lIns="36576" rIns="36576" tIns="18288" bIns="18288"/>
                    <a:lstStyle/>
                    <a:p>
                      <a:r>
                        <a:rPr sz="540" b="0">
                          <a:solidFill>
                            <a:srgbClr val="21242A"/>
                          </a:solidFill>
                          <a:latin typeface="Microsoft YaHei"/>
                        </a:rPr>
                        <a:t>患者携带BLM p.L107Ffs*36突变，导致基因组不稳定性</a:t>
                      </a:r>
                    </a:p>
                  </a:txBody>
                  <a:tcPr>
                    <a:solidFill>
                      <a:srgbClr val="F6F8FB"/>
                    </a:solidFill>
                  </a:tcPr>
                </a:tc>
              </a:tr>
              <a:tr h="299924">
                <a:tc>
                  <a:txBody>
                    <a:bodyPr wrap="square" lIns="36576" rIns="36576" tIns="18288" bIns="18288"/>
                    <a:lstStyle/>
                    <a:p>
                      <a:r>
                        <a:rPr sz="540" b="1">
                          <a:solidFill>
                            <a:srgbClr val="21242A"/>
                          </a:solidFill>
                          <a:latin typeface="Microsoft YaHei"/>
                        </a:rPr>
                        <a:t>其他致癌事件</a:t>
                      </a:r>
                    </a:p>
                  </a:txBody>
                  <a:tcPr>
                    <a:solidFill>
                      <a:srgbClr val="FFFFFF"/>
                    </a:solidFill>
                  </a:tcPr>
                </a:tc>
                <a:tc>
                  <a:txBody>
                    <a:bodyPr wrap="square" lIns="36576" rIns="36576" tIns="18288" bIns="18288"/>
                    <a:lstStyle/>
                    <a:p>
                      <a:r>
                        <a:rPr sz="540" b="0">
                          <a:solidFill>
                            <a:srgbClr val="21242A"/>
                          </a:solidFill>
                          <a:latin typeface="Microsoft YaHei"/>
                        </a:rPr>
                        <a:t>包括KMT2A和ATM的11q23.2q25缺失、X染色体丢失、CAR载体整合至抑癌基因（NF1, CBX5, RNF213）</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摘要号：PF1246</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pola-r-chp治疗未经治疗的弥漫性大b细胞淋巴瘤的真实亚洲多中心队列研究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asian multi-centre cohort study on outcomes of pola-r-chp in untre...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对照/比较：试验组1：Pola-R-CHP（polatuzumab vedotin, rituximab, cyclophos...</a:t>
            </a:r>
          </a:p>
          <a:p>
            <a:pPr>
              <a:lnSpc>
                <a:spcPct val="103000"/>
              </a:lnSpc>
              <a:spcAft>
                <a:spcPts val="300"/>
              </a:spcAft>
              <a:defRPr sz="800">
                <a:solidFill>
                  <a:srgbClr val="21242A"/>
                </a:solidFill>
                <a:latin typeface="Microsoft YaHei"/>
              </a:defRPr>
            </a:pPr>
            <a:r>
              <a:t>对照组1：R-CHOP（rituximab, cyclophosphamide, doxorubicin, prednison...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完全缓解率（CR）：Pola-R-CHP组92.0%，R-CHOP组84.3%</a:t>
            </a:r>
          </a:p>
          <a:p>
            <a:pPr>
              <a:lnSpc>
                <a:spcPct val="103000"/>
              </a:lnSpc>
              <a:spcAft>
                <a:spcPts val="300"/>
              </a:spcAft>
              <a:defRPr sz="800">
                <a:solidFill>
                  <a:srgbClr val="21242A"/>
                </a:solidFill>
                <a:latin typeface="Microsoft YaHei"/>
              </a:defRPr>
            </a:pPr>
            <a:r>
              <a:t>2年总生存率（OS）：Pola-R-CHP组92.5%，R-CHOP组77.2%（HR 0.30, 95% CI 0.13-0...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人数：737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pola-r-chp治疗未经治疗的弥漫性大b细胞淋巴瘤的真实亚洲多中心队列研究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asian multi-centre cohort study on outcomes of pola-r-chp in untre...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Pola-R-CHP (polatuzumab vedotin with rituximab, cyclophosphamide, doxorubicin, and prednisone) has been approved for first-line treatment of diffuse</a:t>
            </a:r>
          </a:p>
          <a:p>
            <a:pPr>
              <a:lnSpc>
                <a:spcPct val="103000"/>
              </a:lnSpc>
              <a:spcAft>
                <a:spcPts val="300"/>
              </a:spcAft>
              <a:defRPr sz="570">
                <a:solidFill>
                  <a:srgbClr val="21242A"/>
                </a:solidFill>
                <a:latin typeface="Microsoft YaHei"/>
              </a:defRPr>
            </a:pPr>
            <a:r>
              <a:t> large B-cell lymphoma (DLBCL).</a:t>
            </a:r>
          </a:p>
          <a:p>
            <a:pPr>
              <a:lnSpc>
                <a:spcPct val="103000"/>
              </a:lnSpc>
              <a:spcAft>
                <a:spcPts val="300"/>
              </a:spcAft>
              <a:defRPr sz="570">
                <a:solidFill>
                  <a:srgbClr val="21242A"/>
                </a:solidFill>
                <a:latin typeface="Microsoft YaHei"/>
              </a:defRPr>
            </a:pPr>
            <a:r>
              <a:t>However, real-world outcomes data compared against R-CHOP (rituximab, cyclophosphamide, doxorubicin, and prednisone) remain limited, especially in Asian cohorts</a:t>
            </a:r>
          </a:p>
          <a:p>
            <a:pPr>
              <a:lnSpc>
                <a:spcPct val="103000"/>
              </a:lnSpc>
              <a:spcAft>
                <a:spcPts val="300"/>
              </a:spcAft>
              <a:defRPr sz="570">
                <a:solidFill>
                  <a:srgbClr val="21242A"/>
                </a:solidFill>
                <a:latin typeface="Microsoft YaHei"/>
              </a:defRPr>
            </a:pPr>
            <a:r>
              <a:t> where POLARIX subset analysis has suggested overall survival (OS) benefit.</a:t>
            </a:r>
          </a:p>
          <a:p>
            <a:pPr>
              <a:lnSpc>
                <a:spcPct val="103000"/>
              </a:lnSpc>
              <a:spcAft>
                <a:spcPts val="300"/>
              </a:spcAft>
              <a:defRPr sz="570">
                <a:solidFill>
                  <a:srgbClr val="21242A"/>
                </a:solidFill>
                <a:latin typeface="Microsoft YaHei"/>
              </a:defRPr>
            </a:pPr>
            <a:r>
              <a:t>Aims: We aim to evaluate the efficacy of Pola-R-CHP in a real-world Asian setting for first-line treatment of DLBCL.</a:t>
            </a:r>
          </a:p>
          <a:p>
            <a:pPr>
              <a:lnSpc>
                <a:spcPct val="103000"/>
              </a:lnSpc>
              <a:spcAft>
                <a:spcPts val="300"/>
              </a:spcAft>
              <a:defRPr sz="570">
                <a:solidFill>
                  <a:srgbClr val="21242A"/>
                </a:solidFill>
                <a:latin typeface="Microsoft YaHei"/>
              </a:defRPr>
            </a:pPr>
            <a:r>
              <a:t>Methods: We conducted a retrospective observational study (APOLLO: Asian POLA-R-CHP reaL-world Outcomes) in an international, multi-centre cohort from Singapore</a:t>
            </a:r>
          </a:p>
          <a:p>
            <a:pPr>
              <a:lnSpc>
                <a:spcPct val="103000"/>
              </a:lnSpc>
              <a:spcAft>
                <a:spcPts val="300"/>
              </a:spcAft>
              <a:defRPr sz="570">
                <a:solidFill>
                  <a:srgbClr val="21242A"/>
                </a:solidFill>
                <a:latin typeface="Microsoft YaHei"/>
              </a:defRPr>
            </a:pPr>
            <a:r>
              <a:t> and Hong Kong, involving patients with newly diagnosed DLBCL between January 2015 to 2026.</a:t>
            </a:r>
          </a:p>
          <a:p>
            <a:pPr>
              <a:lnSpc>
                <a:spcPct val="103000"/>
              </a:lnSpc>
              <a:spcAft>
                <a:spcPts val="300"/>
              </a:spcAft>
              <a:defRPr sz="570">
                <a:solidFill>
                  <a:srgbClr val="21242A"/>
                </a:solidFill>
                <a:latin typeface="Microsoft YaHei"/>
              </a:defRPr>
            </a:pPr>
            <a:r>
              <a:t>Physician assessed best response rates after treatment completion were documented.</a:t>
            </a:r>
          </a:p>
          <a:p>
            <a:pPr>
              <a:lnSpc>
                <a:spcPct val="103000"/>
              </a:lnSpc>
              <a:spcAft>
                <a:spcPts val="300"/>
              </a:spcAft>
              <a:defRPr sz="570">
                <a:solidFill>
                  <a:srgbClr val="21242A"/>
                </a:solidFill>
                <a:latin typeface="Microsoft YaHei"/>
              </a:defRPr>
            </a:pPr>
            <a:r>
              <a:t>Analyses were conducted using Kaplan-Meier models and Cox proportional-hazards analysis.</a:t>
            </a:r>
          </a:p>
          <a:p>
            <a:pPr>
              <a:lnSpc>
                <a:spcPct val="103000"/>
              </a:lnSpc>
              <a:spcAft>
                <a:spcPts val="300"/>
              </a:spcAft>
              <a:defRPr sz="570">
                <a:solidFill>
                  <a:srgbClr val="21242A"/>
                </a:solidFill>
                <a:latin typeface="Microsoft YaHei"/>
              </a:defRPr>
            </a:pPr>
            <a:r>
              <a:t>Given differences in follow-up duration between cohorts, analyses were restricted to the first 24 months, during which adequate follow-up was observed in both g</a:t>
            </a:r>
          </a:p>
          <a:p>
            <a:pPr>
              <a:lnSpc>
                <a:spcPct val="103000"/>
              </a:lnSpc>
              <a:spcAft>
                <a:spcPts val="300"/>
              </a:spcAft>
              <a:defRPr sz="570">
                <a:solidFill>
                  <a:srgbClr val="21242A"/>
                </a:solidFill>
                <a:latin typeface="Microsoft YaHei"/>
              </a:defRPr>
            </a:pPr>
            <a:r>
              <a:t>roups.</a:t>
            </a:r>
          </a:p>
          <a:p>
            <a:pPr>
              <a:lnSpc>
                <a:spcPct val="103000"/>
              </a:lnSpc>
              <a:spcAft>
                <a:spcPts val="300"/>
              </a:spcAft>
              <a:defRPr sz="570">
                <a:solidFill>
                  <a:srgbClr val="21242A"/>
                </a:solidFill>
                <a:latin typeface="Microsoft YaHei"/>
              </a:defRPr>
            </a:pPr>
            <a:r>
              <a:t>Restricted mean survival time (RMST) at 24 months was also calculated to compare survival within the fixed time horizon.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Our early real-world data suggest that Pola-R-CHP may provide significant OS and PFS benefit over R-CHOP, including in patients with IPI scores 3-5 and in non-G</a:t>
            </a:r>
          </a:p>
          <a:p>
            <a:pPr>
              <a:lnSpc>
                <a:spcPct val="103000"/>
              </a:lnSpc>
              <a:spcAft>
                <a:spcPts val="300"/>
              </a:spcAft>
              <a:defRPr sz="590">
                <a:solidFill>
                  <a:srgbClr val="21242A"/>
                </a:solidFill>
                <a:latin typeface="Microsoft YaHei"/>
              </a:defRPr>
            </a:pPr>
            <a:r>
              <a:t>CB DLBCL, highlighting its potential role in higher-risk disease.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完全缓解率（CR）</a:t>
                      </a:r>
                    </a:p>
                  </a:txBody>
                  <a:tcPr>
                    <a:solidFill>
                      <a:srgbClr val="F6F8FB"/>
                    </a:solidFill>
                  </a:tcPr>
                </a:tc>
                <a:tc>
                  <a:txBody>
                    <a:bodyPr wrap="square" lIns="36576" rIns="36576" tIns="18288" bIns="18288"/>
                    <a:lstStyle/>
                    <a:p>
                      <a:r>
                        <a:rPr sz="540" b="0">
                          <a:solidFill>
                            <a:srgbClr val="21242A"/>
                          </a:solidFill>
                          <a:latin typeface="Microsoft YaHei"/>
                        </a:rPr>
                        <a:t>Pola-R-CHP组92.0%，R-CHOP组84.3%</a:t>
                      </a:r>
                    </a:p>
                  </a:txBody>
                  <a:tcPr>
                    <a:solidFill>
                      <a:srgbClr val="F6F8FB"/>
                    </a:solidFill>
                  </a:tcPr>
                </a:tc>
              </a:tr>
              <a:tr h="249936">
                <a:tc>
                  <a:txBody>
                    <a:bodyPr wrap="square" lIns="36576" rIns="36576" tIns="18288" bIns="18288"/>
                    <a:lstStyle/>
                    <a:p>
                      <a:r>
                        <a:rPr sz="540" b="1">
                          <a:solidFill>
                            <a:srgbClr val="21242A"/>
                          </a:solidFill>
                          <a:latin typeface="Microsoft YaHei"/>
                        </a:rPr>
                        <a:t>2年总生存率（OS）</a:t>
                      </a:r>
                    </a:p>
                  </a:txBody>
                  <a:tcPr>
                    <a:solidFill>
                      <a:srgbClr val="FFFFFF"/>
                    </a:solidFill>
                  </a:tcPr>
                </a:tc>
                <a:tc>
                  <a:txBody>
                    <a:bodyPr wrap="square" lIns="36576" rIns="36576" tIns="18288" bIns="18288"/>
                    <a:lstStyle/>
                    <a:p>
                      <a:r>
                        <a:rPr sz="540" b="0">
                          <a:solidFill>
                            <a:srgbClr val="21242A"/>
                          </a:solidFill>
                          <a:latin typeface="Microsoft YaHei"/>
                        </a:rPr>
                        <a:t>Pola-R-CHP组92.5%，R-CHOP组77.2%（HR 0.30, 95% CI 0.13-0.70, p=0.003）</a:t>
                      </a:r>
                    </a:p>
                  </a:txBody>
                  <a:tcPr>
                    <a:solidFill>
                      <a:srgbClr val="FFFFFF"/>
                    </a:solidFill>
                  </a:tcPr>
                </a:tc>
              </a:tr>
              <a:tr h="249936">
                <a:tc>
                  <a:txBody>
                    <a:bodyPr wrap="square" lIns="36576" rIns="36576" tIns="18288" bIns="18288"/>
                    <a:lstStyle/>
                    <a:p>
                      <a:r>
                        <a:rPr sz="540" b="1">
                          <a:solidFill>
                            <a:srgbClr val="21242A"/>
                          </a:solidFill>
                          <a:latin typeface="Microsoft YaHei"/>
                        </a:rPr>
                        <a:t>2年无进展生存率（PFS）</a:t>
                      </a:r>
                    </a:p>
                  </a:txBody>
                  <a:tcPr>
                    <a:solidFill>
                      <a:srgbClr val="F6F8FB"/>
                    </a:solidFill>
                  </a:tcPr>
                </a:tc>
                <a:tc>
                  <a:txBody>
                    <a:bodyPr wrap="square" lIns="36576" rIns="36576" tIns="18288" bIns="18288"/>
                    <a:lstStyle/>
                    <a:p>
                      <a:r>
                        <a:rPr sz="540" b="0">
                          <a:solidFill>
                            <a:srgbClr val="21242A"/>
                          </a:solidFill>
                          <a:latin typeface="Microsoft YaHei"/>
                        </a:rPr>
                        <a:t>Pola-R-CHP组79%，R-CHOP组66.2%（HR 0.57, 95% CI 0.34-0.98, p=0.038）</a:t>
                      </a:r>
                    </a:p>
                  </a:txBody>
                  <a:tcPr>
                    <a:solidFill>
                      <a:srgbClr val="F6F8FB"/>
                    </a:solidFill>
                  </a:tcPr>
                </a:tc>
              </a:tr>
              <a:tr h="249936">
                <a:tc>
                  <a:txBody>
                    <a:bodyPr wrap="square" lIns="36576" rIns="36576" tIns="18288" bIns="18288"/>
                    <a:lstStyle/>
                    <a:p>
                      <a:r>
                        <a:rPr sz="540" b="1">
                          <a:solidFill>
                            <a:srgbClr val="21242A"/>
                          </a:solidFill>
                          <a:latin typeface="Microsoft YaHei"/>
                        </a:rPr>
                        <a:t>PFS的24个月限制平均生存时间（RMST）</a:t>
                      </a:r>
                    </a:p>
                  </a:txBody>
                  <a:tcPr>
                    <a:solidFill>
                      <a:srgbClr val="FFFFFF"/>
                    </a:solidFill>
                  </a:tcPr>
                </a:tc>
                <a:tc>
                  <a:txBody>
                    <a:bodyPr wrap="square" lIns="36576" rIns="36576" tIns="18288" bIns="18288"/>
                    <a:lstStyle/>
                    <a:p>
                      <a:r>
                        <a:rPr sz="540" b="0">
                          <a:solidFill>
                            <a:srgbClr val="21242A"/>
                          </a:solidFill>
                          <a:latin typeface="Microsoft YaHei"/>
                        </a:rPr>
                        <a:t>Pola-R-CHP 21.0个月，R-CHOP 19.0个月（差异1.99个月，p=0.027）</a:t>
                      </a:r>
                    </a:p>
                  </a:txBody>
                  <a:tcPr>
                    <a:solidFill>
                      <a:srgbClr val="FFFFFF"/>
                    </a:solidFill>
                  </a:tcPr>
                </a:tc>
              </a:tr>
              <a:tr h="249936">
                <a:tc>
                  <a:txBody>
                    <a:bodyPr wrap="square" lIns="36576" rIns="36576" tIns="18288" bIns="18288"/>
                    <a:lstStyle/>
                    <a:p>
                      <a:r>
                        <a:rPr sz="540" b="1">
                          <a:solidFill>
                            <a:srgbClr val="21242A"/>
                          </a:solidFill>
                          <a:latin typeface="Microsoft YaHei"/>
                        </a:rPr>
                        <a:t>OS的24个月RMST</a:t>
                      </a:r>
                    </a:p>
                  </a:txBody>
                  <a:tcPr>
                    <a:solidFill>
                      <a:srgbClr val="F6F8FB"/>
                    </a:solidFill>
                  </a:tcPr>
                </a:tc>
                <a:tc>
                  <a:txBody>
                    <a:bodyPr wrap="square" lIns="36576" rIns="36576" tIns="18288" bIns="18288"/>
                    <a:lstStyle/>
                    <a:p>
                      <a:r>
                        <a:rPr sz="540" b="0">
                          <a:solidFill>
                            <a:srgbClr val="21242A"/>
                          </a:solidFill>
                          <a:latin typeface="Microsoft YaHei"/>
                        </a:rPr>
                        <a:t>Pola-R-CHP 23.0个月，R-CHOP 20.7个月（差异2.29个月，p=0.001）</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摘要号：PF1004</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药物/技术：ADC</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N=157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回顾性临床研究结果：dynamics and clinical impact of clonal hematopoiesis...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粒细胞中CH检出率：37.7%</a:t>
            </a:r>
          </a:p>
          <a:p>
            <a:pPr>
              <a:lnSpc>
                <a:spcPct val="103000"/>
              </a:lnSpc>
              <a:spcAft>
                <a:spcPts val="300"/>
              </a:spcAft>
              <a:defRPr sz="800">
                <a:solidFill>
                  <a:srgbClr val="21242A"/>
                </a:solidFill>
                <a:latin typeface="Microsoft YaHei"/>
              </a:defRPr>
            </a:pPr>
            <a:r>
              <a:t>CH+ vs CH-患者PFS：55.8% vs 64.1%（p=0.547，无统计学意义）</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研究主题：dynamics and clinical impact of clonal hematopoiesis in diffuse large b-cell lymphoma through multi-compartment genomic...</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\n Clonal hematopoiesis (CH) in diffuse large B-cell lymphoma (DLBCL) has been insufficiently characterized across compartments and over time, limit</a:t>
            </a:r>
          </a:p>
          <a:p>
            <a:pPr>
              <a:lnSpc>
                <a:spcPct val="103000"/>
              </a:lnSpc>
              <a:spcAft>
                <a:spcPts val="300"/>
              </a:spcAft>
              <a:defRPr sz="570">
                <a:solidFill>
                  <a:srgbClr val="21242A"/>
                </a:solidFill>
                <a:latin typeface="Microsoft YaHei"/>
              </a:defRPr>
            </a:pPr>
            <a:r>
              <a:t>ing understanding of its biological and clinical relevance.</a:t>
            </a:r>
          </a:p>
          <a:p>
            <a:pPr>
              <a:lnSpc>
                <a:spcPct val="103000"/>
              </a:lnSpc>
              <a:spcAft>
                <a:spcPts val="300"/>
              </a:spcAft>
              <a:defRPr sz="570">
                <a:solidFill>
                  <a:srgbClr val="21242A"/>
                </a:solidFill>
                <a:latin typeface="Microsoft YaHei"/>
              </a:defRPr>
            </a:pPr>
            <a:r>
              <a:t>Aims: i ) Characterize CH from the myeloid compartment and plasma cfDNA; ii ) evaluate the clinical impact of CH in newly diagnosed DLBCL and its association wi</a:t>
            </a:r>
          </a:p>
          <a:p>
            <a:pPr>
              <a:lnSpc>
                <a:spcPct val="103000"/>
              </a:lnSpc>
              <a:spcAft>
                <a:spcPts val="300"/>
              </a:spcAft>
              <a:defRPr sz="570">
                <a:solidFill>
                  <a:srgbClr val="21242A"/>
                </a:solidFill>
                <a:latin typeface="Microsoft YaHei"/>
              </a:defRPr>
            </a:pPr>
            <a:r>
              <a:t>th disease molecular subtypes; iii ) assess the clonal dynamics of CH at baseline and at end of treatment (EOT); iv ) determine the prevalence and clinical sign</a:t>
            </a:r>
          </a:p>
          <a:p>
            <a:pPr>
              <a:lnSpc>
                <a:spcPct val="103000"/>
              </a:lnSpc>
              <a:spcAft>
                <a:spcPts val="300"/>
              </a:spcAft>
              <a:defRPr sz="570">
                <a:solidFill>
                  <a:srgbClr val="21242A"/>
                </a:solidFill>
                <a:latin typeface="Microsoft YaHei"/>
              </a:defRPr>
            </a:pPr>
            <a:r>
              <a:t>ificance of tumor infiltrating (TI)-CH in DLBCL.</a:t>
            </a:r>
          </a:p>
          <a:p>
            <a:pPr>
              <a:lnSpc>
                <a:spcPct val="103000"/>
              </a:lnSpc>
              <a:spcAft>
                <a:spcPts val="300"/>
              </a:spcAft>
              <a:defRPr sz="570">
                <a:solidFill>
                  <a:srgbClr val="21242A"/>
                </a:solidFill>
                <a:latin typeface="Microsoft YaHei"/>
              </a:defRPr>
            </a:pPr>
            <a:r>
              <a:t>Methods: \n \n We analyzed 453 samples from 157 newly diagnosed DLBCL patients treated with R-CHOP–like regimens using CAPP-Seq–based NGS targeting 28 CH-relate</a:t>
            </a:r>
          </a:p>
          <a:p>
            <a:pPr>
              <a:lnSpc>
                <a:spcPct val="103000"/>
              </a:lnSpc>
              <a:spcAft>
                <a:spcPts val="300"/>
              </a:spcAft>
              <a:defRPr sz="570">
                <a:solidFill>
                  <a:srgbClr val="21242A"/>
                </a:solidFill>
                <a:latin typeface="Microsoft YaHei"/>
              </a:defRPr>
            </a:pPr>
            <a:r>
              <a:t>d genes.</a:t>
            </a:r>
          </a:p>
          <a:p>
            <a:pPr>
              <a:lnSpc>
                <a:spcPct val="103000"/>
              </a:lnSpc>
              <a:spcAft>
                <a:spcPts val="300"/>
              </a:spcAft>
              <a:defRPr sz="570">
                <a:solidFill>
                  <a:srgbClr val="21242A"/>
                </a:solidFill>
                <a:latin typeface="Microsoft YaHei"/>
              </a:defRPr>
            </a:pPr>
            <a:r>
              <a:t>Samples included peripheral blood (PB) Ficoll isolated granulocytes (n=151), serial plasma cfDNA [n=107 baseline, n=47 at cycle (C) 3, and n=92 at EOT], and lym</a:t>
            </a:r>
          </a:p>
          <a:p>
            <a:pPr>
              <a:lnSpc>
                <a:spcPct val="103000"/>
              </a:lnSpc>
              <a:spcAft>
                <a:spcPts val="300"/>
              </a:spcAft>
              <a:defRPr sz="570">
                <a:solidFill>
                  <a:srgbClr val="21242A"/>
                </a:solidFill>
                <a:latin typeface="Microsoft YaHei"/>
              </a:defRPr>
            </a:pPr>
            <a:r>
              <a:t>ph node biopsies (n=56).</a:t>
            </a:r>
          </a:p>
          <a:p>
            <a:pPr>
              <a:lnSpc>
                <a:spcPct val="103000"/>
              </a:lnSpc>
              <a:spcAft>
                <a:spcPts val="300"/>
              </a:spcAft>
              <a:defRPr sz="570">
                <a:solidFill>
                  <a:srgbClr val="21242A"/>
                </a:solidFill>
                <a:latin typeface="Microsoft YaHei"/>
              </a:defRPr>
            </a:pPr>
            <a:r>
              <a:t>Clonal fitness was estimated from weighted regression on logit-transformed VAF (Fig. 1E). DLBclass clustering was available for 102 patients. \n</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\n Multi-compartment profiling shows that CH in DLBCL is frequent and detectable in multiple compartments, enriched in specific molecular subtypes, and associat</a:t>
            </a:r>
          </a:p>
          <a:p>
            <a:pPr>
              <a:lnSpc>
                <a:spcPct val="103000"/>
              </a:lnSpc>
              <a:spcAft>
                <a:spcPts val="300"/>
              </a:spcAft>
              <a:defRPr sz="590">
                <a:solidFill>
                  <a:srgbClr val="21242A"/>
                </a:solidFill>
                <a:latin typeface="Microsoft YaHei"/>
              </a:defRPr>
            </a:pPr>
            <a:r>
              <a:t>ed with an increased risk of second primary malignancies.</a:t>
            </a:r>
          </a:p>
          <a:p>
            <a:pPr>
              <a:lnSpc>
                <a:spcPct val="103000"/>
              </a:lnSpc>
              <a:spcAft>
                <a:spcPts val="300"/>
              </a:spcAft>
              <a:defRPr sz="590">
                <a:solidFill>
                  <a:srgbClr val="21242A"/>
                </a:solidFill>
                <a:latin typeface="Microsoft YaHei"/>
              </a:defRPr>
            </a:pPr>
            <a:r>
              <a:t>R-CHOP–based therapy promotes expansion of CH clones, including early emergence of PPM1D mutations.</a:t>
            </a:r>
          </a:p>
          <a:p>
            <a:pPr>
              <a:lnSpc>
                <a:spcPct val="103000"/>
              </a:lnSpc>
              <a:spcAft>
                <a:spcPts val="300"/>
              </a:spcAft>
              <a:defRPr sz="590">
                <a:solidFill>
                  <a:srgbClr val="21242A"/>
                </a:solidFill>
                <a:latin typeface="Microsoft YaHei"/>
              </a:defRPr>
            </a:pPr>
            <a:r>
              <a:t>While CH in PB did not significantly affect survival, TI-CH DNMT3A mutations emerged as an independent predictor of inferior PFS and OS in DLBCL treated with CI</a:t>
            </a:r>
          </a:p>
          <a:p>
            <a:pPr>
              <a:lnSpc>
                <a:spcPct val="103000"/>
              </a:lnSpc>
              <a:spcAft>
                <a:spcPts val="300"/>
              </a:spcAft>
              <a:defRPr sz="590">
                <a:solidFill>
                  <a:srgbClr val="21242A"/>
                </a:solidFill>
                <a:latin typeface="Microsoft YaHei"/>
              </a:defRPr>
            </a:pPr>
            <a:r>
              <a:t>T.</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\n Median age of the cohort was 67 years.</a:t>
            </a:r>
          </a:p>
          <a:p>
            <a:pPr>
              <a:lnSpc>
                <a:spcPct val="103000"/>
              </a:lnSpc>
              <a:spcAft>
                <a:spcPts val="300"/>
              </a:spcAft>
              <a:defRPr sz="580">
                <a:solidFill>
                  <a:srgbClr val="21242A"/>
                </a:solidFill>
                <a:latin typeface="Microsoft YaHei"/>
              </a:defRPr>
            </a:pPr>
            <a:r>
              <a:t>CH was detected in the granulocyte compartment in 37.7% of patients, with DNMT3A (20.5%) and TET2 (14.6%) as the most frequently mutated genes (Fig. 1A).</a:t>
            </a:r>
          </a:p>
          <a:p>
            <a:pPr>
              <a:lnSpc>
                <a:spcPct val="103000"/>
              </a:lnSpc>
              <a:spcAft>
                <a:spcPts val="300"/>
              </a:spcAft>
              <a:defRPr sz="580">
                <a:solidFill>
                  <a:srgbClr val="21242A"/>
                </a:solidFill>
                <a:latin typeface="Microsoft YaHei"/>
              </a:defRPr>
            </a:pPr>
            <a:r>
              <a:t>Among CH + patients, DNMT3A mutations were significantly enriched in the C3 molecular subtype of DLBCL ( p =0.005) (Fig. 1B).</a:t>
            </a:r>
          </a:p>
          <a:p>
            <a:pPr>
              <a:lnSpc>
                <a:spcPct val="103000"/>
              </a:lnSpc>
              <a:spcAft>
                <a:spcPts val="300"/>
              </a:spcAft>
              <a:defRPr sz="580">
                <a:solidFill>
                  <a:srgbClr val="21242A"/>
                </a:solidFill>
                <a:latin typeface="Microsoft YaHei"/>
              </a:defRPr>
            </a:pPr>
            <a:r>
              <a:t>Both DNMT3A and TET2 mutations significantly associated with an increased risk of second primary malignancies (5-year CIF: 7.1 vs 16.3, P =0.03; 7.3 vs 19.</a:t>
            </a:r>
          </a:p>
          <a:p>
            <a:pPr>
              <a:lnSpc>
                <a:spcPct val="103000"/>
              </a:lnSpc>
              <a:spcAft>
                <a:spcPts val="300"/>
              </a:spcAft>
              <a:defRPr sz="580">
                <a:solidFill>
                  <a:srgbClr val="21242A"/>
                </a:solidFill>
                <a:latin typeface="Microsoft YaHei"/>
              </a:defRPr>
            </a:pPr>
            <a:r>
              <a:t>4, p .</a:t>
            </a:r>
          </a:p>
          <a:p>
            <a:pPr>
              <a:lnSpc>
                <a:spcPct val="103000"/>
              </a:lnSpc>
              <a:spcAft>
                <a:spcPts val="300"/>
              </a:spcAft>
              <a:defRPr sz="580">
                <a:solidFill>
                  <a:srgbClr val="21242A"/>
                </a:solidFill>
                <a:latin typeface="Microsoft YaHei"/>
              </a:defRPr>
            </a:pPr>
            <a:r>
              <a:t>In plasma, cfDNA sequencing detected 78 of 80 CH granulocyte mutations (97.5% sensitivity), with strong VAF correlation between compartments (r=0.89, p The</a:t>
            </a:r>
          </a:p>
          <a:p>
            <a:pPr>
              <a:lnSpc>
                <a:spcPct val="103000"/>
              </a:lnSpc>
              <a:spcAft>
                <a:spcPts val="300"/>
              </a:spcAft>
              <a:defRPr sz="580">
                <a:solidFill>
                  <a:srgbClr val="21242A"/>
                </a:solidFill>
                <a:latin typeface="Microsoft YaHei"/>
              </a:defRPr>
            </a:pPr>
            <a:r>
              <a:t> most common mutations were DNMT3A (22.4%) and TET2 (15.0%).</a:t>
            </a:r>
          </a:p>
          <a:p>
            <a:pPr>
              <a:lnSpc>
                <a:spcPct val="103000"/>
              </a:lnSpc>
              <a:spcAft>
                <a:spcPts val="300"/>
              </a:spcAft>
              <a:defRPr sz="580">
                <a:solidFill>
                  <a:srgbClr val="21242A"/>
                </a:solidFill>
                <a:latin typeface="Microsoft YaHei"/>
              </a:defRPr>
            </a:pPr>
            <a:r>
              <a:t>In PB, CH + patients demonstrated marginally reduced PFS (55.8% vs. 64.1%) and OS (69.8% vs.</a:t>
            </a:r>
          </a:p>
          <a:p>
            <a:pPr>
              <a:lnSpc>
                <a:spcPct val="103000"/>
              </a:lnSpc>
              <a:spcAft>
                <a:spcPts val="300"/>
              </a:spcAft>
              <a:defRPr sz="580">
                <a:solidFill>
                  <a:srgbClr val="21242A"/>
                </a:solidFill>
                <a:latin typeface="Microsoft YaHei"/>
              </a:defRPr>
            </a:pPr>
            <a:r>
              <a:t>72.4%) relative to CH - cases, without however reaching statistical significance ( p =0.547 and P =0.466, respectively).</a:t>
            </a:r>
          </a:p>
          <a:p>
            <a:pPr>
              <a:lnSpc>
                <a:spcPct val="103000"/>
              </a:lnSpc>
              <a:spcAft>
                <a:spcPts val="300"/>
              </a:spcAft>
              <a:defRPr sz="580">
                <a:solidFill>
                  <a:srgbClr val="21242A"/>
                </a:solidFill>
                <a:latin typeface="Microsoft YaHei"/>
              </a:defRPr>
            </a:pPr>
            <a:r>
              <a:t>At EOT, the prevalence of CH increased from 34.7% at baseline to 50.5% ( p p mutations of PPM1D were mostly undetectable before treatment but emerged follo</a:t>
            </a:r>
          </a:p>
          <a:p>
            <a:pPr>
              <a:lnSpc>
                <a:spcPct val="103000"/>
              </a:lnSpc>
              <a:spcAft>
                <a:spcPts val="300"/>
              </a:spcAft>
              <a:defRPr sz="580">
                <a:solidFill>
                  <a:srgbClr val="21242A"/>
                </a:solidFill>
                <a:latin typeface="Microsoft YaHei"/>
              </a:defRPr>
            </a:pPr>
            <a:r>
              <a:t>wing chemoimmunotherapy (CIT), increasing from 1.1% baseline cases to 16.3% EOT cases and showing the highest inferred clonal fitness (Fig.</a:t>
            </a:r>
          </a:p>
          <a:p>
            <a:pPr>
              <a:lnSpc>
                <a:spcPct val="103000"/>
              </a:lnSpc>
              <a:spcAft>
                <a:spcPts val="300"/>
              </a:spcAft>
              <a:defRPr sz="580">
                <a:solidFill>
                  <a:srgbClr val="21242A"/>
                </a:solidFill>
                <a:latin typeface="Microsoft YaHei"/>
              </a:defRPr>
            </a:pPr>
            <a:r>
              <a:t>1D).</a:t>
            </a:r>
          </a:p>
          <a:p>
            <a:pPr>
              <a:lnSpc>
                <a:spcPct val="103000"/>
              </a:lnSpc>
              <a:spcAft>
                <a:spcPts val="300"/>
              </a:spcAft>
              <a:defRPr sz="580">
                <a:solidFill>
                  <a:srgbClr val="21242A"/>
                </a:solidFill>
                <a:latin typeface="Microsoft YaHei"/>
              </a:defRPr>
            </a:pPr>
            <a:r>
              <a:t>All PPM1D mutations were already detectable after C3, with higher clonal fitness from baseline to C3 compared to C3 to EOT, suggesting an early CIT-driven </a:t>
            </a:r>
          </a:p>
          <a:p>
            <a:pPr>
              <a:lnSpc>
                <a:spcPct val="103000"/>
              </a:lnSpc>
              <a:spcAft>
                <a:spcPts val="300"/>
              </a:spcAft>
              <a:defRPr sz="580">
                <a:solidFill>
                  <a:srgbClr val="21242A"/>
                </a:solidFill>
                <a:latin typeface="Microsoft YaHei"/>
              </a:defRPr>
            </a:pPr>
            <a:r>
              <a:t>bottleneck effect ( p =0.03).</a:t>
            </a:r>
          </a:p>
          <a:p>
            <a:pPr>
              <a:lnSpc>
                <a:spcPct val="103000"/>
              </a:lnSpc>
              <a:spcAft>
                <a:spcPts val="300"/>
              </a:spcAft>
              <a:defRPr sz="580">
                <a:solidFill>
                  <a:srgbClr val="21242A"/>
                </a:solidFill>
                <a:latin typeface="Microsoft YaHei"/>
              </a:defRPr>
            </a:pPr>
            <a:r>
              <a:t>In tissue biopsies, at least one TI-CH mutation occurred in 42.9% of patients, most commonly involving DNMT3A (21.4%, VAF range 0.4–27.0) and TET2 (16.1%, </a:t>
            </a:r>
          </a:p>
          <a:p>
            <a:pPr>
              <a:lnSpc>
                <a:spcPct val="103000"/>
              </a:lnSpc>
              <a:spcAft>
                <a:spcPts val="300"/>
              </a:spcAft>
              <a:defRPr sz="580">
                <a:solidFill>
                  <a:srgbClr val="21242A"/>
                </a:solidFill>
                <a:latin typeface="Microsoft YaHei"/>
              </a:defRPr>
            </a:pPr>
            <a:r>
              <a:t>VAF range 0.4–27.4), almost mutually exclusive.</a:t>
            </a:r>
          </a:p>
          <a:p>
            <a:pPr>
              <a:lnSpc>
                <a:spcPct val="103000"/>
              </a:lnSpc>
              <a:spcAft>
                <a:spcPts val="300"/>
              </a:spcAft>
              <a:defRPr sz="580">
                <a:solidFill>
                  <a:srgbClr val="21242A"/>
                </a:solidFill>
                <a:latin typeface="Microsoft YaHei"/>
              </a:defRPr>
            </a:pPr>
            <a:r>
              <a:t>At a median follow-up of 69 months, TI- DNMT3A + patients had a significantly inferior PFS (33.3% vs 70.9%, p =0.009) and OS (41.7% vs 83.7%, p DNMT3A − ca</a:t>
            </a:r>
          </a:p>
          <a:p>
            <a:pPr>
              <a:lnSpc>
                <a:spcPct val="103000"/>
              </a:lnSpc>
              <a:spcAft>
                <a:spcPts val="300"/>
              </a:spcAft>
              <a:defRPr sz="580">
                <a:solidFill>
                  <a:srgbClr val="21242A"/>
                </a:solidFill>
                <a:latin typeface="Microsoft YaHei"/>
              </a:defRPr>
            </a:pPr>
            <a:r>
              <a:t>ses.</a:t>
            </a:r>
          </a:p>
          <a:p>
            <a:pPr>
              <a:lnSpc>
                <a:spcPct val="103000"/>
              </a:lnSpc>
              <a:spcAft>
                <a:spcPts val="300"/>
              </a:spcAft>
              <a:defRPr sz="580">
                <a:solidFill>
                  <a:srgbClr val="21242A"/>
                </a:solidFill>
                <a:latin typeface="Microsoft YaHei"/>
              </a:defRPr>
            </a:pPr>
            <a:r>
              <a:t>This adverse impact remained significant after adjusting for the international prognostic index (Fig. 1E). \n</a:t>
            </a:r>
          </a:p>
          <a:p>
            <a:pPr>
              <a:lnSpc>
                <a:spcPct val="103000"/>
              </a:lnSpc>
              <a:spcAft>
                <a:spcPts val="300"/>
              </a:spcAft>
              <a:defRPr sz="580">
                <a:solidFill>
                  <a:srgbClr val="21242A"/>
                </a:solidFill>
                <a:latin typeface="Microsoft YaHei"/>
              </a:defRPr>
            </a:pPr>
            <a:r>
              <a:t>Conclusion: \n Multi-compartment profiling shows that CH in DLBCL is frequent and detectable in multiple compartments, enriched in specific molecular subty</a:t>
            </a:r>
          </a:p>
          <a:p>
            <a:pPr>
              <a:lnSpc>
                <a:spcPct val="103000"/>
              </a:lnSpc>
              <a:spcAft>
                <a:spcPts val="300"/>
              </a:spcAft>
              <a:defRPr sz="580">
                <a:solidFill>
                  <a:srgbClr val="21242A"/>
                </a:solidFill>
                <a:latin typeface="Microsoft YaHei"/>
              </a:defRPr>
            </a:pPr>
            <a:r>
              <a:t>pes, and associated with an increased risk of second primary malignancies.</a:t>
            </a:r>
          </a:p>
          <a:p>
            <a:pPr>
              <a:lnSpc>
                <a:spcPct val="103000"/>
              </a:lnSpc>
              <a:spcAft>
                <a:spcPts val="300"/>
              </a:spcAft>
              <a:defRPr sz="580">
                <a:solidFill>
                  <a:srgbClr val="21242A"/>
                </a:solidFill>
                <a:latin typeface="Microsoft YaHei"/>
              </a:defRPr>
            </a:pPr>
            <a:r>
              <a:t>R-CHOP–based therapy promotes expansion of CH clones, including early emergence of PPM1D mutations.</a:t>
            </a:r>
          </a:p>
          <a:p>
            <a:pPr>
              <a:lnSpc>
                <a:spcPct val="103000"/>
              </a:lnSpc>
              <a:spcAft>
                <a:spcPts val="300"/>
              </a:spcAft>
              <a:defRPr sz="580">
                <a:solidFill>
                  <a:srgbClr val="21242A"/>
                </a:solidFill>
                <a:latin typeface="Microsoft YaHei"/>
              </a:defRPr>
            </a:pPr>
            <a:r>
              <a:t>While CH in PB did not significantly affect survival, TI-CH DNMT3A mutations emerged as an independent predictor of inferior PFS and OS in DLBCL treated wi</a:t>
            </a:r>
          </a:p>
          <a:p>
            <a:pPr>
              <a:lnSpc>
                <a:spcPct val="103000"/>
              </a:lnSpc>
              <a:spcAft>
                <a:spcPts val="300"/>
              </a:spcAft>
              <a:defRPr sz="580">
                <a:solidFill>
                  <a:srgbClr val="21242A"/>
                </a:solidFill>
                <a:latin typeface="Microsoft YaHei"/>
              </a:defRPr>
            </a:pPr>
            <a:r>
              <a:t>th CIT.</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摘要号：S255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ebv阳性弥漫性大b细胞淋巴瘤血浆ebv-dna水平预后模型的建立：一项回顾性单中心研究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of a prognostic model incorporating plasma ebv-dna level for ebv-...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回顾性临床研究结果：development of a prognostic model incorporating plasm...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1年总生存率62.1%，3年总生存率48.3%，5年总生存率36.2%</a:t>
            </a:r>
          </a:p>
          <a:p>
            <a:pPr>
              <a:lnSpc>
                <a:spcPct val="103000"/>
              </a:lnSpc>
              <a:spcAft>
                <a:spcPts val="300"/>
              </a:spcAft>
              <a:defRPr sz="800">
                <a:solidFill>
                  <a:srgbClr val="21242A"/>
                </a:solidFill>
                <a:latin typeface="Microsoft YaHei"/>
              </a:defRPr>
            </a:pPr>
            <a:r>
              <a:t>1年无进展生存率60.3%，3年无进展生存率44.8%，5年无进展生存率34.5%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研究主题：development of a prognostic model incorporating plasma ebv-dna level for ebv-positive diffuse large b-cell lymphoma: 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ebv阳性弥漫性大b细胞淋巴瘤血浆ebv-dna水平预后模型的建立：一项回顾性单中心研究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of a prognostic model incorporating plasma ebv-dna level for ebv-...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Epstein-Barr virus-positive diffuse large B-cell lymphoma (EBV+ DLBCL) is an aggressive subtype accounting for 10%–15% of DLBCL cases worldwide.</a:t>
            </a:r>
          </a:p>
          <a:p>
            <a:pPr>
              <a:lnSpc>
                <a:spcPct val="103000"/>
              </a:lnSpc>
              <a:spcAft>
                <a:spcPts val="300"/>
              </a:spcAft>
              <a:defRPr sz="570">
                <a:solidFill>
                  <a:srgbClr val="21242A"/>
                </a:solidFill>
                <a:latin typeface="Microsoft YaHei"/>
              </a:defRPr>
            </a:pPr>
            <a:r>
              <a:t>Despite advances in chemoimmunotherapy, patients with EBV+ DLBCL continue to experience inferior outcomes compared to EBV-negative counterparts.</a:t>
            </a:r>
          </a:p>
          <a:p>
            <a:pPr>
              <a:lnSpc>
                <a:spcPct val="103000"/>
              </a:lnSpc>
              <a:spcAft>
                <a:spcPts val="300"/>
              </a:spcAft>
              <a:defRPr sz="570">
                <a:solidFill>
                  <a:srgbClr val="21242A"/>
                </a:solidFill>
                <a:latin typeface="Microsoft YaHei"/>
              </a:defRPr>
            </a:pPr>
            <a:r>
              <a:t>The International Prognostic Index (IPI) is widely used for DLBCL risk stratification, but no dedicated prognostic model exists for EBV+ DLBCL.</a:t>
            </a:r>
          </a:p>
          <a:p>
            <a:pPr>
              <a:lnSpc>
                <a:spcPct val="103000"/>
              </a:lnSpc>
              <a:spcAft>
                <a:spcPts val="300"/>
              </a:spcAft>
              <a:defRPr sz="570">
                <a:solidFill>
                  <a:srgbClr val="21242A"/>
                </a:solidFill>
                <a:latin typeface="Microsoft YaHei"/>
              </a:defRPr>
            </a:pPr>
            <a:r>
              <a:t>Emerging evidence suggests that pretreatment plasma EBV-DNA level may serve as a prognostic biomarker. However, models incorporating this parameter are lacking.</a:t>
            </a:r>
          </a:p>
          <a:p>
            <a:pPr>
              <a:lnSpc>
                <a:spcPct val="103000"/>
              </a:lnSpc>
              <a:spcAft>
                <a:spcPts val="300"/>
              </a:spcAft>
              <a:defRPr sz="570">
                <a:solidFill>
                  <a:srgbClr val="21242A"/>
                </a:solidFill>
                <a:latin typeface="Microsoft YaHei"/>
              </a:defRPr>
            </a:pPr>
            <a:r>
              <a:t>We therefore conducted a retrospective study to develop a prognostic model integrating plasma EBV-DNA level for EBV+ DLBCL.</a:t>
            </a:r>
          </a:p>
          <a:p>
            <a:pPr>
              <a:lnSpc>
                <a:spcPct val="103000"/>
              </a:lnSpc>
              <a:spcAft>
                <a:spcPts val="300"/>
              </a:spcAft>
              <a:defRPr sz="570">
                <a:solidFill>
                  <a:srgbClr val="21242A"/>
                </a:solidFill>
                <a:latin typeface="Microsoft YaHei"/>
              </a:defRPr>
            </a:pPr>
            <a:r>
              <a:t>Aims: To evaluate the prognostic impact of plasma EBV-DNA level on overall survival (OS) and progression-free survival (PFS), and to develop a predictive model </a:t>
            </a:r>
          </a:p>
          <a:p>
            <a:pPr>
              <a:lnSpc>
                <a:spcPct val="103000"/>
              </a:lnSpc>
              <a:spcAft>
                <a:spcPts val="300"/>
              </a:spcAft>
              <a:defRPr sz="570">
                <a:solidFill>
                  <a:srgbClr val="21242A"/>
                </a:solidFill>
                <a:latin typeface="Microsoft YaHei"/>
              </a:defRPr>
            </a:pPr>
            <a:r>
              <a:t>for OS in patients with EBV+ DLBCL.</a:t>
            </a:r>
          </a:p>
          <a:p>
            <a:pPr>
              <a:lnSpc>
                <a:spcPct val="103000"/>
              </a:lnSpc>
              <a:spcAft>
                <a:spcPts val="300"/>
              </a:spcAft>
              <a:defRPr sz="570">
                <a:solidFill>
                  <a:srgbClr val="21242A"/>
                </a:solidFill>
                <a:latin typeface="Microsoft YaHei"/>
              </a:defRPr>
            </a:pPr>
            <a:r>
              <a:t>Methods: This single-center retrospective study enrolled 58 patients diagnosed with EBV+ DLBCL at West China Hospital, Sichuan University between January 2010 a</a:t>
            </a:r>
          </a:p>
          <a:p>
            <a:pPr>
              <a:lnSpc>
                <a:spcPct val="103000"/>
              </a:lnSpc>
              <a:spcAft>
                <a:spcPts val="300"/>
              </a:spcAft>
              <a:defRPr sz="570">
                <a:solidFill>
                  <a:srgbClr val="21242A"/>
                </a:solidFill>
                <a:latin typeface="Microsoft YaHei"/>
              </a:defRPr>
            </a:pPr>
            <a:r>
              <a:t>nd January 2025.</a:t>
            </a:r>
          </a:p>
          <a:p>
            <a:pPr>
              <a:lnSpc>
                <a:spcPct val="103000"/>
              </a:lnSpc>
              <a:spcAft>
                <a:spcPts val="300"/>
              </a:spcAft>
              <a:defRPr sz="570">
                <a:solidFill>
                  <a:srgbClr val="21242A"/>
                </a:solidFill>
                <a:latin typeface="Microsoft YaHei"/>
              </a:defRPr>
            </a:pPr>
            <a:r>
              <a:t>OS and PFS were analyzed using the Kaplan-Meier method and multivariable Cox proportional hazards regression, and plasma EBV-DNA level was log10-transformed for</a:t>
            </a:r>
          </a:p>
          <a:p>
            <a:pPr>
              <a:lnSpc>
                <a:spcPct val="103000"/>
              </a:lnSpc>
              <a:spcAft>
                <a:spcPts val="300"/>
              </a:spcAft>
              <a:defRPr sz="570">
                <a:solidFill>
                  <a:srgbClr val="21242A"/>
                </a:solidFill>
                <a:latin typeface="Microsoft YaHei"/>
              </a:defRPr>
            </a:pPr>
            <a:r>
              <a:t> the regression model.</a:t>
            </a:r>
          </a:p>
          <a:p>
            <a:pPr>
              <a:lnSpc>
                <a:spcPct val="103000"/>
              </a:lnSpc>
              <a:spcAft>
                <a:spcPts val="300"/>
              </a:spcAft>
              <a:defRPr sz="570">
                <a:solidFill>
                  <a:srgbClr val="21242A"/>
                </a:solidFill>
                <a:latin typeface="Microsoft YaHei"/>
              </a:defRPr>
            </a:pPr>
            <a:r>
              <a:t>A nomogram was constructed based on the Cox model to visualize probability estimates for OS.</a:t>
            </a:r>
          </a:p>
          <a:p>
            <a:pPr>
              <a:lnSpc>
                <a:spcPct val="103000"/>
              </a:lnSpc>
              <a:spcAft>
                <a:spcPts val="300"/>
              </a:spcAft>
              <a:defRPr sz="570">
                <a:solidFill>
                  <a:srgbClr val="21242A"/>
                </a:solidFill>
                <a:latin typeface="Microsoft YaHei"/>
              </a:defRPr>
            </a:pPr>
            <a:r>
              <a:t>The model's discriminatory performance was quantified by Harrell's C-index, after verifying the proportional hazards assumption with the Schoenfeld residuals te</a:t>
            </a:r>
          </a:p>
          <a:p>
            <a:pPr>
              <a:lnSpc>
                <a:spcPct val="103000"/>
              </a:lnSpc>
              <a:spcAft>
                <a:spcPts val="300"/>
              </a:spcAft>
              <a:defRPr sz="570">
                <a:solidFill>
                  <a:srgbClr val="21242A"/>
                </a:solidFill>
                <a:latin typeface="Microsoft YaHei"/>
              </a:defRPr>
            </a:pPr>
            <a:r>
              <a:t>st.</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 prognostic model incorporating plasma EBV-DNA level, presence of HLH, and ECOG-PS ≥2 demonstrated robust predictive performance for outcomes in patients wit</a:t>
            </a:r>
          </a:p>
          <a:p>
            <a:pPr>
              <a:lnSpc>
                <a:spcPct val="103000"/>
              </a:lnSpc>
              <a:spcAft>
                <a:spcPts val="300"/>
              </a:spcAft>
              <a:defRPr sz="590">
                <a:solidFill>
                  <a:srgbClr val="21242A"/>
                </a:solidFill>
                <a:latin typeface="Microsoft YaHei"/>
              </a:defRPr>
            </a:pPr>
            <a:r>
              <a:t>h EBV+ DLBCL, and may facilitate risk stratification and individualized treatment decisions.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Median age was 57.7 years (range 15.0–83.0).</a:t>
            </a:r>
          </a:p>
          <a:p>
            <a:pPr>
              <a:lnSpc>
                <a:spcPct val="103000"/>
              </a:lnSpc>
              <a:spcAft>
                <a:spcPts val="300"/>
              </a:spcAft>
              <a:defRPr sz="580">
                <a:solidFill>
                  <a:srgbClr val="21242A"/>
                </a:solidFill>
                <a:latin typeface="Microsoft YaHei"/>
              </a:defRPr>
            </a:pPr>
            <a:r>
              <a:t>Advanced stage (III/IV) was present in 75.8% of patients, extranodal involvement in 79.3%, B symptoms in 46.6%, and hemophagocytic lymphohistiocytosis (HLH</a:t>
            </a:r>
          </a:p>
          <a:p>
            <a:pPr>
              <a:lnSpc>
                <a:spcPct val="103000"/>
              </a:lnSpc>
              <a:spcAft>
                <a:spcPts val="300"/>
              </a:spcAft>
              <a:defRPr sz="580">
                <a:solidFill>
                  <a:srgbClr val="21242A"/>
                </a:solidFill>
                <a:latin typeface="Microsoft YaHei"/>
              </a:defRPr>
            </a:pPr>
            <a:r>
              <a:t>) in 8%.</a:t>
            </a:r>
          </a:p>
          <a:p>
            <a:pPr>
              <a:lnSpc>
                <a:spcPct val="103000"/>
              </a:lnSpc>
              <a:spcAft>
                <a:spcPts val="300"/>
              </a:spcAft>
              <a:defRPr sz="580">
                <a:solidFill>
                  <a:srgbClr val="21242A"/>
                </a:solidFill>
                <a:latin typeface="Microsoft YaHei"/>
              </a:defRPr>
            </a:pPr>
            <a:r>
              <a:t>Ki67 index was ≥20% in all 53 patients assessed, and CD30 positivity was 76.6% (36/47).</a:t>
            </a:r>
          </a:p>
          <a:p>
            <a:pPr>
              <a:lnSpc>
                <a:spcPct val="103000"/>
              </a:lnSpc>
              <a:spcAft>
                <a:spcPts val="300"/>
              </a:spcAft>
              <a:defRPr sz="580">
                <a:solidFill>
                  <a:srgbClr val="21242A"/>
                </a:solidFill>
                <a:latin typeface="Microsoft YaHei"/>
              </a:defRPr>
            </a:pPr>
            <a:r>
              <a:t>After a median follow-up of 39 months (range 0.7–137.4), the 1-year, 3-year, and 5-year OS rates were 62.1%, 48.3%, and 36.2%, respectively, and the corres</a:t>
            </a:r>
          </a:p>
          <a:p>
            <a:pPr>
              <a:lnSpc>
                <a:spcPct val="103000"/>
              </a:lnSpc>
              <a:spcAft>
                <a:spcPts val="300"/>
              </a:spcAft>
              <a:defRPr sz="580">
                <a:solidFill>
                  <a:srgbClr val="21242A"/>
                </a:solidFill>
                <a:latin typeface="Microsoft YaHei"/>
              </a:defRPr>
            </a:pPr>
            <a:r>
              <a:t>ponding PFS rates were 60.3%, 44.8%, and 34.5%.</a:t>
            </a:r>
          </a:p>
          <a:p>
            <a:pPr>
              <a:lnSpc>
                <a:spcPct val="103000"/>
              </a:lnSpc>
              <a:spcAft>
                <a:spcPts val="300"/>
              </a:spcAft>
              <a:defRPr sz="580">
                <a:solidFill>
                  <a:srgbClr val="21242A"/>
                </a:solidFill>
                <a:latin typeface="Microsoft YaHei"/>
              </a:defRPr>
            </a:pPr>
            <a:r>
              <a:t>\n Univariate analysis revealed that plasma EBV-DNA level, presence of HLH, ECOG-PS ≥2, and age ≥60 years are independent prognostic factors for both OS an</a:t>
            </a:r>
          </a:p>
          <a:p>
            <a:pPr>
              <a:lnSpc>
                <a:spcPct val="103000"/>
              </a:lnSpc>
              <a:spcAft>
                <a:spcPts val="300"/>
              </a:spcAft>
              <a:defRPr sz="580">
                <a:solidFill>
                  <a:srgbClr val="21242A"/>
                </a:solidFill>
                <a:latin typeface="Microsoft YaHei"/>
              </a:defRPr>
            </a:pPr>
            <a:r>
              <a:t>d PFS.</a:t>
            </a:r>
          </a:p>
          <a:p>
            <a:pPr>
              <a:lnSpc>
                <a:spcPct val="103000"/>
              </a:lnSpc>
              <a:spcAft>
                <a:spcPts val="300"/>
              </a:spcAft>
              <a:defRPr sz="580">
                <a:solidFill>
                  <a:srgbClr val="21242A"/>
                </a:solidFill>
                <a:latin typeface="Microsoft YaHei"/>
              </a:defRPr>
            </a:pPr>
            <a:r>
              <a:t>Multivariate Cox proportional hazards model identified plasma EBV-DNA level (log10-transformed) (HR 1.75; 95% CI, 1.28-2.38; P</a:t>
            </a:r>
          </a:p>
          <a:p>
            <a:pPr>
              <a:lnSpc>
                <a:spcPct val="103000"/>
              </a:lnSpc>
              <a:spcAft>
                <a:spcPts val="300"/>
              </a:spcAft>
              <a:defRPr sz="580">
                <a:solidFill>
                  <a:srgbClr val="21242A"/>
                </a:solidFill>
                <a:latin typeface="Microsoft YaHei"/>
              </a:defRPr>
            </a:pPr>
            <a:r>
              <a:t>Conclusion: The prognostic model incorporating plasma EBV-DNA level, presence of HLH, and ECOG-PS ≥2 demonstrated robust predictive performance for outcome</a:t>
            </a:r>
          </a:p>
          <a:p>
            <a:pPr>
              <a:lnSpc>
                <a:spcPct val="103000"/>
              </a:lnSpc>
              <a:spcAft>
                <a:spcPts val="300"/>
              </a:spcAft>
              <a:defRPr sz="580">
                <a:solidFill>
                  <a:srgbClr val="21242A"/>
                </a:solidFill>
                <a:latin typeface="Microsoft YaHei"/>
              </a:defRPr>
            </a:pPr>
            <a:r>
              <a:t>s in patients with EBV+ DLBCL, and may facilitate risk stratification and individualized treatment decisions.</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摘要号：PF1013</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疾病场景：转化/Richter</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布鲁顿酪氨酸激酶抑制剂联合大剂量甲氨蝶呤诱导治疗未经治疗的原发性中枢神经系统淋巴瘤的实际疗效：单中心回顾性分析。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real-world efficacy of bruton’s tyrosine kinase inhibitors plus high-dose...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N=132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伊布替尼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多组/多方案比较：试验组1：伊布替尼，高剂量甲氨蝶呤</a:t>
            </a:r>
          </a:p>
          <a:p>
            <a:pPr>
              <a:lnSpc>
                <a:spcPct val="103000"/>
              </a:lnSpc>
              <a:spcAft>
                <a:spcPts val="300"/>
              </a:spcAft>
              <a:defRPr sz="800">
                <a:solidFill>
                  <a:srgbClr val="21242A"/>
                </a:solidFill>
                <a:latin typeface="Microsoft YaHei"/>
              </a:defRPr>
            </a:pPr>
            <a:r>
              <a:t>试验组2：奥布替尼，高剂量甲氨蝶呤</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88.6%</a:t>
            </a:r>
          </a:p>
          <a:p>
            <a:pPr>
              <a:lnSpc>
                <a:spcPct val="103000"/>
              </a:lnSpc>
              <a:spcAft>
                <a:spcPts val="300"/>
              </a:spcAft>
              <a:defRPr sz="800">
                <a:solidFill>
                  <a:srgbClr val="21242A"/>
                </a:solidFill>
                <a:latin typeface="Microsoft YaHei"/>
              </a:defRPr>
            </a:pPr>
            <a:r>
              <a:t>完全缓解率(CR): 81.1%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人数：132</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试验药/方案：奥布替尼、伊布替尼、泽布替尼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布鲁顿酪氨酸激酶抑制剂联合大剂量甲氨蝶呤诱导治疗未经治疗的原发性中枢神经系统淋巴瘤的实际疗效：单中心回顾性分析。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real-world efficacy of bruton’s tyrosine kinase inhibitors plus high-dose...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central nervous system lymphoma (PCNSL) is a rare, aggressive malignant tumor with poor prognosis, and the optimal standard treatment remain</a:t>
            </a:r>
          </a:p>
          <a:p>
            <a:pPr>
              <a:lnSpc>
                <a:spcPct val="103000"/>
              </a:lnSpc>
              <a:spcAft>
                <a:spcPts val="300"/>
              </a:spcAft>
              <a:defRPr sz="570">
                <a:solidFill>
                  <a:srgbClr val="21242A"/>
                </a:solidFill>
                <a:latin typeface="Microsoft YaHei"/>
              </a:defRPr>
            </a:pPr>
            <a:r>
              <a:t>s undefined.</a:t>
            </a:r>
          </a:p>
          <a:p>
            <a:pPr>
              <a:lnSpc>
                <a:spcPct val="103000"/>
              </a:lnSpc>
              <a:spcAft>
                <a:spcPts val="300"/>
              </a:spcAft>
              <a:defRPr sz="570">
                <a:solidFill>
                  <a:srgbClr val="21242A"/>
                </a:solidFill>
                <a:latin typeface="Microsoft YaHei"/>
              </a:defRPr>
            </a:pPr>
            <a:r>
              <a:t>High-dose methotrexate (HD-MTX) based regimens continue to be the first-line treatment for newly diagnosed PCNSL.</a:t>
            </a:r>
          </a:p>
          <a:p>
            <a:pPr>
              <a:lnSpc>
                <a:spcPct val="103000"/>
              </a:lnSpc>
              <a:spcAft>
                <a:spcPts val="300"/>
              </a:spcAft>
              <a:defRPr sz="570">
                <a:solidFill>
                  <a:srgbClr val="21242A"/>
                </a:solidFill>
                <a:latin typeface="Microsoft YaHei"/>
              </a:defRPr>
            </a:pPr>
            <a:r>
              <a:t>In PCNSL, alterations in B-cell receptor (BCR) signaling pathway-related genes, such as MYD88 and CD79B , have been shown to mediate responses to Bruton’s tyros</a:t>
            </a:r>
          </a:p>
          <a:p>
            <a:pPr>
              <a:lnSpc>
                <a:spcPct val="103000"/>
              </a:lnSpc>
              <a:spcAft>
                <a:spcPts val="300"/>
              </a:spcAft>
              <a:defRPr sz="570">
                <a:solidFill>
                  <a:srgbClr val="21242A"/>
                </a:solidFill>
                <a:latin typeface="Microsoft YaHei"/>
              </a:defRPr>
            </a:pPr>
            <a:r>
              <a:t>ine kinase inhibitors (BTKi).</a:t>
            </a:r>
          </a:p>
          <a:p>
            <a:pPr>
              <a:lnSpc>
                <a:spcPct val="103000"/>
              </a:lnSpc>
              <a:spcAft>
                <a:spcPts val="300"/>
              </a:spcAft>
              <a:defRPr sz="570">
                <a:solidFill>
                  <a:srgbClr val="21242A"/>
                </a:solidFill>
                <a:latin typeface="Microsoft YaHei"/>
              </a:defRPr>
            </a:pPr>
            <a:r>
              <a:t>Aims: This single-center retrospective analysis aims to evaluate the efficacy of BTKi plus HD-MTX based chemotherapy regimen as indution treatment for newly dia</a:t>
            </a:r>
          </a:p>
          <a:p>
            <a:pPr>
              <a:lnSpc>
                <a:spcPct val="103000"/>
              </a:lnSpc>
              <a:spcAft>
                <a:spcPts val="300"/>
              </a:spcAft>
              <a:defRPr sz="570">
                <a:solidFill>
                  <a:srgbClr val="21242A"/>
                </a:solidFill>
                <a:latin typeface="Microsoft YaHei"/>
              </a:defRPr>
            </a:pPr>
            <a:r>
              <a:t>gnosed PCNSL patients in a real-world cohort.</a:t>
            </a:r>
          </a:p>
          <a:p>
            <a:pPr>
              <a:lnSpc>
                <a:spcPct val="103000"/>
              </a:lnSpc>
              <a:spcAft>
                <a:spcPts val="300"/>
              </a:spcAft>
              <a:defRPr sz="570">
                <a:solidFill>
                  <a:srgbClr val="21242A"/>
                </a:solidFill>
                <a:latin typeface="Microsoft YaHei"/>
              </a:defRPr>
            </a:pPr>
            <a:r>
              <a:t>Methods: We enrolled adult patients with histologically confirmed primary CNS large B cell lymphoma who had received induction treatment with the HD-MTX based c</a:t>
            </a:r>
          </a:p>
          <a:p>
            <a:pPr>
              <a:lnSpc>
                <a:spcPct val="103000"/>
              </a:lnSpc>
              <a:spcAft>
                <a:spcPts val="300"/>
              </a:spcAft>
              <a:defRPr sz="570">
                <a:solidFill>
                  <a:srgbClr val="21242A"/>
                </a:solidFill>
                <a:latin typeface="Microsoft YaHei"/>
              </a:defRPr>
            </a:pPr>
            <a:r>
              <a:t>hemotherapy regimen, and the combination of BTKi (included ibrutinib, zanubrutinib and orelabrutinib) between January 2020 and June 2025.</a:t>
            </a:r>
          </a:p>
          <a:p>
            <a:pPr>
              <a:lnSpc>
                <a:spcPct val="103000"/>
              </a:lnSpc>
              <a:spcAft>
                <a:spcPts val="300"/>
              </a:spcAft>
              <a:defRPr sz="570">
                <a:solidFill>
                  <a:srgbClr val="21242A"/>
                </a:solidFill>
                <a:latin typeface="Microsoft YaHei"/>
              </a:defRPr>
            </a:pPr>
            <a:r>
              <a:t>HD-MTX is defined as ≥3.0 g/m2.</a:t>
            </a:r>
          </a:p>
          <a:p>
            <a:pPr>
              <a:lnSpc>
                <a:spcPct val="103000"/>
              </a:lnSpc>
              <a:spcAft>
                <a:spcPts val="300"/>
              </a:spcAft>
              <a:defRPr sz="570">
                <a:solidFill>
                  <a:srgbClr val="21242A"/>
                </a:solidFill>
                <a:latin typeface="Microsoft YaHei"/>
              </a:defRPr>
            </a:pPr>
            <a:r>
              <a:t>When patients achieved complete response (CR) or partial response (PR), autologous stem cell transplantation (ASCT) or whole brain radiation treatment (WBRT) wa</a:t>
            </a:r>
          </a:p>
          <a:p>
            <a:pPr>
              <a:lnSpc>
                <a:spcPct val="103000"/>
              </a:lnSpc>
              <a:spcAft>
                <a:spcPts val="300"/>
              </a:spcAft>
              <a:defRPr sz="570">
                <a:solidFill>
                  <a:srgbClr val="21242A"/>
                </a:solidFill>
                <a:latin typeface="Microsoft YaHei"/>
              </a:defRPr>
            </a:pPr>
            <a:r>
              <a:t>s recommended as consolidation treatment.</a:t>
            </a:r>
          </a:p>
          <a:p>
            <a:pPr>
              <a:lnSpc>
                <a:spcPct val="103000"/>
              </a:lnSpc>
              <a:spcAft>
                <a:spcPts val="300"/>
              </a:spcAft>
              <a:defRPr sz="570">
                <a:solidFill>
                  <a:srgbClr val="21242A"/>
                </a:solidFill>
                <a:latin typeface="Microsoft YaHei"/>
              </a:defRPr>
            </a:pPr>
            <a:r>
              <a:t>Treatment responses were assessed by MRI/PET. Categorical variables were analyzed using chi-square or Fisher's exact tests.</a:t>
            </a:r>
          </a:p>
          <a:p>
            <a:pPr>
              <a:lnSpc>
                <a:spcPct val="103000"/>
              </a:lnSpc>
              <a:spcAft>
                <a:spcPts val="300"/>
              </a:spcAft>
              <a:defRPr sz="570">
                <a:solidFill>
                  <a:srgbClr val="21242A"/>
                </a:solidFill>
                <a:latin typeface="Microsoft YaHei"/>
              </a:defRPr>
            </a:pPr>
            <a:r>
              <a:t>Survival was estimated with the Kaplan-Meier method. R software, version 4.3.2 were used for data analysis. A two-sided P</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single-center retrospective analysis confirms the efficacy of adding BTKi especially orelabrutinib as indution treatment in a real-world Chinese patient po</a:t>
            </a:r>
          </a:p>
          <a:p>
            <a:pPr>
              <a:lnSpc>
                <a:spcPct val="103000"/>
              </a:lnSpc>
              <a:spcAft>
                <a:spcPts val="300"/>
              </a:spcAft>
              <a:defRPr sz="590">
                <a:solidFill>
                  <a:srgbClr val="21242A"/>
                </a:solidFill>
                <a:latin typeface="Microsoft YaHei"/>
              </a:defRPr>
            </a:pPr>
            <a:r>
              <a:t>pulation.</a:t>
            </a:r>
          </a:p>
          <a:p>
            <a:pPr>
              <a:lnSpc>
                <a:spcPct val="103000"/>
              </a:lnSpc>
              <a:spcAft>
                <a:spcPts val="300"/>
              </a:spcAft>
              <a:defRPr sz="590">
                <a:solidFill>
                  <a:srgbClr val="21242A"/>
                </a:solidFill>
                <a:latin typeface="Microsoft YaHei"/>
              </a:defRPr>
            </a:pPr>
            <a:r>
              <a:t>These results support the use of BTKi-containing treatment regimens as a first-line therapy for PCNSL in clinical practice.</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24968">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24968">
                <a:tc>
                  <a:txBody>
                    <a:bodyPr wrap="square" lIns="36576" rIns="36576" tIns="18288" bIns="18288"/>
                    <a:lstStyle/>
                    <a:p>
                      <a:r>
                        <a:rPr sz="540" b="1">
                          <a:solidFill>
                            <a:srgbClr val="21242A"/>
                          </a:solidFill>
                          <a:latin typeface="Microsoft YaHei"/>
                        </a:rPr>
                        <a:t>客观缓解率(ORR)</a:t>
                      </a:r>
                    </a:p>
                  </a:txBody>
                  <a:tcPr>
                    <a:solidFill>
                      <a:srgbClr val="F6F8FB"/>
                    </a:solidFill>
                  </a:tcPr>
                </a:tc>
                <a:tc>
                  <a:txBody>
                    <a:bodyPr wrap="square" lIns="36576" rIns="36576" tIns="18288" bIns="18288"/>
                    <a:lstStyle/>
                    <a:p>
                      <a:r>
                        <a:rPr sz="540" b="0">
                          <a:solidFill>
                            <a:srgbClr val="21242A"/>
                          </a:solidFill>
                          <a:latin typeface="Microsoft YaHei"/>
                        </a:rPr>
                        <a:t>88.6%</a:t>
                      </a:r>
                    </a:p>
                  </a:txBody>
                  <a:tcPr>
                    <a:solidFill>
                      <a:srgbClr val="F6F8FB"/>
                    </a:solidFill>
                  </a:tcPr>
                </a:tc>
              </a:tr>
              <a:tr h="124968">
                <a:tc>
                  <a:txBody>
                    <a:bodyPr wrap="square" lIns="36576" rIns="36576" tIns="18288" bIns="18288"/>
                    <a:lstStyle/>
                    <a:p>
                      <a:r>
                        <a:rPr sz="540" b="1">
                          <a:solidFill>
                            <a:srgbClr val="21242A"/>
                          </a:solidFill>
                          <a:latin typeface="Microsoft YaHei"/>
                        </a:rPr>
                        <a:t>完全缓解率(CR)</a:t>
                      </a:r>
                    </a:p>
                  </a:txBody>
                  <a:tcPr>
                    <a:solidFill>
                      <a:srgbClr val="FFFFFF"/>
                    </a:solidFill>
                  </a:tcPr>
                </a:tc>
                <a:tc>
                  <a:txBody>
                    <a:bodyPr wrap="square" lIns="36576" rIns="36576" tIns="18288" bIns="18288"/>
                    <a:lstStyle/>
                    <a:p>
                      <a:r>
                        <a:rPr sz="540" b="0">
                          <a:solidFill>
                            <a:srgbClr val="21242A"/>
                          </a:solidFill>
                          <a:latin typeface="Microsoft YaHei"/>
                        </a:rPr>
                        <a:t>81.1%</a:t>
                      </a:r>
                    </a:p>
                  </a:txBody>
                  <a:tcPr>
                    <a:solidFill>
                      <a:srgbClr val="FFFFFF"/>
                    </a:solidFill>
                  </a:tcPr>
                </a:tc>
              </a:tr>
              <a:tr h="124968">
                <a:tc>
                  <a:txBody>
                    <a:bodyPr wrap="square" lIns="36576" rIns="36576" tIns="18288" bIns="18288"/>
                    <a:lstStyle/>
                    <a:p>
                      <a:r>
                        <a:rPr sz="540" b="1">
                          <a:solidFill>
                            <a:srgbClr val="21242A"/>
                          </a:solidFill>
                          <a:latin typeface="Microsoft YaHei"/>
                        </a:rPr>
                        <a:t>部分缓解率(PR)</a:t>
                      </a:r>
                    </a:p>
                  </a:txBody>
                  <a:tcPr>
                    <a:solidFill>
                      <a:srgbClr val="F6F8FB"/>
                    </a:solidFill>
                  </a:tcPr>
                </a:tc>
                <a:tc>
                  <a:txBody>
                    <a:bodyPr wrap="square" lIns="36576" rIns="36576" tIns="18288" bIns="18288"/>
                    <a:lstStyle/>
                    <a:p>
                      <a:r>
                        <a:rPr sz="540" b="0">
                          <a:solidFill>
                            <a:srgbClr val="21242A"/>
                          </a:solidFill>
                          <a:latin typeface="Microsoft YaHei"/>
                        </a:rPr>
                        <a:t>7.5%</a:t>
                      </a:r>
                    </a:p>
                  </a:txBody>
                  <a:tcPr>
                    <a:solidFill>
                      <a:srgbClr val="F6F8FB"/>
                    </a:solidFill>
                  </a:tcPr>
                </a:tc>
              </a:tr>
              <a:tr h="124968">
                <a:tc>
                  <a:txBody>
                    <a:bodyPr wrap="square" lIns="36576" rIns="36576" tIns="18288" bIns="18288"/>
                    <a:lstStyle/>
                    <a:p>
                      <a:r>
                        <a:rPr sz="540" b="1">
                          <a:solidFill>
                            <a:srgbClr val="21242A"/>
                          </a:solidFill>
                          <a:latin typeface="Microsoft YaHei"/>
                        </a:rPr>
                        <a:t>中位无进展生存期(PFS)</a:t>
                      </a:r>
                    </a:p>
                  </a:txBody>
                  <a:tcPr>
                    <a:solidFill>
                      <a:srgbClr val="FFFFFF"/>
                    </a:solidFill>
                  </a:tcPr>
                </a:tc>
                <a:tc>
                  <a:txBody>
                    <a:bodyPr wrap="square" lIns="36576" rIns="36576" tIns="18288" bIns="18288"/>
                    <a:lstStyle/>
                    <a:p>
                      <a:r>
                        <a:rPr sz="540" b="0">
                          <a:solidFill>
                            <a:srgbClr val="21242A"/>
                          </a:solidFill>
                          <a:latin typeface="Microsoft YaHei"/>
                        </a:rPr>
                        <a:t>未达到(95%CI NR-NR)</a:t>
                      </a:r>
                    </a:p>
                  </a:txBody>
                  <a:tcPr>
                    <a:solidFill>
                      <a:srgbClr val="FFFFFF"/>
                    </a:solidFill>
                  </a:tcPr>
                </a:tc>
              </a:tr>
              <a:tr h="124968">
                <a:tc>
                  <a:txBody>
                    <a:bodyPr wrap="square" lIns="36576" rIns="36576" tIns="18288" bIns="18288"/>
                    <a:lstStyle/>
                    <a:p>
                      <a:r>
                        <a:rPr sz="540" b="1">
                          <a:solidFill>
                            <a:srgbClr val="21242A"/>
                          </a:solidFill>
                          <a:latin typeface="Microsoft YaHei"/>
                        </a:rPr>
                        <a:t>中位总生存期(OS)</a:t>
                      </a:r>
                    </a:p>
                  </a:txBody>
                  <a:tcPr>
                    <a:solidFill>
                      <a:srgbClr val="F6F8FB"/>
                    </a:solidFill>
                  </a:tcPr>
                </a:tc>
                <a:tc>
                  <a:txBody>
                    <a:bodyPr wrap="square" lIns="36576" rIns="36576" tIns="18288" bIns="18288"/>
                    <a:lstStyle/>
                    <a:p>
                      <a:r>
                        <a:rPr sz="540" b="0">
                          <a:solidFill>
                            <a:srgbClr val="21242A"/>
                          </a:solidFill>
                          <a:latin typeface="Microsoft YaHei"/>
                        </a:rPr>
                        <a:t>未达到(95%CI NR-NR)</a:t>
                      </a:r>
                    </a:p>
                  </a:txBody>
                  <a:tcPr>
                    <a:solidFill>
                      <a:srgbClr val="F6F8FB"/>
                    </a:solidFill>
                  </a:tcPr>
                </a:tc>
              </a:tr>
              <a:tr h="124968">
                <a:tc>
                  <a:txBody>
                    <a:bodyPr wrap="square" lIns="36576" rIns="36576" tIns="18288" bIns="18288"/>
                    <a:lstStyle/>
                    <a:p>
                      <a:r>
                        <a:rPr sz="540" b="1">
                          <a:solidFill>
                            <a:srgbClr val="21242A"/>
                          </a:solidFill>
                          <a:latin typeface="Microsoft YaHei"/>
                        </a:rPr>
                        <a:t>2年无进展生存率</a:t>
                      </a:r>
                    </a:p>
                  </a:txBody>
                  <a:tcPr>
                    <a:solidFill>
                      <a:srgbClr val="FFFFFF"/>
                    </a:solidFill>
                  </a:tcPr>
                </a:tc>
                <a:tc>
                  <a:txBody>
                    <a:bodyPr wrap="square" lIns="36576" rIns="36576" tIns="18288" bIns="18288"/>
                    <a:lstStyle/>
                    <a:p>
                      <a:r>
                        <a:rPr sz="540" b="0">
                          <a:solidFill>
                            <a:srgbClr val="21242A"/>
                          </a:solidFill>
                          <a:latin typeface="Microsoft YaHei"/>
                        </a:rPr>
                        <a:t>76.0%(95%CI 69.0%-85.0%)</a:t>
                      </a:r>
                    </a:p>
                  </a:txBody>
                  <a:tcPr>
                    <a:solidFill>
                      <a:srgbClr val="FFFFFF"/>
                    </a:solidFill>
                  </a:tcPr>
                </a:tc>
              </a:tr>
              <a:tr h="124968">
                <a:tc>
                  <a:txBody>
                    <a:bodyPr wrap="square" lIns="36576" rIns="36576" tIns="18288" bIns="18288"/>
                    <a:lstStyle/>
                    <a:p>
                      <a:r>
                        <a:rPr sz="540" b="1">
                          <a:solidFill>
                            <a:srgbClr val="21242A"/>
                          </a:solidFill>
                          <a:latin typeface="Microsoft YaHei"/>
                        </a:rPr>
                        <a:t>2年总生存率</a:t>
                      </a:r>
                    </a:p>
                  </a:txBody>
                  <a:tcPr>
                    <a:solidFill>
                      <a:srgbClr val="F6F8FB"/>
                    </a:solidFill>
                  </a:tcPr>
                </a:tc>
                <a:tc>
                  <a:txBody>
                    <a:bodyPr wrap="square" lIns="36576" rIns="36576" tIns="18288" bIns="18288"/>
                    <a:lstStyle/>
                    <a:p>
                      <a:r>
                        <a:rPr sz="540" b="0">
                          <a:solidFill>
                            <a:srgbClr val="21242A"/>
                          </a:solidFill>
                          <a:latin typeface="Microsoft YaHei"/>
                        </a:rPr>
                        <a:t>83.1%(95%CI 77.3%-91.5%)</a:t>
                      </a:r>
                    </a:p>
                  </a:txBody>
                  <a:tcPr>
                    <a:solidFill>
                      <a:srgbClr val="F6F8FB"/>
                    </a:solidFill>
                  </a:tcPr>
                </a:tc>
              </a:tr>
              <a:tr h="124968">
                <a:tc>
                  <a:txBody>
                    <a:bodyPr wrap="square" lIns="36576" rIns="36576" tIns="18288" bIns="18288"/>
                    <a:lstStyle/>
                    <a:p>
                      <a:r>
                        <a:rPr sz="540" b="1">
                          <a:solidFill>
                            <a:srgbClr val="21242A"/>
                          </a:solidFill>
                          <a:latin typeface="Microsoft YaHei"/>
                        </a:rPr>
                        <a:t>伊布替尼组完全缓解率</a:t>
                      </a:r>
                    </a:p>
                  </a:txBody>
                  <a:tcPr>
                    <a:solidFill>
                      <a:srgbClr val="FFFFFF"/>
                    </a:solidFill>
                  </a:tcPr>
                </a:tc>
                <a:tc>
                  <a:txBody>
                    <a:bodyPr wrap="square" lIns="36576" rIns="36576" tIns="18288" bIns="18288"/>
                    <a:lstStyle/>
                    <a:p>
                      <a:r>
                        <a:rPr sz="540" b="0">
                          <a:solidFill>
                            <a:srgbClr val="21242A"/>
                          </a:solidFill>
                          <a:latin typeface="Microsoft YaHei"/>
                        </a:rPr>
                        <a:t>79.2%</a:t>
                      </a:r>
                    </a:p>
                  </a:txBody>
                  <a:tcPr>
                    <a:solidFill>
                      <a:srgbClr val="FFFFFF"/>
                    </a:solidFill>
                  </a:tcPr>
                </a:tc>
              </a:tr>
              <a:tr h="124968">
                <a:tc>
                  <a:txBody>
                    <a:bodyPr wrap="square" lIns="36576" rIns="36576" tIns="18288" bIns="18288"/>
                    <a:lstStyle/>
                    <a:p>
                      <a:r>
                        <a:rPr sz="540" b="1">
                          <a:solidFill>
                            <a:srgbClr val="21242A"/>
                          </a:solidFill>
                          <a:latin typeface="Microsoft YaHei"/>
                        </a:rPr>
                        <a:t>奥布替尼组完全缓解率</a:t>
                      </a:r>
                    </a:p>
                  </a:txBody>
                  <a:tcPr>
                    <a:solidFill>
                      <a:srgbClr val="F6F8FB"/>
                    </a:solidFill>
                  </a:tcPr>
                </a:tc>
                <a:tc>
                  <a:txBody>
                    <a:bodyPr wrap="square" lIns="36576" rIns="36576" tIns="18288" bIns="18288"/>
                    <a:lstStyle/>
                    <a:p>
                      <a:r>
                        <a:rPr sz="540" b="0">
                          <a:solidFill>
                            <a:srgbClr val="21242A"/>
                          </a:solidFill>
                          <a:latin typeface="Microsoft YaHei"/>
                        </a:rPr>
                        <a:t>82.8%</a:t>
                      </a:r>
                    </a:p>
                  </a:txBody>
                  <a:tcPr>
                    <a:solidFill>
                      <a:srgbClr val="F6F8FB"/>
                    </a:solidFill>
                  </a:tcPr>
                </a:tc>
              </a:tr>
              <a:tr h="124968">
                <a:tc>
                  <a:txBody>
                    <a:bodyPr wrap="square" lIns="36576" rIns="36576" tIns="18288" bIns="18288"/>
                    <a:lstStyle/>
                    <a:p>
                      <a:r>
                        <a:rPr sz="540" b="1">
                          <a:solidFill>
                            <a:srgbClr val="21242A"/>
                          </a:solidFill>
                          <a:latin typeface="Microsoft YaHei"/>
                        </a:rPr>
                        <a:t>泽布替尼组完全缓解率</a:t>
                      </a:r>
                    </a:p>
                  </a:txBody>
                  <a:tcPr>
                    <a:solidFill>
                      <a:srgbClr val="FFFFFF"/>
                    </a:solidFill>
                  </a:tcPr>
                </a:tc>
                <a:tc>
                  <a:txBody>
                    <a:bodyPr wrap="square" lIns="36576" rIns="36576" tIns="18288" bIns="18288"/>
                    <a:lstStyle/>
                    <a:p>
                      <a:r>
                        <a:rPr sz="540" b="0">
                          <a:solidFill>
                            <a:srgbClr val="21242A"/>
                          </a:solidFill>
                          <a:latin typeface="Microsoft YaHei"/>
                        </a:rPr>
                        <a:t>80.8%</a:t>
                      </a:r>
                    </a:p>
                  </a:txBody>
                  <a:tcPr>
                    <a:solidFill>
                      <a:srgbClr val="FFFFFF"/>
                    </a:solidFill>
                  </a:tcPr>
                </a:tc>
              </a:tr>
              <a:tr h="124968">
                <a:tc>
                  <a:txBody>
                    <a:bodyPr wrap="square" lIns="36576" rIns="36576" tIns="18288" bIns="18288"/>
                    <a:lstStyle/>
                    <a:p>
                      <a:r>
                        <a:rPr sz="540" b="1">
                          <a:solidFill>
                            <a:srgbClr val="21242A"/>
                          </a:solidFill>
                          <a:latin typeface="Microsoft YaHei"/>
                        </a:rPr>
                        <a:t>奥布替尼组OS改善</a:t>
                      </a:r>
                    </a:p>
                  </a:txBody>
                  <a:tcPr>
                    <a:solidFill>
                      <a:srgbClr val="F6F8FB"/>
                    </a:solidFill>
                  </a:tcPr>
                </a:tc>
                <a:tc>
                  <a:txBody>
                    <a:bodyPr wrap="square" lIns="36576" rIns="36576" tIns="18288" bIns="18288"/>
                    <a:lstStyle/>
                    <a:p>
                      <a:r>
                        <a:rPr sz="540" b="0">
                          <a:solidFill>
                            <a:srgbClr val="21242A"/>
                          </a:solidFill>
                          <a:latin typeface="Microsoft YaHei"/>
                        </a:rPr>
                        <a:t>HR 0.26, 95%CI 0.09-0.78, P=0.016</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摘要号：PF1035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疾病场景：PCNSL</a:t>
            </a:r>
          </a:p>
          <a:p>
            <a:pPr>
              <a:lnSpc>
                <a:spcPct val="103000"/>
              </a:lnSpc>
              <a:spcAft>
                <a:spcPts val="300"/>
              </a:spcAft>
              <a:defRPr sz="680">
                <a:solidFill>
                  <a:srgbClr val="21242A"/>
                </a:solidFill>
                <a:latin typeface="Microsoft YaHei"/>
              </a:defRPr>
            </a:pPr>
            <a:r>
              <a:t>药物/技术：BTKi</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N=308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回顾性临床研究结果：a disease specific prognostic score for immunodeficie...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最佳总体缓解率（ORR）为77%（完全缓解50%</a:t>
            </a:r>
          </a:p>
          <a:p>
            <a:pPr>
              <a:lnSpc>
                <a:spcPct val="103000"/>
              </a:lnSpc>
              <a:spcAft>
                <a:spcPts val="300"/>
              </a:spcAft>
              <a:defRPr sz="800">
                <a:solidFill>
                  <a:srgbClr val="21242A"/>
                </a:solidFill>
                <a:latin typeface="Microsoft YaHei"/>
              </a:defRPr>
            </a:pPr>
            <a:r>
              <a:t>部分缓解27%）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人数：308</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研究主题：a disease specific prognostic score for immunodeficiency-associated primary cns lymphoma: an international primary cns...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Immunodeficiency-associated primary central nervous system lymphoma (ID-PCNSL) constitutes a clinicopathologically distinct PCNSL variant.</a:t>
            </a:r>
          </a:p>
          <a:p>
            <a:pPr>
              <a:lnSpc>
                <a:spcPct val="103000"/>
              </a:lnSpc>
              <a:spcAft>
                <a:spcPts val="300"/>
              </a:spcAft>
              <a:defRPr sz="570">
                <a:solidFill>
                  <a:srgbClr val="21242A"/>
                </a:solidFill>
                <a:latin typeface="Microsoft YaHei"/>
              </a:defRPr>
            </a:pPr>
            <a:r>
              <a:t>Large clinical studies are lacking and existing prognostic models, developed using immunocompetent cohorts, may not be applicable to this patient population.</a:t>
            </a:r>
          </a:p>
          <a:p>
            <a:pPr>
              <a:lnSpc>
                <a:spcPct val="103000"/>
              </a:lnSpc>
              <a:spcAft>
                <a:spcPts val="300"/>
              </a:spcAft>
              <a:defRPr sz="570">
                <a:solidFill>
                  <a:srgbClr val="21242A"/>
                </a:solidFill>
                <a:latin typeface="Microsoft YaHei"/>
              </a:defRPr>
            </a:pPr>
            <a:r>
              <a:t>Aims: To characterize clinical and radiological features, treatment outcomes, and prognostic factors in ID-PCNSL and to develop a disease-specific prognostic sc</a:t>
            </a:r>
          </a:p>
          <a:p>
            <a:pPr>
              <a:lnSpc>
                <a:spcPct val="103000"/>
              </a:lnSpc>
              <a:spcAft>
                <a:spcPts val="300"/>
              </a:spcAft>
              <a:defRPr sz="570">
                <a:solidFill>
                  <a:srgbClr val="21242A"/>
                </a:solidFill>
                <a:latin typeface="Microsoft YaHei"/>
              </a:defRPr>
            </a:pPr>
            <a:r>
              <a:t>ore.</a:t>
            </a:r>
          </a:p>
          <a:p>
            <a:pPr>
              <a:lnSpc>
                <a:spcPct val="103000"/>
              </a:lnSpc>
              <a:spcAft>
                <a:spcPts val="300"/>
              </a:spcAft>
              <a:defRPr sz="570">
                <a:solidFill>
                  <a:srgbClr val="21242A"/>
                </a:solidFill>
                <a:latin typeface="Microsoft YaHei"/>
              </a:defRPr>
            </a:pPr>
            <a:r>
              <a:t>Methods: The International Primary CNS Lymphoma Collaborative Group (IPCG) conducted a retrospective multicenter study of ID-PCNSL, diagnosed between 2003-2024,</a:t>
            </a:r>
          </a:p>
          <a:p>
            <a:pPr>
              <a:lnSpc>
                <a:spcPct val="103000"/>
              </a:lnSpc>
              <a:spcAft>
                <a:spcPts val="300"/>
              </a:spcAft>
              <a:defRPr sz="570">
                <a:solidFill>
                  <a:srgbClr val="21242A"/>
                </a:solidFill>
                <a:latin typeface="Microsoft YaHei"/>
              </a:defRPr>
            </a:pPr>
            <a:r>
              <a:t> at 23 centers across 7 countries.</a:t>
            </a:r>
          </a:p>
          <a:p>
            <a:pPr>
              <a:lnSpc>
                <a:spcPct val="103000"/>
              </a:lnSpc>
              <a:spcAft>
                <a:spcPts val="300"/>
              </a:spcAft>
              <a:defRPr sz="570">
                <a:solidFill>
                  <a:srgbClr val="21242A"/>
                </a:solidFill>
                <a:latin typeface="Microsoft YaHei"/>
              </a:defRPr>
            </a:pPr>
            <a:r>
              <a:t>Clinical, radiological, and pathological data were collected. Survival outcomes were assessed using Kaplan–Meier estimates and multivariable Cox regression.</a:t>
            </a:r>
          </a:p>
          <a:p>
            <a:pPr>
              <a:lnSpc>
                <a:spcPct val="103000"/>
              </a:lnSpc>
              <a:spcAft>
                <a:spcPts val="300"/>
              </a:spcAft>
              <a:defRPr sz="570">
                <a:solidFill>
                  <a:srgbClr val="21242A"/>
                </a:solidFill>
                <a:latin typeface="Microsoft YaHei"/>
              </a:defRPr>
            </a:pPr>
            <a:r>
              <a:t>Independent predictors of survival were combined to derive a prognostic score and compared with established MSKCC and IELSG models.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large international cohort defines the clinical spectrum of ID-PCNSL and demonstrates substantial heterogeneity in outcomes.</a:t>
            </a:r>
          </a:p>
          <a:p>
            <a:pPr>
              <a:lnSpc>
                <a:spcPct val="103000"/>
              </a:lnSpc>
              <a:spcAft>
                <a:spcPts val="300"/>
              </a:spcAft>
              <a:defRPr sz="590">
                <a:solidFill>
                  <a:srgbClr val="21242A"/>
                </a:solidFill>
                <a:latin typeface="Microsoft YaHei"/>
              </a:defRPr>
            </a:pPr>
            <a:r>
              <a:t>Immune reconstitution combined with RM-based therapy is associated with high response rates across immunodeficiency subtypes.</a:t>
            </a:r>
          </a:p>
          <a:p>
            <a:pPr>
              <a:lnSpc>
                <a:spcPct val="103000"/>
              </a:lnSpc>
              <a:spcAft>
                <a:spcPts val="300"/>
              </a:spcAft>
              <a:defRPr sz="590">
                <a:solidFill>
                  <a:srgbClr val="21242A"/>
                </a:solidFill>
                <a:latin typeface="Microsoft YaHei"/>
              </a:defRPr>
            </a:pPr>
            <a:r>
              <a:t>A simple prognostic score based on age, performance status, and EBV status provides robust risk stratification, remains informative in RM-treated patients, and </a:t>
            </a:r>
          </a:p>
          <a:p>
            <a:pPr>
              <a:lnSpc>
                <a:spcPct val="103000"/>
              </a:lnSpc>
              <a:spcAft>
                <a:spcPts val="300"/>
              </a:spcAft>
              <a:defRPr sz="590">
                <a:solidFill>
                  <a:srgbClr val="21242A"/>
                </a:solidFill>
                <a:latin typeface="Microsoft YaHei"/>
              </a:defRPr>
            </a:pPr>
            <a:r>
              <a:t>outperforms established models developed for immunocompetent PCNSL.</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A total of 308 patients with ID-PCNSL were identified.</a:t>
            </a:r>
          </a:p>
          <a:p>
            <a:pPr>
              <a:lnSpc>
                <a:spcPct val="103000"/>
              </a:lnSpc>
              <a:spcAft>
                <a:spcPts val="300"/>
              </a:spcAft>
              <a:defRPr sz="580">
                <a:solidFill>
                  <a:srgbClr val="21242A"/>
                </a:solidFill>
                <a:latin typeface="Microsoft YaHei"/>
              </a:defRPr>
            </a:pPr>
            <a:r>
              <a:t>Underlying immunodeficiency resulted from immunosuppressive therapy for organ transplantation (41.2%) or autoimmune disease (36.7%), and from HIV infection</a:t>
            </a:r>
          </a:p>
          <a:p>
            <a:pPr>
              <a:lnSpc>
                <a:spcPct val="103000"/>
              </a:lnSpc>
              <a:spcAft>
                <a:spcPts val="300"/>
              </a:spcAft>
              <a:defRPr sz="580">
                <a:solidFill>
                  <a:srgbClr val="21242A"/>
                </a:solidFill>
                <a:latin typeface="Microsoft YaHei"/>
              </a:defRPr>
            </a:pPr>
            <a:r>
              <a:t> (21.7%).</a:t>
            </a:r>
          </a:p>
          <a:p>
            <a:pPr>
              <a:lnSpc>
                <a:spcPct val="103000"/>
              </a:lnSpc>
              <a:spcAft>
                <a:spcPts val="300"/>
              </a:spcAft>
              <a:defRPr sz="580">
                <a:solidFill>
                  <a:srgbClr val="21242A"/>
                </a:solidFill>
                <a:latin typeface="Microsoft YaHei"/>
              </a:defRPr>
            </a:pPr>
            <a:r>
              <a:t>All tumors were classified as diffuse large B-cell lymphomas, with Epstein–Barr virus (EBV) detected in 79.2%.</a:t>
            </a:r>
          </a:p>
          <a:p>
            <a:pPr>
              <a:lnSpc>
                <a:spcPct val="103000"/>
              </a:lnSpc>
              <a:spcAft>
                <a:spcPts val="300"/>
              </a:spcAft>
              <a:defRPr sz="580">
                <a:solidFill>
                  <a:srgbClr val="21242A"/>
                </a:solidFill>
                <a:latin typeface="Microsoft YaHei"/>
              </a:defRPr>
            </a:pPr>
            <a:r>
              <a:t>\n Most patients (91.4%) received curative-intent induction therapy, predominantly systemic chemotherapy (97.5%), while radiation alone was uncommon (2.1%)</a:t>
            </a:r>
          </a:p>
          <a:p>
            <a:pPr>
              <a:lnSpc>
                <a:spcPct val="103000"/>
              </a:lnSpc>
              <a:spcAft>
                <a:spcPts val="300"/>
              </a:spcAft>
              <a:defRPr sz="580">
                <a:solidFill>
                  <a:srgbClr val="21242A"/>
                </a:solidFill>
                <a:latin typeface="Microsoft YaHei"/>
              </a:defRPr>
            </a:pPr>
            <a:r>
              <a:t>.</a:t>
            </a:r>
          </a:p>
          <a:p>
            <a:pPr>
              <a:lnSpc>
                <a:spcPct val="103000"/>
              </a:lnSpc>
              <a:spcAft>
                <a:spcPts val="300"/>
              </a:spcAft>
              <a:defRPr sz="580">
                <a:solidFill>
                  <a:srgbClr val="21242A"/>
                </a:solidFill>
                <a:latin typeface="Microsoft YaHei"/>
              </a:defRPr>
            </a:pPr>
            <a:r>
              <a:t>Rituximab–methotrexate (RM)–based regimens were most frequently used (69.8%), followed by rituximab-based (15.6%) and methotrexate-based therapy alone (12.</a:t>
            </a:r>
          </a:p>
          <a:p>
            <a:pPr>
              <a:lnSpc>
                <a:spcPct val="103000"/>
              </a:lnSpc>
              <a:spcAft>
                <a:spcPts val="300"/>
              </a:spcAft>
              <a:defRPr sz="580">
                <a:solidFill>
                  <a:srgbClr val="21242A"/>
                </a:solidFill>
                <a:latin typeface="Microsoft YaHei"/>
              </a:defRPr>
            </a:pPr>
            <a:r>
              <a:t>7%).</a:t>
            </a:r>
          </a:p>
          <a:p>
            <a:pPr>
              <a:lnSpc>
                <a:spcPct val="103000"/>
              </a:lnSpc>
              <a:spcAft>
                <a:spcPts val="300"/>
              </a:spcAft>
              <a:defRPr sz="580">
                <a:solidFill>
                  <a:srgbClr val="21242A"/>
                </a:solidFill>
                <a:latin typeface="Microsoft YaHei"/>
              </a:defRPr>
            </a:pPr>
            <a:r>
              <a:t>Best overall response rate (ORR) to first-line therapy was 77% (complete response 50%; partial response 27%).</a:t>
            </a:r>
          </a:p>
          <a:p>
            <a:pPr>
              <a:lnSpc>
                <a:spcPct val="103000"/>
              </a:lnSpc>
              <a:spcAft>
                <a:spcPts val="300"/>
              </a:spcAft>
              <a:defRPr sz="580">
                <a:solidFill>
                  <a:srgbClr val="21242A"/>
                </a:solidFill>
                <a:latin typeface="Microsoft YaHei"/>
              </a:defRPr>
            </a:pPr>
            <a:r>
              <a:t>RM-based chemotherapy achieved higher ORR (85%) compared with rituximab-based (68%, p=0.01) or methotrexate-based regimens alone (52%, p \n Outcomes were h</a:t>
            </a:r>
          </a:p>
          <a:p>
            <a:pPr>
              <a:lnSpc>
                <a:spcPct val="103000"/>
              </a:lnSpc>
              <a:spcAft>
                <a:spcPts val="300"/>
              </a:spcAft>
              <a:defRPr sz="580">
                <a:solidFill>
                  <a:srgbClr val="21242A"/>
                </a:solidFill>
                <a:latin typeface="Microsoft YaHei"/>
              </a:defRPr>
            </a:pPr>
            <a:r>
              <a:t>eterogeneous, with a median overall survival (OS) of 54 months ( Fig.</a:t>
            </a:r>
          </a:p>
          <a:p>
            <a:pPr>
              <a:lnSpc>
                <a:spcPct val="103000"/>
              </a:lnSpc>
              <a:spcAft>
                <a:spcPts val="300"/>
              </a:spcAft>
              <a:defRPr sz="580">
                <a:solidFill>
                  <a:srgbClr val="21242A"/>
                </a:solidFill>
                <a:latin typeface="Microsoft YaHei"/>
              </a:defRPr>
            </a:pPr>
            <a:r>
              <a:t>1A) . Multivariable analysis identified increasing age (HR 1.05 per year, 95% CI 1.02–1.07; p Fig. 1B ), Karnofsky Performance Status (KPS) Fig.</a:t>
            </a:r>
          </a:p>
          <a:p>
            <a:pPr>
              <a:lnSpc>
                <a:spcPct val="103000"/>
              </a:lnSpc>
              <a:spcAft>
                <a:spcPts val="300"/>
              </a:spcAft>
              <a:defRPr sz="580">
                <a:solidFill>
                  <a:srgbClr val="21242A"/>
                </a:solidFill>
                <a:latin typeface="Microsoft YaHei"/>
              </a:defRPr>
            </a:pPr>
            <a:r>
              <a:t>1C ), and EBV positivity (HR 3.26, 95% CI 1.47–7.33; p=0.004; Fig. 1D ) as independent predictors of inferior OS.</a:t>
            </a:r>
          </a:p>
          <a:p>
            <a:pPr>
              <a:lnSpc>
                <a:spcPct val="103000"/>
              </a:lnSpc>
              <a:spcAft>
                <a:spcPts val="300"/>
              </a:spcAft>
              <a:defRPr sz="580">
                <a:solidFill>
                  <a:srgbClr val="21242A"/>
                </a:solidFill>
                <a:latin typeface="Microsoft YaHei"/>
              </a:defRPr>
            </a:pPr>
            <a:r>
              <a:t>A prognostic score incorporating these factors (age &gt;60 years, KPS Fig.</a:t>
            </a:r>
          </a:p>
          <a:p>
            <a:pPr>
              <a:lnSpc>
                <a:spcPct val="103000"/>
              </a:lnSpc>
              <a:spcAft>
                <a:spcPts val="300"/>
              </a:spcAft>
              <a:defRPr sz="580">
                <a:solidFill>
                  <a:srgbClr val="21242A"/>
                </a:solidFill>
                <a:latin typeface="Microsoft YaHei"/>
              </a:defRPr>
            </a:pPr>
            <a:r>
              <a:t>1E ) stratified patients into three risk groups with median OS of 135, 29, and 3 months for patients with ≤1, 2, and 3 risk factors, respectively (p Fig.</a:t>
            </a:r>
          </a:p>
          <a:p>
            <a:pPr>
              <a:lnSpc>
                <a:spcPct val="103000"/>
              </a:lnSpc>
              <a:spcAft>
                <a:spcPts val="300"/>
              </a:spcAft>
              <a:defRPr sz="580">
                <a:solidFill>
                  <a:srgbClr val="21242A"/>
                </a:solidFill>
                <a:latin typeface="Microsoft YaHei"/>
              </a:defRPr>
            </a:pPr>
            <a:r>
              <a:t>1F ). The score retained prognostic significance in patients treated with RM-based regimens.</a:t>
            </a:r>
          </a:p>
          <a:p>
            <a:pPr>
              <a:lnSpc>
                <a:spcPct val="103000"/>
              </a:lnSpc>
              <a:spcAft>
                <a:spcPts val="300"/>
              </a:spcAft>
              <a:defRPr sz="580">
                <a:solidFill>
                  <a:srgbClr val="21242A"/>
                </a:solidFill>
                <a:latin typeface="Microsoft YaHei"/>
              </a:defRPr>
            </a:pPr>
            <a:r>
              <a:t>Compared with MSKCC and IELSG scores, the new model demonstrated improved performance with lower AIC and higher concordance index and time-dependent AUC.</a:t>
            </a:r>
          </a:p>
          <a:p>
            <a:pPr>
              <a:lnSpc>
                <a:spcPct val="103000"/>
              </a:lnSpc>
              <a:spcAft>
                <a:spcPts val="300"/>
              </a:spcAft>
              <a:defRPr sz="580">
                <a:solidFill>
                  <a:srgbClr val="21242A"/>
                </a:solidFill>
                <a:latin typeface="Microsoft YaHei"/>
              </a:defRPr>
            </a:pPr>
            <a:r>
              <a:t>Conclusion: This large international cohort defines the clinical spectrum of ID-PCNSL and demonstrates substantial heterogeneity in outcomes.</a:t>
            </a:r>
          </a:p>
          <a:p>
            <a:pPr>
              <a:lnSpc>
                <a:spcPct val="103000"/>
              </a:lnSpc>
              <a:spcAft>
                <a:spcPts val="300"/>
              </a:spcAft>
              <a:defRPr sz="580">
                <a:solidFill>
                  <a:srgbClr val="21242A"/>
                </a:solidFill>
                <a:latin typeface="Microsoft YaHei"/>
              </a:defRPr>
            </a:pPr>
            <a:r>
              <a:t>Immune reconstitution combined with RM-based therapy is associated with high response rates across immunodeficiency subtypes.</a:t>
            </a:r>
          </a:p>
          <a:p>
            <a:pPr>
              <a:lnSpc>
                <a:spcPct val="103000"/>
              </a:lnSpc>
              <a:spcAft>
                <a:spcPts val="300"/>
              </a:spcAft>
              <a:defRPr sz="580">
                <a:solidFill>
                  <a:srgbClr val="21242A"/>
                </a:solidFill>
                <a:latin typeface="Microsoft YaHei"/>
              </a:defRPr>
            </a:pPr>
            <a:r>
              <a:t>A simple prognostic score based on age, performance status, and EBV status provides robust risk stratification, remains informative in RM-treated patients,</a:t>
            </a:r>
          </a:p>
          <a:p>
            <a:pPr>
              <a:lnSpc>
                <a:spcPct val="103000"/>
              </a:lnSpc>
              <a:spcAft>
                <a:spcPts val="300"/>
              </a:spcAft>
              <a:defRPr sz="580">
                <a:solidFill>
                  <a:srgbClr val="21242A"/>
                </a:solidFill>
                <a:latin typeface="Microsoft YaHei"/>
              </a:defRPr>
            </a:pPr>
            <a:r>
              <a:t> and outperforms established models developed for immunocompetent PCNSL.</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摘要号：PF967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疾病场景：PCNSL</a:t>
            </a:r>
          </a:p>
          <a:p>
            <a:pPr>
              <a:lnSpc>
                <a:spcPct val="103000"/>
              </a:lnSpc>
              <a:spcAft>
                <a:spcPts val="300"/>
              </a:spcAft>
              <a:defRPr sz="680">
                <a:solidFill>
                  <a:srgbClr val="21242A"/>
                </a:solidFill>
                <a:latin typeface="Microsoft YaHei"/>
              </a:defRPr>
            </a:pPr>
            <a:r>
              <a:t>药物/技术：化疗/免疫化疗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设施水平差异转化为生命损失：国家癌症数据库中的老年原发性中枢神经系统淋巴瘤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facility-level differences translate into lives lost: elderly primary cns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N=5013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分组：学术癌症项目组（ACP）：学术/研究项目（包括NCI指定中心）</a:t>
            </a:r>
          </a:p>
          <a:p>
            <a:pPr>
              <a:lnSpc>
                <a:spcPct val="103000"/>
              </a:lnSpc>
              <a:spcAft>
                <a:spcPts val="300"/>
              </a:spcAft>
              <a:defRPr sz="800">
                <a:solidFill>
                  <a:srgbClr val="21242A"/>
                </a:solidFill>
                <a:latin typeface="Microsoft YaHei"/>
              </a:defRPr>
            </a:pPr>
            <a:r>
              <a:t>社区癌症项目组（CCP）：社区、综合社区和综合网络癌症项目</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多组/多方案比较：学术癌症项目组（ACP）：学术/研究项目（包括NCI指定中心）</a:t>
            </a:r>
          </a:p>
          <a:p>
            <a:pPr>
              <a:lnSpc>
                <a:spcPct val="103000"/>
              </a:lnSpc>
              <a:spcAft>
                <a:spcPts val="300"/>
              </a:spcAft>
              <a:defRPr sz="800">
                <a:solidFill>
                  <a:srgbClr val="21242A"/>
                </a:solidFill>
                <a:latin typeface="Microsoft YaHei"/>
              </a:defRPr>
            </a:pPr>
            <a:r>
              <a:t>社区癌症项目组（CCP）：社区、综合社区和综合网络癌症项目</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总生存期（OS）：ACP组中位生存期0.48年，CCP组0.32年</a:t>
            </a:r>
          </a:p>
          <a:p>
            <a:pPr>
              <a:lnSpc>
                <a:spcPct val="103000"/>
              </a:lnSpc>
              <a:spcAft>
                <a:spcPts val="300"/>
              </a:spcAft>
              <a:defRPr sz="800">
                <a:solidFill>
                  <a:srgbClr val="21242A"/>
                </a:solidFill>
                <a:latin typeface="Microsoft YaHei"/>
              </a:defRPr>
            </a:pPr>
            <a:r>
              <a:t>2年生存率：ACP 30.8% vs CCP 23.2%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人数：5013</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分组/治疗流程：学术癌症项目组（ACP）：学术/研究项目（包括NCI指定中心）、社区癌症项目组（CCP）：社区、综合社区和综合网络癌症项目</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设施水平差异转化为生命损失：国家癌症数据库中的老年原发性中枢神经系统淋巴瘤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facility-level differences translate into lives lost: elderly primary cns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Central Nervous System Lymphoma (PCNSL) is a rare, aggressive subtype of non-Hodgkin lymphoma with increasing incidence in the U.S (ACSPMID:</a:t>
            </a:r>
          </a:p>
          <a:p>
            <a:pPr>
              <a:lnSpc>
                <a:spcPct val="103000"/>
              </a:lnSpc>
              <a:spcAft>
                <a:spcPts val="300"/>
              </a:spcAft>
              <a:defRPr sz="570">
                <a:solidFill>
                  <a:srgbClr val="21242A"/>
                </a:solidFill>
                <a:latin typeface="Microsoft YaHei"/>
              </a:defRPr>
            </a:pPr>
            <a:r>
              <a:t>19273630).</a:t>
            </a:r>
          </a:p>
          <a:p>
            <a:pPr>
              <a:lnSpc>
                <a:spcPct val="103000"/>
              </a:lnSpc>
              <a:spcAft>
                <a:spcPts val="300"/>
              </a:spcAft>
              <a:defRPr sz="570">
                <a:solidFill>
                  <a:srgbClr val="21242A"/>
                </a:solidFill>
                <a:latin typeface="Microsoft YaHei"/>
              </a:defRPr>
            </a:pPr>
            <a:r>
              <a:t>Outcomes in older adults remain poor; prior cohorts of patients aged &gt;70 years reported a 2-year overall survival of 50% (NCBIPMID:32241841).</a:t>
            </a:r>
          </a:p>
          <a:p>
            <a:pPr>
              <a:lnSpc>
                <a:spcPct val="103000"/>
              </a:lnSpc>
              <a:spcAft>
                <a:spcPts val="300"/>
              </a:spcAft>
              <a:defRPr sz="570">
                <a:solidFill>
                  <a:srgbClr val="21242A"/>
                </a:solidFill>
                <a:latin typeface="Microsoft YaHei"/>
              </a:defRPr>
            </a:pPr>
            <a:r>
              <a:t>Facility-level differences in care have been reported, but their impact on older adults is unclear.</a:t>
            </a:r>
          </a:p>
          <a:p>
            <a:pPr>
              <a:lnSpc>
                <a:spcPct val="103000"/>
              </a:lnSpc>
              <a:spcAft>
                <a:spcPts val="300"/>
              </a:spcAft>
              <a:defRPr sz="570">
                <a:solidFill>
                  <a:srgbClr val="21242A"/>
                </a:solidFill>
                <a:latin typeface="Microsoft YaHei"/>
              </a:defRPr>
            </a:pPr>
            <a:r>
              <a:t>We compared academic vs community cancer programs in elderly PCNSL to evaluate demographic, socioeconomic, and survival differences.</a:t>
            </a:r>
          </a:p>
          <a:p>
            <a:pPr>
              <a:lnSpc>
                <a:spcPct val="103000"/>
              </a:lnSpc>
              <a:spcAft>
                <a:spcPts val="300"/>
              </a:spcAft>
              <a:defRPr sz="570">
                <a:solidFill>
                  <a:srgbClr val="21242A"/>
                </a:solidFill>
                <a:latin typeface="Microsoft YaHei"/>
              </a:defRPr>
            </a:pPr>
            <a:r>
              <a:t>Aims: Primary Aim: To evaluate whether treatment facility type (Academic Cancer Programs vs Community Cancer Programs) is associated with differences in overall</a:t>
            </a:r>
          </a:p>
          <a:p>
            <a:pPr>
              <a:lnSpc>
                <a:spcPct val="103000"/>
              </a:lnSpc>
              <a:spcAft>
                <a:spcPts val="300"/>
              </a:spcAft>
              <a:defRPr sz="570">
                <a:solidFill>
                  <a:srgbClr val="21242A"/>
                </a:solidFill>
                <a:latin typeface="Microsoft YaHei"/>
              </a:defRPr>
            </a:pPr>
            <a:r>
              <a:t> survival (OS) among patients aged ≥75 years with primary CNS lymphoma (PCNSL) using a national database.</a:t>
            </a:r>
          </a:p>
          <a:p>
            <a:pPr>
              <a:lnSpc>
                <a:spcPct val="103000"/>
              </a:lnSpc>
              <a:spcAft>
                <a:spcPts val="300"/>
              </a:spcAft>
              <a:defRPr sz="570">
                <a:solidFill>
                  <a:srgbClr val="21242A"/>
                </a:solidFill>
                <a:latin typeface="Microsoft YaHei"/>
              </a:defRPr>
            </a:pPr>
            <a:r>
              <a:t>Methods: A retrospective cohort study of patients diagnosed with PCNSL between 2004-2022 using the National Cancer Database (NCDB) for patients ≥75 years old.</a:t>
            </a:r>
          </a:p>
          <a:p>
            <a:pPr>
              <a:lnSpc>
                <a:spcPct val="103000"/>
              </a:lnSpc>
              <a:spcAft>
                <a:spcPts val="300"/>
              </a:spcAft>
              <a:defRPr sz="570">
                <a:solidFill>
                  <a:srgbClr val="21242A"/>
                </a:solidFill>
                <a:latin typeface="Microsoft YaHei"/>
              </a:defRPr>
            </a:pPr>
            <a:r>
              <a:t>Patients were classified by treatment facility: ACP (academic/research programs including NCI-designated centers) vs.</a:t>
            </a:r>
          </a:p>
          <a:p>
            <a:pPr>
              <a:lnSpc>
                <a:spcPct val="103000"/>
              </a:lnSpc>
              <a:spcAft>
                <a:spcPts val="300"/>
              </a:spcAft>
              <a:defRPr sz="570">
                <a:solidFill>
                  <a:srgbClr val="21242A"/>
                </a:solidFill>
                <a:latin typeface="Microsoft YaHei"/>
              </a:defRPr>
            </a:pPr>
            <a:r>
              <a:t>CCP (community, comprehensive community, and integrated network cancer programs).</a:t>
            </a:r>
          </a:p>
          <a:p>
            <a:pPr>
              <a:lnSpc>
                <a:spcPct val="103000"/>
              </a:lnSpc>
              <a:spcAft>
                <a:spcPts val="300"/>
              </a:spcAft>
              <a:defRPr sz="570">
                <a:solidFill>
                  <a:srgbClr val="21242A"/>
                </a:solidFill>
                <a:latin typeface="Microsoft YaHei"/>
              </a:defRPr>
            </a:pPr>
            <a:r>
              <a:t>Demographic, clinical, and treatment characteristics were compared using chi-square and Wilcoxon tests.</a:t>
            </a:r>
          </a:p>
          <a:p>
            <a:pPr>
              <a:lnSpc>
                <a:spcPct val="103000"/>
              </a:lnSpc>
              <a:spcAft>
                <a:spcPts val="300"/>
              </a:spcAft>
              <a:defRPr sz="570">
                <a:solidFill>
                  <a:srgbClr val="21242A"/>
                </a:solidFill>
                <a:latin typeface="Microsoft YaHei"/>
              </a:defRPr>
            </a:pPr>
            <a:r>
              <a:t>Kaplan-Meier and Cox proportional hazards models were used to compare overall survival (OS), adjusting for age, race/ethnicity, insurance status, Charlson-Deyo </a:t>
            </a:r>
          </a:p>
          <a:p>
            <a:pPr>
              <a:lnSpc>
                <a:spcPct val="103000"/>
              </a:lnSpc>
              <a:spcAft>
                <a:spcPts val="300"/>
              </a:spcAft>
              <a:defRPr sz="570">
                <a:solidFill>
                  <a:srgbClr val="21242A"/>
                </a:solidFill>
                <a:latin typeface="Microsoft YaHei"/>
              </a:defRPr>
            </a:pPr>
            <a:r>
              <a:t>comorbidity index, and distance traveled for care.</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Among patients aged ≥75 years with PCNS, OS differed significantly by treatment facility type, with a statistically and clinically meaningful survival advantage</a:t>
            </a:r>
          </a:p>
          <a:p>
            <a:pPr>
              <a:lnSpc>
                <a:spcPct val="103000"/>
              </a:lnSpc>
              <a:spcAft>
                <a:spcPts val="300"/>
              </a:spcAft>
              <a:defRPr sz="590">
                <a:solidFill>
                  <a:srgbClr val="21242A"/>
                </a:solidFill>
                <a:latin typeface="Microsoft YaHei"/>
              </a:defRPr>
            </a:pPr>
            <a:r>
              <a:t> observed among patients treated at ACP compared with CCP.</a:t>
            </a:r>
          </a:p>
          <a:p>
            <a:pPr>
              <a:lnSpc>
                <a:spcPct val="103000"/>
              </a:lnSpc>
              <a:spcAft>
                <a:spcPts val="300"/>
              </a:spcAft>
              <a:defRPr sz="590">
                <a:solidFill>
                  <a:srgbClr val="21242A"/>
                </a:solidFill>
                <a:latin typeface="Microsoft YaHei"/>
              </a:defRPr>
            </a:pPr>
            <a:r>
              <a:t>OS difference was consistent across short- and long-term follow-up with lower early mortality, higher rates of treatment delivery, and shorter time to initiatio</a:t>
            </a:r>
          </a:p>
          <a:p>
            <a:pPr>
              <a:lnSpc>
                <a:spcPct val="103000"/>
              </a:lnSpc>
              <a:spcAft>
                <a:spcPts val="300"/>
              </a:spcAft>
              <a:defRPr sz="590">
                <a:solidFill>
                  <a:srgbClr val="21242A"/>
                </a:solidFill>
                <a:latin typeface="Microsoft YaHei"/>
              </a:defRPr>
            </a:pPr>
            <a:r>
              <a:t>n of therapy at ACP.</a:t>
            </a:r>
          </a:p>
          <a:p>
            <a:pPr>
              <a:lnSpc>
                <a:spcPct val="103000"/>
              </a:lnSpc>
              <a:spcAft>
                <a:spcPts val="300"/>
              </a:spcAft>
              <a:defRPr sz="590">
                <a:solidFill>
                  <a:srgbClr val="21242A"/>
                </a:solidFill>
                <a:latin typeface="Microsoft YaHei"/>
              </a:defRPr>
            </a:pPr>
            <a:r>
              <a:t>These results point to system-level gaps in care for older adults with PCNSL and underscore the need to strengthen referral pathways to ACP and build structured</a:t>
            </a:r>
          </a:p>
          <a:p>
            <a:pPr>
              <a:lnSpc>
                <a:spcPct val="103000"/>
              </a:lnSpc>
              <a:spcAft>
                <a:spcPts val="300"/>
              </a:spcAft>
              <a:defRPr sz="590">
                <a:solidFill>
                  <a:srgbClr val="21242A"/>
                </a:solidFill>
                <a:latin typeface="Microsoft YaHei"/>
              </a:defRPr>
            </a:pPr>
            <a:r>
              <a:t> academic–community partnerships.</a:t>
            </a:r>
          </a:p>
          <a:p>
            <a:pPr>
              <a:lnSpc>
                <a:spcPct val="103000"/>
              </a:lnSpc>
              <a:spcAft>
                <a:spcPts val="300"/>
              </a:spcAft>
              <a:defRPr sz="590">
                <a:solidFill>
                  <a:srgbClr val="21242A"/>
                </a:solidFill>
                <a:latin typeface="Microsoft YaHei"/>
              </a:defRPr>
            </a:pPr>
            <a:r>
              <a:t>Doing so could expand timely access to specialized multidisciplinary care and clinical trials for vulnerable patients more often treated in lower-resource setti</a:t>
            </a:r>
          </a:p>
          <a:p>
            <a:pPr>
              <a:lnSpc>
                <a:spcPct val="103000"/>
              </a:lnSpc>
              <a:spcAft>
                <a:spcPts val="300"/>
              </a:spcAft>
              <a:defRPr sz="590">
                <a:solidFill>
                  <a:srgbClr val="21242A"/>
                </a:solidFill>
                <a:latin typeface="Microsoft YaHei"/>
              </a:defRPr>
            </a:pPr>
            <a:r>
              <a:t>ngs.</a:t>
            </a:r>
          </a:p>
          <a:p>
            <a:pPr>
              <a:lnSpc>
                <a:spcPct val="103000"/>
              </a:lnSpc>
              <a:spcAft>
                <a:spcPts val="300"/>
              </a:spcAft>
              <a:defRPr sz="590">
                <a:solidFill>
                  <a:srgbClr val="21242A"/>
                </a:solidFill>
                <a:latin typeface="Microsoft YaHei"/>
              </a:defRPr>
            </a:pPr>
            <a:r>
              <a:t>\n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总生存期（OS）</a:t>
                      </a:r>
                    </a:p>
                  </a:txBody>
                  <a:tcPr>
                    <a:solidFill>
                      <a:srgbClr val="F6F8FB"/>
                    </a:solidFill>
                  </a:tcPr>
                </a:tc>
                <a:tc>
                  <a:txBody>
                    <a:bodyPr wrap="square" lIns="36576" rIns="36576" tIns="18288" bIns="18288"/>
                    <a:lstStyle/>
                    <a:p>
                      <a:r>
                        <a:rPr sz="540" b="0">
                          <a:solidFill>
                            <a:srgbClr val="21242A"/>
                          </a:solidFill>
                          <a:latin typeface="Microsoft YaHei"/>
                        </a:rPr>
                        <a:t>ACP组中位生存期0.48年，CCP组0.32年</a:t>
                      </a:r>
                    </a:p>
                  </a:txBody>
                  <a:tcPr>
                    <a:solidFill>
                      <a:srgbClr val="F6F8FB"/>
                    </a:solidFill>
                  </a:tcPr>
                </a:tc>
              </a:tr>
              <a:tr h="214230">
                <a:tc>
                  <a:txBody>
                    <a:bodyPr wrap="square" lIns="36576" rIns="36576" tIns="18288" bIns="18288"/>
                    <a:lstStyle/>
                    <a:p>
                      <a:r>
                        <a:rPr sz="540" b="1">
                          <a:solidFill>
                            <a:srgbClr val="21242A"/>
                          </a:solidFill>
                          <a:latin typeface="Microsoft YaHei"/>
                        </a:rPr>
                        <a:t>2年生存率</a:t>
                      </a:r>
                    </a:p>
                  </a:txBody>
                  <a:tcPr>
                    <a:solidFill>
                      <a:srgbClr val="FFFFFF"/>
                    </a:solidFill>
                  </a:tcPr>
                </a:tc>
                <a:tc>
                  <a:txBody>
                    <a:bodyPr wrap="square" lIns="36576" rIns="36576" tIns="18288" bIns="18288"/>
                    <a:lstStyle/>
                    <a:p>
                      <a:r>
                        <a:rPr sz="540" b="0">
                          <a:solidFill>
                            <a:srgbClr val="21242A"/>
                          </a:solidFill>
                          <a:latin typeface="Microsoft YaHei"/>
                        </a:rPr>
                        <a:t>ACP 30.8% vs CCP 23.2%</a:t>
                      </a:r>
                    </a:p>
                  </a:txBody>
                  <a:tcPr>
                    <a:solidFill>
                      <a:srgbClr val="FFFFFF"/>
                    </a:solidFill>
                  </a:tcPr>
                </a:tc>
              </a:tr>
              <a:tr h="214230">
                <a:tc>
                  <a:txBody>
                    <a:bodyPr wrap="square" lIns="36576" rIns="36576" tIns="18288" bIns="18288"/>
                    <a:lstStyle/>
                    <a:p>
                      <a:r>
                        <a:rPr sz="540" b="1">
                          <a:solidFill>
                            <a:srgbClr val="21242A"/>
                          </a:solidFill>
                          <a:latin typeface="Microsoft YaHei"/>
                        </a:rPr>
                        <a:t>5年生存率</a:t>
                      </a:r>
                    </a:p>
                  </a:txBody>
                  <a:tcPr>
                    <a:solidFill>
                      <a:srgbClr val="F6F8FB"/>
                    </a:solidFill>
                  </a:tcPr>
                </a:tc>
                <a:tc>
                  <a:txBody>
                    <a:bodyPr wrap="square" lIns="36576" rIns="36576" tIns="18288" bIns="18288"/>
                    <a:lstStyle/>
                    <a:p>
                      <a:r>
                        <a:rPr sz="540" b="0">
                          <a:solidFill>
                            <a:srgbClr val="21242A"/>
                          </a:solidFill>
                          <a:latin typeface="Microsoft YaHei"/>
                        </a:rPr>
                        <a:t>ACP 18.9% vs CCP 12.8%</a:t>
                      </a:r>
                    </a:p>
                  </a:txBody>
                  <a:tcPr>
                    <a:solidFill>
                      <a:srgbClr val="F6F8FB"/>
                    </a:solidFill>
                  </a:tcPr>
                </a:tc>
              </a:tr>
              <a:tr h="214230">
                <a:tc>
                  <a:txBody>
                    <a:bodyPr wrap="square" lIns="36576" rIns="36576" tIns="18288" bIns="18288"/>
                    <a:lstStyle/>
                    <a:p>
                      <a:r>
                        <a:rPr sz="540" b="1">
                          <a:solidFill>
                            <a:srgbClr val="21242A"/>
                          </a:solidFill>
                          <a:latin typeface="Microsoft YaHei"/>
                        </a:rPr>
                        <a:t>10年生存率</a:t>
                      </a:r>
                    </a:p>
                  </a:txBody>
                  <a:tcPr>
                    <a:solidFill>
                      <a:srgbClr val="FFFFFF"/>
                    </a:solidFill>
                  </a:tcPr>
                </a:tc>
                <a:tc>
                  <a:txBody>
                    <a:bodyPr wrap="square" lIns="36576" rIns="36576" tIns="18288" bIns="18288"/>
                    <a:lstStyle/>
                    <a:p>
                      <a:r>
                        <a:rPr sz="540" b="0">
                          <a:solidFill>
                            <a:srgbClr val="21242A"/>
                          </a:solidFill>
                          <a:latin typeface="Microsoft YaHei"/>
                        </a:rPr>
                        <a:t>ACP 8.8% vs CCP 5.2%</a:t>
                      </a:r>
                    </a:p>
                  </a:txBody>
                  <a:tcPr>
                    <a:solidFill>
                      <a:srgbClr val="FFFFFF"/>
                    </a:solidFill>
                  </a:tcPr>
                </a:tc>
              </a:tr>
              <a:tr h="214230">
                <a:tc>
                  <a:txBody>
                    <a:bodyPr wrap="square" lIns="36576" rIns="36576" tIns="18288" bIns="18288"/>
                    <a:lstStyle/>
                    <a:p>
                      <a:r>
                        <a:rPr sz="540" b="1">
                          <a:solidFill>
                            <a:srgbClr val="21242A"/>
                          </a:solidFill>
                          <a:latin typeface="Microsoft YaHei"/>
                        </a:rPr>
                        <a:t>早期死亡率</a:t>
                      </a:r>
                    </a:p>
                  </a:txBody>
                  <a:tcPr>
                    <a:solidFill>
                      <a:srgbClr val="F6F8FB"/>
                    </a:solidFill>
                  </a:tcPr>
                </a:tc>
                <a:tc>
                  <a:txBody>
                    <a:bodyPr wrap="square" lIns="36576" rIns="36576" tIns="18288" bIns="18288"/>
                    <a:lstStyle/>
                    <a:p>
                      <a:r>
                        <a:rPr sz="540" b="0">
                          <a:solidFill>
                            <a:srgbClr val="21242A"/>
                          </a:solidFill>
                          <a:latin typeface="Microsoft YaHei"/>
                        </a:rPr>
                        <a:t>30天死亡率ACP 3.1% vs CCP 3.9%；90天死亡率ACP 10.3% vs CCP 13.0%</a:t>
                      </a:r>
                    </a:p>
                  </a:txBody>
                  <a:tcPr>
                    <a:solidFill>
                      <a:srgbClr val="F6F8FB"/>
                    </a:solidFill>
                  </a:tcPr>
                </a:tc>
              </a:tr>
              <a:tr h="214236">
                <a:tc>
                  <a:txBody>
                    <a:bodyPr wrap="square" lIns="36576" rIns="36576" tIns="18288" bIns="18288"/>
                    <a:lstStyle/>
                    <a:p>
                      <a:r>
                        <a:rPr sz="540" b="1">
                          <a:solidFill>
                            <a:srgbClr val="21242A"/>
                          </a:solidFill>
                          <a:latin typeface="Microsoft YaHei"/>
                        </a:rPr>
                        <a:t>未接受治疗比例</a:t>
                      </a:r>
                    </a:p>
                  </a:txBody>
                  <a:tcPr>
                    <a:solidFill>
                      <a:srgbClr val="FFFFFF"/>
                    </a:solidFill>
                  </a:tcPr>
                </a:tc>
                <a:tc>
                  <a:txBody>
                    <a:bodyPr wrap="square" lIns="36576" rIns="36576" tIns="18288" bIns="18288"/>
                    <a:lstStyle/>
                    <a:p>
                      <a:r>
                        <a:rPr sz="540" b="0">
                          <a:solidFill>
                            <a:srgbClr val="21242A"/>
                          </a:solidFill>
                          <a:latin typeface="Microsoft YaHei"/>
                        </a:rPr>
                        <a:t>ACP 6.2% vs CCP 11.6%</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摘要号：PF1047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疾病场景：PCNSL</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脑淋巴结：原发性中枢神经系统淋巴瘤免疫分子表型的定义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brain-lym: defining immune-molecular phenotypes in primary cns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回顾性临床研究结果：brain-lym: defining immune-molecular phenotypes in pr...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To our knowledge, this is one of the largest nationwide integra...</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人数：259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研究主题：brain-lym: defining immune-molecular phenotypes in primary cns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脑淋巴结：原发性中枢神经系统淋巴瘤免疫分子表型的定义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brain-lym: defining immune-molecular phenotypes in primary cns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central nervous system lymphoma (PCNSL) is a distinct, immune-privileged diffuse large B-cell lymphoma with high relapse rates despite high-</a:t>
            </a:r>
          </a:p>
          <a:p>
            <a:pPr>
              <a:lnSpc>
                <a:spcPct val="103000"/>
              </a:lnSpc>
              <a:spcAft>
                <a:spcPts val="300"/>
              </a:spcAft>
              <a:defRPr sz="570">
                <a:solidFill>
                  <a:srgbClr val="21242A"/>
                </a:solidFill>
                <a:latin typeface="Microsoft YaHei"/>
              </a:defRPr>
            </a:pPr>
            <a:r>
              <a:t>dose methotrexate (HD-MTX)–based polychemotherapy.</a:t>
            </a:r>
          </a:p>
          <a:p>
            <a:pPr>
              <a:lnSpc>
                <a:spcPct val="103000"/>
              </a:lnSpc>
              <a:spcAft>
                <a:spcPts val="300"/>
              </a:spcAft>
              <a:defRPr sz="570">
                <a:solidFill>
                  <a:srgbClr val="21242A"/>
                </a:solidFill>
                <a:latin typeface="Microsoft YaHei"/>
              </a:defRPr>
            </a:pPr>
            <a:r>
              <a:t>While immune-directed treatments, like CAR T-cells and bispecific antibodies are increasingly explored, the immune-molecular architecture of PCNSL and its relat</a:t>
            </a:r>
          </a:p>
          <a:p>
            <a:pPr>
              <a:lnSpc>
                <a:spcPct val="103000"/>
              </a:lnSpc>
              <a:spcAft>
                <a:spcPts val="300"/>
              </a:spcAft>
              <a:defRPr sz="570">
                <a:solidFill>
                  <a:srgbClr val="21242A"/>
                </a:solidFill>
                <a:latin typeface="Microsoft YaHei"/>
              </a:defRPr>
            </a:pPr>
            <a:r>
              <a:t>ion to therapy response remain poorly defined (PMID: 33664848, 36402300) .</a:t>
            </a:r>
          </a:p>
          <a:p>
            <a:pPr>
              <a:lnSpc>
                <a:spcPct val="103000"/>
              </a:lnSpc>
              <a:spcAft>
                <a:spcPts val="300"/>
              </a:spcAft>
              <a:defRPr sz="570">
                <a:solidFill>
                  <a:srgbClr val="21242A"/>
                </a:solidFill>
                <a:latin typeface="Microsoft YaHei"/>
              </a:defRPr>
            </a:pPr>
            <a:r>
              <a:t>Defining clinically relevant immune-molecular subgroups is essential to enable rational implementation of immunotherapy.</a:t>
            </a:r>
          </a:p>
          <a:p>
            <a:pPr>
              <a:lnSpc>
                <a:spcPct val="103000"/>
              </a:lnSpc>
              <a:spcAft>
                <a:spcPts val="300"/>
              </a:spcAft>
              <a:defRPr sz="570">
                <a:solidFill>
                  <a:srgbClr val="21242A"/>
                </a:solidFill>
                <a:latin typeface="Microsoft YaHei"/>
              </a:defRPr>
            </a:pPr>
            <a:r>
              <a:t>Aims: To perform a nationwide integrated in-depth DNA and RNA analysis of PCNSL tumors, linking immune-molecular profiles to treatment response to identify subg</a:t>
            </a:r>
          </a:p>
          <a:p>
            <a:pPr>
              <a:lnSpc>
                <a:spcPct val="103000"/>
              </a:lnSpc>
              <a:spcAft>
                <a:spcPts val="300"/>
              </a:spcAft>
              <a:defRPr sz="570">
                <a:solidFill>
                  <a:srgbClr val="21242A"/>
                </a:solidFill>
                <a:latin typeface="Microsoft YaHei"/>
              </a:defRPr>
            </a:pPr>
            <a:r>
              <a:t>roups with potential therapeutic implications.</a:t>
            </a:r>
          </a:p>
          <a:p>
            <a:pPr>
              <a:lnSpc>
                <a:spcPct val="103000"/>
              </a:lnSpc>
              <a:spcAft>
                <a:spcPts val="300"/>
              </a:spcAft>
              <a:defRPr sz="570">
                <a:solidFill>
                  <a:srgbClr val="21242A"/>
                </a:solidFill>
                <a:latin typeface="Microsoft YaHei"/>
              </a:defRPr>
            </a:pPr>
            <a:r>
              <a:t>Methods: Patients with histologically confirmed PCNSL (2000–2022) treated with ≥1 cycle HD-MTX-based chemotherapy were included.</a:t>
            </a:r>
          </a:p>
          <a:p>
            <a:pPr>
              <a:lnSpc>
                <a:spcPct val="103000"/>
              </a:lnSpc>
              <a:spcAft>
                <a:spcPts val="300"/>
              </a:spcAft>
              <a:defRPr sz="570">
                <a:solidFill>
                  <a:srgbClr val="21242A"/>
                </a:solidFill>
                <a:latin typeface="Microsoft YaHei"/>
              </a:defRPr>
            </a:pPr>
            <a:r>
              <a:t>DNA and RNA were extracted from FFPE.</a:t>
            </a:r>
          </a:p>
          <a:p>
            <a:pPr>
              <a:lnSpc>
                <a:spcPct val="103000"/>
              </a:lnSpc>
              <a:spcAft>
                <a:spcPts val="300"/>
              </a:spcAft>
              <a:defRPr sz="570">
                <a:solidFill>
                  <a:srgbClr val="21242A"/>
                </a:solidFill>
                <a:latin typeface="Microsoft YaHei"/>
              </a:defRPr>
            </a:pPr>
            <a:r>
              <a:t>Gene-expression profiling using the BLYM-777 panel (biology-driven 777-gene lymphoma panel, PMID: 35454765) assessed tumor-intrinsic and microenvironment signat</a:t>
            </a:r>
          </a:p>
          <a:p>
            <a:pPr>
              <a:lnSpc>
                <a:spcPct val="103000"/>
              </a:lnSpc>
              <a:spcAft>
                <a:spcPts val="300"/>
              </a:spcAft>
              <a:defRPr sz="570">
                <a:solidFill>
                  <a:srgbClr val="21242A"/>
                </a:solidFill>
                <a:latin typeface="Microsoft YaHei"/>
              </a:defRPr>
            </a:pPr>
            <a:r>
              <a:t>ures.</a:t>
            </a:r>
          </a:p>
          <a:p>
            <a:pPr>
              <a:lnSpc>
                <a:spcPct val="103000"/>
              </a:lnSpc>
              <a:spcAft>
                <a:spcPts val="300"/>
              </a:spcAft>
              <a:defRPr sz="570">
                <a:solidFill>
                  <a:srgbClr val="21242A"/>
                </a:solidFill>
                <a:latin typeface="Microsoft YaHei"/>
              </a:defRPr>
            </a:pPr>
            <a:r>
              <a:t>Targeted next-generation sequencing was performed for mutational profiling.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To our knowledge, this is one of the largest nationwide integrated DNA/RNA analyses of HD-MTX treated PCNSL linking immune-molecular profiles to standardized cl</a:t>
            </a:r>
          </a:p>
          <a:p>
            <a:pPr>
              <a:lnSpc>
                <a:spcPct val="103000"/>
              </a:lnSpc>
              <a:spcAft>
                <a:spcPts val="300"/>
              </a:spcAft>
              <a:defRPr sz="590">
                <a:solidFill>
                  <a:srgbClr val="21242A"/>
                </a:solidFill>
                <a:latin typeface="Microsoft YaHei"/>
              </a:defRPr>
            </a:pPr>
            <a:r>
              <a:t>inical response categories.</a:t>
            </a:r>
          </a:p>
          <a:p>
            <a:pPr>
              <a:lnSpc>
                <a:spcPct val="103000"/>
              </a:lnSpc>
              <a:spcAft>
                <a:spcPts val="300"/>
              </a:spcAft>
              <a:defRPr sz="590">
                <a:solidFill>
                  <a:srgbClr val="21242A"/>
                </a:solidFill>
                <a:latin typeface="Microsoft YaHei"/>
              </a:defRPr>
            </a:pPr>
            <a:r>
              <a:t>According to Kotlov et al., GEP data identified three subgroups with distinct immune characteristics: immune-low, immune-evasive and immune-rich.</a:t>
            </a:r>
          </a:p>
          <a:p>
            <a:pPr>
              <a:lnSpc>
                <a:spcPct val="103000"/>
              </a:lnSpc>
              <a:spcAft>
                <a:spcPts val="300"/>
              </a:spcAft>
              <a:defRPr sz="590">
                <a:solidFill>
                  <a:srgbClr val="21242A"/>
                </a:solidFill>
                <a:latin typeface="Microsoft YaHei"/>
              </a:defRPr>
            </a:pPr>
            <a:r>
              <a:t>These findings provide a biological framework for immune-based patient stratification in future PCNSL trials.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To our knowledge, this is one of the largest nationwide integrated DNA/RNA analyses of HD-MTX treated PCNSL linking immune-molecular profiles to standardiz</a:t>
            </a:r>
          </a:p>
          <a:p>
            <a:pPr>
              <a:lnSpc>
                <a:spcPct val="103000"/>
              </a:lnSpc>
              <a:spcAft>
                <a:spcPts val="300"/>
              </a:spcAft>
              <a:defRPr sz="580">
                <a:solidFill>
                  <a:srgbClr val="21242A"/>
                </a:solidFill>
                <a:latin typeface="Microsoft YaHei"/>
              </a:defRPr>
            </a:pPr>
            <a:r>
              <a:t>ed clinical response categories.</a:t>
            </a:r>
          </a:p>
          <a:p>
            <a:pPr>
              <a:lnSpc>
                <a:spcPct val="103000"/>
              </a:lnSpc>
              <a:spcAft>
                <a:spcPts val="300"/>
              </a:spcAft>
              <a:defRPr sz="580">
                <a:solidFill>
                  <a:srgbClr val="21242A"/>
                </a:solidFill>
                <a:latin typeface="Microsoft YaHei"/>
              </a:defRPr>
            </a:pPr>
            <a:r>
              <a:t>According to Kotlov et al., GEP data identified three subgroups with distinct immune characteristics: immune-low, immune-evasive and immune-rich.</a:t>
            </a:r>
          </a:p>
          <a:p>
            <a:pPr>
              <a:lnSpc>
                <a:spcPct val="103000"/>
              </a:lnSpc>
              <a:spcAft>
                <a:spcPts val="300"/>
              </a:spcAft>
              <a:defRPr sz="580">
                <a:solidFill>
                  <a:srgbClr val="21242A"/>
                </a:solidFill>
                <a:latin typeface="Microsoft YaHei"/>
              </a:defRPr>
            </a:pPr>
            <a:r>
              <a:t>These findings provide a biological framework for immune-based patient stratification…</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摘要号：S250</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自体造血干细胞移植联合cd19car-t细胞治疗中枢神经系统淋巴瘤的临床疗效和安全性分析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autologous hematopoietic stem cell transplantation combined with cd19 car-t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试验药/方案：CD19靶向CAR-T(北京大学人民医院)</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客观缓解率（ORR）：100%（7/7）||完全缓解率（CRR）：100%（7/7）||中位总生存期（OS）：未达到||中位无...</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试验药/方案：CD19靶向CAR-T(北京大学人民医院)</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自体造血干细胞移植联合cd19car-t细胞治疗中枢神经系统淋巴瘤的临床疗效和安全性分析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autologous hematopoietic stem cell transplantation combined with cd19 car-t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Central nervous system lymphoma (CNSL) has an extremely poor prognosis with limited efficacy from conventional therapies.</a:t>
            </a:r>
          </a:p>
          <a:p>
            <a:pPr>
              <a:lnSpc>
                <a:spcPct val="103000"/>
              </a:lnSpc>
              <a:spcAft>
                <a:spcPts val="300"/>
              </a:spcAft>
              <a:defRPr sz="570">
                <a:solidFill>
                  <a:srgbClr val="21242A"/>
                </a:solidFill>
                <a:latin typeface="Microsoft YaHei"/>
              </a:defRPr>
            </a:pPr>
            <a:r>
              <a:t>Although CD19-targeted chimeric antigen receptor T-cell (CD19 CAR-T) therapy has achieved breakthroughs in systemic B-cell lymphomas, its application in CNSL fa</a:t>
            </a:r>
          </a:p>
          <a:p>
            <a:pPr>
              <a:lnSpc>
                <a:spcPct val="103000"/>
              </a:lnSpc>
              <a:spcAft>
                <a:spcPts val="300"/>
              </a:spcAft>
              <a:defRPr sz="570">
                <a:solidFill>
                  <a:srgbClr val="21242A"/>
                </a:solidFill>
                <a:latin typeface="Microsoft YaHei"/>
              </a:defRPr>
            </a:pPr>
            <a:r>
              <a:t>ces challenges including the blood-brain barrier, the unique CNS immune microenvironment, and potential neurotoxicity.</a:t>
            </a:r>
          </a:p>
          <a:p>
            <a:pPr>
              <a:lnSpc>
                <a:spcPct val="103000"/>
              </a:lnSpc>
              <a:spcAft>
                <a:spcPts val="300"/>
              </a:spcAft>
              <a:defRPr sz="570">
                <a:solidFill>
                  <a:srgbClr val="21242A"/>
                </a:solidFill>
                <a:latin typeface="Microsoft YaHei"/>
              </a:defRPr>
            </a:pPr>
            <a:r>
              <a:t>Autologous hematopoietic stem cell transplantation (ASCT) can reduce tumor burden through myeloablative conditioning and create a favorable environment for CAR-</a:t>
            </a:r>
          </a:p>
          <a:p>
            <a:pPr>
              <a:lnSpc>
                <a:spcPct val="103000"/>
              </a:lnSpc>
              <a:spcAft>
                <a:spcPts val="300"/>
              </a:spcAft>
              <a:defRPr sz="570">
                <a:solidFill>
                  <a:srgbClr val="21242A"/>
                </a:solidFill>
                <a:latin typeface="Microsoft YaHei"/>
              </a:defRPr>
            </a:pPr>
            <a:r>
              <a:t>T cell expansion, suggesting synergistic potential with sequential combination.</a:t>
            </a:r>
          </a:p>
          <a:p>
            <a:pPr>
              <a:lnSpc>
                <a:spcPct val="103000"/>
              </a:lnSpc>
              <a:spcAft>
                <a:spcPts val="300"/>
              </a:spcAft>
              <a:defRPr sz="570">
                <a:solidFill>
                  <a:srgbClr val="21242A"/>
                </a:solidFill>
                <a:latin typeface="Microsoft YaHei"/>
              </a:defRPr>
            </a:pPr>
            <a:r>
              <a:t>Currently, clinical evidence for ASCT combined with CD19 CAR-T therapy in CNSL remains extremely limited.</a:t>
            </a:r>
          </a:p>
          <a:p>
            <a:pPr>
              <a:lnSpc>
                <a:spcPct val="103000"/>
              </a:lnSpc>
              <a:spcAft>
                <a:spcPts val="300"/>
              </a:spcAft>
              <a:defRPr sz="570">
                <a:solidFill>
                  <a:srgbClr val="21242A"/>
                </a:solidFill>
                <a:latin typeface="Microsoft YaHei"/>
              </a:defRPr>
            </a:pPr>
            <a:r>
              <a:t>Aims: To evaluate the clinical efficacy and safety of ASCT combined with CD19 CAR-T cell therapy in patients with CNSL.</a:t>
            </a:r>
          </a:p>
          <a:p>
            <a:pPr>
              <a:lnSpc>
                <a:spcPct val="103000"/>
              </a:lnSpc>
              <a:spcAft>
                <a:spcPts val="300"/>
              </a:spcAft>
              <a:defRPr sz="570">
                <a:solidFill>
                  <a:srgbClr val="21242A"/>
                </a:solidFill>
                <a:latin typeface="Microsoft YaHei"/>
              </a:defRPr>
            </a:pPr>
            <a:r>
              <a:t>Methods: Clinical data were retrospectively collected from CNSL patients who received ASCT combined with CAR-T therapy at the First Affiliated Hospital of Zheng</a:t>
            </a:r>
          </a:p>
          <a:p>
            <a:pPr>
              <a:lnSpc>
                <a:spcPct val="103000"/>
              </a:lnSpc>
              <a:spcAft>
                <a:spcPts val="300"/>
              </a:spcAft>
              <a:defRPr sz="570">
                <a:solidFill>
                  <a:srgbClr val="21242A"/>
                </a:solidFill>
                <a:latin typeface="Microsoft YaHei"/>
              </a:defRPr>
            </a:pPr>
            <a:r>
              <a:t>zhou University between July 2023 and August 2025.</a:t>
            </a:r>
          </a:p>
          <a:p>
            <a:pPr>
              <a:lnSpc>
                <a:spcPct val="103000"/>
              </a:lnSpc>
              <a:spcAft>
                <a:spcPts val="300"/>
              </a:spcAft>
              <a:defRPr sz="570">
                <a:solidFill>
                  <a:srgbClr val="21242A"/>
                </a:solidFill>
                <a:latin typeface="Microsoft YaHei"/>
              </a:defRPr>
            </a:pPr>
            <a:r>
              <a:t>All patients received myeloablative conditioning chemotherapy followed by autologous stem cell infusion and subsequent sequential infusion of CD19 CAR-T cells.</a:t>
            </a:r>
          </a:p>
          <a:p>
            <a:pPr>
              <a:lnSpc>
                <a:spcPct val="103000"/>
              </a:lnSpc>
              <a:spcAft>
                <a:spcPts val="300"/>
              </a:spcAft>
              <a:defRPr sz="570">
                <a:solidFill>
                  <a:srgbClr val="21242A"/>
                </a:solidFill>
                <a:latin typeface="Microsoft YaHei"/>
              </a:defRPr>
            </a:pPr>
            <a:r>
              <a:t>The primary endpoints were objective response rate (ORR) and complete response rate (CRR).</a:t>
            </a:r>
          </a:p>
          <a:p>
            <a:pPr>
              <a:lnSpc>
                <a:spcPct val="103000"/>
              </a:lnSpc>
              <a:spcAft>
                <a:spcPts val="300"/>
              </a:spcAft>
              <a:defRPr sz="570">
                <a:solidFill>
                  <a:srgbClr val="21242A"/>
                </a:solidFill>
                <a:latin typeface="Microsoft YaHei"/>
              </a:defRPr>
            </a:pPr>
            <a:r>
              <a:t>Secondary endpoints included overall survival (OS), progression-free survival (PFS), CAR-T cell peak expansion, hematopoietic reconstitution time, and treatment</a:t>
            </a:r>
          </a:p>
          <a:p>
            <a:pPr>
              <a:lnSpc>
                <a:spcPct val="103000"/>
              </a:lnSpc>
              <a:spcAft>
                <a:spcPts val="300"/>
              </a:spcAft>
              <a:defRPr sz="570">
                <a:solidFill>
                  <a:srgbClr val="21242A"/>
                </a:solidFill>
                <a:latin typeface="Microsoft YaHei"/>
              </a:defRPr>
            </a:pPr>
            <a:r>
              <a:t>-related adverse events.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ASCT combined with CD19 CAR-T therapy demonstrates excellent efficacy and a favorable safety profile with newly diagnosed and relapsed/refractory CNSL, warranti</a:t>
            </a:r>
          </a:p>
          <a:p>
            <a:pPr>
              <a:lnSpc>
                <a:spcPct val="103000"/>
              </a:lnSpc>
              <a:spcAft>
                <a:spcPts val="300"/>
              </a:spcAft>
              <a:defRPr sz="590">
                <a:solidFill>
                  <a:srgbClr val="21242A"/>
                </a:solidFill>
                <a:latin typeface="Microsoft YaHei"/>
              </a:defRPr>
            </a:pPr>
            <a:r>
              <a:t>ng further validation in larger cohorts with extended follow-up.</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客观缓解率（ORR）：100%（7/7）||完全缓解率（CRR）：100%（7/7）||中位总生存期（OS）：未达到||中位无进展生存期（PFS）：未达到||OS率：100%||PFS率：100%||中性粒细胞植入中位时间：15天（范围12-23）||血小板植入中位时间：22天（范围16-29）||CAR-T</a:t>
            </a:r>
          </a:p>
          <a:p>
            <a:pPr>
              <a:lnSpc>
                <a:spcPct val="103000"/>
              </a:lnSpc>
              <a:spcAft>
                <a:spcPts val="300"/>
              </a:spcAft>
              <a:defRPr sz="580">
                <a:solidFill>
                  <a:srgbClr val="21242A"/>
                </a:solidFill>
                <a:latin typeface="Microsoft YaHei"/>
              </a:defRPr>
            </a:pPr>
            <a:r>
              <a:t>细胞峰值中位数：74.3/μL（范围25.31-137.66）||达峰值中位时间：8天（范围8-12）||细胞因子释放综合征（CRS）发生率：71.4%（5/7），无≥3级||免疫效应细胞相关神经毒性综合征（ICANS）：1例1级，无≥2级||感染：2例，可控</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摘要号：PS2235</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glofitamab单药或联合治疗复发/难治性原发性或继发性中枢神经系统淋巴瘤：一项多中心回顾性研究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monotherapy or combination therapy in patients with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N=96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多组/多方案比较：试验组1：glofitamab单药治疗</a:t>
            </a:r>
          </a:p>
          <a:p>
            <a:pPr>
              <a:lnSpc>
                <a:spcPct val="103000"/>
              </a:lnSpc>
              <a:spcAft>
                <a:spcPts val="300"/>
              </a:spcAft>
              <a:defRPr sz="800">
                <a:solidFill>
                  <a:srgbClr val="21242A"/>
                </a:solidFill>
                <a:latin typeface="Microsoft YaHei"/>
              </a:defRPr>
            </a:pPr>
            <a:r>
              <a:t>试验组2：glofitamab联合其他治疗（联合药物由医生决定）</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客观缓解率（ORR）：91.8%（95% CI 84.0%-96.8%）</a:t>
            </a:r>
          </a:p>
          <a:p>
            <a:pPr>
              <a:lnSpc>
                <a:spcPct val="103000"/>
              </a:lnSpc>
              <a:spcAft>
                <a:spcPts val="300"/>
              </a:spcAft>
              <a:defRPr sz="800">
                <a:solidFill>
                  <a:srgbClr val="21242A"/>
                </a:solidFill>
                <a:latin typeface="Microsoft YaHei"/>
              </a:defRPr>
            </a:pPr>
            <a:r>
              <a:t>完全缓解率（CRR）：66.6%（95% CI 55.8%-75.8%）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人数：96</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glofitamab单药或联合治疗复发/难治性原发性或继发性中枢神经系统淋巴瘤：一项多中心回顾性研究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monotherapy or combination therapy in patients with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Patients with relapsed or refractory primary or secondary central nervous system lymphoma (R/R PCNSL/SCNSL) have a dismal prognosis with limited sub</a:t>
            </a:r>
          </a:p>
          <a:p>
            <a:pPr>
              <a:lnSpc>
                <a:spcPct val="103000"/>
              </a:lnSpc>
              <a:spcAft>
                <a:spcPts val="300"/>
              </a:spcAft>
              <a:defRPr sz="570">
                <a:solidFill>
                  <a:srgbClr val="21242A"/>
                </a:solidFill>
                <a:latin typeface="Microsoft YaHei"/>
              </a:defRPr>
            </a:pPr>
            <a:r>
              <a:t>sequent treatment options.</a:t>
            </a:r>
          </a:p>
          <a:p>
            <a:pPr>
              <a:lnSpc>
                <a:spcPct val="103000"/>
              </a:lnSpc>
              <a:spcAft>
                <a:spcPts val="300"/>
              </a:spcAft>
              <a:defRPr sz="570">
                <a:solidFill>
                  <a:srgbClr val="21242A"/>
                </a:solidFill>
                <a:latin typeface="Microsoft YaHei"/>
              </a:defRPr>
            </a:pPr>
            <a:r>
              <a:t>The efficacy and safety profiles of bispecific antibody therapy in this population remain ambiguous.</a:t>
            </a:r>
          </a:p>
          <a:p>
            <a:pPr>
              <a:lnSpc>
                <a:spcPct val="103000"/>
              </a:lnSpc>
              <a:spcAft>
                <a:spcPts val="300"/>
              </a:spcAft>
              <a:defRPr sz="570">
                <a:solidFill>
                  <a:srgbClr val="21242A"/>
                </a:solidFill>
                <a:latin typeface="Microsoft YaHei"/>
              </a:defRPr>
            </a:pPr>
            <a:r>
              <a:t>Aims: To evaluate the efficacy and safety of glofitamab-based therapy in patients with relapsed/refractory central nervous system lymphoma (R/R CNSL).</a:t>
            </a:r>
          </a:p>
          <a:p>
            <a:pPr>
              <a:lnSpc>
                <a:spcPct val="103000"/>
              </a:lnSpc>
              <a:spcAft>
                <a:spcPts val="300"/>
              </a:spcAft>
              <a:defRPr sz="570">
                <a:solidFill>
                  <a:srgbClr val="21242A"/>
                </a:solidFill>
                <a:latin typeface="Microsoft YaHei"/>
              </a:defRPr>
            </a:pPr>
            <a:r>
              <a:t>Methods: R/R CNSL patients who received at least one dose of glofitamab across 24 Chinese medical facilities were investigated.</a:t>
            </a:r>
          </a:p>
          <a:p>
            <a:pPr>
              <a:lnSpc>
                <a:spcPct val="103000"/>
              </a:lnSpc>
              <a:spcAft>
                <a:spcPts val="300"/>
              </a:spcAft>
              <a:defRPr sz="570">
                <a:solidFill>
                  <a:srgbClr val="21242A"/>
                </a:solidFill>
                <a:latin typeface="Microsoft YaHei"/>
              </a:defRPr>
            </a:pPr>
            <a:r>
              <a:t>All patients had histologically confirmed diffuse large B-cell lymphoma with documented CNS involvement and were heavily pretreated by chemotherapy, whole brain</a:t>
            </a:r>
          </a:p>
          <a:p>
            <a:pPr>
              <a:lnSpc>
                <a:spcPct val="103000"/>
              </a:lnSpc>
              <a:spcAft>
                <a:spcPts val="300"/>
              </a:spcAft>
              <a:defRPr sz="570">
                <a:solidFill>
                  <a:srgbClr val="21242A"/>
                </a:solidFill>
                <a:latin typeface="Microsoft YaHei"/>
              </a:defRPr>
            </a:pPr>
            <a:r>
              <a:t> radiotherapy, or CAR-T therapy.</a:t>
            </a:r>
          </a:p>
          <a:p>
            <a:pPr>
              <a:lnSpc>
                <a:spcPct val="103000"/>
              </a:lnSpc>
              <a:spcAft>
                <a:spcPts val="300"/>
              </a:spcAft>
              <a:defRPr sz="570">
                <a:solidFill>
                  <a:srgbClr val="21242A"/>
                </a:solidFill>
                <a:latin typeface="Microsoft YaHei"/>
              </a:defRPr>
            </a:pPr>
            <a:r>
              <a:t>After providing informed consent, patients received obinutuzumab (1000 mg on cycle 1 day 1) as premedication, followed by glofitamab step-up dosing: 2.5 mg on c</a:t>
            </a:r>
          </a:p>
          <a:p>
            <a:pPr>
              <a:lnSpc>
                <a:spcPct val="103000"/>
              </a:lnSpc>
              <a:spcAft>
                <a:spcPts val="300"/>
              </a:spcAft>
              <a:defRPr sz="570">
                <a:solidFill>
                  <a:srgbClr val="21242A"/>
                </a:solidFill>
                <a:latin typeface="Microsoft YaHei"/>
              </a:defRPr>
            </a:pPr>
            <a:r>
              <a:t>ycle 1 day 8, 10 mg on cycle 1 day 15, and 30 mg on cycle 2 day 1, then 30 mg every 3 weeks thereafter for up to 12 cycles, with or without combination agents a</a:t>
            </a:r>
          </a:p>
          <a:p>
            <a:pPr>
              <a:lnSpc>
                <a:spcPct val="103000"/>
              </a:lnSpc>
              <a:spcAft>
                <a:spcPts val="300"/>
              </a:spcAft>
              <a:defRPr sz="570">
                <a:solidFill>
                  <a:srgbClr val="21242A"/>
                </a:solidFill>
                <a:latin typeface="Microsoft YaHei"/>
              </a:defRPr>
            </a:pPr>
            <a:r>
              <a:t>t the physician’s discretion.</a:t>
            </a:r>
          </a:p>
          <a:p>
            <a:pPr>
              <a:lnSpc>
                <a:spcPct val="103000"/>
              </a:lnSpc>
              <a:spcAft>
                <a:spcPts val="300"/>
              </a:spcAft>
              <a:defRPr sz="570">
                <a:solidFill>
                  <a:srgbClr val="21242A"/>
                </a:solidFill>
                <a:latin typeface="Microsoft YaHei"/>
              </a:defRPr>
            </a:pPr>
            <a:r>
              <a:t>CNS response was assessed by IPCG criteria using contrast-enhanced brain/spine MRI and CSF analysis.</a:t>
            </a:r>
          </a:p>
          <a:p>
            <a:pPr>
              <a:lnSpc>
                <a:spcPct val="103000"/>
              </a:lnSpc>
              <a:spcAft>
                <a:spcPts val="300"/>
              </a:spcAft>
              <a:defRPr sz="570">
                <a:solidFill>
                  <a:srgbClr val="21242A"/>
                </a:solidFill>
                <a:latin typeface="Microsoft YaHei"/>
              </a:defRPr>
            </a:pPr>
            <a:r>
              <a:t>For SCNSL, systemic disease was evaluated by whole-body PET-CT scan per Lugano 2014.</a:t>
            </a:r>
          </a:p>
          <a:p>
            <a:pPr>
              <a:lnSpc>
                <a:spcPct val="103000"/>
              </a:lnSpc>
              <a:spcAft>
                <a:spcPts val="300"/>
              </a:spcAft>
              <a:defRPr sz="570">
                <a:solidFill>
                  <a:srgbClr val="21242A"/>
                </a:solidFill>
                <a:latin typeface="Microsoft YaHei"/>
              </a:defRPr>
            </a:pPr>
            <a:r>
              <a:t>The primary endpoint was the objective response rate (ORR), defined as the proportion of patients who achieved a confirmed best overall response (BOR) of comple</a:t>
            </a:r>
          </a:p>
          <a:p>
            <a:pPr>
              <a:lnSpc>
                <a:spcPct val="103000"/>
              </a:lnSpc>
              <a:spcAft>
                <a:spcPts val="300"/>
              </a:spcAft>
              <a:defRPr sz="570">
                <a:solidFill>
                  <a:srgbClr val="21242A"/>
                </a:solidFill>
                <a:latin typeface="Microsoft YaHei"/>
              </a:defRPr>
            </a:pPr>
            <a:r>
              <a:t>te response (CR) or partial response (PR).</a:t>
            </a:r>
          </a:p>
          <a:p>
            <a:pPr>
              <a:lnSpc>
                <a:spcPct val="103000"/>
              </a:lnSpc>
              <a:spcAft>
                <a:spcPts val="300"/>
              </a:spcAft>
              <a:defRPr sz="570">
                <a:solidFill>
                  <a:srgbClr val="21242A"/>
                </a:solidFill>
                <a:latin typeface="Microsoft YaHei"/>
              </a:defRPr>
            </a:pPr>
            <a:r>
              <a:t>Secondary endpoints included complete response rate (CRR), progression-free survival (PFS), overall survival (OS), and safety profiles (incidences of CRS and IC</a:t>
            </a:r>
          </a:p>
          <a:p>
            <a:pPr>
              <a:lnSpc>
                <a:spcPct val="103000"/>
              </a:lnSpc>
              <a:spcAft>
                <a:spcPts val="300"/>
              </a:spcAft>
              <a:defRPr sz="570">
                <a:solidFill>
                  <a:srgbClr val="21242A"/>
                </a:solidFill>
                <a:latin typeface="Microsoft YaHei"/>
              </a:defRPr>
            </a:pPr>
            <a:r>
              <a:t>ANS).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These findings demonstrate that glofitamab-based therapy yields substantial antitumor activity with a manageable safety profile in heavily treatment-experienced</a:t>
            </a:r>
          </a:p>
          <a:p>
            <a:pPr>
              <a:lnSpc>
                <a:spcPct val="103000"/>
              </a:lnSpc>
              <a:spcAft>
                <a:spcPts val="300"/>
              </a:spcAft>
              <a:defRPr sz="590">
                <a:solidFill>
                  <a:srgbClr val="21242A"/>
                </a:solidFill>
                <a:latin typeface="Microsoft YaHei"/>
              </a:defRPr>
            </a:pPr>
            <a:r>
              <a:t> R/R CNSL patients, indicating a potentially promising treatment paradigm.</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187452">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187452">
                <a:tc>
                  <a:txBody>
                    <a:bodyPr wrap="square" lIns="36576" rIns="36576" tIns="18288" bIns="18288"/>
                    <a:lstStyle/>
                    <a:p>
                      <a:r>
                        <a:rPr sz="540" b="1">
                          <a:solidFill>
                            <a:srgbClr val="21242A"/>
                          </a:solidFill>
                          <a:latin typeface="Microsoft YaHei"/>
                        </a:rPr>
                        <a:t>客观缓解率（ORR）</a:t>
                      </a:r>
                    </a:p>
                  </a:txBody>
                  <a:tcPr>
                    <a:solidFill>
                      <a:srgbClr val="F6F8FB"/>
                    </a:solidFill>
                  </a:tcPr>
                </a:tc>
                <a:tc>
                  <a:txBody>
                    <a:bodyPr wrap="square" lIns="36576" rIns="36576" tIns="18288" bIns="18288"/>
                    <a:lstStyle/>
                    <a:p>
                      <a:r>
                        <a:rPr sz="540" b="0">
                          <a:solidFill>
                            <a:srgbClr val="21242A"/>
                          </a:solidFill>
                          <a:latin typeface="Microsoft YaHei"/>
                        </a:rPr>
                        <a:t>91.8%（95% CI 84.0%-96.8%）</a:t>
                      </a:r>
                    </a:p>
                  </a:txBody>
                  <a:tcPr>
                    <a:solidFill>
                      <a:srgbClr val="F6F8FB"/>
                    </a:solidFill>
                  </a:tcPr>
                </a:tc>
              </a:tr>
              <a:tr h="187452">
                <a:tc>
                  <a:txBody>
                    <a:bodyPr wrap="square" lIns="36576" rIns="36576" tIns="18288" bIns="18288"/>
                    <a:lstStyle/>
                    <a:p>
                      <a:r>
                        <a:rPr sz="540" b="1">
                          <a:solidFill>
                            <a:srgbClr val="21242A"/>
                          </a:solidFill>
                          <a:latin typeface="Microsoft YaHei"/>
                        </a:rPr>
                        <a:t>完全缓解率（CRR）</a:t>
                      </a:r>
                    </a:p>
                  </a:txBody>
                  <a:tcPr>
                    <a:solidFill>
                      <a:srgbClr val="FFFFFF"/>
                    </a:solidFill>
                  </a:tcPr>
                </a:tc>
                <a:tc>
                  <a:txBody>
                    <a:bodyPr wrap="square" lIns="36576" rIns="36576" tIns="18288" bIns="18288"/>
                    <a:lstStyle/>
                    <a:p>
                      <a:r>
                        <a:rPr sz="540" b="0">
                          <a:solidFill>
                            <a:srgbClr val="21242A"/>
                          </a:solidFill>
                          <a:latin typeface="Microsoft YaHei"/>
                        </a:rPr>
                        <a:t>66.6%（95% CI 55.8%-75.8%）</a:t>
                      </a:r>
                    </a:p>
                  </a:txBody>
                  <a:tcPr>
                    <a:solidFill>
                      <a:srgbClr val="FFFFFF"/>
                    </a:solidFill>
                  </a:tcPr>
                </a:tc>
              </a:tr>
              <a:tr h="187452">
                <a:tc>
                  <a:txBody>
                    <a:bodyPr wrap="square" lIns="36576" rIns="36576" tIns="18288" bIns="18288"/>
                    <a:lstStyle/>
                    <a:p>
                      <a:r>
                        <a:rPr sz="540" b="1">
                          <a:solidFill>
                            <a:srgbClr val="21242A"/>
                          </a:solidFill>
                          <a:latin typeface="Microsoft YaHei"/>
                        </a:rPr>
                        <a:t>中位无进展生存期（PFS）</a:t>
                      </a:r>
                    </a:p>
                  </a:txBody>
                  <a:tcPr>
                    <a:solidFill>
                      <a:srgbClr val="F6F8FB"/>
                    </a:solidFill>
                  </a:tcPr>
                </a:tc>
                <a:tc>
                  <a:txBody>
                    <a:bodyPr wrap="square" lIns="36576" rIns="36576" tIns="18288" bIns="18288"/>
                    <a:lstStyle/>
                    <a:p>
                      <a:r>
                        <a:rPr sz="540" b="0">
                          <a:solidFill>
                            <a:srgbClr val="21242A"/>
                          </a:solidFill>
                          <a:latin typeface="Microsoft YaHei"/>
                        </a:rPr>
                        <a:t>15.8个月（95% CI 12.8-未达到）</a:t>
                      </a:r>
                    </a:p>
                  </a:txBody>
                  <a:tcPr>
                    <a:solidFill>
                      <a:srgbClr val="F6F8FB"/>
                    </a:solidFill>
                  </a:tcPr>
                </a:tc>
              </a:tr>
              <a:tr h="187452">
                <a:tc>
                  <a:txBody>
                    <a:bodyPr wrap="square" lIns="36576" rIns="36576" tIns="18288" bIns="18288"/>
                    <a:lstStyle/>
                    <a:p>
                      <a:r>
                        <a:rPr sz="540" b="1">
                          <a:solidFill>
                            <a:srgbClr val="21242A"/>
                          </a:solidFill>
                          <a:latin typeface="Microsoft YaHei"/>
                        </a:rPr>
                        <a:t>6个月PFS率</a:t>
                      </a:r>
                    </a:p>
                  </a:txBody>
                  <a:tcPr>
                    <a:solidFill>
                      <a:srgbClr val="FFFFFF"/>
                    </a:solidFill>
                  </a:tcPr>
                </a:tc>
                <a:tc>
                  <a:txBody>
                    <a:bodyPr wrap="square" lIns="36576" rIns="36576" tIns="18288" bIns="18288"/>
                    <a:lstStyle/>
                    <a:p>
                      <a:r>
                        <a:rPr sz="540" b="0">
                          <a:solidFill>
                            <a:srgbClr val="21242A"/>
                          </a:solidFill>
                          <a:latin typeface="Microsoft YaHei"/>
                        </a:rPr>
                        <a:t>78.8%（95% CI 71.0%-88.7%）</a:t>
                      </a:r>
                    </a:p>
                  </a:txBody>
                  <a:tcPr>
                    <a:solidFill>
                      <a:srgbClr val="FFFFFF"/>
                    </a:solidFill>
                  </a:tcPr>
                </a:tc>
              </a:tr>
              <a:tr h="187452">
                <a:tc>
                  <a:txBody>
                    <a:bodyPr wrap="square" lIns="36576" rIns="36576" tIns="18288" bIns="18288"/>
                    <a:lstStyle/>
                    <a:p>
                      <a:r>
                        <a:rPr sz="540" b="1">
                          <a:solidFill>
                            <a:srgbClr val="21242A"/>
                          </a:solidFill>
                          <a:latin typeface="Microsoft YaHei"/>
                        </a:rPr>
                        <a:t>12个月PFS率</a:t>
                      </a:r>
                    </a:p>
                  </a:txBody>
                  <a:tcPr>
                    <a:solidFill>
                      <a:srgbClr val="F6F8FB"/>
                    </a:solidFill>
                  </a:tcPr>
                </a:tc>
                <a:tc>
                  <a:txBody>
                    <a:bodyPr wrap="square" lIns="36576" rIns="36576" tIns="18288" bIns="18288"/>
                    <a:lstStyle/>
                    <a:p>
                      <a:r>
                        <a:rPr sz="540" b="0">
                          <a:solidFill>
                            <a:srgbClr val="21242A"/>
                          </a:solidFill>
                          <a:latin typeface="Microsoft YaHei"/>
                        </a:rPr>
                        <a:t>62.0%（95% CI 50.2%-77.0%）</a:t>
                      </a:r>
                    </a:p>
                  </a:txBody>
                  <a:tcPr>
                    <a:solidFill>
                      <a:srgbClr val="F6F8FB"/>
                    </a:solidFill>
                  </a:tcPr>
                </a:tc>
              </a:tr>
              <a:tr h="187452">
                <a:tc>
                  <a:txBody>
                    <a:bodyPr wrap="square" lIns="36576" rIns="36576" tIns="18288" bIns="18288"/>
                    <a:lstStyle/>
                    <a:p>
                      <a:r>
                        <a:rPr sz="540" b="1">
                          <a:solidFill>
                            <a:srgbClr val="21242A"/>
                          </a:solidFill>
                          <a:latin typeface="Microsoft YaHei"/>
                        </a:rPr>
                        <a:t>细胞因子释放综合征（CRS）发生率</a:t>
                      </a:r>
                    </a:p>
                  </a:txBody>
                  <a:tcPr>
                    <a:solidFill>
                      <a:srgbClr val="FFFFFF"/>
                    </a:solidFill>
                  </a:tcPr>
                </a:tc>
                <a:tc>
                  <a:txBody>
                    <a:bodyPr wrap="square" lIns="36576" rIns="36576" tIns="18288" bIns="18288"/>
                    <a:lstStyle/>
                    <a:p>
                      <a:r>
                        <a:rPr sz="540" b="0">
                          <a:solidFill>
                            <a:srgbClr val="21242A"/>
                          </a:solidFill>
                          <a:latin typeface="Microsoft YaHei"/>
                        </a:rPr>
                        <a:t>40.6%（均为1-2级）</a:t>
                      </a:r>
                    </a:p>
                  </a:txBody>
                  <a:tcPr>
                    <a:solidFill>
                      <a:srgbClr val="FFFFFF"/>
                    </a:solidFill>
                  </a:tcPr>
                </a:tc>
              </a:tr>
              <a:tr h="187452">
                <a:tc>
                  <a:txBody>
                    <a:bodyPr wrap="square" lIns="36576" rIns="36576" tIns="18288" bIns="18288"/>
                    <a:lstStyle/>
                    <a:p>
                      <a:r>
                        <a:rPr sz="540" b="1">
                          <a:solidFill>
                            <a:srgbClr val="21242A"/>
                          </a:solidFill>
                          <a:latin typeface="Microsoft YaHei"/>
                        </a:rPr>
                        <a:t>免疫效应细胞相关神经毒性综合征（ICANS）发生率</a:t>
                      </a:r>
                    </a:p>
                  </a:txBody>
                  <a:tcPr>
                    <a:solidFill>
                      <a:srgbClr val="F6F8FB"/>
                    </a:solidFill>
                  </a:tcPr>
                </a:tc>
                <a:tc>
                  <a:txBody>
                    <a:bodyPr wrap="square" lIns="36576" rIns="36576" tIns="18288" bIns="18288"/>
                    <a:lstStyle/>
                    <a:p>
                      <a:r>
                        <a:rPr sz="540" b="0">
                          <a:solidFill>
                            <a:srgbClr val="21242A"/>
                          </a:solidFill>
                          <a:latin typeface="Microsoft YaHei"/>
                        </a:rPr>
                        <a:t>8%</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摘要号：PS2092</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原发性中枢神经系统淋巴瘤临床病理预后模型的建立与验证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a clinicopathological prognostic model for prim...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N=180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回顾性临床研究结果：development and validation of a clinicopathological 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中位年龄60岁（18-82岁）</a:t>
            </a:r>
          </a:p>
          <a:p>
            <a:pPr>
              <a:lnSpc>
                <a:spcPct val="103000"/>
              </a:lnSpc>
              <a:spcAft>
                <a:spcPts val="300"/>
              </a:spcAft>
              <a:defRPr sz="800">
                <a:solidFill>
                  <a:srgbClr val="21242A"/>
                </a:solidFill>
                <a:latin typeface="Microsoft YaHei"/>
              </a:defRPr>
            </a:pPr>
            <a:r>
              <a:t>男性占56.67%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人数：180</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研究主题：development and validation of a clinicopathological prognostic model for primary central nervous system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原发性中枢神经系统淋巴瘤临床病理预后模型的建立与验证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a clinicopathological prognostic model for prim...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The IELSG and MSKCC prognostic scoring systems, while commonly used for primary central nervous system lymphoma (PCNSL), present certain limitations</a:t>
            </a:r>
          </a:p>
          <a:p>
            <a:pPr>
              <a:lnSpc>
                <a:spcPct val="103000"/>
              </a:lnSpc>
              <a:spcAft>
                <a:spcPts val="300"/>
              </a:spcAft>
              <a:defRPr sz="570">
                <a:solidFill>
                  <a:srgbClr val="21242A"/>
                </a:solidFill>
                <a:latin typeface="Microsoft YaHei"/>
              </a:defRPr>
            </a:pPr>
            <a:r>
              <a:t> in clinical practice.</a:t>
            </a:r>
          </a:p>
          <a:p>
            <a:pPr>
              <a:lnSpc>
                <a:spcPct val="103000"/>
              </a:lnSpc>
              <a:spcAft>
                <a:spcPts val="300"/>
              </a:spcAft>
              <a:defRPr sz="570">
                <a:solidFill>
                  <a:srgbClr val="21242A"/>
                </a:solidFill>
                <a:latin typeface="Microsoft YaHei"/>
              </a:defRPr>
            </a:pPr>
            <a:r>
              <a:t>The IELSG model is constrained by the inconsistent availability of LDH and CSF protein measurements, whereas the MSKCC system relies solely on age and Karnofsky</a:t>
            </a:r>
          </a:p>
          <a:p>
            <a:pPr>
              <a:lnSpc>
                <a:spcPct val="103000"/>
              </a:lnSpc>
              <a:spcAft>
                <a:spcPts val="300"/>
              </a:spcAft>
              <a:defRPr sz="570">
                <a:solidFill>
                  <a:srgbClr val="21242A"/>
                </a:solidFill>
                <a:latin typeface="Microsoft YaHei"/>
              </a:defRPr>
            </a:pPr>
            <a:r>
              <a:t> performance status, potentially limiting its prognostic scope.</a:t>
            </a:r>
          </a:p>
          <a:p>
            <a:pPr>
              <a:lnSpc>
                <a:spcPct val="103000"/>
              </a:lnSpc>
              <a:spcAft>
                <a:spcPts val="300"/>
              </a:spcAft>
              <a:defRPr sz="570">
                <a:solidFill>
                  <a:srgbClr val="21242A"/>
                </a:solidFill>
                <a:latin typeface="Microsoft YaHei"/>
              </a:defRPr>
            </a:pPr>
            <a:r>
              <a:t>Aims: This study seeks to establish and validate a novel prognostic model leveraging real-world clinical data to enhance predictive accuracy and practical appli</a:t>
            </a:r>
          </a:p>
          <a:p>
            <a:pPr>
              <a:lnSpc>
                <a:spcPct val="103000"/>
              </a:lnSpc>
              <a:spcAft>
                <a:spcPts val="300"/>
              </a:spcAft>
              <a:defRPr sz="570">
                <a:solidFill>
                  <a:srgbClr val="21242A"/>
                </a:solidFill>
                <a:latin typeface="Microsoft YaHei"/>
              </a:defRPr>
            </a:pPr>
            <a:r>
              <a:t>cability.</a:t>
            </a:r>
          </a:p>
          <a:p>
            <a:pPr>
              <a:lnSpc>
                <a:spcPct val="103000"/>
              </a:lnSpc>
              <a:spcAft>
                <a:spcPts val="300"/>
              </a:spcAft>
              <a:defRPr sz="570">
                <a:solidFill>
                  <a:srgbClr val="21242A"/>
                </a:solidFill>
                <a:latin typeface="Microsoft YaHei"/>
              </a:defRPr>
            </a:pPr>
            <a:r>
              <a:t>Methods: A retrospective analysis was conducted on 180 newly diagnosed PCNSL patients (≥ 18 years) treated at our center between January 2012 and January 2025.</a:t>
            </a:r>
          </a:p>
          <a:p>
            <a:pPr>
              <a:lnSpc>
                <a:spcPct val="103000"/>
              </a:lnSpc>
              <a:spcAft>
                <a:spcPts val="300"/>
              </a:spcAft>
              <a:defRPr sz="570">
                <a:solidFill>
                  <a:srgbClr val="21242A"/>
                </a:solidFill>
                <a:latin typeface="Microsoft YaHei"/>
              </a:defRPr>
            </a:pPr>
            <a:r>
              <a:t>Overall survival (OS) served as the primary endpoint, with progression-free survival (PFS) as the secondary endpoint.</a:t>
            </a:r>
          </a:p>
          <a:p>
            <a:pPr>
              <a:lnSpc>
                <a:spcPct val="103000"/>
              </a:lnSpc>
              <a:spcAft>
                <a:spcPts val="300"/>
              </a:spcAft>
              <a:defRPr sz="570">
                <a:solidFill>
                  <a:srgbClr val="21242A"/>
                </a:solidFill>
                <a:latin typeface="Microsoft YaHei"/>
              </a:defRPr>
            </a:pPr>
            <a:r>
              <a:t>Patients were randomly divided into training (70%) and validation (30%) cohorts.</a:t>
            </a:r>
          </a:p>
          <a:p>
            <a:pPr>
              <a:lnSpc>
                <a:spcPct val="103000"/>
              </a:lnSpc>
              <a:spcAft>
                <a:spcPts val="300"/>
              </a:spcAft>
              <a:defRPr sz="570">
                <a:solidFill>
                  <a:srgbClr val="21242A"/>
                </a:solidFill>
                <a:latin typeface="Microsoft YaHei"/>
              </a:defRPr>
            </a:pPr>
            <a:r>
              <a:t>Univariable and multivariable Cox regression analyses were performed to identify factors associated with OS.</a:t>
            </a:r>
          </a:p>
          <a:p>
            <a:pPr>
              <a:lnSpc>
                <a:spcPct val="103000"/>
              </a:lnSpc>
              <a:spcAft>
                <a:spcPts val="300"/>
              </a:spcAft>
              <a:defRPr sz="570">
                <a:solidFill>
                  <a:srgbClr val="21242A"/>
                </a:solidFill>
                <a:latin typeface="Microsoft YaHei"/>
              </a:defRPr>
            </a:pPr>
            <a:r>
              <a:t>A novel prognostic model was constructed based on multivariable findings and subsequently assessed for calibration, discriminative ability, and clinical utility</a:t>
            </a:r>
          </a:p>
          <a:p>
            <a:pPr>
              <a:lnSpc>
                <a:spcPct val="103000"/>
              </a:lnSpc>
              <a:spcAft>
                <a:spcPts val="300"/>
              </a:spcAft>
              <a:defRPr sz="570">
                <a:solidFill>
                  <a:srgbClr val="21242A"/>
                </a:solidFill>
                <a:latin typeface="Microsoft YaHei"/>
              </a:defRPr>
            </a:pPr>
            <a:r>
              <a:t> in both cohorts.</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This study presents a novel prognostic model integrating age, ECOG-PS, and MYC expression to predict OS in newly diagnosed PCNSL patients.</a:t>
            </a:r>
          </a:p>
          <a:p>
            <a:pPr>
              <a:lnSpc>
                <a:spcPct val="103000"/>
              </a:lnSpc>
              <a:spcAft>
                <a:spcPts val="300"/>
              </a:spcAft>
              <a:defRPr sz="590">
                <a:solidFill>
                  <a:srgbClr val="21242A"/>
                </a:solidFill>
                <a:latin typeface="Microsoft YaHei"/>
              </a:defRPr>
            </a:pPr>
            <a:r>
              <a:t>By incorporating high-risk clinicopathological features associated with tumor aggressiveness, this model may facilitate more individualized treatment planning.</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结果（EHA原文替代）</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Results: The median age at diagnosis of the enrolled 180 patients was 60 years (range: 18–82 years), with 56.67% (102/180) being male.</a:t>
            </a:r>
          </a:p>
          <a:p>
            <a:pPr>
              <a:lnSpc>
                <a:spcPct val="103000"/>
              </a:lnSpc>
              <a:spcAft>
                <a:spcPts val="300"/>
              </a:spcAft>
              <a:defRPr sz="580">
                <a:solidFill>
                  <a:srgbClr val="21242A"/>
                </a:solidFill>
                <a:latin typeface="Microsoft YaHei"/>
              </a:defRPr>
            </a:pPr>
            <a:r>
              <a:t>Diffuse large B-cell lymphoma (DLBCL) constituted the predominant pathological subtype (95%, 171/180).</a:t>
            </a:r>
          </a:p>
          <a:p>
            <a:pPr>
              <a:lnSpc>
                <a:spcPct val="103000"/>
              </a:lnSpc>
              <a:spcAft>
                <a:spcPts val="300"/>
              </a:spcAft>
              <a:defRPr sz="580">
                <a:solidFill>
                  <a:srgbClr val="21242A"/>
                </a:solidFill>
                <a:latin typeface="Microsoft YaHei"/>
              </a:defRPr>
            </a:pPr>
            <a:r>
              <a:t>Treatment modalities included subtotal/total tumor resection in 135 cases (75%), biopsy alone in 45 cases (25%), high-dose methotrexate (HD-MTX)-based chem</a:t>
            </a:r>
          </a:p>
          <a:p>
            <a:pPr>
              <a:lnSpc>
                <a:spcPct val="103000"/>
              </a:lnSpc>
              <a:spcAft>
                <a:spcPts val="300"/>
              </a:spcAft>
              <a:defRPr sz="580">
                <a:solidFill>
                  <a:srgbClr val="21242A"/>
                </a:solidFill>
                <a:latin typeface="Microsoft YaHei"/>
              </a:defRPr>
            </a:pPr>
            <a:r>
              <a:t>otherapy in 67 cases (37.22%), and combination therapies (including radiotherapy or hematopoietic cell transplantation) in 30 cases (16.7%).</a:t>
            </a:r>
          </a:p>
          <a:p>
            <a:pPr>
              <a:lnSpc>
                <a:spcPct val="103000"/>
              </a:lnSpc>
              <a:spcAft>
                <a:spcPts val="300"/>
              </a:spcAft>
              <a:defRPr sz="580">
                <a:solidFill>
                  <a:srgbClr val="21242A"/>
                </a:solidFill>
                <a:latin typeface="Microsoft YaHei"/>
              </a:defRPr>
            </a:pPr>
            <a:r>
              <a:t>Multivariable Cox regression identified age ≥ 60 years (HR: 2.58, p 2 (HR: 4.28, p p (Figure 1A) .</a:t>
            </a:r>
          </a:p>
          <a:p>
            <a:pPr>
              <a:lnSpc>
                <a:spcPct val="103000"/>
              </a:lnSpc>
              <a:spcAft>
                <a:spcPts val="300"/>
              </a:spcAft>
              <a:defRPr sz="580">
                <a:solidFill>
                  <a:srgbClr val="21242A"/>
                </a:solidFill>
                <a:latin typeface="Microsoft YaHei"/>
              </a:defRPr>
            </a:pPr>
            <a:r>
              <a:t>The model exhibited good discrimination, with area under the curve values of 0.74 and 0.89 in the training and validation cohorts, respectively (Figure 1B-</a:t>
            </a:r>
          </a:p>
          <a:p>
            <a:pPr>
              <a:lnSpc>
                <a:spcPct val="103000"/>
              </a:lnSpc>
              <a:spcAft>
                <a:spcPts val="300"/>
              </a:spcAft>
              <a:defRPr sz="580">
                <a:solidFill>
                  <a:srgbClr val="21242A"/>
                </a:solidFill>
                <a:latin typeface="Microsoft YaHei"/>
              </a:defRPr>
            </a:pPr>
            <a:r>
              <a:t>C) .</a:t>
            </a:r>
          </a:p>
          <a:p>
            <a:pPr>
              <a:lnSpc>
                <a:spcPct val="103000"/>
              </a:lnSpc>
              <a:spcAft>
                <a:spcPts val="300"/>
              </a:spcAft>
              <a:defRPr sz="580">
                <a:solidFill>
                  <a:srgbClr val="21242A"/>
                </a:solidFill>
                <a:latin typeface="Microsoft YaHei"/>
              </a:defRPr>
            </a:pPr>
            <a:r>
              <a:t>Calibration curves demonstrated high consistency between the predicted probabilities and actual observations.</a:t>
            </a:r>
          </a:p>
          <a:p>
            <a:pPr>
              <a:lnSpc>
                <a:spcPct val="103000"/>
              </a:lnSpc>
              <a:spcAft>
                <a:spcPts val="300"/>
              </a:spcAft>
              <a:defRPr sz="580">
                <a:solidFill>
                  <a:srgbClr val="21242A"/>
                </a:solidFill>
                <a:latin typeface="Microsoft YaHei"/>
              </a:defRPr>
            </a:pPr>
            <a:r>
              <a:t>Furthermore, risk stratification based on this model revealed significant differences in survival status among patients in different risk groups, indicatin</a:t>
            </a:r>
          </a:p>
          <a:p>
            <a:pPr>
              <a:lnSpc>
                <a:spcPct val="103000"/>
              </a:lnSpc>
              <a:spcAft>
                <a:spcPts val="300"/>
              </a:spcAft>
              <a:defRPr sz="580">
                <a:solidFill>
                  <a:srgbClr val="21242A"/>
                </a:solidFill>
                <a:latin typeface="Microsoft YaHei"/>
              </a:defRPr>
            </a:pPr>
            <a:r>
              <a:t>g that this risk stratification strategy can effectively differentiate patient prognosis (Figure 1D-E) .</a:t>
            </a:r>
          </a:p>
          <a:p>
            <a:pPr>
              <a:lnSpc>
                <a:spcPct val="103000"/>
              </a:lnSpc>
              <a:spcAft>
                <a:spcPts val="300"/>
              </a:spcAft>
              <a:defRPr sz="580">
                <a:solidFill>
                  <a:srgbClr val="21242A"/>
                </a:solidFill>
                <a:latin typeface="Microsoft YaHei"/>
              </a:defRPr>
            </a:pPr>
            <a:r>
              <a:t>Conclusion: This study presents a novel prognostic model integrating age, ECOG-PS, and MYC expression to predict OS in newly diagnosed PCNSL patients.</a:t>
            </a:r>
          </a:p>
          <a:p>
            <a:pPr>
              <a:lnSpc>
                <a:spcPct val="103000"/>
              </a:lnSpc>
              <a:spcAft>
                <a:spcPts val="300"/>
              </a:spcAft>
              <a:defRPr sz="580">
                <a:solidFill>
                  <a:srgbClr val="21242A"/>
                </a:solidFill>
                <a:latin typeface="Microsoft YaHei"/>
              </a:defRPr>
            </a:pPr>
            <a:r>
              <a:t>By incorporating high-risk clinicopathological features associated with tumor aggressiveness, this model may facilitate more individualized treatment plann</a:t>
            </a:r>
          </a:p>
          <a:p>
            <a:pPr>
              <a:lnSpc>
                <a:spcPct val="103000"/>
              </a:lnSpc>
              <a:spcAft>
                <a:spcPts val="300"/>
              </a:spcAft>
              <a:defRPr sz="580">
                <a:solidFill>
                  <a:srgbClr val="21242A"/>
                </a:solidFill>
                <a:latin typeface="Microsoft YaHei"/>
              </a:defRPr>
            </a:pPr>
            <a:r>
              <a:t>ing.</a:t>
            </a:r>
          </a:p>
        </p:txBody>
      </p:sp>
      <p:sp>
        <p:nvSpPr>
          <p:cNvPr id="27" name="TextBox 26"/>
          <p:cNvSpPr txBox="1"/>
          <p:nvPr/>
        </p:nvSpPr>
        <p:spPr>
          <a:xfrm>
            <a:off x="521208" y="5394959"/>
            <a:ext cx="6409944" cy="118872"/>
          </a:xfrm>
          <a:prstGeom prst="rect">
            <a:avLst/>
          </a:prstGeom>
          <a:noFill/>
        </p:spPr>
        <p:txBody>
          <a:bodyPr wrap="square" lIns="73152" rIns="73152" tIns="36576" bIns="36576" anchor="t">
            <a:normAutofit/>
          </a:bodyPr>
          <a:lstStyle/>
          <a:p>
            <a:pPr algn="l"/>
            <a:r>
              <a:rPr sz="530" b="0">
                <a:solidFill>
                  <a:srgbClr val="5E6570"/>
                </a:solidFill>
                <a:latin typeface="Microsoft YaHei"/>
              </a:rPr>
              <a:t>数字核对未通过时改用EHA原文。</a:t>
            </a:r>
          </a:p>
        </p:txBody>
      </p:sp>
      <p:sp>
        <p:nvSpPr>
          <p:cNvPr id="28" name="TextBox 27"/>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9" name="Rectangle 28"/>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摘要号：PF1011</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药物/技术：CNS穿透/放疗/MTX策略</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1" name="Rounded Rectangle 30">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N=159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回顾性临床研究结果：factors predicting relapse after autologous hematopoi...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DLBCL患者：LDH升高与复发风险HR=3.75 (95% CI 1.46-9.59, p=0.006)</a:t>
            </a:r>
          </a:p>
          <a:p>
            <a:pPr>
              <a:lnSpc>
                <a:spcPct val="103000"/>
              </a:lnSpc>
              <a:spcAft>
                <a:spcPts val="300"/>
              </a:spcAft>
              <a:defRPr sz="800">
                <a:solidFill>
                  <a:srgbClr val="21242A"/>
                </a:solidFill>
                <a:latin typeface="Microsoft YaHei"/>
              </a:defRPr>
            </a:pPr>
            <a:r>
              <a:t>DLBCL患者：≥2个结外病灶与复发风险HR=2.89 (95% CI 1.21-6.91, p=0.017)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人数：159</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研究主题：factors predicting relapse after autologous hematopoietic cell transplantation in systemic diffuse large b-cell lymphom...</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Patients with diffuse large B-cell lymphoma (DLBCL) and primary central nervous system lymphoma (PCNSL) experiencing relapse after autologous hemato</a:t>
            </a:r>
          </a:p>
          <a:p>
            <a:pPr>
              <a:lnSpc>
                <a:spcPct val="103000"/>
              </a:lnSpc>
              <a:spcAft>
                <a:spcPts val="300"/>
              </a:spcAft>
              <a:defRPr sz="570">
                <a:solidFill>
                  <a:srgbClr val="21242A"/>
                </a:solidFill>
                <a:latin typeface="Microsoft YaHei"/>
              </a:defRPr>
            </a:pPr>
            <a:r>
              <a:t>poietic cell transplantation (AHCT) have poor outcomes.</a:t>
            </a:r>
          </a:p>
          <a:p>
            <a:pPr>
              <a:lnSpc>
                <a:spcPct val="103000"/>
              </a:lnSpc>
              <a:spcAft>
                <a:spcPts val="300"/>
              </a:spcAft>
              <a:defRPr sz="570">
                <a:solidFill>
                  <a:srgbClr val="21242A"/>
                </a:solidFill>
                <a:latin typeface="Microsoft YaHei"/>
              </a:defRPr>
            </a:pPr>
            <a:r>
              <a:t>Factors predicting the risk of post-transplant relapse risk are unknown.</a:t>
            </a:r>
          </a:p>
          <a:p>
            <a:pPr>
              <a:lnSpc>
                <a:spcPct val="103000"/>
              </a:lnSpc>
              <a:spcAft>
                <a:spcPts val="300"/>
              </a:spcAft>
              <a:defRPr sz="570">
                <a:solidFill>
                  <a:srgbClr val="21242A"/>
                </a:solidFill>
                <a:latin typeface="Microsoft YaHei"/>
              </a:defRPr>
            </a:pPr>
            <a:r>
              <a:t>Aims: The aim of this multicenter real-world study was to identify factors impacting post-transplant outcomes in systemic DLBCL or PCNSL.</a:t>
            </a:r>
          </a:p>
          <a:p>
            <a:pPr>
              <a:lnSpc>
                <a:spcPct val="103000"/>
              </a:lnSpc>
              <a:spcAft>
                <a:spcPts val="300"/>
              </a:spcAft>
              <a:defRPr sz="570">
                <a:solidFill>
                  <a:srgbClr val="21242A"/>
                </a:solidFill>
                <a:latin typeface="Microsoft YaHei"/>
              </a:defRPr>
            </a:pPr>
            <a:r>
              <a:t>Methods: The study population consisted of 119 patients with systemic DLBCL and 40 patients with PCNSL who underwent AHCT between 2000 and 2019 in three Univers</a:t>
            </a:r>
          </a:p>
          <a:p>
            <a:pPr>
              <a:lnSpc>
                <a:spcPct val="103000"/>
              </a:lnSpc>
              <a:spcAft>
                <a:spcPts val="300"/>
              </a:spcAft>
              <a:defRPr sz="570">
                <a:solidFill>
                  <a:srgbClr val="21242A"/>
                </a:solidFill>
                <a:latin typeface="Microsoft YaHei"/>
              </a:defRPr>
            </a:pPr>
            <a:r>
              <a:t>ity Hospitals in Finland (Kuopio, Tampere, Oulu).</a:t>
            </a:r>
          </a:p>
          <a:p>
            <a:pPr>
              <a:lnSpc>
                <a:spcPct val="103000"/>
              </a:lnSpc>
              <a:spcAft>
                <a:spcPts val="300"/>
              </a:spcAft>
              <a:defRPr sz="570">
                <a:solidFill>
                  <a:srgbClr val="21242A"/>
                </a:solidFill>
                <a:latin typeface="Microsoft YaHei"/>
              </a:defRPr>
            </a:pPr>
            <a:r>
              <a:t>Data were retrospectively collected from patients’ medical records including e.g. patient and disease characteristics and outcome.</a:t>
            </a:r>
          </a:p>
          <a:p>
            <a:pPr>
              <a:lnSpc>
                <a:spcPct val="103000"/>
              </a:lnSpc>
              <a:spcAft>
                <a:spcPts val="300"/>
              </a:spcAft>
              <a:defRPr sz="570">
                <a:solidFill>
                  <a:srgbClr val="21242A"/>
                </a:solidFill>
                <a:latin typeface="Microsoft YaHei"/>
              </a:defRPr>
            </a:pPr>
            <a:r>
              <a:t>Early relapse was defined as occurring</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PCNSL patients receiving AHCT after their first relapse were significantly more likely to experience post-transplant relapse if their pre-mobilization response </a:t>
            </a:r>
          </a:p>
          <a:p>
            <a:pPr>
              <a:lnSpc>
                <a:spcPct val="103000"/>
              </a:lnSpc>
              <a:spcAft>
                <a:spcPts val="300"/>
              </a:spcAft>
              <a:defRPr sz="590">
                <a:solidFill>
                  <a:srgbClr val="21242A"/>
                </a:solidFill>
                <a:latin typeface="Microsoft YaHei"/>
              </a:defRPr>
            </a:pPr>
            <a:r>
              <a:t>was worse than CR.</a:t>
            </a:r>
          </a:p>
          <a:p>
            <a:pPr>
              <a:lnSpc>
                <a:spcPct val="103000"/>
              </a:lnSpc>
              <a:spcAft>
                <a:spcPts val="300"/>
              </a:spcAft>
              <a:defRPr sz="590">
                <a:solidFill>
                  <a:srgbClr val="21242A"/>
                </a:solidFill>
                <a:latin typeface="Microsoft YaHei"/>
              </a:defRPr>
            </a:pPr>
            <a:r>
              <a:t>Our new risk classification for post-transplant relapse divides systemic DLBCL patients into three groups with significantly different RFS rates.</a:t>
            </a:r>
          </a:p>
          <a:p>
            <a:pPr>
              <a:lnSpc>
                <a:spcPct val="103000"/>
              </a:lnSpc>
              <a:spcAft>
                <a:spcPts val="300"/>
              </a:spcAft>
              <a:defRPr sz="590">
                <a:solidFill>
                  <a:srgbClr val="21242A"/>
                </a:solidFill>
                <a:latin typeface="Microsoft YaHei"/>
              </a:defRPr>
            </a:pPr>
            <a:r>
              <a:t>Larger studies are needed to validate this classification.</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14230">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14230">
                <a:tc>
                  <a:txBody>
                    <a:bodyPr wrap="square" lIns="36576" rIns="36576" tIns="18288" bIns="18288"/>
                    <a:lstStyle/>
                    <a:p>
                      <a:r>
                        <a:rPr sz="540" b="1">
                          <a:solidFill>
                            <a:srgbClr val="21242A"/>
                          </a:solidFill>
                          <a:latin typeface="Microsoft YaHei"/>
                        </a:rPr>
                        <a:t>DLBCL患者</a:t>
                      </a:r>
                    </a:p>
                  </a:txBody>
                  <a:tcPr>
                    <a:solidFill>
                      <a:srgbClr val="F6F8FB"/>
                    </a:solidFill>
                  </a:tcPr>
                </a:tc>
                <a:tc>
                  <a:txBody>
                    <a:bodyPr wrap="square" lIns="36576" rIns="36576" tIns="18288" bIns="18288"/>
                    <a:lstStyle/>
                    <a:p>
                      <a:r>
                        <a:rPr sz="540" b="0">
                          <a:solidFill>
                            <a:srgbClr val="21242A"/>
                          </a:solidFill>
                          <a:latin typeface="Microsoft YaHei"/>
                        </a:rPr>
                        <a:t>LDH升高与复发风险HR=3.75 (95% CI 1.46-9.59, p=0.006)</a:t>
                      </a:r>
                    </a:p>
                  </a:txBody>
                  <a:tcPr>
                    <a:solidFill>
                      <a:srgbClr val="F6F8FB"/>
                    </a:solidFill>
                  </a:tcPr>
                </a:tc>
              </a:tr>
              <a:tr h="214230">
                <a:tc>
                  <a:txBody>
                    <a:bodyPr wrap="square" lIns="36576" rIns="36576" tIns="18288" bIns="18288"/>
                    <a:lstStyle/>
                    <a:p>
                      <a:r>
                        <a:rPr sz="540" b="1">
                          <a:solidFill>
                            <a:srgbClr val="21242A"/>
                          </a:solidFill>
                          <a:latin typeface="Microsoft YaHei"/>
                        </a:rPr>
                        <a:t>DLBCL患者</a:t>
                      </a:r>
                    </a:p>
                  </a:txBody>
                  <a:tcPr>
                    <a:solidFill>
                      <a:srgbClr val="FFFFFF"/>
                    </a:solidFill>
                  </a:tcPr>
                </a:tc>
                <a:tc>
                  <a:txBody>
                    <a:bodyPr wrap="square" lIns="36576" rIns="36576" tIns="18288" bIns="18288"/>
                    <a:lstStyle/>
                    <a:p>
                      <a:r>
                        <a:rPr sz="540" b="0">
                          <a:solidFill>
                            <a:srgbClr val="21242A"/>
                          </a:solidFill>
                          <a:latin typeface="Microsoft YaHei"/>
                        </a:rPr>
                        <a:t>≥2个结外病灶与复发风险HR=2.89 (95% CI 1.21-6.91, p=0.017)</a:t>
                      </a:r>
                    </a:p>
                  </a:txBody>
                  <a:tcPr>
                    <a:solidFill>
                      <a:srgbClr val="FFFFFF"/>
                    </a:solidFill>
                  </a:tcPr>
                </a:tc>
              </a:tr>
              <a:tr h="214230">
                <a:tc>
                  <a:txBody>
                    <a:bodyPr wrap="square" lIns="36576" rIns="36576" tIns="18288" bIns="18288"/>
                    <a:lstStyle/>
                    <a:p>
                      <a:r>
                        <a:rPr sz="540" b="1">
                          <a:solidFill>
                            <a:srgbClr val="21242A"/>
                          </a:solidFill>
                          <a:latin typeface="Microsoft YaHei"/>
                        </a:rPr>
                        <a:t>DLBCL患者</a:t>
                      </a:r>
                    </a:p>
                  </a:txBody>
                  <a:tcPr>
                    <a:solidFill>
                      <a:srgbClr val="F6F8FB"/>
                    </a:solidFill>
                  </a:tcPr>
                </a:tc>
                <a:tc>
                  <a:txBody>
                    <a:bodyPr wrap="square" lIns="36576" rIns="36576" tIns="18288" bIns="18288"/>
                    <a:lstStyle/>
                    <a:p>
                      <a:r>
                        <a:rPr sz="540" b="0">
                          <a:solidFill>
                            <a:srgbClr val="21242A"/>
                          </a:solidFill>
                          <a:latin typeface="Microsoft YaHei"/>
                        </a:rPr>
                        <a:t>AHCT前PR与复发风险HR=1.97 (95% CI 1.02-3.80, p=0.042)</a:t>
                      </a:r>
                    </a:p>
                  </a:txBody>
                  <a:tcPr>
                    <a:solidFill>
                      <a:srgbClr val="F6F8FB"/>
                    </a:solidFill>
                  </a:tcPr>
                </a:tc>
              </a:tr>
              <a:tr h="214230">
                <a:tc>
                  <a:txBody>
                    <a:bodyPr wrap="square" lIns="36576" rIns="36576" tIns="18288" bIns="18288"/>
                    <a:lstStyle/>
                    <a:p>
                      <a:r>
                        <a:rPr sz="540" b="1">
                          <a:solidFill>
                            <a:srgbClr val="21242A"/>
                          </a:solidFill>
                          <a:latin typeface="Microsoft YaHei"/>
                        </a:rPr>
                        <a:t>PCNSL患者</a:t>
                      </a:r>
                    </a:p>
                  </a:txBody>
                  <a:tcPr>
                    <a:solidFill>
                      <a:srgbClr val="FFFFFF"/>
                    </a:solidFill>
                  </a:tcPr>
                </a:tc>
                <a:tc>
                  <a:txBody>
                    <a:bodyPr wrap="square" lIns="36576" rIns="36576" tIns="18288" bIns="18288"/>
                    <a:lstStyle/>
                    <a:p>
                      <a:r>
                        <a:rPr sz="540" b="0">
                          <a:solidFill>
                            <a:srgbClr val="21242A"/>
                          </a:solidFill>
                          <a:latin typeface="Microsoft YaHei"/>
                        </a:rPr>
                        <a:t>动员前PR vs CR的复发风险HR=15.06 (95% CI 1.08-210.62, p=0.044)</a:t>
                      </a:r>
                    </a:p>
                  </a:txBody>
                  <a:tcPr>
                    <a:solidFill>
                      <a:srgbClr val="FFFFFF"/>
                    </a:solidFill>
                  </a:tcPr>
                </a:tc>
              </a:tr>
              <a:tr h="214230">
                <a:tc>
                  <a:txBody>
                    <a:bodyPr wrap="square" lIns="36576" rIns="36576" tIns="18288" bIns="18288"/>
                    <a:lstStyle/>
                    <a:p>
                      <a:r>
                        <a:rPr sz="540" b="1">
                          <a:solidFill>
                            <a:srgbClr val="21242A"/>
                          </a:solidFill>
                          <a:latin typeface="Microsoft YaHei"/>
                        </a:rPr>
                        <a:t>基于以上三个因素的风险评分</a:t>
                      </a:r>
                    </a:p>
                  </a:txBody>
                  <a:tcPr>
                    <a:solidFill>
                      <a:srgbClr val="F6F8FB"/>
                    </a:solidFill>
                  </a:tcPr>
                </a:tc>
                <a:tc>
                  <a:txBody>
                    <a:bodyPr wrap="square" lIns="36576" rIns="36576" tIns="18288" bIns="18288"/>
                    <a:lstStyle/>
                    <a:p>
                      <a:r>
                        <a:rPr sz="540" b="0">
                          <a:solidFill>
                            <a:srgbClr val="21242A"/>
                          </a:solidFill>
                          <a:latin typeface="Microsoft YaHei"/>
                        </a:rPr>
                        <a:t>低危组5年RFS 84.9%，中危组64.4%，高危组47.5% (p=0.006)</a:t>
                      </a:r>
                    </a:p>
                  </a:txBody>
                  <a:tcPr>
                    <a:solidFill>
                      <a:srgbClr val="F6F8FB"/>
                    </a:solidFill>
                  </a:tcPr>
                </a:tc>
              </a:tr>
              <a:tr h="214236">
                <a:tc>
                  <a:txBody>
                    <a:bodyPr wrap="square" lIns="36576" rIns="36576" tIns="18288" bIns="18288"/>
                    <a:lstStyle/>
                    <a:p>
                      <a:r>
                        <a:rPr sz="540" b="1">
                          <a:solidFill>
                            <a:srgbClr val="21242A"/>
                          </a:solidFill>
                          <a:latin typeface="Microsoft YaHei"/>
                        </a:rPr>
                        <a:t>早期复发患者中</a:t>
                      </a:r>
                    </a:p>
                  </a:txBody>
                  <a:tcPr>
                    <a:solidFill>
                      <a:srgbClr val="FFFFFF"/>
                    </a:solidFill>
                  </a:tcPr>
                </a:tc>
                <a:tc>
                  <a:txBody>
                    <a:bodyPr wrap="square" lIns="36576" rIns="36576" tIns="18288" bIns="18288"/>
                    <a:lstStyle/>
                    <a:p>
                      <a:r>
                        <a:rPr sz="540" b="0">
                          <a:solidFill>
                            <a:srgbClr val="21242A"/>
                          </a:solidFill>
                          <a:latin typeface="Microsoft YaHei"/>
                        </a:rPr>
                        <a:t>低危组5年RFS 89.7%，中危组71.4%，高危组48.5% (p=0.007)</a:t>
                      </a:r>
                    </a:p>
                  </a:txBody>
                  <a:tcPr>
                    <a:solidFill>
                      <a:srgbClr val="FFFFFF"/>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摘要号：PS2247</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疾病场景：SCNSL/CNS复发或预防</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玻璃体切除标本流式细胞术作为原发性玻璃体视网膜淋巴瘤的诊断工具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flow cytometry of vitrectomy samples as a diagnostic tool in primary vitreore...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原发性玻璃体视网膜淋巴瘤</a:t>
            </a:r>
          </a:p>
          <a:p>
            <a:pPr>
              <a:lnSpc>
                <a:spcPct val="103000"/>
              </a:lnSpc>
              <a:spcAft>
                <a:spcPts val="300"/>
              </a:spcAft>
              <a:defRPr sz="800">
                <a:solidFill>
                  <a:srgbClr val="21242A"/>
                </a:solidFill>
                <a:latin typeface="Microsoft YaHei"/>
              </a:defRPr>
            </a:pPr>
            <a:r>
              <a:t>N=49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回顾性临床研究结果：flow cytometry of vitrectomy samples as a diagnostic...</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对于预测CNS淋巴瘤：敏感性100%（95%CI: 77.1-100%），特异性94.4%（95%CI: 77.3-99.1%...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人数：49</a:t>
            </a:r>
          </a:p>
          <a:p>
            <a:pPr>
              <a:lnSpc>
                <a:spcPct val="103000"/>
              </a:lnSpc>
              <a:spcAft>
                <a:spcPts val="300"/>
              </a:spcAft>
              <a:defRPr sz="810">
                <a:solidFill>
                  <a:srgbClr val="21242A"/>
                </a:solidFill>
                <a:latin typeface="Microsoft YaHei"/>
              </a:defRPr>
            </a:pPr>
            <a:r>
              <a:t>适应症：原发性玻璃体视网膜淋巴瘤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研究主题：flow cytometry of vitrectomy samples as a diagnostic tool in primary vitreoretinal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玻璃体切除标本流式细胞术作为原发性玻璃体视网膜淋巴瘤的诊断工具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flow cytometry of vitrectomy samples as a diagnostic tool in primary vitreore...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Primary Vitreoretinal Lymphoma (PVRL) is a rare subtype of predominantly aggressive B-cell lymphoma that manifests in the vitreus and/or retina and </a:t>
            </a:r>
          </a:p>
          <a:p>
            <a:pPr>
              <a:lnSpc>
                <a:spcPct val="103000"/>
              </a:lnSpc>
              <a:spcAft>
                <a:spcPts val="300"/>
              </a:spcAft>
              <a:defRPr sz="570">
                <a:solidFill>
                  <a:srgbClr val="21242A"/>
                </a:solidFill>
                <a:latin typeface="Microsoft YaHei"/>
              </a:defRPr>
            </a:pPr>
            <a:r>
              <a:t>is associated with poor clinical outcomes mostly due to frequent involvement of the central nervous system (CNS).</a:t>
            </a:r>
          </a:p>
          <a:p>
            <a:pPr>
              <a:lnSpc>
                <a:spcPct val="103000"/>
              </a:lnSpc>
              <a:spcAft>
                <a:spcPts val="300"/>
              </a:spcAft>
              <a:defRPr sz="570">
                <a:solidFill>
                  <a:srgbClr val="21242A"/>
                </a:solidFill>
                <a:latin typeface="Microsoft YaHei"/>
              </a:defRPr>
            </a:pPr>
            <a:r>
              <a:t>PVRL remains a diagnostic challenge for ophthalmologists, pathologists and hematologists, as standardized diagnostic guidelines are lacking.</a:t>
            </a:r>
          </a:p>
          <a:p>
            <a:pPr>
              <a:lnSpc>
                <a:spcPct val="103000"/>
              </a:lnSpc>
              <a:spcAft>
                <a:spcPts val="300"/>
              </a:spcAft>
              <a:defRPr sz="570">
                <a:solidFill>
                  <a:srgbClr val="21242A"/>
                </a:solidFill>
                <a:latin typeface="Microsoft YaHei"/>
              </a:defRPr>
            </a:pPr>
            <a:r>
              <a:t>Aims: In this retrospective single-center analysis, we aimed to evaluate the utility of multiparametric flow cytometry analysis (MPFC) for the diagnosis of PVRL</a:t>
            </a:r>
          </a:p>
          <a:p>
            <a:pPr>
              <a:lnSpc>
                <a:spcPct val="103000"/>
              </a:lnSpc>
              <a:spcAft>
                <a:spcPts val="300"/>
              </a:spcAft>
              <a:defRPr sz="570">
                <a:solidFill>
                  <a:srgbClr val="21242A"/>
                </a:solidFill>
                <a:latin typeface="Microsoft YaHei"/>
              </a:defRPr>
            </a:pPr>
            <a:r>
              <a:t> in vitrectomy samples.</a:t>
            </a:r>
          </a:p>
          <a:p>
            <a:pPr>
              <a:lnSpc>
                <a:spcPct val="103000"/>
              </a:lnSpc>
              <a:spcAft>
                <a:spcPts val="300"/>
              </a:spcAft>
              <a:defRPr sz="570">
                <a:solidFill>
                  <a:srgbClr val="21242A"/>
                </a:solidFill>
                <a:latin typeface="Microsoft YaHei"/>
              </a:defRPr>
            </a:pPr>
            <a:r>
              <a:t>Furthermore, we wanted to assess the sensitivity, specificity and predictive values of MPFC in identifying patients at risk for CNS lesions after identification</a:t>
            </a:r>
          </a:p>
          <a:p>
            <a:pPr>
              <a:lnSpc>
                <a:spcPct val="103000"/>
              </a:lnSpc>
              <a:spcAft>
                <a:spcPts val="300"/>
              </a:spcAft>
              <a:defRPr sz="570">
                <a:solidFill>
                  <a:srgbClr val="21242A"/>
                </a:solidFill>
                <a:latin typeface="Microsoft YaHei"/>
              </a:defRPr>
            </a:pPr>
            <a:r>
              <a:t> of monoclonal B-cells in the vitreus.</a:t>
            </a:r>
          </a:p>
          <a:p>
            <a:pPr>
              <a:lnSpc>
                <a:spcPct val="103000"/>
              </a:lnSpc>
              <a:spcAft>
                <a:spcPts val="300"/>
              </a:spcAft>
              <a:defRPr sz="570">
                <a:solidFill>
                  <a:srgbClr val="21242A"/>
                </a:solidFill>
                <a:latin typeface="Microsoft YaHei"/>
              </a:defRPr>
            </a:pPr>
            <a:r>
              <a:t>Methods: A total of 49 pars plana vitrectomy (PPV) samples were analyzed for monoclonal B-cells (CD45, CD19, CD5, CD10 and immunoglobulin light chains κ/λ) usin</a:t>
            </a:r>
          </a:p>
          <a:p>
            <a:pPr>
              <a:lnSpc>
                <a:spcPct val="103000"/>
              </a:lnSpc>
              <a:spcAft>
                <a:spcPts val="300"/>
              </a:spcAft>
              <a:defRPr sz="570">
                <a:solidFill>
                  <a:srgbClr val="21242A"/>
                </a:solidFill>
                <a:latin typeface="Microsoft YaHei"/>
              </a:defRPr>
            </a:pPr>
            <a:r>
              <a:t>g MPFC.</a:t>
            </a:r>
          </a:p>
          <a:p>
            <a:pPr>
              <a:lnSpc>
                <a:spcPct val="103000"/>
              </a:lnSpc>
              <a:spcAft>
                <a:spcPts val="300"/>
              </a:spcAft>
              <a:defRPr sz="570">
                <a:solidFill>
                  <a:srgbClr val="21242A"/>
                </a:solidFill>
                <a:latin typeface="Microsoft YaHei"/>
              </a:defRPr>
            </a:pPr>
            <a:r>
              <a:t>Statistical comparisons between positive and negative samples were conducted using the Mann–Whitney U test.</a:t>
            </a:r>
          </a:p>
          <a:p>
            <a:pPr>
              <a:lnSpc>
                <a:spcPct val="103000"/>
              </a:lnSpc>
              <a:spcAft>
                <a:spcPts val="300"/>
              </a:spcAft>
              <a:defRPr sz="570">
                <a:solidFill>
                  <a:srgbClr val="21242A"/>
                </a:solidFill>
                <a:latin typeface="Microsoft YaHei"/>
              </a:defRPr>
            </a:pPr>
            <a:r>
              <a:t>\nTo determine the diagnostic accuracy of MPFC for predicting CNS involvement following identification of a monoclonal B-cell population in the vitrectomy sampl</a:t>
            </a:r>
          </a:p>
          <a:p>
            <a:pPr>
              <a:lnSpc>
                <a:spcPct val="103000"/>
              </a:lnSpc>
              <a:spcAft>
                <a:spcPts val="300"/>
              </a:spcAft>
              <a:defRPr sz="570">
                <a:solidFill>
                  <a:srgbClr val="21242A"/>
                </a:solidFill>
                <a:latin typeface="Microsoft YaHei"/>
              </a:defRPr>
            </a:pPr>
            <a:r>
              <a:t>e, 34 patients were followed for a median of 31 months, and MPFC findings were validated against subsequent definitive evidence of lymphoma, including CSF analy</a:t>
            </a:r>
          </a:p>
          <a:p>
            <a:pPr>
              <a:lnSpc>
                <a:spcPct val="103000"/>
              </a:lnSpc>
              <a:spcAft>
                <a:spcPts val="300"/>
              </a:spcAft>
              <a:defRPr sz="570">
                <a:solidFill>
                  <a:srgbClr val="21242A"/>
                </a:solidFill>
                <a:latin typeface="Microsoft YaHei"/>
              </a:defRPr>
            </a:pPr>
            <a:r>
              <a:t>sis, imaging by MRI or CT and clinical evolution.</a:t>
            </a:r>
          </a:p>
          <a:p>
            <a:pPr>
              <a:lnSpc>
                <a:spcPct val="103000"/>
              </a:lnSpc>
              <a:spcAft>
                <a:spcPts val="300"/>
              </a:spcAft>
              <a:defRPr sz="570">
                <a:solidFill>
                  <a:srgbClr val="21242A"/>
                </a:solidFill>
                <a:latin typeface="Microsoft YaHei"/>
              </a:defRPr>
            </a:pPr>
            <a:r>
              <a:t>Sensitivity, specificity, positive predictive value (PPV), and negative predictive value (NPV) of MPFC were calculated.</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MPFC analysis of vitrectomy samples represents a valuable diagnostic tool in suspected PVRL.</a:t>
            </a:r>
          </a:p>
          <a:p>
            <a:pPr>
              <a:lnSpc>
                <a:spcPct val="103000"/>
              </a:lnSpc>
              <a:spcAft>
                <a:spcPts val="300"/>
              </a:spcAft>
              <a:defRPr sz="590">
                <a:solidFill>
                  <a:srgbClr val="21242A"/>
                </a:solidFill>
                <a:latin typeface="Microsoft YaHei"/>
              </a:defRPr>
            </a:pPr>
            <a:r>
              <a:t>Detection of intravitreal monoclonal B-cells was associated with increased risk of concomitant or subsequent CNS involvement, supporting the need for systematic</a:t>
            </a:r>
          </a:p>
          <a:p>
            <a:pPr>
              <a:lnSpc>
                <a:spcPct val="103000"/>
              </a:lnSpc>
              <a:spcAft>
                <a:spcPts val="300"/>
              </a:spcAft>
              <a:defRPr sz="590">
                <a:solidFill>
                  <a:srgbClr val="21242A"/>
                </a:solidFill>
                <a:latin typeface="Microsoft YaHei"/>
              </a:defRPr>
            </a:pPr>
            <a:r>
              <a:t> CNS staging upon initial diagnosis as well as close surveillance during the first year after diagnosis.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结果摘录（中文原表）</a:t>
            </a:r>
          </a:p>
        </p:txBody>
      </p:sp>
      <p:sp>
        <p:nvSpPr>
          <p:cNvPr id="26" name="TextBox 25"/>
          <p:cNvSpPr txBox="1"/>
          <p:nvPr/>
        </p:nvSpPr>
        <p:spPr>
          <a:xfrm>
            <a:off x="502920" y="3858768"/>
            <a:ext cx="6446520" cy="1527048"/>
          </a:xfrm>
          <a:prstGeom prst="rect">
            <a:avLst/>
          </a:prstGeom>
          <a:noFill/>
        </p:spPr>
        <p:txBody>
          <a:bodyPr wrap="square" rIns="73152" bIns="36576">
            <a:normAutofit/>
          </a:bodyPr>
          <a:lstStyle/>
          <a:p>
            <a:pPr>
              <a:lnSpc>
                <a:spcPct val="103000"/>
              </a:lnSpc>
              <a:spcAft>
                <a:spcPts val="300"/>
              </a:spcAft>
              <a:defRPr sz="580">
                <a:solidFill>
                  <a:srgbClr val="21242A"/>
                </a:solidFill>
                <a:latin typeface="Microsoft YaHei"/>
              </a:defRPr>
            </a:pPr>
            <a:r>
              <a:t>对于预测CNS淋巴瘤：敏感性100%（95%CI: 77.1-100%），特异性94.4%（95%CI: 77.3-99.1%），阳性预测值（PPV）未提供，阴性预测值100%（95%CI: 83.9-100%）</a:t>
            </a:r>
          </a:p>
        </p:txBody>
      </p:sp>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摘要号：PF1020</a:t>
            </a:r>
          </a:p>
          <a:p>
            <a:pPr>
              <a:lnSpc>
                <a:spcPct val="103000"/>
              </a:lnSpc>
              <a:spcAft>
                <a:spcPts val="300"/>
              </a:spcAft>
              <a:defRPr sz="680">
                <a:solidFill>
                  <a:srgbClr val="21242A"/>
                </a:solidFill>
                <a:latin typeface="Microsoft YaHei"/>
              </a:defRPr>
            </a:pPr>
            <a:r>
              <a:t>研究类型：回顾性/真实世界研究</a:t>
            </a:r>
          </a:p>
          <a:p>
            <a:pPr>
              <a:lnSpc>
                <a:spcPct val="103000"/>
              </a:lnSpc>
              <a:spcAft>
                <a:spcPts val="300"/>
              </a:spcAft>
              <a:defRPr sz="680">
                <a:solidFill>
                  <a:srgbClr val="21242A"/>
                </a:solidFill>
                <a:latin typeface="Microsoft YaHei"/>
              </a:defRPr>
            </a:pPr>
            <a:r>
              <a:t>疾病场景：眼内/玻璃体视网膜淋巴瘤</a:t>
            </a:r>
          </a:p>
          <a:p>
            <a:pPr>
              <a:lnSpc>
                <a:spcPct val="103000"/>
              </a:lnSpc>
              <a:spcAft>
                <a:spcPts val="300"/>
              </a:spcAft>
              <a:defRPr sz="680">
                <a:solidFill>
                  <a:srgbClr val="21242A"/>
                </a:solidFill>
                <a:latin typeface="Microsoft YaHei"/>
              </a:defRPr>
            </a:pPr>
            <a:r>
              <a:t>药物/技术：其他/未明确药物</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84048"/>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章节</a:t>
            </a:r>
          </a:p>
        </p:txBody>
      </p:sp>
      <p:sp>
        <p:nvSpPr>
          <p:cNvPr id="3" name="TextBox 2"/>
          <p:cNvSpPr txBox="1"/>
          <p:nvPr/>
        </p:nvSpPr>
        <p:spPr>
          <a:xfrm>
            <a:off x="1600200" y="274320"/>
            <a:ext cx="9326880" cy="502920"/>
          </a:xfrm>
          <a:prstGeom prst="rect">
            <a:avLst/>
          </a:prstGeom>
          <a:noFill/>
        </p:spPr>
        <p:txBody>
          <a:bodyPr wrap="square" lIns="73152" rIns="73152" tIns="36576" bIns="36576" anchor="t">
            <a:normAutofit/>
          </a:bodyPr>
          <a:lstStyle/>
          <a:p>
            <a:pPr algn="l"/>
            <a:r>
              <a:rPr sz="2200" b="1">
                <a:solidFill>
                  <a:srgbClr val="21242A"/>
                </a:solidFill>
                <a:latin typeface="Microsoft YaHei"/>
              </a:rPr>
              <a:t>卫生经济/模型研究</a:t>
            </a:r>
          </a:p>
        </p:txBody>
      </p:sp>
      <p:sp>
        <p:nvSpPr>
          <p:cNvPr id="4" name="TextBox 3"/>
          <p:cNvSpPr txBox="1"/>
          <p:nvPr/>
        </p:nvSpPr>
        <p:spPr>
          <a:xfrm>
            <a:off x="1627632" y="859536"/>
            <a:ext cx="9144000" cy="228600"/>
          </a:xfrm>
          <a:prstGeom prst="rect">
            <a:avLst/>
          </a:prstGeom>
          <a:noFill/>
        </p:spPr>
        <p:txBody>
          <a:bodyPr wrap="square" lIns="73152" rIns="73152" tIns="36576" bIns="36576" anchor="t">
            <a:normAutofit/>
          </a:bodyPr>
          <a:lstStyle/>
          <a:p>
            <a:pPr algn="l"/>
            <a:r>
              <a:rPr sz="919" b="0">
                <a:solidFill>
                  <a:srgbClr val="5E6570"/>
                </a:solidFill>
                <a:latin typeface="Microsoft YaHei"/>
              </a:rPr>
              <a:t>1项研究；以下按疾病场景和药物/技术继续细分。</a:t>
            </a:r>
          </a:p>
        </p:txBody>
      </p:sp>
      <p:sp>
        <p:nvSpPr>
          <p:cNvPr id="5" name="TextBox 4"/>
          <p:cNvSpPr txBox="1"/>
          <p:nvPr/>
        </p:nvSpPr>
        <p:spPr>
          <a:xfrm>
            <a:off x="640080" y="148132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疾病场景</a:t>
            </a:r>
          </a:p>
        </p:txBody>
      </p:sp>
      <p:sp>
        <p:nvSpPr>
          <p:cNvPr id="6" name="TextBox 5"/>
          <p:cNvSpPr txBox="1"/>
          <p:nvPr/>
        </p:nvSpPr>
        <p:spPr>
          <a:xfrm>
            <a:off x="768096" y="18288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LBCL/HGBL：1项</a:t>
            </a:r>
          </a:p>
        </p:txBody>
      </p:sp>
      <p:sp>
        <p:nvSpPr>
          <p:cNvPr id="7" name="Rectangle 6"/>
          <p:cNvSpPr/>
          <p:nvPr/>
        </p:nvSpPr>
        <p:spPr>
          <a:xfrm>
            <a:off x="4297680" y="1874519"/>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80" y="1874519"/>
            <a:ext cx="201168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481328"/>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药物/技术</a:t>
            </a:r>
          </a:p>
        </p:txBody>
      </p:sp>
      <p:sp>
        <p:nvSpPr>
          <p:cNvPr id="10" name="TextBox 9"/>
          <p:cNvSpPr txBox="1"/>
          <p:nvPr/>
        </p:nvSpPr>
        <p:spPr>
          <a:xfrm>
            <a:off x="6720840" y="18288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CAR-T/细胞治疗：1项</a:t>
            </a:r>
          </a:p>
        </p:txBody>
      </p:sp>
      <p:sp>
        <p:nvSpPr>
          <p:cNvPr id="11" name="Rectangle 10"/>
          <p:cNvSpPr/>
          <p:nvPr/>
        </p:nvSpPr>
        <p:spPr>
          <a:xfrm>
            <a:off x="9893808" y="1874519"/>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893808" y="1874519"/>
            <a:ext cx="150876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919472"/>
            <a:ext cx="10744200" cy="74980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65776"/>
            <a:ext cx="10332720" cy="384048"/>
          </a:xfrm>
          <a:prstGeom prst="rect">
            <a:avLst/>
          </a:prstGeom>
          <a:noFill/>
        </p:spPr>
        <p:txBody>
          <a:bodyPr wrap="square" rIns="73152" bIns="36576">
            <a:normAutofit/>
          </a:bodyPr>
          <a:lstStyle/>
          <a:p>
            <a:pPr>
              <a:lnSpc>
                <a:spcPct val="103000"/>
              </a:lnSpc>
              <a:spcAft>
                <a:spcPts val="300"/>
              </a:spcAft>
              <a:defRPr sz="800">
                <a:solidFill>
                  <a:srgbClr val="5E6570"/>
                </a:solidFill>
                <a:latin typeface="Microsoft YaHei"/>
              </a:defRPr>
            </a:pPr>
            <a:r>
              <a:t>章节内每项研究固定两页：研究设计/PICO、证据摘要（摘要/结论/结果/来源）。</a:t>
            </a:r>
          </a:p>
          <a:p>
            <a:pPr>
              <a:lnSpc>
                <a:spcPct val="103000"/>
              </a:lnSpc>
              <a:spcAft>
                <a:spcPts val="300"/>
              </a:spcAft>
              <a:defRPr sz="800">
                <a:solidFill>
                  <a:srgbClr val="5E6570"/>
                </a:solidFill>
                <a:latin typeface="Microsoft YaHei"/>
              </a:defRPr>
            </a:pPr>
            <a:r>
              <a:t>所有证据字段来自EHA页面或已核对原表字段；右下角可跳转EHA原文。</a:t>
            </a:r>
          </a:p>
        </p:txBody>
      </p:sp>
      <p:sp>
        <p:nvSpPr>
          <p:cNvPr id="15" name="Rounded Rectangle 14">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ciloleucel治疗台湾复发/难治性弥漫性大b细胞淋巴瘤和一线治疗后高度b细胞淋巴瘤患者...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for treating taiwanese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卫生经济/模型研究</a:t>
            </a:r>
          </a:p>
        </p:txBody>
      </p:sp>
      <p:sp>
        <p:nvSpPr>
          <p:cNvPr id="9" name="TextBox 8"/>
          <p:cNvSpPr txBox="1"/>
          <p:nvPr/>
        </p:nvSpPr>
        <p:spPr>
          <a:xfrm>
            <a:off x="345186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6268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治疗线数/场景：二线</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对照/比较：试验组1：axicabtagene ciloleucel</a:t>
            </a:r>
          </a:p>
          <a:p>
            <a:pPr>
              <a:lnSpc>
                <a:spcPct val="103000"/>
              </a:lnSpc>
              <a:spcAft>
                <a:spcPts val="300"/>
              </a:spcAft>
              <a:defRPr sz="800">
                <a:solidFill>
                  <a:srgbClr val="21242A"/>
                </a:solidFill>
                <a:latin typeface="Microsoft YaHei"/>
              </a:defRPr>
            </a:pPr>
            <a:r>
              <a:t>对照组：标准治疗（化疗免疫治疗±高剂量治疗和自体干细胞移植）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中位无事件生存期：axi-cel组10个月 vs SoC组3个月</a:t>
            </a:r>
          </a:p>
          <a:p>
            <a:pPr>
              <a:lnSpc>
                <a:spcPct val="103000"/>
              </a:lnSpc>
              <a:spcAft>
                <a:spcPts val="300"/>
              </a:spcAft>
              <a:defRPr sz="800">
                <a:solidFill>
                  <a:srgbClr val="21242A"/>
                </a:solidFill>
                <a:latin typeface="Microsoft YaHei"/>
              </a:defRPr>
            </a:pPr>
            <a:r>
              <a:t>中位总生存期：axi-cel组77个月 vs SoC组15个月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研究类型：卫生经济学研究</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登记号：NCT03391466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证据摘要</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ciloleucel治疗台湾复发/难治性弥漫性大b细胞淋巴瘤和一线治疗后高度b细胞淋巴瘤患者...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for treating taiwanese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卫生经济/模型研究</a:t>
            </a:r>
          </a:p>
        </p:txBody>
      </p:sp>
      <p:sp>
        <p:nvSpPr>
          <p:cNvPr id="9" name="TextBox 8"/>
          <p:cNvSpPr txBox="1"/>
          <p:nvPr/>
        </p:nvSpPr>
        <p:spPr>
          <a:xfrm>
            <a:off x="345186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6268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摘要</a:t>
            </a:r>
          </a:p>
        </p:txBody>
      </p:sp>
      <p:sp>
        <p:nvSpPr>
          <p:cNvPr id="14" name="Rectangle 13"/>
          <p:cNvSpPr/>
          <p:nvPr/>
        </p:nvSpPr>
        <p:spPr>
          <a:xfrm>
            <a:off x="411480"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 y="1188720"/>
            <a:ext cx="522122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摘要（EHA原文）</a:t>
            </a:r>
          </a:p>
        </p:txBody>
      </p:sp>
      <p:sp>
        <p:nvSpPr>
          <p:cNvPr id="16" name="TextBox 15"/>
          <p:cNvSpPr txBox="1"/>
          <p:nvPr/>
        </p:nvSpPr>
        <p:spPr>
          <a:xfrm>
            <a:off x="502920" y="1389888"/>
            <a:ext cx="5257800" cy="1554480"/>
          </a:xfrm>
          <a:prstGeom prst="rect">
            <a:avLst/>
          </a:prstGeom>
          <a:noFill/>
        </p:spPr>
        <p:txBody>
          <a:bodyPr wrap="square" rIns="73152" bIns="36576">
            <a:normAutofit/>
          </a:bodyPr>
          <a:lstStyle/>
          <a:p>
            <a:pPr>
              <a:lnSpc>
                <a:spcPct val="103000"/>
              </a:lnSpc>
              <a:spcAft>
                <a:spcPts val="300"/>
              </a:spcAft>
              <a:defRPr sz="570">
                <a:solidFill>
                  <a:srgbClr val="21242A"/>
                </a:solidFill>
                <a:latin typeface="Microsoft YaHei"/>
              </a:defRPr>
            </a:pPr>
            <a:r>
              <a:t>Background: Diffuse large B-cell lymphoma (DLBCL) is the predominant and aggressive non-Hodgkin lymphoma subtype in Taiwan, accounting for 60% of B-cell lymphom</a:t>
            </a:r>
          </a:p>
          <a:p>
            <a:pPr>
              <a:lnSpc>
                <a:spcPct val="103000"/>
              </a:lnSpc>
              <a:spcAft>
                <a:spcPts val="300"/>
              </a:spcAft>
              <a:defRPr sz="570">
                <a:solidFill>
                  <a:srgbClr val="21242A"/>
                </a:solidFill>
                <a:latin typeface="Microsoft YaHei"/>
              </a:defRPr>
            </a:pPr>
            <a:r>
              <a:t>as and 2.19% of all cancer cases in 2023.</a:t>
            </a:r>
          </a:p>
          <a:p>
            <a:pPr>
              <a:lnSpc>
                <a:spcPct val="103000"/>
              </a:lnSpc>
              <a:spcAft>
                <a:spcPts val="300"/>
              </a:spcAft>
              <a:defRPr sz="570">
                <a:solidFill>
                  <a:srgbClr val="21242A"/>
                </a:solidFill>
                <a:latin typeface="Microsoft YaHei"/>
              </a:defRPr>
            </a:pPr>
            <a:r>
              <a:t>Despite chemoimmunotherapy such as R-CHOP being the standard first-line (1L) treatment, outcomes remain poor for patients with relapsed or refractory (R/R) DLBC</a:t>
            </a:r>
          </a:p>
          <a:p>
            <a:pPr>
              <a:lnSpc>
                <a:spcPct val="103000"/>
              </a:lnSpc>
              <a:spcAft>
                <a:spcPts val="300"/>
              </a:spcAft>
              <a:defRPr sz="570">
                <a:solidFill>
                  <a:srgbClr val="21242A"/>
                </a:solidFill>
                <a:latin typeface="Microsoft YaHei"/>
              </a:defRPr>
            </a:pPr>
            <a:r>
              <a:t>L and high-grade B-cell lymphoma (HGBL), particularly those who are refractory to 1L therapy or relapse within 12 months, highlighting an unmet need in second-l</a:t>
            </a:r>
          </a:p>
          <a:p>
            <a:pPr>
              <a:lnSpc>
                <a:spcPct val="103000"/>
              </a:lnSpc>
              <a:spcAft>
                <a:spcPts val="300"/>
              </a:spcAft>
              <a:defRPr sz="570">
                <a:solidFill>
                  <a:srgbClr val="21242A"/>
                </a:solidFill>
                <a:latin typeface="Microsoft YaHei"/>
              </a:defRPr>
            </a:pPr>
            <a:r>
              <a:t>ine (2L) treatment.</a:t>
            </a:r>
          </a:p>
          <a:p>
            <a:pPr>
              <a:lnSpc>
                <a:spcPct val="103000"/>
              </a:lnSpc>
              <a:spcAft>
                <a:spcPts val="300"/>
              </a:spcAft>
              <a:defRPr sz="570">
                <a:solidFill>
                  <a:srgbClr val="21242A"/>
                </a:solidFill>
                <a:latin typeface="Microsoft YaHei"/>
              </a:defRPr>
            </a:pPr>
            <a:r>
              <a:t>Recently, chimeric antigen receptor T-cell (CAR T-cell) therapy, including axicabtagene ciloleucel (axi-cel), has demonstrated promising clinical benefits and h</a:t>
            </a:r>
          </a:p>
          <a:p>
            <a:pPr>
              <a:lnSpc>
                <a:spcPct val="103000"/>
              </a:lnSpc>
              <a:spcAft>
                <a:spcPts val="300"/>
              </a:spcAft>
              <a:defRPr sz="570">
                <a:solidFill>
                  <a:srgbClr val="21242A"/>
                </a:solidFill>
                <a:latin typeface="Microsoft YaHei"/>
              </a:defRPr>
            </a:pPr>
            <a:r>
              <a:t>as been approved as a 2L option in the United States, Europe, and Taiwan.</a:t>
            </a:r>
          </a:p>
          <a:p>
            <a:pPr>
              <a:lnSpc>
                <a:spcPct val="103000"/>
              </a:lnSpc>
              <a:spcAft>
                <a:spcPts val="300"/>
              </a:spcAft>
              <a:defRPr sz="570">
                <a:solidFill>
                  <a:srgbClr val="21242A"/>
                </a:solidFill>
                <a:latin typeface="Microsoft YaHei"/>
              </a:defRPr>
            </a:pPr>
            <a:r>
              <a:t>Aims: This study aims to evaluate the cost-effectiveness of axi-cel versus standard of care (SoC) as a 2L treatment for Taiwanese patients with DLBCL and HGBL.</a:t>
            </a:r>
          </a:p>
          <a:p>
            <a:pPr>
              <a:lnSpc>
                <a:spcPct val="103000"/>
              </a:lnSpc>
              <a:spcAft>
                <a:spcPts val="300"/>
              </a:spcAft>
              <a:defRPr sz="570">
                <a:solidFill>
                  <a:srgbClr val="21242A"/>
                </a:solidFill>
                <a:latin typeface="Microsoft YaHei"/>
              </a:defRPr>
            </a:pPr>
            <a:r>
              <a:t>Methods: A three-state partitioned survival model (event-free, post-event, and death) was used to estimate the cost-effectiveness of axi-cel versus SoC (i.e., c</a:t>
            </a:r>
          </a:p>
          <a:p>
            <a:pPr>
              <a:lnSpc>
                <a:spcPct val="103000"/>
              </a:lnSpc>
              <a:spcAft>
                <a:spcPts val="300"/>
              </a:spcAft>
              <a:defRPr sz="570">
                <a:solidFill>
                  <a:srgbClr val="21242A"/>
                </a:solidFill>
                <a:latin typeface="Microsoft YaHei"/>
              </a:defRPr>
            </a:pPr>
            <a:r>
              <a:t>hemoimmunotherapy ± high-dose therapy and autologous stem cell transplantation) as 2L treatment from the Taiwan National Health Insurance (NHI) perspective.</a:t>
            </a:r>
          </a:p>
          <a:p>
            <a:pPr>
              <a:lnSpc>
                <a:spcPct val="103000"/>
              </a:lnSpc>
              <a:spcAft>
                <a:spcPts val="300"/>
              </a:spcAft>
              <a:defRPr sz="570">
                <a:solidFill>
                  <a:srgbClr val="21242A"/>
                </a:solidFill>
                <a:latin typeface="Microsoft YaHei"/>
              </a:defRPr>
            </a:pPr>
            <a:r>
              <a:t>Clinical outcomes were informed by the ZUMA-7 randomized controlled trial, enrolling patients with R/R DLBCL and HGBL within 12 months after 1L therapy.</a:t>
            </a:r>
          </a:p>
          <a:p>
            <a:pPr>
              <a:lnSpc>
                <a:spcPct val="103000"/>
              </a:lnSpc>
              <a:spcAft>
                <a:spcPts val="300"/>
              </a:spcAft>
              <a:defRPr sz="570">
                <a:solidFill>
                  <a:srgbClr val="21242A"/>
                </a:solidFill>
                <a:latin typeface="Microsoft YaHei"/>
              </a:defRPr>
            </a:pPr>
            <a:r>
              <a:t>Healthcare resource use and costs were informed by NHI data and literature.</a:t>
            </a:r>
          </a:p>
          <a:p>
            <a:pPr>
              <a:lnSpc>
                <a:spcPct val="103000"/>
              </a:lnSpc>
              <a:spcAft>
                <a:spcPts val="300"/>
              </a:spcAft>
              <a:defRPr sz="570">
                <a:solidFill>
                  <a:srgbClr val="21242A"/>
                </a:solidFill>
                <a:latin typeface="Microsoft YaHei"/>
              </a:defRPr>
            </a:pPr>
            <a:r>
              <a:t>The model applied a lifetime horizon with monthly cycles, a starting age of 61.1 years based on NHI data, and a 3% annual discounting.</a:t>
            </a:r>
          </a:p>
          <a:p>
            <a:pPr>
              <a:lnSpc>
                <a:spcPct val="103000"/>
              </a:lnSpc>
              <a:spcAft>
                <a:spcPts val="300"/>
              </a:spcAft>
              <a:defRPr sz="570">
                <a:solidFill>
                  <a:srgbClr val="21242A"/>
                </a:solidFill>
                <a:latin typeface="Microsoft YaHei"/>
              </a:defRPr>
            </a:pPr>
            <a:r>
              <a:t>Quality-adjusted life years (QALYs), total costs, and incremental cost-effectiveness ratios (ICERs) were estimated in US dollars (exchange rate: 1 USD = 30 NTD)</a:t>
            </a:r>
          </a:p>
          <a:p>
            <a:pPr>
              <a:lnSpc>
                <a:spcPct val="103000"/>
              </a:lnSpc>
              <a:spcAft>
                <a:spcPts val="300"/>
              </a:spcAft>
              <a:defRPr sz="570">
                <a:solidFill>
                  <a:srgbClr val="21242A"/>
                </a:solidFill>
                <a:latin typeface="Microsoft YaHei"/>
              </a:defRPr>
            </a:pPr>
            <a:r>
              <a:t>.</a:t>
            </a:r>
          </a:p>
          <a:p>
            <a:pPr>
              <a:lnSpc>
                <a:spcPct val="103000"/>
              </a:lnSpc>
              <a:spcAft>
                <a:spcPts val="300"/>
              </a:spcAft>
              <a:defRPr sz="570">
                <a:solidFill>
                  <a:srgbClr val="21242A"/>
                </a:solidFill>
                <a:latin typeface="Microsoft YaHei"/>
              </a:defRPr>
            </a:pPr>
            <a:r>
              <a:t>Treatment crossover in the ZUMA-7 standard-of-care arm was adjusted using rank preserving structural failure time models, and adverse event costs were based on </a:t>
            </a:r>
          </a:p>
          <a:p>
            <a:pPr>
              <a:lnSpc>
                <a:spcPct val="103000"/>
              </a:lnSpc>
              <a:spcAft>
                <a:spcPts val="300"/>
              </a:spcAft>
              <a:defRPr sz="570">
                <a:solidFill>
                  <a:srgbClr val="21242A"/>
                </a:solidFill>
                <a:latin typeface="Microsoft YaHei"/>
              </a:defRPr>
            </a:pPr>
            <a:r>
              <a:t>local expert inputs and NHI data.</a:t>
            </a:r>
          </a:p>
        </p:txBody>
      </p:sp>
      <p:sp>
        <p:nvSpPr>
          <p:cNvPr id="17" name="TextBox 16"/>
          <p:cNvSpPr txBox="1"/>
          <p:nvPr/>
        </p:nvSpPr>
        <p:spPr>
          <a:xfrm>
            <a:off x="521208"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 Background/Aims/Methods</a:t>
            </a:r>
          </a:p>
        </p:txBody>
      </p:sp>
      <p:sp>
        <p:nvSpPr>
          <p:cNvPr id="18" name="TextBox 17"/>
          <p:cNvSpPr txBox="1"/>
          <p:nvPr/>
        </p:nvSpPr>
        <p:spPr>
          <a:xfrm>
            <a:off x="6108192"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结论</a:t>
            </a:r>
          </a:p>
        </p:txBody>
      </p:sp>
      <p:sp>
        <p:nvSpPr>
          <p:cNvPr id="19" name="Rectangle 18"/>
          <p:cNvSpPr/>
          <p:nvPr/>
        </p:nvSpPr>
        <p:spPr>
          <a:xfrm>
            <a:off x="6108192" y="1097280"/>
            <a:ext cx="5440680" cy="19933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188720"/>
            <a:ext cx="5221224" cy="164592"/>
          </a:xfrm>
          <a:prstGeom prst="rect">
            <a:avLst/>
          </a:prstGeom>
          <a:noFill/>
        </p:spPr>
        <p:txBody>
          <a:bodyPr wrap="square" lIns="73152" rIns="73152" tIns="36576" bIns="36576" anchor="t">
            <a:normAutofit/>
          </a:bodyPr>
          <a:lstStyle/>
          <a:p>
            <a:pPr algn="l"/>
            <a:r>
              <a:rPr sz="740" b="1">
                <a:solidFill>
                  <a:srgbClr val="265E8F"/>
                </a:solidFill>
                <a:latin typeface="Microsoft YaHei"/>
              </a:rPr>
              <a:t>结论（EHA原文）</a:t>
            </a:r>
          </a:p>
        </p:txBody>
      </p:sp>
      <p:sp>
        <p:nvSpPr>
          <p:cNvPr id="21" name="TextBox 20"/>
          <p:cNvSpPr txBox="1"/>
          <p:nvPr/>
        </p:nvSpPr>
        <p:spPr>
          <a:xfrm>
            <a:off x="6199631" y="1389888"/>
            <a:ext cx="5257800" cy="1554480"/>
          </a:xfrm>
          <a:prstGeom prst="rect">
            <a:avLst/>
          </a:prstGeom>
          <a:noFill/>
        </p:spPr>
        <p:txBody>
          <a:bodyPr wrap="square" rIns="73152" bIns="36576">
            <a:normAutofit/>
          </a:bodyPr>
          <a:lstStyle/>
          <a:p>
            <a:pPr>
              <a:lnSpc>
                <a:spcPct val="103000"/>
              </a:lnSpc>
              <a:spcAft>
                <a:spcPts val="300"/>
              </a:spcAft>
              <a:defRPr sz="590">
                <a:solidFill>
                  <a:srgbClr val="21242A"/>
                </a:solidFill>
                <a:latin typeface="Microsoft YaHei"/>
              </a:defRPr>
            </a:pPr>
            <a:r>
              <a:t>Axi-cel yields substantial clinical benefits and represents a cost-effective use of NHI resources for the 2L treatment of DLBCL and HGBL in Taiwan.</a:t>
            </a:r>
          </a:p>
          <a:p>
            <a:pPr>
              <a:lnSpc>
                <a:spcPct val="103000"/>
              </a:lnSpc>
              <a:spcAft>
                <a:spcPts val="300"/>
              </a:spcAft>
              <a:defRPr sz="590">
                <a:solidFill>
                  <a:srgbClr val="21242A"/>
                </a:solidFill>
                <a:latin typeface="Microsoft YaHei"/>
              </a:defRPr>
            </a:pPr>
            <a:r>
              <a:t>These findings support the clinical and economic value of early CAR T-cell adoption for eligible patients.</a:t>
            </a:r>
          </a:p>
        </p:txBody>
      </p:sp>
      <p:sp>
        <p:nvSpPr>
          <p:cNvPr id="22" name="TextBox 21"/>
          <p:cNvSpPr txBox="1"/>
          <p:nvPr/>
        </p:nvSpPr>
        <p:spPr>
          <a:xfrm>
            <a:off x="6217920" y="2907791"/>
            <a:ext cx="5221224" cy="118872"/>
          </a:xfrm>
          <a:prstGeom prst="rect">
            <a:avLst/>
          </a:prstGeom>
          <a:noFill/>
        </p:spPr>
        <p:txBody>
          <a:bodyPr wrap="square" lIns="73152" rIns="73152" tIns="36576" bIns="36576" anchor="t">
            <a:normAutofit/>
          </a:bodyPr>
          <a:lstStyle/>
          <a:p>
            <a:pPr algn="l"/>
            <a:r>
              <a:rPr sz="560" b="0">
                <a:solidFill>
                  <a:srgbClr val="5E6570"/>
                </a:solidFill>
                <a:latin typeface="Microsoft YaHei"/>
              </a:rPr>
              <a:t>来源：EHA结论字段</a:t>
            </a:r>
          </a:p>
        </p:txBody>
      </p:sp>
      <p:sp>
        <p:nvSpPr>
          <p:cNvPr id="23" name="TextBox 22"/>
          <p:cNvSpPr txBox="1"/>
          <p:nvPr/>
        </p:nvSpPr>
        <p:spPr>
          <a:xfrm>
            <a:off x="411480" y="3291840"/>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24" name="Rectangle 23"/>
          <p:cNvSpPr/>
          <p:nvPr/>
        </p:nvSpPr>
        <p:spPr>
          <a:xfrm>
            <a:off x="411480" y="3547872"/>
            <a:ext cx="6629400" cy="202996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639312"/>
            <a:ext cx="6409944" cy="164592"/>
          </a:xfrm>
          <a:prstGeom prst="rect">
            <a:avLst/>
          </a:prstGeom>
          <a:noFill/>
        </p:spPr>
        <p:txBody>
          <a:bodyPr wrap="square" lIns="73152" rIns="73152" tIns="36576" bIns="36576" anchor="t">
            <a:normAutofit/>
          </a:bodyPr>
          <a:lstStyle/>
          <a:p>
            <a:pPr algn="l"/>
            <a:r>
              <a:rPr sz="740" b="1">
                <a:solidFill>
                  <a:srgbClr val="8B1F1F"/>
                </a:solidFill>
                <a:latin typeface="Microsoft YaHei"/>
              </a:rPr>
              <a:t>结果数据表（中文原表）</a:t>
            </a:r>
          </a:p>
        </p:txBody>
      </p:sp>
      <p:graphicFrame>
        <p:nvGraphicFramePr>
          <p:cNvPr id="26" name="Table 25"/>
          <p:cNvGraphicFramePr>
            <a:graphicFrameLocks noGrp="1"/>
          </p:cNvGraphicFramePr>
          <p:nvPr/>
        </p:nvGraphicFramePr>
        <p:xfrm>
          <a:off x="521208" y="3858768"/>
          <a:ext cx="6409943" cy="1499616"/>
        </p:xfrm>
        <a:graphic>
          <a:graphicData uri="http://schemas.openxmlformats.org/drawingml/2006/table">
            <a:tbl>
              <a:tblPr firstRow="1" bandRow="1">
                <a:tableStyleId>{5C22544A-7EE6-4342-B048-85BDC9FD1C3A}</a:tableStyleId>
              </a:tblPr>
              <a:tblGrid>
                <a:gridCol w="1922983"/>
                <a:gridCol w="4486960"/>
              </a:tblGrid>
              <a:tr h="249936">
                <a:tc>
                  <a:txBody>
                    <a:bodyPr wrap="square" lIns="36576" rIns="36576" tIns="18288" bIns="18288"/>
                    <a:lstStyle/>
                    <a:p>
                      <a:r>
                        <a:rPr sz="580" b="1">
                          <a:solidFill>
                            <a:srgbClr val="FFFFFF"/>
                          </a:solidFill>
                          <a:latin typeface="Microsoft YaHei"/>
                        </a:rPr>
                        <a:t>指标/条目</a:t>
                      </a:r>
                    </a:p>
                  </a:txBody>
                  <a:tcPr>
                    <a:solidFill>
                      <a:srgbClr val="C5362D"/>
                    </a:solidFill>
                  </a:tcPr>
                </a:tc>
                <a:tc>
                  <a:txBody>
                    <a:bodyPr wrap="square" lIns="36576" rIns="36576" tIns="18288" bIns="18288"/>
                    <a:lstStyle/>
                    <a:p>
                      <a:r>
                        <a:rPr sz="580" b="1">
                          <a:solidFill>
                            <a:srgbClr val="FFFFFF"/>
                          </a:solidFill>
                          <a:latin typeface="Microsoft YaHei"/>
                        </a:rPr>
                        <a:t>结果</a:t>
                      </a:r>
                    </a:p>
                  </a:txBody>
                  <a:tcPr>
                    <a:solidFill>
                      <a:srgbClr val="C5362D"/>
                    </a:solidFill>
                  </a:tcPr>
                </a:tc>
              </a:tr>
              <a:tr h="249936">
                <a:tc>
                  <a:txBody>
                    <a:bodyPr wrap="square" lIns="36576" rIns="36576" tIns="18288" bIns="18288"/>
                    <a:lstStyle/>
                    <a:p>
                      <a:r>
                        <a:rPr sz="540" b="1">
                          <a:solidFill>
                            <a:srgbClr val="21242A"/>
                          </a:solidFill>
                          <a:latin typeface="Microsoft YaHei"/>
                        </a:rPr>
                        <a:t>中位无事件生存期</a:t>
                      </a:r>
                    </a:p>
                  </a:txBody>
                  <a:tcPr>
                    <a:solidFill>
                      <a:srgbClr val="F6F8FB"/>
                    </a:solidFill>
                  </a:tcPr>
                </a:tc>
                <a:tc>
                  <a:txBody>
                    <a:bodyPr wrap="square" lIns="36576" rIns="36576" tIns="18288" bIns="18288"/>
                    <a:lstStyle/>
                    <a:p>
                      <a:r>
                        <a:rPr sz="540" b="0">
                          <a:solidFill>
                            <a:srgbClr val="21242A"/>
                          </a:solidFill>
                          <a:latin typeface="Microsoft YaHei"/>
                        </a:rPr>
                        <a:t>axi-cel组10个月 vs SoC组3个月</a:t>
                      </a:r>
                    </a:p>
                  </a:txBody>
                  <a:tcPr>
                    <a:solidFill>
                      <a:srgbClr val="F6F8FB"/>
                    </a:solidFill>
                  </a:tcPr>
                </a:tc>
              </a:tr>
              <a:tr h="249936">
                <a:tc>
                  <a:txBody>
                    <a:bodyPr wrap="square" lIns="36576" rIns="36576" tIns="18288" bIns="18288"/>
                    <a:lstStyle/>
                    <a:p>
                      <a:r>
                        <a:rPr sz="540" b="1">
                          <a:solidFill>
                            <a:srgbClr val="21242A"/>
                          </a:solidFill>
                          <a:latin typeface="Microsoft YaHei"/>
                        </a:rPr>
                        <a:t>中位总生存期</a:t>
                      </a:r>
                    </a:p>
                  </a:txBody>
                  <a:tcPr>
                    <a:solidFill>
                      <a:srgbClr val="FFFFFF"/>
                    </a:solidFill>
                  </a:tcPr>
                </a:tc>
                <a:tc>
                  <a:txBody>
                    <a:bodyPr wrap="square" lIns="36576" rIns="36576" tIns="18288" bIns="18288"/>
                    <a:lstStyle/>
                    <a:p>
                      <a:r>
                        <a:rPr sz="540" b="0">
                          <a:solidFill>
                            <a:srgbClr val="21242A"/>
                          </a:solidFill>
                          <a:latin typeface="Microsoft YaHei"/>
                        </a:rPr>
                        <a:t>axi-cel组77个月 vs SoC组15个月</a:t>
                      </a:r>
                    </a:p>
                  </a:txBody>
                  <a:tcPr>
                    <a:solidFill>
                      <a:srgbClr val="FFFFFF"/>
                    </a:solidFill>
                  </a:tcPr>
                </a:tc>
              </a:tr>
              <a:tr h="249936">
                <a:tc>
                  <a:txBody>
                    <a:bodyPr wrap="square" lIns="36576" rIns="36576" tIns="18288" bIns="18288"/>
                    <a:lstStyle/>
                    <a:p>
                      <a:r>
                        <a:rPr sz="540" b="1">
                          <a:solidFill>
                            <a:srgbClr val="21242A"/>
                          </a:solidFill>
                          <a:latin typeface="Microsoft YaHei"/>
                        </a:rPr>
                        <a:t>平均生命年增量</a:t>
                      </a:r>
                    </a:p>
                  </a:txBody>
                  <a:tcPr>
                    <a:solidFill>
                      <a:srgbClr val="F6F8FB"/>
                    </a:solidFill>
                  </a:tcPr>
                </a:tc>
                <a:tc>
                  <a:txBody>
                    <a:bodyPr wrap="square" lIns="36576" rIns="36576" tIns="18288" bIns="18288"/>
                    <a:lstStyle/>
                    <a:p>
                      <a:r>
                        <a:rPr sz="540" b="0">
                          <a:solidFill>
                            <a:srgbClr val="21242A"/>
                          </a:solidFill>
                          <a:latin typeface="Microsoft YaHei"/>
                        </a:rPr>
                        <a:t>7.30年（13.37 vs 6.07）</a:t>
                      </a:r>
                    </a:p>
                  </a:txBody>
                  <a:tcPr>
                    <a:solidFill>
                      <a:srgbClr val="F6F8FB"/>
                    </a:solidFill>
                  </a:tcPr>
                </a:tc>
              </a:tr>
              <a:tr h="249936">
                <a:tc>
                  <a:txBody>
                    <a:bodyPr wrap="square" lIns="36576" rIns="36576" tIns="18288" bIns="18288"/>
                    <a:lstStyle/>
                    <a:p>
                      <a:r>
                        <a:rPr sz="540" b="1">
                          <a:solidFill>
                            <a:srgbClr val="21242A"/>
                          </a:solidFill>
                          <a:latin typeface="Microsoft YaHei"/>
                        </a:rPr>
                        <a:t>平均质量调整生命年增量</a:t>
                      </a:r>
                    </a:p>
                  </a:txBody>
                  <a:tcPr>
                    <a:solidFill>
                      <a:srgbClr val="FFFFFF"/>
                    </a:solidFill>
                  </a:tcPr>
                </a:tc>
                <a:tc>
                  <a:txBody>
                    <a:bodyPr wrap="square" lIns="36576" rIns="36576" tIns="18288" bIns="18288"/>
                    <a:lstStyle/>
                    <a:p>
                      <a:r>
                        <a:rPr sz="540" b="0">
                          <a:solidFill>
                            <a:srgbClr val="21242A"/>
                          </a:solidFill>
                          <a:latin typeface="Microsoft YaHei"/>
                        </a:rPr>
                        <a:t>5.32 QALYs（9.83 vs 4.51）</a:t>
                      </a:r>
                    </a:p>
                  </a:txBody>
                  <a:tcPr>
                    <a:solidFill>
                      <a:srgbClr val="FFFFFF"/>
                    </a:solidFill>
                  </a:tcPr>
                </a:tc>
              </a:tr>
              <a:tr h="249936">
                <a:tc>
                  <a:txBody>
                    <a:bodyPr wrap="square" lIns="36576" rIns="36576" tIns="18288" bIns="18288"/>
                    <a:lstStyle/>
                    <a:p>
                      <a:r>
                        <a:rPr sz="540" b="1">
                          <a:solidFill>
                            <a:srgbClr val="21242A"/>
                          </a:solidFill>
                          <a:latin typeface="Microsoft YaHei"/>
                        </a:rPr>
                        <a:t>增量成本效果比</a:t>
                      </a:r>
                    </a:p>
                  </a:txBody>
                  <a:tcPr>
                    <a:solidFill>
                      <a:srgbClr val="F6F8FB"/>
                    </a:solidFill>
                  </a:tcPr>
                </a:tc>
                <a:tc>
                  <a:txBody>
                    <a:bodyPr wrap="square" lIns="36576" rIns="36576" tIns="18288" bIns="18288"/>
                    <a:lstStyle/>
                    <a:p>
                      <a:r>
                        <a:rPr sz="540" b="0">
                          <a:solidFill>
                            <a:srgbClr val="21242A"/>
                          </a:solidFill>
                          <a:latin typeface="Microsoft YaHei"/>
                        </a:rPr>
                        <a:t>NTD 1.56M（USD 52,125）每QALY</a:t>
                      </a:r>
                    </a:p>
                  </a:txBody>
                  <a:tcPr>
                    <a:solidFill>
                      <a:srgbClr val="F6F8FB"/>
                    </a:solidFill>
                  </a:tcPr>
                </a:tc>
              </a:tr>
            </a:tbl>
          </a:graphicData>
        </a:graphic>
      </p:graphicFrame>
      <p:sp>
        <p:nvSpPr>
          <p:cNvPr id="27" name="TextBox 26"/>
          <p:cNvSpPr txBox="1"/>
          <p:nvPr/>
        </p:nvSpPr>
        <p:spPr>
          <a:xfrm>
            <a:off x="7360920" y="3291840"/>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来源/核对</a:t>
            </a:r>
          </a:p>
        </p:txBody>
      </p:sp>
      <p:sp>
        <p:nvSpPr>
          <p:cNvPr id="28" name="Rectangle 27"/>
          <p:cNvSpPr/>
          <p:nvPr/>
        </p:nvSpPr>
        <p:spPr>
          <a:xfrm>
            <a:off x="7360920" y="3547872"/>
            <a:ext cx="4187952" cy="202996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703320"/>
            <a:ext cx="3886200" cy="1572768"/>
          </a:xfrm>
          <a:prstGeom prst="rect">
            <a:avLst/>
          </a:prstGeom>
          <a:noFill/>
        </p:spPr>
        <p:txBody>
          <a:bodyPr wrap="square" rIns="73152" bIns="36576">
            <a:normAutofit/>
          </a:bodyPr>
          <a:lstStyle/>
          <a:p>
            <a:pPr>
              <a:lnSpc>
                <a:spcPct val="103000"/>
              </a:lnSpc>
              <a:spcAft>
                <a:spcPts val="300"/>
              </a:spcAft>
              <a:defRPr sz="680">
                <a:solidFill>
                  <a:srgbClr val="21242A"/>
                </a:solidFill>
                <a:latin typeface="Microsoft YaHei"/>
              </a:defRPr>
            </a:pPr>
            <a:r>
              <a:t>摘要号：PS2514</a:t>
            </a:r>
          </a:p>
          <a:p>
            <a:pPr>
              <a:lnSpc>
                <a:spcPct val="103000"/>
              </a:lnSpc>
              <a:spcAft>
                <a:spcPts val="300"/>
              </a:spcAft>
              <a:defRPr sz="680">
                <a:solidFill>
                  <a:srgbClr val="21242A"/>
                </a:solidFill>
                <a:latin typeface="Microsoft YaHei"/>
              </a:defRPr>
            </a:pPr>
            <a:r>
              <a:t>研究类型：卫生经济/模型研究</a:t>
            </a:r>
          </a:p>
          <a:p>
            <a:pPr>
              <a:lnSpc>
                <a:spcPct val="103000"/>
              </a:lnSpc>
              <a:spcAft>
                <a:spcPts val="300"/>
              </a:spcAft>
              <a:defRPr sz="680">
                <a:solidFill>
                  <a:srgbClr val="21242A"/>
                </a:solidFill>
                <a:latin typeface="Microsoft YaHei"/>
              </a:defRPr>
            </a:pPr>
            <a:r>
              <a:t>疾病场景：LBCL/HGBL</a:t>
            </a:r>
          </a:p>
          <a:p>
            <a:pPr>
              <a:lnSpc>
                <a:spcPct val="103000"/>
              </a:lnSpc>
              <a:spcAft>
                <a:spcPts val="300"/>
              </a:spcAft>
              <a:defRPr sz="680">
                <a:solidFill>
                  <a:srgbClr val="21242A"/>
                </a:solidFill>
                <a:latin typeface="Microsoft YaHei"/>
              </a:defRPr>
            </a:pPr>
            <a:r>
              <a:t>药物/技术：CAR-T/细胞治疗</a:t>
            </a:r>
          </a:p>
          <a:p>
            <a:pPr>
              <a:lnSpc>
                <a:spcPct val="103000"/>
              </a:lnSpc>
              <a:spcAft>
                <a:spcPts val="300"/>
              </a:spcAft>
              <a:defRPr sz="680">
                <a:solidFill>
                  <a:srgbClr val="21242A"/>
                </a:solidFill>
                <a:latin typeface="Microsoft YaHei"/>
              </a:defRPr>
            </a:pPr>
            <a:r>
              <a:t>EHA链接：已打开EHA页面核对；标题可匹配</a:t>
            </a:r>
          </a:p>
          <a:p>
            <a:pPr>
              <a:lnSpc>
                <a:spcPct val="103000"/>
              </a:lnSpc>
              <a:spcAft>
                <a:spcPts val="300"/>
              </a:spcAft>
              <a:defRPr sz="680">
                <a:solidFill>
                  <a:srgbClr val="21242A"/>
                </a:solidFill>
                <a:latin typeface="Microsoft YaHei"/>
              </a:defRPr>
            </a:pPr>
            <a:r>
              <a:t>右下角按钮可跳转EHA原文。</a:t>
            </a:r>
          </a:p>
        </p:txBody>
      </p:sp>
      <p:sp>
        <p:nvSpPr>
          <p:cNvPr id="30" name="Rounded Rectangle 29">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