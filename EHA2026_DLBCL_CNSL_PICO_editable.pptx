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 id="545" r:id="rId296"/>
    <p:sldId id="546" r:id="rId297"/>
    <p:sldId id="547" r:id="rId298"/>
    <p:sldId id="548" r:id="rId299"/>
    <p:sldId id="549" r:id="rId300"/>
    <p:sldId id="550" r:id="rId301"/>
    <p:sldId id="551" r:id="rId302"/>
    <p:sldId id="552" r:id="rId303"/>
    <p:sldId id="553" r:id="rId304"/>
    <p:sldId id="554" r:id="rId305"/>
    <p:sldId id="555" r:id="rId306"/>
    <p:sldId id="556" r:id="rId307"/>
    <p:sldId id="557" r:id="rId308"/>
    <p:sldId id="558" r:id="rId309"/>
    <p:sldId id="559" r:id="rId310"/>
    <p:sldId id="560" r:id="rId311"/>
    <p:sldId id="561" r:id="rId312"/>
    <p:sldId id="562" r:id="rId313"/>
    <p:sldId id="563" r:id="rId314"/>
    <p:sldId id="564" r:id="rId315"/>
    <p:sldId id="565" r:id="rId316"/>
    <p:sldId id="566" r:id="rId317"/>
    <p:sldId id="567" r:id="rId318"/>
    <p:sldId id="568" r:id="rId319"/>
    <p:sldId id="569" r:id="rId320"/>
    <p:sldId id="570" r:id="rId321"/>
    <p:sldId id="571" r:id="rId322"/>
    <p:sldId id="572" r:id="rId323"/>
    <p:sldId id="573" r:id="rId324"/>
    <p:sldId id="574" r:id="rId325"/>
    <p:sldId id="575" r:id="rId326"/>
    <p:sldId id="576" r:id="rId327"/>
    <p:sldId id="577" r:id="rId328"/>
    <p:sldId id="578" r:id="rId329"/>
    <p:sldId id="579" r:id="rId330"/>
    <p:sldId id="580" r:id="rId331"/>
    <p:sldId id="581" r:id="rId332"/>
    <p:sldId id="582" r:id="rId333"/>
    <p:sldId id="583" r:id="rId334"/>
    <p:sldId id="584" r:id="rId335"/>
    <p:sldId id="585" r:id="rId336"/>
    <p:sldId id="586" r:id="rId337"/>
    <p:sldId id="587" r:id="rId338"/>
    <p:sldId id="588" r:id="rId339"/>
    <p:sldId id="589" r:id="rId340"/>
    <p:sldId id="590" r:id="rId341"/>
    <p:sldId id="591" r:id="rId342"/>
    <p:sldId id="592" r:id="rId343"/>
    <p:sldId id="593" r:id="rId344"/>
    <p:sldId id="594" r:id="rId345"/>
    <p:sldId id="595" r:id="rId346"/>
    <p:sldId id="596" r:id="rId347"/>
    <p:sldId id="597" r:id="rId348"/>
    <p:sldId id="598" r:id="rId349"/>
    <p:sldId id="599" r:id="rId350"/>
    <p:sldId id="600" r:id="rId351"/>
    <p:sldId id="601" r:id="rId352"/>
    <p:sldId id="602" r:id="rId353"/>
    <p:sldId id="603" r:id="rId354"/>
    <p:sldId id="604" r:id="rId355"/>
    <p:sldId id="605" r:id="rId356"/>
    <p:sldId id="606" r:id="rId357"/>
    <p:sldId id="607" r:id="rId358"/>
    <p:sldId id="608" r:id="rId359"/>
    <p:sldId id="609" r:id="rId360"/>
    <p:sldId id="610" r:id="rId361"/>
    <p:sldId id="611" r:id="rId362"/>
    <p:sldId id="612" r:id="rId363"/>
    <p:sldId id="613" r:id="rId364"/>
    <p:sldId id="614" r:id="rId365"/>
    <p:sldId id="615" r:id="rId366"/>
    <p:sldId id="616" r:id="rId367"/>
    <p:sldId id="617" r:id="rId368"/>
    <p:sldId id="618" r:id="rId369"/>
    <p:sldId id="619" r:id="rId370"/>
    <p:sldId id="620" r:id="rId371"/>
    <p:sldId id="621" r:id="rId372"/>
    <p:sldId id="622" r:id="rId373"/>
    <p:sldId id="623" r:id="rId374"/>
    <p:sldId id="624" r:id="rId375"/>
    <p:sldId id="625" r:id="rId376"/>
    <p:sldId id="626" r:id="rId377"/>
    <p:sldId id="627" r:id="rId378"/>
    <p:sldId id="628" r:id="rId379"/>
    <p:sldId id="629" r:id="rId380"/>
    <p:sldId id="630" r:id="rId381"/>
    <p:sldId id="631" r:id="rId382"/>
    <p:sldId id="632" r:id="rId383"/>
    <p:sldId id="633" r:id="rId384"/>
    <p:sldId id="634" r:id="rId385"/>
    <p:sldId id="635" r:id="rId386"/>
    <p:sldId id="636" r:id="rId387"/>
    <p:sldId id="637" r:id="rId388"/>
    <p:sldId id="638" r:id="rId389"/>
    <p:sldId id="639" r:id="rId390"/>
    <p:sldId id="640" r:id="rId391"/>
    <p:sldId id="641" r:id="rId392"/>
    <p:sldId id="642" r:id="rId393"/>
    <p:sldId id="643" r:id="rId394"/>
    <p:sldId id="644" r:id="rId395"/>
    <p:sldId id="645" r:id="rId396"/>
    <p:sldId id="646" r:id="rId397"/>
    <p:sldId id="647" r:id="rId398"/>
    <p:sldId id="648" r:id="rId399"/>
    <p:sldId id="649" r:id="rId400"/>
    <p:sldId id="650" r:id="rId401"/>
    <p:sldId id="651" r:id="rId402"/>
    <p:sldId id="652" r:id="rId403"/>
    <p:sldId id="653" r:id="rId404"/>
    <p:sldId id="654" r:id="rId405"/>
    <p:sldId id="655" r:id="rId406"/>
    <p:sldId id="656" r:id="rId407"/>
    <p:sldId id="657" r:id="rId408"/>
    <p:sldId id="658" r:id="rId409"/>
    <p:sldId id="659" r:id="rId410"/>
    <p:sldId id="660" r:id="rId411"/>
    <p:sldId id="661" r:id="rId412"/>
    <p:sldId id="662" r:id="rId413"/>
    <p:sldId id="663" r:id="rId414"/>
    <p:sldId id="664" r:id="rId415"/>
    <p:sldId id="665" r:id="rId416"/>
    <p:sldId id="666" r:id="rId417"/>
    <p:sldId id="667" r:id="rId418"/>
    <p:sldId id="668" r:id="rId419"/>
    <p:sldId id="669" r:id="rId420"/>
    <p:sldId id="670" r:id="rId421"/>
    <p:sldId id="671" r:id="rId422"/>
    <p:sldId id="672" r:id="rId423"/>
    <p:sldId id="673" r:id="rId424"/>
    <p:sldId id="674" r:id="rId425"/>
    <p:sldId id="675" r:id="rId426"/>
    <p:sldId id="676" r:id="rId427"/>
    <p:sldId id="677" r:id="rId428"/>
    <p:sldId id="678" r:id="rId429"/>
    <p:sldId id="679" r:id="rId430"/>
    <p:sldId id="680" r:id="rId431"/>
    <p:sldId id="681" r:id="rId432"/>
    <p:sldId id="682" r:id="rId433"/>
    <p:sldId id="683" r:id="rId434"/>
    <p:sldId id="684" r:id="rId435"/>
    <p:sldId id="685" r:id="rId436"/>
    <p:sldId id="686" r:id="rId437"/>
    <p:sldId id="687" r:id="rId438"/>
    <p:sldId id="688" r:id="rId439"/>
    <p:sldId id="689" r:id="rId440"/>
    <p:sldId id="690" r:id="rId441"/>
    <p:sldId id="691" r:id="rId442"/>
    <p:sldId id="692" r:id="rId443"/>
    <p:sldId id="693" r:id="rId444"/>
    <p:sldId id="694" r:id="rId445"/>
    <p:sldId id="695" r:id="rId446"/>
    <p:sldId id="696" r:id="rId447"/>
    <p:sldId id="697" r:id="rId448"/>
    <p:sldId id="698" r:id="rId449"/>
    <p:sldId id="699" r:id="rId450"/>
    <p:sldId id="700" r:id="rId451"/>
    <p:sldId id="701" r:id="rId452"/>
    <p:sldId id="702" r:id="rId453"/>
    <p:sldId id="703" r:id="rId454"/>
    <p:sldId id="704" r:id="rId455"/>
    <p:sldId id="705" r:id="rId456"/>
    <p:sldId id="706" r:id="rId457"/>
    <p:sldId id="707" r:id="rId458"/>
    <p:sldId id="708" r:id="rId459"/>
    <p:sldId id="709" r:id="rId460"/>
    <p:sldId id="710" r:id="rId461"/>
    <p:sldId id="711" r:id="rId462"/>
    <p:sldId id="712" r:id="rId463"/>
    <p:sldId id="713" r:id="rId464"/>
    <p:sldId id="714" r:id="rId465"/>
    <p:sldId id="715" r:id="rId466"/>
    <p:sldId id="716" r:id="rId467"/>
    <p:sldId id="717" r:id="rId468"/>
    <p:sldId id="718" r:id="rId469"/>
    <p:sldId id="719" r:id="rId470"/>
    <p:sldId id="720" r:id="rId471"/>
    <p:sldId id="721" r:id="rId472"/>
    <p:sldId id="722" r:id="rId473"/>
    <p:sldId id="723" r:id="rId474"/>
    <p:sldId id="724" r:id="rId475"/>
    <p:sldId id="725" r:id="rId476"/>
    <p:sldId id="726" r:id="rId477"/>
    <p:sldId id="727" r:id="rId478"/>
    <p:sldId id="728" r:id="rId479"/>
    <p:sldId id="729" r:id="rId480"/>
    <p:sldId id="730" r:id="rId481"/>
    <p:sldId id="731" r:id="rId482"/>
    <p:sldId id="732" r:id="rId483"/>
    <p:sldId id="733" r:id="rId484"/>
    <p:sldId id="734" r:id="rId485"/>
    <p:sldId id="735" r:id="rId486"/>
    <p:sldId id="736" r:id="rId487"/>
    <p:sldId id="737" r:id="rId488"/>
    <p:sldId id="738" r:id="rId489"/>
    <p:sldId id="739" r:id="rId490"/>
    <p:sldId id="740" r:id="rId491"/>
    <p:sldId id="741" r:id="rId492"/>
    <p:sldId id="742" r:id="rId493"/>
    <p:sldId id="743" r:id="rId494"/>
    <p:sldId id="744" r:id="rId495"/>
    <p:sldId id="745" r:id="rId496"/>
    <p:sldId id="746" r:id="rId497"/>
    <p:sldId id="747" r:id="rId498"/>
    <p:sldId id="748" r:id="rId499"/>
    <p:sldId id="749" r:id="rId500"/>
    <p:sldId id="750" r:id="rId501"/>
    <p:sldId id="751" r:id="rId502"/>
    <p:sldId id="752" r:id="rId503"/>
    <p:sldId id="753" r:id="rId504"/>
    <p:sldId id="754" r:id="rId505"/>
    <p:sldId id="755" r:id="rId506"/>
    <p:sldId id="756" r:id="rId507"/>
    <p:sldId id="757" r:id="rId508"/>
    <p:sldId id="758" r:id="rId509"/>
    <p:sldId id="759" r:id="rId510"/>
    <p:sldId id="760" r:id="rId511"/>
    <p:sldId id="761" r:id="rId512"/>
    <p:sldId id="762" r:id="rId513"/>
    <p:sldId id="763" r:id="rId514"/>
    <p:sldId id="764" r:id="rId515"/>
    <p:sldId id="765" r:id="rId516"/>
    <p:sldId id="766" r:id="rId517"/>
    <p:sldId id="767" r:id="rId518"/>
    <p:sldId id="768" r:id="rId519"/>
    <p:sldId id="769" r:id="rId520"/>
    <p:sldId id="770" r:id="rId521"/>
    <p:sldId id="771" r:id="rId522"/>
    <p:sldId id="772" r:id="rId523"/>
    <p:sldId id="773" r:id="rId524"/>
    <p:sldId id="774" r:id="rId525"/>
    <p:sldId id="775" r:id="rId526"/>
    <p:sldId id="776" r:id="rId527"/>
    <p:sldId id="777" r:id="rId528"/>
    <p:sldId id="778" r:id="rId529"/>
    <p:sldId id="779" r:id="rId530"/>
    <p:sldId id="780" r:id="rId531"/>
    <p:sldId id="781" r:id="rId532"/>
    <p:sldId id="782" r:id="rId533"/>
    <p:sldId id="783" r:id="rId534"/>
    <p:sldId id="784" r:id="rId535"/>
    <p:sldId id="785" r:id="rId536"/>
    <p:sldId id="786" r:id="rId537"/>
    <p:sldId id="787" r:id="rId538"/>
    <p:sldId id="788" r:id="rId539"/>
    <p:sldId id="789" r:id="rId540"/>
    <p:sldId id="790" r:id="rId541"/>
    <p:sldId id="791" r:id="rId54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 Id="rId295" Type="http://schemas.openxmlformats.org/officeDocument/2006/relationships/slide" Target="slides/slide289.xml"/><Relationship Id="rId296" Type="http://schemas.openxmlformats.org/officeDocument/2006/relationships/slide" Target="slides/slide290.xml"/><Relationship Id="rId297" Type="http://schemas.openxmlformats.org/officeDocument/2006/relationships/slide" Target="slides/slide291.xml"/><Relationship Id="rId298" Type="http://schemas.openxmlformats.org/officeDocument/2006/relationships/slide" Target="slides/slide292.xml"/><Relationship Id="rId299" Type="http://schemas.openxmlformats.org/officeDocument/2006/relationships/slide" Target="slides/slide293.xml"/><Relationship Id="rId300" Type="http://schemas.openxmlformats.org/officeDocument/2006/relationships/slide" Target="slides/slide294.xml"/><Relationship Id="rId301" Type="http://schemas.openxmlformats.org/officeDocument/2006/relationships/slide" Target="slides/slide295.xml"/><Relationship Id="rId302" Type="http://schemas.openxmlformats.org/officeDocument/2006/relationships/slide" Target="slides/slide296.xml"/><Relationship Id="rId303" Type="http://schemas.openxmlformats.org/officeDocument/2006/relationships/slide" Target="slides/slide297.xml"/><Relationship Id="rId304" Type="http://schemas.openxmlformats.org/officeDocument/2006/relationships/slide" Target="slides/slide298.xml"/><Relationship Id="rId305" Type="http://schemas.openxmlformats.org/officeDocument/2006/relationships/slide" Target="slides/slide299.xml"/><Relationship Id="rId306" Type="http://schemas.openxmlformats.org/officeDocument/2006/relationships/slide" Target="slides/slide300.xml"/><Relationship Id="rId307" Type="http://schemas.openxmlformats.org/officeDocument/2006/relationships/slide" Target="slides/slide301.xml"/><Relationship Id="rId308" Type="http://schemas.openxmlformats.org/officeDocument/2006/relationships/slide" Target="slides/slide302.xml"/><Relationship Id="rId309" Type="http://schemas.openxmlformats.org/officeDocument/2006/relationships/slide" Target="slides/slide303.xml"/><Relationship Id="rId310" Type="http://schemas.openxmlformats.org/officeDocument/2006/relationships/slide" Target="slides/slide304.xml"/><Relationship Id="rId311" Type="http://schemas.openxmlformats.org/officeDocument/2006/relationships/slide" Target="slides/slide305.xml"/><Relationship Id="rId312" Type="http://schemas.openxmlformats.org/officeDocument/2006/relationships/slide" Target="slides/slide306.xml"/><Relationship Id="rId313" Type="http://schemas.openxmlformats.org/officeDocument/2006/relationships/slide" Target="slides/slide307.xml"/><Relationship Id="rId314" Type="http://schemas.openxmlformats.org/officeDocument/2006/relationships/slide" Target="slides/slide308.xml"/><Relationship Id="rId315" Type="http://schemas.openxmlformats.org/officeDocument/2006/relationships/slide" Target="slides/slide309.xml"/><Relationship Id="rId316" Type="http://schemas.openxmlformats.org/officeDocument/2006/relationships/slide" Target="slides/slide310.xml"/><Relationship Id="rId317" Type="http://schemas.openxmlformats.org/officeDocument/2006/relationships/slide" Target="slides/slide311.xml"/><Relationship Id="rId318" Type="http://schemas.openxmlformats.org/officeDocument/2006/relationships/slide" Target="slides/slide312.xml"/><Relationship Id="rId319" Type="http://schemas.openxmlformats.org/officeDocument/2006/relationships/slide" Target="slides/slide313.xml"/><Relationship Id="rId320" Type="http://schemas.openxmlformats.org/officeDocument/2006/relationships/slide" Target="slides/slide314.xml"/><Relationship Id="rId321" Type="http://schemas.openxmlformats.org/officeDocument/2006/relationships/slide" Target="slides/slide315.xml"/><Relationship Id="rId322" Type="http://schemas.openxmlformats.org/officeDocument/2006/relationships/slide" Target="slides/slide316.xml"/><Relationship Id="rId323" Type="http://schemas.openxmlformats.org/officeDocument/2006/relationships/slide" Target="slides/slide317.xml"/><Relationship Id="rId324" Type="http://schemas.openxmlformats.org/officeDocument/2006/relationships/slide" Target="slides/slide318.xml"/><Relationship Id="rId325" Type="http://schemas.openxmlformats.org/officeDocument/2006/relationships/slide" Target="slides/slide319.xml"/><Relationship Id="rId326" Type="http://schemas.openxmlformats.org/officeDocument/2006/relationships/slide" Target="slides/slide320.xml"/><Relationship Id="rId327" Type="http://schemas.openxmlformats.org/officeDocument/2006/relationships/slide" Target="slides/slide321.xml"/><Relationship Id="rId328" Type="http://schemas.openxmlformats.org/officeDocument/2006/relationships/slide" Target="slides/slide322.xml"/><Relationship Id="rId329" Type="http://schemas.openxmlformats.org/officeDocument/2006/relationships/slide" Target="slides/slide323.xml"/><Relationship Id="rId330" Type="http://schemas.openxmlformats.org/officeDocument/2006/relationships/slide" Target="slides/slide324.xml"/><Relationship Id="rId331" Type="http://schemas.openxmlformats.org/officeDocument/2006/relationships/slide" Target="slides/slide325.xml"/><Relationship Id="rId332" Type="http://schemas.openxmlformats.org/officeDocument/2006/relationships/slide" Target="slides/slide326.xml"/><Relationship Id="rId333" Type="http://schemas.openxmlformats.org/officeDocument/2006/relationships/slide" Target="slides/slide327.xml"/><Relationship Id="rId334" Type="http://schemas.openxmlformats.org/officeDocument/2006/relationships/slide" Target="slides/slide328.xml"/><Relationship Id="rId335" Type="http://schemas.openxmlformats.org/officeDocument/2006/relationships/slide" Target="slides/slide329.xml"/><Relationship Id="rId336" Type="http://schemas.openxmlformats.org/officeDocument/2006/relationships/slide" Target="slides/slide330.xml"/><Relationship Id="rId337" Type="http://schemas.openxmlformats.org/officeDocument/2006/relationships/slide" Target="slides/slide331.xml"/><Relationship Id="rId338" Type="http://schemas.openxmlformats.org/officeDocument/2006/relationships/slide" Target="slides/slide332.xml"/><Relationship Id="rId339" Type="http://schemas.openxmlformats.org/officeDocument/2006/relationships/slide" Target="slides/slide333.xml"/><Relationship Id="rId340" Type="http://schemas.openxmlformats.org/officeDocument/2006/relationships/slide" Target="slides/slide334.xml"/><Relationship Id="rId341" Type="http://schemas.openxmlformats.org/officeDocument/2006/relationships/slide" Target="slides/slide335.xml"/><Relationship Id="rId342" Type="http://schemas.openxmlformats.org/officeDocument/2006/relationships/slide" Target="slides/slide336.xml"/><Relationship Id="rId343" Type="http://schemas.openxmlformats.org/officeDocument/2006/relationships/slide" Target="slides/slide337.xml"/><Relationship Id="rId344" Type="http://schemas.openxmlformats.org/officeDocument/2006/relationships/slide" Target="slides/slide338.xml"/><Relationship Id="rId345" Type="http://schemas.openxmlformats.org/officeDocument/2006/relationships/slide" Target="slides/slide339.xml"/><Relationship Id="rId346" Type="http://schemas.openxmlformats.org/officeDocument/2006/relationships/slide" Target="slides/slide340.xml"/><Relationship Id="rId347" Type="http://schemas.openxmlformats.org/officeDocument/2006/relationships/slide" Target="slides/slide341.xml"/><Relationship Id="rId348" Type="http://schemas.openxmlformats.org/officeDocument/2006/relationships/slide" Target="slides/slide342.xml"/><Relationship Id="rId349" Type="http://schemas.openxmlformats.org/officeDocument/2006/relationships/slide" Target="slides/slide343.xml"/><Relationship Id="rId350" Type="http://schemas.openxmlformats.org/officeDocument/2006/relationships/slide" Target="slides/slide344.xml"/><Relationship Id="rId351" Type="http://schemas.openxmlformats.org/officeDocument/2006/relationships/slide" Target="slides/slide345.xml"/><Relationship Id="rId352" Type="http://schemas.openxmlformats.org/officeDocument/2006/relationships/slide" Target="slides/slide346.xml"/><Relationship Id="rId353" Type="http://schemas.openxmlformats.org/officeDocument/2006/relationships/slide" Target="slides/slide347.xml"/><Relationship Id="rId354" Type="http://schemas.openxmlformats.org/officeDocument/2006/relationships/slide" Target="slides/slide348.xml"/><Relationship Id="rId355" Type="http://schemas.openxmlformats.org/officeDocument/2006/relationships/slide" Target="slides/slide349.xml"/><Relationship Id="rId356" Type="http://schemas.openxmlformats.org/officeDocument/2006/relationships/slide" Target="slides/slide350.xml"/><Relationship Id="rId357" Type="http://schemas.openxmlformats.org/officeDocument/2006/relationships/slide" Target="slides/slide351.xml"/><Relationship Id="rId358" Type="http://schemas.openxmlformats.org/officeDocument/2006/relationships/slide" Target="slides/slide352.xml"/><Relationship Id="rId359" Type="http://schemas.openxmlformats.org/officeDocument/2006/relationships/slide" Target="slides/slide353.xml"/><Relationship Id="rId360" Type="http://schemas.openxmlformats.org/officeDocument/2006/relationships/slide" Target="slides/slide354.xml"/><Relationship Id="rId361" Type="http://schemas.openxmlformats.org/officeDocument/2006/relationships/slide" Target="slides/slide355.xml"/><Relationship Id="rId362" Type="http://schemas.openxmlformats.org/officeDocument/2006/relationships/slide" Target="slides/slide356.xml"/><Relationship Id="rId363" Type="http://schemas.openxmlformats.org/officeDocument/2006/relationships/slide" Target="slides/slide357.xml"/><Relationship Id="rId364" Type="http://schemas.openxmlformats.org/officeDocument/2006/relationships/slide" Target="slides/slide358.xml"/><Relationship Id="rId365" Type="http://schemas.openxmlformats.org/officeDocument/2006/relationships/slide" Target="slides/slide359.xml"/><Relationship Id="rId366" Type="http://schemas.openxmlformats.org/officeDocument/2006/relationships/slide" Target="slides/slide360.xml"/><Relationship Id="rId367" Type="http://schemas.openxmlformats.org/officeDocument/2006/relationships/slide" Target="slides/slide361.xml"/><Relationship Id="rId368" Type="http://schemas.openxmlformats.org/officeDocument/2006/relationships/slide" Target="slides/slide362.xml"/><Relationship Id="rId369" Type="http://schemas.openxmlformats.org/officeDocument/2006/relationships/slide" Target="slides/slide363.xml"/><Relationship Id="rId370" Type="http://schemas.openxmlformats.org/officeDocument/2006/relationships/slide" Target="slides/slide364.xml"/><Relationship Id="rId371" Type="http://schemas.openxmlformats.org/officeDocument/2006/relationships/slide" Target="slides/slide365.xml"/><Relationship Id="rId372" Type="http://schemas.openxmlformats.org/officeDocument/2006/relationships/slide" Target="slides/slide366.xml"/><Relationship Id="rId373" Type="http://schemas.openxmlformats.org/officeDocument/2006/relationships/slide" Target="slides/slide367.xml"/><Relationship Id="rId374" Type="http://schemas.openxmlformats.org/officeDocument/2006/relationships/slide" Target="slides/slide368.xml"/><Relationship Id="rId375" Type="http://schemas.openxmlformats.org/officeDocument/2006/relationships/slide" Target="slides/slide369.xml"/><Relationship Id="rId376" Type="http://schemas.openxmlformats.org/officeDocument/2006/relationships/slide" Target="slides/slide370.xml"/><Relationship Id="rId377" Type="http://schemas.openxmlformats.org/officeDocument/2006/relationships/slide" Target="slides/slide371.xml"/><Relationship Id="rId378" Type="http://schemas.openxmlformats.org/officeDocument/2006/relationships/slide" Target="slides/slide372.xml"/><Relationship Id="rId379" Type="http://schemas.openxmlformats.org/officeDocument/2006/relationships/slide" Target="slides/slide373.xml"/><Relationship Id="rId380" Type="http://schemas.openxmlformats.org/officeDocument/2006/relationships/slide" Target="slides/slide374.xml"/><Relationship Id="rId381" Type="http://schemas.openxmlformats.org/officeDocument/2006/relationships/slide" Target="slides/slide375.xml"/><Relationship Id="rId382" Type="http://schemas.openxmlformats.org/officeDocument/2006/relationships/slide" Target="slides/slide376.xml"/><Relationship Id="rId383" Type="http://schemas.openxmlformats.org/officeDocument/2006/relationships/slide" Target="slides/slide377.xml"/><Relationship Id="rId384" Type="http://schemas.openxmlformats.org/officeDocument/2006/relationships/slide" Target="slides/slide378.xml"/><Relationship Id="rId385" Type="http://schemas.openxmlformats.org/officeDocument/2006/relationships/slide" Target="slides/slide379.xml"/><Relationship Id="rId386" Type="http://schemas.openxmlformats.org/officeDocument/2006/relationships/slide" Target="slides/slide380.xml"/><Relationship Id="rId387" Type="http://schemas.openxmlformats.org/officeDocument/2006/relationships/slide" Target="slides/slide381.xml"/><Relationship Id="rId388" Type="http://schemas.openxmlformats.org/officeDocument/2006/relationships/slide" Target="slides/slide382.xml"/><Relationship Id="rId389" Type="http://schemas.openxmlformats.org/officeDocument/2006/relationships/slide" Target="slides/slide383.xml"/><Relationship Id="rId390" Type="http://schemas.openxmlformats.org/officeDocument/2006/relationships/slide" Target="slides/slide384.xml"/><Relationship Id="rId391" Type="http://schemas.openxmlformats.org/officeDocument/2006/relationships/slide" Target="slides/slide385.xml"/><Relationship Id="rId392" Type="http://schemas.openxmlformats.org/officeDocument/2006/relationships/slide" Target="slides/slide386.xml"/><Relationship Id="rId393" Type="http://schemas.openxmlformats.org/officeDocument/2006/relationships/slide" Target="slides/slide387.xml"/><Relationship Id="rId394" Type="http://schemas.openxmlformats.org/officeDocument/2006/relationships/slide" Target="slides/slide388.xml"/><Relationship Id="rId395" Type="http://schemas.openxmlformats.org/officeDocument/2006/relationships/slide" Target="slides/slide389.xml"/><Relationship Id="rId396" Type="http://schemas.openxmlformats.org/officeDocument/2006/relationships/slide" Target="slides/slide390.xml"/><Relationship Id="rId397" Type="http://schemas.openxmlformats.org/officeDocument/2006/relationships/slide" Target="slides/slide391.xml"/><Relationship Id="rId398" Type="http://schemas.openxmlformats.org/officeDocument/2006/relationships/slide" Target="slides/slide392.xml"/><Relationship Id="rId399" Type="http://schemas.openxmlformats.org/officeDocument/2006/relationships/slide" Target="slides/slide393.xml"/><Relationship Id="rId400" Type="http://schemas.openxmlformats.org/officeDocument/2006/relationships/slide" Target="slides/slide394.xml"/><Relationship Id="rId401" Type="http://schemas.openxmlformats.org/officeDocument/2006/relationships/slide" Target="slides/slide395.xml"/><Relationship Id="rId402" Type="http://schemas.openxmlformats.org/officeDocument/2006/relationships/slide" Target="slides/slide396.xml"/><Relationship Id="rId403" Type="http://schemas.openxmlformats.org/officeDocument/2006/relationships/slide" Target="slides/slide397.xml"/><Relationship Id="rId404" Type="http://schemas.openxmlformats.org/officeDocument/2006/relationships/slide" Target="slides/slide398.xml"/><Relationship Id="rId405" Type="http://schemas.openxmlformats.org/officeDocument/2006/relationships/slide" Target="slides/slide399.xml"/><Relationship Id="rId406" Type="http://schemas.openxmlformats.org/officeDocument/2006/relationships/slide" Target="slides/slide400.xml"/><Relationship Id="rId407" Type="http://schemas.openxmlformats.org/officeDocument/2006/relationships/slide" Target="slides/slide401.xml"/><Relationship Id="rId408" Type="http://schemas.openxmlformats.org/officeDocument/2006/relationships/slide" Target="slides/slide402.xml"/><Relationship Id="rId409" Type="http://schemas.openxmlformats.org/officeDocument/2006/relationships/slide" Target="slides/slide403.xml"/><Relationship Id="rId410" Type="http://schemas.openxmlformats.org/officeDocument/2006/relationships/slide" Target="slides/slide404.xml"/><Relationship Id="rId411" Type="http://schemas.openxmlformats.org/officeDocument/2006/relationships/slide" Target="slides/slide405.xml"/><Relationship Id="rId412" Type="http://schemas.openxmlformats.org/officeDocument/2006/relationships/slide" Target="slides/slide406.xml"/><Relationship Id="rId413" Type="http://schemas.openxmlformats.org/officeDocument/2006/relationships/slide" Target="slides/slide407.xml"/><Relationship Id="rId414" Type="http://schemas.openxmlformats.org/officeDocument/2006/relationships/slide" Target="slides/slide408.xml"/><Relationship Id="rId415" Type="http://schemas.openxmlformats.org/officeDocument/2006/relationships/slide" Target="slides/slide409.xml"/><Relationship Id="rId416" Type="http://schemas.openxmlformats.org/officeDocument/2006/relationships/slide" Target="slides/slide410.xml"/><Relationship Id="rId417" Type="http://schemas.openxmlformats.org/officeDocument/2006/relationships/slide" Target="slides/slide411.xml"/><Relationship Id="rId418" Type="http://schemas.openxmlformats.org/officeDocument/2006/relationships/slide" Target="slides/slide412.xml"/><Relationship Id="rId419" Type="http://schemas.openxmlformats.org/officeDocument/2006/relationships/slide" Target="slides/slide413.xml"/><Relationship Id="rId420" Type="http://schemas.openxmlformats.org/officeDocument/2006/relationships/slide" Target="slides/slide414.xml"/><Relationship Id="rId421" Type="http://schemas.openxmlformats.org/officeDocument/2006/relationships/slide" Target="slides/slide415.xml"/><Relationship Id="rId422" Type="http://schemas.openxmlformats.org/officeDocument/2006/relationships/slide" Target="slides/slide416.xml"/><Relationship Id="rId423" Type="http://schemas.openxmlformats.org/officeDocument/2006/relationships/slide" Target="slides/slide417.xml"/><Relationship Id="rId424" Type="http://schemas.openxmlformats.org/officeDocument/2006/relationships/slide" Target="slides/slide418.xml"/><Relationship Id="rId425" Type="http://schemas.openxmlformats.org/officeDocument/2006/relationships/slide" Target="slides/slide419.xml"/><Relationship Id="rId426" Type="http://schemas.openxmlformats.org/officeDocument/2006/relationships/slide" Target="slides/slide420.xml"/><Relationship Id="rId427" Type="http://schemas.openxmlformats.org/officeDocument/2006/relationships/slide" Target="slides/slide421.xml"/><Relationship Id="rId428" Type="http://schemas.openxmlformats.org/officeDocument/2006/relationships/slide" Target="slides/slide422.xml"/><Relationship Id="rId429" Type="http://schemas.openxmlformats.org/officeDocument/2006/relationships/slide" Target="slides/slide423.xml"/><Relationship Id="rId430" Type="http://schemas.openxmlformats.org/officeDocument/2006/relationships/slide" Target="slides/slide424.xml"/><Relationship Id="rId431" Type="http://schemas.openxmlformats.org/officeDocument/2006/relationships/slide" Target="slides/slide425.xml"/><Relationship Id="rId432" Type="http://schemas.openxmlformats.org/officeDocument/2006/relationships/slide" Target="slides/slide426.xml"/><Relationship Id="rId433" Type="http://schemas.openxmlformats.org/officeDocument/2006/relationships/slide" Target="slides/slide427.xml"/><Relationship Id="rId434" Type="http://schemas.openxmlformats.org/officeDocument/2006/relationships/slide" Target="slides/slide428.xml"/><Relationship Id="rId435" Type="http://schemas.openxmlformats.org/officeDocument/2006/relationships/slide" Target="slides/slide429.xml"/><Relationship Id="rId436" Type="http://schemas.openxmlformats.org/officeDocument/2006/relationships/slide" Target="slides/slide430.xml"/><Relationship Id="rId437" Type="http://schemas.openxmlformats.org/officeDocument/2006/relationships/slide" Target="slides/slide431.xml"/><Relationship Id="rId438" Type="http://schemas.openxmlformats.org/officeDocument/2006/relationships/slide" Target="slides/slide432.xml"/><Relationship Id="rId439" Type="http://schemas.openxmlformats.org/officeDocument/2006/relationships/slide" Target="slides/slide433.xml"/><Relationship Id="rId440" Type="http://schemas.openxmlformats.org/officeDocument/2006/relationships/slide" Target="slides/slide434.xml"/><Relationship Id="rId441" Type="http://schemas.openxmlformats.org/officeDocument/2006/relationships/slide" Target="slides/slide435.xml"/><Relationship Id="rId442" Type="http://schemas.openxmlformats.org/officeDocument/2006/relationships/slide" Target="slides/slide436.xml"/><Relationship Id="rId443" Type="http://schemas.openxmlformats.org/officeDocument/2006/relationships/slide" Target="slides/slide437.xml"/><Relationship Id="rId444" Type="http://schemas.openxmlformats.org/officeDocument/2006/relationships/slide" Target="slides/slide438.xml"/><Relationship Id="rId445" Type="http://schemas.openxmlformats.org/officeDocument/2006/relationships/slide" Target="slides/slide439.xml"/><Relationship Id="rId446" Type="http://schemas.openxmlformats.org/officeDocument/2006/relationships/slide" Target="slides/slide440.xml"/><Relationship Id="rId447" Type="http://schemas.openxmlformats.org/officeDocument/2006/relationships/slide" Target="slides/slide441.xml"/><Relationship Id="rId448" Type="http://schemas.openxmlformats.org/officeDocument/2006/relationships/slide" Target="slides/slide442.xml"/><Relationship Id="rId449" Type="http://schemas.openxmlformats.org/officeDocument/2006/relationships/slide" Target="slides/slide443.xml"/><Relationship Id="rId450" Type="http://schemas.openxmlformats.org/officeDocument/2006/relationships/slide" Target="slides/slide444.xml"/><Relationship Id="rId451" Type="http://schemas.openxmlformats.org/officeDocument/2006/relationships/slide" Target="slides/slide445.xml"/><Relationship Id="rId452" Type="http://schemas.openxmlformats.org/officeDocument/2006/relationships/slide" Target="slides/slide446.xml"/><Relationship Id="rId453" Type="http://schemas.openxmlformats.org/officeDocument/2006/relationships/slide" Target="slides/slide447.xml"/><Relationship Id="rId454" Type="http://schemas.openxmlformats.org/officeDocument/2006/relationships/slide" Target="slides/slide448.xml"/><Relationship Id="rId455" Type="http://schemas.openxmlformats.org/officeDocument/2006/relationships/slide" Target="slides/slide449.xml"/><Relationship Id="rId456" Type="http://schemas.openxmlformats.org/officeDocument/2006/relationships/slide" Target="slides/slide450.xml"/><Relationship Id="rId457" Type="http://schemas.openxmlformats.org/officeDocument/2006/relationships/slide" Target="slides/slide451.xml"/><Relationship Id="rId458" Type="http://schemas.openxmlformats.org/officeDocument/2006/relationships/slide" Target="slides/slide452.xml"/><Relationship Id="rId459" Type="http://schemas.openxmlformats.org/officeDocument/2006/relationships/slide" Target="slides/slide453.xml"/><Relationship Id="rId460" Type="http://schemas.openxmlformats.org/officeDocument/2006/relationships/slide" Target="slides/slide454.xml"/><Relationship Id="rId461" Type="http://schemas.openxmlformats.org/officeDocument/2006/relationships/slide" Target="slides/slide455.xml"/><Relationship Id="rId462" Type="http://schemas.openxmlformats.org/officeDocument/2006/relationships/slide" Target="slides/slide456.xml"/><Relationship Id="rId463" Type="http://schemas.openxmlformats.org/officeDocument/2006/relationships/slide" Target="slides/slide457.xml"/><Relationship Id="rId464" Type="http://schemas.openxmlformats.org/officeDocument/2006/relationships/slide" Target="slides/slide458.xml"/><Relationship Id="rId465" Type="http://schemas.openxmlformats.org/officeDocument/2006/relationships/slide" Target="slides/slide459.xml"/><Relationship Id="rId466" Type="http://schemas.openxmlformats.org/officeDocument/2006/relationships/slide" Target="slides/slide460.xml"/><Relationship Id="rId467" Type="http://schemas.openxmlformats.org/officeDocument/2006/relationships/slide" Target="slides/slide461.xml"/><Relationship Id="rId468" Type="http://schemas.openxmlformats.org/officeDocument/2006/relationships/slide" Target="slides/slide462.xml"/><Relationship Id="rId469" Type="http://schemas.openxmlformats.org/officeDocument/2006/relationships/slide" Target="slides/slide463.xml"/><Relationship Id="rId470" Type="http://schemas.openxmlformats.org/officeDocument/2006/relationships/slide" Target="slides/slide464.xml"/><Relationship Id="rId471" Type="http://schemas.openxmlformats.org/officeDocument/2006/relationships/slide" Target="slides/slide465.xml"/><Relationship Id="rId472" Type="http://schemas.openxmlformats.org/officeDocument/2006/relationships/slide" Target="slides/slide466.xml"/><Relationship Id="rId473" Type="http://schemas.openxmlformats.org/officeDocument/2006/relationships/slide" Target="slides/slide467.xml"/><Relationship Id="rId474" Type="http://schemas.openxmlformats.org/officeDocument/2006/relationships/slide" Target="slides/slide468.xml"/><Relationship Id="rId475" Type="http://schemas.openxmlformats.org/officeDocument/2006/relationships/slide" Target="slides/slide469.xml"/><Relationship Id="rId476" Type="http://schemas.openxmlformats.org/officeDocument/2006/relationships/slide" Target="slides/slide470.xml"/><Relationship Id="rId477" Type="http://schemas.openxmlformats.org/officeDocument/2006/relationships/slide" Target="slides/slide471.xml"/><Relationship Id="rId478" Type="http://schemas.openxmlformats.org/officeDocument/2006/relationships/slide" Target="slides/slide472.xml"/><Relationship Id="rId479" Type="http://schemas.openxmlformats.org/officeDocument/2006/relationships/slide" Target="slides/slide473.xml"/><Relationship Id="rId480" Type="http://schemas.openxmlformats.org/officeDocument/2006/relationships/slide" Target="slides/slide474.xml"/><Relationship Id="rId481" Type="http://schemas.openxmlformats.org/officeDocument/2006/relationships/slide" Target="slides/slide475.xml"/><Relationship Id="rId482" Type="http://schemas.openxmlformats.org/officeDocument/2006/relationships/slide" Target="slides/slide476.xml"/><Relationship Id="rId483" Type="http://schemas.openxmlformats.org/officeDocument/2006/relationships/slide" Target="slides/slide477.xml"/><Relationship Id="rId484" Type="http://schemas.openxmlformats.org/officeDocument/2006/relationships/slide" Target="slides/slide478.xml"/><Relationship Id="rId485" Type="http://schemas.openxmlformats.org/officeDocument/2006/relationships/slide" Target="slides/slide479.xml"/><Relationship Id="rId486" Type="http://schemas.openxmlformats.org/officeDocument/2006/relationships/slide" Target="slides/slide480.xml"/><Relationship Id="rId487" Type="http://schemas.openxmlformats.org/officeDocument/2006/relationships/slide" Target="slides/slide481.xml"/><Relationship Id="rId488" Type="http://schemas.openxmlformats.org/officeDocument/2006/relationships/slide" Target="slides/slide482.xml"/><Relationship Id="rId489" Type="http://schemas.openxmlformats.org/officeDocument/2006/relationships/slide" Target="slides/slide483.xml"/><Relationship Id="rId490" Type="http://schemas.openxmlformats.org/officeDocument/2006/relationships/slide" Target="slides/slide484.xml"/><Relationship Id="rId491" Type="http://schemas.openxmlformats.org/officeDocument/2006/relationships/slide" Target="slides/slide485.xml"/><Relationship Id="rId492" Type="http://schemas.openxmlformats.org/officeDocument/2006/relationships/slide" Target="slides/slide486.xml"/><Relationship Id="rId493" Type="http://schemas.openxmlformats.org/officeDocument/2006/relationships/slide" Target="slides/slide487.xml"/><Relationship Id="rId494" Type="http://schemas.openxmlformats.org/officeDocument/2006/relationships/slide" Target="slides/slide488.xml"/><Relationship Id="rId495" Type="http://schemas.openxmlformats.org/officeDocument/2006/relationships/slide" Target="slides/slide489.xml"/><Relationship Id="rId496" Type="http://schemas.openxmlformats.org/officeDocument/2006/relationships/slide" Target="slides/slide490.xml"/><Relationship Id="rId497" Type="http://schemas.openxmlformats.org/officeDocument/2006/relationships/slide" Target="slides/slide491.xml"/><Relationship Id="rId498" Type="http://schemas.openxmlformats.org/officeDocument/2006/relationships/slide" Target="slides/slide492.xml"/><Relationship Id="rId499" Type="http://schemas.openxmlformats.org/officeDocument/2006/relationships/slide" Target="slides/slide493.xml"/><Relationship Id="rId500" Type="http://schemas.openxmlformats.org/officeDocument/2006/relationships/slide" Target="slides/slide494.xml"/><Relationship Id="rId501" Type="http://schemas.openxmlformats.org/officeDocument/2006/relationships/slide" Target="slides/slide495.xml"/><Relationship Id="rId502" Type="http://schemas.openxmlformats.org/officeDocument/2006/relationships/slide" Target="slides/slide496.xml"/><Relationship Id="rId503" Type="http://schemas.openxmlformats.org/officeDocument/2006/relationships/slide" Target="slides/slide497.xml"/><Relationship Id="rId504" Type="http://schemas.openxmlformats.org/officeDocument/2006/relationships/slide" Target="slides/slide498.xml"/><Relationship Id="rId505" Type="http://schemas.openxmlformats.org/officeDocument/2006/relationships/slide" Target="slides/slide499.xml"/><Relationship Id="rId506" Type="http://schemas.openxmlformats.org/officeDocument/2006/relationships/slide" Target="slides/slide500.xml"/><Relationship Id="rId507" Type="http://schemas.openxmlformats.org/officeDocument/2006/relationships/slide" Target="slides/slide501.xml"/><Relationship Id="rId508" Type="http://schemas.openxmlformats.org/officeDocument/2006/relationships/slide" Target="slides/slide502.xml"/><Relationship Id="rId509" Type="http://schemas.openxmlformats.org/officeDocument/2006/relationships/slide" Target="slides/slide503.xml"/><Relationship Id="rId510" Type="http://schemas.openxmlformats.org/officeDocument/2006/relationships/slide" Target="slides/slide504.xml"/><Relationship Id="rId511" Type="http://schemas.openxmlformats.org/officeDocument/2006/relationships/slide" Target="slides/slide505.xml"/><Relationship Id="rId512" Type="http://schemas.openxmlformats.org/officeDocument/2006/relationships/slide" Target="slides/slide506.xml"/><Relationship Id="rId513" Type="http://schemas.openxmlformats.org/officeDocument/2006/relationships/slide" Target="slides/slide507.xml"/><Relationship Id="rId514" Type="http://schemas.openxmlformats.org/officeDocument/2006/relationships/slide" Target="slides/slide508.xml"/><Relationship Id="rId515" Type="http://schemas.openxmlformats.org/officeDocument/2006/relationships/slide" Target="slides/slide509.xml"/><Relationship Id="rId516" Type="http://schemas.openxmlformats.org/officeDocument/2006/relationships/slide" Target="slides/slide510.xml"/><Relationship Id="rId517" Type="http://schemas.openxmlformats.org/officeDocument/2006/relationships/slide" Target="slides/slide511.xml"/><Relationship Id="rId518" Type="http://schemas.openxmlformats.org/officeDocument/2006/relationships/slide" Target="slides/slide512.xml"/><Relationship Id="rId519" Type="http://schemas.openxmlformats.org/officeDocument/2006/relationships/slide" Target="slides/slide513.xml"/><Relationship Id="rId520" Type="http://schemas.openxmlformats.org/officeDocument/2006/relationships/slide" Target="slides/slide514.xml"/><Relationship Id="rId521" Type="http://schemas.openxmlformats.org/officeDocument/2006/relationships/slide" Target="slides/slide515.xml"/><Relationship Id="rId522" Type="http://schemas.openxmlformats.org/officeDocument/2006/relationships/slide" Target="slides/slide516.xml"/><Relationship Id="rId523" Type="http://schemas.openxmlformats.org/officeDocument/2006/relationships/slide" Target="slides/slide517.xml"/><Relationship Id="rId524" Type="http://schemas.openxmlformats.org/officeDocument/2006/relationships/slide" Target="slides/slide518.xml"/><Relationship Id="rId525" Type="http://schemas.openxmlformats.org/officeDocument/2006/relationships/slide" Target="slides/slide519.xml"/><Relationship Id="rId526" Type="http://schemas.openxmlformats.org/officeDocument/2006/relationships/slide" Target="slides/slide520.xml"/><Relationship Id="rId527" Type="http://schemas.openxmlformats.org/officeDocument/2006/relationships/slide" Target="slides/slide521.xml"/><Relationship Id="rId528" Type="http://schemas.openxmlformats.org/officeDocument/2006/relationships/slide" Target="slides/slide522.xml"/><Relationship Id="rId529" Type="http://schemas.openxmlformats.org/officeDocument/2006/relationships/slide" Target="slides/slide523.xml"/><Relationship Id="rId530" Type="http://schemas.openxmlformats.org/officeDocument/2006/relationships/slide" Target="slides/slide524.xml"/><Relationship Id="rId531" Type="http://schemas.openxmlformats.org/officeDocument/2006/relationships/slide" Target="slides/slide525.xml"/><Relationship Id="rId532" Type="http://schemas.openxmlformats.org/officeDocument/2006/relationships/slide" Target="slides/slide526.xml"/><Relationship Id="rId533" Type="http://schemas.openxmlformats.org/officeDocument/2006/relationships/slide" Target="slides/slide527.xml"/><Relationship Id="rId534" Type="http://schemas.openxmlformats.org/officeDocument/2006/relationships/slide" Target="slides/slide528.xml"/><Relationship Id="rId535" Type="http://schemas.openxmlformats.org/officeDocument/2006/relationships/slide" Target="slides/slide529.xml"/><Relationship Id="rId536" Type="http://schemas.openxmlformats.org/officeDocument/2006/relationships/slide" Target="slides/slide530.xml"/><Relationship Id="rId537" Type="http://schemas.openxmlformats.org/officeDocument/2006/relationships/slide" Target="slides/slide531.xml"/><Relationship Id="rId538" Type="http://schemas.openxmlformats.org/officeDocument/2006/relationships/slide" Target="slides/slide532.xml"/><Relationship Id="rId539" Type="http://schemas.openxmlformats.org/officeDocument/2006/relationships/slide" Target="slides/slide533.xml"/><Relationship Id="rId540" Type="http://schemas.openxmlformats.org/officeDocument/2006/relationships/slide" Target="slides/slide534.xml"/><Relationship Id="rId541" Type="http://schemas.openxmlformats.org/officeDocument/2006/relationships/slide" Target="slides/slide535.xml"/><Relationship Id="rId542" Type="http://schemas.openxmlformats.org/officeDocument/2006/relationships/slide" Target="slides/slide5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306.xml"/><Relationship Id="rId4" Type="http://schemas.openxmlformats.org/officeDocument/2006/relationships/slide" Target="slide5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6.xml"/><Relationship Id="rId4" Type="http://schemas.openxmlformats.org/officeDocument/2006/relationships/slide" Target="slide262.xml"/><Relationship Id="rId5" Type="http://schemas.openxmlformats.org/officeDocument/2006/relationships/slide" Target="slide220.xml"/><Relationship Id="rId6" Type="http://schemas.openxmlformats.org/officeDocument/2006/relationships/slide" Target="slide266.xml"/><Relationship Id="rId7" Type="http://schemas.openxmlformats.org/officeDocument/2006/relationships/slide" Target="slide304.xml"/><Relationship Id="rId8" Type="http://schemas.openxmlformats.org/officeDocument/2006/relationships/slide" Target="slide24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6.xml"/><Relationship Id="rId4" Type="http://schemas.openxmlformats.org/officeDocument/2006/relationships/slide" Target="slide85.xml"/><Relationship Id="rId5" Type="http://schemas.openxmlformats.org/officeDocument/2006/relationships/slide" Target="slide116.xml"/><Relationship Id="rId6" Type="http://schemas.openxmlformats.org/officeDocument/2006/relationships/slide" Target="slide133.xml"/><Relationship Id="rId7" Type="http://schemas.openxmlformats.org/officeDocument/2006/relationships/slide" Target="slide154.xml"/><Relationship Id="rId8" Type="http://schemas.openxmlformats.org/officeDocument/2006/relationships/slide" Target="slide182.xml"/><Relationship Id="rId9" Type="http://schemas.openxmlformats.org/officeDocument/2006/relationships/slide" Target="slide18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40/liang.wang.cd19.cd22.bispecific.car-t.cell.therapy.for.relapsed.refractory.html?f=menu%3D6%2Abrowseby%3D8%2Asortby%3D6%2Amedia%3D3%2Ace_id%3D2934%2Aot_id%3D115601%2Amarker%3D6765%2Afeatured%3D20138" TargetMode="External"/><Relationship Id="rId3" Type="http://schemas.openxmlformats.org/officeDocument/2006/relationships/slide" Target="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40/liang.wang.cd19.cd22.bispecific.car-t.cell.therapy.for.relapsed.refractory.html?f=menu%3D6%2Abrowseby%3D8%2Asortby%3D6%2Amedia%3D3%2Ace_id%3D2934%2Aot_id%3D115601%2Amarker%3D6765%2Afeatured%3D20138" TargetMode="External"/><Relationship Id="rId3" Type="http://schemas.openxmlformats.org/officeDocument/2006/relationships/slide" Target="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38/sylvain.lamure.branched-chain.amino.acid.bioavailability.during.cd19.car.html?f=menu%3D6%2Abrowseby%3D8%2Asortby%3D6%2Amedia%3D3%2Ace_id%3D2934%2Aot_id%3D115600%2Amarker%3D6765%2Afeatured%3D20138" TargetMode="External"/><Relationship Id="rId3" Type="http://schemas.openxmlformats.org/officeDocument/2006/relationships/slide" Target="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38/sylvain.lamure.branched-chain.amino.acid.bioavailability.during.cd19.car.html?f=menu%3D6%2Abrowseby%3D8%2Asortby%3D6%2Amedia%3D3%2Ace_id%3D2934%2Aot_id%3D115600%2Amarker%3D6765%2Afeatured%3D20138" TargetMode="External"/><Relationship Id="rId3"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0/stephen.schuster.vispa-cel.an.allogeneic.anti-cd19.car-t.cell.therapy.with.a.html?f=menu%3D6%2Abrowseby%3D8%2Asortby%3D6%2Amedia%3D3%2Ace_id%3D2934%2Aot_id%3D115576%2Amarker%3D6765%2Afeatured%3D20138" TargetMode="External"/><Relationship Id="rId3" Type="http://schemas.openxmlformats.org/officeDocument/2006/relationships/slide" Target="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0/stephen.schuster.vispa-cel.an.allogeneic.anti-cd19.car-t.cell.therapy.with.a.html?f=menu%3D6%2Abrowseby%3D8%2Asortby%3D6%2Amedia%3D3%2Ace_id%3D2934%2Aot_id%3D115576%2Amarker%3D6765%2Afeatured%3D20138" TargetMode="External"/><Relationship Id="rId3" Type="http://schemas.openxmlformats.org/officeDocument/2006/relationships/slide" Target="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89/christopher.p.fox.results.from.epcore.dlbcl-1.randomized.phase.3.study.of.html?f=menu%3D6%2Abrowseby%3D8%2Asortby%3D6%2Amedia%3D3%2Ace_id%3D2934%2Aot_id%3D115576%2Amarker%3D6765%2Afeatured%3D20138" TargetMode="External"/><Relationship Id="rId3"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89/christopher.p.fox.results.from.epcore.dlbcl-1.randomized.phase.3.study.of.html?f=menu%3D6%2Abrowseby%3D8%2Asortby%3D6%2Amedia%3D3%2Ace_id%3D2934%2Aot_id%3D115576%2Amarker%3D6765%2Afeatured%3D20138" TargetMode="External"/><Relationship Id="rId3"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89/christopher.p.fox.results.from.epcore.dlbcl-1.randomized.phase.3.study.of.html?f=menu%3D6%2Abrowseby%3D8%2Asortby%3D6%2Amedia%3D3%2Ace_id%3D2934%2Aot_id%3D115576%2Amarker%3D6765%2Afeatured%3D20138" TargetMode="External"/><Relationship Id="rId3" Type="http://schemas.openxmlformats.org/officeDocument/2006/relationships/slide" Target="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89/christopher.p.fox.results.from.epcore.dlbcl-1.randomized.phase.3.study.of.html?f=menu%3D6%2Abrowseby%3D8%2Asortby%3D6%2Amedia%3D3%2Ace_id%3D2934%2Aot_id%3D115576%2Amarker%3D6765%2Afeatured%3D20138" TargetMode="External"/><Relationship Id="rId3" Type="http://schemas.openxmlformats.org/officeDocument/2006/relationships/slide" Target="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89/christopher.p.fox.results.from.epcore.dlbcl-1.randomized.phase.3.study.of.html?f=menu%3D6%2Abrowseby%3D8%2Asortby%3D6%2Amedia%3D3%2Ace_id%3D2934%2Aot_id%3D115576%2Amarker%3D6765%2Afeatured%3D20138" TargetMode="External"/><Relationship Id="rId3" Type="http://schemas.openxmlformats.org/officeDocument/2006/relationships/slide" Target="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893/liang.wang.maintenance.therapy.with.pd-1.inhibitor.and.selinexor.following.html?f=menu%3D6%2Abrowseby%3D8%2Asortby%3D6%2Amedia%3D3%2Ace_id%3D2934%2Aot_id%3D115601%2Amarker%3D6766%2Afeatured%3D20138" TargetMode="External"/><Relationship Id="rId3" Type="http://schemas.openxmlformats.org/officeDocument/2006/relationships/slide" Target="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893/liang.wang.maintenance.therapy.with.pd-1.inhibitor.and.selinexor.following.html?f=menu%3D6%2Abrowseby%3D8%2Asortby%3D6%2Amedia%3D3%2Ace_id%3D2934%2Aot_id%3D115601%2Amarker%3D6766%2Afeatured%3D20138" TargetMode="External"/><Relationship Id="rId3" Type="http://schemas.openxmlformats.org/officeDocument/2006/relationships/slide" Target="slid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893/liang.wang.maintenance.therapy.with.pd-1.inhibitor.and.selinexor.following.html?f=menu%3D6%2Abrowseby%3D8%2Asortby%3D6%2Amedia%3D3%2Ace_id%3D2934%2Aot_id%3D115601%2Amarker%3D6766%2Afeatured%3D20138" TargetMode="External"/><Relationship Id="rId3" Type="http://schemas.openxmlformats.org/officeDocument/2006/relationships/slide" Target="slide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886/bo.peng.pd-1ab21-expressing.anti-cd19.car.t.cells.for.patients.with.relapsed.html?f=menu%3D6%2Abrowseby%3D8%2Asortby%3D6%2Amedia%3D3%2Ace_id%3D2934%2Aot_id%3D115601%2Amarker%3D6766%2Afeatured%3D20138" TargetMode="External"/><Relationship Id="rId3" Type="http://schemas.openxmlformats.org/officeDocument/2006/relationships/slide" Target="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886/bo.peng.pd-1ab21-expressing.anti-cd19.car.t.cells.for.patients.with.relapsed.html?f=menu%3D6%2Abrowseby%3D8%2Asortby%3D6%2Amedia%3D3%2Ace_id%3D2934%2Aot_id%3D115601%2Amarker%3D6766%2Afeatured%3D20138" TargetMode="External"/><Relationship Id="rId3" Type="http://schemas.openxmlformats.org/officeDocument/2006/relationships/slide" Target="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874/ludovic.gabellier.cd4.cd8.balance.in.circulating.car.t-cells.shows.biphasic.html?f=menu%3D6%2Abrowseby%3D8%2Asortby%3D6%2Amedia%3D3%2Ace_id%3D2934%2Aot_id%3D115600%2Amarker%3D6766%2Afeatured%3D20138" TargetMode="External"/><Relationship Id="rId3" Type="http://schemas.openxmlformats.org/officeDocument/2006/relationships/slide" Target="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874/ludovic.gabellier.cd4.cd8.balance.in.circulating.car.t-cells.shows.biphasic.html?f=menu%3D6%2Abrowseby%3D8%2Asortby%3D6%2Amedia%3D3%2Ace_id%3D2934%2Aot_id%3D115600%2Amarker%3D6766%2Afeatured%3D20138" TargetMode="External"/><Relationship Id="rId3" Type="http://schemas.openxmlformats.org/officeDocument/2006/relationships/slide" Target="slide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874/ludovic.gabellier.cd4.cd8.balance.in.circulating.car.t-cells.shows.biphasic.html?f=menu%3D6%2Abrowseby%3D8%2Asortby%3D6%2Amedia%3D3%2Ace_id%3D2934%2Aot_id%3D115600%2Amarker%3D6766%2Afeatured%3D20138" TargetMode="External"/><Relationship Id="rId3" Type="http://schemas.openxmlformats.org/officeDocument/2006/relationships/slide" Target="slide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18/mariana.bastos-oreiro.early.tumor-informed.ctdna.monitoring.improves.risk.html?f=menu%3D6%2Abrowseby%3D8%2Asortby%3D6%2Amedia%3D3%2Ace_id%3D2934%2Aot_id%3D115595%2Amarker%3D6766%2Afeatured%3D20138" TargetMode="External"/><Relationship Id="rId3" Type="http://schemas.openxmlformats.org/officeDocument/2006/relationships/slide" Target="slide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18/mariana.bastos-oreiro.early.tumor-informed.ctdna.monitoring.improves.risk.html?f=menu%3D6%2Abrowseby%3D8%2Asortby%3D6%2Amedia%3D3%2Ace_id%3D2934%2Aot_id%3D115595%2Amarker%3D6766%2Afeatured%3D20138" TargetMode="External"/><Relationship Id="rId3" Type="http://schemas.openxmlformats.org/officeDocument/2006/relationships/slide" Target="slide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18/mariana.bastos-oreiro.early.tumor-informed.ctdna.monitoring.improves.risk.html?f=menu%3D6%2Abrowseby%3D8%2Asortby%3D6%2Amedia%3D3%2Ace_id%3D2934%2Aot_id%3D115595%2Amarker%3D6766%2Afeatured%3D20138" TargetMode="External"/><Relationship Id="rId3" Type="http://schemas.openxmlformats.org/officeDocument/2006/relationships/slide" Target="slide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18/mariana.bastos-oreiro.early.tumor-informed.ctdna.monitoring.improves.risk.html?f=menu%3D6%2Abrowseby%3D8%2Asortby%3D6%2Amedia%3D3%2Ace_id%3D2934%2Aot_id%3D115595%2Amarker%3D6766%2Afeatured%3D20138" TargetMode="External"/><Relationship Id="rId3" Type="http://schemas.openxmlformats.org/officeDocument/2006/relationships/slide" Target="slide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18/mariana.bastos-oreiro.early.tumor-informed.ctdna.monitoring.improves.risk.html?f=menu%3D6%2Abrowseby%3D8%2Asortby%3D6%2Amedia%3D3%2Ace_id%3D2934%2Aot_id%3D115595%2Amarker%3D6766%2Afeatured%3D20138" TargetMode="External"/><Relationship Id="rId3" Type="http://schemas.openxmlformats.org/officeDocument/2006/relationships/slide" Target="slide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903/danielle.decicco.later.cart.infusions.increase.cytokine.release.syndrome.28crs29.html?f=menu%3D6%2Abrowseby%3D8%2Asortby%3D6%2Amedia%3D3%2Ace_id%3D2934%2Aot_id%3D115601%2Amarker%3D6766%2Afeatured%3D20138" TargetMode="External"/><Relationship Id="rId3" Type="http://schemas.openxmlformats.org/officeDocument/2006/relationships/slide" Target="slide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903/danielle.decicco.later.cart.infusions.increase.cytokine.release.syndrome.28crs29.html?f=menu%3D6%2Abrowseby%3D8%2Asortby%3D6%2Amedia%3D3%2Ace_id%3D2934%2Aot_id%3D115601%2Amarker%3D6766%2Afeatured%3D20138" TargetMode="External"/><Relationship Id="rId3" Type="http://schemas.openxmlformats.org/officeDocument/2006/relationships/slide" Target="slide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903/danielle.decicco.later.cart.infusions.increase.cytokine.release.syndrome.28crs29.html?f=menu%3D6%2Abrowseby%3D8%2Asortby%3D6%2Amedia%3D3%2Ace_id%3D2934%2Aot_id%3D115601%2Amarker%3D6766%2Afeatured%3D20138" TargetMode="External"/><Relationship Id="rId3" Type="http://schemas.openxmlformats.org/officeDocument/2006/relationships/slide" Target="slide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8/gil.fridberg.outcomes.of.second-line.car-t.therapy.in.starglo-eligible.html?f=menu%3D6%2Abrowseby%3D8%2Asortby%3D6%2Amedia%3D3%2Ace_id%3D2934%2Aot_id%3D115576%2Amarker%3D6766%2Afeatured%3D20138" TargetMode="External"/><Relationship Id="rId3" Type="http://schemas.openxmlformats.org/officeDocument/2006/relationships/slide" Target="slide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8/gil.fridberg.outcomes.of.second-line.car-t.therapy.in.starglo-eligible.html?f=menu%3D6%2Abrowseby%3D8%2Asortby%3D6%2Amedia%3D3%2Ace_id%3D2934%2Aot_id%3D115576%2Amarker%3D6766%2Afeatured%3D20138" TargetMode="External"/><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8/gil.fridberg.outcomes.of.second-line.car-t.therapy.in.starglo-eligible.html?f=menu%3D6%2Abrowseby%3D8%2Asortby%3D6%2Amedia%3D3%2Ace_id%3D2934%2Aot_id%3D115576%2Amarker%3D6766%2Afeatured%3D20138" TargetMode="External"/><Relationship Id="rId3" Type="http://schemas.openxmlformats.org/officeDocument/2006/relationships/slide" Target="slide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4/xiangrui.meng.safety.and.efficacy.of.relmacabtagene.autoleucel.28relma-cel29.in.html?f=menu%3D6%2Abrowseby%3D8%2Asortby%3D6%2Amedia%3D3%2Ace_id%3D2934%2Aot_id%3D115576%2Amarker%3D6766%2Afeatured%3D20138" TargetMode="External"/><Relationship Id="rId3" Type="http://schemas.openxmlformats.org/officeDocument/2006/relationships/slide" Target="slide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4/xiangrui.meng.safety.and.efficacy.of.relmacabtagene.autoleucel.28relma-cel29.in.html?f=menu%3D6%2Abrowseby%3D8%2Asortby%3D6%2Amedia%3D3%2Ace_id%3D2934%2Aot_id%3D115576%2Amarker%3D6766%2Afeatured%3D20138" TargetMode="External"/><Relationship Id="rId3" Type="http://schemas.openxmlformats.org/officeDocument/2006/relationships/slide" Target="slide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4/xiangrui.meng.safety.and.efficacy.of.relmacabtagene.autoleucel.28relma-cel29.in.html?f=menu%3D6%2Abrowseby%3D8%2Asortby%3D6%2Amedia%3D3%2Ace_id%3D2934%2Aot_id%3D115576%2Amarker%3D6766%2Afeatured%3D20138" TargetMode="External"/><Relationship Id="rId3" Type="http://schemas.openxmlformats.org/officeDocument/2006/relationships/slide" Target="slide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4/xiangrui.meng.safety.and.efficacy.of.relmacabtagene.autoleucel.28relma-cel29.in.html?f=menu%3D6%2Abrowseby%3D8%2Asortby%3D6%2Amedia%3D3%2Ace_id%3D2934%2Aot_id%3D115576%2Amarker%3D6766%2Afeatured%3D20138" TargetMode="External"/><Relationship Id="rId3" Type="http://schemas.openxmlformats.org/officeDocument/2006/relationships/slide" Target="slide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4/xiangrui.meng.safety.and.efficacy.of.relmacabtagene.autoleucel.28relma-cel29.in.html?f=menu%3D6%2Abrowseby%3D8%2Asortby%3D6%2Amedia%3D3%2Ace_id%3D2934%2Aot_id%3D115576%2Amarker%3D6766%2Afeatured%3D20138" TargetMode="External"/><Relationship Id="rId3" Type="http://schemas.openxmlformats.org/officeDocument/2006/relationships/slide" Target="slide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4/xiangrui.meng.safety.and.efficacy.of.relmacabtagene.autoleucel.28relma-cel29.in.html?f=menu%3D6%2Abrowseby%3D8%2Asortby%3D6%2Amedia%3D3%2Ace_id%3D2934%2Aot_id%3D115576%2Amarker%3D6766%2Afeatured%3D20138" TargetMode="External"/><Relationship Id="rId3" Type="http://schemas.openxmlformats.org/officeDocument/2006/relationships/slide" Target="slide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2/ying.he.single-target.28cd1929.versus.dual-target.28cd19.cd22.or.cd19.cd2029.car.html?f=menu%3D6%2Abrowseby%3D8%2Asortby%3D6%2Amedia%3D3%2Ace_id%3D2934%2Aot_id%3D115576%2Amarker%3D6766%2Afeatured%3D20138" TargetMode="External"/><Relationship Id="rId3" Type="http://schemas.openxmlformats.org/officeDocument/2006/relationships/slide" Target="slide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2/ying.he.single-target.28cd1929.versus.dual-target.28cd19.cd22.or.cd19.cd2029.car.html?f=menu%3D6%2Abrowseby%3D8%2Asortby%3D6%2Amedia%3D3%2Ace_id%3D2934%2Aot_id%3D115576%2Amarker%3D6766%2Afeatured%3D20138" TargetMode="External"/><Relationship Id="rId3" Type="http://schemas.openxmlformats.org/officeDocument/2006/relationships/slide" Target="slide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3/karan.chohan.a.real-world.comparison.of.cd3xcd20.bispecific.antibody.28bsab29.html?f=menu%3D6%2Abrowseby%3D8%2Asortby%3D6%2Amedia%3D3%2Ace_id%3D2934%2Aot_id%3D115576%2Amarker%3D6766%2Afeatured%3D20138" TargetMode="External"/><Relationship Id="rId3" Type="http://schemas.openxmlformats.org/officeDocument/2006/relationships/slide" Target="slide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3/karan.chohan.a.real-world.comparison.of.cd3xcd20.bispecific.antibody.28bsab29.html?f=menu%3D6%2Abrowseby%3D8%2Asortby%3D6%2Amedia%3D3%2Ace_id%3D2934%2Aot_id%3D115576%2Amarker%3D6766%2Afeatured%3D20138" TargetMode="External"/><Relationship Id="rId3" Type="http://schemas.openxmlformats.org/officeDocument/2006/relationships/slide" Target="slide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3/karan.chohan.a.real-world.comparison.of.cd3xcd20.bispecific.antibody.28bsab29.html?f=menu%3D6%2Abrowseby%3D8%2Asortby%3D6%2Amedia%3D3%2Ace_id%3D2934%2Aot_id%3D115576%2Amarker%3D6766%2Afeatured%3D20138" TargetMode="External"/><Relationship Id="rId3" Type="http://schemas.openxmlformats.org/officeDocument/2006/relationships/slide" Target="slide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0/mariana.bastos-oreiro.effectiveness.and.safety.of.chimeric.antigen.receptor.html?f=menu%3D6%2Abrowseby%3D8%2Asortby%3D6%2Amedia%3D3%2Ace_id%3D2934%2Aot_id%3D115576%2Amarker%3D6766%2Afeatured%3D20138" TargetMode="External"/><Relationship Id="rId3" Type="http://schemas.openxmlformats.org/officeDocument/2006/relationships/slide" Target="slide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0/mariana.bastos-oreiro.effectiveness.and.safety.of.chimeric.antigen.receptor.html?f=menu%3D6%2Abrowseby%3D8%2Asortby%3D6%2Amedia%3D3%2Ace_id%3D2934%2Aot_id%3D115576%2Amarker%3D6766%2Afeatured%3D20138" TargetMode="External"/><Relationship Id="rId3" Type="http://schemas.openxmlformats.org/officeDocument/2006/relationships/slide" Target="slide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0/mariana.bastos-oreiro.effectiveness.and.safety.of.chimeric.antigen.receptor.html?f=menu%3D6%2Abrowseby%3D8%2Asortby%3D6%2Amedia%3D3%2Ace_id%3D2934%2Aot_id%3D115576%2Amarker%3D6766%2Afeatured%3D20138" TargetMode="External"/><Relationship Id="rId3" Type="http://schemas.openxmlformats.org/officeDocument/2006/relationships/slide" Target="slide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0/mariana.bastos-oreiro.effectiveness.and.safety.of.chimeric.antigen.receptor.html?f=menu%3D6%2Abrowseby%3D8%2Asortby%3D6%2Amedia%3D3%2Ace_id%3D2934%2Aot_id%3D115576%2Amarker%3D6766%2Afeatured%3D20138" TargetMode="External"/><Relationship Id="rId3" Type="http://schemas.openxmlformats.org/officeDocument/2006/relationships/slide" Target="slide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0/mariana.bastos-oreiro.effectiveness.and.safety.of.chimeric.antigen.receptor.html?f=menu%3D6%2Abrowseby%3D8%2Asortby%3D6%2Amedia%3D3%2Ace_id%3D2934%2Aot_id%3D115576%2Amarker%3D6766%2Afeatured%3D20138" TargetMode="External"/><Relationship Id="rId3" Type="http://schemas.openxmlformats.org/officeDocument/2006/relationships/slide" Target="slide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0/mariana.bastos-oreiro.effectiveness.and.safety.of.chimeric.antigen.receptor.html?f=menu%3D6%2Abrowseby%3D8%2Asortby%3D6%2Amedia%3D3%2Ace_id%3D2934%2Aot_id%3D115576%2Amarker%3D6766%2Afeatured%3D20138" TargetMode="External"/><Relationship Id="rId3" Type="http://schemas.openxmlformats.org/officeDocument/2006/relationships/slide" Target="slide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9/sairah.ahmed.a.phase.1.study.of.kite-753.in.patients.28pts29.with.relapsed.html?f=menu%3D6%2Abrowseby%3D8%2Asortby%3D6%2Amedia%3D3%2Ace_id%3D2934%2Aot_id%3D115576%2Amarker%3D6766%2Afeatured%3D20138" TargetMode="External"/><Relationship Id="rId3" Type="http://schemas.openxmlformats.org/officeDocument/2006/relationships/slide" Target="slide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9/sairah.ahmed.a.phase.1.study.of.kite-753.in.patients.28pts29.with.relapsed.html?f=menu%3D6%2Abrowseby%3D8%2Asortby%3D6%2Amedia%3D3%2Ace_id%3D2934%2Aot_id%3D115576%2Amarker%3D6766%2Afeatured%3D20138" TargetMode="External"/><Relationship Id="rId3" Type="http://schemas.openxmlformats.org/officeDocument/2006/relationships/slide" Target="slide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9/sairah.ahmed.a.phase.1.study.of.kite-753.in.patients.28pts29.with.relapsed.html?f=menu%3D6%2Abrowseby%3D8%2Asortby%3D6%2Amedia%3D3%2Ace_id%3D2934%2Aot_id%3D115576%2Amarker%3D6766%2Afeatured%3D20138" TargetMode="External"/><Relationship Id="rId3" Type="http://schemas.openxmlformats.org/officeDocument/2006/relationships/slide" Target="slide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9/sairah.ahmed.a.phase.1.study.of.kite-753.in.patients.28pts29.with.relapsed.html?f=menu%3D6%2Abrowseby%3D8%2Asortby%3D6%2Amedia%3D3%2Ace_id%3D2934%2Aot_id%3D115576%2Amarker%3D6766%2Afeatured%3D20138" TargetMode="External"/><Relationship Id="rId3" Type="http://schemas.openxmlformats.org/officeDocument/2006/relationships/slide" Target="slide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9/sairah.ahmed.a.phase.1.study.of.kite-753.in.patients.28pts29.with.relapsed.html?f=menu%3D6%2Abrowseby%3D8%2Asortby%3D6%2Amedia%3D3%2Ace_id%3D2934%2Aot_id%3D115576%2Amarker%3D6766%2Afeatured%3D20138" TargetMode="External"/><Relationship Id="rId3" Type="http://schemas.openxmlformats.org/officeDocument/2006/relationships/slide" Target="slide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4/celine.liem.feasibility.and.safety.of.rapid.glofitamab.ramp-up.for.the.html?f=menu%3D6%2Abrowseby%3D8%2Asortby%3D6%2Amedia%3D3%2Ace_id%3D2934%2Aot_id%3D115576%2Amarker%3D6766%2Afeatured%3D20138" TargetMode="External"/><Relationship Id="rId3" Type="http://schemas.openxmlformats.org/officeDocument/2006/relationships/slide" Target="slide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4/celine.liem.feasibility.and.safety.of.rapid.glofitamab.ramp-up.for.the.html?f=menu%3D6%2Abrowseby%3D8%2Asortby%3D6%2Amedia%3D3%2Ace_id%3D2934%2Aot_id%3D115576%2Amarker%3D6766%2Afeatured%3D20138" TargetMode="External"/><Relationship Id="rId3" Type="http://schemas.openxmlformats.org/officeDocument/2006/relationships/slide" Target="slide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8/prokop.vodicka.introduction.of.car-t.cell.therapy.dramatically.improved.html?f=menu%3D6%2Abrowseby%3D8%2Asortby%3D6%2Amedia%3D3%2Ace_id%3D2934%2Aot_id%3D115576%2Amarker%3D6766%2Afeatured%3D20138" TargetMode="External"/><Relationship Id="rId3" Type="http://schemas.openxmlformats.org/officeDocument/2006/relationships/slide" Target="slide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8/prokop.vodicka.introduction.of.car-t.cell.therapy.dramatically.improved.html?f=menu%3D6%2Abrowseby%3D8%2Asortby%3D6%2Amedia%3D3%2Ace_id%3D2934%2Aot_id%3D115576%2Amarker%3D6766%2Afeatured%3D20138" TargetMode="External"/><Relationship Id="rId3" Type="http://schemas.openxmlformats.org/officeDocument/2006/relationships/slide" Target="slide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3/peter.vandenberghe.zamtocabtagene.autoleucel.a.tandem.cd20-cd19.directed.car-t.html?f=menu%3D6%2Abrowseby%3D8%2Asortby%3D6%2Amedia%3D3%2Ace_id%3D2934%2Aot_id%3D115576%2Amarker%3D6766%2Afeatured%3D20138" TargetMode="External"/><Relationship Id="rId3" Type="http://schemas.openxmlformats.org/officeDocument/2006/relationships/slide" Target="slide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3/peter.vandenberghe.zamtocabtagene.autoleucel.a.tandem.cd20-cd19.directed.car-t.html?f=menu%3D6%2Abrowseby%3D8%2Asortby%3D6%2Amedia%3D3%2Ace_id%3D2934%2Aot_id%3D115576%2Amarker%3D6766%2Afeatured%3D20138" TargetMode="External"/><Relationship Id="rId3" Type="http://schemas.openxmlformats.org/officeDocument/2006/relationships/slide" Target="slide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7/lixia.sheng.time-defined.pd-1.blockade.during.early.car-t.contraction.of.il-7.html?f=menu%3D6%2Abrowseby%3D8%2Asortby%3D6%2Amedia%3D3%2Ace_id%3D2934%2Aot_id%3D115576%2Amarker%3D6766%2Afeatured%3D20138" TargetMode="External"/><Relationship Id="rId3" Type="http://schemas.openxmlformats.org/officeDocument/2006/relationships/slide" Target="slide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7/lixia.sheng.time-defined.pd-1.blockade.during.early.car-t.contraction.of.il-7.html?f=menu%3D6%2Abrowseby%3D8%2Asortby%3D6%2Amedia%3D3%2Ace_id%3D2934%2Aot_id%3D115576%2Amarker%3D6766%2Afeatured%3D20138" TargetMode="External"/><Relationship Id="rId3" Type="http://schemas.openxmlformats.org/officeDocument/2006/relationships/slide" Target="slide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4/anna.dodero.impact.of.prior.lines.of.therapy.on.progression.risk.and.html?f=menu%3D6%2Abrowseby%3D8%2Asortby%3D6%2Amedia%3D3%2Ace_id%3D2934%2Aot_id%3D115576%2Amarker%3D6766%2Afeatured%3D20138" TargetMode="External"/><Relationship Id="rId3" Type="http://schemas.openxmlformats.org/officeDocument/2006/relationships/slide" Target="slide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4/anna.dodero.impact.of.prior.lines.of.therapy.on.progression.risk.and.html?f=menu%3D6%2Abrowseby%3D8%2Asortby%3D6%2Amedia%3D3%2Ace_id%3D2934%2Aot_id%3D115576%2Amarker%3D6766%2Afeatured%3D20138" TargetMode="External"/><Relationship Id="rId3" Type="http://schemas.openxmlformats.org/officeDocument/2006/relationships/slide" Target="slide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4/anna.dodero.impact.of.prior.lines.of.therapy.on.progression.risk.and.html?f=menu%3D6%2Abrowseby%3D8%2Asortby%3D6%2Amedia%3D3%2Ace_id%3D2934%2Aot_id%3D115576%2Amarker%3D6766%2Afeatured%3D20138" TargetMode="External"/><Relationship Id="rId3" Type="http://schemas.openxmlformats.org/officeDocument/2006/relationships/slide" Target="slide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1/krish.patel.five-year.follow-up.of.patients.with.relapsed.refractory.large.html?f=menu%3D6%2Abrowseby%3D8%2Asortby%3D6%2Amedia%3D3%2Ace_id%3D2934%2Aot_id%3D115576%2Amarker%3D6766%2Afeatured%3D20138" TargetMode="External"/><Relationship Id="rId3" Type="http://schemas.openxmlformats.org/officeDocument/2006/relationships/slide" Target="slide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1/krish.patel.five-year.follow-up.of.patients.with.relapsed.refractory.large.html?f=menu%3D6%2Abrowseby%3D8%2Asortby%3D6%2Amedia%3D3%2Ace_id%3D2934%2Aot_id%3D115576%2Amarker%3D6766%2Afeatured%3D20138" TargetMode="External"/><Relationship Id="rId3" Type="http://schemas.openxmlformats.org/officeDocument/2006/relationships/slide" Target="slide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1/krish.patel.five-year.follow-up.of.patients.with.relapsed.refractory.large.html?f=menu%3D6%2Abrowseby%3D8%2Asortby%3D6%2Amedia%3D3%2Ace_id%3D2934%2Aot_id%3D115576%2Amarker%3D6766%2Afeatured%3D20138" TargetMode="External"/><Relationship Id="rId3" Type="http://schemas.openxmlformats.org/officeDocument/2006/relationships/slide" Target="slide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298/cme.bommier.epcoritamab.home-based.care.pathways.in.relapsed.refractory.dlbcl.html?f=menu%3D6%2Abrowseby%3D8%2Asortby%3D6%2Amedia%3D3%2Ace_id%3D2934%2Aot_id%3D115611%2Amarker%3D6766%2Afeatured%3D20138" TargetMode="External"/><Relationship Id="rId3" Type="http://schemas.openxmlformats.org/officeDocument/2006/relationships/slide" Target="slide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298/cme.bommier.epcoritamab.home-based.care.pathways.in.relapsed.refractory.dlbcl.html?f=menu%3D6%2Abrowseby%3D8%2Asortby%3D6%2Amedia%3D3%2Ace_id%3D2934%2Aot_id%3D115611%2Amarker%3D6766%2Afeatured%3D20138" TargetMode="External"/><Relationship Id="rId3" Type="http://schemas.openxmlformats.org/officeDocument/2006/relationships/slide" Target="slide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28/jing.ruan.hyper-fractionated.radiotherapy.as.a.bridging.strategy.attenuates.html?f=menu%3D6%2Abrowseby%3D8%2Asortby%3D6%2Amedia%3D3%2Ace_id%3D2934%2Aot_id%3D115601%2Amarker%3D6766%2Afeatured%3D20138" TargetMode="External"/><Relationship Id="rId3" Type="http://schemas.openxmlformats.org/officeDocument/2006/relationships/slide" Target="slide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28/jing.ruan.hyper-fractionated.radiotherapy.as.a.bridging.strategy.attenuates.html?f=menu%3D6%2Abrowseby%3D8%2Asortby%3D6%2Amedia%3D3%2Ace_id%3D2934%2Aot_id%3D115601%2Amarker%3D6766%2Afeatured%3D20138" TargetMode="External"/><Relationship Id="rId3" Type="http://schemas.openxmlformats.org/officeDocument/2006/relationships/slide" Target="slide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3/alessandro.broccoli.large.b-cell.lymphoma.treatment.with.loncastuximab.html?f=menu%3D6%2Abrowseby%3D8%2Asortby%3D6%2Amedia%3D3%2Ace_id%3D2934%2Aot_id%3D115576%2Amarker%3D6766%2Afeatured%3D20138" TargetMode="External"/><Relationship Id="rId3" Type="http://schemas.openxmlformats.org/officeDocument/2006/relationships/slide" Target="slide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3/alessandro.broccoli.large.b-cell.lymphoma.treatment.with.loncastuximab.html?f=menu%3D6%2Abrowseby%3D8%2Asortby%3D6%2Amedia%3D3%2Ace_id%3D2934%2Aot_id%3D115576%2Amarker%3D6766%2Afeatured%3D20138" TargetMode="External"/><Relationship Id="rId3" Type="http://schemas.openxmlformats.org/officeDocument/2006/relationships/slide" Target="slide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3/alessandro.broccoli.large.b-cell.lymphoma.treatment.with.loncastuximab.html?f=menu%3D6%2Abrowseby%3D8%2Asortby%3D6%2Amedia%3D3%2Ace_id%3D2934%2Aot_id%3D115576%2Amarker%3D6766%2Afeatured%3D20138" TargetMode="External"/><Relationship Id="rId3" Type="http://schemas.openxmlformats.org/officeDocument/2006/relationships/slide" Target="slide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768/yanli.feng.a.preliminary.study.on.the.safety.and.efficacy.of.intrathecal.html?f=menu%3D6%2Abrowseby%3D8%2Asortby%3D6%2Amedia%3D3%2Ace_id%3D2934%2Aot_id%3D115575%2Amarker%3D6766%2Afeatured%3D20138" TargetMode="External"/><Relationship Id="rId3" Type="http://schemas.openxmlformats.org/officeDocument/2006/relationships/slide" Target="slide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768/yanli.feng.a.preliminary.study.on.the.safety.and.efficacy.of.intrathecal.html?f=menu%3D6%2Abrowseby%3D8%2Asortby%3D6%2Amedia%3D3%2Ace_id%3D2934%2Aot_id%3D115575%2Amarker%3D6766%2Afeatured%3D20138" TargetMode="External"/><Relationship Id="rId3" Type="http://schemas.openxmlformats.org/officeDocument/2006/relationships/slide" Target="slide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768/yanli.feng.a.preliminary.study.on.the.safety.and.efficacy.of.intrathecal.html?f=menu%3D6%2Abrowseby%3D8%2Asortby%3D6%2Amedia%3D3%2Ace_id%3D2934%2Aot_id%3D115575%2Amarker%3D6766%2Afeatured%3D20138" TargetMode="External"/><Relationship Id="rId3" Type="http://schemas.openxmlformats.org/officeDocument/2006/relationships/slide" Target="slide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89/dok.hyun.yoon.outpatient.treatment.with.glofitamab.plus.gemcitabine.and.html?f=menu%3D6%2Abrowseby%3D8%2Asortby%3D6%2Amedia%3D3%2Ace_id%3D2934%2Aot_id%3D115576%2Amarker%3D6766%2Afeatured%3D20138" TargetMode="External"/><Relationship Id="rId3" Type="http://schemas.openxmlformats.org/officeDocument/2006/relationships/slide" Target="slide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89/dok.hyun.yoon.outpatient.treatment.with.glofitamab.plus.gemcitabine.and.html?f=menu%3D6%2Abrowseby%3D8%2Asortby%3D6%2Amedia%3D3%2Ace_id%3D2934%2Aot_id%3D115576%2Amarker%3D6766%2Afeatured%3D20138" TargetMode="External"/><Relationship Id="rId3" Type="http://schemas.openxmlformats.org/officeDocument/2006/relationships/slide" Target="slide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89/dok.hyun.yoon.outpatient.treatment.with.glofitamab.plus.gemcitabine.and.html?f=menu%3D6%2Abrowseby%3D8%2Asortby%3D6%2Amedia%3D3%2Ace_id%3D2934%2Aot_id%3D115576%2Amarker%3D6766%2Afeatured%3D20138" TargetMode="External"/><Relationship Id="rId3" Type="http://schemas.openxmlformats.org/officeDocument/2006/relationships/slide" Target="slide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8/thiago.m.steiner.tumour.microenvironment.archetypes.that.support.anti-tumour.html?f=menu%3D6%2Abrowseby%3D8%2Asortby%3D6%2Amedia%3D3%2Ace_id%3D2934%2Aot_id%3D115595%2Amarker%3D6765%2Afeatured%3D20138" TargetMode="External"/><Relationship Id="rId3" Type="http://schemas.openxmlformats.org/officeDocument/2006/relationships/slide" Target="slide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8/thiago.m.steiner.tumour.microenvironment.archetypes.that.support.anti-tumour.html?f=menu%3D6%2Abrowseby%3D8%2Asortby%3D6%2Amedia%3D3%2Ace_id%3D2934%2Aot_id%3D115595%2Amarker%3D6765%2Afeatured%3D20138" TargetMode="External"/><Relationship Id="rId3" Type="http://schemas.openxmlformats.org/officeDocument/2006/relationships/slide" Target="slide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9055/rebecca.wurm-kuczera.longitudinal.patient-reported.outcomes.highlight.improved.html?f=menu%3D6%2Abrowseby%3D8%2Asortby%3D6%2Amedia%3D3%2Ace_id%3D2934%2Aot_id%3D115610%2Amarker%3D6766%2Afeatured%3D20138" TargetMode="External"/><Relationship Id="rId3" Type="http://schemas.openxmlformats.org/officeDocument/2006/relationships/slide" Target="slide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9055/rebecca.wurm-kuczera.longitudinal.patient-reported.outcomes.highlight.improved.html?f=menu%3D6%2Abrowseby%3D8%2Asortby%3D6%2Amedia%3D3%2Ace_id%3D2934%2Aot_id%3D115610%2Amarker%3D6766%2Afeatured%3D20138" TargetMode="External"/><Relationship Id="rId3" Type="http://schemas.openxmlformats.org/officeDocument/2006/relationships/slide" Target="slide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9055/rebecca.wurm-kuczera.longitudinal.patient-reported.outcomes.highlight.improved.html?f=menu%3D6%2Abrowseby%3D8%2Asortby%3D6%2Amedia%3D3%2Ace_id%3D2934%2Aot_id%3D115610%2Amarker%3D6766%2Afeatured%3D20138" TargetMode="External"/><Relationship Id="rId3" Type="http://schemas.openxmlformats.org/officeDocument/2006/relationships/slide" Target="slide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1/jiayin.he.glofitamab.in.relapsed.refractory.large.b-cell.lymphoma.html?f=menu%3D6%2Abrowseby%3D8%2Asortby%3D6%2Amedia%3D3%2Ace_id%3D2934%2Aot_id%3D115576%2Amarker%3D6766%2Afeatured%3D20138" TargetMode="External"/><Relationship Id="rId3" Type="http://schemas.openxmlformats.org/officeDocument/2006/relationships/slide" Target="slide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1/jiayin.he.glofitamab.in.relapsed.refractory.large.b-cell.lymphoma.html?f=menu%3D6%2Abrowseby%3D8%2Asortby%3D6%2Amedia%3D3%2Ace_id%3D2934%2Aot_id%3D115576%2Amarker%3D6766%2Afeatured%3D20138" TargetMode="External"/><Relationship Id="rId3" Type="http://schemas.openxmlformats.org/officeDocument/2006/relationships/slide" Target="slide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8/yuhong.ren.phase.2.trial.of.glofitamab.polatuzumab.vedotin.and.zanubrutinib.in.html?f=menu%3D6%2Abrowseby%3D8%2Asortby%3D6%2Amedia%3D3%2Ace_id%3D2934%2Aot_id%3D115576%2Amarker%3D6766%2Afeatured%3D20138" TargetMode="External"/><Relationship Id="rId3" Type="http://schemas.openxmlformats.org/officeDocument/2006/relationships/slide" Target="slide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8/yuhong.ren.phase.2.trial.of.glofitamab.polatuzumab.vedotin.and.zanubrutinib.in.html?f=menu%3D6%2Abrowseby%3D8%2Asortby%3D6%2Amedia%3D3%2Ace_id%3D2934%2Aot_id%3D115576%2Amarker%3D6766%2Afeatured%3D20138" TargetMode="External"/><Relationship Id="rId3" Type="http://schemas.openxmlformats.org/officeDocument/2006/relationships/slide" Target="slide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8/zachary.hunzeker.identification.of.an.optimal.absolute.lymphocyte.count.before.html?f=menu%3D6%2Abrowseby%3D8%2Asortby%3D6%2Amedia%3D3%2Ace_id%3D2934%2Aot_id%3D115576%2Amarker%3D6766%2Afeatured%3D20138" TargetMode="External"/><Relationship Id="rId3" Type="http://schemas.openxmlformats.org/officeDocument/2006/relationships/slide" Target="slide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8/zachary.hunzeker.identification.of.an.optimal.absolute.lymphocyte.count.before.html?f=menu%3D6%2Abrowseby%3D8%2Asortby%3D6%2Amedia%3D3%2Ace_id%3D2934%2Aot_id%3D115576%2Amarker%3D6766%2Afeatured%3D20138" TargetMode="External"/><Relationship Id="rId3" Type="http://schemas.openxmlformats.org/officeDocument/2006/relationships/slide" Target="slide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8/zachary.hunzeker.identification.of.an.optimal.absolute.lymphocyte.count.before.html?f=menu%3D6%2Abrowseby%3D8%2Asortby%3D6%2Amedia%3D3%2Ace_id%3D2934%2Aot_id%3D115576%2Amarker%3D6766%2Afeatured%3D20138" TargetMode="External"/><Relationship Id="rId3" Type="http://schemas.openxmlformats.org/officeDocument/2006/relationships/slide" Target="slide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3/umberto.vitolo.fixed-duration.epcoritamab.monotherapy.induces.high.response.html?f=menu%3D6%2Abrowseby%3D8%2Asortby%3D6%2Amedia%3D3%2Ace_id%3D2934%2Aot_id%3D115576%2Amarker%3D6766%2Afeatured%3D20138" TargetMode="External"/><Relationship Id="rId3" Type="http://schemas.openxmlformats.org/officeDocument/2006/relationships/slide" Target="slide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3/umberto.vitolo.fixed-duration.epcoritamab.monotherapy.induces.high.response.html?f=menu%3D6%2Abrowseby%3D8%2Asortby%3D6%2Amedia%3D3%2Ace_id%3D2934%2Aot_id%3D115576%2Amarker%3D6766%2Afeatured%3D20138" TargetMode="External"/><Relationship Id="rId3" Type="http://schemas.openxmlformats.org/officeDocument/2006/relationships/slide" Target="slide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3/umberto.vitolo.fixed-duration.epcoritamab.monotherapy.induces.high.response.html?f=menu%3D6%2Abrowseby%3D8%2Asortby%3D6%2Amedia%3D3%2Ace_id%3D2934%2Aot_id%3D115576%2Amarker%3D6766%2Afeatured%3D20138" TargetMode="External"/><Relationship Id="rId3" Type="http://schemas.openxmlformats.org/officeDocument/2006/relationships/slide" Target="slide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3/umberto.vitolo.fixed-duration.epcoritamab.monotherapy.induces.high.response.html?f=menu%3D6%2Abrowseby%3D8%2Asortby%3D6%2Amedia%3D3%2Ace_id%3D2934%2Aot_id%3D115576%2Amarker%3D6766%2Afeatured%3D20138" TargetMode="External"/><Relationship Id="rId3" Type="http://schemas.openxmlformats.org/officeDocument/2006/relationships/slide" Target="slide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4/giuseppe.gritti.durable.remissions.with.glofitamab.plus.polatuzumab.vedotin.in.html?f=menu%3D6%2Abrowseby%3D8%2Asortby%3D6%2Amedia%3D3%2Ace_id%3D2934%2Aot_id%3D115576%2Amarker%3D6766%2Afeatured%3D20138" TargetMode="External"/><Relationship Id="rId3" Type="http://schemas.openxmlformats.org/officeDocument/2006/relationships/slide" Target="slide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4/giuseppe.gritti.durable.remissions.with.glofitamab.plus.polatuzumab.vedotin.in.html?f=menu%3D6%2Abrowseby%3D8%2Asortby%3D6%2Amedia%3D3%2Ace_id%3D2934%2Aot_id%3D115576%2Amarker%3D6766%2Afeatured%3D20138" TargetMode="External"/><Relationship Id="rId3" Type="http://schemas.openxmlformats.org/officeDocument/2006/relationships/slide" Target="slide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77/stefano.luminari.peripheral.proteomic.signatures.associated.with.cytokine.html?f=menu%3D6%2Abrowseby%3D8%2Asortby%3D6%2Amedia%3D3%2Ace_id%3D2934%2Aot_id%3D115595%2Amarker%3D6766%2Afeatured%3D20138" TargetMode="External"/><Relationship Id="rId3" Type="http://schemas.openxmlformats.org/officeDocument/2006/relationships/slide" Target="slide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77/stefano.luminari.peripheral.proteomic.signatures.associated.with.cytokine.html?f=menu%3D6%2Abrowseby%3D8%2Asortby%3D6%2Amedia%3D3%2Ace_id%3D2934%2Aot_id%3D115595%2Amarker%3D6766%2Afeatured%3D20138" TargetMode="External"/><Relationship Id="rId3" Type="http://schemas.openxmlformats.org/officeDocument/2006/relationships/slide" Target="slide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58/monica.wielgos-bonvallet.reduced.cd20.expression.and.intratumoral.cd32B.t.cells.html?f=menu%3D6%2Abrowseby%3D8%2Asortby%3D6%2Amedia%3D3%2Ace_id%3D2934%2Aot_id%3D115595%2Amarker%3D6766%2Afeatured%3D20138" TargetMode="External"/><Relationship Id="rId3" Type="http://schemas.openxmlformats.org/officeDocument/2006/relationships/slide" Target="slide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58/monica.wielgos-bonvallet.reduced.cd20.expression.and.intratumoral.cd32B.t.cells.html?f=menu%3D6%2Abrowseby%3D8%2Asortby%3D6%2Amedia%3D3%2Ace_id%3D2934%2Aot_id%3D115595%2Amarker%3D6766%2Afeatured%3D20138" TargetMode="External"/><Relationship Id="rId3" Type="http://schemas.openxmlformats.org/officeDocument/2006/relationships/slide" Target="slide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58/monica.wielgos-bonvallet.reduced.cd20.expression.and.intratumoral.cd32B.t.cells.html?f=menu%3D6%2Abrowseby%3D8%2Asortby%3D6%2Amedia%3D3%2Ace_id%3D2934%2Aot_id%3D115595%2Amarker%3D6766%2Afeatured%3D20138" TargetMode="External"/><Relationship Id="rId3" Type="http://schemas.openxmlformats.org/officeDocument/2006/relationships/slide" Target="slide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58/monica.wielgos-bonvallet.reduced.cd20.expression.and.intratumoral.cd32B.t.cells.html?f=menu%3D6%2Abrowseby%3D8%2Asortby%3D6%2Amedia%3D3%2Ace_id%3D2934%2Aot_id%3D115595%2Amarker%3D6766%2Afeatured%3D20138" TargetMode="External"/><Relationship Id="rId3" Type="http://schemas.openxmlformats.org/officeDocument/2006/relationships/slide" Target="slide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50/william.townsend.total.metabolic.tumor.volume.and.circulating.tumor.dna.as.html?f=menu%3D6%2Abrowseby%3D8%2Asortby%3D6%2Amedia%3D3%2Ace_id%3D2934%2Aot_id%3D115595%2Amarker%3D6766%2Afeatured%3D20138" TargetMode="External"/><Relationship Id="rId3" Type="http://schemas.openxmlformats.org/officeDocument/2006/relationships/slide" Target="slide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50/william.townsend.total.metabolic.tumor.volume.and.circulating.tumor.dna.as.html?f=menu%3D6%2Abrowseby%3D8%2Asortby%3D6%2Amedia%3D3%2Ace_id%3D2934%2Aot_id%3D115595%2Amarker%3D6766%2Afeatured%3D20138" TargetMode="External"/><Relationship Id="rId3" Type="http://schemas.openxmlformats.org/officeDocument/2006/relationships/slide" Target="slide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50/william.townsend.total.metabolic.tumor.volume.and.circulating.tumor.dna.as.html?f=menu%3D6%2Abrowseby%3D8%2Asortby%3D6%2Amedia%3D3%2Ace_id%3D2934%2Aot_id%3D115595%2Amarker%3D6766%2Afeatured%3D20138" TargetMode="External"/><Relationship Id="rId3" Type="http://schemas.openxmlformats.org/officeDocument/2006/relationships/slide" Target="slide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50/william.townsend.total.metabolic.tumor.volume.and.circulating.tumor.dna.as.html?f=menu%3D6%2Abrowseby%3D8%2Asortby%3D6%2Amedia%3D3%2Ace_id%3D2934%2Aot_id%3D115595%2Amarker%3D6766%2Afeatured%3D20138" TargetMode="External"/><Relationship Id="rId3" Type="http://schemas.openxmlformats.org/officeDocument/2006/relationships/slide" Target="slide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6/david.belada.epcoritamab.2B.r-mini-chop.results.in.2-year.remissions.and.high.html?f=menu%3D6%2Abrowseby%3D8%2Asortby%3D6%2Amedia%3D3%2Ace_id%3D2934%2Aot_id%3D115576%2Amarker%3D6766%2Afeatured%3D20138" TargetMode="External"/><Relationship Id="rId3" Type="http://schemas.openxmlformats.org/officeDocument/2006/relationships/slide" Target="slide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6/david.belada.epcoritamab.2B.r-mini-chop.results.in.2-year.remissions.and.high.html?f=menu%3D6%2Abrowseby%3D8%2Asortby%3D6%2Amedia%3D3%2Ace_id%3D2934%2Aot_id%3D115576%2Amarker%3D6766%2Afeatured%3D20138" TargetMode="External"/><Relationship Id="rId3" Type="http://schemas.openxmlformats.org/officeDocument/2006/relationships/slide" Target="slide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6/david.belada.epcoritamab.2B.r-mini-chop.results.in.2-year.remissions.and.high.html?f=menu%3D6%2Abrowseby%3D8%2Asortby%3D6%2Amedia%3D3%2Ace_id%3D2934%2Aot_id%3D115576%2Amarker%3D6766%2Afeatured%3D20138" TargetMode="External"/><Relationship Id="rId3" Type="http://schemas.openxmlformats.org/officeDocument/2006/relationships/slide" Target="slide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2/mats.jerkeman.safety.data.and.initial.pooled.efficacy.data.from.the.nordic.html?f=menu%3D6%2Abrowseby%3D8%2Asortby%3D6%2Amedia%3D3%2Ace_id%3D2934%2Aot_id%3D115576%2Amarker%3D6765%2Afeatured%3D20138" TargetMode="External"/><Relationship Id="rId3" Type="http://schemas.openxmlformats.org/officeDocument/2006/relationships/slide" Target="slide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2/mats.jerkeman.safety.data.and.initial.pooled.efficacy.data.from.the.nordic.html?f=menu%3D6%2Abrowseby%3D8%2Asortby%3D6%2Amedia%3D3%2Ace_id%3D2934%2Aot_id%3D115576%2Amarker%3D6765%2Afeatured%3D20138" TargetMode="External"/><Relationship Id="rId3" Type="http://schemas.openxmlformats.org/officeDocument/2006/relationships/slide" Target="slide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35/simon.husby.clonal.hematopoiesis.is.associated.with.persisting.anemia.in.html?f=menu%3D6%2Abrowseby%3D8%2Asortby%3D6%2Amedia%3D3%2Ace_id%3D2934%2Aot_id%3D115595%2Amarker%3D6766%2Afeatured%3D20138" TargetMode="External"/><Relationship Id="rId3" Type="http://schemas.openxmlformats.org/officeDocument/2006/relationships/slide" Target="slide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35/simon.husby.clonal.hematopoiesis.is.associated.with.persisting.anemia.in.html?f=menu%3D6%2Abrowseby%3D8%2Asortby%3D6%2Amedia%3D3%2Ace_id%3D2934%2Aot_id%3D115595%2Amarker%3D6766%2Afeatured%3D20138" TargetMode="External"/><Relationship Id="rId3" Type="http://schemas.openxmlformats.org/officeDocument/2006/relationships/slide" Target="slide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1/liang.wang.real-world.efficacy.safety.and.molecular.characterization.of.html?f=menu%3D6%2Abrowseby%3D8%2Asortby%3D6%2Amedia%3D3%2Ace_id%3D2934%2Aot_id%3D115576%2Amarker%3D6766%2Afeatured%3D20138" TargetMode="External"/><Relationship Id="rId3" Type="http://schemas.openxmlformats.org/officeDocument/2006/relationships/slide" Target="slide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1/liang.wang.real-world.efficacy.safety.and.molecular.characterization.of.html?f=menu%3D6%2Abrowseby%3D8%2Asortby%3D6%2Amedia%3D3%2Ace_id%3D2934%2Aot_id%3D115576%2Amarker%3D6766%2Afeatured%3D20138" TargetMode="External"/><Relationship Id="rId3" Type="http://schemas.openxmlformats.org/officeDocument/2006/relationships/slide" Target="slide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1/liang.wang.real-world.efficacy.safety.and.molecular.characterization.of.html?f=menu%3D6%2Abrowseby%3D8%2Asortby%3D6%2Amedia%3D3%2Ace_id%3D2934%2Aot_id%3D115576%2Amarker%3D6766%2Afeatured%3D20138" TargetMode="External"/><Relationship Id="rId3" Type="http://schemas.openxmlformats.org/officeDocument/2006/relationships/slide" Target="slide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3/wenyu.shi.polatuzumab.vedotin.combined.with.orelabrutinib.and.rituximab.28pro.html?f=menu%3D6%2Abrowseby%3D8%2Asortby%3D6%2Amedia%3D3%2Ace_id%3D2934%2Aot_id%3D115576%2Amarker%3D6766%2Afeatured%3D20138" TargetMode="External"/><Relationship Id="rId3" Type="http://schemas.openxmlformats.org/officeDocument/2006/relationships/slide" Target="slide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3/wenyu.shi.polatuzumab.vedotin.combined.with.orelabrutinib.and.rituximab.28pro.html?f=menu%3D6%2Abrowseby%3D8%2Asortby%3D6%2Amedia%3D3%2Ace_id%3D2934%2Aot_id%3D115576%2Amarker%3D6766%2Afeatured%3D20138" TargetMode="External"/><Relationship Id="rId3" Type="http://schemas.openxmlformats.org/officeDocument/2006/relationships/slide" Target="slide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3/wenyu.shi.polatuzumab.vedotin.combined.with.orelabrutinib.and.rituximab.28pro.html?f=menu%3D6%2Abrowseby%3D8%2Asortby%3D6%2Amedia%3D3%2Ace_id%3D2934%2Aot_id%3D115576%2Amarker%3D6766%2Afeatured%3D20138" TargetMode="External"/><Relationship Id="rId3" Type="http://schemas.openxmlformats.org/officeDocument/2006/relationships/slide" Target="slide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3/wenyu.shi.polatuzumab.vedotin.combined.with.orelabrutinib.and.rituximab.28pro.html?f=menu%3D6%2Abrowseby%3D8%2Asortby%3D6%2Amedia%3D3%2Ace_id%3D2934%2Aot_id%3D115576%2Amarker%3D6766%2Afeatured%3D20138" TargetMode="External"/><Relationship Id="rId3" Type="http://schemas.openxmlformats.org/officeDocument/2006/relationships/slide" Target="slide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3/wenyu.shi.polatuzumab.vedotin.combined.with.orelabrutinib.and.rituximab.28pro.html?f=menu%3D6%2Abrowseby%3D8%2Asortby%3D6%2Amedia%3D3%2Ace_id%3D2934%2Aot_id%3D115576%2Amarker%3D6766%2Afeatured%3D20138" TargetMode="External"/><Relationship Id="rId3" Type="http://schemas.openxmlformats.org/officeDocument/2006/relationships/slide" Target="slide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3/wenyu.shi.polatuzumab.vedotin.combined.with.orelabrutinib.and.rituximab.28pro.html?f=menu%3D6%2Abrowseby%3D8%2Asortby%3D6%2Amedia%3D3%2Ace_id%3D2934%2Aot_id%3D115576%2Amarker%3D6766%2Afeatured%3D20138" TargetMode="External"/><Relationship Id="rId3" Type="http://schemas.openxmlformats.org/officeDocument/2006/relationships/slide" Target="slide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0/hua-jay.cherng.preliminary.results.from.shorten-ctdna.measurable.residual.html?f=menu%3D6%2Abrowseby%3D8%2Asortby%3D6%2Amedia%3D3%2Ace_id%3D2934%2Aot_id%3D115576%2Amarker%3D6766%2Afeatured%3D20138" TargetMode="External"/><Relationship Id="rId3" Type="http://schemas.openxmlformats.org/officeDocument/2006/relationships/slide" Target="slide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0/hua-jay.cherng.preliminary.results.from.shorten-ctdna.measurable.residual.html?f=menu%3D6%2Abrowseby%3D8%2Asortby%3D6%2Amedia%3D3%2Ace_id%3D2934%2Aot_id%3D115576%2Amarker%3D6766%2Afeatured%3D20138" TargetMode="External"/><Relationship Id="rId3" Type="http://schemas.openxmlformats.org/officeDocument/2006/relationships/slide" Target="slide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1/xi.chen.pola-rchp.for.dlbclpatients.with.extranodal.involvement.real-world.html?f=menu%3D6%2Abrowseby%3D8%2Asortby%3D6%2Amedia%3D3%2Ace_id%3D2934%2Aot_id%3D115576%2Amarker%3D6766%2Afeatured%3D20138" TargetMode="External"/><Relationship Id="rId3" Type="http://schemas.openxmlformats.org/officeDocument/2006/relationships/slide" Target="slide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1/xi.chen.pola-rchp.for.dlbclpatients.with.extranodal.involvement.real-world.html?f=menu%3D6%2Abrowseby%3D8%2Asortby%3D6%2Amedia%3D3%2Ace_id%3D2934%2Aot_id%3D115576%2Amarker%3D6766%2Afeatured%3D20138" TargetMode="External"/><Relationship Id="rId3" Type="http://schemas.openxmlformats.org/officeDocument/2006/relationships/slide" Target="slide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8/na.yao.bruton.tyrosine.kinase.inhibitor.maintenance.therapy.in.first-line.html?f=menu%3D6%2Abrowseby%3D8%2Asortby%3D6%2Amedia%3D3%2Ace_id%3D2934%2Aot_id%3D115576%2Amarker%3D6766%2Afeatured%3D20138" TargetMode="External"/><Relationship Id="rId3" Type="http://schemas.openxmlformats.org/officeDocument/2006/relationships/slide" Target="slide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8/na.yao.bruton.tyrosine.kinase.inhibitor.maintenance.therapy.in.first-line.html?f=menu%3D6%2Abrowseby%3D8%2Asortby%3D6%2Amedia%3D3%2Ace_id%3D2934%2Aot_id%3D115576%2Amarker%3D6766%2Afeatured%3D20138" TargetMode="External"/><Relationship Id="rId3" Type="http://schemas.openxmlformats.org/officeDocument/2006/relationships/slide" Target="slide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8/na.yao.bruton.tyrosine.kinase.inhibitor.maintenance.therapy.in.first-line.html?f=menu%3D6%2Abrowseby%3D8%2Asortby%3D6%2Amedia%3D3%2Ace_id%3D2934%2Aot_id%3D115576%2Amarker%3D6766%2Afeatured%3D20138" TargetMode="External"/><Relationship Id="rId3" Type="http://schemas.openxmlformats.org/officeDocument/2006/relationships/slide" Target="slide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4/pengpeng.xu.clinical.characteristics.and.efficacy.of.myc.bcl-2.html?f=menu%3D6%2Abrowseby%3D8%2Asortby%3D6%2Amedia%3D3%2Ace_id%3D2934%2Aot_id%3D115576%2Amarker%3D6766%2Afeatured%3D20138" TargetMode="External"/><Relationship Id="rId3" Type="http://schemas.openxmlformats.org/officeDocument/2006/relationships/slide" Target="slide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4/pengpeng.xu.clinical.characteristics.and.efficacy.of.myc.bcl-2.html?f=menu%3D6%2Abrowseby%3D8%2Asortby%3D6%2Amedia%3D3%2Ace_id%3D2934%2Aot_id%3D115576%2Amarker%3D6766%2Afeatured%3D20138" TargetMode="External"/><Relationship Id="rId3" Type="http://schemas.openxmlformats.org/officeDocument/2006/relationships/slide" Target="slide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6/yang.yang.orelabrutinib.plus.r-chop.for.the.treatment.of.newly.diagnosed.html?f=menu%3D6%2Abrowseby%3D8%2Asortby%3D6%2Amedia%3D3%2Ace_id%3D2934%2Aot_id%3D115576%2Amarker%3D6766%2Afeatured%3D20138" TargetMode="External"/><Relationship Id="rId3" Type="http://schemas.openxmlformats.org/officeDocument/2006/relationships/slide" Target="slide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6/yang.yang.orelabrutinib.plus.r-chop.for.the.treatment.of.newly.diagnosed.html?f=menu%3D6%2Abrowseby%3D8%2Asortby%3D6%2Amedia%3D3%2Ace_id%3D2934%2Aot_id%3D115576%2Amarker%3D6766%2Afeatured%3D20138" TargetMode="External"/><Relationship Id="rId3" Type="http://schemas.openxmlformats.org/officeDocument/2006/relationships/slide" Target="slide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6/yang.yang.orelabrutinib.plus.r-chop.for.the.treatment.of.newly.diagnosed.html?f=menu%3D6%2Abrowseby%3D8%2Asortby%3D6%2Amedia%3D3%2Ace_id%3D2934%2Aot_id%3D115576%2Amarker%3D6766%2Afeatured%3D20138" TargetMode="External"/><Relationship Id="rId3" Type="http://schemas.openxmlformats.org/officeDocument/2006/relationships/slide" Target="slide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0/mengyuan.liu.reevaluating.the.role.of.autologous.stem.cell.transplantation.in.html?f=menu%3D6%2Abrowseby%3D8%2Asortby%3D6%2Amedia%3D3%2Ace_id%3D2934%2Aot_id%3D115576%2Amarker%3D6766%2Afeatured%3D20138" TargetMode="External"/><Relationship Id="rId3" Type="http://schemas.openxmlformats.org/officeDocument/2006/relationships/slide" Target="slide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0/mengyuan.liu.reevaluating.the.role.of.autologous.stem.cell.transplantation.in.html?f=menu%3D6%2Abrowseby%3D8%2Asortby%3D6%2Amedia%3D3%2Ace_id%3D2934%2Aot_id%3D115576%2Amarker%3D6766%2Afeatured%3D20138" TargetMode="External"/><Relationship Id="rId3" Type="http://schemas.openxmlformats.org/officeDocument/2006/relationships/slide" Target="slide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1/lugui.qiu.birelentinib.demonstrates.manageable.safety.profile.and.universal.html?f=menu%3D6%2Abrowseby%3D8%2Asortby%3D6%2Amedia%3D3%2Ace_id%3D2934%2Aot_id%3D115576%2Amarker%3D6766%2Afeatured%3D20138" TargetMode="External"/><Relationship Id="rId3" Type="http://schemas.openxmlformats.org/officeDocument/2006/relationships/slide" Target="slide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1/lugui.qiu.birelentinib.demonstrates.manageable.safety.profile.and.universal.html?f=menu%3D6%2Abrowseby%3D8%2Asortby%3D6%2Amedia%3D3%2Ace_id%3D2934%2Aot_id%3D115576%2Amarker%3D6766%2Afeatured%3D20138" TargetMode="External"/><Relationship Id="rId3" Type="http://schemas.openxmlformats.org/officeDocument/2006/relationships/slide" Target="slide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1/lugui.qiu.birelentinib.demonstrates.manageable.safety.profile.and.universal.html?f=menu%3D6%2Abrowseby%3D8%2Asortby%3D6%2Amedia%3D3%2Ace_id%3D2934%2Aot_id%3D115576%2Amarker%3D6766%2Afeatured%3D20138" TargetMode="External"/><Relationship Id="rId3" Type="http://schemas.openxmlformats.org/officeDocument/2006/relationships/slide" Target="slide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0/hyungwoo.cho.phase.i.ii.study.of.zanubrutinib.in.combination.with.rituximab.html?f=menu%3D6%2Abrowseby%3D8%2Asortby%3D6%2Amedia%3D3%2Ace_id%3D2934%2Aot_id%3D115576%2Amarker%3D6766%2Afeatured%3D20138" TargetMode="External"/><Relationship Id="rId3" Type="http://schemas.openxmlformats.org/officeDocument/2006/relationships/slide" Target="slide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0/hyungwoo.cho.phase.i.ii.study.of.zanubrutinib.in.combination.with.rituximab.html?f=menu%3D6%2Abrowseby%3D8%2Asortby%3D6%2Amedia%3D3%2Ace_id%3D2934%2Aot_id%3D115576%2Amarker%3D6766%2Afeatured%3D20138" TargetMode="External"/><Relationship Id="rId3" Type="http://schemas.openxmlformats.org/officeDocument/2006/relationships/slide" Target="slide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0/hyungwoo.cho.phase.i.ii.study.of.zanubrutinib.in.combination.with.rituximab.html?f=menu%3D6%2Abrowseby%3D8%2Asortby%3D6%2Amedia%3D3%2Ace_id%3D2934%2Aot_id%3D115576%2Amarker%3D6766%2Afeatured%3D20138" TargetMode="External"/><Relationship Id="rId3" Type="http://schemas.openxmlformats.org/officeDocument/2006/relationships/slide" Target="slide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2/chunmei.yang.zanubrutinib.plus.r-chop.as.frontline.therapy.for.myd88l265p.html?f=menu%3D6%2Abrowseby%3D8%2Asortby%3D6%2Amedia%3D3%2Ace_id%3D2934%2Aot_id%3D115576%2Amarker%3D6766%2Afeatured%3D20138" TargetMode="External"/><Relationship Id="rId3" Type="http://schemas.openxmlformats.org/officeDocument/2006/relationships/slide" Target="slide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2/chunmei.yang.zanubrutinib.plus.r-chop.as.frontline.therapy.for.myd88l265p.html?f=menu%3D6%2Abrowseby%3D8%2Asortby%3D6%2Amedia%3D3%2Ace_id%3D2934%2Aot_id%3D115576%2Amarker%3D6766%2Afeatured%3D20138" TargetMode="External"/><Relationship Id="rId3" Type="http://schemas.openxmlformats.org/officeDocument/2006/relationships/slide" Target="slide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2/chunmei.yang.zanubrutinib.plus.r-chop.as.frontline.therapy.for.myd88l265p.html?f=menu%3D6%2Abrowseby%3D8%2Asortby%3D6%2Amedia%3D3%2Ace_id%3D2934%2Aot_id%3D115576%2Amarker%3D6766%2Afeatured%3D20138" TargetMode="External"/><Relationship Id="rId3" Type="http://schemas.openxmlformats.org/officeDocument/2006/relationships/slide" Target="slide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6/jie.wang.zanubrutinib.plus.r-chop.28zr-chop29.in.non-germinal.center.b-cell-like.html?f=menu%3D6%2Abrowseby%3D8%2Asortby%3D6%2Amedia%3D3%2Ace_id%3D2934%2Aot_id%3D115576%2Amarker%3D6766%2Afeatured%3D20138" TargetMode="External"/><Relationship Id="rId3" Type="http://schemas.openxmlformats.org/officeDocument/2006/relationships/slide" Target="slide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6/jie.wang.zanubrutinib.plus.r-chop.28zr-chop29.in.non-germinal.center.b-cell-like.html?f=menu%3D6%2Abrowseby%3D8%2Asortby%3D6%2Amedia%3D3%2Ace_id%3D2934%2Aot_id%3D115576%2Amarker%3D6766%2Afeatured%3D20138" TargetMode="External"/><Relationship Id="rId3" Type="http://schemas.openxmlformats.org/officeDocument/2006/relationships/slide" Target="slide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13/sirpa.lepp.molecular.surveillance.of.aggressive.large.b-cell.lymphoma.using.html?f=menu%3D6%2Abrowseby%3D8%2Asortby%3D6%2Amedia%3D3%2Ace_id%3D2934%2Aot_id%3D115576%2Amarker%3D6765%2Afeatured%3D20138" TargetMode="External"/><Relationship Id="rId3" Type="http://schemas.openxmlformats.org/officeDocument/2006/relationships/slide" Target="slide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13/sirpa.lepp.molecular.surveillance.of.aggressive.large.b-cell.lymphoma.using.html?f=menu%3D6%2Abrowseby%3D8%2Asortby%3D6%2Amedia%3D3%2Ace_id%3D2934%2Aot_id%3D115576%2Amarker%3D6765%2Afeatured%3D20138" TargetMode="External"/><Relationship Id="rId3" Type="http://schemas.openxmlformats.org/officeDocument/2006/relationships/slide" Target="slide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58/li.li.peripheral.circulating.immune.cell.subsets.prognostic.value.and.html?f=menu%3D6%2Abrowseby%3D8%2Asortby%3D6%2Amedia%3D3%2Ace_id%3D2934%2Aot_id%3D115595%2Amarker%3D6766%2Afeatured%3D20138" TargetMode="External"/><Relationship Id="rId3" Type="http://schemas.openxmlformats.org/officeDocument/2006/relationships/slide" Target="slide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58/li.li.peripheral.circulating.immune.cell.subsets.prognostic.value.and.html?f=menu%3D6%2Abrowseby%3D8%2Asortby%3D6%2Amedia%3D3%2Ace_id%3D2934%2Aot_id%3D115595%2Amarker%3D6766%2Afeatured%3D20138" TargetMode="External"/><Relationship Id="rId3" Type="http://schemas.openxmlformats.org/officeDocument/2006/relationships/slide" Target="slide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41/seok.jin.kim.cd20-positive.extracellular.vesicles.act.as.antigen.decoys.and.html?f=menu%3D6%2Abrowseby%3D8%2Asortby%3D6%2Amedia%3D3%2Ace_id%3D2934%2Aot_id%3D115595%2Amarker%3D6766%2Afeatured%3D20138" TargetMode="External"/><Relationship Id="rId3" Type="http://schemas.openxmlformats.org/officeDocument/2006/relationships/slide" Target="slide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41/seok.jin.kim.cd20-positive.extracellular.vesicles.act.as.antigen.decoys.and.html?f=menu%3D6%2Abrowseby%3D8%2Asortby%3D6%2Amedia%3D3%2Ace_id%3D2934%2Aot_id%3D115595%2Amarker%3D6766%2Afeatured%3D20138" TargetMode="External"/><Relationship Id="rId3" Type="http://schemas.openxmlformats.org/officeDocument/2006/relationships/slide" Target="slide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6/na.yao.contiguous.spread.not.hematogenous.dissemination.rethinking.cns.risk.html?f=menu%3D6%2Abrowseby%3D8%2Asortby%3D6%2Amedia%3D3%2Ace_id%3D2934%2Aot_id%3D115576%2Amarker%3D6766%2Afeatured%3D20138" TargetMode="External"/><Relationship Id="rId3" Type="http://schemas.openxmlformats.org/officeDocument/2006/relationships/slide" Target="slide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6/na.yao.contiguous.spread.not.hematogenous.dissemination.rethinking.cns.risk.html?f=menu%3D6%2Abrowseby%3D8%2Asortby%3D6%2Amedia%3D3%2Ace_id%3D2934%2Aot_id%3D115576%2Amarker%3D6766%2Afeatured%3D20138" TargetMode="External"/><Relationship Id="rId3" Type="http://schemas.openxmlformats.org/officeDocument/2006/relationships/slide" Target="slide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0/andreas-epameinondas.koumpis.serum.mir-155-3p.mir-142-3p.and.mir-22-3p.as.html?f=menu%3D6%2Abrowseby%3D8%2Asortby%3D6%2Amedia%3D3%2Ace_id%3D2934%2Aot_id%3D115576%2Amarker%3D6766%2Afeatured%3D20138" TargetMode="External"/><Relationship Id="rId3" Type="http://schemas.openxmlformats.org/officeDocument/2006/relationships/slide" Target="slide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0/andreas-epameinondas.koumpis.serum.mir-155-3p.mir-142-3p.and.mir-22-3p.as.html?f=menu%3D6%2Abrowseby%3D8%2Asortby%3D6%2Amedia%3D3%2Ace_id%3D2934%2Aot_id%3D115576%2Amarker%3D6766%2Afeatured%3D20138" TargetMode="External"/><Relationship Id="rId3" Type="http://schemas.openxmlformats.org/officeDocument/2006/relationships/slide" Target="slide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0/andreas-epameinondas.koumpis.serum.mir-155-3p.mir-142-3p.and.mir-22-3p.as.html?f=menu%3D6%2Abrowseby%3D8%2Asortby%3D6%2Amedia%3D3%2Ace_id%3D2934%2Aot_id%3D115576%2Amarker%3D6766%2Afeatured%3D20138" TargetMode="External"/><Relationship Id="rId3" Type="http://schemas.openxmlformats.org/officeDocument/2006/relationships/slide" Target="slide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4/qingqing.cai.first-line.selinexor.in.combination.with.r-chop.for.ebv-positive.html?f=menu%3D6%2Abrowseby%3D8%2Asortby%3D6%2Amedia%3D3%2Ace_id%3D2934%2Aot_id%3D115576%2Amarker%3D6766%2Afeatured%3D20138" TargetMode="External"/><Relationship Id="rId3" Type="http://schemas.openxmlformats.org/officeDocument/2006/relationships/slide" Target="slide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4/qingqing.cai.first-line.selinexor.in.combination.with.r-chop.for.ebv-positive.html?f=menu%3D6%2Abrowseby%3D8%2Asortby%3D6%2Amedia%3D3%2Ace_id%3D2934%2Aot_id%3D115576%2Amarker%3D6766%2Afeatured%3D20138" TargetMode="External"/><Relationship Id="rId3" Type="http://schemas.openxmlformats.org/officeDocument/2006/relationships/slide" Target="slide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6/zhiming.li.selinexor.in.combination.with.the.r-chop.regimen.as.a.first-line.html?f=menu%3D6%2Abrowseby%3D8%2Asortby%3D6%2Amedia%3D3%2Ace_id%3D2934%2Aot_id%3D115576%2Amarker%3D6766%2Afeatured%3D20138" TargetMode="External"/><Relationship Id="rId3" Type="http://schemas.openxmlformats.org/officeDocument/2006/relationships/slide" Target="slide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6/zhiming.li.selinexor.in.combination.with.the.r-chop.regimen.as.a.first-line.html?f=menu%3D6%2Abrowseby%3D8%2Asortby%3D6%2Amedia%3D3%2Ace_id%3D2934%2Aot_id%3D115576%2Amarker%3D6766%2Afeatured%3D20138" TargetMode="External"/><Relationship Id="rId3" Type="http://schemas.openxmlformats.org/officeDocument/2006/relationships/slide" Target="slide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6/zhiming.li.selinexor.in.combination.with.the.r-chop.regimen.as.a.first-line.html?f=menu%3D6%2Abrowseby%3D8%2Asortby%3D6%2Amedia%3D3%2Ace_id%3D2934%2Aot_id%3D115576%2Amarker%3D6766%2Afeatured%3D20138" TargetMode="External"/><Relationship Id="rId3" Type="http://schemas.openxmlformats.org/officeDocument/2006/relationships/slide" Target="slide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6/zhiming.li.selinexor.in.combination.with.the.r-chop.regimen.as.a.first-line.html?f=menu%3D6%2Abrowseby%3D8%2Asortby%3D6%2Amedia%3D3%2Ace_id%3D2934%2Aot_id%3D115576%2Amarker%3D6766%2Afeatured%3D20138" TargetMode="External"/><Relationship Id="rId3" Type="http://schemas.openxmlformats.org/officeDocument/2006/relationships/slide" Target="slide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3/jinhua.liang.profiling.the.csf-ctdna.mutational.landscape.in.a.largecohort.html?f=menu%3D6%2Abrowseby%3D8%2Asortby%3D6%2Amedia%3D3%2Ace_id%3D2934%2Aot_id%3D115576%2Amarker%3D6766%2Afeatured%3D20138" TargetMode="External"/><Relationship Id="rId3" Type="http://schemas.openxmlformats.org/officeDocument/2006/relationships/slide" Target="slide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3/jinhua.liang.profiling.the.csf-ctdna.mutational.landscape.in.a.largecohort.html?f=menu%3D6%2Abrowseby%3D8%2Asortby%3D6%2Amedia%3D3%2Ace_id%3D2934%2Aot_id%3D115576%2Amarker%3D6766%2Afeatured%3D20138" TargetMode="External"/><Relationship Id="rId3" Type="http://schemas.openxmlformats.org/officeDocument/2006/relationships/slide" Target="slide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3/jinhua.liang.profiling.the.csf-ctdna.mutational.landscape.in.a.largecohort.html?f=menu%3D6%2Abrowseby%3D8%2Asortby%3D6%2Amedia%3D3%2Ace_id%3D2934%2Aot_id%3D115576%2Amarker%3D6766%2Afeatured%3D20138" TargetMode="External"/><Relationship Id="rId3" Type="http://schemas.openxmlformats.org/officeDocument/2006/relationships/slide" Target="slide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3/jinhua.liang.profiling.the.csf-ctdna.mutational.landscape.in.a.largecohort.html?f=menu%3D6%2Abrowseby%3D8%2Asortby%3D6%2Amedia%3D3%2Ace_id%3D2934%2Aot_id%3D115576%2Amarker%3D6766%2Afeatured%3D20138" TargetMode="External"/><Relationship Id="rId3" Type="http://schemas.openxmlformats.org/officeDocument/2006/relationships/slide" Target="slide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3/jinhua.liang.profiling.the.csf-ctdna.mutational.landscape.in.a.largecohort.html?f=menu%3D6%2Abrowseby%3D8%2Asortby%3D6%2Amedia%3D3%2Ace_id%3D2934%2Aot_id%3D115576%2Amarker%3D6766%2Afeatured%3D20138" TargetMode="External"/><Relationship Id="rId3" Type="http://schemas.openxmlformats.org/officeDocument/2006/relationships/slide" Target="slide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13/jinhua.liang.profiling.the.csf-ctdna.mutational.landscape.in.a.largecohort.html?f=menu%3D6%2Abrowseby%3D8%2Asortby%3D6%2Amedia%3D3%2Ace_id%3D2934%2Aot_id%3D115576%2Amarker%3D6766%2Afeatured%3D20138" TargetMode="External"/><Relationship Id="rId3" Type="http://schemas.openxmlformats.org/officeDocument/2006/relationships/slide" Target="slide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1/gerhard.held.r-gemox2Bnivolumab.vs.r-gemox.as.2nd-line.therapy.for.large.b-cell.html?f=menu%3D6%2Abrowseby%3D8%2Asortby%3D6%2Amedia%3D3%2Ace_id%3D2934%2Aot_id%3D115576%2Amarker%3D6766%2Afeatured%3D20138" TargetMode="External"/><Relationship Id="rId3" Type="http://schemas.openxmlformats.org/officeDocument/2006/relationships/slide" Target="slide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1/gerhard.held.r-gemox2Bnivolumab.vs.r-gemox.as.2nd-line.therapy.for.large.b-cell.html?f=menu%3D6%2Abrowseby%3D8%2Asortby%3D6%2Amedia%3D3%2Ace_id%3D2934%2Aot_id%3D115576%2Amarker%3D6766%2Afeatured%3D20138" TargetMode="External"/><Relationship Id="rId3" Type="http://schemas.openxmlformats.org/officeDocument/2006/relationships/slide" Target="slide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1/gerhard.held.r-gemox2Bnivolumab.vs.r-gemox.as.2nd-line.therapy.for.large.b-cell.html?f=menu%3D6%2Abrowseby%3D8%2Asortby%3D6%2Amedia%3D3%2Ace_id%3D2934%2Aot_id%3D115576%2Amarker%3D6766%2Afeatured%3D20138" TargetMode="External"/><Relationship Id="rId3" Type="http://schemas.openxmlformats.org/officeDocument/2006/relationships/slide" Target="slide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9/pengpeng.xu.large-scale.real-world.clinical.characteristics.and.efficacy.of.html?f=menu%3D6%2Abrowseby%3D8%2Asortby%3D6%2Amedia%3D3%2Ace_id%3D2934%2Aot_id%3D115576%2Amarker%3D6766%2Afeatured%3D20138" TargetMode="External"/><Relationship Id="rId3" Type="http://schemas.openxmlformats.org/officeDocument/2006/relationships/slide" Target="slide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9/pengpeng.xu.large-scale.real-world.clinical.characteristics.and.efficacy.of.html?f=menu%3D6%2Abrowseby%3D8%2Asortby%3D6%2Amedia%3D3%2Ace_id%3D2934%2Aot_id%3D115576%2Amarker%3D6766%2Afeatured%3D20138" TargetMode="External"/><Relationship Id="rId3" Type="http://schemas.openxmlformats.org/officeDocument/2006/relationships/slide" Target="slide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03/matthew.r.wilson.high-dose.methotrexate.does.not.reduce.risk.of.cns.relapse.in.html?f=menu%3D6%2Abrowseby%3D8%2Asortby%3D6%2Amedia%3D3%2Ace_id%3D2934%2Aot_id%3D115576%2Amarker%3D6765%2Afeatured%3D20138" TargetMode="External"/><Relationship Id="rId3" Type="http://schemas.openxmlformats.org/officeDocument/2006/relationships/slide" Target="slide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03/matthew.r.wilson.high-dose.methotrexate.does.not.reduce.risk.of.cns.relapse.in.html?f=menu%3D6%2Abrowseby%3D8%2Asortby%3D6%2Amedia%3D3%2Ace_id%3D2934%2Aot_id%3D115576%2Amarker%3D6765%2Afeatured%3D20138" TargetMode="External"/><Relationship Id="rId3" Type="http://schemas.openxmlformats.org/officeDocument/2006/relationships/slide" Target="slide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9085/zahra.haider.evaluating.the.diagnostic.potential.of.comprehensive.plasma.ctdna.html?f=menu%3D6%2Abrowseby%3D8%2Asortby%3D6%2Amedia%3D3%2Ace_id%3D2934%2Aot_id%3D115612%2Amarker%3D6766%2Afeatured%3D20138" TargetMode="External"/><Relationship Id="rId3" Type="http://schemas.openxmlformats.org/officeDocument/2006/relationships/slide" Target="slide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9085/zahra.haider.evaluating.the.diagnostic.potential.of.comprehensive.plasma.ctdna.html?f=menu%3D6%2Abrowseby%3D8%2Asortby%3D6%2Amedia%3D3%2Ace_id%3D2934%2Aot_id%3D115612%2Amarker%3D6766%2Afeatured%3D20138" TargetMode="External"/><Relationship Id="rId3" Type="http://schemas.openxmlformats.org/officeDocument/2006/relationships/slide" Target="slide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9085/zahra.haider.evaluating.the.diagnostic.potential.of.comprehensive.plasma.ctdna.html?f=menu%3D6%2Abrowseby%3D8%2Asortby%3D6%2Amedia%3D3%2Ace_id%3D2934%2Aot_id%3D115612%2Amarker%3D6766%2Afeatured%3D20138" TargetMode="External"/><Relationship Id="rId3" Type="http://schemas.openxmlformats.org/officeDocument/2006/relationships/slide" Target="slide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9085/zahra.haider.evaluating.the.diagnostic.potential.of.comprehensive.plasma.ctdna.html?f=menu%3D6%2Abrowseby%3D8%2Asortby%3D6%2Amedia%3D3%2Ace_id%3D2934%2Aot_id%3D115612%2Amarker%3D6766%2Afeatured%3D20138" TargetMode="External"/><Relationship Id="rId3" Type="http://schemas.openxmlformats.org/officeDocument/2006/relationships/slide" Target="slide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30/sven.borchmann.ctdna.sequencing.reveals.mutational.signatures.with.prognostic.html?f=menu%3D6%2Abrowseby%3D8%2Asortby%3D6%2Amedia%3D3%2Ace_id%3D2934%2Aot_id%3D115595%2Amarker%3D6766%2Afeatured%3D20138" TargetMode="External"/><Relationship Id="rId3" Type="http://schemas.openxmlformats.org/officeDocument/2006/relationships/slide" Target="slide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30/sven.borchmann.ctdna.sequencing.reveals.mutational.signatures.with.prognostic.html?f=menu%3D6%2Abrowseby%3D8%2Asortby%3D6%2Amedia%3D3%2Ace_id%3D2934%2Aot_id%3D115595%2Amarker%3D6766%2Afeatured%3D20138" TargetMode="External"/><Relationship Id="rId3" Type="http://schemas.openxmlformats.org/officeDocument/2006/relationships/slide" Target="slide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30/sven.borchmann.ctdna.sequencing.reveals.mutational.signatures.with.prognostic.html?f=menu%3D6%2Abrowseby%3D8%2Asortby%3D6%2Amedia%3D3%2Ace_id%3D2934%2Aot_id%3D115595%2Amarker%3D6766%2Afeatured%3D20138" TargetMode="External"/><Relationship Id="rId3" Type="http://schemas.openxmlformats.org/officeDocument/2006/relationships/slide" Target="slide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3/jinghan.wang.plasma.copper.as.prognostic.biomarker.in.diffuse.large.b-cell.html?f=menu%3D6%2Abrowseby%3D8%2Asortby%3D6%2Amedia%3D3%2Ace_id%3D2934%2Aot_id%3D115576%2Amarker%3D6766%2Afeatured%3D20138" TargetMode="External"/><Relationship Id="rId3" Type="http://schemas.openxmlformats.org/officeDocument/2006/relationships/slide" Target="slide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3/jinghan.wang.plasma.copper.as.prognostic.biomarker.in.diffuse.large.b-cell.html?f=menu%3D6%2Abrowseby%3D8%2Asortby%3D6%2Amedia%3D3%2Ace_id%3D2934%2Aot_id%3D115576%2Amarker%3D6766%2Afeatured%3D20138" TargetMode="External"/><Relationship Id="rId3" Type="http://schemas.openxmlformats.org/officeDocument/2006/relationships/slide" Target="slide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2/massimiliano.marinoni.age-independent.outcomes.and.competing.risk.dynamics.in.html?f=menu%3D6%2Abrowseby%3D8%2Asortby%3D6%2Amedia%3D3%2Ace_id%3D2934%2Aot_id%3D115576%2Amarker%3D6766%2Afeatured%3D20138" TargetMode="External"/><Relationship Id="rId3" Type="http://schemas.openxmlformats.org/officeDocument/2006/relationships/slide" Target="slide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2/massimiliano.marinoni.age-independent.outcomes.and.competing.risk.dynamics.in.html?f=menu%3D6%2Abrowseby%3D8%2Asortby%3D6%2Amedia%3D3%2Ace_id%3D2934%2Aot_id%3D115576%2Amarker%3D6766%2Afeatured%3D20138" TargetMode="External"/><Relationship Id="rId3" Type="http://schemas.openxmlformats.org/officeDocument/2006/relationships/slide" Target="slide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0/amos.bonsdorff.dynamic.changes.in.mononucleosomal.cfdna.profiles.identify.html?f=menu%3D6%2Abrowseby%3D8%2Asortby%3D6%2Amedia%3D3%2Ace_id%3D2934%2Aot_id%3D115576%2Amarker%3D6766%2Afeatured%3D20138" TargetMode="External"/><Relationship Id="rId3" Type="http://schemas.openxmlformats.org/officeDocument/2006/relationships/slide" Target="slide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0/amos.bonsdorff.dynamic.changes.in.mononucleosomal.cfdna.profiles.identify.html?f=menu%3D6%2Abrowseby%3D8%2Asortby%3D6%2Amedia%3D3%2Ace_id%3D2934%2Aot_id%3D115576%2Amarker%3D6766%2Afeatured%3D20138" TargetMode="External"/><Relationship Id="rId3" Type="http://schemas.openxmlformats.org/officeDocument/2006/relationships/slide" Target="slide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0/amos.bonsdorff.dynamic.changes.in.mononucleosomal.cfdna.profiles.identify.html?f=menu%3D6%2Abrowseby%3D8%2Asortby%3D6%2Amedia%3D3%2Ace_id%3D2934%2Aot_id%3D115576%2Amarker%3D6766%2Afeatured%3D20138" TargetMode="External"/><Relationship Id="rId3" Type="http://schemas.openxmlformats.org/officeDocument/2006/relationships/slide" Target="slide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9/salvatrice.mancuso.nutritional.parameters.as.prognostic.markers.in.older.html?f=menu%3D6%2Abrowseby%3D8%2Asortby%3D6%2Amedia%3D3%2Ace_id%3D2934%2Aot_id%3D115576%2Amarker%3D6766%2Afeatured%3D20138" TargetMode="External"/><Relationship Id="rId3" Type="http://schemas.openxmlformats.org/officeDocument/2006/relationships/slide" Target="slide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9/salvatrice.mancuso.nutritional.parameters.as.prognostic.markers.in.older.html?f=menu%3D6%2Abrowseby%3D8%2Asortby%3D6%2Amedia%3D3%2Ace_id%3D2934%2Aot_id%3D115576%2Amarker%3D6766%2Afeatured%3D20138" TargetMode="External"/><Relationship Id="rId3" Type="http://schemas.openxmlformats.org/officeDocument/2006/relationships/slide" Target="slide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9/salvatrice.mancuso.nutritional.parameters.as.prognostic.markers.in.older.html?f=menu%3D6%2Abrowseby%3D8%2Asortby%3D6%2Amedia%3D3%2Ace_id%3D2934%2Aot_id%3D115576%2Amarker%3D6766%2Afeatured%3D20138" TargetMode="External"/><Relationship Id="rId3" Type="http://schemas.openxmlformats.org/officeDocument/2006/relationships/slide" Target="slide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9/salvatrice.mancuso.nutritional.parameters.as.prognostic.markers.in.older.html?f=menu%3D6%2Abrowseby%3D8%2Asortby%3D6%2Amedia%3D3%2Ace_id%3D2934%2Aot_id%3D115576%2Amarker%3D6766%2Afeatured%3D20138" TargetMode="External"/><Relationship Id="rId3" Type="http://schemas.openxmlformats.org/officeDocument/2006/relationships/slide" Target="slide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9/salvatrice.mancuso.nutritional.parameters.as.prognostic.markers.in.older.html?f=menu%3D6%2Abrowseby%3D8%2Asortby%3D6%2Amedia%3D3%2Ace_id%3D2934%2Aot_id%3D115576%2Amarker%3D6766%2Afeatured%3D20138" TargetMode="External"/><Relationship Id="rId3" Type="http://schemas.openxmlformats.org/officeDocument/2006/relationships/slide" Target="slide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002/zhengchang.he.earlier.emergence.of.proliferative.cd82B.t.cells.is.associated.html?f=menu%3D6%2Abrowseby%3D8%2Asortby%3D6%2Amedia%3D3%2Ace_id%3D2934%2Aot_id%3D115597%2Amarker%3D6766%2Afeatured%3D20138" TargetMode="External"/><Relationship Id="rId3" Type="http://schemas.openxmlformats.org/officeDocument/2006/relationships/slide" Target="slide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002/zhengchang.he.earlier.emergence.of.proliferative.cd82B.t.cells.is.associated.html?f=menu%3D6%2Abrowseby%3D8%2Asortby%3D6%2Amedia%3D3%2Ace_id%3D2934%2Aot_id%3D115597%2Amarker%3D6766%2Afeatured%3D20138" TargetMode="External"/><Relationship Id="rId3" Type="http://schemas.openxmlformats.org/officeDocument/2006/relationships/slide" Target="slide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95/luca.varga.phased.variants.reveal.proto-oncogene.promoter.hypermutation.and.html?f=menu%3D6%2Abrowseby%3D8%2Asortby%3D6%2Amedia%3D3%2Ace_id%3D2934%2Aot_id%3D115595%2Amarker%3D6766%2Afeatured%3D20138" TargetMode="External"/><Relationship Id="rId3" Type="http://schemas.openxmlformats.org/officeDocument/2006/relationships/slide" Target="slide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95/luca.varga.phased.variants.reveal.proto-oncogene.promoter.hypermutation.and.html?f=menu%3D6%2Abrowseby%3D8%2Asortby%3D6%2Amedia%3D3%2Ace_id%3D2934%2Aot_id%3D115595%2Amarker%3D6766%2Afeatured%3D20138" TargetMode="External"/><Relationship Id="rId3" Type="http://schemas.openxmlformats.org/officeDocument/2006/relationships/slide" Target="slide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78/rebecca.goodhew.pretreatment.ctdna-based.risk.prediction.in.dlbcl.html?f=menu%3D6%2Abrowseby%3D8%2Asortby%3D6%2Amedia%3D3%2Ace_id%3D2934%2Aot_id%3D115595%2Amarker%3D6766%2Afeatured%3D20138" TargetMode="External"/><Relationship Id="rId3" Type="http://schemas.openxmlformats.org/officeDocument/2006/relationships/slide" Target="slide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78/rebecca.goodhew.pretreatment.ctdna-based.risk.prediction.in.dlbcl.html?f=menu%3D6%2Abrowseby%3D8%2Asortby%3D6%2Amedia%3D3%2Ace_id%3D2934%2Aot_id%3D115595%2Amarker%3D6766%2Afeatured%3D20138" TargetMode="External"/><Relationship Id="rId3" Type="http://schemas.openxmlformats.org/officeDocument/2006/relationships/slide" Target="slide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78/rebecca.goodhew.pretreatment.ctdna-based.risk.prediction.in.dlbcl.html?f=menu%3D6%2Abrowseby%3D8%2Asortby%3D6%2Amedia%3D3%2Ace_id%3D2934%2Aot_id%3D115595%2Amarker%3D6766%2Afeatured%3D20138" TargetMode="External"/><Relationship Id="rId3" Type="http://schemas.openxmlformats.org/officeDocument/2006/relationships/slide" Target="slide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78/rebecca.goodhew.pretreatment.ctdna-based.risk.prediction.in.dlbcl.html?f=menu%3D6%2Abrowseby%3D8%2Asortby%3D6%2Amedia%3D3%2Ace_id%3D2934%2Aot_id%3D115595%2Amarker%3D6766%2Afeatured%3D20138" TargetMode="External"/><Relationship Id="rId3" Type="http://schemas.openxmlformats.org/officeDocument/2006/relationships/slide" Target="slide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78/rebecca.goodhew.pretreatment.ctdna-based.risk.prediction.in.dlbcl.html?f=menu%3D6%2Abrowseby%3D8%2Asortby%3D6%2Amedia%3D3%2Ace_id%3D2934%2Aot_id%3D115595%2Amarker%3D6766%2Afeatured%3D20138" TargetMode="External"/><Relationship Id="rId3" Type="http://schemas.openxmlformats.org/officeDocument/2006/relationships/slide" Target="slide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78/rebecca.goodhew.pretreatment.ctdna-based.risk.prediction.in.dlbcl.html?f=menu%3D6%2Abrowseby%3D8%2Asortby%3D6%2Amedia%3D3%2Ace_id%3D2934%2Aot_id%3D115595%2Amarker%3D6766%2Afeatured%3D20138" TargetMode="External"/><Relationship Id="rId3" Type="http://schemas.openxmlformats.org/officeDocument/2006/relationships/slide" Target="slide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4/sai.huang.metagenomic.study.on.the.dynamic.changes.of.gut.html?f=menu%3D6%2Abrowseby%3D8%2Asortby%3D6%2Amedia%3D3%2Ace_id%3D2934%2Aot_id%3D115576%2Amarker%3D6766%2Afeatured%3D20138" TargetMode="External"/><Relationship Id="rId3" Type="http://schemas.openxmlformats.org/officeDocument/2006/relationships/slide" Target="slide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4/sai.huang.metagenomic.study.on.the.dynamic.changes.of.gut.html?f=menu%3D6%2Abrowseby%3D8%2Asortby%3D6%2Amedia%3D3%2Ace_id%3D2934%2Aot_id%3D115576%2Amarker%3D6766%2Afeatured%3D20138" TargetMode="External"/><Relationship Id="rId3" Type="http://schemas.openxmlformats.org/officeDocument/2006/relationships/slide" Target="slide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1/giulia.bassi.the.predic-to.study.an.international.real-world.cohort.study.of.html?f=menu%3D6%2Abrowseby%3D8%2Asortby%3D6%2Amedia%3D3%2Ace_id%3D2934%2Aot_id%3D115576%2Amarker%3D6766%2Afeatured%3D20138" TargetMode="External"/><Relationship Id="rId3" Type="http://schemas.openxmlformats.org/officeDocument/2006/relationships/slide" Target="slide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1/giulia.bassi.the.predic-to.study.an.international.real-world.cohort.study.of.html?f=menu%3D6%2Abrowseby%3D8%2Asortby%3D6%2Amedia%3D3%2Ace_id%3D2934%2Aot_id%3D115576%2Amarker%3D6766%2Afeatured%3D20138" TargetMode="External"/><Relationship Id="rId3" Type="http://schemas.openxmlformats.org/officeDocument/2006/relationships/slide" Target="slide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1/giulia.bassi.the.predic-to.study.an.international.real-world.cohort.study.of.html?f=menu%3D6%2Abrowseby%3D8%2Asortby%3D6%2Amedia%3D3%2Ace_id%3D2934%2Aot_id%3D115576%2Amarker%3D6766%2Afeatured%3D20138" TargetMode="External"/><Relationship Id="rId3" Type="http://schemas.openxmlformats.org/officeDocument/2006/relationships/slide" Target="slide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1/giulia.bassi.the.predic-to.study.an.international.real-world.cohort.study.of.html?f=menu%3D6%2Abrowseby%3D8%2Asortby%3D6%2Amedia%3D3%2Ace_id%3D2934%2Aot_id%3D115576%2Amarker%3D6766%2Afeatured%3D20138" TargetMode="External"/><Relationship Id="rId3" Type="http://schemas.openxmlformats.org/officeDocument/2006/relationships/slide" Target="slide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1/giulia.bassi.the.predic-to.study.an.international.real-world.cohort.study.of.html?f=menu%3D6%2Abrowseby%3D8%2Asortby%3D6%2Amedia%3D3%2Ace_id%3D2934%2Aot_id%3D115576%2Amarker%3D6766%2Afeatured%3D20138" TargetMode="External"/><Relationship Id="rId3" Type="http://schemas.openxmlformats.org/officeDocument/2006/relationships/slide" Target="slide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1/bertram.glass.polatuzumab.vedotin.plus.rituximab.ifosfamide.carboplatin.html?f=menu%3D6%2Abrowseby%3D8%2Asortby%3D6%2Amedia%3D3%2Ace_id%3D2934%2Aot_id%3D115576%2Amarker%3D6765%2Afeatured%3D20138" TargetMode="External"/><Relationship Id="rId3" Type="http://schemas.openxmlformats.org/officeDocument/2006/relationships/slide" Target="slide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1/bertram.glass.polatuzumab.vedotin.plus.rituximab.ifosfamide.carboplatin.html?f=menu%3D6%2Abrowseby%3D8%2Asortby%3D6%2Amedia%3D3%2Ace_id%3D2934%2Aot_id%3D115576%2Amarker%3D6765%2Afeatured%3D20138" TargetMode="External"/><Relationship Id="rId3" Type="http://schemas.openxmlformats.org/officeDocument/2006/relationships/slide" Target="slide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1/bertram.glass.polatuzumab.vedotin.plus.rituximab.ifosfamide.carboplatin.html?f=menu%3D6%2Abrowseby%3D8%2Asortby%3D6%2Amedia%3D3%2Ace_id%3D2934%2Aot_id%3D115576%2Amarker%3D6765%2Afeatured%3D20138" TargetMode="External"/><Relationship Id="rId3" Type="http://schemas.openxmlformats.org/officeDocument/2006/relationships/slide" Target="slide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5/catherine.thieblemont.sustained.remissions.beyond.4.years.with.epcoritamab.html?f=menu%3D6%2Abrowseby%3D8%2Asortby%3D6%2Amedia%3D3%2Ace_id%3D2934%2Aot_id%3D115576%2Amarker%3D6766%2Afeatured%3D20138" TargetMode="External"/><Relationship Id="rId3" Type="http://schemas.openxmlformats.org/officeDocument/2006/relationships/slide" Target="slide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5/catherine.thieblemont.sustained.remissions.beyond.4.years.with.epcoritamab.html?f=menu%3D6%2Abrowseby%3D8%2Asortby%3D6%2Amedia%3D3%2Ace_id%3D2934%2Aot_id%3D115576%2Amarker%3D6766%2Afeatured%3D20138" TargetMode="External"/><Relationship Id="rId3" Type="http://schemas.openxmlformats.org/officeDocument/2006/relationships/slide" Target="slide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0/sarah.m.larson.low-grade.crs.and.icans.with.rondecabtagene.autoleucel.a.html?f=menu%3D6%2Abrowseby%3D8%2Asortby%3D6%2Amedia%3D3%2Ace_id%3D2934%2Aot_id%3D115576%2Amarker%3D6766%2Afeatured%3D20138" TargetMode="External"/><Relationship Id="rId3" Type="http://schemas.openxmlformats.org/officeDocument/2006/relationships/slide" Target="slide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0/sarah.m.larson.low-grade.crs.and.icans.with.rondecabtagene.autoleucel.a.html?f=menu%3D6%2Abrowseby%3D8%2Asortby%3D6%2Amedia%3D3%2Ace_id%3D2934%2Aot_id%3D115576%2Amarker%3D6766%2Afeatured%3D20138" TargetMode="External"/><Relationship Id="rId3" Type="http://schemas.openxmlformats.org/officeDocument/2006/relationships/slide" Target="slide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36/sanfang.tu.a.prospective.single-arm.clinical.study.of.ctdna-guided.early.html?f=menu%3D6%2Abrowseby%3D8%2Asortby%3D6%2Amedia%3D3%2Ace_id%3D2934%2Aot_id%3D115601%2Amarker%3D6766%2Afeatured%3D20138" TargetMode="External"/><Relationship Id="rId3" Type="http://schemas.openxmlformats.org/officeDocument/2006/relationships/slide" Target="slide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36/sanfang.tu.a.prospective.single-arm.clinical.study.of.ctdna-guided.early.html?f=menu%3D6%2Abrowseby%3D8%2Asortby%3D6%2Amedia%3D3%2Ace_id%3D2934%2Aot_id%3D115601%2Amarker%3D6766%2Afeatured%3D20138" TargetMode="External"/><Relationship Id="rId3" Type="http://schemas.openxmlformats.org/officeDocument/2006/relationships/slide" Target="slide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86/akil.merchant.durable.responses.with.rondecabtagene.autoleucel.28dual-targeting.html?f=menu%3D6%2Abrowseby%3D8%2Asortby%3D6%2Amedia%3D3%2Ace_id%3D2934%2Aot_id%3D115595%2Amarker%3D6766%2Afeatured%3D20138" TargetMode="External"/><Relationship Id="rId3" Type="http://schemas.openxmlformats.org/officeDocument/2006/relationships/slide" Target="slide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86/akil.merchant.durable.responses.with.rondecabtagene.autoleucel.28dual-targeting.html?f=menu%3D6%2Abrowseby%3D8%2Asortby%3D6%2Amedia%3D3%2Ace_id%3D2934%2Aot_id%3D115595%2Amarker%3D6766%2Afeatured%3D20138" TargetMode="External"/><Relationship Id="rId3" Type="http://schemas.openxmlformats.org/officeDocument/2006/relationships/slide" Target="slide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23/loic.renaud.real-world.management.and.outcomes.of.pts.with.primary.mediastinal.html?f=menu%3D6%2Abrowseby%3D8%2Asortby%3D6%2Amedia%3D3%2Ace_id%3D2934%2Aot_id%3D115596%2Amarker%3D6766%2Afeatured%3D20138" TargetMode="External"/><Relationship Id="rId3" Type="http://schemas.openxmlformats.org/officeDocument/2006/relationships/slide" Target="slide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23/loic.renaud.real-world.management.and.outcomes.of.pts.with.primary.mediastinal.html?f=menu%3D6%2Abrowseby%3D8%2Asortby%3D6%2Amedia%3D3%2Ace_id%3D2934%2Aot_id%3D115596%2Amarker%3D6766%2Afeatured%3D20138" TargetMode="External"/><Relationship Id="rId3" Type="http://schemas.openxmlformats.org/officeDocument/2006/relationships/slide" Target="slide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29/andrs.jos.mara.ferreri.management.and.outcome.of.secondary.central.nervous.html?f=menu%3D6%2Abrowseby%3D8%2Asortby%3D6%2Amedia%3D3%2Ace_id%3D2934%2Aot_id%3D115596%2Amarker%3D6766%2Afeatured%3D20138" TargetMode="External"/><Relationship Id="rId3" Type="http://schemas.openxmlformats.org/officeDocument/2006/relationships/slide" Target="slide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29/andrs.jos.mara.ferreri.management.and.outcome.of.secondary.central.nervous.html?f=menu%3D6%2Abrowseby%3D8%2Asortby%3D6%2Amedia%3D3%2Ace_id%3D2934%2Aot_id%3D115596%2Amarker%3D6766%2Afeatured%3D20138" TargetMode="External"/><Relationship Id="rId3" Type="http://schemas.openxmlformats.org/officeDocument/2006/relationships/slide" Target="slide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572/alejandro.berkovits.pharmacokinetics.efficacy.and.safety.of.subcutaneous.html?f=menu%3D6%2Abrowseby%3D8%2Asortby%3D6%2Amedia%3D3%2Ace_id%3D2934%2Aot_id%3D115593%2Amarker%3D6766%2Afeatured%3D20138" TargetMode="External"/><Relationship Id="rId3" Type="http://schemas.openxmlformats.org/officeDocument/2006/relationships/slide" Target="slide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572/alejandro.berkovits.pharmacokinetics.efficacy.and.safety.of.subcutaneous.html?f=menu%3D6%2Abrowseby%3D8%2Asortby%3D6%2Amedia%3D3%2Ace_id%3D2934%2Aot_id%3D115593%2Amarker%3D6766%2Afeatured%3D20138" TargetMode="External"/><Relationship Id="rId3" Type="http://schemas.openxmlformats.org/officeDocument/2006/relationships/slide" Target="slide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572/alejandro.berkovits.pharmacokinetics.efficacy.and.safety.of.subcutaneous.html?f=menu%3D6%2Abrowseby%3D8%2Asortby%3D6%2Amedia%3D3%2Ace_id%3D2934%2Aot_id%3D115593%2Amarker%3D6766%2Afeatured%3D20138" TargetMode="External"/><Relationship Id="rId3" Type="http://schemas.openxmlformats.org/officeDocument/2006/relationships/slide" Target="slide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6/oguzhan.koca.development.and.external.validation.of.a.simple.prognostic.index.html?f=menu%3D6%2Abrowseby%3D8%2Asortby%3D6%2Amedia%3D3%2Ace_id%3D2934%2Aot_id%3D115576%2Amarker%3D6766%2Afeatured%3D20138" TargetMode="External"/><Relationship Id="rId3" Type="http://schemas.openxmlformats.org/officeDocument/2006/relationships/slide" Target="slide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6/oguzhan.koca.development.and.external.validation.of.a.simple.prognostic.index.html?f=menu%3D6%2Abrowseby%3D8%2Asortby%3D6%2Amedia%3D3%2Ace_id%3D2934%2Aot_id%3D115576%2Amarker%3D6766%2Afeatured%3D20138" TargetMode="External"/><Relationship Id="rId3" Type="http://schemas.openxmlformats.org/officeDocument/2006/relationships/slide" Target="slide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2/nathalie.johnson.feasibility.of.prospective.real-time.ctdna.monitoring.in.html?f=menu%3D6%2Abrowseby%3D8%2Asortby%3D6%2Amedia%3D3%2Ace_id%3D2934%2Aot_id%3D115576%2Amarker%3D6766%2Afeatured%3D20138" TargetMode="External"/><Relationship Id="rId3" Type="http://schemas.openxmlformats.org/officeDocument/2006/relationships/slide" Target="slide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2/nathalie.johnson.feasibility.of.prospective.real-time.ctdna.monitoring.in.html?f=menu%3D6%2Abrowseby%3D8%2Asortby%3D6%2Amedia%3D3%2Ace_id%3D2934%2Aot_id%3D115576%2Amarker%3D6766%2Afeatured%3D20138" TargetMode="External"/><Relationship Id="rId3" Type="http://schemas.openxmlformats.org/officeDocument/2006/relationships/slide" Target="slide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2/nathalie.johnson.feasibility.of.prospective.real-time.ctdna.monitoring.in.html?f=menu%3D6%2Abrowseby%3D8%2Asortby%3D6%2Amedia%3D3%2Ace_id%3D2934%2Aot_id%3D115576%2Amarker%3D6766%2Afeatured%3D20138" TargetMode="External"/><Relationship Id="rId3" Type="http://schemas.openxmlformats.org/officeDocument/2006/relationships/slide" Target="slide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9/mariana.bastos-oreiro.axicabtagene.ciloleucel.as.second-line.treatment.in.html?f=menu%3D6%2Abrowseby%3D8%2Asortby%3D6%2Amedia%3D3%2Ace_id%3D2934%2Aot_id%3D115576%2Amarker%3D6766%2Afeatured%3D20138" TargetMode="External"/><Relationship Id="rId3" Type="http://schemas.openxmlformats.org/officeDocument/2006/relationships/slide" Target="slide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9/mariana.bastos-oreiro.axicabtagene.ciloleucel.as.second-line.treatment.in.html?f=menu%3D6%2Abrowseby%3D8%2Asortby%3D6%2Amedia%3D3%2Ace_id%3D2934%2Aot_id%3D115576%2Amarker%3D6766%2Afeatured%3D20138" TargetMode="External"/><Relationship Id="rId3" Type="http://schemas.openxmlformats.org/officeDocument/2006/relationships/slide" Target="slide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9/mariana.bastos-oreiro.axicabtagene.ciloleucel.as.second-line.treatment.in.html?f=menu%3D6%2Abrowseby%3D8%2Asortby%3D6%2Amedia%3D3%2Ace_id%3D2934%2Aot_id%3D115576%2Amarker%3D6766%2Afeatured%3D20138" TargetMode="External"/><Relationship Id="rId3" Type="http://schemas.openxmlformats.org/officeDocument/2006/relationships/slide" Target="slide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9/mariana.bastos-oreiro.axicabtagene.ciloleucel.as.second-line.treatment.in.html?f=menu%3D6%2Abrowseby%3D8%2Asortby%3D6%2Amedia%3D3%2Ace_id%3D2934%2Aot_id%3D115576%2Amarker%3D6766%2Afeatured%3D20138" TargetMode="External"/><Relationship Id="rId3" Type="http://schemas.openxmlformats.org/officeDocument/2006/relationships/slide" Target="slide2.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9/mariana.bastos-oreiro.axicabtagene.ciloleucel.as.second-line.treatment.in.html?f=menu%3D6%2Abrowseby%3D8%2Asortby%3D6%2Amedia%3D3%2Ace_id%3D2934%2Aot_id%3D115576%2Amarker%3D6766%2Afeatured%3D20138" TargetMode="External"/><Relationship Id="rId3" Type="http://schemas.openxmlformats.org/officeDocument/2006/relationships/slide" Target="slide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13/akhil.khera.baseline.t-cell.repertoire.skewing.and.effector.cd8.t-cell.html?f=menu%3D6%2Abrowseby%3D8%2Asortby%3D6%2Amedia%3D3%2Ace_id%3D2934%2Aot_id%3D115600%2Amarker%3D6766%2Afeatured%3D20138" TargetMode="External"/><Relationship Id="rId3" Type="http://schemas.openxmlformats.org/officeDocument/2006/relationships/slide" Target="slide2.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13/akhil.khera.baseline.t-cell.repertoire.skewing.and.effector.cd8.t-cell.html?f=menu%3D6%2Abrowseby%3D8%2Asortby%3D6%2Amedia%3D3%2Ace_id%3D2934%2Aot_id%3D115600%2Amarker%3D6766%2Afeatured%3D20138" TargetMode="External"/><Relationship Id="rId3" Type="http://schemas.openxmlformats.org/officeDocument/2006/relationships/slide" Target="slide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7/vt.prochzka.the.phs.w-index.a.novel.prognostic.framework.integrating.html?f=menu%3D6%2Abrowseby%3D8%2Asortby%3D6%2Amedia%3D3%2Ace_id%3D2934%2Aot_id%3D115576%2Amarker%3D6766%2Afeatured%3D20138" TargetMode="External"/><Relationship Id="rId3" Type="http://schemas.openxmlformats.org/officeDocument/2006/relationships/slide" Target="slide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7/vt.prochzka.the.phs.w-index.a.novel.prognostic.framework.integrating.html?f=menu%3D6%2Abrowseby%3D8%2Asortby%3D6%2Amedia%3D3%2Ace_id%3D2934%2Aot_id%3D115576%2Amarker%3D6766%2Afeatured%3D20138" TargetMode="External"/><Relationship Id="rId3" Type="http://schemas.openxmlformats.org/officeDocument/2006/relationships/slide" Target="slide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2/james.paterson.real-world.efficacy.and.safety.of.polatuzumab.vedotin.with.html?f=menu%3D6%2Abrowseby%3D8%2Asortby%3D6%2Amedia%3D3%2Ace_id%3D2934%2Aot_id%3D115576%2Amarker%3D6766%2Afeatured%3D20138" TargetMode="External"/><Relationship Id="rId3" Type="http://schemas.openxmlformats.org/officeDocument/2006/relationships/slide" Target="slide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2/james.paterson.real-world.efficacy.and.safety.of.polatuzumab.vedotin.with.html?f=menu%3D6%2Abrowseby%3D8%2Asortby%3D6%2Amedia%3D3%2Ace_id%3D2934%2Aot_id%3D115576%2Amarker%3D6766%2Afeatured%3D20138" TargetMode="External"/><Relationship Id="rId3" Type="http://schemas.openxmlformats.org/officeDocument/2006/relationships/slide" Target="slide2.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2/james.paterson.real-world.efficacy.and.safety.of.polatuzumab.vedotin.with.html?f=menu%3D6%2Abrowseby%3D8%2Asortby%3D6%2Amedia%3D3%2Ace_id%3D2934%2Aot_id%3D115576%2Amarker%3D6766%2Afeatured%3D20138" TargetMode="External"/><Relationship Id="rId3" Type="http://schemas.openxmlformats.org/officeDocument/2006/relationships/slide" Target="slide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2/james.paterson.real-world.efficacy.and.safety.of.polatuzumab.vedotin.with.html?f=menu%3D6%2Abrowseby%3D8%2Asortby%3D6%2Amedia%3D3%2Ace_id%3D2934%2Aot_id%3D115576%2Amarker%3D6766%2Afeatured%3D20138" TargetMode="External"/><Relationship Id="rId3" Type="http://schemas.openxmlformats.org/officeDocument/2006/relationships/slide" Target="slide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2/james.paterson.real-world.efficacy.and.safety.of.polatuzumab.vedotin.with.html?f=menu%3D6%2Abrowseby%3D8%2Asortby%3D6%2Amedia%3D3%2Ace_id%3D2934%2Aot_id%3D115576%2Amarker%3D6766%2Afeatured%3D20138" TargetMode="External"/><Relationship Id="rId3" Type="http://schemas.openxmlformats.org/officeDocument/2006/relationships/slide" Target="slide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2/james.paterson.real-world.efficacy.and.safety.of.polatuzumab.vedotin.with.html?f=menu%3D6%2Abrowseby%3D8%2Asortby%3D6%2Amedia%3D3%2Ace_id%3D2934%2Aot_id%3D115576%2Amarker%3D6766%2Afeatured%3D20138" TargetMode="External"/><Relationship Id="rId3" Type="http://schemas.openxmlformats.org/officeDocument/2006/relationships/slide" Target="slide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5/marco.ladetto.primary.analysis.of.the.polatuzumab.vedotin.plus.r-chp.html?f=menu%3D6%2Abrowseby%3D8%2Asortby%3D6%2Amedia%3D3%2Ace_id%3D2934%2Aot_id%3D115576%2Amarker%3D6766%2Afeatured%3D20138" TargetMode="External"/><Relationship Id="rId3" Type="http://schemas.openxmlformats.org/officeDocument/2006/relationships/slide" Target="slide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5/marco.ladetto.primary.analysis.of.the.polatuzumab.vedotin.plus.r-chp.html?f=menu%3D6%2Abrowseby%3D8%2Asortby%3D6%2Amedia%3D3%2Ace_id%3D2934%2Aot_id%3D115576%2Amarker%3D6766%2Afeatured%3D20138" TargetMode="External"/><Relationship Id="rId3" Type="http://schemas.openxmlformats.org/officeDocument/2006/relationships/slide" Target="slide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201/stefan.deneberg.interim.results.of.the.phase.i.ii.study.investigating.html?f=menu%3D6%2Abrowseby%3D8%2Asortby%3D6%2Amedia%3D3%2Ace_id%3D2934%2Aot_id%3D115581%2Amarker%3D6766%2Afeatured%3D20138" TargetMode="External"/><Relationship Id="rId3" Type="http://schemas.openxmlformats.org/officeDocument/2006/relationships/slide" Target="slide2.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201/stefan.deneberg.interim.results.of.the.phase.i.ii.study.investigating.html?f=menu%3D6%2Abrowseby%3D8%2Asortby%3D6%2Amedia%3D3%2Ace_id%3D2934%2Aot_id%3D115581%2Amarker%3D6766%2Afeatured%3D20138" TargetMode="External"/><Relationship Id="rId3" Type="http://schemas.openxmlformats.org/officeDocument/2006/relationships/slide" Target="slide2.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0/mengyuan.liu.reevaluating.the.role.of.autologous.stem.cell.transplantation.in.html?f=menu%3D6%2Abrowseby%3D8%2Asortby%3D6%2Amedia%3D3%2Ace_id%3D2934%2Aot_id%3D115576%2Amarker%3D6766%2Afeatured%3D20138" TargetMode="External"/><Relationship Id="rId3" Type="http://schemas.openxmlformats.org/officeDocument/2006/relationships/slide" Target="slide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0/mengyuan.liu.reevaluating.the.role.of.autologous.stem.cell.transplantation.in.html?f=menu%3D6%2Abrowseby%3D8%2Asortby%3D6%2Amedia%3D3%2Ace_id%3D2934%2Aot_id%3D115576%2Amarker%3D6766%2Afeatured%3D20138" TargetMode="External"/><Relationship Id="rId3" Type="http://schemas.openxmlformats.org/officeDocument/2006/relationships/slide" Target="slide2.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11/josephus.van.rooij.diagnosing.primary.central.nervous.system.lymphoma.through.html?f=menu%3D6%2Abrowseby%3D8%2Asortby%3D6%2Amedia%3D3%2Ace_id%3D2934%2Aot_id%3D115576%2Amarker%3D6765%2Afeatured%3D20138" TargetMode="External"/><Relationship Id="rId3" Type="http://schemas.openxmlformats.org/officeDocument/2006/relationships/slide" Target="slide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11/josephus.van.rooij.diagnosing.primary.central.nervous.system.lymphoma.through.html?f=menu%3D6%2Abrowseby%3D8%2Asortby%3D6%2Amedia%3D3%2Ace_id%3D2934%2Aot_id%3D115576%2Amarker%3D6765%2Afeatured%3D20138" TargetMode="External"/><Relationship Id="rId3" Type="http://schemas.openxmlformats.org/officeDocument/2006/relationships/slide" Target="slide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1/fan.yang.postcar-t.relapse.in.cns-involved.lymphoma.treatment.patterns.and.html?f=menu%3D6%2Abrowseby%3D8%2Asortby%3D6%2Amedia%3D3%2Ace_id%3D2934%2Aot_id%3D115576%2Amarker%3D6766%2Afeatured%3D20138" TargetMode="External"/><Relationship Id="rId3" Type="http://schemas.openxmlformats.org/officeDocument/2006/relationships/slide" Target="slide2.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1/fan.yang.postcar-t.relapse.in.cns-involved.lymphoma.treatment.patterns.and.html?f=menu%3D6%2Abrowseby%3D8%2Asortby%3D6%2Amedia%3D3%2Ace_id%3D2934%2Aot_id%3D115576%2Amarker%3D6766%2Afeatured%3D20138" TargetMode="External"/><Relationship Id="rId3" Type="http://schemas.openxmlformats.org/officeDocument/2006/relationships/slide" Target="slide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29/andrs.jos.mara.ferreri.management.and.outcome.of.secondary.central.nervous.html?f=menu%3D6%2Abrowseby%3D8%2Asortby%3D6%2Amedia%3D3%2Ace_id%3D2934%2Aot_id%3D115596%2Amarker%3D6766%2Afeatured%3D20138" TargetMode="External"/><Relationship Id="rId3" Type="http://schemas.openxmlformats.org/officeDocument/2006/relationships/slide" Target="slide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29/andrs.jos.mara.ferreri.management.and.outcome.of.secondary.central.nervous.html?f=menu%3D6%2Abrowseby%3D8%2Asortby%3D6%2Amedia%3D3%2Ace_id%3D2934%2Aot_id%3D115596%2Amarker%3D6766%2Afeatured%3D20138" TargetMode="External"/><Relationship Id="rId3" Type="http://schemas.openxmlformats.org/officeDocument/2006/relationships/slide" Target="slide2.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38/donatella.talotta.genomic.determinants.of.response.and.resistance.to.html?f=menu%3D6%2Abrowseby%3D8%2Asortby%3D6%2Amedia%3D3%2Ace_id%3D2934%2Aot_id%3D115595%2Amarker%3D6766%2Afeatured%3D20138" TargetMode="External"/><Relationship Id="rId3" Type="http://schemas.openxmlformats.org/officeDocument/2006/relationships/slide" Target="slide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38/donatella.talotta.genomic.determinants.of.response.and.resistance.to.html?f=menu%3D6%2Abrowseby%3D8%2Asortby%3D6%2Amedia%3D3%2Ace_id%3D2934%2Aot_id%3D115595%2Amarker%3D6766%2Afeatured%3D20138" TargetMode="External"/><Relationship Id="rId3" Type="http://schemas.openxmlformats.org/officeDocument/2006/relationships/slide" Target="slide2.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38/donatella.talotta.genomic.determinants.of.response.and.resistance.to.html?f=menu%3D6%2Abrowseby%3D8%2Asortby%3D6%2Amedia%3D3%2Ace_id%3D2934%2Aot_id%3D115595%2Amarker%3D6766%2Afeatured%3D20138" TargetMode="External"/><Relationship Id="rId3" Type="http://schemas.openxmlformats.org/officeDocument/2006/relationships/slide" Target="slide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38/donatella.talotta.genomic.determinants.of.response.and.resistance.to.html?f=menu%3D6%2Abrowseby%3D8%2Asortby%3D6%2Amedia%3D3%2Ace_id%3D2934%2Aot_id%3D115595%2Amarker%3D6766%2Afeatured%3D20138" TargetMode="External"/><Relationship Id="rId3" Type="http://schemas.openxmlformats.org/officeDocument/2006/relationships/slide" Target="slide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02/liang-tsai.hsiao.real-world.durable.clinical.benefits.of.tirabrutinib.and.its.html?f=menu%3D6%2Abrowseby%3D8%2Asortby%3D6%2Amedia%3D3%2Ace_id%3D2934%2Aot_id%3D115596%2Amarker%3D6766%2Afeatured%3D20138" TargetMode="External"/><Relationship Id="rId3" Type="http://schemas.openxmlformats.org/officeDocument/2006/relationships/slide" Target="slide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02/liang-tsai.hsiao.real-world.durable.clinical.benefits.of.tirabrutinib.and.its.html?f=menu%3D6%2Abrowseby%3D8%2Asortby%3D6%2Amedia%3D3%2Ace_id%3D2934%2Aot_id%3D115596%2Amarker%3D6766%2Afeatured%3D20138" TargetMode="External"/><Relationship Id="rId3" Type="http://schemas.openxmlformats.org/officeDocument/2006/relationships/slide" Target="slide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02/liang-tsai.hsiao.real-world.durable.clinical.benefits.of.tirabrutinib.and.its.html?f=menu%3D6%2Abrowseby%3D8%2Asortby%3D6%2Amedia%3D3%2Ace_id%3D2934%2Aot_id%3D115596%2Amarker%3D6766%2Afeatured%3D20138" TargetMode="External"/><Relationship Id="rId3" Type="http://schemas.openxmlformats.org/officeDocument/2006/relationships/slide" Target="slide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02/liang-tsai.hsiao.real-world.durable.clinical.benefits.of.tirabrutinib.and.its.html?f=menu%3D6%2Abrowseby%3D8%2Asortby%3D6%2Amedia%3D3%2Ace_id%3D2934%2Aot_id%3D115596%2Amarker%3D6766%2Afeatured%3D20138" TargetMode="External"/><Relationship Id="rId3" Type="http://schemas.openxmlformats.org/officeDocument/2006/relationships/slide" Target="slide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02/liang-tsai.hsiao.real-world.durable.clinical.benefits.of.tirabrutinib.and.its.html?f=menu%3D6%2Abrowseby%3D8%2Asortby%3D6%2Amedia%3D3%2Ace_id%3D2934%2Aot_id%3D115596%2Amarker%3D6766%2Afeatured%3D20138" TargetMode="External"/><Relationship Id="rId3" Type="http://schemas.openxmlformats.org/officeDocument/2006/relationships/slide" Target="slide2.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81/yan.zhang.efficacy.and.safety.of.orelabrutinib.combined.with.sintilimab.in.html?f=menu%3D6%2Abrowseby%3D8%2Asortby%3D6%2Amedia%3D3%2Ace_id%3D2934%2Aot_id%3D115596%2Amarker%3D6766%2Afeatured%3D20138" TargetMode="External"/><Relationship Id="rId3" Type="http://schemas.openxmlformats.org/officeDocument/2006/relationships/slide" Target="slide2.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81/yan.zhang.efficacy.and.safety.of.orelabrutinib.combined.with.sintilimab.in.html?f=menu%3D6%2Abrowseby%3D8%2Asortby%3D6%2Amedia%3D3%2Ace_id%3D2934%2Aot_id%3D115596%2Amarker%3D6766%2Afeatured%3D20138" TargetMode="External"/><Relationship Id="rId3" Type="http://schemas.openxmlformats.org/officeDocument/2006/relationships/slide" Target="slide2.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81/yan.zhang.efficacy.and.safety.of.orelabrutinib.combined.with.sintilimab.in.html?f=menu%3D6%2Abrowseby%3D8%2Asortby%3D6%2Amedia%3D3%2Ace_id%3D2934%2Aot_id%3D115596%2Amarker%3D6766%2Afeatured%3D20138" TargetMode="External"/><Relationship Id="rId3" Type="http://schemas.openxmlformats.org/officeDocument/2006/relationships/slide" Target="slide2.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81/yan.zhang.efficacy.and.safety.of.orelabrutinib.combined.with.sintilimab.in.html?f=menu%3D6%2Abrowseby%3D8%2Asortby%3D6%2Amedia%3D3%2Ace_id%3D2934%2Aot_id%3D115596%2Amarker%3D6766%2Afeatured%3D20138" TargetMode="External"/><Relationship Id="rId3" Type="http://schemas.openxmlformats.org/officeDocument/2006/relationships/slide" Target="slide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1/lijuan.deng.orelabrutinib.in.patients.with.relapsed.or.refractory.primary.or.html?f=menu%3D6%2Abrowseby%3D8%2Asortby%3D6%2Amedia%3D3%2Ace_id%3D2934%2Aot_id%3D115576%2Amarker%3D6766%2Afeatured%3D20138" TargetMode="External"/><Relationship Id="rId3" Type="http://schemas.openxmlformats.org/officeDocument/2006/relationships/slide" Target="slide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1/lijuan.deng.orelabrutinib.in.patients.with.relapsed.or.refractory.primary.or.html?f=menu%3D6%2Abrowseby%3D8%2Asortby%3D6%2Amedia%3D3%2Ace_id%3D2934%2Aot_id%3D115576%2Amarker%3D6766%2Afeatured%3D20138" TargetMode="External"/><Relationship Id="rId3" Type="http://schemas.openxmlformats.org/officeDocument/2006/relationships/slide" Target="slide2.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9/chunmei.yang.orelabrutinib.rituximab.and.thiotepa.28ort29.in.combination.with.or.html?f=menu%3D6%2Abrowseby%3D8%2Asortby%3D6%2Amedia%3D3%2Ace_id%3D2934%2Aot_id%3D115576%2Amarker%3D6766%2Afeatured%3D20138" TargetMode="External"/><Relationship Id="rId3" Type="http://schemas.openxmlformats.org/officeDocument/2006/relationships/slide" Target="slide2.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9/chunmei.yang.orelabrutinib.rituximab.and.thiotepa.28ort29.in.combination.with.or.html?f=menu%3D6%2Abrowseby%3D8%2Asortby%3D6%2Amedia%3D3%2Ace_id%3D2934%2Aot_id%3D115576%2Amarker%3D6766%2Afeatured%3D20138" TargetMode="External"/><Relationship Id="rId3" Type="http://schemas.openxmlformats.org/officeDocument/2006/relationships/slide" Target="slide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9/chunmei.yang.orelabrutinib.rituximab.and.thiotepa.28ort29.in.combination.with.or.html?f=menu%3D6%2Abrowseby%3D8%2Asortby%3D6%2Amedia%3D3%2Ace_id%3D2934%2Aot_id%3D115576%2Amarker%3D6766%2Afeatured%3D20138" TargetMode="External"/><Relationship Id="rId3" Type="http://schemas.openxmlformats.org/officeDocument/2006/relationships/slide" Target="slide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5/noriko.fukuhara.efficacy.and.safety.of.tirabrutinib.for.relapsed.or.refractory.html?f=menu%3D6%2Abrowseby%3D8%2Asortby%3D6%2Amedia%3D3%2Ace_id%3D2934%2Aot_id%3D115576%2Amarker%3D6766%2Afeatured%3D20138" TargetMode="External"/><Relationship Id="rId3" Type="http://schemas.openxmlformats.org/officeDocument/2006/relationships/slide" Target="slide2.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5/noriko.fukuhara.efficacy.and.safety.of.tirabrutinib.for.relapsed.or.refractory.html?f=menu%3D6%2Abrowseby%3D8%2Asortby%3D6%2Amedia%3D3%2Ace_id%3D2934%2Aot_id%3D115576%2Amarker%3D6766%2Afeatured%3D20138" TargetMode="External"/><Relationship Id="rId3" Type="http://schemas.openxmlformats.org/officeDocument/2006/relationships/slide" Target="slide2.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5/noriko.fukuhara.efficacy.and.safety.of.tirabrutinib.for.relapsed.or.refractory.html?f=menu%3D6%2Abrowseby%3D8%2Asortby%3D6%2Amedia%3D3%2Ace_id%3D2934%2Aot_id%3D115576%2Amarker%3D6766%2Afeatured%3D20138" TargetMode="External"/><Relationship Id="rId3" Type="http://schemas.openxmlformats.org/officeDocument/2006/relationships/slide" Target="slide2.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0/hyungwoo.cho.phase.i.ii.study.of.zanubrutinib.in.combination.with.rituximab.html?f=menu%3D6%2Abrowseby%3D8%2Asortby%3D6%2Amedia%3D3%2Ace_id%3D2934%2Aot_id%3D115576%2Amarker%3D6766%2Afeatured%3D20138" TargetMode="External"/><Relationship Id="rId3" Type="http://schemas.openxmlformats.org/officeDocument/2006/relationships/slide" Target="slide2.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0/hyungwoo.cho.phase.i.ii.study.of.zanubrutinib.in.combination.with.rituximab.html?f=menu%3D6%2Abrowseby%3D8%2Asortby%3D6%2Amedia%3D3%2Ace_id%3D2934%2Aot_id%3D115576%2Amarker%3D6766%2Afeatured%3D20138" TargetMode="External"/><Relationship Id="rId3" Type="http://schemas.openxmlformats.org/officeDocument/2006/relationships/slide" Target="slide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0/hyungwoo.cho.phase.i.ii.study.of.zanubrutinib.in.combination.with.rituximab.html?f=menu%3D6%2Abrowseby%3D8%2Asortby%3D6%2Amedia%3D3%2Ace_id%3D2934%2Aot_id%3D115576%2Amarker%3D6766%2Afeatured%3D20138" TargetMode="External"/><Relationship Id="rId3" Type="http://schemas.openxmlformats.org/officeDocument/2006/relationships/slide" Target="slide2.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0/liqun.zou.real-world.efficacy.and.safety.of.the.medz-r.regimen.as.induction.html?f=menu%3D6%2Abrowseby%3D8%2Asortby%3D6%2Amedia%3D3%2Ace_id%3D2934%2Aot_id%3D115576%2Amarker%3D6766%2Afeatured%3D20138" TargetMode="External"/><Relationship Id="rId3" Type="http://schemas.openxmlformats.org/officeDocument/2006/relationships/slide" Target="slide2.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0/liqun.zou.real-world.efficacy.and.safety.of.the.medz-r.regimen.as.induction.html?f=menu%3D6%2Abrowseby%3D8%2Asortby%3D6%2Amedia%3D3%2Ace_id%3D2934%2Aot_id%3D115576%2Amarker%3D6766%2Afeatured%3D20138" TargetMode="External"/><Relationship Id="rId3" Type="http://schemas.openxmlformats.org/officeDocument/2006/relationships/slide" Target="slide2.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0/liqun.zou.real-world.efficacy.and.safety.of.the.medz-r.regimen.as.induction.html?f=menu%3D6%2Abrowseby%3D8%2Asortby%3D6%2Amedia%3D3%2Ace_id%3D2934%2Aot_id%3D115576%2Amarker%3D6766%2Afeatured%3D20138" TargetMode="External"/><Relationship Id="rId3" Type="http://schemas.openxmlformats.org/officeDocument/2006/relationships/slide" Target="slide2.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08/maher.salamoon.12.years.update.on.overall.survival.in.patients.with.primary.html?f=menu%3D6%2Abrowseby%3D8%2Asortby%3D6%2Amedia%3D3%2Ace_id%3D2934%2Aot_id%3D115596%2Amarker%3D6766%2Afeatured%3D20138" TargetMode="External"/><Relationship Id="rId3" Type="http://schemas.openxmlformats.org/officeDocument/2006/relationships/slide" Target="slide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08/maher.salamoon.12.years.update.on.overall.survival.in.patients.with.primary.html?f=menu%3D6%2Abrowseby%3D8%2Asortby%3D6%2Amedia%3D3%2Ace_id%3D2934%2Aot_id%3D115596%2Amarker%3D6766%2Afeatured%3D20138" TargetMode="External"/><Relationship Id="rId3" Type="http://schemas.openxmlformats.org/officeDocument/2006/relationships/slide" Target="slide2.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08/maher.salamoon.12.years.update.on.overall.survival.in.patients.with.primary.html?f=menu%3D6%2Abrowseby%3D8%2Asortby%3D6%2Amedia%3D3%2Ace_id%3D2934%2Aot_id%3D115596%2Amarker%3D6766%2Afeatured%3D20138" TargetMode="External"/><Relationship Id="rId3" Type="http://schemas.openxmlformats.org/officeDocument/2006/relationships/slide" Target="slide2.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5/ji.yun.lee.phase.ii.study.of.lenalidomide.maintenance.after.html?f=menu%3D6%2Abrowseby%3D8%2Asortby%3D6%2Amedia%3D3%2Ace_id%3D2934%2Aot_id%3D115576%2Amarker%3D6766%2Afeatured%3D20138" TargetMode="External"/><Relationship Id="rId3" Type="http://schemas.openxmlformats.org/officeDocument/2006/relationships/slide" Target="slide2.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5/ji.yun.lee.phase.ii.study.of.lenalidomide.maintenance.after.html?f=menu%3D6%2Abrowseby%3D8%2Asortby%3D6%2Amedia%3D3%2Ace_id%3D2934%2Aot_id%3D115576%2Amarker%3D6766%2Afeatured%3D20138" TargetMode="External"/><Relationship Id="rId3" Type="http://schemas.openxmlformats.org/officeDocument/2006/relationships/slide" Target="slide2.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3/gerald.illerhaus.the.optimate-trial.an.investigator-initiated.randomized.phase.html?f=menu%3D6%2Abrowseby%3D8%2Asortby%3D6%2Amedia%3D3%2Ace_id%3D2934%2Aot_id%3D115576%2Amarker%3D6766%2Afeatured%3D20138" TargetMode="External"/><Relationship Id="rId3" Type="http://schemas.openxmlformats.org/officeDocument/2006/relationships/slide" Target="slide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3/gerald.illerhaus.the.optimate-trial.an.investigator-initiated.randomized.phase.html?f=menu%3D6%2Abrowseby%3D8%2Asortby%3D6%2Amedia%3D3%2Ace_id%3D2934%2Aot_id%3D115576%2Amarker%3D6766%2Afeatured%3D20138" TargetMode="External"/><Relationship Id="rId3" Type="http://schemas.openxmlformats.org/officeDocument/2006/relationships/slide" Target="slide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5/teresa.calimeri.high.doses.of.methotrexate.and.cytarabine.with.or.without.html?f=menu%3D6%2Abrowseby%3D8%2Asortby%3D6%2Amedia%3D3%2Ace_id%3D2934%2Aot_id%3D115576%2Amarker%3D6766%2Afeatured%3D20138" TargetMode="External"/><Relationship Id="rId3" Type="http://schemas.openxmlformats.org/officeDocument/2006/relationships/slide" Target="slide2.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5/teresa.calimeri.high.doses.of.methotrexate.and.cytarabine.with.or.without.html?f=menu%3D6%2Abrowseby%3D8%2Asortby%3D6%2Amedia%3D3%2Ace_id%3D2934%2Aot_id%3D115576%2Amarker%3D6766%2Afeatured%3D20138" TargetMode="External"/><Relationship Id="rId3" Type="http://schemas.openxmlformats.org/officeDocument/2006/relationships/slide" Target="slide2.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37/silvia.escribano.serrat.integrated.multi-omic.profiling.identifies.genomic.html?f=menu%3D6%2Abrowseby%3D8%2Asortby%3D6%2Amedia%3D3%2Ace_id%3D2934%2Aot_id%3D115600%2Amarker%3D6765%2Afeatured%3D20138" TargetMode="External"/><Relationship Id="rId3" Type="http://schemas.openxmlformats.org/officeDocument/2006/relationships/slide" Target="slide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37/silvia.escribano.serrat.integrated.multi-omic.profiling.identifies.genomic.html?f=menu%3D6%2Abrowseby%3D8%2Asortby%3D6%2Amedia%3D3%2Ace_id%3D2934%2Aot_id%3D115600%2Amarker%3D6765%2Afeatured%3D20138" TargetMode="External"/><Relationship Id="rId3" Type="http://schemas.openxmlformats.org/officeDocument/2006/relationships/slide" Target="slide2.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37/silvia.escribano.serrat.integrated.multi-omic.profiling.identifies.genomic.html?f=menu%3D6%2Abrowseby%3D8%2Asortby%3D6%2Amedia%3D3%2Ace_id%3D2934%2Aot_id%3D115600%2Amarker%3D6765%2Afeatured%3D20138" TargetMode="External"/><Relationship Id="rId3" Type="http://schemas.openxmlformats.org/officeDocument/2006/relationships/slide" Target="slide2.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37/silvia.escribano.serrat.integrated.multi-omic.profiling.identifies.genomic.html?f=menu%3D6%2Abrowseby%3D8%2Asortby%3D6%2Amedia%3D3%2Ace_id%3D2934%2Aot_id%3D115600%2Amarker%3D6765%2Afeatured%3D20138" TargetMode="External"/><Relationship Id="rId3" Type="http://schemas.openxmlformats.org/officeDocument/2006/relationships/slide" Target="slide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37/silvia.escribano.serrat.integrated.multi-omic.profiling.identifies.genomic.html?f=menu%3D6%2Abrowseby%3D8%2Asortby%3D6%2Amedia%3D3%2Ace_id%3D2934%2Aot_id%3D115600%2Amarker%3D6765%2Afeatured%3D20138" TargetMode="External"/><Relationship Id="rId3" Type="http://schemas.openxmlformats.org/officeDocument/2006/relationships/slide" Target="slide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7/igor.age.kos.favorable.real-world.outcomes.after.cd19.car.t.cell.treatment.in.html?f=menu%3D6%2Abrowseby%3D8%2Asortby%3D6%2Amedia%3D3%2Ace_id%3D2934%2Aot_id%3D115576%2Amarker%3D6765%2Afeatured%3D20138" TargetMode="External"/><Relationship Id="rId3" Type="http://schemas.openxmlformats.org/officeDocument/2006/relationships/slide" Target="slide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7/igor.age.kos.favorable.real-world.outcomes.after.cd19.car.t.cell.treatment.in.html?f=menu%3D6%2Abrowseby%3D8%2Asortby%3D6%2Amedia%3D3%2Ace_id%3D2934%2Aot_id%3D115576%2Amarker%3D6765%2Afeatured%3D20138" TargetMode="External"/><Relationship Id="rId3" Type="http://schemas.openxmlformats.org/officeDocument/2006/relationships/slide" Target="slide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7/igor.age.kos.favorable.real-world.outcomes.after.cd19.car.t.cell.treatment.in.html?f=menu%3D6%2Abrowseby%3D8%2Asortby%3D6%2Amedia%3D3%2Ace_id%3D2934%2Aot_id%3D115576%2Amarker%3D6765%2Afeatured%3D20138" TargetMode="External"/><Relationship Id="rId3" Type="http://schemas.openxmlformats.org/officeDocument/2006/relationships/slide" Target="slide2.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5/ruth.fluemann.comprehensive.analysis.of.bridging.to.car.t-cell.therapy.in.html?f=menu%3D6%2Abrowseby%3D8%2Asortby%3D6%2Amedia%3D3%2Ace_id%3D2934%2Aot_id%3D115576%2Amarker%3D6765%2Afeatured%3D20138" TargetMode="External"/><Relationship Id="rId3" Type="http://schemas.openxmlformats.org/officeDocument/2006/relationships/slide" Target="slide2.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5/ruth.fluemann.comprehensive.analysis.of.bridging.to.car.t-cell.therapy.in.html?f=menu%3D6%2Abrowseby%3D8%2Asortby%3D6%2Amedia%3D3%2Ace_id%3D2934%2Aot_id%3D115576%2Amarker%3D6765%2Afeatured%3D20138" TargetMode="External"/><Relationship Id="rId3" Type="http://schemas.openxmlformats.org/officeDocument/2006/relationships/slide" Target="slide2.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4/william.townsend.real.world.experience.of.glofitamab.and.epcoritamab.for.large.html?f=menu%3D6%2Abrowseby%3D8%2Asortby%3D6%2Amedia%3D3%2Ace_id%3D2934%2Aot_id%3D115576%2Amarker%3D6765%2Afeatured%3D20138" TargetMode="External"/><Relationship Id="rId3" Type="http://schemas.openxmlformats.org/officeDocument/2006/relationships/slide" Target="slide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794/william.townsend.real.world.experience.of.glofitamab.and.epcoritamab.for.large.html?f=menu%3D6%2Abrowseby%3D8%2Asortby%3D6%2Amedia%3D3%2Ace_id%3D2934%2Aot_id%3D115576%2Amarker%3D6765%2Afeatured%3D20138" TargetMode="External"/><Relationship Id="rId3" Type="http://schemas.openxmlformats.org/officeDocument/2006/relationships/slide" Target="slide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900/justin.desroches.time.from.car-t.evaluation.to.leukapheresis.in.b-cell.html?f=menu%3D6%2Abrowseby%3D8%2Asortby%3D6%2Amedia%3D3%2Ace_id%3D2934%2Aot_id%3D115601%2Amarker%3D6766%2Afeatured%3D20138" TargetMode="External"/><Relationship Id="rId3" Type="http://schemas.openxmlformats.org/officeDocument/2006/relationships/slide" Target="slide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900/justin.desroches.time.from.car-t.evaluation.to.leukapheresis.in.b-cell.html?f=menu%3D6%2Abrowseby%3D8%2Asortby%3D6%2Amedia%3D3%2Ace_id%3D2934%2Aot_id%3D115601%2Amarker%3D6766%2Afeatured%3D20138" TargetMode="External"/><Relationship Id="rId3" Type="http://schemas.openxmlformats.org/officeDocument/2006/relationships/slide" Target="slide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900/justin.desroches.time.from.car-t.evaluation.to.leukapheresis.in.b-cell.html?f=menu%3D6%2Abrowseby%3D8%2Asortby%3D6%2Amedia%3D3%2Ace_id%3D2934%2Aot_id%3D115601%2Amarker%3D6766%2Afeatured%3D20138" TargetMode="External"/><Relationship Id="rId3" Type="http://schemas.openxmlformats.org/officeDocument/2006/relationships/slide" Target="slide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889/yue.chun.paired.single-cell.analysis.of.starting.material.and.car.t.product.html?f=menu%3D6%2Abrowseby%3D8%2Asortby%3D6%2Amedia%3D3%2Ace_id%3D2934%2Aot_id%3D115601%2Amarker%3D6766%2Afeatured%3D20138" TargetMode="External"/><Relationship Id="rId3" Type="http://schemas.openxmlformats.org/officeDocument/2006/relationships/slide" Target="slide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889/yue.chun.paired.single-cell.analysis.of.starting.material.and.car.t.product.html?f=menu%3D6%2Abrowseby%3D8%2Asortby%3D6%2Amedia%3D3%2Ace_id%3D2934%2Aot_id%3D115601%2Amarker%3D6766%2Afeatured%3D20138" TargetMode="External"/><Relationship Id="rId3" Type="http://schemas.openxmlformats.org/officeDocument/2006/relationships/slide" Target="slide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19/carolina.martinez.laperche.longitudinal.ctdna.dynamics.around.car-t.cell.html?f=menu%3D6%2Abrowseby%3D8%2Asortby%3D6%2Amedia%3D3%2Ace_id%3D2934%2Aot_id%3D115595%2Amarker%3D6766%2Afeatured%3D20138" TargetMode="External"/><Relationship Id="rId3" Type="http://schemas.openxmlformats.org/officeDocument/2006/relationships/slide" Target="slide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19/carolina.martinez.laperche.longitudinal.ctdna.dynamics.around.car-t.cell.html?f=menu%3D6%2Abrowseby%3D8%2Asortby%3D6%2Amedia%3D3%2Ace_id%3D2934%2Aot_id%3D115595%2Amarker%3D6766%2Afeatured%3D20138" TargetMode="External"/><Relationship Id="rId3" Type="http://schemas.openxmlformats.org/officeDocument/2006/relationships/slide" Target="slide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0/giulia.gabrielli.effects.of.antibiotic-exposure.and.levofloxacin-prophylaxis.html?f=menu%3D6%2Abrowseby%3D8%2Asortby%3D6%2Amedia%3D3%2Ace_id%3D2934%2Aot_id%3D115576%2Amarker%3D6766%2Afeatured%3D20138" TargetMode="External"/><Relationship Id="rId3" Type="http://schemas.openxmlformats.org/officeDocument/2006/relationships/slide" Target="slide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0/giulia.gabrielli.effects.of.antibiotic-exposure.and.levofloxacin-prophylaxis.html?f=menu%3D6%2Abrowseby%3D8%2Asortby%3D6%2Amedia%3D3%2Ace_id%3D2934%2Aot_id%3D115576%2Amarker%3D6766%2Afeatured%3D20138" TargetMode="External"/><Relationship Id="rId3" Type="http://schemas.openxmlformats.org/officeDocument/2006/relationships/slide" Target="slide2.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5/adolfo.jesus.saez.marin.early.siltuximab.rescue.for.persistent.crs.in.patients.html?f=menu%3D6%2Abrowseby%3D8%2Asortby%3D6%2Amedia%3D3%2Ace_id%3D2934%2Aot_id%3D115576%2Amarker%3D6766%2Afeatured%3D20138" TargetMode="External"/><Relationship Id="rId3" Type="http://schemas.openxmlformats.org/officeDocument/2006/relationships/slide" Target="slide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5/adolfo.jesus.saez.marin.early.siltuximab.rescue.for.persistent.crs.in.patients.html?f=menu%3D6%2Abrowseby%3D8%2Asortby%3D6%2Amedia%3D3%2Ace_id%3D2934%2Aot_id%3D115576%2Amarker%3D6766%2Afeatured%3D20138" TargetMode="External"/><Relationship Id="rId3" Type="http://schemas.openxmlformats.org/officeDocument/2006/relationships/slide" Target="slide2.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2/sara.harrysson.incidence.and.outcome.of.relapsed.refractory.large.b-cell.html?f=menu%3D6%2Abrowseby%3D8%2Asortby%3D6%2Amedia%3D3%2Ace_id%3D2934%2Aot_id%3D115576%2Amarker%3D6766%2Afeatured%3D20138" TargetMode="External"/><Relationship Id="rId3" Type="http://schemas.openxmlformats.org/officeDocument/2006/relationships/slide" Target="slide2.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2/sara.harrysson.incidence.and.outcome.of.relapsed.refractory.large.b-cell.html?f=menu%3D6%2Abrowseby%3D8%2Asortby%3D6%2Amedia%3D3%2Ace_id%3D2934%2Aot_id%3D115576%2Amarker%3D6766%2Afeatured%3D20138" TargetMode="External"/><Relationship Id="rId3" Type="http://schemas.openxmlformats.org/officeDocument/2006/relationships/slide" Target="slide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1/lina.kolloch.outcomes.of.second-line.axicabtagene.ciloleucel.and.comparison.to.html?f=menu%3D6%2Abrowseby%3D8%2Asortby%3D6%2Amedia%3D3%2Ace_id%3D2934%2Aot_id%3D115576%2Amarker%3D6766%2Afeatured%3D20138" TargetMode="External"/><Relationship Id="rId3" Type="http://schemas.openxmlformats.org/officeDocument/2006/relationships/slide" Target="slide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1/lina.kolloch.outcomes.of.second-line.axicabtagene.ciloleucel.and.comparison.to.html?f=menu%3D6%2Abrowseby%3D8%2Asortby%3D6%2Amedia%3D3%2Ace_id%3D2934%2Aot_id%3D115576%2Amarker%3D6766%2Afeatured%3D20138" TargetMode="External"/><Relationship Id="rId3" Type="http://schemas.openxmlformats.org/officeDocument/2006/relationships/slide" Target="slide2.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1/lina.kolloch.outcomes.of.second-line.axicabtagene.ciloleucel.and.comparison.to.html?f=menu%3D6%2Abrowseby%3D8%2Asortby%3D6%2Amedia%3D3%2Ace_id%3D2934%2Aot_id%3D115576%2Amarker%3D6766%2Afeatured%3D20138" TargetMode="External"/><Relationship Id="rId3" Type="http://schemas.openxmlformats.org/officeDocument/2006/relationships/slide" Target="slide2.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0/florian.colrat.length.of.stay.healthcare.resourceutilization28hcru29and.html?f=menu%3D6%2Abrowseby%3D8%2Asortby%3D6%2Amedia%3D3%2Ace_id%3D2934%2Aot_id%3D115576%2Amarker%3D6766%2Afeatured%3D20138" TargetMode="External"/><Relationship Id="rId3" Type="http://schemas.openxmlformats.org/officeDocument/2006/relationships/slide" Target="slide2.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50/florian.colrat.length.of.stay.healthcare.resourceutilization28hcru29and.html?f=menu%3D6%2Abrowseby%3D8%2Asortby%3D6%2Amedia%3D3%2Ace_id%3D2934%2Aot_id%3D115576%2Amarker%3D6766%2Afeatured%3D20138" TargetMode="External"/><Relationship Id="rId3" Type="http://schemas.openxmlformats.org/officeDocument/2006/relationships/slide" Target="slide2.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7/yumeng.zhang.epcoritamab.in.relapsed.refractory.diffuse.large.b-cell.lymphoma.html?f=menu%3D6%2Abrowseby%3D8%2Asortby%3D6%2Amedia%3D3%2Ace_id%3D2934%2Aot_id%3D115576%2Amarker%3D6766%2Afeatured%3D20138" TargetMode="External"/><Relationship Id="rId3" Type="http://schemas.openxmlformats.org/officeDocument/2006/relationships/slide" Target="slide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7/yumeng.zhang.epcoritamab.in.relapsed.refractory.diffuse.large.b-cell.lymphoma.html?f=menu%3D6%2Abrowseby%3D8%2Asortby%3D6%2Amedia%3D3%2Ace_id%3D2934%2Aot_id%3D115576%2Amarker%3D6766%2Afeatured%3D20138" TargetMode="External"/><Relationship Id="rId3" Type="http://schemas.openxmlformats.org/officeDocument/2006/relationships/slide" Target="slide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7/yumeng.zhang.epcoritamab.in.relapsed.refractory.diffuse.large.b-cell.lymphoma.html?f=menu%3D6%2Abrowseby%3D8%2Asortby%3D6%2Amedia%3D3%2Ace_id%3D2934%2Aot_id%3D115576%2Amarker%3D6766%2Afeatured%3D20138" TargetMode="External"/><Relationship Id="rId3" Type="http://schemas.openxmlformats.org/officeDocument/2006/relationships/slide" Target="slide2.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7/yumeng.zhang.epcoritamab.in.relapsed.refractory.diffuse.large.b-cell.lymphoma.html?f=menu%3D6%2Abrowseby%3D8%2Asortby%3D6%2Amedia%3D3%2Ace_id%3D2934%2Aot_id%3D115576%2Amarker%3D6766%2Afeatured%3D20138" TargetMode="External"/><Relationship Id="rId3" Type="http://schemas.openxmlformats.org/officeDocument/2006/relationships/slide" Target="slide2.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7/yumeng.zhang.epcoritamab.in.relapsed.refractory.diffuse.large.b-cell.lymphoma.html?f=menu%3D6%2Abrowseby%3D8%2Asortby%3D6%2Amedia%3D3%2Ace_id%3D2934%2Aot_id%3D115576%2Amarker%3D6766%2Afeatured%3D20138" TargetMode="External"/><Relationship Id="rId3" Type="http://schemas.openxmlformats.org/officeDocument/2006/relationships/slide" Target="slide2.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2/lingshuang.sheng.impact.of.tp53.mutation.on.cd19-chimeric.antigen.receptor.html?f=menu%3D6%2Abrowseby%3D8%2Asortby%3D6%2Amedia%3D3%2Ace_id%3D2934%2Aot_id%3D115576%2Amarker%3D6766%2Afeatured%3D20138" TargetMode="External"/><Relationship Id="rId3" Type="http://schemas.openxmlformats.org/officeDocument/2006/relationships/slide" Target="slide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2/lingshuang.sheng.impact.of.tp53.mutation.on.cd19-chimeric.antigen.receptor.html?f=menu%3D6%2Abrowseby%3D8%2Asortby%3D6%2Amedia%3D3%2Ace_id%3D2934%2Aot_id%3D115576%2Amarker%3D6766%2Afeatured%3D20138" TargetMode="External"/><Relationship Id="rId3" Type="http://schemas.openxmlformats.org/officeDocument/2006/relationships/slide" Target="slide2.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3/vladimir.otasevic.comparative.realworld.overall.survival.in.diffuse.large.html?f=menu%3D6%2Abrowseby%3D8%2Asortby%3D6%2Amedia%3D3%2Ace_id%3D2934%2Aot_id%3D115576%2Amarker%3D6766%2Afeatured%3D20138" TargetMode="External"/><Relationship Id="rId3" Type="http://schemas.openxmlformats.org/officeDocument/2006/relationships/slide" Target="slide2.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3/vladimir.otasevic.comparative.realworld.overall.survival.in.diffuse.large.html?f=menu%3D6%2Abrowseby%3D8%2Asortby%3D6%2Amedia%3D3%2Ace_id%3D2934%2Aot_id%3D115576%2Amarker%3D6766%2Afeatured%3D20138" TargetMode="External"/><Relationship Id="rId3" Type="http://schemas.openxmlformats.org/officeDocument/2006/relationships/slide" Target="slide2.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3/vladimir.otasevic.comparative.realworld.overall.survival.in.diffuse.large.html?f=menu%3D6%2Abrowseby%3D8%2Asortby%3D6%2Amedia%3D3%2Ace_id%3D2934%2Aot_id%3D115576%2Amarker%3D6766%2Afeatured%3D20138" TargetMode="External"/><Relationship Id="rId3" Type="http://schemas.openxmlformats.org/officeDocument/2006/relationships/slide" Target="slide2.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3/vladimir.otasevic.comparative.realworld.overall.survival.in.diffuse.large.html?f=menu%3D6%2Abrowseby%3D8%2Asortby%3D6%2Amedia%3D3%2Ace_id%3D2934%2Aot_id%3D115576%2Amarker%3D6766%2Afeatured%3D20138" TargetMode="External"/><Relationship Id="rId3" Type="http://schemas.openxmlformats.org/officeDocument/2006/relationships/slide" Target="slide2.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2/magdalena.olszewska-szopa.polatuzumab-br.vs.tafasitamab-lenalidomide.in.html?f=menu%3D6%2Abrowseby%3D8%2Asortby%3D6%2Amedia%3D3%2Ace_id%3D2934%2Aot_id%3D115576%2Amarker%3D6766%2Afeatured%3D20138" TargetMode="External"/><Relationship Id="rId3" Type="http://schemas.openxmlformats.org/officeDocument/2006/relationships/slide" Target="slide2.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2/magdalena.olszewska-szopa.polatuzumab-br.vs.tafasitamab-lenalidomide.in.html?f=menu%3D6%2Abrowseby%3D8%2Asortby%3D6%2Amedia%3D3%2Ace_id%3D2934%2Aot_id%3D115576%2Amarker%3D6766%2Afeatured%3D20138" TargetMode="External"/><Relationship Id="rId3" Type="http://schemas.openxmlformats.org/officeDocument/2006/relationships/slide" Target="slide2.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3/narendranath.epperla.real-world.comparative.study.of.the.effectiveness.safety.html?f=menu%3D6%2Abrowseby%3D8%2Asortby%3D6%2Amedia%3D3%2Ace_id%3D2934%2Aot_id%3D115576%2Amarker%3D6766%2Afeatured%3D20138" TargetMode="External"/><Relationship Id="rId3" Type="http://schemas.openxmlformats.org/officeDocument/2006/relationships/slide" Target="slide2.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3/narendranath.epperla.real-world.comparative.study.of.the.effectiveness.safety.html?f=menu%3D6%2Abrowseby%3D8%2Asortby%3D6%2Amedia%3D3%2Ace_id%3D2934%2Aot_id%3D115576%2Amarker%3D6766%2Afeatured%3D20138" TargetMode="External"/><Relationship Id="rId3" Type="http://schemas.openxmlformats.org/officeDocument/2006/relationships/slide" Target="slide2.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3/narendranath.epperla.real-world.comparative.study.of.the.effectiveness.safety.html?f=menu%3D6%2Abrowseby%3D8%2Asortby%3D6%2Amedia%3D3%2Ace_id%3D2934%2Aot_id%3D115576%2Amarker%3D6766%2Afeatured%3D20138" TargetMode="External"/><Relationship Id="rId3" Type="http://schemas.openxmlformats.org/officeDocument/2006/relationships/slide" Target="slide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3/narendranath.epperla.real-world.comparative.study.of.the.effectiveness.safety.html?f=menu%3D6%2Abrowseby%3D8%2Asortby%3D6%2Amedia%3D3%2Ace_id%3D2934%2Aot_id%3D115576%2Amarker%3D6766%2Afeatured%3D20138" TargetMode="External"/><Relationship Id="rId3" Type="http://schemas.openxmlformats.org/officeDocument/2006/relationships/slide" Target="slide2.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3/narendranath.epperla.real-world.comparative.study.of.the.effectiveness.safety.html?f=menu%3D6%2Abrowseby%3D8%2Asortby%3D6%2Amedia%3D3%2Ace_id%3D2934%2Aot_id%3D115576%2Amarker%3D6766%2Afeatured%3D20138" TargetMode="External"/><Relationship Id="rId3" Type="http://schemas.openxmlformats.org/officeDocument/2006/relationships/slide" Target="slide2.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3/narendranath.epperla.real-world.comparative.study.of.the.effectiveness.safety.html?f=menu%3D6%2Abrowseby%3D8%2Asortby%3D6%2Amedia%3D3%2Ace_id%3D2934%2Aot_id%3D115576%2Amarker%3D6766%2Afeatured%3D20138" TargetMode="External"/><Relationship Id="rId3" Type="http://schemas.openxmlformats.org/officeDocument/2006/relationships/slide" Target="slide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3/narendranath.epperla.real-world.comparative.study.of.the.effectiveness.safety.html?f=menu%3D6%2Abrowseby%3D8%2Asortby%3D6%2Amedia%3D3%2Ace_id%3D2934%2Aot_id%3D115576%2Amarker%3D6766%2Afeatured%3D20138" TargetMode="External"/><Relationship Id="rId3" Type="http://schemas.openxmlformats.org/officeDocument/2006/relationships/slide" Target="slide2.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4/mariana.bastos-oreiro.real-world.outcomes.of.axicabtagene.ciloleucel.versus.html?f=menu%3D6%2Abrowseby%3D8%2Asortby%3D6%2Amedia%3D3%2Ace_id%3D2934%2Aot_id%3D115576%2Amarker%3D6766%2Afeatured%3D20138" TargetMode="External"/><Relationship Id="rId3" Type="http://schemas.openxmlformats.org/officeDocument/2006/relationships/slide" Target="slide2.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4/mariana.bastos-oreiro.real-world.outcomes.of.axicabtagene.ciloleucel.versus.html?f=menu%3D6%2Abrowseby%3D8%2Asortby%3D6%2Amedia%3D3%2Ace_id%3D2934%2Aot_id%3D115576%2Amarker%3D6766%2Afeatured%3D20138" TargetMode="External"/><Relationship Id="rId3" Type="http://schemas.openxmlformats.org/officeDocument/2006/relationships/slide" Target="slide2.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319/francesco.malaspina.same.ai.different.doctors.expertise.determines.response.to.html?f=menu%3D6%2Abrowseby%3D8%2Asortby%3D6%2Amedia%3D3%2Ace_id%3D2934%2Aot_id%3D115612%2Amarker%3D6766%2Afeatured%3D20138" TargetMode="External"/><Relationship Id="rId3" Type="http://schemas.openxmlformats.org/officeDocument/2006/relationships/slide" Target="slide2.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319/francesco.malaspina.same.ai.different.doctors.expertise.determines.response.to.html?f=menu%3D6%2Abrowseby%3D8%2Asortby%3D6%2Amedia%3D3%2Ace_id%3D2934%2Aot_id%3D115612%2Amarker%3D6766%2Afeatured%3D20138" TargetMode="External"/><Relationship Id="rId3" Type="http://schemas.openxmlformats.org/officeDocument/2006/relationships/slide" Target="slide2.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296/emil.kumar.access.and.outcomes.for.2nd.line.axicabtagene.ciloleucel.in.html?f=menu%3D6%2Abrowseby%3D8%2Asortby%3D6%2Amedia%3D3%2Ace_id%3D2934%2Aot_id%3D115611%2Amarker%3D6766%2Afeatured%3D20138" TargetMode="External"/><Relationship Id="rId3" Type="http://schemas.openxmlformats.org/officeDocument/2006/relationships/slide" Target="slide2.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296/emil.kumar.access.and.outcomes.for.2nd.line.axicabtagene.ciloleucel.in.html?f=menu%3D6%2Abrowseby%3D8%2Asortby%3D6%2Amedia%3D3%2Ace_id%3D2934%2Aot_id%3D115611%2Amarker%3D6766%2Afeatured%3D20138" TargetMode="External"/><Relationship Id="rId3" Type="http://schemas.openxmlformats.org/officeDocument/2006/relationships/slide" Target="slide2.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296/emil.kumar.access.and.outcomes.for.2nd.line.axicabtagene.ciloleucel.in.html?f=menu%3D6%2Abrowseby%3D8%2Asortby%3D6%2Amedia%3D3%2Ace_id%3D2934%2Aot_id%3D115611%2Amarker%3D6766%2Afeatured%3D20138" TargetMode="External"/><Relationship Id="rId3" Type="http://schemas.openxmlformats.org/officeDocument/2006/relationships/slide" Target="slide2.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296/emil.kumar.access.and.outcomes.for.2nd.line.axicabtagene.ciloleucel.in.html?f=menu%3D6%2Abrowseby%3D8%2Asortby%3D6%2Amedia%3D3%2Ace_id%3D2934%2Aot_id%3D115611%2Amarker%3D6766%2Afeatured%3D20138" TargetMode="External"/><Relationship Id="rId3" Type="http://schemas.openxmlformats.org/officeDocument/2006/relationships/slide" Target="slide2.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296/emil.kumar.access.and.outcomes.for.2nd.line.axicabtagene.ciloleucel.in.html?f=menu%3D6%2Abrowseby%3D8%2Asortby%3D6%2Amedia%3D3%2Ace_id%3D2934%2Aot_id%3D115611%2Amarker%3D6766%2Afeatured%3D20138" TargetMode="External"/><Relationship Id="rId3" Type="http://schemas.openxmlformats.org/officeDocument/2006/relationships/slide" Target="slide2.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296/emil.kumar.access.and.outcomes.for.2nd.line.axicabtagene.ciloleucel.in.html?f=menu%3D6%2Abrowseby%3D8%2Asortby%3D6%2Amedia%3D3%2Ace_id%3D2934%2Aot_id%3D115611%2Amarker%3D6766%2Afeatured%3D20138" TargetMode="External"/><Relationship Id="rId3" Type="http://schemas.openxmlformats.org/officeDocument/2006/relationships/slide" Target="slide2.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296/emil.kumar.access.and.outcomes.for.2nd.line.axicabtagene.ciloleucel.in.html?f=menu%3D6%2Abrowseby%3D8%2Asortby%3D6%2Amedia%3D3%2Ace_id%3D2934%2Aot_id%3D115611%2Amarker%3D6766%2Afeatured%3D20138" TargetMode="External"/><Relationship Id="rId3" Type="http://schemas.openxmlformats.org/officeDocument/2006/relationships/slide" Target="slide2.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205/risa.nishiyama.hbv-dnaguided.monitoring.for.hepatitis.b.virus.reactivation.html?f=menu%3D6%2Abrowseby%3D8%2Asortby%3D6%2Amedia%3D3%2Ace_id%3D2934%2Aot_id%3D115606%2Amarker%3D6766%2Afeatured%3D20138" TargetMode="External"/><Relationship Id="rId3" Type="http://schemas.openxmlformats.org/officeDocument/2006/relationships/slide" Target="slide2.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205/risa.nishiyama.hbv-dnaguided.monitoring.for.hepatitis.b.virus.reactivation.html?f=menu%3D6%2Abrowseby%3D8%2Asortby%3D6%2Amedia%3D3%2Ace_id%3D2934%2Aot_id%3D115606%2Amarker%3D6766%2Afeatured%3D20138" TargetMode="External"/><Relationship Id="rId3" Type="http://schemas.openxmlformats.org/officeDocument/2006/relationships/slide" Target="slide2.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41/kye.ling.wong.car-t.fitness.index.28car-fit29.integrating.comorbidity.and.html?f=menu%3D6%2Abrowseby%3D8%2Asortby%3D6%2Amedia%3D3%2Ace_id%3D2934%2Aot_id%3D115601%2Amarker%3D6766%2Afeatured%3D20138" TargetMode="External"/><Relationship Id="rId3" Type="http://schemas.openxmlformats.org/officeDocument/2006/relationships/slide" Target="slide2.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41/kye.ling.wong.car-t.fitness.index.28car-fit29.integrating.comorbidity.and.html?f=menu%3D6%2Abrowseby%3D8%2Asortby%3D6%2Amedia%3D3%2Ace_id%3D2934%2Aot_id%3D115601%2Amarker%3D6766%2Afeatured%3D20138" TargetMode="External"/><Relationship Id="rId3" Type="http://schemas.openxmlformats.org/officeDocument/2006/relationships/slide" Target="slide2.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41/kye.ling.wong.car-t.fitness.index.28car-fit29.integrating.comorbidity.and.html?f=menu%3D6%2Abrowseby%3D8%2Asortby%3D6%2Amedia%3D3%2Ace_id%3D2934%2Aot_id%3D115601%2Amarker%3D6766%2Afeatured%3D20138" TargetMode="External"/><Relationship Id="rId3" Type="http://schemas.openxmlformats.org/officeDocument/2006/relationships/slide" Target="slide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41/kye.ling.wong.car-t.fitness.index.28car-fit29.integrating.comorbidity.and.html?f=menu%3D6%2Abrowseby%3D8%2Asortby%3D6%2Amedia%3D3%2Ace_id%3D2934%2Aot_id%3D115601%2Amarker%3D6766%2Afeatured%3D20138" TargetMode="External"/><Relationship Id="rId3" Type="http://schemas.openxmlformats.org/officeDocument/2006/relationships/slide" Target="slide2.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41/kye.ling.wong.car-t.fitness.index.28car-fit29.integrating.comorbidity.and.html?f=menu%3D6%2Abrowseby%3D8%2Asortby%3D6%2Amedia%3D3%2Ace_id%3D2934%2Aot_id%3D115601%2Amarker%3D6766%2Afeatured%3D20138" TargetMode="External"/><Relationship Id="rId3" Type="http://schemas.openxmlformats.org/officeDocument/2006/relationships/slide" Target="slide2.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41/kye.ling.wong.car-t.fitness.index.28car-fit29.integrating.comorbidity.and.html?f=menu%3D6%2Abrowseby%3D8%2Asortby%3D6%2Amedia%3D3%2Ace_id%3D2934%2Aot_id%3D115601%2Amarker%3D6766%2Afeatured%3D20138" TargetMode="External"/><Relationship Id="rId3" Type="http://schemas.openxmlformats.org/officeDocument/2006/relationships/slide" Target="slide2.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37/tomohiro.nagano.pre-treatment.white.matter.changes.on.brain.mri.suggesting.html?f=menu%3D6%2Abrowseby%3D8%2Asortby%3D6%2Amedia%3D3%2Ace_id%3D2934%2Aot_id%3D115601%2Amarker%3D6766%2Afeatured%3D20138" TargetMode="External"/><Relationship Id="rId3" Type="http://schemas.openxmlformats.org/officeDocument/2006/relationships/slide" Target="slide2.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37/tomohiro.nagano.pre-treatment.white.matter.changes.on.brain.mri.suggesting.html?f=menu%3D6%2Abrowseby%3D8%2Asortby%3D6%2Amedia%3D3%2Ace_id%3D2934%2Aot_id%3D115601%2Amarker%3D6766%2Afeatured%3D20138" TargetMode="External"/><Relationship Id="rId3" Type="http://schemas.openxmlformats.org/officeDocument/2006/relationships/slide" Target="slide2.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7/shihui.ren.efficacy.of.car-t.cell.therapy.in.double-expressor.tp53-positive.html?f=menu%3D6%2Abrowseby%3D8%2Asortby%3D6%2Amedia%3D3%2Ace_id%3D2934%2Aot_id%3D115576%2Amarker%3D6766%2Afeatured%3D20138" TargetMode="External"/><Relationship Id="rId3" Type="http://schemas.openxmlformats.org/officeDocument/2006/relationships/slide" Target="slide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7/shihui.ren.efficacy.of.car-t.cell.therapy.in.double-expressor.tp53-positive.html?f=menu%3D6%2Abrowseby%3D8%2Asortby%3D6%2Amedia%3D3%2Ace_id%3D2934%2Aot_id%3D115576%2Amarker%3D6766%2Afeatured%3D20138" TargetMode="External"/><Relationship Id="rId3" Type="http://schemas.openxmlformats.org/officeDocument/2006/relationships/slide" Target="slide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5/rebeca.bailen.early.toxicity.of.axicabtagene.ciloleucel.by.line.of.therapy.in.html?f=menu%3D6%2Abrowseby%3D8%2Asortby%3D6%2Amedia%3D3%2Ace_id%3D2934%2Aot_id%3D115576%2Amarker%3D6766%2Afeatured%3D20138" TargetMode="External"/><Relationship Id="rId3" Type="http://schemas.openxmlformats.org/officeDocument/2006/relationships/slide" Target="slide2.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5/rebeca.bailen.early.toxicity.of.axicabtagene.ciloleucel.by.line.of.therapy.in.html?f=menu%3D6%2Abrowseby%3D8%2Asortby%3D6%2Amedia%3D3%2Ace_id%3D2934%2Aot_id%3D115576%2Amarker%3D6766%2Afeatured%3D20138" TargetMode="External"/><Relationship Id="rId3" Type="http://schemas.openxmlformats.org/officeDocument/2006/relationships/slide" Target="slide2.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5/rebeca.bailen.early.toxicity.of.axicabtagene.ciloleucel.by.line.of.therapy.in.html?f=menu%3D6%2Abrowseby%3D8%2Asortby%3D6%2Amedia%3D3%2Ace_id%3D2934%2Aot_id%3D115576%2Amarker%3D6766%2Afeatured%3D20138" TargetMode="External"/><Relationship Id="rId3" Type="http://schemas.openxmlformats.org/officeDocument/2006/relationships/slide" Target="slide2.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5/rebeca.bailen.early.toxicity.of.axicabtagene.ciloleucel.by.line.of.therapy.in.html?f=menu%3D6%2Abrowseby%3D8%2Asortby%3D6%2Amedia%3D3%2Ace_id%3D2934%2Aot_id%3D115576%2Amarker%3D6766%2Afeatured%3D20138" TargetMode="External"/><Relationship Id="rId3" Type="http://schemas.openxmlformats.org/officeDocument/2006/relationships/slide" Target="slide2.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2/catherine.thieblemont.international.expert.consensus.on.real-world.car.t-cell.html?f=menu%3D6%2Abrowseby%3D8%2Asortby%3D6%2Amedia%3D3%2Ace_id%3D2934%2Aot_id%3D115576%2Amarker%3D6766%2Afeatured%3D20138" TargetMode="External"/><Relationship Id="rId3" Type="http://schemas.openxmlformats.org/officeDocument/2006/relationships/slide" Target="slide2.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2/catherine.thieblemont.international.expert.consensus.on.real-world.car.t-cell.html?f=menu%3D6%2Abrowseby%3D8%2Asortby%3D6%2Amedia%3D3%2Ace_id%3D2934%2Aot_id%3D115576%2Amarker%3D6766%2Afeatured%3D20138" TargetMode="External"/><Relationship Id="rId3" Type="http://schemas.openxmlformats.org/officeDocument/2006/relationships/slide" Target="slide2.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8/mohamad.sabbah.immune.deficiency.and.infection.risk.following.second.line.html?f=menu%3D6%2Abrowseby%3D8%2Asortby%3D6%2Amedia%3D3%2Ace_id%3D2934%2Aot_id%3D115576%2Amarker%3D6766%2Afeatured%3D20138" TargetMode="External"/><Relationship Id="rId3" Type="http://schemas.openxmlformats.org/officeDocument/2006/relationships/slide" Target="slide2.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8/mohamad.sabbah.immune.deficiency.and.infection.risk.following.second.line.html?f=menu%3D6%2Abrowseby%3D8%2Asortby%3D6%2Amedia%3D3%2Ace_id%3D2934%2Aot_id%3D115576%2Amarker%3D6766%2Afeatured%3D20138" TargetMode="External"/><Relationship Id="rId3" Type="http://schemas.openxmlformats.org/officeDocument/2006/relationships/slide" Target="slide2.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4/inna.gong.receipt.of.holding.therapy.is.associated.with.inferior.outcomes.html?f=menu%3D6%2Abrowseby%3D8%2Asortby%3D6%2Amedia%3D3%2Ace_id%3D2934%2Aot_id%3D115576%2Amarker%3D6766%2Afeatured%3D20138" TargetMode="External"/><Relationship Id="rId3" Type="http://schemas.openxmlformats.org/officeDocument/2006/relationships/slide" Target="slide2.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4/inna.gong.receipt.of.holding.therapy.is.associated.with.inferior.outcomes.html?f=menu%3D6%2Abrowseby%3D8%2Asortby%3D6%2Amedia%3D3%2Ace_id%3D2934%2Aot_id%3D115576%2Amarker%3D6766%2Afeatured%3D20138" TargetMode="External"/><Relationship Id="rId3" Type="http://schemas.openxmlformats.org/officeDocument/2006/relationships/slide" Target="slide2.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3/javier.munoz.real-world.28rw29.treatment.patterns.and.survival.outcomes.in.html?f=menu%3D6%2Abrowseby%3D8%2Asortby%3D6%2Amedia%3D3%2Ace_id%3D2934%2Aot_id%3D115576%2Amarker%3D6766%2Afeatured%3D20138" TargetMode="External"/><Relationship Id="rId3" Type="http://schemas.openxmlformats.org/officeDocument/2006/relationships/slide" Target="slide2.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3/javier.munoz.real-world.28rw29.treatment.patterns.and.survival.outcomes.in.html?f=menu%3D6%2Abrowseby%3D8%2Asortby%3D6%2Amedia%3D3%2Ace_id%3D2934%2Aot_id%3D115576%2Amarker%3D6766%2Afeatured%3D20138" TargetMode="External"/><Relationship Id="rId3" Type="http://schemas.openxmlformats.org/officeDocument/2006/relationships/slide" Target="slide2.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3/javier.munoz.real-world.28rw29.treatment.patterns.and.survival.outcomes.in.html?f=menu%3D6%2Abrowseby%3D8%2Asortby%3D6%2Amedia%3D3%2Ace_id%3D2934%2Aot_id%3D115576%2Amarker%3D6766%2Afeatured%3D20138" TargetMode="External"/><Relationship Id="rId3" Type="http://schemas.openxmlformats.org/officeDocument/2006/relationships/slide" Target="slide2.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55/filippa.wikstrm.spatial.profiling.of.t.cell.subsets.reveals.distinct.immune.html?f=menu%3D6%2Abrowseby%3D8%2Asortby%3D6%2Amedia%3D3%2Ace_id%3D2934%2Aot_id%3D115595%2Amarker%3D6766%2Afeatured%3D20138" TargetMode="External"/><Relationship Id="rId3" Type="http://schemas.openxmlformats.org/officeDocument/2006/relationships/slide" Target="slide2.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55/filippa.wikstrm.spatial.profiling.of.t.cell.subsets.reveals.distinct.immune.html?f=menu%3D6%2Abrowseby%3D8%2Asortby%3D6%2Amedia%3D3%2Ace_id%3D2934%2Aot_id%3D115595%2Amarker%3D6766%2Afeatured%3D20138" TargetMode="External"/><Relationship Id="rId3" Type="http://schemas.openxmlformats.org/officeDocument/2006/relationships/slide" Target="slide2.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8/jia.liu.real-world.efficacy.and.genomic.landscape.of.polatuzuma.vedotin-based.html?f=menu%3D6%2Abrowseby%3D8%2Asortby%3D6%2Amedia%3D3%2Ace_id%3D2934%2Aot_id%3D115576%2Amarker%3D6766%2Afeatured%3D20138" TargetMode="External"/><Relationship Id="rId3" Type="http://schemas.openxmlformats.org/officeDocument/2006/relationships/slide" Target="slide2.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8/jia.liu.real-world.efficacy.and.genomic.landscape.of.polatuzuma.vedotin-based.html?f=menu%3D6%2Abrowseby%3D8%2Asortby%3D6%2Amedia%3D3%2Ace_id%3D2934%2Aot_id%3D115576%2Amarker%3D6766%2Afeatured%3D20138" TargetMode="External"/><Relationship Id="rId3" Type="http://schemas.openxmlformats.org/officeDocument/2006/relationships/slide" Target="slide2.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85/ciro.maria.improta.integrated.molecular.and.metabolic.profiling.identifies.html?f=menu%3D6%2Abrowseby%3D8%2Asortby%3D6%2Amedia%3D3%2Ace_id%3D2934%2Aot_id%3D115595%2Amarker%3D6766%2Afeatured%3D20138" TargetMode="External"/><Relationship Id="rId3" Type="http://schemas.openxmlformats.org/officeDocument/2006/relationships/slide" Target="slide2.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85/ciro.maria.improta.integrated.molecular.and.metabolic.profiling.identifies.html?f=menu%3D6%2Abrowseby%3D8%2Asortby%3D6%2Amedia%3D3%2Ace_id%3D2934%2Aot_id%3D115595%2Amarker%3D6766%2Afeatured%3D20138" TargetMode="External"/><Relationship Id="rId3" Type="http://schemas.openxmlformats.org/officeDocument/2006/relationships/slide" Target="slide2.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6/li.bao.pola-r-chp.vs.r-epoch.for.frontline.therapy.in.dlbcl.with.extranodal.html?f=menu%3D6%2Abrowseby%3D8%2Asortby%3D6%2Amedia%3D3%2Ace_id%3D2934%2Aot_id%3D115576%2Amarker%3D6766%2Afeatured%3D20138" TargetMode="External"/><Relationship Id="rId3" Type="http://schemas.openxmlformats.org/officeDocument/2006/relationships/slide" Target="slide2.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6/li.bao.pola-r-chp.vs.r-epoch.for.frontline.therapy.in.dlbcl.with.extranodal.html?f=menu%3D6%2Abrowseby%3D8%2Asortby%3D6%2Amedia%3D3%2Ace_id%3D2934%2Aot_id%3D115576%2Amarker%3D6766%2Afeatured%3D20138" TargetMode="External"/><Relationship Id="rId3" Type="http://schemas.openxmlformats.org/officeDocument/2006/relationships/slide" Target="slide2.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6/li.bao.pola-r-chp.vs.r-epoch.for.frontline.therapy.in.dlbcl.with.extranodal.html?f=menu%3D6%2Abrowseby%3D8%2Asortby%3D6%2Amedia%3D3%2Ace_id%3D2934%2Aot_id%3D115576%2Amarker%3D6766%2Afeatured%3D20138" TargetMode="External"/><Relationship Id="rId3" Type="http://schemas.openxmlformats.org/officeDocument/2006/relationships/slide" Target="slide2.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1/hajime.sakuma.extranodal.metabolic.tumor.volume.identifies.large.bcell.html?f=menu%3D6%2Abrowseby%3D8%2Asortby%3D6%2Amedia%3D3%2Ace_id%3D2934%2Aot_id%3D115576%2Amarker%3D6766%2Afeatured%3D20138" TargetMode="External"/><Relationship Id="rId3" Type="http://schemas.openxmlformats.org/officeDocument/2006/relationships/slide" Target="slide2.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1/hajime.sakuma.extranodal.metabolic.tumor.volume.identifies.large.bcell.html?f=menu%3D6%2Abrowseby%3D8%2Asortby%3D6%2Amedia%3D3%2Ace_id%3D2934%2Aot_id%3D115576%2Amarker%3D6766%2Afeatured%3D20138" TargetMode="External"/><Relationship Id="rId3" Type="http://schemas.openxmlformats.org/officeDocument/2006/relationships/slide" Target="slide2.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7/hongyan.tong.risk.factors.for.early.death.and.poor.survival.in.hemophagocytic.html?f=menu%3D6%2Abrowseby%3D8%2Asortby%3D6%2Amedia%3D3%2Ace_id%3D2934%2Aot_id%3D115576%2Amarker%3D6766%2Afeatured%3D20138" TargetMode="External"/><Relationship Id="rId3" Type="http://schemas.openxmlformats.org/officeDocument/2006/relationships/slide" Target="slide2.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7/hongyan.tong.risk.factors.for.early.death.and.poor.survival.in.hemophagocytic.html?f=menu%3D6%2Abrowseby%3D8%2Asortby%3D6%2Amedia%3D3%2Ace_id%3D2934%2Aot_id%3D115576%2Amarker%3D6766%2Afeatured%3D20138" TargetMode="External"/><Relationship Id="rId3" Type="http://schemas.openxmlformats.org/officeDocument/2006/relationships/slide" Target="slide2.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7/hongyan.tong.risk.factors.for.early.death.and.poor.survival.in.hemophagocytic.html?f=menu%3D6%2Abrowseby%3D8%2Asortby%3D6%2Amedia%3D3%2Ace_id%3D2934%2Aot_id%3D115576%2Amarker%3D6766%2Afeatured%3D20138" TargetMode="External"/><Relationship Id="rId3" Type="http://schemas.openxmlformats.org/officeDocument/2006/relationships/slide" Target="slide2.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87/hongyan.tong.risk.factors.for.early.death.and.poor.survival.in.hemophagocytic.html?f=menu%3D6%2Abrowseby%3D8%2Asortby%3D6%2Amedia%3D3%2Ace_id%3D2934%2Aot_id%3D115576%2Amarker%3D6766%2Afeatured%3D20138" TargetMode="External"/><Relationship Id="rId3" Type="http://schemas.openxmlformats.org/officeDocument/2006/relationships/slide" Target="slide2.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15/christina.schniederjohann.spatially.organized.macrophage.phenotypes.define.html?f=menu%3D6%2Abrowseby%3D8%2Asortby%3D6%2Amedia%3D3%2Ace_id%3D2934%2Aot_id%3D115595%2Amarker%3D6766%2Afeatured%3D20138" TargetMode="External"/><Relationship Id="rId3" Type="http://schemas.openxmlformats.org/officeDocument/2006/relationships/slide" Target="slide2.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15/christina.schniederjohann.spatially.organized.macrophage.phenotypes.define.html?f=menu%3D6%2Abrowseby%3D8%2Asortby%3D6%2Amedia%3D3%2Ace_id%3D2934%2Aot_id%3D115595%2Amarker%3D6766%2Afeatured%3D20138" TargetMode="External"/><Relationship Id="rId3" Type="http://schemas.openxmlformats.org/officeDocument/2006/relationships/slide" Target="slide2.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9/paw.jensen.impact.ofvincristinedosemodificationsor.html?f=menu%3D6%2Abrowseby%3D8%2Asortby%3D6%2Amedia%3D3%2Ace_id%3D2934%2Aot_id%3D115576%2Amarker%3D6766%2Afeatured%3D20138" TargetMode="External"/><Relationship Id="rId3" Type="http://schemas.openxmlformats.org/officeDocument/2006/relationships/slide" Target="slide2.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9/paw.jensen.impact.ofvincristinedosemodificationsor.html?f=menu%3D6%2Abrowseby%3D8%2Asortby%3D6%2Amedia%3D3%2Ace_id%3D2934%2Aot_id%3D115576%2Amarker%3D6766%2Afeatured%3D20138" TargetMode="External"/><Relationship Id="rId3" Type="http://schemas.openxmlformats.org/officeDocument/2006/relationships/slide" Target="slide2.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9/paw.jensen.impact.ofvincristinedosemodificationsor.html?f=menu%3D6%2Abrowseby%3D8%2Asortby%3D6%2Amedia%3D3%2Ace_id%3D2934%2Aot_id%3D115576%2Amarker%3D6766%2Afeatured%3D20138" TargetMode="External"/><Relationship Id="rId3" Type="http://schemas.openxmlformats.org/officeDocument/2006/relationships/slide" Target="slide2.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9/paw.jensen.impact.ofvincristinedosemodificationsor.html?f=menu%3D6%2Abrowseby%3D8%2Asortby%3D6%2Amedia%3D3%2Ace_id%3D2934%2Aot_id%3D115576%2Amarker%3D6766%2Afeatured%3D20138" TargetMode="External"/><Relationship Id="rId3" Type="http://schemas.openxmlformats.org/officeDocument/2006/relationships/slide" Target="slide2.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9/paw.jensen.impact.ofvincristinedosemodificationsor.html?f=menu%3D6%2Abrowseby%3D8%2Asortby%3D6%2Amedia%3D3%2Ace_id%3D2934%2Aot_id%3D115576%2Amarker%3D6766%2Afeatured%3D20138" TargetMode="External"/><Relationship Id="rId3" Type="http://schemas.openxmlformats.org/officeDocument/2006/relationships/slide" Target="slide2.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6/david.j.andorsky.realworld.treatment.patterns.and.outcomes.of.first-line.281l29.html?f=menu%3D6%2Abrowseby%3D8%2Asortby%3D6%2Amedia%3D3%2Ace_id%3D2934%2Aot_id%3D115576%2Amarker%3D6766%2Afeatured%3D20138" TargetMode="External"/><Relationship Id="rId3" Type="http://schemas.openxmlformats.org/officeDocument/2006/relationships/slide" Target="slide2.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6/david.j.andorsky.realworld.treatment.patterns.and.outcomes.of.first-line.281l29.html?f=menu%3D6%2Abrowseby%3D8%2Asortby%3D6%2Amedia%3D3%2Ace_id%3D2934%2Aot_id%3D115576%2Amarker%3D6766%2Afeatured%3D20138" TargetMode="External"/><Relationship Id="rId3" Type="http://schemas.openxmlformats.org/officeDocument/2006/relationships/slide" Target="slide2.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6/david.j.andorsky.realworld.treatment.patterns.and.outcomes.of.first-line.281l29.html?f=menu%3D6%2Abrowseby%3D8%2Asortby%3D6%2Amedia%3D3%2Ace_id%3D2934%2Aot_id%3D115576%2Amarker%3D6766%2Afeatured%3D20138" TargetMode="External"/><Relationship Id="rId3" Type="http://schemas.openxmlformats.org/officeDocument/2006/relationships/slide" Target="slide2.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8/yingyu.dong.low.expression.of.zfp36l1.predicts.poor.outcomes.and.associates.html?f=menu%3D6%2Abrowseby%3D8%2Asortby%3D6%2Amedia%3D3%2Ace_id%3D2934%2Aot_id%3D115576%2Amarker%3D6766%2Afeatured%3D20138" TargetMode="External"/><Relationship Id="rId3" Type="http://schemas.openxmlformats.org/officeDocument/2006/relationships/slide" Target="slide2.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8/yingyu.dong.low.expression.of.zfp36l1.predicts.poor.outcomes.and.associates.html?f=menu%3D6%2Abrowseby%3D8%2Asortby%3D6%2Amedia%3D3%2Ace_id%3D2934%2Aot_id%3D115576%2Amarker%3D6766%2Afeatured%3D20138" TargetMode="External"/><Relationship Id="rId3" Type="http://schemas.openxmlformats.org/officeDocument/2006/relationships/slide" Target="slide2.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52/tom.van.den.bosch.early.outcome.prediction.of.diffuse.large.b-cell.lymphoma.html?f=menu%3D6%2Abrowseby%3D8%2Asortby%3D6%2Amedia%3D3%2Ace_id%3D2934%2Aot_id%3D115595%2Amarker%3D6766%2Afeatured%3D20138" TargetMode="External"/><Relationship Id="rId3" Type="http://schemas.openxmlformats.org/officeDocument/2006/relationships/slide" Target="slide2.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52/tom.van.den.bosch.early.outcome.prediction.of.diffuse.large.b-cell.lymphoma.html?f=menu%3D6%2Abrowseby%3D8%2Asortby%3D6%2Amedia%3D3%2Ace_id%3D2934%2Aot_id%3D115595%2Amarker%3D6766%2Afeatured%3D20138" TargetMode="External"/><Relationship Id="rId3" Type="http://schemas.openxmlformats.org/officeDocument/2006/relationships/slide" Target="slide2.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0/natalia.sunarto.outcomes.of.consolidative.radiotherapy.and.survival.in.html?f=menu%3D6%2Abrowseby%3D8%2Asortby%3D6%2Amedia%3D3%2Ace_id%3D2934%2Aot_id%3D115576%2Amarker%3D6766%2Afeatured%3D20138" TargetMode="External"/><Relationship Id="rId3" Type="http://schemas.openxmlformats.org/officeDocument/2006/relationships/slide" Target="slide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0/natalia.sunarto.outcomes.of.consolidative.radiotherapy.and.survival.in.html?f=menu%3D6%2Abrowseby%3D8%2Asortby%3D6%2Amedia%3D3%2Ace_id%3D2934%2Aot_id%3D115576%2Amarker%3D6766%2Afeatured%3D20138" TargetMode="External"/><Relationship Id="rId3" Type="http://schemas.openxmlformats.org/officeDocument/2006/relationships/slide" Target="slide2.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0/natalia.sunarto.outcomes.of.consolidative.radiotherapy.and.survival.in.html?f=menu%3D6%2Abrowseby%3D8%2Asortby%3D6%2Amedia%3D3%2Ace_id%3D2934%2Aot_id%3D115576%2Amarker%3D6766%2Afeatured%3D20138" TargetMode="External"/><Relationship Id="rId3" Type="http://schemas.openxmlformats.org/officeDocument/2006/relationships/slide" Target="slide2.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0/natalia.sunarto.outcomes.of.consolidative.radiotherapy.and.survival.in.html?f=menu%3D6%2Abrowseby%3D8%2Asortby%3D6%2Amedia%3D3%2Ace_id%3D2934%2Aot_id%3D115576%2Amarker%3D6766%2Afeatured%3D20138" TargetMode="External"/><Relationship Id="rId3" Type="http://schemas.openxmlformats.org/officeDocument/2006/relationships/slide" Target="slide2.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10/natalia.sunarto.outcomes.of.consolidative.radiotherapy.and.survival.in.html?f=menu%3D6%2Abrowseby%3D8%2Asortby%3D6%2Amedia%3D3%2Ace_id%3D2934%2Aot_id%3D115576%2Amarker%3D6766%2Afeatured%3D20138" TargetMode="External"/><Relationship Id="rId3" Type="http://schemas.openxmlformats.org/officeDocument/2006/relationships/slide" Target="slide2.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7/silje.post.strm.addition.of.high-dose.methotrexate.to.standard.first-line.html?f=menu%3D6%2Abrowseby%3D8%2Asortby%3D6%2Amedia%3D3%2Ace_id%3D2934%2Aot_id%3D115576%2Amarker%3D6766%2Afeatured%3D20138" TargetMode="External"/><Relationship Id="rId3" Type="http://schemas.openxmlformats.org/officeDocument/2006/relationships/slide" Target="slide2.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7/silje.post.strm.addition.of.high-dose.methotrexate.to.standard.first-line.html?f=menu%3D6%2Abrowseby%3D8%2Asortby%3D6%2Amedia%3D3%2Ace_id%3D2934%2Aot_id%3D115576%2Amarker%3D6766%2Afeatured%3D20138" TargetMode="External"/><Relationship Id="rId3" Type="http://schemas.openxmlformats.org/officeDocument/2006/relationships/slide" Target="slide2.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5/shivam.patel.treatment.access.eliminates.racial.disparities.but.cannot.html?f=menu%3D6%2Abrowseby%3D8%2Asortby%3D6%2Amedia%3D3%2Ace_id%3D2934%2Aot_id%3D115576%2Amarker%3D6766%2Afeatured%3D20138" TargetMode="External"/><Relationship Id="rId3" Type="http://schemas.openxmlformats.org/officeDocument/2006/relationships/slide" Target="slide2.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5/shivam.patel.treatment.access.eliminates.racial.disparities.but.cannot.html?f=menu%3D6%2Abrowseby%3D8%2Asortby%3D6%2Amedia%3D3%2Ace_id%3D2934%2Aot_id%3D115576%2Amarker%3D6766%2Afeatured%3D20138" TargetMode="External"/><Relationship Id="rId3" Type="http://schemas.openxmlformats.org/officeDocument/2006/relationships/slide" Target="slide2.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7/henry.kouva.prognostic.value.of.deauville.5-point.scale.assessed.on.pet-ct.html?f=menu%3D6%2Abrowseby%3D8%2Asortby%3D6%2Amedia%3D3%2Ace_id%3D2934%2Aot_id%3D115576%2Amarker%3D6766%2Afeatured%3D20138" TargetMode="External"/><Relationship Id="rId3" Type="http://schemas.openxmlformats.org/officeDocument/2006/relationships/slide" Target="slide2.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7/henry.kouva.prognostic.value.of.deauville.5-point.scale.assessed.on.pet-ct.html?f=menu%3D6%2Abrowseby%3D8%2Asortby%3D6%2Amedia%3D3%2Ace_id%3D2934%2Aot_id%3D115576%2Amarker%3D6766%2Afeatured%3D20138" TargetMode="External"/><Relationship Id="rId3" Type="http://schemas.openxmlformats.org/officeDocument/2006/relationships/slide" Target="slide2.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67/henry.kouva.prognostic.value.of.deauville.5-point.scale.assessed.on.pet-ct.html?f=menu%3D6%2Abrowseby%3D8%2Asortby%3D6%2Amedia%3D3%2Ace_id%3D2934%2Aot_id%3D115576%2Amarker%3D6766%2Afeatured%3D20138" TargetMode="External"/><Relationship Id="rId3" Type="http://schemas.openxmlformats.org/officeDocument/2006/relationships/slide" Target="slide2.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12/jinhua.liang.integrated.clinical.and.genetic.scoring.refines.prognosis.in.dark.html?f=menu%3D6%2Abrowseby%3D8%2Asortby%3D6%2Amedia%3D3%2Ace_id%3D2934%2Aot_id%3D115576%2Amarker%3D6765%2Afeatured%3D20138" TargetMode="External"/><Relationship Id="rId3" Type="http://schemas.openxmlformats.org/officeDocument/2006/relationships/slide" Target="slide2.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12/jinhua.liang.integrated.clinical.and.genetic.scoring.refines.prognosis.in.dark.html?f=menu%3D6%2Abrowseby%3D8%2Asortby%3D6%2Amedia%3D3%2Ace_id%3D2934%2Aot_id%3D115576%2Amarker%3D6765%2Afeatured%3D20138" TargetMode="External"/><Relationship Id="rId3" Type="http://schemas.openxmlformats.org/officeDocument/2006/relationships/slide" Target="slide2.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10/nick.veltmaat.circulating.tumor.dna.reveals.lymphoma-associated.mutations.long.html?f=menu%3D6%2Abrowseby%3D8%2Asortby%3D6%2Amedia%3D3%2Ace_id%3D2934%2Aot_id%3D115595%2Amarker%3D6765%2Afeatured%3D20138" TargetMode="External"/><Relationship Id="rId3" Type="http://schemas.openxmlformats.org/officeDocument/2006/relationships/slide" Target="slide2.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10/nick.veltmaat.circulating.tumor.dna.reveals.lymphoma-associated.mutations.long.html?f=menu%3D6%2Abrowseby%3D8%2Asortby%3D6%2Amedia%3D3%2Ace_id%3D2934%2Aot_id%3D115595%2Amarker%3D6765%2Afeatured%3D20138" TargetMode="External"/><Relationship Id="rId3" Type="http://schemas.openxmlformats.org/officeDocument/2006/relationships/slide" Target="slide2.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98/lotta.ravattinen.factors.predicting.relapse.after.autologous.hematopoietic.html?f=menu%3D6%2Abrowseby%3D8%2Asortby%3D6%2Amedia%3D3%2Ace_id%3D2934%2Aot_id%3D115598%2Amarker%3D6766%2Afeatured%3D20138" TargetMode="External"/><Relationship Id="rId3" Type="http://schemas.openxmlformats.org/officeDocument/2006/relationships/slide" Target="slide2.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98/lotta.ravattinen.factors.predicting.relapse.after.autologous.hematopoietic.html?f=menu%3D6%2Abrowseby%3D8%2Asortby%3D6%2Amedia%3D3%2Ace_id%3D2934%2Aot_id%3D115598%2Amarker%3D6766%2Afeatured%3D20138" TargetMode="External"/><Relationship Id="rId3" Type="http://schemas.openxmlformats.org/officeDocument/2006/relationships/slide" Target="slide2.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57/sarah.elkorashy.the.microbiome-lymphoma.axis.a.systematic.review.and.html?f=menu%3D6%2Abrowseby%3D8%2Asortby%3D6%2Amedia%3D3%2Ace_id%3D2934%2Aot_id%3D115595%2Amarker%3D6766%2Afeatured%3D20138" TargetMode="External"/><Relationship Id="rId3" Type="http://schemas.openxmlformats.org/officeDocument/2006/relationships/slide" Target="slide2.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57/sarah.elkorashy.the.microbiome-lymphoma.axis.a.systematic.review.and.html?f=menu%3D6%2Abrowseby%3D8%2Asortby%3D6%2Amedia%3D3%2Ace_id%3D2934%2Aot_id%3D115595%2Amarker%3D6766%2Afeatured%3D20138" TargetMode="External"/><Relationship Id="rId3" Type="http://schemas.openxmlformats.org/officeDocument/2006/relationships/slide" Target="slide2.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39/nikita.kotlov.overlaying.tp53.loss.and.aneuploidy.with.distinct.diffuse.large.html?f=menu%3D6%2Abrowseby%3D8%2Asortby%3D6%2Amedia%3D3%2Ace_id%3D2934%2Aot_id%3D115595%2Amarker%3D6766%2Afeatured%3D20138" TargetMode="External"/><Relationship Id="rId3" Type="http://schemas.openxmlformats.org/officeDocument/2006/relationships/slide" Target="slide2.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39/nikita.kotlov.overlaying.tp53.loss.and.aneuploidy.with.distinct.diffuse.large.html?f=menu%3D6%2Abrowseby%3D8%2Asortby%3D6%2Amedia%3D3%2Ace_id%3D2934%2Aot_id%3D115595%2Amarker%3D6766%2Afeatured%3D20138" TargetMode="External"/><Relationship Id="rId3" Type="http://schemas.openxmlformats.org/officeDocument/2006/relationships/slide" Target="slide2.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39/nikita.kotlov.overlaying.tp53.loss.and.aneuploidy.with.distinct.diffuse.large.html?f=menu%3D6%2Abrowseby%3D8%2Asortby%3D6%2Amedia%3D3%2Ace_id%3D2934%2Aot_id%3D115595%2Amarker%3D6766%2Afeatured%3D20138" TargetMode="External"/><Relationship Id="rId3" Type="http://schemas.openxmlformats.org/officeDocument/2006/relationships/slide" Target="slide2.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39/nikita.kotlov.overlaying.tp53.loss.and.aneuploidy.with.distinct.diffuse.large.html?f=menu%3D6%2Abrowseby%3D8%2Asortby%3D6%2Amedia%3D3%2Ace_id%3D2934%2Aot_id%3D115595%2Amarker%3D6766%2Afeatured%3D20138" TargetMode="External"/><Relationship Id="rId3" Type="http://schemas.openxmlformats.org/officeDocument/2006/relationships/slide" Target="slide2.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93/luis.villela.differences.in.outcomes.for.elderly.patients.with.dlbcl.treated.html?f=menu%3D6%2Abrowseby%3D8%2Asortby%3D6%2Amedia%3D3%2Ace_id%3D2934%2Aot_id%3D115596%2Amarker%3D6766%2Afeatured%3D20138" TargetMode="External"/><Relationship Id="rId3" Type="http://schemas.openxmlformats.org/officeDocument/2006/relationships/slide" Target="slide2.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93/luis.villela.differences.in.outcomes.for.elderly.patients.with.dlbcl.treated.html?f=menu%3D6%2Abrowseby%3D8%2Asortby%3D6%2Amedia%3D3%2Ace_id%3D2934%2Aot_id%3D115596%2Amarker%3D6766%2Afeatured%3D20138" TargetMode="External"/><Relationship Id="rId3" Type="http://schemas.openxmlformats.org/officeDocument/2006/relationships/slide" Target="slide2.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93/luis.villela.differences.in.outcomes.for.elderly.patients.with.dlbcl.treated.html?f=menu%3D6%2Abrowseby%3D8%2Asortby%3D6%2Amedia%3D3%2Ace_id%3D2934%2Aot_id%3D115596%2Amarker%3D6766%2Afeatured%3D20138" TargetMode="External"/><Relationship Id="rId3" Type="http://schemas.openxmlformats.org/officeDocument/2006/relationships/slide" Target="slide2.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93/luis.villela.differences.in.outcomes.for.elderly.patients.with.dlbcl.treated.html?f=menu%3D6%2Abrowseby%3D8%2Asortby%3D6%2Amedia%3D3%2Ace_id%3D2934%2Aot_id%3D115596%2Amarker%3D6766%2Afeatured%3D20138" TargetMode="External"/><Relationship Id="rId3" Type="http://schemas.openxmlformats.org/officeDocument/2006/relationships/slide" Target="slide2.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93/luis.villela.differences.in.outcomes.for.elderly.patients.with.dlbcl.treated.html?f=menu%3D6%2Abrowseby%3D8%2Asortby%3D6%2Amedia%3D3%2Ace_id%3D2934%2Aot_id%3D115596%2Amarker%3D6766%2Afeatured%3D20138" TargetMode="External"/><Relationship Id="rId3" Type="http://schemas.openxmlformats.org/officeDocument/2006/relationships/slide" Target="slide2.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4/antonios.balantinakis.extranodal.involvement.and.site-specific.survival.in.html?f=menu%3D6%2Abrowseby%3D8%2Asortby%3D6%2Amedia%3D3%2Ace_id%3D2934%2Aot_id%3D115576%2Amarker%3D6766%2Afeatured%3D20138" TargetMode="External"/><Relationship Id="rId3" Type="http://schemas.openxmlformats.org/officeDocument/2006/relationships/slide" Target="slide2.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4/antonios.balantinakis.extranodal.involvement.and.site-specific.survival.in.html?f=menu%3D6%2Abrowseby%3D8%2Asortby%3D6%2Amedia%3D3%2Ace_id%3D2934%2Aot_id%3D115576%2Amarker%3D6766%2Afeatured%3D20138" TargetMode="External"/><Relationship Id="rId3" Type="http://schemas.openxmlformats.org/officeDocument/2006/relationships/slide" Target="slide2.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7/yoshimasa.kamoda.a.fully.objective.3variable.prognostic.score.for.diffuse.html?f=menu%3D6%2Abrowseby%3D8%2Asortby%3D6%2Amedia%3D3%2Ace_id%3D2934%2Aot_id%3D115576%2Amarker%3D6766%2Afeatured%3D20138" TargetMode="External"/><Relationship Id="rId3" Type="http://schemas.openxmlformats.org/officeDocument/2006/relationships/slide" Target="slide2.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7/yoshimasa.kamoda.a.fully.objective.3variable.prognostic.score.for.diffuse.html?f=menu%3D6%2Abrowseby%3D8%2Asortby%3D6%2Amedia%3D3%2Ace_id%3D2934%2Aot_id%3D115576%2Amarker%3D6766%2Afeatured%3D20138" TargetMode="External"/><Relationship Id="rId3" Type="http://schemas.openxmlformats.org/officeDocument/2006/relationships/slide" Target="slide2.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01/junlei.jia.clinical.genetic.and.immune.microenvironmental.landscapes.of.html?f=menu%3D6%2Abrowseby%3D8%2Asortby%3D6%2Amedia%3D3%2Ace_id%3D2934%2Aot_id%3D115596%2Amarker%3D6765%2Afeatured%3D20138" TargetMode="External"/><Relationship Id="rId3" Type="http://schemas.openxmlformats.org/officeDocument/2006/relationships/slide" Target="slide2.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01/junlei.jia.clinical.genetic.and.immune.microenvironmental.landscapes.of.html?f=menu%3D6%2Abrowseby%3D8%2Asortby%3D6%2Amedia%3D3%2Ace_id%3D2934%2Aot_id%3D115596%2Amarker%3D6765%2Afeatured%3D20138" TargetMode="External"/><Relationship Id="rId3" Type="http://schemas.openxmlformats.org/officeDocument/2006/relationships/slide" Target="slide2.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93/takahiro.haeno.clonal.complexity.defines.distinct.tumor-intrinsic.biology.and.html?f=menu%3D6%2Abrowseby%3D8%2Asortby%3D6%2Amedia%3D3%2Ace_id%3D2934%2Aot_id%3D115595%2Amarker%3D6766%2Afeatured%3D20138" TargetMode="External"/><Relationship Id="rId3" Type="http://schemas.openxmlformats.org/officeDocument/2006/relationships/slide" Target="slide2.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93/takahiro.haeno.clonal.complexity.defines.distinct.tumor-intrinsic.biology.and.html?f=menu%3D6%2Abrowseby%3D8%2Asortby%3D6%2Amedia%3D3%2Ace_id%3D2934%2Aot_id%3D115595%2Amarker%3D6766%2Afeatured%3D20138" TargetMode="External"/><Relationship Id="rId3" Type="http://schemas.openxmlformats.org/officeDocument/2006/relationships/slide" Target="slide2.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63/ariadna.colmenero.genomic.architecture.of.irf4.rearrangements.in.children.and.html?f=menu%3D6%2Abrowseby%3D8%2Asortby%3D6%2Amedia%3D3%2Ace_id%3D2934%2Aot_id%3D115595%2Amarker%3D6766%2Afeatured%3D20138" TargetMode="External"/><Relationship Id="rId3" Type="http://schemas.openxmlformats.org/officeDocument/2006/relationships/slide" Target="slide2.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63/ariadna.colmenero.genomic.architecture.of.irf4.rearrangements.in.children.and.html?f=menu%3D6%2Abrowseby%3D8%2Asortby%3D6%2Amedia%3D3%2Ace_id%3D2934%2Aot_id%3D115595%2Amarker%3D6766%2Afeatured%3D20138" TargetMode="External"/><Relationship Id="rId3" Type="http://schemas.openxmlformats.org/officeDocument/2006/relationships/slide" Target="slide2.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60/tom.van.den.bosch.chromosome.8q.copy.number.gain.predicts.early.relapse.in.html?f=menu%3D6%2Abrowseby%3D8%2Asortby%3D6%2Amedia%3D3%2Ace_id%3D2934%2Aot_id%3D115595%2Amarker%3D6766%2Afeatured%3D20138" TargetMode="External"/><Relationship Id="rId3" Type="http://schemas.openxmlformats.org/officeDocument/2006/relationships/slide" Target="slide2.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60/tom.van.den.bosch.chromosome.8q.copy.number.gain.predicts.early.relapse.in.html?f=menu%3D6%2Abrowseby%3D8%2Asortby%3D6%2Amedia%3D3%2Ace_id%3D2934%2Aot_id%3D115595%2Amarker%3D6766%2Afeatured%3D20138" TargetMode="External"/><Relationship Id="rId3" Type="http://schemas.openxmlformats.org/officeDocument/2006/relationships/slide" Target="slide2.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5/shaoying.li.the.clinical.significance.of.myc.bcl6.fusion.in.myc.bcl6.double.html?f=menu%3D6%2Abrowseby%3D8%2Asortby%3D6%2Amedia%3D3%2Ace_id%3D2934%2Aot_id%3D115576%2Amarker%3D6766%2Afeatured%3D20138" TargetMode="External"/><Relationship Id="rId3" Type="http://schemas.openxmlformats.org/officeDocument/2006/relationships/slide" Target="slide2.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5/shaoying.li.the.clinical.significance.of.myc.bcl6.fusion.in.myc.bcl6.double.html?f=menu%3D6%2Abrowseby%3D8%2Asortby%3D6%2Amedia%3D3%2Ace_id%3D2934%2Aot_id%3D115576%2Amarker%3D6766%2Afeatured%3D20138" TargetMode="External"/><Relationship Id="rId3" Type="http://schemas.openxmlformats.org/officeDocument/2006/relationships/slide" Target="slide2.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64/william.mlgaard.ullahammer.temporal.trends.in.infection-related.proportional.html?f=menu%3D6%2Abrowseby%3D8%2Asortby%3D6%2Amedia%3D3%2Ace_id%3D2934%2Aot_id%3D115606%2Amarker%3D6765%2Afeatured%3D20138" TargetMode="External"/><Relationship Id="rId3" Type="http://schemas.openxmlformats.org/officeDocument/2006/relationships/slide" Target="slide2.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64/william.mlgaard.ullahammer.temporal.trends.in.infection-related.proportional.html?f=menu%3D6%2Abrowseby%3D8%2Asortby%3D6%2Amedia%3D3%2Ace_id%3D2934%2Aot_id%3D115606%2Amarker%3D6765%2Afeatured%3D20138" TargetMode="External"/><Relationship Id="rId3" Type="http://schemas.openxmlformats.org/officeDocument/2006/relationships/slide" Target="slide2.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64/william.mlgaard.ullahammer.temporal.trends.in.infection-related.proportional.html?f=menu%3D6%2Abrowseby%3D8%2Asortby%3D6%2Amedia%3D3%2Ace_id%3D2934%2Aot_id%3D115606%2Amarker%3D6765%2Afeatured%3D20138" TargetMode="External"/><Relationship Id="rId3" Type="http://schemas.openxmlformats.org/officeDocument/2006/relationships/slide" Target="slide2.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4/federico.erbella.allogeneic.hematopoietic.stem.cell.transplant.as.html?f=menu%3D6%2Abrowseby%3D8%2Asortby%3D6%2Amedia%3D3%2Ace_id%3D2934%2Aot_id%3D115576%2Amarker%3D6766%2Afeatured%3D20138" TargetMode="External"/><Relationship Id="rId3" Type="http://schemas.openxmlformats.org/officeDocument/2006/relationships/slide" Target="slide2.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74/federico.erbella.allogeneic.hematopoietic.stem.cell.transplant.as.html?f=menu%3D6%2Abrowseby%3D8%2Asortby%3D6%2Amedia%3D3%2Ace_id%3D2934%2Aot_id%3D115576%2Amarker%3D6766%2Afeatured%3D20138" TargetMode="External"/><Relationship Id="rId3" Type="http://schemas.openxmlformats.org/officeDocument/2006/relationships/slide" Target="slide2.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302/kuan-der.lee.cost-effectiveness.of.axicabtagene.ciloleucel.in.taiwanese.html?f=menu%3D6%2Abrowseby%3D8%2Asortby%3D6%2Amedia%3D3%2Ace_id%3D2934%2Aot_id%3D115611%2Amarker%3D6766%2Afeatured%3D20138" TargetMode="External"/><Relationship Id="rId3" Type="http://schemas.openxmlformats.org/officeDocument/2006/relationships/slide" Target="slide2.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302/kuan-der.lee.cost-effectiveness.of.axicabtagene.ciloleucel.in.taiwanese.html?f=menu%3D6%2Abrowseby%3D8%2Asortby%3D6%2Amedia%3D3%2Ace_id%3D2934%2Aot_id%3D115611%2Amarker%3D6766%2Afeatured%3D20138" TargetMode="External"/><Relationship Id="rId3" Type="http://schemas.openxmlformats.org/officeDocument/2006/relationships/slide" Target="slide2.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8/giuseppe.gritti.risk.for.cytokine.release.syndrome.in.patients.with.large.html?f=menu%3D6%2Abrowseby%3D8%2Asortby%3D6%2Amedia%3D3%2Ace_id%3D2934%2Aot_id%3D115576%2Amarker%3D6766%2Afeatured%3D20138" TargetMode="External"/><Relationship Id="rId3" Type="http://schemas.openxmlformats.org/officeDocument/2006/relationships/slide" Target="slide2.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8/giuseppe.gritti.risk.for.cytokine.release.syndrome.in.patients.with.large.html?f=menu%3D6%2Abrowseby%3D8%2Asortby%3D6%2Amedia%3D3%2Ace_id%3D2934%2Aot_id%3D115576%2Amarker%3D6766%2Afeatured%3D20138" TargetMode="External"/><Relationship Id="rId3" Type="http://schemas.openxmlformats.org/officeDocument/2006/relationships/slide" Target="slide2.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4/xia.zhao.high.proportion.of.intratumoral.tcf12B.t-cells.predicts.favorable.html?f=menu%3D6%2Abrowseby%3D8%2Asortby%3D6%2Amedia%3D3%2Ace_id%3D2934%2Aot_id%3D115576%2Amarker%3D6766%2Afeatured%3D20138" TargetMode="External"/><Relationship Id="rId3" Type="http://schemas.openxmlformats.org/officeDocument/2006/relationships/slide" Target="slide2.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4/xia.zhao.high.proportion.of.intratumoral.tcf12B.t-cells.predicts.favorable.html?f=menu%3D6%2Abrowseby%3D8%2Asortby%3D6%2Amedia%3D3%2Ace_id%3D2934%2Aot_id%3D115576%2Amarker%3D6766%2Afeatured%3D20138" TargetMode="External"/><Relationship Id="rId3" Type="http://schemas.openxmlformats.org/officeDocument/2006/relationships/slide" Target="slide2.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74/xia.zhao.high.proportion.of.intratumoral.tcf12B.t-cells.predicts.favorable.html?f=menu%3D6%2Abrowseby%3D8%2Asortby%3D6%2Amedia%3D3%2Ace_id%3D2934%2Aot_id%3D115576%2Amarker%3D6766%2Afeatured%3D20138" TargetMode="External"/><Relationship Id="rId3" Type="http://schemas.openxmlformats.org/officeDocument/2006/relationships/slide" Target="slide2.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51/yasuhiro.suzuki.clinical.and.biological.characteristics.of.mature.aggressive.html?f=menu%3D6%2Abrowseby%3D8%2Asortby%3D6%2Amedia%3D3%2Ace_id%3D2934%2Aot_id%3D115595%2Amarker%3D6766%2Afeatured%3D20138" TargetMode="External"/><Relationship Id="rId3" Type="http://schemas.openxmlformats.org/officeDocument/2006/relationships/slide" Target="slide2.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51/yasuhiro.suzuki.clinical.and.biological.characteristics.of.mature.aggressive.html?f=menu%3D6%2Abrowseby%3D8%2Asortby%3D6%2Amedia%3D3%2Ace_id%3D2934%2Aot_id%3D115595%2Amarker%3D6766%2Afeatured%3D20138" TargetMode="External"/><Relationship Id="rId3" Type="http://schemas.openxmlformats.org/officeDocument/2006/relationships/slide" Target="slide2.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45/kayleen.shi.going.for.seconds.clinical.outcomes.and.response.predictors.html?f=menu%3D6%2Abrowseby%3D8%2Asortby%3D6%2Amedia%3D3%2Ace_id%3D2934%2Aot_id%3D115601%2Amarker%3D6766%2Afeatured%3D20138" TargetMode="External"/><Relationship Id="rId3" Type="http://schemas.openxmlformats.org/officeDocument/2006/relationships/slide" Target="slide2.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45/kayleen.shi.going.for.seconds.clinical.outcomes.and.response.predictors.html?f=menu%3D6%2Abrowseby%3D8%2Asortby%3D6%2Amedia%3D3%2Ace_id%3D2934%2Aot_id%3D115601%2Amarker%3D6766%2Afeatured%3D20138" TargetMode="External"/><Relationship Id="rId3" Type="http://schemas.openxmlformats.org/officeDocument/2006/relationships/slide" Target="slide2.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9/allison.bock.impact.of.baseline.neutrophil-to-lymphocyte.ratio.28nlr29.on.html?f=menu%3D6%2Abrowseby%3D8%2Asortby%3D6%2Amedia%3D3%2Ace_id%3D2934%2Aot_id%3D115576%2Amarker%3D6766%2Afeatured%3D20138" TargetMode="External"/><Relationship Id="rId3" Type="http://schemas.openxmlformats.org/officeDocument/2006/relationships/slide" Target="slide2.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9/allison.bock.impact.of.baseline.neutrophil-to-lymphocyte.ratio.28nlr29.on.html?f=menu%3D6%2Abrowseby%3D8%2Asortby%3D6%2Amedia%3D3%2Ace_id%3D2934%2Aot_id%3D115576%2Amarker%3D6766%2Afeatured%3D20138" TargetMode="External"/><Relationship Id="rId3" Type="http://schemas.openxmlformats.org/officeDocument/2006/relationships/slide" Target="slide2.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9/allison.bock.impact.of.baseline.neutrophil-to-lymphocyte.ratio.28nlr29.on.html?f=menu%3D6%2Abrowseby%3D8%2Asortby%3D6%2Amedia%3D3%2Ace_id%3D2934%2Aot_id%3D115576%2Amarker%3D6766%2Afeatured%3D20138" TargetMode="External"/><Relationship Id="rId3" Type="http://schemas.openxmlformats.org/officeDocument/2006/relationships/slide" Target="slide2.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9/allison.bock.impact.of.baseline.neutrophil-to-lymphocyte.ratio.28nlr29.on.html?f=menu%3D6%2Abrowseby%3D8%2Asortby%3D6%2Amedia%3D3%2Ace_id%3D2934%2Aot_id%3D115576%2Amarker%3D6766%2Afeatured%3D20138" TargetMode="External"/><Relationship Id="rId3" Type="http://schemas.openxmlformats.org/officeDocument/2006/relationships/slide" Target="slide2.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9/allison.bock.impact.of.baseline.neutrophil-to-lymphocyte.ratio.28nlr29.on.html?f=menu%3D6%2Abrowseby%3D8%2Asortby%3D6%2Amedia%3D3%2Ace_id%3D2934%2Aot_id%3D115576%2Amarker%3D6766%2Afeatured%3D20138" TargetMode="External"/><Relationship Id="rId3" Type="http://schemas.openxmlformats.org/officeDocument/2006/relationships/slide" Target="slide2.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6/kristina.noring.infection.rates.in.patients.treated.with.car-t.versus.html?f=menu%3D6%2Abrowseby%3D8%2Asortby%3D6%2Amedia%3D3%2Ace_id%3D2934%2Aot_id%3D115576%2Amarker%3D6766%2Afeatured%3D20138" TargetMode="External"/><Relationship Id="rId3" Type="http://schemas.openxmlformats.org/officeDocument/2006/relationships/slide" Target="slide2.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36/kristina.noring.infection.rates.in.patients.treated.with.car-t.versus.html?f=menu%3D6%2Abrowseby%3D8%2Asortby%3D6%2Amedia%3D3%2Ace_id%3D2934%2Aot_id%3D115576%2Amarker%3D6766%2Afeatured%3D20138" TargetMode="External"/><Relationship Id="rId3" Type="http://schemas.openxmlformats.org/officeDocument/2006/relationships/slide" Target="slide2.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5/thomas.melchardt.real-world.outcomes.of.glofitamab.plus.gemcitabine.and.html?f=menu%3D6%2Abrowseby%3D8%2Asortby%3D6%2Amedia%3D3%2Ace_id%3D2934%2Aot_id%3D115576%2Amarker%3D6766%2Afeatured%3D20138" TargetMode="External"/><Relationship Id="rId3" Type="http://schemas.openxmlformats.org/officeDocument/2006/relationships/slide" Target="slide2.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25/thomas.melchardt.real-world.outcomes.of.glofitamab.plus.gemcitabine.and.html?f=menu%3D6%2Abrowseby%3D8%2Asortby%3D6%2Amedia%3D3%2Ace_id%3D2934%2Aot_id%3D115576%2Amarker%3D6766%2Afeatured%3D20138" TargetMode="External"/><Relationship Id="rId3" Type="http://schemas.openxmlformats.org/officeDocument/2006/relationships/slide" Target="slide2.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6/emmanuel.bachy.development.and.validation.of.car-ipi.a.machine.learningderived.html?f=menu%3D6%2Abrowseby%3D8%2Asortby%3D6%2Amedia%3D3%2Ace_id%3D2934%2Aot_id%3D115576%2Amarker%3D6766%2Afeatured%3D20138" TargetMode="External"/><Relationship Id="rId3" Type="http://schemas.openxmlformats.org/officeDocument/2006/relationships/slide" Target="slide2.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6/emmanuel.bachy.development.and.validation.of.car-ipi.a.machine.learningderived.html?f=menu%3D6%2Abrowseby%3D8%2Asortby%3D6%2Amedia%3D3%2Ace_id%3D2934%2Aot_id%3D115576%2Amarker%3D6766%2Afeatured%3D20138" TargetMode="External"/><Relationship Id="rId3" Type="http://schemas.openxmlformats.org/officeDocument/2006/relationships/slide" Target="slide2.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6/emmanuel.bachy.development.and.validation.of.car-ipi.a.machine.learningderived.html?f=menu%3D6%2Abrowseby%3D8%2Asortby%3D6%2Amedia%3D3%2Ace_id%3D2934%2Aot_id%3D115576%2Amarker%3D6766%2Afeatured%3D20138" TargetMode="External"/><Relationship Id="rId3" Type="http://schemas.openxmlformats.org/officeDocument/2006/relationships/slide" Target="slide2.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6/emmanuel.bachy.development.and.validation.of.car-ipi.a.machine.learningderived.html?f=menu%3D6%2Abrowseby%3D8%2Asortby%3D6%2Amedia%3D3%2Ace_id%3D2934%2Aot_id%3D115576%2Amarker%3D6766%2Afeatured%3D20138" TargetMode="External"/><Relationship Id="rId3" Type="http://schemas.openxmlformats.org/officeDocument/2006/relationships/slide" Target="slide2.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6/emmanuel.bachy.development.and.validation.of.car-ipi.a.machine.learningderived.html?f=menu%3D6%2Abrowseby%3D8%2Asortby%3D6%2Amedia%3D3%2Ace_id%3D2934%2Aot_id%3D115576%2Amarker%3D6766%2Afeatured%3D20138" TargetMode="External"/><Relationship Id="rId3" Type="http://schemas.openxmlformats.org/officeDocument/2006/relationships/slide" Target="slide2.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66/emmanuel.bachy.development.and.validation.of.car-ipi.a.machine.learningderived.html?f=menu%3D6%2Abrowseby%3D8%2Asortby%3D6%2Amedia%3D3%2Ace_id%3D2934%2Aot_id%3D115576%2Amarker%3D6766%2Afeatured%3D20138" TargetMode="External"/><Relationship Id="rId3" Type="http://schemas.openxmlformats.org/officeDocument/2006/relationships/slide" Target="slide2.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34/liang.wang.secondary.peripheral.t-cell.lymphoma.in.a.patient.of.dlbcl.html?f=menu%3D6%2Abrowseby%3D8%2Asortby%3D6%2Amedia%3D3%2Ace_id%3D2934%2Aot_id%3D115601%2Amarker%3D6766%2Afeatured%3D20138" TargetMode="External"/><Relationship Id="rId3" Type="http://schemas.openxmlformats.org/officeDocument/2006/relationships/slide" Target="slide2.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134/liang.wang.secondary.peripheral.t-cell.lymphoma.in.a.patient.of.dlbcl.html?f=menu%3D6%2Abrowseby%3D8%2Asortby%3D6%2Amedia%3D3%2Ace_id%3D2934%2Aot_id%3D115601%2Amarker%3D6766%2Afeatured%3D20138" TargetMode="External"/><Relationship Id="rId3" Type="http://schemas.openxmlformats.org/officeDocument/2006/relationships/slide" Target="slide2.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3/nicole-ann.lim.real-world.asian.multi-centre.cohort.study.on.outcomes.of.html?f=menu%3D6%2Abrowseby%3D8%2Asortby%3D6%2Amedia%3D3%2Ace_id%3D2934%2Aot_id%3D115576%2Amarker%3D6766%2Afeatured%3D20138" TargetMode="External"/><Relationship Id="rId3" Type="http://schemas.openxmlformats.org/officeDocument/2006/relationships/slide" Target="slide2.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93/nicole-ann.lim.real-world.asian.multi-centre.cohort.study.on.outcomes.of.html?f=menu%3D6%2Abrowseby%3D8%2Asortby%3D6%2Amedia%3D3%2Ace_id%3D2934%2Aot_id%3D115576%2Amarker%3D6766%2Afeatured%3D20138" TargetMode="External"/><Relationship Id="rId3" Type="http://schemas.openxmlformats.org/officeDocument/2006/relationships/slide" Target="slide2.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09/nawar.maher.dynamics.and.clinical.impact.of.clonal.hematopoiesis.in.diffuse.html?f=menu%3D6%2Abrowseby%3D8%2Asortby%3D6%2Amedia%3D3%2Ace_id%3D2934%2Aot_id%3D115595%2Amarker%3D6765%2Afeatured%3D20138" TargetMode="External"/><Relationship Id="rId3" Type="http://schemas.openxmlformats.org/officeDocument/2006/relationships/slide" Target="slide2.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09/nawar.maher.dynamics.and.clinical.impact.of.clonal.hematopoiesis.in.diffuse.html?f=menu%3D6%2Abrowseby%3D8%2Asortby%3D6%2Amedia%3D3%2Ace_id%3D2934%2Aot_id%3D115595%2Amarker%3D6765%2Afeatured%3D20138" TargetMode="External"/><Relationship Id="rId3" Type="http://schemas.openxmlformats.org/officeDocument/2006/relationships/slide" Target="slide2.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09/nawar.maher.dynamics.and.clinical.impact.of.clonal.hematopoiesis.in.diffuse.html?f=menu%3D6%2Abrowseby%3D8%2Asortby%3D6%2Amedia%3D3%2Ace_id%3D2934%2Aot_id%3D115595%2Amarker%3D6765%2Afeatured%3D20138" TargetMode="External"/><Relationship Id="rId3" Type="http://schemas.openxmlformats.org/officeDocument/2006/relationships/slide" Target="slide2.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09/nawar.maher.dynamics.and.clinical.impact.of.clonal.hematopoiesis.in.diffuse.html?f=menu%3D6%2Abrowseby%3D8%2Asortby%3D6%2Amedia%3D3%2Ace_id%3D2934%2Aot_id%3D115595%2Amarker%3D6765%2Afeatured%3D20138" TargetMode="External"/><Relationship Id="rId3" Type="http://schemas.openxmlformats.org/officeDocument/2006/relationships/slide" Target="slide2.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09/nawar.maher.dynamics.and.clinical.impact.of.clonal.hematopoiesis.in.diffuse.html?f=menu%3D6%2Abrowseby%3D8%2Asortby%3D6%2Amedia%3D3%2Ace_id%3D2934%2Aot_id%3D115595%2Amarker%3D6765%2Afeatured%3D20138" TargetMode="External"/><Relationship Id="rId3" Type="http://schemas.openxmlformats.org/officeDocument/2006/relationships/slide" Target="slide2.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09/nawar.maher.dynamics.and.clinical.impact.of.clonal.hematopoiesis.in.diffuse.html?f=menu%3D6%2Abrowseby%3D8%2Asortby%3D6%2Amedia%3D3%2Ace_id%3D2934%2Aot_id%3D115595%2Amarker%3D6765%2Afeatured%3D20138" TargetMode="External"/><Relationship Id="rId3" Type="http://schemas.openxmlformats.org/officeDocument/2006/relationships/slide" Target="slide2.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2/xinzhu.tang.development.of.a.prognostic.model.incorporating.plasma.ebv-dna.html?f=menu%3D6%2Abrowseby%3D8%2Asortby%3D6%2Amedia%3D3%2Ace_id%3D2934%2Aot_id%3D115576%2Amarker%3D6766%2Afeatured%3D20138" TargetMode="External"/><Relationship Id="rId3" Type="http://schemas.openxmlformats.org/officeDocument/2006/relationships/slide" Target="slide2.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2/xinzhu.tang.development.of.a.prognostic.model.incorporating.plasma.ebv-dna.html?f=menu%3D6%2Abrowseby%3D8%2Asortby%3D6%2Amedia%3D3%2Ace_id%3D2934%2Aot_id%3D115576%2Amarker%3D6766%2Afeatured%3D20138" TargetMode="External"/><Relationship Id="rId3" Type="http://schemas.openxmlformats.org/officeDocument/2006/relationships/slide" Target="slide2.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2/xinzhu.tang.development.of.a.prognostic.model.incorporating.plasma.ebv-dna.html?f=menu%3D6%2Abrowseby%3D8%2Asortby%3D6%2Amedia%3D3%2Ace_id%3D2934%2Aot_id%3D115576%2Amarker%3D6766%2Afeatured%3D20138" TargetMode="External"/><Relationship Id="rId3" Type="http://schemas.openxmlformats.org/officeDocument/2006/relationships/slide" Target="slide2.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24/he.huang.the.real-world.efficacy.ofbrutons.tyrosine.kinaseinhibitors.plus.html?f=menu%3D6%2Abrowseby%3D8%2Asortby%3D6%2Amedia%3D3%2Ace_id%3D2934%2Aot_id%3D115596%2Amarker%3D6766%2Afeatured%3D20138" TargetMode="External"/><Relationship Id="rId3" Type="http://schemas.openxmlformats.org/officeDocument/2006/relationships/slide" Target="slide2.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24/he.huang.the.real-world.efficacy.ofbrutons.tyrosine.kinaseinhibitors.plus.html?f=menu%3D6%2Abrowseby%3D8%2Asortby%3D6%2Amedia%3D3%2Ace_id%3D2934%2Aot_id%3D115596%2Amarker%3D6766%2Afeatured%3D20138" TargetMode="External"/><Relationship Id="rId3" Type="http://schemas.openxmlformats.org/officeDocument/2006/relationships/slide" Target="slide2.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24/he.huang.the.real-world.efficacy.ofbrutons.tyrosine.kinaseinhibitors.plus.html?f=menu%3D6%2Abrowseby%3D8%2Asortby%3D6%2Amedia%3D3%2Ace_id%3D2934%2Aot_id%3D115596%2Amarker%3D6766%2Afeatured%3D20138" TargetMode="External"/><Relationship Id="rId3" Type="http://schemas.openxmlformats.org/officeDocument/2006/relationships/slide" Target="slide2.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5/leon.d.kaulen.a.disease.specific.prognostic.score.for.html?f=menu%3D6%2Abrowseby%3D8%2Asortby%3D6%2Amedia%3D3%2Ace_id%3D2934%2Aot_id%3D115576%2Amarker%3D6766%2Afeatured%3D20138" TargetMode="External"/><Relationship Id="rId3" Type="http://schemas.openxmlformats.org/officeDocument/2006/relationships/slide" Target="slide2.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5/leon.d.kaulen.a.disease.specific.prognostic.score.for.html?f=menu%3D6%2Abrowseby%3D8%2Asortby%3D6%2Amedia%3D3%2Ace_id%3D2934%2Aot_id%3D115576%2Amarker%3D6766%2Afeatured%3D20138" TargetMode="External"/><Relationship Id="rId3" Type="http://schemas.openxmlformats.org/officeDocument/2006/relationships/slide" Target="slide2.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5/leon.d.kaulen.a.disease.specific.prognostic.score.for.html?f=menu%3D6%2Abrowseby%3D8%2Asortby%3D6%2Amedia%3D3%2Ace_id%3D2934%2Aot_id%3D115576%2Amarker%3D6766%2Afeatured%3D20138" TargetMode="External"/><Relationship Id="rId3" Type="http://schemas.openxmlformats.org/officeDocument/2006/relationships/slide" Target="slide2.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5/leon.d.kaulen.a.disease.specific.prognostic.score.for.html?f=menu%3D6%2Abrowseby%3D8%2Asortby%3D6%2Amedia%3D3%2Ace_id%3D2934%2Aot_id%3D115576%2Amarker%3D6766%2Afeatured%3D20138" TargetMode="External"/><Relationship Id="rId3" Type="http://schemas.openxmlformats.org/officeDocument/2006/relationships/slide" Target="slide2.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5/leon.d.kaulen.a.disease.specific.prognostic.score.for.html?f=menu%3D6%2Abrowseby%3D8%2Asortby%3D6%2Amedia%3D3%2Ace_id%3D2934%2Aot_id%3D115576%2Amarker%3D6766%2Afeatured%3D20138" TargetMode="External"/><Relationship Id="rId3" Type="http://schemas.openxmlformats.org/officeDocument/2006/relationships/slide" Target="slide2.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7955/leon.d.kaulen.a.disease.specific.prognostic.score.for.html?f=menu%3D6%2Abrowseby%3D8%2Asortby%3D6%2Amedia%3D3%2Ace_id%3D2934%2Aot_id%3D115576%2Amarker%3D6766%2Afeatured%3D20138" TargetMode="External"/><Relationship Id="rId3" Type="http://schemas.openxmlformats.org/officeDocument/2006/relationships/slide" Target="slide2.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36/rosa.rios.facility-level.differences.translate.into.lives.lost.elderly.primary.html?f=menu%3D6%2Abrowseby%3D8%2Asortby%3D6%2Amedia%3D3%2Ace_id%3D2934%2Aot_id%3D115596%2Amarker%3D6766%2Afeatured%3D20138" TargetMode="External"/><Relationship Id="rId3" Type="http://schemas.openxmlformats.org/officeDocument/2006/relationships/slide" Target="slide2.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36/rosa.rios.facility-level.differences.translate.into.lives.lost.elderly.primary.html?f=menu%3D6%2Abrowseby%3D8%2Asortby%3D6%2Amedia%3D3%2Ace_id%3D2934%2Aot_id%3D115596%2Amarker%3D6766%2Afeatured%3D20138" TargetMode="External"/><Relationship Id="rId3" Type="http://schemas.openxmlformats.org/officeDocument/2006/relationships/slide" Target="slide2.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04/fleur.de.groot.brain-lym.defining.immune-molecular.phenotypes.in.primary.cns.html?f=menu%3D6%2Abrowseby%3D8%2Asortby%3D6%2Amedia%3D3%2Ace_id%3D2934%2Aot_id%3D115595%2Amarker%3D6765%2Afeatured%3D20138" TargetMode="External"/><Relationship Id="rId3" Type="http://schemas.openxmlformats.org/officeDocument/2006/relationships/slide" Target="slide2.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804/fleur.de.groot.brain-lym.defining.immune-molecular.phenotypes.in.primary.cns.html?f=menu%3D6%2Abrowseby%3D8%2Asortby%3D6%2Amedia%3D3%2Ace_id%3D2934%2Aot_id%3D115595%2Amarker%3D6765%2Afeatured%3D20138" TargetMode="External"/><Relationship Id="rId3" Type="http://schemas.openxmlformats.org/officeDocument/2006/relationships/slide" Target="slide2.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86/xudong.zhang.autologous.hematopoietic.stem.cell.transplantation.combined.with.html?f=menu%3D6%2Abrowseby%3D8%2Asortby%3D6%2Amedia%3D3%2Ace_id%3D2934%2Aot_id%3D115598%2Amarker%3D6766%2Afeatured%3D20138" TargetMode="External"/><Relationship Id="rId3" Type="http://schemas.openxmlformats.org/officeDocument/2006/relationships/slide" Target="slide2.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86/xudong.zhang.autologous.hematopoietic.stem.cell.transplantation.combined.with.html?f=menu%3D6%2Abrowseby%3D8%2Asortby%3D6%2Amedia%3D3%2Ace_id%3D2934%2Aot_id%3D115598%2Amarker%3D6766%2Afeatured%3D20138" TargetMode="External"/><Relationship Id="rId3" Type="http://schemas.openxmlformats.org/officeDocument/2006/relationships/slide" Target="slide2.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3/lin.fu.glofitamab.monotherapy.or.combination.therapy.in.patients.with.relapsed.html?f=menu%3D6%2Abrowseby%3D8%2Asortby%3D6%2Amedia%3D3%2Ace_id%3D2934%2Aot_id%3D115576%2Amarker%3D6766%2Afeatured%3D20138" TargetMode="External"/><Relationship Id="rId3" Type="http://schemas.openxmlformats.org/officeDocument/2006/relationships/slide" Target="slide2.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643/lin.fu.glofitamab.monotherapy.or.combination.therapy.in.patients.with.relapsed.html?f=menu%3D6%2Abrowseby%3D8%2Asortby%3D6%2Amedia%3D3%2Ace_id%3D2934%2Aot_id%3D115576%2Amarker%3D6766%2Afeatured%3D20138" TargetMode="External"/><Relationship Id="rId3" Type="http://schemas.openxmlformats.org/officeDocument/2006/relationships/slide" Target="slide2.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0/yupiao.feng.development.and.validation.of.a.clinicopathological.prognostic.html?f=menu%3D6%2Abrowseby%3D8%2Asortby%3D6%2Amedia%3D3%2Ace_id%3D2934%2Aot_id%3D115576%2Amarker%3D6766%2Afeatured%3D20138" TargetMode="External"/><Relationship Id="rId3" Type="http://schemas.openxmlformats.org/officeDocument/2006/relationships/slide" Target="slide2.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0/yupiao.feng.development.and.validation.of.a.clinicopathological.prognostic.html?f=menu%3D6%2Abrowseby%3D8%2Asortby%3D6%2Amedia%3D3%2Ace_id%3D2934%2Aot_id%3D115576%2Amarker%3D6766%2Afeatured%3D20138" TargetMode="External"/><Relationship Id="rId3" Type="http://schemas.openxmlformats.org/officeDocument/2006/relationships/slide" Target="slide2.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0/yupiao.feng.development.and.validation.of.a.clinicopathological.prognostic.html?f=menu%3D6%2Abrowseby%3D8%2Asortby%3D6%2Amedia%3D3%2Ace_id%3D2934%2Aot_id%3D115576%2Amarker%3D6766%2Afeatured%3D20138" TargetMode="External"/><Relationship Id="rId3" Type="http://schemas.openxmlformats.org/officeDocument/2006/relationships/slide" Target="slide2.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0/yupiao.feng.development.and.validation.of.a.clinicopathological.prognostic.html?f=menu%3D6%2Abrowseby%3D8%2Asortby%3D6%2Amedia%3D3%2Ace_id%3D2934%2Aot_id%3D115576%2Amarker%3D6766%2Afeatured%3D20138" TargetMode="External"/><Relationship Id="rId3" Type="http://schemas.openxmlformats.org/officeDocument/2006/relationships/slide" Target="slide2.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98/lotta.ravattinen.factors.predicting.relapse.after.autologous.hematopoietic.html?f=menu%3D6%2Abrowseby%3D8%2Asortby%3D6%2Amedia%3D3%2Ace_id%3D2934%2Aot_id%3D115598%2Amarker%3D6766%2Afeatured%3D20138" TargetMode="External"/><Relationship Id="rId3" Type="http://schemas.openxmlformats.org/officeDocument/2006/relationships/slide" Target="slide2.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8798/lotta.ravattinen.factors.predicting.relapse.after.autologous.hematopoietic.html?f=menu%3D6%2Abrowseby%3D8%2Asortby%3D6%2Amedia%3D3%2Ace_id%3D2934%2Aot_id%3D115598%2Amarker%3D6766%2Afeatured%3D20138" TargetMode="External"/><Relationship Id="rId3" Type="http://schemas.openxmlformats.org/officeDocument/2006/relationships/slide" Target="slide2.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9/lena-marie.poczka.flow.cytometry.of.vitrectomy.samples.as.a.diagnostic.tool.in.html?f=menu%3D6%2Abrowseby%3D8%2Asortby%3D6%2Amedia%3D3%2Ace_id%3D2934%2Aot_id%3D115576%2Amarker%3D6766%2Afeatured%3D20138" TargetMode="External"/><Relationship Id="rId3" Type="http://schemas.openxmlformats.org/officeDocument/2006/relationships/slide" Target="slide2.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6909/lena-marie.poczka.flow.cytometry.of.vitrectomy.samples.as.a.diagnostic.tool.in.html?f=menu%3D6%2Abrowseby%3D8%2Asortby%3D6%2Amedia%3D3%2Ace_id%3D2934%2Aot_id%3D115576%2Amarker%3D6766%2Afeatured%3D20138" TargetMode="External"/><Relationship Id="rId3" Type="http://schemas.openxmlformats.org/officeDocument/2006/relationships/slide" Target="slide2.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9065/bor-sheng.ko.cost-effectiveness.of.axicabtagene.ciloleucel.for.treating.html?f=menu%3D6%2Abrowseby%3D8%2Asortby%3D6%2Amedia%3D3%2Ace_id%3D2934%2Aot_id%3D115611%2Amarker%3D6766%2Afeatured%3D20138" TargetMode="External"/><Relationship Id="rId3" Type="http://schemas.openxmlformats.org/officeDocument/2006/relationships/slide" Target="slide2.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ibrary.ehaweb.org/eha/2026/eha-2026/4209065/bor-sheng.ko.cost-effectiveness.of.axicabtagene.ciloleucel.for.treating.html?f=menu%3D6%2Abrowseby%3D8%2Asortby%3D6%2Amedia%3D3%2Ace_id%3D2934%2Aot_id%3D115611%2Amarker%3D6766%2Afeatured%3D20138" TargetMode="External"/><Relationship Id="rId3" Type="http://schemas.openxmlformats.org/officeDocument/2006/relationships/slide" Target="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66928"/>
            <a:ext cx="18288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1100" b="1">
                <a:solidFill>
                  <a:srgbClr val="FFFFFF"/>
                </a:solidFill>
                <a:latin typeface="Microsoft YaHei"/>
              </a:rPr>
              <a:t>EHA 2026</a:t>
            </a:r>
          </a:p>
        </p:txBody>
      </p:sp>
      <p:sp>
        <p:nvSpPr>
          <p:cNvPr id="3" name="TextBox 2"/>
          <p:cNvSpPr txBox="1"/>
          <p:nvPr/>
        </p:nvSpPr>
        <p:spPr>
          <a:xfrm>
            <a:off x="640080" y="1078992"/>
            <a:ext cx="9966960" cy="658368"/>
          </a:xfrm>
          <a:prstGeom prst="rect">
            <a:avLst/>
          </a:prstGeom>
          <a:noFill/>
        </p:spPr>
        <p:txBody>
          <a:bodyPr wrap="square" lIns="73152" rIns="73152" tIns="36576" bIns="36576" anchor="t">
            <a:normAutofit/>
          </a:bodyPr>
          <a:lstStyle/>
          <a:p>
            <a:pPr algn="l"/>
            <a:r>
              <a:rPr sz="2500" b="1">
                <a:solidFill>
                  <a:srgbClr val="21242A"/>
                </a:solidFill>
                <a:latin typeface="Microsoft YaHei"/>
              </a:rPr>
              <a:t>DLBCL/LBCL 与 CNSL 临床研究分层清单</a:t>
            </a:r>
          </a:p>
        </p:txBody>
      </p:sp>
      <p:sp>
        <p:nvSpPr>
          <p:cNvPr id="4" name="TextBox 3"/>
          <p:cNvSpPr txBox="1"/>
          <p:nvPr/>
        </p:nvSpPr>
        <p:spPr>
          <a:xfrm>
            <a:off x="676656" y="1874519"/>
            <a:ext cx="9875520" cy="384048"/>
          </a:xfrm>
          <a:prstGeom prst="rect">
            <a:avLst/>
          </a:prstGeom>
          <a:noFill/>
        </p:spPr>
        <p:txBody>
          <a:bodyPr wrap="square" lIns="73152" rIns="73152" tIns="36576" bIns="36576" anchor="t">
            <a:normAutofit/>
          </a:bodyPr>
          <a:lstStyle/>
          <a:p>
            <a:pPr algn="l"/>
            <a:r>
              <a:rPr sz="1200" b="0">
                <a:solidFill>
                  <a:srgbClr val="5E6570"/>
                </a:solidFill>
                <a:latin typeface="Microsoft YaHei"/>
              </a:rPr>
              <a:t>已去掉基础研究、动物研究和非目标病种研究；按研究类型、疾病场景、药物/技术类别重新组织。</a:t>
            </a:r>
          </a:p>
        </p:txBody>
      </p:sp>
      <p:sp>
        <p:nvSpPr>
          <p:cNvPr id="5" name="Rectangle 4"/>
          <p:cNvSpPr/>
          <p:nvPr/>
        </p:nvSpPr>
        <p:spPr>
          <a:xfrm>
            <a:off x="713232" y="2788920"/>
            <a:ext cx="2304288" cy="98755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926080"/>
            <a:ext cx="1920240" cy="237744"/>
          </a:xfrm>
          <a:prstGeom prst="rect">
            <a:avLst/>
          </a:prstGeom>
          <a:noFill/>
        </p:spPr>
        <p:txBody>
          <a:bodyPr wrap="square" lIns="73152" rIns="73152" tIns="36576" bIns="36576" anchor="t">
            <a:normAutofit/>
          </a:bodyPr>
          <a:lstStyle/>
          <a:p>
            <a:pPr algn="l"/>
            <a:r>
              <a:rPr sz="2200" b="1">
                <a:solidFill>
                  <a:srgbClr val="C5362D"/>
                </a:solidFill>
                <a:latin typeface="Microsoft YaHei"/>
              </a:rPr>
              <a:t>187</a:t>
            </a:r>
          </a:p>
        </p:txBody>
      </p:sp>
      <p:sp>
        <p:nvSpPr>
          <p:cNvPr id="7" name="TextBox 6"/>
          <p:cNvSpPr txBox="1"/>
          <p:nvPr/>
        </p:nvSpPr>
        <p:spPr>
          <a:xfrm>
            <a:off x="859536" y="3383280"/>
            <a:ext cx="1920240" cy="201168"/>
          </a:xfrm>
          <a:prstGeom prst="rect">
            <a:avLst/>
          </a:prstGeom>
          <a:noFill/>
        </p:spPr>
        <p:txBody>
          <a:bodyPr wrap="square" lIns="73152" rIns="73152" tIns="36576" bIns="36576" anchor="t">
            <a:normAutofit/>
          </a:bodyPr>
          <a:lstStyle/>
          <a:p>
            <a:pPr algn="l"/>
            <a:r>
              <a:rPr sz="819" b="1">
                <a:solidFill>
                  <a:srgbClr val="5E6570"/>
                </a:solidFill>
                <a:latin typeface="Microsoft YaHei"/>
              </a:rPr>
              <a:t>研究总数</a:t>
            </a:r>
          </a:p>
        </p:txBody>
      </p:sp>
      <p:sp>
        <p:nvSpPr>
          <p:cNvPr id="8" name="Rectangle 7"/>
          <p:cNvSpPr/>
          <p:nvPr/>
        </p:nvSpPr>
        <p:spPr>
          <a:xfrm>
            <a:off x="3456432" y="2788920"/>
            <a:ext cx="2304288" cy="98755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02736" y="2926080"/>
            <a:ext cx="1920240" cy="237744"/>
          </a:xfrm>
          <a:prstGeom prst="rect">
            <a:avLst/>
          </a:prstGeom>
          <a:noFill/>
        </p:spPr>
        <p:txBody>
          <a:bodyPr wrap="square" lIns="73152" rIns="73152" tIns="36576" bIns="36576" anchor="t">
            <a:normAutofit/>
          </a:bodyPr>
          <a:lstStyle/>
          <a:p>
            <a:pPr algn="l"/>
            <a:r>
              <a:rPr sz="2200" b="1">
                <a:solidFill>
                  <a:srgbClr val="265E8F"/>
                </a:solidFill>
                <a:latin typeface="Microsoft YaHei"/>
              </a:rPr>
              <a:t>162</a:t>
            </a:r>
          </a:p>
        </p:txBody>
      </p:sp>
      <p:sp>
        <p:nvSpPr>
          <p:cNvPr id="10" name="TextBox 9"/>
          <p:cNvSpPr txBox="1"/>
          <p:nvPr/>
        </p:nvSpPr>
        <p:spPr>
          <a:xfrm>
            <a:off x="3602736" y="3383280"/>
            <a:ext cx="1920240" cy="201168"/>
          </a:xfrm>
          <a:prstGeom prst="rect">
            <a:avLst/>
          </a:prstGeom>
          <a:noFill/>
        </p:spPr>
        <p:txBody>
          <a:bodyPr wrap="square" lIns="73152" rIns="73152" tIns="36576" bIns="36576" anchor="t">
            <a:normAutofit/>
          </a:bodyPr>
          <a:lstStyle/>
          <a:p>
            <a:pPr algn="l"/>
            <a:r>
              <a:rPr sz="819" b="1">
                <a:solidFill>
                  <a:srgbClr val="5E6570"/>
                </a:solidFill>
                <a:latin typeface="Microsoft YaHei"/>
              </a:rPr>
              <a:t>DLBCL/LBCL</a:t>
            </a:r>
          </a:p>
        </p:txBody>
      </p:sp>
      <p:sp>
        <p:nvSpPr>
          <p:cNvPr id="11" name="Rectangle 10"/>
          <p:cNvSpPr/>
          <p:nvPr/>
        </p:nvSpPr>
        <p:spPr>
          <a:xfrm>
            <a:off x="6199632" y="2788920"/>
            <a:ext cx="2304288" cy="98755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5936" y="2926080"/>
            <a:ext cx="1920240" cy="237744"/>
          </a:xfrm>
          <a:prstGeom prst="rect">
            <a:avLst/>
          </a:prstGeom>
          <a:noFill/>
        </p:spPr>
        <p:txBody>
          <a:bodyPr wrap="square" lIns="73152" rIns="73152" tIns="36576" bIns="36576" anchor="t">
            <a:normAutofit/>
          </a:bodyPr>
          <a:lstStyle/>
          <a:p>
            <a:pPr algn="l"/>
            <a:r>
              <a:rPr sz="2200" b="1">
                <a:solidFill>
                  <a:srgbClr val="2A795B"/>
                </a:solidFill>
                <a:latin typeface="Microsoft YaHei"/>
              </a:rPr>
              <a:t>25</a:t>
            </a:r>
          </a:p>
        </p:txBody>
      </p:sp>
      <p:sp>
        <p:nvSpPr>
          <p:cNvPr id="13" name="TextBox 12"/>
          <p:cNvSpPr txBox="1"/>
          <p:nvPr/>
        </p:nvSpPr>
        <p:spPr>
          <a:xfrm>
            <a:off x="6345936" y="3383280"/>
            <a:ext cx="1920240" cy="201168"/>
          </a:xfrm>
          <a:prstGeom prst="rect">
            <a:avLst/>
          </a:prstGeom>
          <a:noFill/>
        </p:spPr>
        <p:txBody>
          <a:bodyPr wrap="square" lIns="73152" rIns="73152" tIns="36576" bIns="36576" anchor="t">
            <a:normAutofit/>
          </a:bodyPr>
          <a:lstStyle/>
          <a:p>
            <a:pPr algn="l"/>
            <a:r>
              <a:rPr sz="819" b="1">
                <a:solidFill>
                  <a:srgbClr val="5E6570"/>
                </a:solidFill>
                <a:latin typeface="Microsoft YaHei"/>
              </a:rPr>
              <a:t>CNSL</a:t>
            </a:r>
          </a:p>
        </p:txBody>
      </p:sp>
      <p:sp>
        <p:nvSpPr>
          <p:cNvPr id="14" name="Rectangle 13"/>
          <p:cNvSpPr/>
          <p:nvPr/>
        </p:nvSpPr>
        <p:spPr>
          <a:xfrm>
            <a:off x="8942832" y="2788920"/>
            <a:ext cx="2304288" cy="98755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89136" y="2926080"/>
            <a:ext cx="1920240" cy="237744"/>
          </a:xfrm>
          <a:prstGeom prst="rect">
            <a:avLst/>
          </a:prstGeom>
          <a:noFill/>
        </p:spPr>
        <p:txBody>
          <a:bodyPr wrap="square" lIns="73152" rIns="73152" tIns="36576" bIns="36576" anchor="t">
            <a:normAutofit/>
          </a:bodyPr>
          <a:lstStyle/>
          <a:p>
            <a:pPr algn="l"/>
            <a:r>
              <a:rPr sz="2200" b="1">
                <a:solidFill>
                  <a:srgbClr val="EC8832"/>
                </a:solidFill>
                <a:latin typeface="Microsoft YaHei"/>
              </a:rPr>
              <a:t>187</a:t>
            </a:r>
          </a:p>
        </p:txBody>
      </p:sp>
      <p:sp>
        <p:nvSpPr>
          <p:cNvPr id="16" name="TextBox 15"/>
          <p:cNvSpPr txBox="1"/>
          <p:nvPr/>
        </p:nvSpPr>
        <p:spPr>
          <a:xfrm>
            <a:off x="9089136" y="3383280"/>
            <a:ext cx="1920240" cy="201168"/>
          </a:xfrm>
          <a:prstGeom prst="rect">
            <a:avLst/>
          </a:prstGeom>
          <a:noFill/>
        </p:spPr>
        <p:txBody>
          <a:bodyPr wrap="square" lIns="73152" rIns="73152" tIns="36576" bIns="36576" anchor="t">
            <a:normAutofit/>
          </a:bodyPr>
          <a:lstStyle/>
          <a:p>
            <a:pPr algn="l"/>
            <a:r>
              <a:rPr sz="819" b="1">
                <a:solidFill>
                  <a:srgbClr val="5E6570"/>
                </a:solidFill>
                <a:latin typeface="Microsoft YaHei"/>
              </a:rPr>
              <a:t>已打开核对EHA链接</a:t>
            </a:r>
          </a:p>
        </p:txBody>
      </p:sp>
      <p:sp>
        <p:nvSpPr>
          <p:cNvPr id="17" name="Rectangle 16"/>
          <p:cNvSpPr/>
          <p:nvPr/>
        </p:nvSpPr>
        <p:spPr>
          <a:xfrm>
            <a:off x="713232" y="4343400"/>
            <a:ext cx="10652760" cy="768096"/>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4498848"/>
            <a:ext cx="10241280" cy="411480"/>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已排除基础/动物研究：39项；已排除非目标病种研究：20项。</a:t>
            </a:r>
          </a:p>
          <a:p>
            <a:pPr>
              <a:lnSpc>
                <a:spcPct val="103000"/>
              </a:lnSpc>
              <a:spcAft>
                <a:spcPts val="300"/>
              </a:spcAft>
              <a:defRPr sz="819">
                <a:solidFill>
                  <a:srgbClr val="21242A"/>
                </a:solidFill>
                <a:latin typeface="Microsoft YaHei"/>
              </a:defRPr>
            </a:pPr>
            <a:r>
              <a:t>当前仅保留 DLBCL/LBCL 与 CNSL 相关临床研究；结果页以原表中文结果为准。</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320040"/>
            <a:ext cx="9875520" cy="384048"/>
          </a:xfrm>
          <a:prstGeom prst="rect">
            <a:avLst/>
          </a:prstGeom>
          <a:noFill/>
        </p:spPr>
        <p:txBody>
          <a:bodyPr wrap="square" lIns="73152" rIns="73152" tIns="36576" bIns="36576" anchor="t">
            <a:normAutofit/>
          </a:bodyPr>
          <a:lstStyle/>
          <a:p>
            <a:pPr algn="l"/>
            <a:r>
              <a:rPr sz="2000" b="1">
                <a:solidFill>
                  <a:srgbClr val="21242A"/>
                </a:solidFill>
                <a:latin typeface="Microsoft YaHei"/>
              </a:rPr>
              <a:t>总目录：按研究类型进入</a:t>
            </a:r>
          </a:p>
        </p:txBody>
      </p:sp>
      <p:sp>
        <p:nvSpPr>
          <p:cNvPr id="3" name="TextBox 2"/>
          <p:cNvSpPr txBox="1"/>
          <p:nvPr/>
        </p:nvSpPr>
        <p:spPr>
          <a:xfrm>
            <a:off x="548640" y="804672"/>
            <a:ext cx="9875520" cy="219456"/>
          </a:xfrm>
          <a:prstGeom prst="rect">
            <a:avLst/>
          </a:prstGeom>
          <a:noFill/>
        </p:spPr>
        <p:txBody>
          <a:bodyPr wrap="square" lIns="73152" rIns="73152" tIns="36576" bIns="36576" anchor="t">
            <a:normAutofit/>
          </a:bodyPr>
          <a:lstStyle/>
          <a:p>
            <a:pPr algn="l"/>
            <a:r>
              <a:rPr sz="850" b="0">
                <a:solidFill>
                  <a:srgbClr val="5E6570"/>
                </a:solidFill>
                <a:latin typeface="Microsoft YaHei"/>
              </a:rPr>
              <a:t>当前版本已排除基础/动物研究，保留前瞻、回顾、病例和经济学等临床相关研究。</a:t>
            </a:r>
          </a:p>
        </p:txBody>
      </p:sp>
      <p:sp>
        <p:nvSpPr>
          <p:cNvPr id="4" name="Rounded Rectangle 3">
            <a:hlinkClick action="ppaction://hlinksldjump" r:id="rId2"/>
          </p:cNvPr>
          <p:cNvSpPr/>
          <p:nvPr/>
        </p:nvSpPr>
        <p:spPr>
          <a:xfrm>
            <a:off x="594360" y="1325880"/>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a:hlinkClick action="ppaction://hlinksldjump" r:id="rId2"/>
          </p:cNvPr>
          <p:cNvSpPr/>
          <p:nvPr/>
        </p:nvSpPr>
        <p:spPr>
          <a:xfrm>
            <a:off x="594360" y="1325880"/>
            <a:ext cx="91440" cy="786384"/>
          </a:xfrm>
          <a:prstGeom prst="rect">
            <a:avLst/>
          </a:prstGeom>
          <a:solidFill>
            <a:srgbClr val="C5362D"/>
          </a:solidFill>
          <a:ln w="8890">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2"/>
          </p:cNvPr>
          <p:cNvSpPr txBox="1"/>
          <p:nvPr/>
        </p:nvSpPr>
        <p:spPr>
          <a:xfrm>
            <a:off x="777240" y="1453895"/>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前瞻性临床试验</a:t>
            </a:r>
          </a:p>
        </p:txBody>
      </p:sp>
      <p:sp>
        <p:nvSpPr>
          <p:cNvPr id="7" name="TextBox 6">
            <a:hlinkClick action="ppaction://hlinksldjump" r:id="rId2"/>
          </p:cNvPr>
          <p:cNvSpPr txBox="1"/>
          <p:nvPr/>
        </p:nvSpPr>
        <p:spPr>
          <a:xfrm>
            <a:off x="777240" y="1773936"/>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点击进入该研究类型章节</a:t>
            </a:r>
          </a:p>
        </p:txBody>
      </p:sp>
      <p:sp>
        <p:nvSpPr>
          <p:cNvPr id="8" name="TextBox 7">
            <a:hlinkClick action="ppaction://hlinksldjump" r:id="rId2"/>
          </p:cNvPr>
          <p:cNvSpPr txBox="1"/>
          <p:nvPr/>
        </p:nvSpPr>
        <p:spPr>
          <a:xfrm>
            <a:off x="3172968" y="1810512"/>
            <a:ext cx="621792" cy="164592"/>
          </a:xfrm>
          <a:prstGeom prst="rect">
            <a:avLst/>
          </a:prstGeom>
          <a:noFill/>
        </p:spPr>
        <p:txBody>
          <a:bodyPr wrap="square" lIns="73152" rIns="73152" tIns="36576" bIns="36576" anchor="t">
            <a:normAutofit/>
          </a:bodyPr>
          <a:lstStyle/>
          <a:p>
            <a:pPr algn="r"/>
            <a:r>
              <a:rPr sz="740" b="1">
                <a:solidFill>
                  <a:srgbClr val="C5362D"/>
                </a:solidFill>
                <a:latin typeface="Microsoft YaHei"/>
              </a:rPr>
              <a:t>105项</a:t>
            </a:r>
          </a:p>
        </p:txBody>
      </p:sp>
      <p:sp>
        <p:nvSpPr>
          <p:cNvPr id="9" name="Rounded Rectangle 8">
            <a:hlinkClick action="ppaction://hlinksldjump" r:id="rId3"/>
          </p:cNvPr>
          <p:cNvSpPr/>
          <p:nvPr/>
        </p:nvSpPr>
        <p:spPr>
          <a:xfrm>
            <a:off x="4325112" y="1325880"/>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hlinkClick action="ppaction://hlinksldjump" r:id="rId3"/>
          </p:cNvPr>
          <p:cNvSpPr/>
          <p:nvPr/>
        </p:nvSpPr>
        <p:spPr>
          <a:xfrm>
            <a:off x="4325112" y="1325880"/>
            <a:ext cx="91440" cy="786384"/>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a:hlinkClick action="ppaction://hlinksldjump" r:id="rId3"/>
          </p:cNvPr>
          <p:cNvSpPr txBox="1"/>
          <p:nvPr/>
        </p:nvSpPr>
        <p:spPr>
          <a:xfrm>
            <a:off x="4507992" y="1453895"/>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回顾性/真实世界研究</a:t>
            </a:r>
          </a:p>
        </p:txBody>
      </p:sp>
      <p:sp>
        <p:nvSpPr>
          <p:cNvPr id="12" name="TextBox 11">
            <a:hlinkClick action="ppaction://hlinksldjump" r:id="rId3"/>
          </p:cNvPr>
          <p:cNvSpPr txBox="1"/>
          <p:nvPr/>
        </p:nvSpPr>
        <p:spPr>
          <a:xfrm>
            <a:off x="4507992" y="1773936"/>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点击进入该研究类型章节</a:t>
            </a:r>
          </a:p>
        </p:txBody>
      </p:sp>
      <p:sp>
        <p:nvSpPr>
          <p:cNvPr id="13" name="TextBox 12">
            <a:hlinkClick action="ppaction://hlinksldjump" r:id="rId3"/>
          </p:cNvPr>
          <p:cNvSpPr txBox="1"/>
          <p:nvPr/>
        </p:nvSpPr>
        <p:spPr>
          <a:xfrm>
            <a:off x="6903720" y="1810512"/>
            <a:ext cx="621792" cy="164592"/>
          </a:xfrm>
          <a:prstGeom prst="rect">
            <a:avLst/>
          </a:prstGeom>
          <a:noFill/>
        </p:spPr>
        <p:txBody>
          <a:bodyPr wrap="square" lIns="73152" rIns="73152" tIns="36576" bIns="36576" anchor="t">
            <a:normAutofit/>
          </a:bodyPr>
          <a:lstStyle/>
          <a:p>
            <a:pPr algn="r"/>
            <a:r>
              <a:rPr sz="740" b="1">
                <a:solidFill>
                  <a:srgbClr val="265E8F"/>
                </a:solidFill>
                <a:latin typeface="Microsoft YaHei"/>
              </a:rPr>
              <a:t>81项</a:t>
            </a:r>
          </a:p>
        </p:txBody>
      </p:sp>
      <p:sp>
        <p:nvSpPr>
          <p:cNvPr id="14" name="Rounded Rectangle 13">
            <a:hlinkClick action="ppaction://hlinksldjump" r:id="rId4"/>
          </p:cNvPr>
          <p:cNvSpPr/>
          <p:nvPr/>
        </p:nvSpPr>
        <p:spPr>
          <a:xfrm>
            <a:off x="8055864" y="1325880"/>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a:hlinkClick action="ppaction://hlinksldjump" r:id="rId4"/>
          </p:cNvPr>
          <p:cNvSpPr/>
          <p:nvPr/>
        </p:nvSpPr>
        <p:spPr>
          <a:xfrm>
            <a:off x="8055864" y="1325880"/>
            <a:ext cx="91440" cy="786384"/>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a:hlinkClick action="ppaction://hlinksldjump" r:id="rId4"/>
          </p:cNvPr>
          <p:cNvSpPr txBox="1"/>
          <p:nvPr/>
        </p:nvSpPr>
        <p:spPr>
          <a:xfrm>
            <a:off x="8238744" y="1453895"/>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卫生经济/模型研究</a:t>
            </a:r>
          </a:p>
        </p:txBody>
      </p:sp>
      <p:sp>
        <p:nvSpPr>
          <p:cNvPr id="17" name="TextBox 16">
            <a:hlinkClick action="ppaction://hlinksldjump" r:id="rId4"/>
          </p:cNvPr>
          <p:cNvSpPr txBox="1"/>
          <p:nvPr/>
        </p:nvSpPr>
        <p:spPr>
          <a:xfrm>
            <a:off x="8238744" y="1773936"/>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点击进入该研究类型章节</a:t>
            </a:r>
          </a:p>
        </p:txBody>
      </p:sp>
      <p:sp>
        <p:nvSpPr>
          <p:cNvPr id="18" name="TextBox 17">
            <a:hlinkClick action="ppaction://hlinksldjump" r:id="rId4"/>
          </p:cNvPr>
          <p:cNvSpPr txBox="1"/>
          <p:nvPr/>
        </p:nvSpPr>
        <p:spPr>
          <a:xfrm>
            <a:off x="10634472" y="1810512"/>
            <a:ext cx="621792" cy="164592"/>
          </a:xfrm>
          <a:prstGeom prst="rect">
            <a:avLst/>
          </a:prstGeom>
          <a:noFill/>
        </p:spPr>
        <p:txBody>
          <a:bodyPr wrap="square" lIns="73152" rIns="73152" tIns="36576" bIns="36576" anchor="t">
            <a:normAutofit/>
          </a:bodyPr>
          <a:lstStyle/>
          <a:p>
            <a:pPr algn="r"/>
            <a:r>
              <a:rPr sz="740" b="1">
                <a:solidFill>
                  <a:srgbClr val="2A795B"/>
                </a:solidFill>
                <a:latin typeface="Microsoft YaHei"/>
              </a:rPr>
              <a:t>1项</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320040"/>
            <a:ext cx="9875520" cy="384048"/>
          </a:xfrm>
          <a:prstGeom prst="rect">
            <a:avLst/>
          </a:prstGeom>
          <a:noFill/>
        </p:spPr>
        <p:txBody>
          <a:bodyPr wrap="square" lIns="73152" rIns="73152" tIns="36576" bIns="36576" anchor="t">
            <a:normAutofit/>
          </a:bodyPr>
          <a:lstStyle/>
          <a:p>
            <a:pPr algn="l"/>
            <a:r>
              <a:rPr sz="2000" b="1">
                <a:solidFill>
                  <a:srgbClr val="21242A"/>
                </a:solidFill>
                <a:latin typeface="Microsoft YaHei"/>
              </a:rPr>
              <a:t>疾病目录：DLBCL/LBCL 与 CNSL 场景</a:t>
            </a:r>
          </a:p>
        </p:txBody>
      </p:sp>
      <p:sp>
        <p:nvSpPr>
          <p:cNvPr id="3" name="TextBox 2"/>
          <p:cNvSpPr txBox="1"/>
          <p:nvPr/>
        </p:nvSpPr>
        <p:spPr>
          <a:xfrm>
            <a:off x="548640" y="804672"/>
            <a:ext cx="9875520" cy="219456"/>
          </a:xfrm>
          <a:prstGeom prst="rect">
            <a:avLst/>
          </a:prstGeom>
          <a:noFill/>
        </p:spPr>
        <p:txBody>
          <a:bodyPr wrap="square" lIns="73152" rIns="73152" tIns="36576" bIns="36576" anchor="t">
            <a:normAutofit/>
          </a:bodyPr>
          <a:lstStyle/>
          <a:p>
            <a:pPr algn="l"/>
            <a:r>
              <a:rPr sz="850" b="0">
                <a:solidFill>
                  <a:srgbClr val="5E6570"/>
                </a:solidFill>
                <a:latin typeface="Microsoft YaHei"/>
              </a:rPr>
              <a:t>疾病口径进一步拆到 DLBCL、LBCL/HGBL、PCNSL、SCNSL 等场景。</a:t>
            </a:r>
          </a:p>
        </p:txBody>
      </p:sp>
      <p:sp>
        <p:nvSpPr>
          <p:cNvPr id="4" name="Rounded Rectangle 3">
            <a:hlinkClick action="ppaction://hlinksldjump" r:id="rId3"/>
          </p:cNvPr>
          <p:cNvSpPr/>
          <p:nvPr/>
        </p:nvSpPr>
        <p:spPr>
          <a:xfrm>
            <a:off x="594360" y="1325880"/>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a:hlinkClick action="ppaction://hlinksldjump" r:id="rId3"/>
          </p:cNvPr>
          <p:cNvSpPr/>
          <p:nvPr/>
        </p:nvSpPr>
        <p:spPr>
          <a:xfrm>
            <a:off x="594360" y="1325880"/>
            <a:ext cx="91440" cy="786384"/>
          </a:xfrm>
          <a:prstGeom prst="rect">
            <a:avLst/>
          </a:prstGeom>
          <a:solidFill>
            <a:srgbClr val="C5362D"/>
          </a:solidFill>
          <a:ln w="8890">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777240" y="1453895"/>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LBCL/HGBL</a:t>
            </a:r>
          </a:p>
        </p:txBody>
      </p:sp>
      <p:sp>
        <p:nvSpPr>
          <p:cNvPr id="7" name="TextBox 6">
            <a:hlinkClick action="ppaction://hlinksldjump" r:id="rId3"/>
          </p:cNvPr>
          <p:cNvSpPr txBox="1"/>
          <p:nvPr/>
        </p:nvSpPr>
        <p:spPr>
          <a:xfrm>
            <a:off x="777240" y="1773936"/>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点击跳到该疾病场景首项研究</a:t>
            </a:r>
          </a:p>
        </p:txBody>
      </p:sp>
      <p:sp>
        <p:nvSpPr>
          <p:cNvPr id="8" name="TextBox 7">
            <a:hlinkClick action="ppaction://hlinksldjump" r:id="rId3"/>
          </p:cNvPr>
          <p:cNvSpPr txBox="1"/>
          <p:nvPr/>
        </p:nvSpPr>
        <p:spPr>
          <a:xfrm>
            <a:off x="3172968" y="1810512"/>
            <a:ext cx="621792" cy="164592"/>
          </a:xfrm>
          <a:prstGeom prst="rect">
            <a:avLst/>
          </a:prstGeom>
          <a:noFill/>
        </p:spPr>
        <p:txBody>
          <a:bodyPr wrap="square" lIns="73152" rIns="73152" tIns="36576" bIns="36576" anchor="t">
            <a:normAutofit/>
          </a:bodyPr>
          <a:lstStyle/>
          <a:p>
            <a:pPr algn="r"/>
            <a:r>
              <a:rPr sz="740" b="1">
                <a:solidFill>
                  <a:srgbClr val="C5362D"/>
                </a:solidFill>
                <a:latin typeface="Microsoft YaHei"/>
              </a:rPr>
              <a:t>132项</a:t>
            </a:r>
          </a:p>
        </p:txBody>
      </p:sp>
      <p:sp>
        <p:nvSpPr>
          <p:cNvPr id="9" name="Rounded Rectangle 8">
            <a:hlinkClick action="ppaction://hlinksldjump" r:id="rId4"/>
          </p:cNvPr>
          <p:cNvSpPr/>
          <p:nvPr/>
        </p:nvSpPr>
        <p:spPr>
          <a:xfrm>
            <a:off x="4325112" y="1325880"/>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hlinkClick action="ppaction://hlinksldjump" r:id="rId4"/>
          </p:cNvPr>
          <p:cNvSpPr/>
          <p:nvPr/>
        </p:nvSpPr>
        <p:spPr>
          <a:xfrm>
            <a:off x="4325112" y="1325880"/>
            <a:ext cx="91440" cy="786384"/>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a:hlinkClick action="ppaction://hlinksldjump" r:id="rId4"/>
          </p:cNvPr>
          <p:cNvSpPr txBox="1"/>
          <p:nvPr/>
        </p:nvSpPr>
        <p:spPr>
          <a:xfrm>
            <a:off x="4507992" y="1453895"/>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PCNSL</a:t>
            </a:r>
          </a:p>
        </p:txBody>
      </p:sp>
      <p:sp>
        <p:nvSpPr>
          <p:cNvPr id="12" name="TextBox 11">
            <a:hlinkClick action="ppaction://hlinksldjump" r:id="rId4"/>
          </p:cNvPr>
          <p:cNvSpPr txBox="1"/>
          <p:nvPr/>
        </p:nvSpPr>
        <p:spPr>
          <a:xfrm>
            <a:off x="4507992" y="1773936"/>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点击跳到该疾病场景首项研究</a:t>
            </a:r>
          </a:p>
        </p:txBody>
      </p:sp>
      <p:sp>
        <p:nvSpPr>
          <p:cNvPr id="13" name="TextBox 12">
            <a:hlinkClick action="ppaction://hlinksldjump" r:id="rId4"/>
          </p:cNvPr>
          <p:cNvSpPr txBox="1"/>
          <p:nvPr/>
        </p:nvSpPr>
        <p:spPr>
          <a:xfrm>
            <a:off x="6903720" y="1810512"/>
            <a:ext cx="621792" cy="164592"/>
          </a:xfrm>
          <a:prstGeom prst="rect">
            <a:avLst/>
          </a:prstGeom>
          <a:noFill/>
        </p:spPr>
        <p:txBody>
          <a:bodyPr wrap="square" lIns="73152" rIns="73152" tIns="36576" bIns="36576" anchor="t">
            <a:normAutofit/>
          </a:bodyPr>
          <a:lstStyle/>
          <a:p>
            <a:pPr algn="r"/>
            <a:r>
              <a:rPr sz="740" b="1">
                <a:solidFill>
                  <a:srgbClr val="265E8F"/>
                </a:solidFill>
                <a:latin typeface="Microsoft YaHei"/>
              </a:rPr>
              <a:t>5项</a:t>
            </a:r>
          </a:p>
        </p:txBody>
      </p:sp>
      <p:sp>
        <p:nvSpPr>
          <p:cNvPr id="14" name="Rounded Rectangle 13">
            <a:hlinkClick action="ppaction://hlinksldjump" r:id="rId5"/>
          </p:cNvPr>
          <p:cNvSpPr/>
          <p:nvPr/>
        </p:nvSpPr>
        <p:spPr>
          <a:xfrm>
            <a:off x="8055864" y="1325880"/>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a:hlinkClick action="ppaction://hlinksldjump" r:id="rId5"/>
          </p:cNvPr>
          <p:cNvSpPr/>
          <p:nvPr/>
        </p:nvSpPr>
        <p:spPr>
          <a:xfrm>
            <a:off x="8055864" y="1325880"/>
            <a:ext cx="91440" cy="786384"/>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a:hlinkClick action="ppaction://hlinksldjump" r:id="rId5"/>
          </p:cNvPr>
          <p:cNvSpPr txBox="1"/>
          <p:nvPr/>
        </p:nvSpPr>
        <p:spPr>
          <a:xfrm>
            <a:off x="8238744" y="1453895"/>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PMBCL/特殊亚型</a:t>
            </a:r>
          </a:p>
        </p:txBody>
      </p:sp>
      <p:sp>
        <p:nvSpPr>
          <p:cNvPr id="17" name="TextBox 16">
            <a:hlinkClick action="ppaction://hlinksldjump" r:id="rId5"/>
          </p:cNvPr>
          <p:cNvSpPr txBox="1"/>
          <p:nvPr/>
        </p:nvSpPr>
        <p:spPr>
          <a:xfrm>
            <a:off x="8238744" y="1773936"/>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点击跳到该疾病场景首项研究</a:t>
            </a:r>
          </a:p>
        </p:txBody>
      </p:sp>
      <p:sp>
        <p:nvSpPr>
          <p:cNvPr id="18" name="TextBox 17">
            <a:hlinkClick action="ppaction://hlinksldjump" r:id="rId5"/>
          </p:cNvPr>
          <p:cNvSpPr txBox="1"/>
          <p:nvPr/>
        </p:nvSpPr>
        <p:spPr>
          <a:xfrm>
            <a:off x="10634472" y="1810512"/>
            <a:ext cx="621792" cy="164592"/>
          </a:xfrm>
          <a:prstGeom prst="rect">
            <a:avLst/>
          </a:prstGeom>
          <a:noFill/>
        </p:spPr>
        <p:txBody>
          <a:bodyPr wrap="square" lIns="73152" rIns="73152" tIns="36576" bIns="36576" anchor="t">
            <a:normAutofit/>
          </a:bodyPr>
          <a:lstStyle/>
          <a:p>
            <a:pPr algn="r"/>
            <a:r>
              <a:rPr sz="740" b="1">
                <a:solidFill>
                  <a:srgbClr val="2A795B"/>
                </a:solidFill>
                <a:latin typeface="Microsoft YaHei"/>
              </a:rPr>
              <a:t>14项</a:t>
            </a:r>
          </a:p>
        </p:txBody>
      </p:sp>
      <p:sp>
        <p:nvSpPr>
          <p:cNvPr id="19" name="Rounded Rectangle 18">
            <a:hlinkClick action="ppaction://hlinksldjump" r:id="rId6"/>
          </p:cNvPr>
          <p:cNvSpPr/>
          <p:nvPr/>
        </p:nvSpPr>
        <p:spPr>
          <a:xfrm>
            <a:off x="594360" y="2350008"/>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a:hlinkClick action="ppaction://hlinksldjump" r:id="rId6"/>
          </p:cNvPr>
          <p:cNvSpPr/>
          <p:nvPr/>
        </p:nvSpPr>
        <p:spPr>
          <a:xfrm>
            <a:off x="594360" y="2350008"/>
            <a:ext cx="91440" cy="786384"/>
          </a:xfrm>
          <a:prstGeom prst="rect">
            <a:avLst/>
          </a:prstGeom>
          <a:solidFill>
            <a:srgbClr val="EC8832"/>
          </a:solidFill>
          <a:ln w="8890">
            <a:solidFill>
              <a:srgbClr val="EC88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a:hlinkClick action="ppaction://hlinksldjump" r:id="rId6"/>
          </p:cNvPr>
          <p:cNvSpPr txBox="1"/>
          <p:nvPr/>
        </p:nvSpPr>
        <p:spPr>
          <a:xfrm>
            <a:off x="777240" y="2478024"/>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SCNSL/CNS复发或预防</a:t>
            </a:r>
          </a:p>
        </p:txBody>
      </p:sp>
      <p:sp>
        <p:nvSpPr>
          <p:cNvPr id="22" name="TextBox 21">
            <a:hlinkClick action="ppaction://hlinksldjump" r:id="rId6"/>
          </p:cNvPr>
          <p:cNvSpPr txBox="1"/>
          <p:nvPr/>
        </p:nvSpPr>
        <p:spPr>
          <a:xfrm>
            <a:off x="777240" y="2798064"/>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点击跳到该疾病场景首项研究</a:t>
            </a:r>
          </a:p>
        </p:txBody>
      </p:sp>
      <p:sp>
        <p:nvSpPr>
          <p:cNvPr id="23" name="TextBox 22">
            <a:hlinkClick action="ppaction://hlinksldjump" r:id="rId6"/>
          </p:cNvPr>
          <p:cNvSpPr txBox="1"/>
          <p:nvPr/>
        </p:nvSpPr>
        <p:spPr>
          <a:xfrm>
            <a:off x="3172968" y="2834640"/>
            <a:ext cx="621792" cy="164592"/>
          </a:xfrm>
          <a:prstGeom prst="rect">
            <a:avLst/>
          </a:prstGeom>
          <a:noFill/>
        </p:spPr>
        <p:txBody>
          <a:bodyPr wrap="square" lIns="73152" rIns="73152" tIns="36576" bIns="36576" anchor="t">
            <a:normAutofit/>
          </a:bodyPr>
          <a:lstStyle/>
          <a:p>
            <a:pPr algn="r"/>
            <a:r>
              <a:rPr sz="740" b="1">
                <a:solidFill>
                  <a:srgbClr val="EC8832"/>
                </a:solidFill>
                <a:latin typeface="Microsoft YaHei"/>
              </a:rPr>
              <a:t>18项</a:t>
            </a:r>
          </a:p>
        </p:txBody>
      </p:sp>
      <p:sp>
        <p:nvSpPr>
          <p:cNvPr id="24" name="Rounded Rectangle 23">
            <a:hlinkClick action="ppaction://hlinksldjump" r:id="rId7"/>
          </p:cNvPr>
          <p:cNvSpPr/>
          <p:nvPr/>
        </p:nvSpPr>
        <p:spPr>
          <a:xfrm>
            <a:off x="4325112" y="2350008"/>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a:hlinkClick action="ppaction://hlinksldjump" r:id="rId7"/>
          </p:cNvPr>
          <p:cNvSpPr/>
          <p:nvPr/>
        </p:nvSpPr>
        <p:spPr>
          <a:xfrm>
            <a:off x="4325112" y="2350008"/>
            <a:ext cx="91440" cy="786384"/>
          </a:xfrm>
          <a:prstGeom prst="rect">
            <a:avLst/>
          </a:prstGeom>
          <a:solidFill>
            <a:srgbClr val="65489B"/>
          </a:solidFill>
          <a:ln w="8890">
            <a:solidFill>
              <a:srgbClr val="6548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a:hlinkClick action="ppaction://hlinksldjump" r:id="rId7"/>
          </p:cNvPr>
          <p:cNvSpPr txBox="1"/>
          <p:nvPr/>
        </p:nvSpPr>
        <p:spPr>
          <a:xfrm>
            <a:off x="4507992" y="2478024"/>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眼内/玻璃体视网膜淋巴瘤</a:t>
            </a:r>
          </a:p>
        </p:txBody>
      </p:sp>
      <p:sp>
        <p:nvSpPr>
          <p:cNvPr id="27" name="TextBox 26">
            <a:hlinkClick action="ppaction://hlinksldjump" r:id="rId7"/>
          </p:cNvPr>
          <p:cNvSpPr txBox="1"/>
          <p:nvPr/>
        </p:nvSpPr>
        <p:spPr>
          <a:xfrm>
            <a:off x="4507992" y="2798064"/>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点击跳到该疾病场景首项研究</a:t>
            </a:r>
          </a:p>
        </p:txBody>
      </p:sp>
      <p:sp>
        <p:nvSpPr>
          <p:cNvPr id="28" name="TextBox 27">
            <a:hlinkClick action="ppaction://hlinksldjump" r:id="rId7"/>
          </p:cNvPr>
          <p:cNvSpPr txBox="1"/>
          <p:nvPr/>
        </p:nvSpPr>
        <p:spPr>
          <a:xfrm>
            <a:off x="6903720" y="2834640"/>
            <a:ext cx="621792" cy="164592"/>
          </a:xfrm>
          <a:prstGeom prst="rect">
            <a:avLst/>
          </a:prstGeom>
          <a:noFill/>
        </p:spPr>
        <p:txBody>
          <a:bodyPr wrap="square" lIns="73152" rIns="73152" tIns="36576" bIns="36576" anchor="t">
            <a:normAutofit/>
          </a:bodyPr>
          <a:lstStyle/>
          <a:p>
            <a:pPr algn="r"/>
            <a:r>
              <a:rPr sz="740" b="1">
                <a:solidFill>
                  <a:srgbClr val="65489B"/>
                </a:solidFill>
                <a:latin typeface="Microsoft YaHei"/>
              </a:rPr>
              <a:t>2项</a:t>
            </a:r>
          </a:p>
        </p:txBody>
      </p:sp>
      <p:sp>
        <p:nvSpPr>
          <p:cNvPr id="29" name="Rounded Rectangle 28">
            <a:hlinkClick action="ppaction://hlinksldjump" r:id="rId8"/>
          </p:cNvPr>
          <p:cNvSpPr/>
          <p:nvPr/>
        </p:nvSpPr>
        <p:spPr>
          <a:xfrm>
            <a:off x="8055864" y="2350008"/>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a:hlinkClick action="ppaction://hlinksldjump" r:id="rId8"/>
          </p:cNvPr>
          <p:cNvSpPr/>
          <p:nvPr/>
        </p:nvSpPr>
        <p:spPr>
          <a:xfrm>
            <a:off x="8055864" y="2350008"/>
            <a:ext cx="91440" cy="786384"/>
          </a:xfrm>
          <a:prstGeom prst="rect">
            <a:avLst/>
          </a:prstGeom>
          <a:solidFill>
            <a:srgbClr val="C5362D"/>
          </a:solidFill>
          <a:ln w="8890">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a:hlinkClick action="ppaction://hlinksldjump" r:id="rId8"/>
          </p:cNvPr>
          <p:cNvSpPr txBox="1"/>
          <p:nvPr/>
        </p:nvSpPr>
        <p:spPr>
          <a:xfrm>
            <a:off x="8238744" y="2478024"/>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转化/Richter</a:t>
            </a:r>
          </a:p>
        </p:txBody>
      </p:sp>
      <p:sp>
        <p:nvSpPr>
          <p:cNvPr id="32" name="TextBox 31">
            <a:hlinkClick action="ppaction://hlinksldjump" r:id="rId8"/>
          </p:cNvPr>
          <p:cNvSpPr txBox="1"/>
          <p:nvPr/>
        </p:nvSpPr>
        <p:spPr>
          <a:xfrm>
            <a:off x="8238744" y="2798064"/>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点击跳到该疾病场景首项研究</a:t>
            </a:r>
          </a:p>
        </p:txBody>
      </p:sp>
      <p:sp>
        <p:nvSpPr>
          <p:cNvPr id="33" name="TextBox 32">
            <a:hlinkClick action="ppaction://hlinksldjump" r:id="rId8"/>
          </p:cNvPr>
          <p:cNvSpPr txBox="1"/>
          <p:nvPr/>
        </p:nvSpPr>
        <p:spPr>
          <a:xfrm>
            <a:off x="10634472" y="2834640"/>
            <a:ext cx="621792" cy="164592"/>
          </a:xfrm>
          <a:prstGeom prst="rect">
            <a:avLst/>
          </a:prstGeom>
          <a:noFill/>
        </p:spPr>
        <p:txBody>
          <a:bodyPr wrap="square" lIns="73152" rIns="73152" tIns="36576" bIns="36576" anchor="t">
            <a:normAutofit/>
          </a:bodyPr>
          <a:lstStyle/>
          <a:p>
            <a:pPr algn="r"/>
            <a:r>
              <a:rPr sz="740" b="1">
                <a:solidFill>
                  <a:srgbClr val="C5362D"/>
                </a:solidFill>
                <a:latin typeface="Microsoft YaHei"/>
              </a:rPr>
              <a:t>16项</a:t>
            </a:r>
          </a:p>
        </p:txBody>
      </p:sp>
      <p:sp>
        <p:nvSpPr>
          <p:cNvPr id="34" name="Rounded Rectangle 33">
            <a:hlinkClick action="ppaction://hlinksldjump" r:id="rId2"/>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320040"/>
            <a:ext cx="9875520" cy="384048"/>
          </a:xfrm>
          <a:prstGeom prst="rect">
            <a:avLst/>
          </a:prstGeom>
          <a:noFill/>
        </p:spPr>
        <p:txBody>
          <a:bodyPr wrap="square" lIns="73152" rIns="73152" tIns="36576" bIns="36576" anchor="t">
            <a:normAutofit/>
          </a:bodyPr>
          <a:lstStyle/>
          <a:p>
            <a:pPr algn="l"/>
            <a:r>
              <a:rPr sz="2000" b="1">
                <a:solidFill>
                  <a:srgbClr val="21242A"/>
                </a:solidFill>
                <a:latin typeface="Microsoft YaHei"/>
              </a:rPr>
              <a:t>药物/技术目录</a:t>
            </a:r>
          </a:p>
        </p:txBody>
      </p:sp>
      <p:sp>
        <p:nvSpPr>
          <p:cNvPr id="3" name="TextBox 2"/>
          <p:cNvSpPr txBox="1"/>
          <p:nvPr/>
        </p:nvSpPr>
        <p:spPr>
          <a:xfrm>
            <a:off x="548640" y="804672"/>
            <a:ext cx="9875520" cy="219456"/>
          </a:xfrm>
          <a:prstGeom prst="rect">
            <a:avLst/>
          </a:prstGeom>
          <a:noFill/>
        </p:spPr>
        <p:txBody>
          <a:bodyPr wrap="square" lIns="73152" rIns="73152" tIns="36576" bIns="36576" anchor="t">
            <a:normAutofit/>
          </a:bodyPr>
          <a:lstStyle/>
          <a:p>
            <a:pPr algn="l"/>
            <a:r>
              <a:rPr sz="850" b="0">
                <a:solidFill>
                  <a:srgbClr val="5E6570"/>
                </a:solidFill>
                <a:latin typeface="Microsoft YaHei"/>
              </a:rPr>
              <a:t>按 CAR-T、双抗、ADC、BTKi、免疫化疗、CNS策略和标志物等快速定位。</a:t>
            </a:r>
          </a:p>
        </p:txBody>
      </p:sp>
      <p:sp>
        <p:nvSpPr>
          <p:cNvPr id="4" name="Rounded Rectangle 3">
            <a:hlinkClick action="ppaction://hlinksldjump" r:id="rId3"/>
          </p:cNvPr>
          <p:cNvSpPr/>
          <p:nvPr/>
        </p:nvSpPr>
        <p:spPr>
          <a:xfrm>
            <a:off x="594360" y="1325880"/>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a:hlinkClick action="ppaction://hlinksldjump" r:id="rId3"/>
          </p:cNvPr>
          <p:cNvSpPr/>
          <p:nvPr/>
        </p:nvSpPr>
        <p:spPr>
          <a:xfrm>
            <a:off x="594360" y="1325880"/>
            <a:ext cx="91440" cy="786384"/>
          </a:xfrm>
          <a:prstGeom prst="rect">
            <a:avLst/>
          </a:prstGeom>
          <a:solidFill>
            <a:srgbClr val="C5362D"/>
          </a:solidFill>
          <a:ln w="8890">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777240" y="1453895"/>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CAR-T/细胞治疗</a:t>
            </a:r>
          </a:p>
        </p:txBody>
      </p:sp>
      <p:sp>
        <p:nvSpPr>
          <p:cNvPr id="7" name="TextBox 6">
            <a:hlinkClick action="ppaction://hlinksldjump" r:id="rId3"/>
          </p:cNvPr>
          <p:cNvSpPr txBox="1"/>
          <p:nvPr/>
        </p:nvSpPr>
        <p:spPr>
          <a:xfrm>
            <a:off x="777240" y="1773936"/>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点击跳到该药物/技术首项研究</a:t>
            </a:r>
          </a:p>
        </p:txBody>
      </p:sp>
      <p:sp>
        <p:nvSpPr>
          <p:cNvPr id="8" name="TextBox 7">
            <a:hlinkClick action="ppaction://hlinksldjump" r:id="rId3"/>
          </p:cNvPr>
          <p:cNvSpPr txBox="1"/>
          <p:nvPr/>
        </p:nvSpPr>
        <p:spPr>
          <a:xfrm>
            <a:off x="3172968" y="1810512"/>
            <a:ext cx="621792" cy="164592"/>
          </a:xfrm>
          <a:prstGeom prst="rect">
            <a:avLst/>
          </a:prstGeom>
          <a:noFill/>
        </p:spPr>
        <p:txBody>
          <a:bodyPr wrap="square" lIns="73152" rIns="73152" tIns="36576" bIns="36576" anchor="t">
            <a:normAutofit/>
          </a:bodyPr>
          <a:lstStyle/>
          <a:p>
            <a:pPr algn="r"/>
            <a:r>
              <a:rPr sz="740" b="1">
                <a:solidFill>
                  <a:srgbClr val="C5362D"/>
                </a:solidFill>
                <a:latin typeface="Microsoft YaHei"/>
              </a:rPr>
              <a:t>79项</a:t>
            </a:r>
          </a:p>
        </p:txBody>
      </p:sp>
      <p:sp>
        <p:nvSpPr>
          <p:cNvPr id="9" name="Rounded Rectangle 8">
            <a:hlinkClick action="ppaction://hlinksldjump" r:id="rId4"/>
          </p:cNvPr>
          <p:cNvSpPr/>
          <p:nvPr/>
        </p:nvSpPr>
        <p:spPr>
          <a:xfrm>
            <a:off x="4325112" y="1325880"/>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hlinkClick action="ppaction://hlinksldjump" r:id="rId4"/>
          </p:cNvPr>
          <p:cNvSpPr/>
          <p:nvPr/>
        </p:nvSpPr>
        <p:spPr>
          <a:xfrm>
            <a:off x="4325112" y="1325880"/>
            <a:ext cx="91440" cy="786384"/>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a:hlinkClick action="ppaction://hlinksldjump" r:id="rId4"/>
          </p:cNvPr>
          <p:cNvSpPr txBox="1"/>
          <p:nvPr/>
        </p:nvSpPr>
        <p:spPr>
          <a:xfrm>
            <a:off x="4507992" y="1453895"/>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双抗</a:t>
            </a:r>
          </a:p>
        </p:txBody>
      </p:sp>
      <p:sp>
        <p:nvSpPr>
          <p:cNvPr id="12" name="TextBox 11">
            <a:hlinkClick action="ppaction://hlinksldjump" r:id="rId4"/>
          </p:cNvPr>
          <p:cNvSpPr txBox="1"/>
          <p:nvPr/>
        </p:nvSpPr>
        <p:spPr>
          <a:xfrm>
            <a:off x="4507992" y="1773936"/>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点击跳到该药物/技术首项研究</a:t>
            </a:r>
          </a:p>
        </p:txBody>
      </p:sp>
      <p:sp>
        <p:nvSpPr>
          <p:cNvPr id="13" name="TextBox 12">
            <a:hlinkClick action="ppaction://hlinksldjump" r:id="rId4"/>
          </p:cNvPr>
          <p:cNvSpPr txBox="1"/>
          <p:nvPr/>
        </p:nvSpPr>
        <p:spPr>
          <a:xfrm>
            <a:off x="6903720" y="1810512"/>
            <a:ext cx="621792" cy="164592"/>
          </a:xfrm>
          <a:prstGeom prst="rect">
            <a:avLst/>
          </a:prstGeom>
          <a:noFill/>
        </p:spPr>
        <p:txBody>
          <a:bodyPr wrap="square" lIns="73152" rIns="73152" tIns="36576" bIns="36576" anchor="t">
            <a:normAutofit/>
          </a:bodyPr>
          <a:lstStyle/>
          <a:p>
            <a:pPr algn="r"/>
            <a:r>
              <a:rPr sz="740" b="1">
                <a:solidFill>
                  <a:srgbClr val="265E8F"/>
                </a:solidFill>
                <a:latin typeface="Microsoft YaHei"/>
              </a:rPr>
              <a:t>14项</a:t>
            </a:r>
          </a:p>
        </p:txBody>
      </p:sp>
      <p:sp>
        <p:nvSpPr>
          <p:cNvPr id="14" name="Rounded Rectangle 13">
            <a:hlinkClick action="ppaction://hlinksldjump" r:id="rId5"/>
          </p:cNvPr>
          <p:cNvSpPr/>
          <p:nvPr/>
        </p:nvSpPr>
        <p:spPr>
          <a:xfrm>
            <a:off x="8055864" y="1325880"/>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a:hlinkClick action="ppaction://hlinksldjump" r:id="rId5"/>
          </p:cNvPr>
          <p:cNvSpPr/>
          <p:nvPr/>
        </p:nvSpPr>
        <p:spPr>
          <a:xfrm>
            <a:off x="8055864" y="1325880"/>
            <a:ext cx="91440" cy="786384"/>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a:hlinkClick action="ppaction://hlinksldjump" r:id="rId5"/>
          </p:cNvPr>
          <p:cNvSpPr txBox="1"/>
          <p:nvPr/>
        </p:nvSpPr>
        <p:spPr>
          <a:xfrm>
            <a:off x="8238744" y="1453895"/>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ADC</a:t>
            </a:r>
          </a:p>
        </p:txBody>
      </p:sp>
      <p:sp>
        <p:nvSpPr>
          <p:cNvPr id="17" name="TextBox 16">
            <a:hlinkClick action="ppaction://hlinksldjump" r:id="rId5"/>
          </p:cNvPr>
          <p:cNvSpPr txBox="1"/>
          <p:nvPr/>
        </p:nvSpPr>
        <p:spPr>
          <a:xfrm>
            <a:off x="8238744" y="1773936"/>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点击跳到该药物/技术首项研究</a:t>
            </a:r>
          </a:p>
        </p:txBody>
      </p:sp>
      <p:sp>
        <p:nvSpPr>
          <p:cNvPr id="18" name="TextBox 17">
            <a:hlinkClick action="ppaction://hlinksldjump" r:id="rId5"/>
          </p:cNvPr>
          <p:cNvSpPr txBox="1"/>
          <p:nvPr/>
        </p:nvSpPr>
        <p:spPr>
          <a:xfrm>
            <a:off x="10634472" y="1810512"/>
            <a:ext cx="621792" cy="164592"/>
          </a:xfrm>
          <a:prstGeom prst="rect">
            <a:avLst/>
          </a:prstGeom>
          <a:noFill/>
        </p:spPr>
        <p:txBody>
          <a:bodyPr wrap="square" lIns="73152" rIns="73152" tIns="36576" bIns="36576" anchor="t">
            <a:normAutofit/>
          </a:bodyPr>
          <a:lstStyle/>
          <a:p>
            <a:pPr algn="r"/>
            <a:r>
              <a:rPr sz="740" b="1">
                <a:solidFill>
                  <a:srgbClr val="2A795B"/>
                </a:solidFill>
                <a:latin typeface="Microsoft YaHei"/>
              </a:rPr>
              <a:t>13项</a:t>
            </a:r>
          </a:p>
        </p:txBody>
      </p:sp>
      <p:sp>
        <p:nvSpPr>
          <p:cNvPr id="19" name="Rounded Rectangle 18">
            <a:hlinkClick action="ppaction://hlinksldjump" r:id="rId6"/>
          </p:cNvPr>
          <p:cNvSpPr/>
          <p:nvPr/>
        </p:nvSpPr>
        <p:spPr>
          <a:xfrm>
            <a:off x="594360" y="2350008"/>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a:hlinkClick action="ppaction://hlinksldjump" r:id="rId6"/>
          </p:cNvPr>
          <p:cNvSpPr/>
          <p:nvPr/>
        </p:nvSpPr>
        <p:spPr>
          <a:xfrm>
            <a:off x="594360" y="2350008"/>
            <a:ext cx="91440" cy="786384"/>
          </a:xfrm>
          <a:prstGeom prst="rect">
            <a:avLst/>
          </a:prstGeom>
          <a:solidFill>
            <a:srgbClr val="EC8832"/>
          </a:solidFill>
          <a:ln w="8890">
            <a:solidFill>
              <a:srgbClr val="EC88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a:hlinkClick action="ppaction://hlinksldjump" r:id="rId6"/>
          </p:cNvPr>
          <p:cNvSpPr txBox="1"/>
          <p:nvPr/>
        </p:nvSpPr>
        <p:spPr>
          <a:xfrm>
            <a:off x="777240" y="2478024"/>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BTKi</a:t>
            </a:r>
          </a:p>
        </p:txBody>
      </p:sp>
      <p:sp>
        <p:nvSpPr>
          <p:cNvPr id="22" name="TextBox 21">
            <a:hlinkClick action="ppaction://hlinksldjump" r:id="rId6"/>
          </p:cNvPr>
          <p:cNvSpPr txBox="1"/>
          <p:nvPr/>
        </p:nvSpPr>
        <p:spPr>
          <a:xfrm>
            <a:off x="777240" y="2798064"/>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点击跳到该药物/技术首项研究</a:t>
            </a:r>
          </a:p>
        </p:txBody>
      </p:sp>
      <p:sp>
        <p:nvSpPr>
          <p:cNvPr id="23" name="TextBox 22">
            <a:hlinkClick action="ppaction://hlinksldjump" r:id="rId6"/>
          </p:cNvPr>
          <p:cNvSpPr txBox="1"/>
          <p:nvPr/>
        </p:nvSpPr>
        <p:spPr>
          <a:xfrm>
            <a:off x="3172968" y="2834640"/>
            <a:ext cx="621792" cy="164592"/>
          </a:xfrm>
          <a:prstGeom prst="rect">
            <a:avLst/>
          </a:prstGeom>
          <a:noFill/>
        </p:spPr>
        <p:txBody>
          <a:bodyPr wrap="square" lIns="73152" rIns="73152" tIns="36576" bIns="36576" anchor="t">
            <a:normAutofit/>
          </a:bodyPr>
          <a:lstStyle/>
          <a:p>
            <a:pPr algn="r"/>
            <a:r>
              <a:rPr sz="740" b="1">
                <a:solidFill>
                  <a:srgbClr val="EC8832"/>
                </a:solidFill>
                <a:latin typeface="Microsoft YaHei"/>
              </a:rPr>
              <a:t>19项</a:t>
            </a:r>
          </a:p>
        </p:txBody>
      </p:sp>
      <p:sp>
        <p:nvSpPr>
          <p:cNvPr id="24" name="Rounded Rectangle 23">
            <a:hlinkClick action="ppaction://hlinksldjump" r:id="rId7"/>
          </p:cNvPr>
          <p:cNvSpPr/>
          <p:nvPr/>
        </p:nvSpPr>
        <p:spPr>
          <a:xfrm>
            <a:off x="4325112" y="2350008"/>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a:hlinkClick action="ppaction://hlinksldjump" r:id="rId7"/>
          </p:cNvPr>
          <p:cNvSpPr/>
          <p:nvPr/>
        </p:nvSpPr>
        <p:spPr>
          <a:xfrm>
            <a:off x="4325112" y="2350008"/>
            <a:ext cx="91440" cy="786384"/>
          </a:xfrm>
          <a:prstGeom prst="rect">
            <a:avLst/>
          </a:prstGeom>
          <a:solidFill>
            <a:srgbClr val="65489B"/>
          </a:solidFill>
          <a:ln w="8890">
            <a:solidFill>
              <a:srgbClr val="6548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a:hlinkClick action="ppaction://hlinksldjump" r:id="rId7"/>
          </p:cNvPr>
          <p:cNvSpPr txBox="1"/>
          <p:nvPr/>
        </p:nvSpPr>
        <p:spPr>
          <a:xfrm>
            <a:off x="4507992" y="2478024"/>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化疗/免疫化疗</a:t>
            </a:r>
          </a:p>
        </p:txBody>
      </p:sp>
      <p:sp>
        <p:nvSpPr>
          <p:cNvPr id="27" name="TextBox 26">
            <a:hlinkClick action="ppaction://hlinksldjump" r:id="rId7"/>
          </p:cNvPr>
          <p:cNvSpPr txBox="1"/>
          <p:nvPr/>
        </p:nvSpPr>
        <p:spPr>
          <a:xfrm>
            <a:off x="4507992" y="2798064"/>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点击跳到该药物/技术首项研究</a:t>
            </a:r>
          </a:p>
        </p:txBody>
      </p:sp>
      <p:sp>
        <p:nvSpPr>
          <p:cNvPr id="28" name="TextBox 27">
            <a:hlinkClick action="ppaction://hlinksldjump" r:id="rId7"/>
          </p:cNvPr>
          <p:cNvSpPr txBox="1"/>
          <p:nvPr/>
        </p:nvSpPr>
        <p:spPr>
          <a:xfrm>
            <a:off x="6903720" y="2834640"/>
            <a:ext cx="621792" cy="164592"/>
          </a:xfrm>
          <a:prstGeom prst="rect">
            <a:avLst/>
          </a:prstGeom>
          <a:noFill/>
        </p:spPr>
        <p:txBody>
          <a:bodyPr wrap="square" lIns="73152" rIns="73152" tIns="36576" bIns="36576" anchor="t">
            <a:normAutofit/>
          </a:bodyPr>
          <a:lstStyle/>
          <a:p>
            <a:pPr algn="r"/>
            <a:r>
              <a:rPr sz="740" b="1">
                <a:solidFill>
                  <a:srgbClr val="65489B"/>
                </a:solidFill>
                <a:latin typeface="Microsoft YaHei"/>
              </a:rPr>
              <a:t>24项</a:t>
            </a:r>
          </a:p>
        </p:txBody>
      </p:sp>
      <p:sp>
        <p:nvSpPr>
          <p:cNvPr id="29" name="Rounded Rectangle 28">
            <a:hlinkClick action="ppaction://hlinksldjump" r:id="rId8"/>
          </p:cNvPr>
          <p:cNvSpPr/>
          <p:nvPr/>
        </p:nvSpPr>
        <p:spPr>
          <a:xfrm>
            <a:off x="8055864" y="2350008"/>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a:hlinkClick action="ppaction://hlinksldjump" r:id="rId8"/>
          </p:cNvPr>
          <p:cNvSpPr/>
          <p:nvPr/>
        </p:nvSpPr>
        <p:spPr>
          <a:xfrm>
            <a:off x="8055864" y="2350008"/>
            <a:ext cx="91440" cy="786384"/>
          </a:xfrm>
          <a:prstGeom prst="rect">
            <a:avLst/>
          </a:prstGeom>
          <a:solidFill>
            <a:srgbClr val="C5362D"/>
          </a:solidFill>
          <a:ln w="8890">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a:hlinkClick action="ppaction://hlinksldjump" r:id="rId8"/>
          </p:cNvPr>
          <p:cNvSpPr txBox="1"/>
          <p:nvPr/>
        </p:nvSpPr>
        <p:spPr>
          <a:xfrm>
            <a:off x="8238744" y="2478024"/>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CNS穿透/放疗/MTX策略</a:t>
            </a:r>
          </a:p>
        </p:txBody>
      </p:sp>
      <p:sp>
        <p:nvSpPr>
          <p:cNvPr id="32" name="TextBox 31">
            <a:hlinkClick action="ppaction://hlinksldjump" r:id="rId8"/>
          </p:cNvPr>
          <p:cNvSpPr txBox="1"/>
          <p:nvPr/>
        </p:nvSpPr>
        <p:spPr>
          <a:xfrm>
            <a:off x="8238744" y="2798064"/>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点击跳到该药物/技术首项研究</a:t>
            </a:r>
          </a:p>
        </p:txBody>
      </p:sp>
      <p:sp>
        <p:nvSpPr>
          <p:cNvPr id="33" name="TextBox 32">
            <a:hlinkClick action="ppaction://hlinksldjump" r:id="rId8"/>
          </p:cNvPr>
          <p:cNvSpPr txBox="1"/>
          <p:nvPr/>
        </p:nvSpPr>
        <p:spPr>
          <a:xfrm>
            <a:off x="10634472" y="2834640"/>
            <a:ext cx="621792" cy="164592"/>
          </a:xfrm>
          <a:prstGeom prst="rect">
            <a:avLst/>
          </a:prstGeom>
          <a:noFill/>
        </p:spPr>
        <p:txBody>
          <a:bodyPr wrap="square" lIns="73152" rIns="73152" tIns="36576" bIns="36576" anchor="t">
            <a:normAutofit/>
          </a:bodyPr>
          <a:lstStyle/>
          <a:p>
            <a:pPr algn="r"/>
            <a:r>
              <a:rPr sz="740" b="1">
                <a:solidFill>
                  <a:srgbClr val="C5362D"/>
                </a:solidFill>
                <a:latin typeface="Microsoft YaHei"/>
              </a:rPr>
              <a:t>4项</a:t>
            </a:r>
          </a:p>
        </p:txBody>
      </p:sp>
      <p:sp>
        <p:nvSpPr>
          <p:cNvPr id="34" name="Rounded Rectangle 33">
            <a:hlinkClick action="ppaction://hlinksldjump" r:id="rId9"/>
          </p:cNvPr>
          <p:cNvSpPr/>
          <p:nvPr/>
        </p:nvSpPr>
        <p:spPr>
          <a:xfrm>
            <a:off x="594360" y="3374136"/>
            <a:ext cx="3383280" cy="786384"/>
          </a:xfrm>
          <a:prstGeom prst="round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a:hlinkClick action="ppaction://hlinksldjump" r:id="rId9"/>
          </p:cNvPr>
          <p:cNvSpPr/>
          <p:nvPr/>
        </p:nvSpPr>
        <p:spPr>
          <a:xfrm>
            <a:off x="594360" y="3374136"/>
            <a:ext cx="91440" cy="786384"/>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a:hlinkClick action="ppaction://hlinksldjump" r:id="rId9"/>
          </p:cNvPr>
          <p:cNvSpPr txBox="1"/>
          <p:nvPr/>
        </p:nvSpPr>
        <p:spPr>
          <a:xfrm>
            <a:off x="777240" y="3502152"/>
            <a:ext cx="3035808" cy="256032"/>
          </a:xfrm>
          <a:prstGeom prst="rect">
            <a:avLst/>
          </a:prstGeom>
          <a:noFill/>
        </p:spPr>
        <p:txBody>
          <a:bodyPr wrap="square" lIns="73152" rIns="73152" tIns="36576" bIns="36576" anchor="t">
            <a:normAutofit/>
          </a:bodyPr>
          <a:lstStyle/>
          <a:p>
            <a:pPr algn="l"/>
            <a:r>
              <a:rPr sz="1140" b="1">
                <a:solidFill>
                  <a:srgbClr val="21242A"/>
                </a:solidFill>
                <a:latin typeface="Microsoft YaHei"/>
              </a:rPr>
              <a:t>其他/未明确药物</a:t>
            </a:r>
          </a:p>
        </p:txBody>
      </p:sp>
      <p:sp>
        <p:nvSpPr>
          <p:cNvPr id="37" name="TextBox 36">
            <a:hlinkClick action="ppaction://hlinksldjump" r:id="rId9"/>
          </p:cNvPr>
          <p:cNvSpPr txBox="1"/>
          <p:nvPr/>
        </p:nvSpPr>
        <p:spPr>
          <a:xfrm>
            <a:off x="777240" y="3822192"/>
            <a:ext cx="3035808" cy="256032"/>
          </a:xfrm>
          <a:prstGeom prst="rect">
            <a:avLst/>
          </a:prstGeom>
          <a:noFill/>
        </p:spPr>
        <p:txBody>
          <a:bodyPr wrap="square" lIns="73152" rIns="73152" tIns="36576" bIns="36576" anchor="t">
            <a:normAutofit/>
          </a:bodyPr>
          <a:lstStyle/>
          <a:p>
            <a:pPr algn="l"/>
            <a:r>
              <a:rPr sz="740" b="0">
                <a:solidFill>
                  <a:srgbClr val="5E6570"/>
                </a:solidFill>
                <a:latin typeface="Microsoft YaHei"/>
              </a:rPr>
              <a:t>点击跳到该药物/技术首项研究</a:t>
            </a:r>
          </a:p>
        </p:txBody>
      </p:sp>
      <p:sp>
        <p:nvSpPr>
          <p:cNvPr id="38" name="TextBox 37">
            <a:hlinkClick action="ppaction://hlinksldjump" r:id="rId9"/>
          </p:cNvPr>
          <p:cNvSpPr txBox="1"/>
          <p:nvPr/>
        </p:nvSpPr>
        <p:spPr>
          <a:xfrm>
            <a:off x="3172968" y="3858768"/>
            <a:ext cx="621792" cy="164592"/>
          </a:xfrm>
          <a:prstGeom prst="rect">
            <a:avLst/>
          </a:prstGeom>
          <a:noFill/>
        </p:spPr>
        <p:txBody>
          <a:bodyPr wrap="square" lIns="73152" rIns="73152" tIns="36576" bIns="36576" anchor="t">
            <a:normAutofit/>
          </a:bodyPr>
          <a:lstStyle/>
          <a:p>
            <a:pPr algn="r"/>
            <a:r>
              <a:rPr sz="740" b="1">
                <a:solidFill>
                  <a:srgbClr val="265E8F"/>
                </a:solidFill>
                <a:latin typeface="Microsoft YaHei"/>
              </a:rPr>
              <a:t>34项</a:t>
            </a:r>
          </a:p>
        </p:txBody>
      </p:sp>
      <p:sp>
        <p:nvSpPr>
          <p:cNvPr id="39" name="Rounded Rectangle 38">
            <a:hlinkClick action="ppaction://hlinksldjump" r:id="rId2"/>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384048"/>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章节</a:t>
            </a:r>
          </a:p>
        </p:txBody>
      </p:sp>
      <p:sp>
        <p:nvSpPr>
          <p:cNvPr id="3" name="TextBox 2"/>
          <p:cNvSpPr txBox="1"/>
          <p:nvPr/>
        </p:nvSpPr>
        <p:spPr>
          <a:xfrm>
            <a:off x="1600200" y="274320"/>
            <a:ext cx="9326880" cy="502920"/>
          </a:xfrm>
          <a:prstGeom prst="rect">
            <a:avLst/>
          </a:prstGeom>
          <a:noFill/>
        </p:spPr>
        <p:txBody>
          <a:bodyPr wrap="square" lIns="73152" rIns="73152" tIns="36576" bIns="36576" anchor="t">
            <a:normAutofit/>
          </a:bodyPr>
          <a:lstStyle/>
          <a:p>
            <a:pPr algn="l"/>
            <a:r>
              <a:rPr sz="2200" b="1">
                <a:solidFill>
                  <a:srgbClr val="21242A"/>
                </a:solidFill>
                <a:latin typeface="Microsoft YaHei"/>
              </a:rPr>
              <a:t>前瞻性临床试验</a:t>
            </a:r>
          </a:p>
        </p:txBody>
      </p:sp>
      <p:sp>
        <p:nvSpPr>
          <p:cNvPr id="4" name="TextBox 3"/>
          <p:cNvSpPr txBox="1"/>
          <p:nvPr/>
        </p:nvSpPr>
        <p:spPr>
          <a:xfrm>
            <a:off x="1627632" y="859536"/>
            <a:ext cx="9144000" cy="228600"/>
          </a:xfrm>
          <a:prstGeom prst="rect">
            <a:avLst/>
          </a:prstGeom>
          <a:noFill/>
        </p:spPr>
        <p:txBody>
          <a:bodyPr wrap="square" lIns="73152" rIns="73152" tIns="36576" bIns="36576" anchor="t">
            <a:normAutofit/>
          </a:bodyPr>
          <a:lstStyle/>
          <a:p>
            <a:pPr algn="l"/>
            <a:r>
              <a:rPr sz="919" b="0">
                <a:solidFill>
                  <a:srgbClr val="5E6570"/>
                </a:solidFill>
                <a:latin typeface="Microsoft YaHei"/>
              </a:rPr>
              <a:t>105项研究；以下按疾病场景和药物/技术继续细分。</a:t>
            </a:r>
          </a:p>
        </p:txBody>
      </p:sp>
      <p:sp>
        <p:nvSpPr>
          <p:cNvPr id="5" name="TextBox 4"/>
          <p:cNvSpPr txBox="1"/>
          <p:nvPr/>
        </p:nvSpPr>
        <p:spPr>
          <a:xfrm>
            <a:off x="640080" y="148132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疾病场景</a:t>
            </a:r>
          </a:p>
        </p:txBody>
      </p:sp>
      <p:sp>
        <p:nvSpPr>
          <p:cNvPr id="6" name="TextBox 5"/>
          <p:cNvSpPr txBox="1"/>
          <p:nvPr/>
        </p:nvSpPr>
        <p:spPr>
          <a:xfrm>
            <a:off x="768096" y="182880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LBCL/HGBL：73项</a:t>
            </a:r>
          </a:p>
        </p:txBody>
      </p:sp>
      <p:sp>
        <p:nvSpPr>
          <p:cNvPr id="7" name="Rectangle 6"/>
          <p:cNvSpPr/>
          <p:nvPr/>
        </p:nvSpPr>
        <p:spPr>
          <a:xfrm>
            <a:off x="4297680" y="1874519"/>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297680" y="1874519"/>
            <a:ext cx="2011680"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14884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SCNSL/CNS复发或预防：13项</a:t>
            </a:r>
          </a:p>
        </p:txBody>
      </p:sp>
      <p:sp>
        <p:nvSpPr>
          <p:cNvPr id="10" name="Rectangle 9"/>
          <p:cNvSpPr/>
          <p:nvPr/>
        </p:nvSpPr>
        <p:spPr>
          <a:xfrm>
            <a:off x="4297680" y="2194560"/>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97680" y="2194560"/>
            <a:ext cx="358244"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246888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PMBCL/特殊亚型：9项</a:t>
            </a:r>
          </a:p>
        </p:txBody>
      </p:sp>
      <p:sp>
        <p:nvSpPr>
          <p:cNvPr id="13" name="Rectangle 12"/>
          <p:cNvSpPr/>
          <p:nvPr/>
        </p:nvSpPr>
        <p:spPr>
          <a:xfrm>
            <a:off x="4297680" y="2514600"/>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514600"/>
            <a:ext cx="248015"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278892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转化/Richter：7项</a:t>
            </a:r>
          </a:p>
        </p:txBody>
      </p:sp>
      <p:sp>
        <p:nvSpPr>
          <p:cNvPr id="16" name="Rectangle 15"/>
          <p:cNvSpPr/>
          <p:nvPr/>
        </p:nvSpPr>
        <p:spPr>
          <a:xfrm>
            <a:off x="4297680" y="2834640"/>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2834640"/>
            <a:ext cx="192900"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310896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PCNSL：2项</a:t>
            </a:r>
          </a:p>
        </p:txBody>
      </p:sp>
      <p:sp>
        <p:nvSpPr>
          <p:cNvPr id="19" name="Rectangle 18"/>
          <p:cNvSpPr/>
          <p:nvPr/>
        </p:nvSpPr>
        <p:spPr>
          <a:xfrm>
            <a:off x="4297680" y="3154680"/>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80" y="3154680"/>
            <a:ext cx="55114"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342900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眼内/玻璃体视网膜淋巴瘤：1项</a:t>
            </a:r>
          </a:p>
        </p:txBody>
      </p:sp>
      <p:sp>
        <p:nvSpPr>
          <p:cNvPr id="22" name="Rectangle 21"/>
          <p:cNvSpPr/>
          <p:nvPr/>
        </p:nvSpPr>
        <p:spPr>
          <a:xfrm>
            <a:off x="4297680" y="3474720"/>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0" y="3474720"/>
            <a:ext cx="27557"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0" y="1481328"/>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药物/技术</a:t>
            </a:r>
          </a:p>
        </p:txBody>
      </p:sp>
      <p:sp>
        <p:nvSpPr>
          <p:cNvPr id="25" name="TextBox 24"/>
          <p:cNvSpPr txBox="1"/>
          <p:nvPr/>
        </p:nvSpPr>
        <p:spPr>
          <a:xfrm>
            <a:off x="6720840" y="182880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CAR-T/细胞治疗：38项</a:t>
            </a:r>
          </a:p>
        </p:txBody>
      </p:sp>
      <p:sp>
        <p:nvSpPr>
          <p:cNvPr id="26" name="Rectangle 25"/>
          <p:cNvSpPr/>
          <p:nvPr/>
        </p:nvSpPr>
        <p:spPr>
          <a:xfrm>
            <a:off x="9893808" y="1874519"/>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893808" y="1874519"/>
            <a:ext cx="1508760"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20840" y="214884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BTKi：17项</a:t>
            </a:r>
          </a:p>
        </p:txBody>
      </p:sp>
      <p:sp>
        <p:nvSpPr>
          <p:cNvPr id="29" name="Rectangle 28"/>
          <p:cNvSpPr/>
          <p:nvPr/>
        </p:nvSpPr>
        <p:spPr>
          <a:xfrm>
            <a:off x="9893808" y="2194560"/>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893808" y="2194560"/>
            <a:ext cx="674971"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0840" y="246888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化疗/免疫化疗：14项</a:t>
            </a:r>
          </a:p>
        </p:txBody>
      </p:sp>
      <p:sp>
        <p:nvSpPr>
          <p:cNvPr id="32" name="Rectangle 31"/>
          <p:cNvSpPr/>
          <p:nvPr/>
        </p:nvSpPr>
        <p:spPr>
          <a:xfrm>
            <a:off x="9893808" y="2514600"/>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893808" y="2514600"/>
            <a:ext cx="555858"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20840" y="278892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其他/未明确药物：14项</a:t>
            </a:r>
          </a:p>
        </p:txBody>
      </p:sp>
      <p:sp>
        <p:nvSpPr>
          <p:cNvPr id="35" name="Rectangle 34"/>
          <p:cNvSpPr/>
          <p:nvPr/>
        </p:nvSpPr>
        <p:spPr>
          <a:xfrm>
            <a:off x="9893808" y="2834640"/>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893808" y="2834640"/>
            <a:ext cx="555858"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20840" y="310896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双抗：12项</a:t>
            </a:r>
          </a:p>
        </p:txBody>
      </p:sp>
      <p:sp>
        <p:nvSpPr>
          <p:cNvPr id="38" name="Rectangle 37"/>
          <p:cNvSpPr/>
          <p:nvPr/>
        </p:nvSpPr>
        <p:spPr>
          <a:xfrm>
            <a:off x="9893808" y="3154680"/>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93808" y="3154680"/>
            <a:ext cx="476450"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720840" y="342900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ADC：8项</a:t>
            </a:r>
          </a:p>
        </p:txBody>
      </p:sp>
      <p:sp>
        <p:nvSpPr>
          <p:cNvPr id="41" name="Rectangle 40"/>
          <p:cNvSpPr/>
          <p:nvPr/>
        </p:nvSpPr>
        <p:spPr>
          <a:xfrm>
            <a:off x="9893808" y="3474720"/>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893808" y="3474720"/>
            <a:ext cx="317633"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4919472"/>
            <a:ext cx="10744200" cy="74980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2" y="5065776"/>
            <a:ext cx="10332720" cy="384048"/>
          </a:xfrm>
          <a:prstGeom prst="rect">
            <a:avLst/>
          </a:prstGeom>
          <a:noFill/>
        </p:spPr>
        <p:txBody>
          <a:bodyPr wrap="square" rIns="73152" bIns="36576">
            <a:normAutofit/>
          </a:bodyPr>
          <a:lstStyle/>
          <a:p>
            <a:pPr>
              <a:lnSpc>
                <a:spcPct val="103000"/>
              </a:lnSpc>
              <a:spcAft>
                <a:spcPts val="300"/>
              </a:spcAft>
              <a:defRPr sz="800">
                <a:solidFill>
                  <a:srgbClr val="5E6570"/>
                </a:solidFill>
                <a:latin typeface="Microsoft YaHei"/>
              </a:defRPr>
            </a:pPr>
            <a:r>
              <a:t>章节内每项研究保留两页：研究设计/PICO、中文结果/来源核对。</a:t>
            </a:r>
          </a:p>
          <a:p>
            <a:pPr>
              <a:lnSpc>
                <a:spcPct val="103000"/>
              </a:lnSpc>
              <a:spcAft>
                <a:spcPts val="300"/>
              </a:spcAft>
              <a:defRPr sz="800">
                <a:solidFill>
                  <a:srgbClr val="5E6570"/>
                </a:solidFill>
                <a:latin typeface="Microsoft YaHei"/>
              </a:defRPr>
            </a:pPr>
            <a:r>
              <a:t>中文结果来自原表字段；右下角可跳转 EHA 原文进一步复核。</a:t>
            </a:r>
          </a:p>
        </p:txBody>
      </p:sp>
      <p:sp>
        <p:nvSpPr>
          <p:cNvPr id="45" name="Rounded Rectangle 44">
            <a:hlinkClick action="ppaction://hlinksldjump" r:id="rId2"/>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cd19/cd22双特异性car-t细胞治疗复发/难治性大b细胞淋巴瘤及其机制研究：一项前瞻性、单臂、单中心、2期临床...</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cd19/cd22 bispecific car-t cell therapy for relapsed/refractory large b-cell...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S286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B细胞非霍奇金淋巴瘤</a:t>
            </a:r>
          </a:p>
          <a:p>
            <a:pPr>
              <a:lnSpc>
                <a:spcPct val="103000"/>
              </a:lnSpc>
              <a:spcAft>
                <a:spcPts val="300"/>
              </a:spcAft>
              <a:defRPr sz="800">
                <a:solidFill>
                  <a:srgbClr val="21242A"/>
                </a:solidFill>
                <a:latin typeface="Microsoft YaHei"/>
              </a:defRPr>
            </a:pPr>
            <a:r>
              <a:t>大B细胞淋巴瘤</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试验药/方案：CD19/CD22靶向CAR-T(同仁医院)</a:t>
            </a:r>
          </a:p>
          <a:p>
            <a:pPr>
              <a:lnSpc>
                <a:spcPct val="103000"/>
              </a:lnSpc>
              <a:spcAft>
                <a:spcPts val="300"/>
              </a:spcAft>
              <a:defRPr sz="800">
                <a:solidFill>
                  <a:srgbClr val="21242A"/>
                </a:solidFill>
                <a:latin typeface="Microsoft YaHei"/>
              </a:defRPr>
            </a:pPr>
            <a:r>
              <a:t>靶点：CD19，CD22</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最佳客观缓解率(ORR): 95.9%</a:t>
            </a:r>
          </a:p>
          <a:p>
            <a:pPr>
              <a:lnSpc>
                <a:spcPct val="103000"/>
              </a:lnSpc>
              <a:spcAft>
                <a:spcPts val="300"/>
              </a:spcAft>
              <a:defRPr sz="800">
                <a:solidFill>
                  <a:srgbClr val="21242A"/>
                </a:solidFill>
                <a:latin typeface="Microsoft YaHei"/>
              </a:defRPr>
            </a:pPr>
            <a:r>
              <a:t>最佳完全缓解率(CRR): 56.2%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人数：73</a:t>
            </a:r>
          </a:p>
          <a:p>
            <a:pPr>
              <a:lnSpc>
                <a:spcPct val="103000"/>
              </a:lnSpc>
              <a:spcAft>
                <a:spcPts val="300"/>
              </a:spcAft>
              <a:defRPr sz="810">
                <a:solidFill>
                  <a:srgbClr val="21242A"/>
                </a:solidFill>
                <a:latin typeface="Microsoft YaHei"/>
              </a:defRPr>
            </a:pPr>
            <a:r>
              <a:t>适应症：B细胞非霍奇金淋巴瘤、大B细胞淋巴瘤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登记号：NCT06081478</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试验药/方案：CD19/CD22靶向CAR-T(同仁医院)</a:t>
            </a:r>
          </a:p>
          <a:p>
            <a:pPr>
              <a:lnSpc>
                <a:spcPct val="103000"/>
              </a:lnSpc>
              <a:spcAft>
                <a:spcPts val="300"/>
              </a:spcAft>
              <a:defRPr sz="810">
                <a:solidFill>
                  <a:srgbClr val="21242A"/>
                </a:solidFill>
                <a:latin typeface="Microsoft YaHei"/>
              </a:defRPr>
            </a:pPr>
            <a:r>
              <a:t>靶点：CD19、CD22</a:t>
            </a:r>
          </a:p>
          <a:p>
            <a:pPr>
              <a:lnSpc>
                <a:spcPct val="103000"/>
              </a:lnSpc>
              <a:spcAft>
                <a:spcPts val="300"/>
              </a:spcAft>
              <a:defRPr sz="810">
                <a:solidFill>
                  <a:srgbClr val="21242A"/>
                </a:solidFill>
                <a:latin typeface="Microsoft YaHei"/>
              </a:defRPr>
            </a:pPr>
            <a:r>
              <a:t>药物/技术类别：CAR-T、自体细胞、经基因修饰</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cd19/cd22双特异性car-t细胞治疗复发/难治性大b细胞淋巴瘤及其机制研究：一项前瞻性、单臂、单中心、2期临床...</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cd19/cd22 bispecific car-t cell therapy for relapsed/refractory large b-cell...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S286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最佳客观缓解率(ORR)</a:t>
                      </a:r>
                    </a:p>
                  </a:txBody>
                  <a:tcPr>
                    <a:solidFill>
                      <a:srgbClr val="F6F8FB"/>
                    </a:solidFill>
                  </a:tcPr>
                </a:tc>
                <a:tc>
                  <a:txBody>
                    <a:bodyPr wrap="square" lIns="36576" rIns="36576" tIns="18288" bIns="18288"/>
                    <a:lstStyle/>
                    <a:p>
                      <a:r>
                        <a:rPr sz="720" b="0">
                          <a:solidFill>
                            <a:srgbClr val="21242A"/>
                          </a:solidFill>
                          <a:latin typeface="Microsoft YaHei"/>
                        </a:rPr>
                        <a:t>95.9%</a:t>
                      </a:r>
                    </a:p>
                  </a:txBody>
                  <a:tcPr>
                    <a:solidFill>
                      <a:srgbClr val="F6F8FB"/>
                    </a:solidFill>
                  </a:tcPr>
                </a:tc>
              </a:tr>
              <a:tr h="282321">
                <a:tc>
                  <a:txBody>
                    <a:bodyPr wrap="square" lIns="36576" rIns="36576" tIns="18288" bIns="18288"/>
                    <a:lstStyle/>
                    <a:p>
                      <a:r>
                        <a:rPr sz="720" b="1">
                          <a:solidFill>
                            <a:srgbClr val="21242A"/>
                          </a:solidFill>
                          <a:latin typeface="Microsoft YaHei"/>
                        </a:rPr>
                        <a:t>最佳完全缓解率(CRR)</a:t>
                      </a:r>
                    </a:p>
                  </a:txBody>
                  <a:tcPr>
                    <a:solidFill>
                      <a:srgbClr val="FFFFFF"/>
                    </a:solidFill>
                  </a:tcPr>
                </a:tc>
                <a:tc>
                  <a:txBody>
                    <a:bodyPr wrap="square" lIns="36576" rIns="36576" tIns="18288" bIns="18288"/>
                    <a:lstStyle/>
                    <a:p>
                      <a:r>
                        <a:rPr sz="720" b="0">
                          <a:solidFill>
                            <a:srgbClr val="21242A"/>
                          </a:solidFill>
                          <a:latin typeface="Microsoft YaHei"/>
                        </a:rPr>
                        <a:t>56.2%</a:t>
                      </a:r>
                    </a:p>
                  </a:txBody>
                  <a:tcPr>
                    <a:solidFill>
                      <a:srgbClr val="FFFFFF"/>
                    </a:solidFill>
                  </a:tcPr>
                </a:tc>
              </a:tr>
              <a:tr h="282321">
                <a:tc>
                  <a:txBody>
                    <a:bodyPr wrap="square" lIns="36576" rIns="36576" tIns="18288" bIns="18288"/>
                    <a:lstStyle/>
                    <a:p>
                      <a:r>
                        <a:rPr sz="720" b="1">
                          <a:solidFill>
                            <a:srgbClr val="21242A"/>
                          </a:solidFill>
                          <a:latin typeface="Microsoft YaHei"/>
                        </a:rPr>
                        <a:t>中位无进展生存期(PFS)</a:t>
                      </a:r>
                    </a:p>
                  </a:txBody>
                  <a:tcPr>
                    <a:solidFill>
                      <a:srgbClr val="F6F8FB"/>
                    </a:solidFill>
                  </a:tcPr>
                </a:tc>
                <a:tc>
                  <a:txBody>
                    <a:bodyPr wrap="square" lIns="36576" rIns="36576" tIns="18288" bIns="18288"/>
                    <a:lstStyle/>
                    <a:p>
                      <a:r>
                        <a:rPr sz="720" b="0">
                          <a:solidFill>
                            <a:srgbClr val="21242A"/>
                          </a:solidFill>
                          <a:latin typeface="Microsoft YaHei"/>
                        </a:rPr>
                        <a:t>未达到</a:t>
                      </a:r>
                    </a:p>
                  </a:txBody>
                  <a:tcPr>
                    <a:solidFill>
                      <a:srgbClr val="F6F8FB"/>
                    </a:solidFill>
                  </a:tcPr>
                </a:tc>
              </a:tr>
              <a:tr h="282321">
                <a:tc>
                  <a:txBody>
                    <a:bodyPr wrap="square" lIns="36576" rIns="36576" tIns="18288" bIns="18288"/>
                    <a:lstStyle/>
                    <a:p>
                      <a:r>
                        <a:rPr sz="720" b="1">
                          <a:solidFill>
                            <a:srgbClr val="21242A"/>
                          </a:solidFill>
                          <a:latin typeface="Microsoft YaHei"/>
                        </a:rPr>
                        <a:t>中位总生存期(OS)</a:t>
                      </a:r>
                    </a:p>
                  </a:txBody>
                  <a:tcPr>
                    <a:solidFill>
                      <a:srgbClr val="FFFFFF"/>
                    </a:solidFill>
                  </a:tcPr>
                </a:tc>
                <a:tc>
                  <a:txBody>
                    <a:bodyPr wrap="square" lIns="36576" rIns="36576" tIns="18288" bIns="18288"/>
                    <a:lstStyle/>
                    <a:p>
                      <a:r>
                        <a:rPr sz="720" b="0">
                          <a:solidFill>
                            <a:srgbClr val="21242A"/>
                          </a:solidFill>
                          <a:latin typeface="Microsoft YaHei"/>
                        </a:rPr>
                        <a:t>未达到</a:t>
                      </a:r>
                    </a:p>
                  </a:txBody>
                  <a:tcPr>
                    <a:solidFill>
                      <a:srgbClr val="FFFFFF"/>
                    </a:solidFill>
                  </a:tcPr>
                </a:tc>
              </a:tr>
              <a:tr h="282321">
                <a:tc>
                  <a:txBody>
                    <a:bodyPr wrap="square" lIns="36576" rIns="36576" tIns="18288" bIns="18288"/>
                    <a:lstStyle/>
                    <a:p>
                      <a:r>
                        <a:rPr sz="720" b="1">
                          <a:solidFill>
                            <a:srgbClr val="21242A"/>
                          </a:solidFill>
                          <a:latin typeface="Microsoft YaHei"/>
                        </a:rPr>
                        <a:t>估计24个月PFS率</a:t>
                      </a:r>
                    </a:p>
                  </a:txBody>
                  <a:tcPr>
                    <a:solidFill>
                      <a:srgbClr val="F6F8FB"/>
                    </a:solidFill>
                  </a:tcPr>
                </a:tc>
                <a:tc>
                  <a:txBody>
                    <a:bodyPr wrap="square" lIns="36576" rIns="36576" tIns="18288" bIns="18288"/>
                    <a:lstStyle/>
                    <a:p>
                      <a:r>
                        <a:rPr sz="720" b="0">
                          <a:solidFill>
                            <a:srgbClr val="21242A"/>
                          </a:solidFill>
                          <a:latin typeface="Microsoft YaHei"/>
                        </a:rPr>
                        <a:t>68.5% [95%CI: 57.2-79.8%]</a:t>
                      </a:r>
                    </a:p>
                  </a:txBody>
                  <a:tcPr>
                    <a:solidFill>
                      <a:srgbClr val="F6F8FB"/>
                    </a:solidFill>
                  </a:tcPr>
                </a:tc>
              </a:tr>
              <a:tr h="282321">
                <a:tc>
                  <a:txBody>
                    <a:bodyPr wrap="square" lIns="36576" rIns="36576" tIns="18288" bIns="18288"/>
                    <a:lstStyle/>
                    <a:p>
                      <a:r>
                        <a:rPr sz="720" b="1">
                          <a:solidFill>
                            <a:srgbClr val="21242A"/>
                          </a:solidFill>
                          <a:latin typeface="Microsoft YaHei"/>
                        </a:rPr>
                        <a:t>估计24个月OS率</a:t>
                      </a:r>
                    </a:p>
                  </a:txBody>
                  <a:tcPr>
                    <a:solidFill>
                      <a:srgbClr val="FFFFFF"/>
                    </a:solidFill>
                  </a:tcPr>
                </a:tc>
                <a:tc>
                  <a:txBody>
                    <a:bodyPr wrap="square" lIns="36576" rIns="36576" tIns="18288" bIns="18288"/>
                    <a:lstStyle/>
                    <a:p>
                      <a:r>
                        <a:rPr sz="720" b="0">
                          <a:solidFill>
                            <a:srgbClr val="21242A"/>
                          </a:solidFill>
                          <a:latin typeface="Microsoft YaHei"/>
                        </a:rPr>
                        <a:t>82.3% [95%CI: 73.5-91.1%]</a:t>
                      </a:r>
                    </a:p>
                  </a:txBody>
                  <a:tcPr>
                    <a:solidFill>
                      <a:srgbClr val="FFFFFF"/>
                    </a:solidFill>
                  </a:tcPr>
                </a:tc>
              </a:tr>
              <a:tr h="282321">
                <a:tc>
                  <a:txBody>
                    <a:bodyPr wrap="square" lIns="36576" rIns="36576" tIns="18288" bIns="18288"/>
                    <a:lstStyle/>
                    <a:p>
                      <a:r>
                        <a:rPr sz="720" b="1">
                          <a:solidFill>
                            <a:srgbClr val="21242A"/>
                          </a:solidFill>
                          <a:latin typeface="Microsoft YaHei"/>
                        </a:rPr>
                        <a:t>不良事件</a:t>
                      </a:r>
                    </a:p>
                  </a:txBody>
                  <a:tcPr>
                    <a:solidFill>
                      <a:srgbClr val="F6F8FB"/>
                    </a:solidFill>
                  </a:tcPr>
                </a:tc>
                <a:tc>
                  <a:txBody>
                    <a:bodyPr wrap="square" lIns="36576" rIns="36576" tIns="18288" bIns="18288"/>
                    <a:lstStyle/>
                    <a:p>
                      <a:r>
                        <a:rPr sz="720" b="0">
                          <a:solidFill>
                            <a:srgbClr val="21242A"/>
                          </a:solidFill>
                          <a:latin typeface="Microsoft YaHei"/>
                        </a:rPr>
                        <a:t>中性粒细胞减少93.2%, 血小板减少76.7%, 贫血76.7%; CRS 83.6% (3级2例); ICANS 5.5% (3级2例, 4级1例)</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摘要号：S286</a:t>
            </a:r>
          </a:p>
          <a:p>
            <a:pPr>
              <a:lnSpc>
                <a:spcPct val="103000"/>
              </a:lnSpc>
              <a:spcAft>
                <a:spcPts val="300"/>
              </a:spcAft>
              <a:defRPr sz="740">
                <a:solidFill>
                  <a:srgbClr val="5E6570"/>
                </a:solidFill>
                <a:latin typeface="Microsoft YaHei"/>
              </a:defRPr>
            </a:pPr>
            <a:r>
              <a:t>会议栏目：26. Gene therapy, cellular immunotherapy and vaccination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cd19car t细胞扩增过程中支链氨基酸的生物利用度与lbcl中有利的t细胞状态和临床反应有关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branched-chain amino acid bioavailability during cd19 car t-cell expansion as...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S284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N=66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Tisagenlecleucel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支链氨基酸（缬氨酸和异亮氨酸）升高与完全缓解率及生存期延长显著相关</a:t>
            </a:r>
          </a:p>
          <a:p>
            <a:pPr>
              <a:lnSpc>
                <a:spcPct val="103000"/>
              </a:lnSpc>
              <a:spcAft>
                <a:spcPts val="300"/>
              </a:spcAft>
              <a:defRPr sz="800">
                <a:solidFill>
                  <a:srgbClr val="21242A"/>
                </a:solidFill>
                <a:latin typeface="Microsoft YaHei"/>
              </a:defRPr>
            </a:pPr>
            <a:r>
              <a:t>Profile A患者（氨基酸、葡萄糖、胰岛素、乳酸普遍升高）表现出更高的CD4和CD8 CAR-T细胞水平，以及平衡的CAR...</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人数：66</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试验药/方案：阿基仑赛、Tisagenlecleucel</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cd19car t细胞扩增过程中支链氨基酸的生物利用度与lbcl中有利的t细胞状态和临床反应有关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branched-chain amino acid bioavailability during cd19 car t-cell expansion as...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S284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56464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564642">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支链氨基酸（缬氨酸和异亮氨酸）升高与完全缓解率及生存期延长显著相关</a:t>
                      </a:r>
                    </a:p>
                  </a:txBody>
                  <a:tcPr>
                    <a:solidFill>
                      <a:srgbClr val="F6F8FB"/>
                    </a:solidFill>
                  </a:tcPr>
                </a:tc>
              </a:tr>
              <a:tr h="564642">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Profile A患者（氨基酸、葡萄糖、胰岛素、乳酸普遍升高）表现出更高的CD4和CD8 CAR-T细胞水平，以及平衡的CAR+和CAR- CD4中央记忆细胞和CD8效应记忆细胞比例，活化CD4 T细胞占优势</a:t>
                      </a:r>
                    </a:p>
                  </a:txBody>
                  <a:tcPr>
                    <a:solidFill>
                      <a:srgbClr val="FFFFFF"/>
                    </a:solidFill>
                  </a:tcPr>
                </a:tc>
              </a:tr>
              <a:tr h="564642">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Profile B（饱和脂肪酸升高、氨基酸下降）和Profile C（普遍营养物质下降）患者CD4中央记忆细胞频率降低，Treg细胞富集，活化CD4 T细胞减少；Profile C还表现出活化CD8 T细胞增加</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摘要号：S284</a:t>
            </a:r>
          </a:p>
          <a:p>
            <a:pPr>
              <a:lnSpc>
                <a:spcPct val="103000"/>
              </a:lnSpc>
              <a:spcAft>
                <a:spcPts val="300"/>
              </a:spcAft>
              <a:defRPr sz="740">
                <a:solidFill>
                  <a:srgbClr val="5E6570"/>
                </a:solidFill>
                <a:latin typeface="Microsoft YaHei"/>
              </a:defRPr>
            </a:pPr>
            <a:r>
              <a:t>会议栏目：25. Gene therapy, cellular immunotherapy and vaccination -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vispa-cel，一种pd-1敲除的异基因抗cd19car-t细胞疗法，用于复发/难治性b细胞非霍奇金淋巴瘤患者（鹿...</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vispa-cel, an allogeneic anti-cd19 car-t cell therapy with a pd-1 knockout, 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S236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N=84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试验药/方案：Vispacabtagene regedleucel</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多组/多方案比较：所有患者均接受淋巴细胞清除化疗（环磷酰胺+氟达拉滨）后输注vispa-cel，剂量分为40×10^6、80×...</a:t>
            </a:r>
          </a:p>
          <a:p>
            <a:pPr>
              <a:lnSpc>
                <a:spcPct val="103000"/>
              </a:lnSpc>
              <a:spcAft>
                <a:spcPts val="300"/>
              </a:spcAft>
              <a:defRPr sz="800">
                <a:solidFill>
                  <a:srgbClr val="21242A"/>
                </a:solidFill>
                <a:latin typeface="Microsoft YaHei"/>
              </a:defRPr>
            </a:pPr>
            <a:r>
              <a:t>推荐剂量（RP2D）为80×10^6，并设有2L LBCL确认队列（80×10^6）</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总有效率（ORR）：82%（确认队列）</a:t>
            </a:r>
          </a:p>
          <a:p>
            <a:pPr>
              <a:lnSpc>
                <a:spcPct val="103000"/>
              </a:lnSpc>
              <a:spcAft>
                <a:spcPts val="300"/>
              </a:spcAft>
              <a:defRPr sz="800">
                <a:solidFill>
                  <a:srgbClr val="21242A"/>
                </a:solidFill>
                <a:latin typeface="Microsoft YaHei"/>
              </a:defRPr>
            </a:pPr>
            <a:r>
              <a:t>完全缓解率（CR）：64%（确认队列）</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人数：84</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登记号：NCT04637763</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试验药/方案：Vispacabtagene regedleucel</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药物/技术类别：CAR-T、异体细胞、腺相关病毒载体AAV</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vispa-cel，一种pd-1敲除的异基因抗cd19car-t细胞疗法，用于复发/难治性b细胞非霍奇金淋巴瘤患者（鹿...</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vispa-cel, an allogeneic anti-cd19 car-t cell therapy with a pd-1 knockout, 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S236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1. 总有效率（ORR）</a:t>
                      </a:r>
                    </a:p>
                  </a:txBody>
                  <a:tcPr>
                    <a:solidFill>
                      <a:srgbClr val="F6F8FB"/>
                    </a:solidFill>
                  </a:tcPr>
                </a:tc>
                <a:tc>
                  <a:txBody>
                    <a:bodyPr wrap="square" lIns="36576" rIns="36576" tIns="18288" bIns="18288"/>
                    <a:lstStyle/>
                    <a:p>
                      <a:r>
                        <a:rPr sz="720" b="0">
                          <a:solidFill>
                            <a:srgbClr val="21242A"/>
                          </a:solidFill>
                          <a:latin typeface="Microsoft YaHei"/>
                        </a:rPr>
                        <a:t>82%（确认队列）</a:t>
                      </a:r>
                    </a:p>
                  </a:txBody>
                  <a:tcPr>
                    <a:solidFill>
                      <a:srgbClr val="F6F8FB"/>
                    </a:solidFill>
                  </a:tcPr>
                </a:tc>
              </a:tr>
              <a:tr h="376428">
                <a:tc>
                  <a:txBody>
                    <a:bodyPr wrap="square" lIns="36576" rIns="36576" tIns="18288" bIns="18288"/>
                    <a:lstStyle/>
                    <a:p>
                      <a:r>
                        <a:rPr sz="720" b="1">
                          <a:solidFill>
                            <a:srgbClr val="21242A"/>
                          </a:solidFill>
                          <a:latin typeface="Microsoft YaHei"/>
                        </a:rPr>
                        <a:t>2. 完全缓解率（CR）</a:t>
                      </a:r>
                    </a:p>
                  </a:txBody>
                  <a:tcPr>
                    <a:solidFill>
                      <a:srgbClr val="FFFFFF"/>
                    </a:solidFill>
                  </a:tcPr>
                </a:tc>
                <a:tc>
                  <a:txBody>
                    <a:bodyPr wrap="square" lIns="36576" rIns="36576" tIns="18288" bIns="18288"/>
                    <a:lstStyle/>
                    <a:p>
                      <a:r>
                        <a:rPr sz="720" b="0">
                          <a:solidFill>
                            <a:srgbClr val="21242A"/>
                          </a:solidFill>
                          <a:latin typeface="Microsoft YaHei"/>
                        </a:rPr>
                        <a:t>64%（确认队列）</a:t>
                      </a:r>
                    </a:p>
                  </a:txBody>
                  <a:tcPr>
                    <a:solidFill>
                      <a:srgbClr val="FFFFFF"/>
                    </a:solidFill>
                  </a:tcPr>
                </a:tc>
              </a:tr>
              <a:tr h="376428">
                <a:tc>
                  <a:txBody>
                    <a:bodyPr wrap="square" lIns="36576" rIns="36576" tIns="18288" bIns="18288"/>
                    <a:lstStyle/>
                    <a:p>
                      <a:r>
                        <a:rPr sz="720" b="1">
                          <a:solidFill>
                            <a:srgbClr val="21242A"/>
                          </a:solidFill>
                          <a:latin typeface="Microsoft YaHei"/>
                        </a:rPr>
                        <a:t>3. 中位无进展生存期（PFS）和缓解持续时间（DOR）</a:t>
                      </a:r>
                    </a:p>
                  </a:txBody>
                  <a:tcPr>
                    <a:solidFill>
                      <a:srgbClr val="F6F8FB"/>
                    </a:solidFill>
                  </a:tcPr>
                </a:tc>
                <a:tc>
                  <a:txBody>
                    <a:bodyPr wrap="square" lIns="36576" rIns="36576" tIns="18288" bIns="18288"/>
                    <a:lstStyle/>
                    <a:p>
                      <a:r>
                        <a:rPr sz="720" b="0">
                          <a:solidFill>
                            <a:srgbClr val="21242A"/>
                          </a:solidFill>
                          <a:latin typeface="Microsoft YaHei"/>
                        </a:rPr>
                        <a:t>未达到</a:t>
                      </a:r>
                    </a:p>
                  </a:txBody>
                  <a:tcPr>
                    <a:solidFill>
                      <a:srgbClr val="F6F8FB"/>
                    </a:solidFill>
                  </a:tcPr>
                </a:tc>
              </a:tr>
              <a:tr h="376428">
                <a:tc>
                  <a:txBody>
                    <a:bodyPr wrap="square" lIns="36576" rIns="36576" tIns="18288" bIns="18288"/>
                    <a:lstStyle/>
                    <a:p>
                      <a:r>
                        <a:rPr sz="720" b="1">
                          <a:solidFill>
                            <a:srgbClr val="21242A"/>
                          </a:solidFill>
                          <a:latin typeface="Microsoft YaHei"/>
                        </a:rPr>
                        <a:t>4. 12个月PFS率</a:t>
                      </a:r>
                    </a:p>
                  </a:txBody>
                  <a:tcPr>
                    <a:solidFill>
                      <a:srgbClr val="FFFFFF"/>
                    </a:solidFill>
                  </a:tcPr>
                </a:tc>
                <a:tc>
                  <a:txBody>
                    <a:bodyPr wrap="square" lIns="36576" rIns="36576" tIns="18288" bIns="18288"/>
                    <a:lstStyle/>
                    <a:p>
                      <a:r>
                        <a:rPr sz="720" b="0">
                          <a:solidFill>
                            <a:srgbClr val="21242A"/>
                          </a:solidFill>
                          <a:latin typeface="Microsoft YaHei"/>
                        </a:rPr>
                        <a:t>51%</a:t>
                      </a:r>
                    </a:p>
                  </a:txBody>
                  <a:tcPr>
                    <a:solidFill>
                      <a:srgbClr val="FFFFFF"/>
                    </a:solidFill>
                  </a:tcPr>
                </a:tc>
              </a:tr>
              <a:tr h="376428">
                <a:tc>
                  <a:txBody>
                    <a:bodyPr wrap="square" lIns="36576" rIns="36576" tIns="18288" bIns="18288"/>
                    <a:lstStyle/>
                    <a:p>
                      <a:r>
                        <a:rPr sz="720" b="1">
                          <a:solidFill>
                            <a:srgbClr val="21242A"/>
                          </a:solidFill>
                          <a:latin typeface="Microsoft YaHei"/>
                        </a:rPr>
                        <a:t>5. 安全性</a:t>
                      </a:r>
                    </a:p>
                  </a:txBody>
                  <a:tcPr>
                    <a:solidFill>
                      <a:srgbClr val="F6F8FB"/>
                    </a:solidFill>
                  </a:tcPr>
                </a:tc>
                <a:tc>
                  <a:txBody>
                    <a:bodyPr wrap="square" lIns="36576" rIns="36576" tIns="18288" bIns="18288"/>
                    <a:lstStyle/>
                    <a:p>
                      <a:r>
                        <a:rPr sz="720" b="0">
                          <a:solidFill>
                            <a:srgbClr val="21242A"/>
                          </a:solidFill>
                          <a:latin typeface="Microsoft YaHei"/>
                        </a:rPr>
                        <a:t>CRS发生率55%（≥3级1%），ICANS发生率14%（≥3级4%），感染发生率51%（≥3级25%），≥3级持续血细胞减少28%，IEC-HS发生率2%（均≥3级）；5例死亡（1例相关，1例可能相关，3例无关）</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摘要号：S236</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epcore dlbcl-1的结果：epcoritamab（epcor）与研究者选择的化学免疫疗法（cit）在复发/难...</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results from epcore dlbcl-1: randomized phase 3 study of epcoritamab (epcor)...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S235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N=483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对照/比较：试验组：Epcoritamab单药治疗</a:t>
            </a:r>
          </a:p>
          <a:p>
            <a:pPr>
              <a:lnSpc>
                <a:spcPct val="103000"/>
              </a:lnSpc>
              <a:spcAft>
                <a:spcPts val="300"/>
              </a:spcAft>
              <a:defRPr sz="800">
                <a:solidFill>
                  <a:srgbClr val="21242A"/>
                </a:solidFill>
                <a:latin typeface="Microsoft YaHei"/>
              </a:defRPr>
            </a:pPr>
            <a:r>
              <a:t>对照组：研究者选择的化学免疫治疗（包括R-GemOx和BR）</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主要终点PFS：HR 0.74 (95% CI 0.60-0.92</a:t>
            </a:r>
          </a:p>
          <a:p>
            <a:pPr>
              <a:lnSpc>
                <a:spcPct val="103000"/>
              </a:lnSpc>
              <a:spcAft>
                <a:spcPts val="300"/>
              </a:spcAft>
              <a:defRPr sz="800">
                <a:solidFill>
                  <a:srgbClr val="21242A"/>
                </a:solidFill>
                <a:latin typeface="Microsoft YaHei"/>
              </a:defRPr>
            </a:pPr>
            <a:r>
              <a:t>P=0.0059)，24个月PFS率：30% vs 13%</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人数：483</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登记号：NCT07226752</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epcore dlbcl-1的结果：epcoritamab（epcor）与研究者选择的化学免疫疗法（cit）在复发/难...</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results from epcore dlbcl-1: randomized phase 3 study of epcoritamab (epcor)...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S235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EHA原文结果（中文字段未通过数字核对）（1/4）</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483 pts (epcor 241; CIT 242 [R-GemOx 174; BR 68]) were randomized; 67% were randomized in 2022 or later, coin</a:t>
            </a:r>
          </a:p>
          <a:p>
            <a:pPr>
              <a:lnSpc>
                <a:spcPct val="103000"/>
              </a:lnSpc>
              <a:spcAft>
                <a:spcPts val="300"/>
              </a:spcAft>
              <a:defRPr sz="819">
                <a:solidFill>
                  <a:srgbClr val="21242A"/>
                </a:solidFill>
                <a:latin typeface="Microsoft YaHei"/>
              </a:defRPr>
            </a:pPr>
            <a:r>
              <a:t>ciding with the COVID-19 Omicron period.</a:t>
            </a:r>
          </a:p>
          <a:p>
            <a:pPr>
              <a:lnSpc>
                <a:spcPct val="103000"/>
              </a:lnSpc>
              <a:spcAft>
                <a:spcPts val="300"/>
              </a:spcAft>
              <a:defRPr sz="819">
                <a:solidFill>
                  <a:srgbClr val="21242A"/>
                </a:solidFill>
                <a:latin typeface="Microsoft YaHei"/>
              </a:defRPr>
            </a:pPr>
            <a:r>
              <a:t>Median follow-up was 43.2 mo (epcor) and 42.3 mo (CIT).</a:t>
            </a:r>
          </a:p>
          <a:p>
            <a:pPr>
              <a:lnSpc>
                <a:spcPct val="103000"/>
              </a:lnSpc>
              <a:spcAft>
                <a:spcPts val="300"/>
              </a:spcAft>
              <a:defRPr sz="819">
                <a:solidFill>
                  <a:srgbClr val="21242A"/>
                </a:solidFill>
                <a:latin typeface="Microsoft YaHei"/>
              </a:defRPr>
            </a:pPr>
            <a:r>
              <a:t>Median age was 71 y (range, 28–89); 53% of pts were from North America/Western Europe; 73% had ≥ 2 pLOT, and 34% had ≥</a:t>
            </a:r>
          </a:p>
          <a:p>
            <a:pPr>
              <a:lnSpc>
                <a:spcPct val="103000"/>
              </a:lnSpc>
              <a:spcAft>
                <a:spcPts val="300"/>
              </a:spcAft>
              <a:defRPr sz="819">
                <a:solidFill>
                  <a:srgbClr val="21242A"/>
                </a:solidFill>
                <a:latin typeface="Microsoft YaHei"/>
              </a:defRPr>
            </a:pPr>
            <a:r>
              <a:t> 3 pLOT; 69% were refractory to last line of treatment (tx); 15% had prior SCT, and 11% had prior CAR-T.</a:t>
            </a:r>
          </a:p>
          <a:p>
            <a:pPr>
              <a:lnSpc>
                <a:spcPct val="103000"/>
              </a:lnSpc>
              <a:spcAft>
                <a:spcPts val="300"/>
              </a:spcAft>
              <a:defRPr sz="819">
                <a:solidFill>
                  <a:srgbClr val="21242A"/>
                </a:solidFill>
                <a:latin typeface="Microsoft YaHei"/>
              </a:defRPr>
            </a:pPr>
            <a:r>
              <a:t>\n A statistically significant improvement in PFS was demonstrated with epcor vs CIT (HR, 0.74 [95% CI, 0.60–0.92]; P </a:t>
            </a:r>
          </a:p>
          <a:p>
            <a:pPr>
              <a:lnSpc>
                <a:spcPct val="103000"/>
              </a:lnSpc>
              <a:spcAft>
                <a:spcPts val="300"/>
              </a:spcAft>
              <a:defRPr sz="819">
                <a:solidFill>
                  <a:srgbClr val="21242A"/>
                </a:solidFill>
                <a:latin typeface="Microsoft YaHei"/>
              </a:defRPr>
            </a:pPr>
            <a:r>
              <a:t>=0.0059; 24-mo PFS: 30% vs 13%).</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摘要号：S235</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epcore dlbcl-1的结果：epcoritamab（epcor）与研究者选择的化学免疫疗法（cit）在复发/难...</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results from epcore dlbcl-1: randomized phase 3 study of epcoritamab (epcor)...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S235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Furthermore, clinically meaningful higher complete response rate (CRR: 38% vs 26%; nominal P value 0.0032), longer dur</a:t>
            </a:r>
          </a:p>
          <a:p>
            <a:pPr>
              <a:lnSpc>
                <a:spcPct val="103000"/>
              </a:lnSpc>
              <a:spcAft>
                <a:spcPts val="300"/>
              </a:spcAft>
              <a:defRPr sz="819">
                <a:solidFill>
                  <a:srgbClr val="21242A"/>
                </a:solidFill>
                <a:latin typeface="Microsoft YaHei"/>
              </a:defRPr>
            </a:pPr>
            <a:r>
              <a:t>ability of response (median DOR 37 vs 6 mo; DOCR NR vs 11 mo) and longer TTNT (7 vs 4 mo; nominal P value \n Mean tx d</a:t>
            </a:r>
          </a:p>
          <a:p>
            <a:pPr>
              <a:lnSpc>
                <a:spcPct val="103000"/>
              </a:lnSpc>
              <a:spcAft>
                <a:spcPts val="300"/>
              </a:spcAft>
              <a:defRPr sz="819">
                <a:solidFill>
                  <a:srgbClr val="21242A"/>
                </a:solidFill>
                <a:latin typeface="Microsoft YaHei"/>
              </a:defRPr>
            </a:pPr>
            <a:r>
              <a:t>uration was longer for epcor vs CIT (11 vs 2 mo); 31% of pts received ≥ 12 cycles of epcor.</a:t>
            </a:r>
          </a:p>
          <a:p>
            <a:pPr>
              <a:lnSpc>
                <a:spcPct val="103000"/>
              </a:lnSpc>
              <a:spcAft>
                <a:spcPts val="300"/>
              </a:spcAft>
              <a:defRPr sz="819">
                <a:solidFill>
                  <a:srgbClr val="21242A"/>
                </a:solidFill>
                <a:latin typeface="Microsoft YaHei"/>
              </a:defRPr>
            </a:pPr>
            <a:r>
              <a:t>Higher rates of grade 3–4 infections (30% vs 12%) and any-grade COVID-19 (36% vs 11%) were reported in the epcor arm; </a:t>
            </a:r>
          </a:p>
          <a:p>
            <a:pPr>
              <a:lnSpc>
                <a:spcPct val="103000"/>
              </a:lnSpc>
              <a:spcAft>
                <a:spcPts val="300"/>
              </a:spcAft>
              <a:defRPr sz="819">
                <a:solidFill>
                  <a:srgbClr val="21242A"/>
                </a:solidFill>
                <a:latin typeface="Microsoft YaHei"/>
              </a:defRPr>
            </a:pPr>
            <a:r>
              <a:t>exposure-adjusted event rates were 4.3 vs 4.9 (grade 3–4 infections) and 4.4 vs 3.4 (any-grade COVID-19) per 100 pt-mo</a:t>
            </a:r>
          </a:p>
          <a:p>
            <a:pPr>
              <a:lnSpc>
                <a:spcPct val="103000"/>
              </a:lnSpc>
              <a:spcAft>
                <a:spcPts val="300"/>
              </a:spcAft>
              <a:defRPr sz="819">
                <a:solidFill>
                  <a:srgbClr val="21242A"/>
                </a:solidFill>
                <a:latin typeface="Microsoft YaHei"/>
              </a:defRPr>
            </a:pPr>
            <a:r>
              <a:t>.</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epcore dlbcl-1的结果：epcoritamab（epcor）与研究者选择的化学免疫疗法（cit）在复发/难...</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results from epcore dlbcl-1: randomized phase 3 study of epcoritamab (epcor)...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S235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Grade 5 TEAEs occurred in 17% vs 6% (exposure-adjusted, 1.5 vs 1.8 per 100 pt-mo) and were largely attributable to gra</a:t>
            </a:r>
          </a:p>
          <a:p>
            <a:pPr>
              <a:lnSpc>
                <a:spcPct val="103000"/>
              </a:lnSpc>
              <a:spcAft>
                <a:spcPts val="300"/>
              </a:spcAft>
              <a:defRPr sz="819">
                <a:solidFill>
                  <a:srgbClr val="21242A"/>
                </a:solidFill>
                <a:latin typeface="Microsoft YaHei"/>
              </a:defRPr>
            </a:pPr>
            <a:r>
              <a:t>de 5 COVID-19 (9% vs 2%).</a:t>
            </a:r>
          </a:p>
          <a:p>
            <a:pPr>
              <a:lnSpc>
                <a:spcPct val="103000"/>
              </a:lnSpc>
              <a:spcAft>
                <a:spcPts val="300"/>
              </a:spcAft>
              <a:defRPr sz="819">
                <a:solidFill>
                  <a:srgbClr val="21242A"/>
                </a:solidFill>
                <a:latin typeface="Microsoft YaHei"/>
              </a:defRPr>
            </a:pPr>
            <a:r>
              <a:t>CRS was reported in 53% (grade 3, 3%) in the epcor arm and ICANS in 4% (grade 3–4, 1%).</a:t>
            </a:r>
          </a:p>
          <a:p>
            <a:pPr>
              <a:lnSpc>
                <a:spcPct val="103000"/>
              </a:lnSpc>
              <a:spcAft>
                <a:spcPts val="300"/>
              </a:spcAft>
              <a:defRPr sz="819">
                <a:solidFill>
                  <a:srgbClr val="21242A"/>
                </a:solidFill>
                <a:latin typeface="Microsoft YaHei"/>
              </a:defRPr>
            </a:pPr>
            <a:r>
              <a:t>Summary/Conclusion: EPCORE DLBCL-1 is the largest randomized phase 3 trial in R/R LBCL and the first to demonstrate a </a:t>
            </a:r>
          </a:p>
          <a:p>
            <a:pPr>
              <a:lnSpc>
                <a:spcPct val="103000"/>
              </a:lnSpc>
              <a:spcAft>
                <a:spcPts val="300"/>
              </a:spcAft>
              <a:defRPr sz="819">
                <a:solidFill>
                  <a:srgbClr val="21242A"/>
                </a:solidFill>
                <a:latin typeface="Microsoft YaHei"/>
              </a:defRPr>
            </a:pPr>
            <a:r>
              <a:t>statistically significant improvement in PFS with a CD3×CD20 bsAb monotherapy vs combination CIT.</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epcore dlbcl-1的结果：epcoritamab（epcor）与研究者选择的化学免疫疗法（cit）在复发/难...</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results from epcore dlbcl-1: randomized phase 3 study of epcoritamab (epcor)...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S235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Furthermore, compared with CIT, epcor resulted in clinically meaningful improvements in CRR, DOR, DOCR, and less frequ</a:t>
            </a:r>
          </a:p>
          <a:p>
            <a:pPr>
              <a:lnSpc>
                <a:spcPct val="103000"/>
              </a:lnSpc>
              <a:spcAft>
                <a:spcPts val="300"/>
              </a:spcAft>
              <a:defRPr sz="819">
                <a:solidFill>
                  <a:srgbClr val="21242A"/>
                </a:solidFill>
                <a:latin typeface="Microsoft YaHei"/>
              </a:defRPr>
            </a:pPr>
            <a:r>
              <a:t>ent use of subsequent tx, demonstrating deep and durable responses.</a:t>
            </a:r>
          </a:p>
          <a:p>
            <a:pPr>
              <a:lnSpc>
                <a:spcPct val="103000"/>
              </a:lnSpc>
              <a:spcAft>
                <a:spcPts val="300"/>
              </a:spcAft>
              <a:defRPr sz="819">
                <a:solidFill>
                  <a:srgbClr val="21242A"/>
                </a:solidFill>
                <a:latin typeface="Microsoft YaHei"/>
              </a:defRPr>
            </a:pPr>
            <a:r>
              <a:t>OS was not significantly different, being confounded by COVID-19 mortality and use of novel subsequent tx.</a:t>
            </a:r>
          </a:p>
          <a:p>
            <a:pPr>
              <a:lnSpc>
                <a:spcPct val="103000"/>
              </a:lnSpc>
              <a:spcAft>
                <a:spcPts val="300"/>
              </a:spcAft>
              <a:defRPr sz="819">
                <a:solidFill>
                  <a:srgbClr val="21242A"/>
                </a:solidFill>
                <a:latin typeface="Microsoft YaHei"/>
              </a:defRPr>
            </a:pPr>
            <a:r>
              <a:t>Observed AEs were consistent with the established epcor safety profile and the expected profile for a CD3×CD20 bsAb.</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cd19/cd22双特异性car-t细胞治疗复发/难治性弥漫性大b细胞淋巴瘤后pd-1抑制剂和selinexor的维持...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maintenance therapy with pd-1 inhibitor and selinexor following cd19/cd22 bis...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PS2342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B细胞非霍奇金淋巴瘤</a:t>
            </a:r>
          </a:p>
          <a:p>
            <a:pPr>
              <a:lnSpc>
                <a:spcPct val="103000"/>
              </a:lnSpc>
              <a:spcAft>
                <a:spcPts val="300"/>
              </a:spcAft>
              <a:defRPr sz="800">
                <a:solidFill>
                  <a:srgbClr val="21242A"/>
                </a:solidFill>
                <a:latin typeface="Microsoft YaHei"/>
              </a:defRPr>
            </a:pPr>
            <a:r>
              <a:t>大B细胞淋巴瘤</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分组：维持治疗组：PD-1抑制剂（tislelizumab或serplulimab）+ selinexor</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中位随访时间：260天（范围59-529）</a:t>
            </a:r>
          </a:p>
          <a:p>
            <a:pPr>
              <a:lnSpc>
                <a:spcPct val="103000"/>
              </a:lnSpc>
              <a:spcAft>
                <a:spcPts val="300"/>
              </a:spcAft>
              <a:defRPr sz="800">
                <a:solidFill>
                  <a:srgbClr val="21242A"/>
                </a:solidFill>
                <a:latin typeface="Microsoft YaHei"/>
              </a:defRPr>
            </a:pPr>
            <a:r>
              <a:t>维持治疗前完全缓解率：38%</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人数：32</a:t>
            </a:r>
          </a:p>
          <a:p>
            <a:pPr>
              <a:lnSpc>
                <a:spcPct val="103000"/>
              </a:lnSpc>
              <a:spcAft>
                <a:spcPts val="300"/>
              </a:spcAft>
              <a:defRPr sz="810">
                <a:solidFill>
                  <a:srgbClr val="21242A"/>
                </a:solidFill>
                <a:latin typeface="Microsoft YaHei"/>
              </a:defRPr>
            </a:pPr>
            <a:r>
              <a:t>适应症：B细胞非霍奇金淋巴瘤、大B细胞淋巴瘤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登记号：NCT06081478</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分组/治疗流程：维持治疗组：PD-1抑制剂（tislelizumab或serplulimab）+ selinexor</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cd19/cd22双特异性car-t细胞治疗复发/难治性弥漫性大b细胞淋巴瘤后pd-1抑制剂和selinexor的维持...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maintenance therapy with pd-1 inhibitor and selinexor following cd19/cd22 bis...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PS2342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中位随访时间</a:t>
                      </a:r>
                    </a:p>
                  </a:txBody>
                  <a:tcPr>
                    <a:solidFill>
                      <a:srgbClr val="F6F8FB"/>
                    </a:solidFill>
                  </a:tcPr>
                </a:tc>
                <a:tc>
                  <a:txBody>
                    <a:bodyPr wrap="square" lIns="36576" rIns="36576" tIns="18288" bIns="18288"/>
                    <a:lstStyle/>
                    <a:p>
                      <a:r>
                        <a:rPr sz="720" b="0">
                          <a:solidFill>
                            <a:srgbClr val="21242A"/>
                          </a:solidFill>
                          <a:latin typeface="Microsoft YaHei"/>
                        </a:rPr>
                        <a:t>260天（范围59-529）</a:t>
                      </a:r>
                    </a:p>
                  </a:txBody>
                  <a:tcPr>
                    <a:solidFill>
                      <a:srgbClr val="F6F8FB"/>
                    </a:solidFill>
                  </a:tcPr>
                </a:tc>
              </a:tr>
              <a:tr h="282321">
                <a:tc>
                  <a:txBody>
                    <a:bodyPr wrap="square" lIns="36576" rIns="36576" tIns="18288" bIns="18288"/>
                    <a:lstStyle/>
                    <a:p>
                      <a:r>
                        <a:rPr sz="720" b="1">
                          <a:solidFill>
                            <a:srgbClr val="21242A"/>
                          </a:solidFill>
                          <a:latin typeface="Microsoft YaHei"/>
                        </a:rPr>
                        <a:t>维持治疗前完全缓解率</a:t>
                      </a:r>
                    </a:p>
                  </a:txBody>
                  <a:tcPr>
                    <a:solidFill>
                      <a:srgbClr val="FFFFFF"/>
                    </a:solidFill>
                  </a:tcPr>
                </a:tc>
                <a:tc>
                  <a:txBody>
                    <a:bodyPr wrap="square" lIns="36576" rIns="36576" tIns="18288" bIns="18288"/>
                    <a:lstStyle/>
                    <a:p>
                      <a:r>
                        <a:rPr sz="720" b="0">
                          <a:solidFill>
                            <a:srgbClr val="21242A"/>
                          </a:solidFill>
                          <a:latin typeface="Microsoft YaHei"/>
                        </a:rPr>
                        <a:t>38%</a:t>
                      </a:r>
                    </a:p>
                  </a:txBody>
                  <a:tcPr>
                    <a:solidFill>
                      <a:srgbClr val="FFFFFF"/>
                    </a:solidFill>
                  </a:tcPr>
                </a:tc>
              </a:tr>
              <a:tr h="282321">
                <a:tc>
                  <a:txBody>
                    <a:bodyPr wrap="square" lIns="36576" rIns="36576" tIns="18288" bIns="18288"/>
                    <a:lstStyle/>
                    <a:p>
                      <a:r>
                        <a:rPr sz="720" b="1">
                          <a:solidFill>
                            <a:srgbClr val="21242A"/>
                          </a:solidFill>
                          <a:latin typeface="Microsoft YaHei"/>
                        </a:rPr>
                        <a:t>第1个月总缓解率</a:t>
                      </a:r>
                    </a:p>
                  </a:txBody>
                  <a:tcPr>
                    <a:solidFill>
                      <a:srgbClr val="F6F8FB"/>
                    </a:solidFill>
                  </a:tcPr>
                </a:tc>
                <a:tc>
                  <a:txBody>
                    <a:bodyPr wrap="square" lIns="36576" rIns="36576" tIns="18288" bIns="18288"/>
                    <a:lstStyle/>
                    <a:p>
                      <a:r>
                        <a:rPr sz="720" b="0">
                          <a:solidFill>
                            <a:srgbClr val="21242A"/>
                          </a:solidFill>
                          <a:latin typeface="Microsoft YaHei"/>
                        </a:rPr>
                        <a:t>56%（完全缓解率38%）</a:t>
                      </a:r>
                    </a:p>
                  </a:txBody>
                  <a:tcPr>
                    <a:solidFill>
                      <a:srgbClr val="F6F8FB"/>
                    </a:solidFill>
                  </a:tcPr>
                </a:tc>
              </a:tr>
              <a:tr h="282321">
                <a:tc>
                  <a:txBody>
                    <a:bodyPr wrap="square" lIns="36576" rIns="36576" tIns="18288" bIns="18288"/>
                    <a:lstStyle/>
                    <a:p>
                      <a:r>
                        <a:rPr sz="720" b="1">
                          <a:solidFill>
                            <a:srgbClr val="21242A"/>
                          </a:solidFill>
                          <a:latin typeface="Microsoft YaHei"/>
                        </a:rPr>
                        <a:t>第3个月总缓解率</a:t>
                      </a:r>
                    </a:p>
                  </a:txBody>
                  <a:tcPr>
                    <a:solidFill>
                      <a:srgbClr val="FFFFFF"/>
                    </a:solidFill>
                  </a:tcPr>
                </a:tc>
                <a:tc>
                  <a:txBody>
                    <a:bodyPr wrap="square" lIns="36576" rIns="36576" tIns="18288" bIns="18288"/>
                    <a:lstStyle/>
                    <a:p>
                      <a:r>
                        <a:rPr sz="720" b="0">
                          <a:solidFill>
                            <a:srgbClr val="21242A"/>
                          </a:solidFill>
                          <a:latin typeface="Microsoft YaHei"/>
                        </a:rPr>
                        <a:t>83%（完全缓解率57%）</a:t>
                      </a:r>
                    </a:p>
                  </a:txBody>
                  <a:tcPr>
                    <a:solidFill>
                      <a:srgbClr val="FFFFFF"/>
                    </a:solidFill>
                  </a:tcPr>
                </a:tc>
              </a:tr>
              <a:tr h="282321">
                <a:tc>
                  <a:txBody>
                    <a:bodyPr wrap="square" lIns="36576" rIns="36576" tIns="18288" bIns="18288"/>
                    <a:lstStyle/>
                    <a:p>
                      <a:r>
                        <a:rPr sz="720" b="1">
                          <a:solidFill>
                            <a:srgbClr val="21242A"/>
                          </a:solidFill>
                          <a:latin typeface="Microsoft YaHei"/>
                        </a:rPr>
                        <a:t>第6个月总缓解率</a:t>
                      </a:r>
                    </a:p>
                  </a:txBody>
                  <a:tcPr>
                    <a:solidFill>
                      <a:srgbClr val="F6F8FB"/>
                    </a:solidFill>
                  </a:tcPr>
                </a:tc>
                <a:tc>
                  <a:txBody>
                    <a:bodyPr wrap="square" lIns="36576" rIns="36576" tIns="18288" bIns="18288"/>
                    <a:lstStyle/>
                    <a:p>
                      <a:r>
                        <a:rPr sz="720" b="0">
                          <a:solidFill>
                            <a:srgbClr val="21242A"/>
                          </a:solidFill>
                          <a:latin typeface="Microsoft YaHei"/>
                        </a:rPr>
                        <a:t>81%（完全缓解率71%）</a:t>
                      </a:r>
                    </a:p>
                  </a:txBody>
                  <a:tcPr>
                    <a:solidFill>
                      <a:srgbClr val="F6F8FB"/>
                    </a:solidFill>
                  </a:tcPr>
                </a:tc>
              </a:tr>
              <a:tr h="282321">
                <a:tc>
                  <a:txBody>
                    <a:bodyPr wrap="square" lIns="36576" rIns="36576" tIns="18288" bIns="18288"/>
                    <a:lstStyle/>
                    <a:p>
                      <a:r>
                        <a:rPr sz="720" b="1">
                          <a:solidFill>
                            <a:srgbClr val="21242A"/>
                          </a:solidFill>
                          <a:latin typeface="Microsoft YaHei"/>
                        </a:rPr>
                        <a:t>中位无进展生存期</a:t>
                      </a:r>
                    </a:p>
                  </a:txBody>
                  <a:tcPr>
                    <a:solidFill>
                      <a:srgbClr val="FFFFFF"/>
                    </a:solidFill>
                  </a:tcPr>
                </a:tc>
                <a:tc>
                  <a:txBody>
                    <a:bodyPr wrap="square" lIns="36576" rIns="36576" tIns="18288" bIns="18288"/>
                    <a:lstStyle/>
                    <a:p>
                      <a:r>
                        <a:rPr sz="720" b="0">
                          <a:solidFill>
                            <a:srgbClr val="21242A"/>
                          </a:solidFill>
                          <a:latin typeface="Microsoft YaHei"/>
                        </a:rPr>
                        <a:t>407天</a:t>
                      </a:r>
                    </a:p>
                  </a:txBody>
                  <a:tcPr>
                    <a:solidFill>
                      <a:srgbClr val="FFFFFF"/>
                    </a:solidFill>
                  </a:tcPr>
                </a:tc>
              </a:tr>
              <a:tr h="282321">
                <a:tc>
                  <a:txBody>
                    <a:bodyPr wrap="square" lIns="36576" rIns="36576" tIns="18288" bIns="18288"/>
                    <a:lstStyle/>
                    <a:p>
                      <a:r>
                        <a:rPr sz="720" b="1">
                          <a:solidFill>
                            <a:srgbClr val="21242A"/>
                          </a:solidFill>
                          <a:latin typeface="Microsoft YaHei"/>
                        </a:rPr>
                        <a:t>估计1年无进展生存率</a:t>
                      </a:r>
                    </a:p>
                  </a:txBody>
                  <a:tcPr>
                    <a:solidFill>
                      <a:srgbClr val="F6F8FB"/>
                    </a:solidFill>
                  </a:tcPr>
                </a:tc>
                <a:tc>
                  <a:txBody>
                    <a:bodyPr wrap="square" lIns="36576" rIns="36576" tIns="18288" bIns="18288"/>
                    <a:lstStyle/>
                    <a:p>
                      <a:r>
                        <a:rPr sz="720" b="0">
                          <a:solidFill>
                            <a:srgbClr val="21242A"/>
                          </a:solidFill>
                          <a:latin typeface="Microsoft YaHei"/>
                        </a:rPr>
                        <a:t>56.8%（95%CI: 0.40-0.80）</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摘要号：PS2342</a:t>
            </a:r>
          </a:p>
          <a:p>
            <a:pPr>
              <a:lnSpc>
                <a:spcPct val="103000"/>
              </a:lnSpc>
              <a:spcAft>
                <a:spcPts val="300"/>
              </a:spcAft>
              <a:defRPr sz="740">
                <a:solidFill>
                  <a:srgbClr val="5E6570"/>
                </a:solidFill>
                <a:latin typeface="Microsoft YaHei"/>
              </a:defRPr>
            </a:pPr>
            <a:r>
              <a:t>会议栏目：26. Gene therapy, cellular immunotherapy and vaccination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cd19/cd22双特异性car-t细胞治疗复发/难治性弥漫性大b细胞淋巴瘤后pd-1抑制剂和selinexor的维持...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maintenance therapy with pd-1 inhibitor and selinexor following cd19/cd22 bis...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PS2342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89611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896112">
                <a:tc>
                  <a:txBody>
                    <a:bodyPr wrap="square" lIns="36576" rIns="36576" tIns="18288" bIns="18288"/>
                    <a:lstStyle/>
                    <a:p>
                      <a:r>
                        <a:rPr sz="720" b="1">
                          <a:solidFill>
                            <a:srgbClr val="21242A"/>
                          </a:solidFill>
                          <a:latin typeface="Microsoft YaHei"/>
                        </a:rPr>
                        <a:t>估计1年总生存率</a:t>
                      </a:r>
                    </a:p>
                  </a:txBody>
                  <a:tcPr>
                    <a:solidFill>
                      <a:srgbClr val="F6F8FB"/>
                    </a:solidFill>
                  </a:tcPr>
                </a:tc>
                <a:tc>
                  <a:txBody>
                    <a:bodyPr wrap="square" lIns="36576" rIns="36576" tIns="18288" bIns="18288"/>
                    <a:lstStyle/>
                    <a:p>
                      <a:r>
                        <a:rPr sz="720" b="0">
                          <a:solidFill>
                            <a:srgbClr val="21242A"/>
                          </a:solidFill>
                          <a:latin typeface="Microsoft YaHei"/>
                        </a:rPr>
                        <a:t>71.2%（95%CI: 0.53-0.95）</a:t>
                      </a:r>
                    </a:p>
                  </a:txBody>
                  <a:tcPr>
                    <a:solidFill>
                      <a:srgbClr val="F6F8FB"/>
                    </a:solidFill>
                  </a:tcPr>
                </a:tc>
              </a:tr>
              <a:tr h="896112">
                <a:tc>
                  <a:txBody>
                    <a:bodyPr wrap="square" lIns="36576" rIns="36576" tIns="18288" bIns="18288"/>
                    <a:lstStyle/>
                    <a:p>
                      <a:r>
                        <a:rPr sz="720" b="1">
                          <a:solidFill>
                            <a:srgbClr val="21242A"/>
                          </a:solidFill>
                          <a:latin typeface="Microsoft YaHei"/>
                        </a:rPr>
                        <a:t>中位总生存期</a:t>
                      </a:r>
                    </a:p>
                  </a:txBody>
                  <a:tcPr>
                    <a:solidFill>
                      <a:srgbClr val="FFFFFF"/>
                    </a:solidFill>
                  </a:tcPr>
                </a:tc>
                <a:tc>
                  <a:txBody>
                    <a:bodyPr wrap="square" lIns="36576" rIns="36576" tIns="18288" bIns="18288"/>
                    <a:lstStyle/>
                    <a:p>
                      <a:r>
                        <a:rPr sz="720" b="0">
                          <a:solidFill>
                            <a:srgbClr val="21242A"/>
                          </a:solidFill>
                          <a:latin typeface="Microsoft YaHei"/>
                        </a:rPr>
                        <a:t>未达到</a:t>
                      </a:r>
                    </a:p>
                  </a:txBody>
                  <a:tcPr>
                    <a:solidFill>
                      <a:srgbClr val="FFFFFF"/>
                    </a:solidFill>
                  </a:tcPr>
                </a:tc>
              </a:tr>
              <a:tr h="896112">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CD3+PD-1+ T细胞显著减少（15例评估患者）</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pd-1ab21-表达、抗cd19-cart细胞治疗复发/难治性弥漫性大b细胞淋巴瘤：一项开放标签、单臂、1期研究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pd-1ab21-expressing, anti-cd19 car t cells for patients with relapsed/refract...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PS2335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分组：试验组：PD-1Ab21-CD19 CAR-T细胞（剂量0.3、1、3、9×10^6 cells/kg）</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细胞因子释放综合征（CRS）发生率78.6%（3级7.1%），中位发生时间10天</a:t>
            </a:r>
          </a:p>
          <a:p>
            <a:pPr>
              <a:lnSpc>
                <a:spcPct val="103000"/>
              </a:lnSpc>
              <a:spcAft>
                <a:spcPts val="300"/>
              </a:spcAft>
              <a:defRPr sz="800">
                <a:solidFill>
                  <a:srgbClr val="21242A"/>
                </a:solidFill>
                <a:latin typeface="Microsoft YaHei"/>
              </a:defRPr>
            </a:pPr>
            <a:r>
              <a:t>免疫效应细胞相关神经毒性综合征（ICANS）发生率7.1%（3级）</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人数：14</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分组/治疗流程：试验组：PD-1Ab21-CD19 CAR-T细胞（剂量0.3、1、3</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pd-1ab21-表达、抗cd19-cart细胞治疗复发/难治性弥漫性大b细胞淋巴瘤：一项开放标签、单臂、1期研究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pd-1ab21-expressing, anti-cd19 car t cells for patients with relapsed/refract...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PS2335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细胞因子释放综合征（CRS）发生率78.6%（3级7.1%），中位发生时间10天</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免疫效应细胞相关神经毒性综合征（ICANS）发生率7.1%（3级）</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总缓解率（ORR）71.4%</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完全代谢缓解（CMR）率57.1%</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6个月无进展生存（PFS）率64.3%</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6个月总生存（OS）率71.4%</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中位随访22.2个月</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摘要号：PS2335</a:t>
            </a:r>
          </a:p>
          <a:p>
            <a:pPr>
              <a:lnSpc>
                <a:spcPct val="103000"/>
              </a:lnSpc>
              <a:spcAft>
                <a:spcPts val="300"/>
              </a:spcAft>
              <a:defRPr sz="740">
                <a:solidFill>
                  <a:srgbClr val="5E6570"/>
                </a:solidFill>
                <a:latin typeface="Microsoft YaHei"/>
              </a:defRPr>
            </a:pPr>
            <a:r>
              <a:t>会议栏目：26. Gene therapy, cellular immunotherapy and vaccination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循环car t细胞中cd4/cd8平衡对大b细胞淋巴瘤总生存率的双相预后影响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cd4/cd8 balance in circulating car t-cells shows biphasic prognostic impact 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PS2323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N=139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总CAR-T细胞水平与达到完全代谢反应(CMR)的关系：HR 1.12 per doubling (95%CI 1.04-1....</a:t>
            </a:r>
          </a:p>
          <a:p>
            <a:pPr>
              <a:lnSpc>
                <a:spcPct val="103000"/>
              </a:lnSpc>
              <a:spcAft>
                <a:spcPts val="300"/>
              </a:spcAft>
              <a:defRPr sz="800">
                <a:solidFill>
                  <a:srgbClr val="21242A"/>
                </a:solidFill>
                <a:latin typeface="Microsoft YaHei"/>
              </a:defRPr>
            </a:pPr>
            <a:r>
              <a:t>DiffNorm与总生存期(OS)的早期关系：HR 1.31 per +0.1 DiffNorm increase (95%C...</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人数：139</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循环car t细胞中cd4/cd8平衡对大b细胞淋巴瘤总生存率的双相预后影响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cd4/cd8 balance in circulating car t-cells shows biphasic prognostic impact 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PS2323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总CAR-T细胞水平与达到完全代谢反应(CMR)的关系</a:t>
                      </a:r>
                    </a:p>
                  </a:txBody>
                  <a:tcPr>
                    <a:solidFill>
                      <a:srgbClr val="F6F8FB"/>
                    </a:solidFill>
                  </a:tcPr>
                </a:tc>
                <a:tc>
                  <a:txBody>
                    <a:bodyPr wrap="square" lIns="36576" rIns="36576" tIns="18288" bIns="18288"/>
                    <a:lstStyle/>
                    <a:p>
                      <a:r>
                        <a:rPr sz="720" b="0">
                          <a:solidFill>
                            <a:srgbClr val="21242A"/>
                          </a:solidFill>
                          <a:latin typeface="Microsoft YaHei"/>
                        </a:rPr>
                        <a:t>HR 1.12 per doubling (95%CI 1.04-1.21, Holm-adjusted p=0.022)</a:t>
                      </a:r>
                    </a:p>
                  </a:txBody>
                  <a:tcPr>
                    <a:solidFill>
                      <a:srgbClr val="F6F8FB"/>
                    </a:solidFill>
                  </a:tcPr>
                </a:tc>
              </a:tr>
              <a:tr h="282321">
                <a:tc>
                  <a:txBody>
                    <a:bodyPr wrap="square" lIns="36576" rIns="36576" tIns="18288" bIns="18288"/>
                    <a:lstStyle/>
                    <a:p>
                      <a:r>
                        <a:rPr sz="720" b="1">
                          <a:solidFill>
                            <a:srgbClr val="21242A"/>
                          </a:solidFill>
                          <a:latin typeface="Microsoft YaHei"/>
                        </a:rPr>
                        <a:t>DiffNorm与总生存期(OS)的早期关系</a:t>
                      </a:r>
                    </a:p>
                  </a:txBody>
                  <a:tcPr>
                    <a:solidFill>
                      <a:srgbClr val="FFFFFF"/>
                    </a:solidFill>
                  </a:tcPr>
                </a:tc>
                <a:tc>
                  <a:txBody>
                    <a:bodyPr wrap="square" lIns="36576" rIns="36576" tIns="18288" bIns="18288"/>
                    <a:lstStyle/>
                    <a:p>
                      <a:r>
                        <a:rPr sz="720" b="0">
                          <a:solidFill>
                            <a:srgbClr val="21242A"/>
                          </a:solidFill>
                          <a:latin typeface="Microsoft YaHei"/>
                        </a:rPr>
                        <a:t>HR 1.31 per +0.1 DiffNorm increase (95%CI 1.10-1.56, Holm-adjusted p=0.006)</a:t>
                      </a:r>
                    </a:p>
                  </a:txBody>
                  <a:tcPr>
                    <a:solidFill>
                      <a:srgbClr val="FFFFFF"/>
                    </a:solidFill>
                  </a:tcPr>
                </a:tc>
              </a:tr>
              <a:tr h="282321">
                <a:tc>
                  <a:txBody>
                    <a:bodyPr wrap="square" lIns="36576" rIns="36576" tIns="18288" bIns="18288"/>
                    <a:lstStyle/>
                    <a:p>
                      <a:r>
                        <a:rPr sz="720" b="1">
                          <a:solidFill>
                            <a:srgbClr val="21242A"/>
                          </a:solidFill>
                          <a:latin typeface="Microsoft YaHei"/>
                        </a:rPr>
                        <a:t>DiffNorm与总生存期(OS)的晚期关系</a:t>
                      </a:r>
                    </a:p>
                  </a:txBody>
                  <a:tcPr>
                    <a:solidFill>
                      <a:srgbClr val="F6F8FB"/>
                    </a:solidFill>
                  </a:tcPr>
                </a:tc>
                <a:tc>
                  <a:txBody>
                    <a:bodyPr wrap="square" lIns="36576" rIns="36576" tIns="18288" bIns="18288"/>
                    <a:lstStyle/>
                    <a:p>
                      <a:r>
                        <a:rPr sz="720" b="0">
                          <a:solidFill>
                            <a:srgbClr val="21242A"/>
                          </a:solidFill>
                          <a:latin typeface="Microsoft YaHei"/>
                        </a:rPr>
                        <a:t>HR 0.91 (0.85-0.97, p=0.006)</a:t>
                      </a:r>
                    </a:p>
                  </a:txBody>
                  <a:tcPr>
                    <a:solidFill>
                      <a:srgbClr val="F6F8FB"/>
                    </a:solidFill>
                  </a:tcPr>
                </a:tc>
              </a:tr>
              <a:tr h="282321">
                <a:tc>
                  <a:txBody>
                    <a:bodyPr wrap="square" lIns="36576" rIns="36576" tIns="18288" bIns="18288"/>
                    <a:lstStyle/>
                    <a:p>
                      <a:r>
                        <a:rPr sz="720" b="1">
                          <a:solidFill>
                            <a:srgbClr val="21242A"/>
                          </a:solidFill>
                          <a:latin typeface="Microsoft YaHei"/>
                        </a:rPr>
                        <a:t>CMR率</a:t>
                      </a:r>
                    </a:p>
                  </a:txBody>
                  <a:tcPr>
                    <a:solidFill>
                      <a:srgbClr val="FFFFFF"/>
                    </a:solidFill>
                  </a:tcPr>
                </a:tc>
                <a:tc>
                  <a:txBody>
                    <a:bodyPr wrap="square" lIns="36576" rIns="36576" tIns="18288" bIns="18288"/>
                    <a:lstStyle/>
                    <a:p>
                      <a:r>
                        <a:rPr sz="720" b="0">
                          <a:solidFill>
                            <a:srgbClr val="21242A"/>
                          </a:solidFill>
                          <a:latin typeface="Microsoft YaHei"/>
                        </a:rPr>
                        <a:t>74.1% (103/139)</a:t>
                      </a:r>
                    </a:p>
                  </a:txBody>
                  <a:tcPr>
                    <a:solidFill>
                      <a:srgbClr val="FFFFFF"/>
                    </a:solidFill>
                  </a:tcPr>
                </a:tc>
              </a:tr>
              <a:tr h="282321">
                <a:tc>
                  <a:txBody>
                    <a:bodyPr wrap="square" lIns="36576" rIns="36576" tIns="18288" bIns="18288"/>
                    <a:lstStyle/>
                    <a:p>
                      <a:r>
                        <a:rPr sz="720" b="1">
                          <a:solidFill>
                            <a:srgbClr val="21242A"/>
                          </a:solidFill>
                          <a:latin typeface="Microsoft YaHei"/>
                        </a:rPr>
                        <a:t>ORR</a:t>
                      </a:r>
                    </a:p>
                  </a:txBody>
                  <a:tcPr>
                    <a:solidFill>
                      <a:srgbClr val="F6F8FB"/>
                    </a:solidFill>
                  </a:tcPr>
                </a:tc>
                <a:tc>
                  <a:txBody>
                    <a:bodyPr wrap="square" lIns="36576" rIns="36576" tIns="18288" bIns="18288"/>
                    <a:lstStyle/>
                    <a:p>
                      <a:r>
                        <a:rPr sz="720" b="0">
                          <a:solidFill>
                            <a:srgbClr val="21242A"/>
                          </a:solidFill>
                          <a:latin typeface="Microsoft YaHei"/>
                        </a:rPr>
                        <a:t>86.3%</a:t>
                      </a:r>
                    </a:p>
                  </a:txBody>
                  <a:tcPr>
                    <a:solidFill>
                      <a:srgbClr val="F6F8FB"/>
                    </a:solidFill>
                  </a:tcPr>
                </a:tc>
              </a:tr>
              <a:tr h="282321">
                <a:tc>
                  <a:txBody>
                    <a:bodyPr wrap="square" lIns="36576" rIns="36576" tIns="18288" bIns="18288"/>
                    <a:lstStyle/>
                    <a:p>
                      <a:r>
                        <a:rPr sz="720" b="1">
                          <a:solidFill>
                            <a:srgbClr val="21242A"/>
                          </a:solidFill>
                          <a:latin typeface="Microsoft YaHei"/>
                        </a:rPr>
                        <a:t>中位PFS</a:t>
                      </a:r>
                    </a:p>
                  </a:txBody>
                  <a:tcPr>
                    <a:solidFill>
                      <a:srgbClr val="FFFFFF"/>
                    </a:solidFill>
                  </a:tcPr>
                </a:tc>
                <a:tc>
                  <a:txBody>
                    <a:bodyPr wrap="square" lIns="36576" rIns="36576" tIns="18288" bIns="18288"/>
                    <a:lstStyle/>
                    <a:p>
                      <a:r>
                        <a:rPr sz="720" b="0">
                          <a:solidFill>
                            <a:srgbClr val="21242A"/>
                          </a:solidFill>
                          <a:latin typeface="Microsoft YaHei"/>
                        </a:rPr>
                        <a:t>42.5个月</a:t>
                      </a:r>
                    </a:p>
                  </a:txBody>
                  <a:tcPr>
                    <a:solidFill>
                      <a:srgbClr val="FFFFFF"/>
                    </a:solidFill>
                  </a:tcPr>
                </a:tc>
              </a:tr>
              <a:tr h="282321">
                <a:tc>
                  <a:txBody>
                    <a:bodyPr wrap="square" lIns="36576" rIns="36576" tIns="18288" bIns="18288"/>
                    <a:lstStyle/>
                    <a:p>
                      <a:r>
                        <a:rPr sz="720" b="1">
                          <a:solidFill>
                            <a:srgbClr val="21242A"/>
                          </a:solidFill>
                          <a:latin typeface="Microsoft YaHei"/>
                        </a:rPr>
                        <a:t>中位OS</a:t>
                      </a:r>
                    </a:p>
                  </a:txBody>
                  <a:tcPr>
                    <a:solidFill>
                      <a:srgbClr val="F6F8FB"/>
                    </a:solidFill>
                  </a:tcPr>
                </a:tc>
                <a:tc>
                  <a:txBody>
                    <a:bodyPr wrap="square" lIns="36576" rIns="36576" tIns="18288" bIns="18288"/>
                    <a:lstStyle/>
                    <a:p>
                      <a:r>
                        <a:rPr sz="720" b="0">
                          <a:solidFill>
                            <a:srgbClr val="21242A"/>
                          </a:solidFill>
                          <a:latin typeface="Microsoft YaHei"/>
                        </a:rPr>
                        <a:t>58.1个月</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摘要号：PS2323</a:t>
            </a:r>
          </a:p>
          <a:p>
            <a:pPr>
              <a:lnSpc>
                <a:spcPct val="103000"/>
              </a:lnSpc>
              <a:spcAft>
                <a:spcPts val="300"/>
              </a:spcAft>
              <a:defRPr sz="740">
                <a:solidFill>
                  <a:srgbClr val="5E6570"/>
                </a:solidFill>
                <a:latin typeface="Microsoft YaHei"/>
              </a:defRPr>
            </a:pPr>
            <a:r>
              <a:t>会议栏目：25. Gene therapy, cellular immunotherapy and vaccination -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循环car t细胞中cd4/cd8平衡对大b细胞淋巴瘤总生存率的双相预后影响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cd4/cd8 balance in circulating car t-cells shows biphasic prognostic impact 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PS2323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1792224">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1792224">
                <a:tc>
                  <a:txBody>
                    <a:bodyPr wrap="square" lIns="36576" rIns="36576" tIns="18288" bIns="18288"/>
                    <a:lstStyle/>
                    <a:p>
                      <a:r>
                        <a:rPr sz="720" b="1">
                          <a:solidFill>
                            <a:srgbClr val="21242A"/>
                          </a:solidFill>
                          <a:latin typeface="Microsoft YaHei"/>
                        </a:rPr>
                        <a:t>CAR-T细胞持续可检测比例</a:t>
                      </a:r>
                    </a:p>
                  </a:txBody>
                  <a:tcPr>
                    <a:solidFill>
                      <a:srgbClr val="F6F8FB"/>
                    </a:solidFill>
                  </a:tcPr>
                </a:tc>
                <a:tc>
                  <a:txBody>
                    <a:bodyPr wrap="square" lIns="36576" rIns="36576" tIns="18288" bIns="18288"/>
                    <a:lstStyle/>
                    <a:p>
                      <a:r>
                        <a:rPr sz="720" b="0">
                          <a:solidFill>
                            <a:srgbClr val="21242A"/>
                          </a:solidFill>
                          <a:latin typeface="Microsoft YaHei"/>
                        </a:rPr>
                        <a:t>M1 98.5%, M6 97.6%, M12 93.0%, M24 94.7%</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早期肿瘤知情ctdna监测改善大b细胞淋巴瘤car-t治疗后的风险分层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early tumor-informed ctdna monitoring improves risk stratification after car-...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PS2167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N=63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回顾性临床研究结果：early tumor-informed ctdna monitoring improves risk s...</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早期MRD评估（day +7/+14）：ctDNA阳性患者1年PFS为23%，ctDNA阴性患者1年PFS为100%（HR=1...</a:t>
            </a:r>
          </a:p>
          <a:p>
            <a:pPr>
              <a:lnSpc>
                <a:spcPct val="103000"/>
              </a:lnSpc>
              <a:spcAft>
                <a:spcPts val="300"/>
              </a:spcAft>
              <a:defRPr sz="800">
                <a:solidFill>
                  <a:srgbClr val="21242A"/>
                </a:solidFill>
                <a:latin typeface="Microsoft YaHei"/>
              </a:defRPr>
            </a:pPr>
            <a:r>
              <a:t>Day+30：ctDNA MRD阳性患者HR=4.5（95%CI 1.03-19.37，p=0.02），PET/CT阳性HR=...</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人数：63</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研究主题：early tumor-informed ctdna monitoring improves risk stratification after car-t therapy in large b-cell lymphoma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早期肿瘤知情ctdna监测改善大b细胞淋巴瘤car-t治疗后的风险分层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early tumor-informed ctdna monitoring improves risk stratification after car-...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PS2167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EHA原文结果（中文字段未通过数字核对）（1/4）</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The median age of the final cohort was 57 years; 41% were female, and patients had received a median of two p</a:t>
            </a:r>
          </a:p>
          <a:p>
            <a:pPr>
              <a:lnSpc>
                <a:spcPct val="103000"/>
              </a:lnSpc>
              <a:spcAft>
                <a:spcPts val="300"/>
              </a:spcAft>
              <a:defRPr sz="819">
                <a:solidFill>
                  <a:srgbClr val="21242A"/>
                </a:solidFill>
                <a:latin typeface="Microsoft YaHei"/>
              </a:defRPr>
            </a:pPr>
            <a:r>
              <a:t>rior lines of therapy.</a:t>
            </a:r>
          </a:p>
          <a:p>
            <a:pPr>
              <a:lnSpc>
                <a:spcPct val="103000"/>
              </a:lnSpc>
              <a:spcAft>
                <a:spcPts val="300"/>
              </a:spcAft>
              <a:defRPr sz="819">
                <a:solidFill>
                  <a:srgbClr val="21242A"/>
                </a:solidFill>
                <a:latin typeface="Microsoft YaHei"/>
              </a:defRPr>
            </a:pPr>
            <a:r>
              <a:t>At baseline, 401 trackable somatic mutations were identified for MRD monitoring (mean: 6 per patient).</a:t>
            </a:r>
          </a:p>
          <a:p>
            <a:pPr>
              <a:lnSpc>
                <a:spcPct val="103000"/>
              </a:lnSpc>
              <a:spcAft>
                <a:spcPts val="300"/>
              </a:spcAft>
              <a:defRPr sz="819">
                <a:solidFill>
                  <a:srgbClr val="21242A"/>
                </a:solidFill>
                <a:latin typeface="Microsoft YaHei"/>
              </a:defRPr>
            </a:pPr>
            <a:r>
              <a:t>The most frequently mutated genes were TP53 (44%), CREBBP (30%), KMT2D (24%), IGLL5 (22%), and BCL2 (20%).</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摘要号：PS2167</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早期肿瘤知情ctdna监测改善大b细胞淋巴瘤car-t治疗后的风险分层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early tumor-informed ctdna monitoring improves risk stratification after car-...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PS2167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Early MRD assessment (day +7/+14) identified patients at increased risk of progression, with ctDNA positivity demonstr</a:t>
            </a:r>
          </a:p>
          <a:p>
            <a:pPr>
              <a:lnSpc>
                <a:spcPct val="103000"/>
              </a:lnSpc>
              <a:spcAft>
                <a:spcPts val="300"/>
              </a:spcAft>
              <a:defRPr sz="819">
                <a:solidFill>
                  <a:srgbClr val="21242A"/>
                </a:solidFill>
                <a:latin typeface="Microsoft YaHei"/>
              </a:defRPr>
            </a:pPr>
            <a:r>
              <a:t>ating significant prognostic impact (one-year PFS: 23% vs 100%; HR, 10; 95% CI, 1.37–72.48; p=0.02), indicating that m</a:t>
            </a:r>
          </a:p>
          <a:p>
            <a:pPr>
              <a:lnSpc>
                <a:spcPct val="103000"/>
              </a:lnSpc>
              <a:spcAft>
                <a:spcPts val="300"/>
              </a:spcAft>
              <a:defRPr sz="819">
                <a:solidFill>
                  <a:srgbClr val="21242A"/>
                </a:solidFill>
                <a:latin typeface="Microsoft YaHei"/>
              </a:defRPr>
            </a:pPr>
            <a:r>
              <a:t>olecular kinetics precede conventional imaging (Figure A).</a:t>
            </a:r>
          </a:p>
          <a:p>
            <a:pPr>
              <a:lnSpc>
                <a:spcPct val="103000"/>
              </a:lnSpc>
              <a:spcAft>
                <a:spcPts val="300"/>
              </a:spcAft>
              <a:defRPr sz="819">
                <a:solidFill>
                  <a:srgbClr val="21242A"/>
                </a:solidFill>
                <a:latin typeface="Microsoft YaHei"/>
              </a:defRPr>
            </a:pPr>
            <a:r>
              <a:t>At day +30, ctDNA MRD positivity retained independent prognostic value (HR 4.5, 95% CI 1.03–19.37; p=0.02), comparable</a:t>
            </a:r>
          </a:p>
          <a:p>
            <a:pPr>
              <a:lnSpc>
                <a:spcPct val="103000"/>
              </a:lnSpc>
              <a:spcAft>
                <a:spcPts val="300"/>
              </a:spcAft>
              <a:defRPr sz="819">
                <a:solidFill>
                  <a:srgbClr val="21242A"/>
                </a:solidFill>
                <a:latin typeface="Microsoft YaHei"/>
              </a:defRPr>
            </a:pPr>
            <a:r>
              <a:t> to PET/CT (HR 8.3, 95% CI 4.41–15.6; p</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早期肿瘤知情ctdna监测改善大b细胞淋巴瘤car-t治疗后的风险分层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early tumor-informed ctdna monitoring improves risk stratification after car-...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PS2167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Summary/Conclusion: Tumor-informed ctDNA monitoring enables very early risk stratification after CAR-T therapy in LBCL</a:t>
            </a:r>
          </a:p>
          <a:p>
            <a:pPr>
              <a:lnSpc>
                <a:spcPct val="103000"/>
              </a:lnSpc>
              <a:spcAft>
                <a:spcPts val="300"/>
              </a:spcAft>
              <a:defRPr sz="819">
                <a:solidFill>
                  <a:srgbClr val="21242A"/>
                </a:solidFill>
                <a:latin typeface="Microsoft YaHei"/>
              </a:defRPr>
            </a:pPr>
            <a:r>
              <a:t>, identifying high-risk patients within the first two weeks post-infusion, before radiologic assessment.</a:t>
            </a:r>
          </a:p>
          <a:p>
            <a:pPr>
              <a:lnSpc>
                <a:spcPct val="103000"/>
              </a:lnSpc>
              <a:spcAft>
                <a:spcPts val="300"/>
              </a:spcAft>
              <a:defRPr sz="819">
                <a:solidFill>
                  <a:srgbClr val="21242A"/>
                </a:solidFill>
                <a:latin typeface="Microsoft YaHei"/>
              </a:defRPr>
            </a:pPr>
            <a:r>
              <a:t>At day +30, ctDNA MRD positivity shows strong prognostic value, and integration of molecular and metabolic response im</a:t>
            </a:r>
          </a:p>
          <a:p>
            <a:pPr>
              <a:lnSpc>
                <a:spcPct val="103000"/>
              </a:lnSpc>
              <a:spcAft>
                <a:spcPts val="300"/>
              </a:spcAft>
              <a:defRPr sz="819">
                <a:solidFill>
                  <a:srgbClr val="21242A"/>
                </a:solidFill>
                <a:latin typeface="Microsoft YaHei"/>
              </a:defRPr>
            </a:pPr>
            <a:r>
              <a:t>proves outcome discrimination.</a:t>
            </a:r>
          </a:p>
          <a:p>
            <a:pPr>
              <a:lnSpc>
                <a:spcPct val="103000"/>
              </a:lnSpc>
              <a:spcAft>
                <a:spcPts val="300"/>
              </a:spcAft>
              <a:defRPr sz="819">
                <a:solidFill>
                  <a:srgbClr val="21242A"/>
                </a:solidFill>
                <a:latin typeface="Microsoft YaHei"/>
              </a:defRPr>
            </a:pPr>
            <a:r>
              <a:t>ctDNA analysis is particularly useful when PET findings generate uncertainty, clarifying disease status.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早期肿瘤知情ctdna监测改善大b细胞淋巴瘤car-t治疗后的风险分层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early tumor-informed ctdna monitoring improves risk stratification after car-...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PS2167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These results support incorporating longitudinal ctDNA monitoring into prospective CAR-T trials to enable earlier, bio</a:t>
            </a:r>
          </a:p>
          <a:p>
            <a:pPr>
              <a:lnSpc>
                <a:spcPct val="103000"/>
              </a:lnSpc>
              <a:spcAft>
                <a:spcPts val="300"/>
              </a:spcAft>
              <a:defRPr sz="819">
                <a:solidFill>
                  <a:srgbClr val="21242A"/>
                </a:solidFill>
                <a:latin typeface="Microsoft YaHei"/>
              </a:defRPr>
            </a:pPr>
            <a:r>
              <a:t>logy-driven, risk-adapted strategies.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晚些时候输注car‑t会增加细胞因子释放综合征（crs）：免疫治疗相关毒性昼夜节律调节的证据</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later car‑t infusions increase cytokine release syndrome (crs): evidence for...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PS2352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多发性骨髓瘤，弥漫性大B细胞淋巴瘤</a:t>
            </a:r>
          </a:p>
          <a:p>
            <a:pPr>
              <a:lnSpc>
                <a:spcPct val="103000"/>
              </a:lnSpc>
              <a:spcAft>
                <a:spcPts val="300"/>
              </a:spcAft>
              <a:defRPr sz="800">
                <a:solidFill>
                  <a:srgbClr val="21242A"/>
                </a:solidFill>
                <a:latin typeface="Microsoft YaHei"/>
              </a:defRPr>
            </a:pPr>
            <a:r>
              <a:t>N=96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分组：上午输注组：CAR-T细胞</a:t>
            </a:r>
          </a:p>
          <a:p>
            <a:pPr>
              <a:lnSpc>
                <a:spcPct val="103000"/>
              </a:lnSpc>
              <a:spcAft>
                <a:spcPts val="300"/>
              </a:spcAft>
              <a:defRPr sz="800">
                <a:solidFill>
                  <a:srgbClr val="21242A"/>
                </a:solidFill>
                <a:latin typeface="Microsoft YaHei"/>
              </a:defRPr>
            </a:pPr>
            <a:r>
              <a:t>下午输注组：CAR-T细胞</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多组/多方案比较：上午输注组：CAR-T细胞</a:t>
            </a:r>
          </a:p>
          <a:p>
            <a:pPr>
              <a:lnSpc>
                <a:spcPct val="103000"/>
              </a:lnSpc>
              <a:spcAft>
                <a:spcPts val="300"/>
              </a:spcAft>
              <a:defRPr sz="800">
                <a:solidFill>
                  <a:srgbClr val="21242A"/>
                </a:solidFill>
                <a:latin typeface="Microsoft YaHei"/>
              </a:defRPr>
            </a:pPr>
            <a:r>
              <a:t>下午输注组：CAR-T细胞</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任何级别CRS发生率：AM组55%，PM组88%（p=0.013）</a:t>
            </a:r>
          </a:p>
          <a:p>
            <a:pPr>
              <a:lnSpc>
                <a:spcPct val="103000"/>
              </a:lnSpc>
              <a:spcAft>
                <a:spcPts val="300"/>
              </a:spcAft>
              <a:defRPr sz="800">
                <a:solidFill>
                  <a:srgbClr val="21242A"/>
                </a:solidFill>
                <a:latin typeface="Microsoft YaHei"/>
              </a:defRPr>
            </a:pPr>
            <a:r>
              <a:t>调整后OR (PM vs AM)：aOR 8.15 (95%CI 1.45-45.78, p=0.017)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人数：96</a:t>
            </a:r>
          </a:p>
          <a:p>
            <a:pPr>
              <a:lnSpc>
                <a:spcPct val="103000"/>
              </a:lnSpc>
              <a:spcAft>
                <a:spcPts val="300"/>
              </a:spcAft>
              <a:defRPr sz="810">
                <a:solidFill>
                  <a:srgbClr val="21242A"/>
                </a:solidFill>
                <a:latin typeface="Microsoft YaHei"/>
              </a:defRPr>
            </a:pPr>
            <a:r>
              <a:t>适应症：多发性骨髓瘤、弥漫性大B细胞淋巴瘤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分组/治疗流程：上午输注组：CAR-T细胞、下午输注组：CAR-T细胞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晚些时候输注car‑t会增加细胞因子释放综合征（crs）：免疫治疗相关毒性昼夜节律调节的证据</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later car‑t infusions increase cytokine release syndrome (crs): evidence for...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PS2352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任何级别CRS发生率</a:t>
                      </a:r>
                    </a:p>
                  </a:txBody>
                  <a:tcPr>
                    <a:solidFill>
                      <a:srgbClr val="F6F8FB"/>
                    </a:solidFill>
                  </a:tcPr>
                </a:tc>
                <a:tc>
                  <a:txBody>
                    <a:bodyPr wrap="square" lIns="36576" rIns="36576" tIns="18288" bIns="18288"/>
                    <a:lstStyle/>
                    <a:p>
                      <a:r>
                        <a:rPr sz="720" b="0">
                          <a:solidFill>
                            <a:srgbClr val="21242A"/>
                          </a:solidFill>
                          <a:latin typeface="Microsoft YaHei"/>
                        </a:rPr>
                        <a:t>AM组55%，PM组88%（p=0.013）</a:t>
                      </a:r>
                    </a:p>
                  </a:txBody>
                  <a:tcPr>
                    <a:solidFill>
                      <a:srgbClr val="F6F8FB"/>
                    </a:solidFill>
                  </a:tcPr>
                </a:tc>
              </a:tr>
              <a:tr h="282321">
                <a:tc>
                  <a:txBody>
                    <a:bodyPr wrap="square" lIns="36576" rIns="36576" tIns="18288" bIns="18288"/>
                    <a:lstStyle/>
                    <a:p>
                      <a:r>
                        <a:rPr sz="720" b="1">
                          <a:solidFill>
                            <a:srgbClr val="21242A"/>
                          </a:solidFill>
                          <a:latin typeface="Microsoft YaHei"/>
                        </a:rPr>
                        <a:t>调整后OR (PM vs AM)</a:t>
                      </a:r>
                    </a:p>
                  </a:txBody>
                  <a:tcPr>
                    <a:solidFill>
                      <a:srgbClr val="FFFFFF"/>
                    </a:solidFill>
                  </a:tcPr>
                </a:tc>
                <a:tc>
                  <a:txBody>
                    <a:bodyPr wrap="square" lIns="36576" rIns="36576" tIns="18288" bIns="18288"/>
                    <a:lstStyle/>
                    <a:p>
                      <a:r>
                        <a:rPr sz="720" b="0">
                          <a:solidFill>
                            <a:srgbClr val="21242A"/>
                          </a:solidFill>
                          <a:latin typeface="Microsoft YaHei"/>
                        </a:rPr>
                        <a:t>aOR 8.15 (95%CI 1.45-45.78, p=0.017)</a:t>
                      </a:r>
                    </a:p>
                  </a:txBody>
                  <a:tcPr>
                    <a:solidFill>
                      <a:srgbClr val="FFFFFF"/>
                    </a:solidFill>
                  </a:tcPr>
                </a:tc>
              </a:tr>
              <a:tr h="282321">
                <a:tc>
                  <a:txBody>
                    <a:bodyPr wrap="square" lIns="36576" rIns="36576" tIns="18288" bIns="18288"/>
                    <a:lstStyle/>
                    <a:p>
                      <a:r>
                        <a:rPr sz="720" b="1">
                          <a:solidFill>
                            <a:srgbClr val="21242A"/>
                          </a:solidFill>
                          <a:latin typeface="Microsoft YaHei"/>
                        </a:rPr>
                        <a:t>托珠单抗和/或类固醇使用率</a:t>
                      </a:r>
                    </a:p>
                  </a:txBody>
                  <a:tcPr>
                    <a:solidFill>
                      <a:srgbClr val="F6F8FB"/>
                    </a:solidFill>
                  </a:tcPr>
                </a:tc>
                <a:tc>
                  <a:txBody>
                    <a:bodyPr wrap="square" lIns="36576" rIns="36576" tIns="18288" bIns="18288"/>
                    <a:lstStyle/>
                    <a:p>
                      <a:r>
                        <a:rPr sz="720" b="0">
                          <a:solidFill>
                            <a:srgbClr val="21242A"/>
                          </a:solidFill>
                          <a:latin typeface="Microsoft YaHei"/>
                        </a:rPr>
                        <a:t>AM组59%，PM组88%（aOR 5.11, 95%CI 1.09-23.97, p=0.027）</a:t>
                      </a:r>
                    </a:p>
                  </a:txBody>
                  <a:tcPr>
                    <a:solidFill>
                      <a:srgbClr val="F6F8FB"/>
                    </a:solidFill>
                  </a:tcPr>
                </a:tc>
              </a:tr>
              <a:tr h="282321">
                <a:tc>
                  <a:txBody>
                    <a:bodyPr wrap="square" lIns="36576" rIns="36576" tIns="18288" bIns="18288"/>
                    <a:lstStyle/>
                    <a:p>
                      <a:r>
                        <a:rPr sz="720" b="1">
                          <a:solidFill>
                            <a:srgbClr val="21242A"/>
                          </a:solidFill>
                          <a:latin typeface="Microsoft YaHei"/>
                        </a:rPr>
                        <a:t>每小时晚输注的CRS风险</a:t>
                      </a:r>
                    </a:p>
                  </a:txBody>
                  <a:tcPr>
                    <a:solidFill>
                      <a:srgbClr val="FFFFFF"/>
                    </a:solidFill>
                  </a:tcPr>
                </a:tc>
                <a:tc>
                  <a:txBody>
                    <a:bodyPr wrap="square" lIns="36576" rIns="36576" tIns="18288" bIns="18288"/>
                    <a:lstStyle/>
                    <a:p>
                      <a:r>
                        <a:rPr sz="720" b="0">
                          <a:solidFill>
                            <a:srgbClr val="21242A"/>
                          </a:solidFill>
                          <a:latin typeface="Microsoft YaHei"/>
                        </a:rPr>
                        <a:t>aOR 1.82 (95%CI 1.14-2.90, p=0.012)</a:t>
                      </a:r>
                    </a:p>
                  </a:txBody>
                  <a:tcPr>
                    <a:solidFill>
                      <a:srgbClr val="FFFFFF"/>
                    </a:solidFill>
                  </a:tcPr>
                </a:tc>
              </a:tr>
              <a:tr h="282321">
                <a:tc>
                  <a:txBody>
                    <a:bodyPr wrap="square" lIns="36576" rIns="36576" tIns="18288" bIns="18288"/>
                    <a:lstStyle/>
                    <a:p>
                      <a:r>
                        <a:rPr sz="720" b="1">
                          <a:solidFill>
                            <a:srgbClr val="21242A"/>
                          </a:solidFill>
                          <a:latin typeface="Microsoft YaHei"/>
                        </a:rPr>
                        <a:t>30或60天完全缓解率</a:t>
                      </a:r>
                    </a:p>
                  </a:txBody>
                  <a:tcPr>
                    <a:solidFill>
                      <a:srgbClr val="F6F8FB"/>
                    </a:solidFill>
                  </a:tcPr>
                </a:tc>
                <a:tc>
                  <a:txBody>
                    <a:bodyPr wrap="square" lIns="36576" rIns="36576" tIns="18288" bIns="18288"/>
                    <a:lstStyle/>
                    <a:p>
                      <a:r>
                        <a:rPr sz="720" b="0">
                          <a:solidFill>
                            <a:srgbClr val="21242A"/>
                          </a:solidFill>
                          <a:latin typeface="Microsoft YaHei"/>
                        </a:rPr>
                        <a:t>AM组60%，PM组31%（OR 0.30, 95%CI 0.083-1.09, p=0.072）</a:t>
                      </a:r>
                    </a:p>
                  </a:txBody>
                  <a:tcPr>
                    <a:solidFill>
                      <a:srgbClr val="F6F8FB"/>
                    </a:solidFill>
                  </a:tcPr>
                </a:tc>
              </a:tr>
              <a:tr h="282321">
                <a:tc>
                  <a:txBody>
                    <a:bodyPr wrap="square" lIns="36576" rIns="36576" tIns="18288" bIns="18288"/>
                    <a:lstStyle/>
                    <a:p>
                      <a:r>
                        <a:rPr sz="720" b="1">
                          <a:solidFill>
                            <a:srgbClr val="21242A"/>
                          </a:solidFill>
                          <a:latin typeface="Microsoft YaHei"/>
                        </a:rPr>
                        <a:t>无进展生存期</a:t>
                      </a:r>
                    </a:p>
                  </a:txBody>
                  <a:tcPr>
                    <a:solidFill>
                      <a:srgbClr val="FFFFFF"/>
                    </a:solidFill>
                  </a:tcPr>
                </a:tc>
                <a:tc>
                  <a:txBody>
                    <a:bodyPr wrap="square" lIns="36576" rIns="36576" tIns="18288" bIns="18288"/>
                    <a:lstStyle/>
                    <a:p>
                      <a:r>
                        <a:rPr sz="720" b="0">
                          <a:solidFill>
                            <a:srgbClr val="21242A"/>
                          </a:solidFill>
                          <a:latin typeface="Microsoft YaHei"/>
                        </a:rPr>
                        <a:t>PM组有恶化趋势（HR ~1.25）</a:t>
                      </a:r>
                    </a:p>
                  </a:txBody>
                  <a:tcPr>
                    <a:solidFill>
                      <a:srgbClr val="FFFFFF"/>
                    </a:solidFill>
                  </a:tcPr>
                </a:tc>
              </a:tr>
              <a:tr h="282321">
                <a:tc>
                  <a:txBody>
                    <a:bodyPr wrap="square" lIns="36576" rIns="36576" tIns="18288" bIns="18288"/>
                    <a:lstStyle/>
                    <a:p>
                      <a:r>
                        <a:rPr sz="720" b="1">
                          <a:solidFill>
                            <a:srgbClr val="21242A"/>
                          </a:solidFill>
                          <a:latin typeface="Microsoft YaHei"/>
                        </a:rPr>
                        <a:t>总生存期</a:t>
                      </a:r>
                    </a:p>
                  </a:txBody>
                  <a:tcPr>
                    <a:solidFill>
                      <a:srgbClr val="F6F8FB"/>
                    </a:solidFill>
                  </a:tcPr>
                </a:tc>
                <a:tc>
                  <a:txBody>
                    <a:bodyPr wrap="square" lIns="36576" rIns="36576" tIns="18288" bIns="18288"/>
                    <a:lstStyle/>
                    <a:p>
                      <a:r>
                        <a:rPr sz="720" b="0">
                          <a:solidFill>
                            <a:srgbClr val="21242A"/>
                          </a:solidFill>
                          <a:latin typeface="Microsoft YaHei"/>
                        </a:rPr>
                        <a:t>无显著差异</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摘要号：PS2352</a:t>
            </a:r>
          </a:p>
          <a:p>
            <a:pPr>
              <a:lnSpc>
                <a:spcPct val="103000"/>
              </a:lnSpc>
              <a:spcAft>
                <a:spcPts val="300"/>
              </a:spcAft>
              <a:defRPr sz="740">
                <a:solidFill>
                  <a:srgbClr val="5E6570"/>
                </a:solidFill>
                <a:latin typeface="Microsoft YaHei"/>
              </a:defRPr>
            </a:pPr>
            <a:r>
              <a:t>会议栏目：26. Gene therapy, cellular immunotherapy and vaccination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晚些时候输注car‑t会增加细胞因子释放综合征（crs）：免疫治疗相关毒性昼夜节律调节的证据</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later car‑t infusions increase cytokine release syndrome (crs): evidence for...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PS2352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1194816">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1194816">
                <a:tc>
                  <a:txBody>
                    <a:bodyPr wrap="square" lIns="36576" rIns="36576" tIns="18288" bIns="18288"/>
                    <a:lstStyle/>
                    <a:p>
                      <a:r>
                        <a:rPr sz="720" b="1">
                          <a:solidFill>
                            <a:srgbClr val="21242A"/>
                          </a:solidFill>
                          <a:latin typeface="Microsoft YaHei"/>
                        </a:rPr>
                        <a:t>严重CRS/ICANS</a:t>
                      </a:r>
                    </a:p>
                  </a:txBody>
                  <a:tcPr>
                    <a:solidFill>
                      <a:srgbClr val="F6F8FB"/>
                    </a:solidFill>
                  </a:tcPr>
                </a:tc>
                <a:tc>
                  <a:txBody>
                    <a:bodyPr wrap="square" lIns="36576" rIns="36576" tIns="18288" bIns="18288"/>
                    <a:lstStyle/>
                    <a:p>
                      <a:r>
                        <a:rPr sz="720" b="0">
                          <a:solidFill>
                            <a:srgbClr val="21242A"/>
                          </a:solidFill>
                          <a:latin typeface="Microsoft YaHei"/>
                        </a:rPr>
                        <a:t>与输注时间无关</a:t>
                      </a:r>
                    </a:p>
                  </a:txBody>
                  <a:tcPr>
                    <a:solidFill>
                      <a:srgbClr val="F6F8FB"/>
                    </a:solidFill>
                  </a:tcPr>
                </a:tc>
              </a:tr>
              <a:tr h="1194816">
                <a:tc>
                  <a:txBody>
                    <a:bodyPr wrap="square" lIns="36576" rIns="36576" tIns="18288" bIns="18288"/>
                    <a:lstStyle/>
                    <a:p>
                      <a:r>
                        <a:rPr sz="720" b="1">
                          <a:solidFill>
                            <a:srgbClr val="21242A"/>
                          </a:solidFill>
                          <a:latin typeface="Microsoft YaHei"/>
                        </a:rPr>
                        <a:t>探索性分析</a:t>
                      </a:r>
                    </a:p>
                  </a:txBody>
                  <a:tcPr>
                    <a:solidFill>
                      <a:srgbClr val="FFFFFF"/>
                    </a:solidFill>
                  </a:tcPr>
                </a:tc>
                <a:tc>
                  <a:txBody>
                    <a:bodyPr wrap="square" lIns="36576" rIns="36576" tIns="18288" bIns="18288"/>
                    <a:lstStyle/>
                    <a:p>
                      <a:r>
                        <a:rPr sz="720" b="0">
                          <a:solidFill>
                            <a:srgbClr val="21242A"/>
                          </a:solidFill>
                          <a:latin typeface="Microsoft YaHei"/>
                        </a:rPr>
                        <a:t>DLBCL亚组毒性更大，男性可能更明显</a:t>
                      </a:r>
                    </a:p>
                  </a:txBody>
                  <a:tcPr>
                    <a:solidFill>
                      <a:srgbClr val="FFFFFF"/>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starglo合格患者二线car-t治疗的疗效比较分析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outcomes of second-line car-t therapy in starglo-eligible patients: a compara...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N=38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分组：试验组1：二线CAR-T治疗（CAR-T）</a:t>
            </a:r>
          </a:p>
          <a:p>
            <a:pPr>
              <a:lnSpc>
                <a:spcPct val="103000"/>
              </a:lnSpc>
              <a:spcAft>
                <a:spcPts val="300"/>
              </a:spcAft>
              <a:defRPr sz="800">
                <a:solidFill>
                  <a:srgbClr val="21242A"/>
                </a:solidFill>
                <a:latin typeface="Microsoft YaHei"/>
              </a:defRPr>
            </a:pPr>
            <a:r>
              <a:t>对照组：STARGLO二线亚组（glofitamab, gemcitabine, oxaliplatin）</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对照/比较：试验组1：二线CAR-T治疗（CAR-T）</a:t>
            </a:r>
          </a:p>
          <a:p>
            <a:pPr>
              <a:lnSpc>
                <a:spcPct val="103000"/>
              </a:lnSpc>
              <a:spcAft>
                <a:spcPts val="300"/>
              </a:spcAft>
              <a:defRPr sz="800">
                <a:solidFill>
                  <a:srgbClr val="21242A"/>
                </a:solidFill>
                <a:latin typeface="Microsoft YaHei"/>
              </a:defRPr>
            </a:pPr>
            <a:r>
              <a:t>对照组：STARGLO二线亚组（glofitamab, gemcitabine, oxaliplatin）</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2L CAR-T队列完全缓解率：65.8%</a:t>
            </a:r>
          </a:p>
          <a:p>
            <a:pPr>
              <a:lnSpc>
                <a:spcPct val="103000"/>
              </a:lnSpc>
              <a:spcAft>
                <a:spcPts val="300"/>
              </a:spcAft>
              <a:defRPr sz="800">
                <a:solidFill>
                  <a:srgbClr val="21242A"/>
                </a:solidFill>
                <a:latin typeface="Microsoft YaHei"/>
              </a:defRPr>
            </a:pPr>
            <a:r>
              <a:t>STARGLO 2L完全缓解率：63.5%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人数：38</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治疗线数：二线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分组/治疗流程：试验组1：二线CAR-T治疗（CAR-T）、对照组：STARGLO二线亚组（glofitamab、gemcitabine</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starglo合格患者二线car-t治疗的疗效比较分析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outcomes of second-line car-t therapy in starglo-eligible patients: a compara...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2L CAR-T队列完全缓解率</a:t>
                      </a:r>
                    </a:p>
                  </a:txBody>
                  <a:tcPr>
                    <a:solidFill>
                      <a:srgbClr val="F6F8FB"/>
                    </a:solidFill>
                  </a:tcPr>
                </a:tc>
                <a:tc>
                  <a:txBody>
                    <a:bodyPr wrap="square" lIns="36576" rIns="36576" tIns="18288" bIns="18288"/>
                    <a:lstStyle/>
                    <a:p>
                      <a:r>
                        <a:rPr sz="720" b="0">
                          <a:solidFill>
                            <a:srgbClr val="21242A"/>
                          </a:solidFill>
                          <a:latin typeface="Microsoft YaHei"/>
                        </a:rPr>
                        <a:t>65.8%</a:t>
                      </a:r>
                    </a:p>
                  </a:txBody>
                  <a:tcPr>
                    <a:solidFill>
                      <a:srgbClr val="F6F8FB"/>
                    </a:solidFill>
                  </a:tcPr>
                </a:tc>
              </a:tr>
              <a:tr h="282321">
                <a:tc>
                  <a:txBody>
                    <a:bodyPr wrap="square" lIns="36576" rIns="36576" tIns="18288" bIns="18288"/>
                    <a:lstStyle/>
                    <a:p>
                      <a:r>
                        <a:rPr sz="720" b="1">
                          <a:solidFill>
                            <a:srgbClr val="21242A"/>
                          </a:solidFill>
                          <a:latin typeface="Microsoft YaHei"/>
                        </a:rPr>
                        <a:t>STARGLO 2L完全缓解率</a:t>
                      </a:r>
                    </a:p>
                  </a:txBody>
                  <a:tcPr>
                    <a:solidFill>
                      <a:srgbClr val="FFFFFF"/>
                    </a:solidFill>
                  </a:tcPr>
                </a:tc>
                <a:tc>
                  <a:txBody>
                    <a:bodyPr wrap="square" lIns="36576" rIns="36576" tIns="18288" bIns="18288"/>
                    <a:lstStyle/>
                    <a:p>
                      <a:r>
                        <a:rPr sz="720" b="0">
                          <a:solidFill>
                            <a:srgbClr val="21242A"/>
                          </a:solidFill>
                          <a:latin typeface="Microsoft YaHei"/>
                        </a:rPr>
                        <a:t>63.5%</a:t>
                      </a:r>
                    </a:p>
                  </a:txBody>
                  <a:tcPr>
                    <a:solidFill>
                      <a:srgbClr val="FFFFFF"/>
                    </a:solidFill>
                  </a:tcPr>
                </a:tc>
              </a:tr>
              <a:tr h="282321">
                <a:tc>
                  <a:txBody>
                    <a:bodyPr wrap="square" lIns="36576" rIns="36576" tIns="18288" bIns="18288"/>
                    <a:lstStyle/>
                    <a:p>
                      <a:r>
                        <a:rPr sz="720" b="1">
                          <a:solidFill>
                            <a:srgbClr val="21242A"/>
                          </a:solidFill>
                          <a:latin typeface="Microsoft YaHei"/>
                        </a:rPr>
                        <a:t>2L CAR-T队列24个月无进展生存率</a:t>
                      </a:r>
                    </a:p>
                  </a:txBody>
                  <a:tcPr>
                    <a:solidFill>
                      <a:srgbClr val="F6F8FB"/>
                    </a:solidFill>
                  </a:tcPr>
                </a:tc>
                <a:tc>
                  <a:txBody>
                    <a:bodyPr wrap="square" lIns="36576" rIns="36576" tIns="18288" bIns="18288"/>
                    <a:lstStyle/>
                    <a:p>
                      <a:r>
                        <a:rPr sz="720" b="0">
                          <a:solidFill>
                            <a:srgbClr val="21242A"/>
                          </a:solidFill>
                          <a:latin typeface="Microsoft YaHei"/>
                        </a:rPr>
                        <a:t>38.9%（95% CI: 24.9-60.6）</a:t>
                      </a:r>
                    </a:p>
                  </a:txBody>
                  <a:tcPr>
                    <a:solidFill>
                      <a:srgbClr val="F6F8FB"/>
                    </a:solidFill>
                  </a:tcPr>
                </a:tc>
              </a:tr>
              <a:tr h="282321">
                <a:tc>
                  <a:txBody>
                    <a:bodyPr wrap="square" lIns="36576" rIns="36576" tIns="18288" bIns="18288"/>
                    <a:lstStyle/>
                    <a:p>
                      <a:r>
                        <a:rPr sz="720" b="1">
                          <a:solidFill>
                            <a:srgbClr val="21242A"/>
                          </a:solidFill>
                          <a:latin typeface="Microsoft YaHei"/>
                        </a:rPr>
                        <a:t>STARGLO 2L</a:t>
                      </a:r>
                    </a:p>
                  </a:txBody>
                  <a:tcPr>
                    <a:solidFill>
                      <a:srgbClr val="FFFFFF"/>
                    </a:solidFill>
                  </a:tcPr>
                </a:tc>
                <a:tc>
                  <a:txBody>
                    <a:bodyPr wrap="square" lIns="36576" rIns="36576" tIns="18288" bIns="18288"/>
                    <a:lstStyle/>
                    <a:p>
                      <a:r>
                        <a:rPr sz="720" b="0">
                          <a:solidFill>
                            <a:srgbClr val="21242A"/>
                          </a:solidFill>
                          <a:latin typeface="Microsoft YaHei"/>
                        </a:rPr>
                        <a:t>49.9%（95% CI: 38.8-61.0）</a:t>
                      </a:r>
                    </a:p>
                  </a:txBody>
                  <a:tcPr>
                    <a:solidFill>
                      <a:srgbClr val="FFFFFF"/>
                    </a:solidFill>
                  </a:tcPr>
                </a:tc>
              </a:tr>
              <a:tr h="282321">
                <a:tc>
                  <a:txBody>
                    <a:bodyPr wrap="square" lIns="36576" rIns="36576" tIns="18288" bIns="18288"/>
                    <a:lstStyle/>
                    <a:p>
                      <a:r>
                        <a:rPr sz="720" b="1">
                          <a:solidFill>
                            <a:srgbClr val="21242A"/>
                          </a:solidFill>
                          <a:latin typeface="Microsoft YaHei"/>
                        </a:rPr>
                        <a:t>2L CAR-T队列24个月总生存率</a:t>
                      </a:r>
                    </a:p>
                  </a:txBody>
                  <a:tcPr>
                    <a:solidFill>
                      <a:srgbClr val="F6F8FB"/>
                    </a:solidFill>
                  </a:tcPr>
                </a:tc>
                <a:tc>
                  <a:txBody>
                    <a:bodyPr wrap="square" lIns="36576" rIns="36576" tIns="18288" bIns="18288"/>
                    <a:lstStyle/>
                    <a:p>
                      <a:r>
                        <a:rPr sz="720" b="0">
                          <a:solidFill>
                            <a:srgbClr val="21242A"/>
                          </a:solidFill>
                          <a:latin typeface="Microsoft YaHei"/>
                        </a:rPr>
                        <a:t>50.1%（95% CI: 34.2-73.4）</a:t>
                      </a:r>
                    </a:p>
                  </a:txBody>
                  <a:tcPr>
                    <a:solidFill>
                      <a:srgbClr val="F6F8FB"/>
                    </a:solidFill>
                  </a:tcPr>
                </a:tc>
              </a:tr>
              <a:tr h="282321">
                <a:tc>
                  <a:txBody>
                    <a:bodyPr wrap="square" lIns="36576" rIns="36576" tIns="18288" bIns="18288"/>
                    <a:lstStyle/>
                    <a:p>
                      <a:r>
                        <a:rPr sz="720" b="1">
                          <a:solidFill>
                            <a:srgbClr val="21242A"/>
                          </a:solidFill>
                          <a:latin typeface="Microsoft YaHei"/>
                        </a:rPr>
                        <a:t>STARGLO 2L</a:t>
                      </a:r>
                    </a:p>
                  </a:txBody>
                  <a:tcPr>
                    <a:solidFill>
                      <a:srgbClr val="FFFFFF"/>
                    </a:solidFill>
                  </a:tcPr>
                </a:tc>
                <a:tc>
                  <a:txBody>
                    <a:bodyPr wrap="square" lIns="36576" rIns="36576" tIns="18288" bIns="18288"/>
                    <a:lstStyle/>
                    <a:p>
                      <a:r>
                        <a:rPr sz="720" b="0">
                          <a:solidFill>
                            <a:srgbClr val="21242A"/>
                          </a:solidFill>
                          <a:latin typeface="Microsoft YaHei"/>
                        </a:rPr>
                        <a:t>57.4%（95% CI: 47.9-66.9）</a:t>
                      </a:r>
                    </a:p>
                  </a:txBody>
                  <a:tcPr>
                    <a:solidFill>
                      <a:srgbClr val="FFFFFF"/>
                    </a:solidFill>
                  </a:tcPr>
                </a:tc>
              </a:tr>
              <a:tr h="282321">
                <a:tc>
                  <a:txBody>
                    <a:bodyPr wrap="square" lIns="36576" rIns="36576" tIns="18288" bIns="18288"/>
                    <a:lstStyle/>
                    <a:p>
                      <a:r>
                        <a:rPr sz="720" b="1">
                          <a:solidFill>
                            <a:srgbClr val="21242A"/>
                          </a:solidFill>
                          <a:latin typeface="Microsoft YaHei"/>
                        </a:rPr>
                        <a:t>早期复发亚组</a:t>
                      </a:r>
                    </a:p>
                  </a:txBody>
                  <a:tcPr>
                    <a:solidFill>
                      <a:srgbClr val="F6F8FB"/>
                    </a:solidFill>
                  </a:tcPr>
                </a:tc>
                <a:tc>
                  <a:txBody>
                    <a:bodyPr wrap="square" lIns="36576" rIns="36576" tIns="18288" bIns="18288"/>
                    <a:lstStyle/>
                    <a:p>
                      <a:r>
                        <a:rPr sz="720" b="0">
                          <a:solidFill>
                            <a:srgbClr val="21242A"/>
                          </a:solidFill>
                          <a:latin typeface="Microsoft YaHei"/>
                        </a:rPr>
                        <a:t>2L CAR-T队列24个月无进展生存率：45.0%（95% CI: 28.4-71.3）</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摘要号：PS2117</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starglo合格患者二线car-t治疗的疗效比较分析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outcomes of second-line car-t therapy in starglo-eligible patients: a compara...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89611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896112">
                <a:tc>
                  <a:txBody>
                    <a:bodyPr wrap="square" lIns="36576" rIns="36576" tIns="18288" bIns="18288"/>
                    <a:lstStyle/>
                    <a:p>
                      <a:r>
                        <a:rPr sz="720" b="1">
                          <a:solidFill>
                            <a:srgbClr val="21242A"/>
                          </a:solidFill>
                          <a:latin typeface="Microsoft YaHei"/>
                        </a:rPr>
                        <a:t>STARGLO</a:t>
                      </a:r>
                    </a:p>
                  </a:txBody>
                  <a:tcPr>
                    <a:solidFill>
                      <a:srgbClr val="F6F8FB"/>
                    </a:solidFill>
                  </a:tcPr>
                </a:tc>
                <a:tc>
                  <a:txBody>
                    <a:bodyPr wrap="square" lIns="36576" rIns="36576" tIns="18288" bIns="18288"/>
                    <a:lstStyle/>
                    <a:p>
                      <a:r>
                        <a:rPr sz="720" b="0">
                          <a:solidFill>
                            <a:srgbClr val="21242A"/>
                          </a:solidFill>
                          <a:latin typeface="Microsoft YaHei"/>
                        </a:rPr>
                        <a:t>40.2%（95% CI: 27.2-53.2）</a:t>
                      </a:r>
                    </a:p>
                  </a:txBody>
                  <a:tcPr>
                    <a:solidFill>
                      <a:srgbClr val="F6F8FB"/>
                    </a:solidFill>
                  </a:tcPr>
                </a:tc>
              </a:tr>
              <a:tr h="896112">
                <a:tc>
                  <a:txBody>
                    <a:bodyPr wrap="square" lIns="36576" rIns="36576" tIns="18288" bIns="18288"/>
                    <a:lstStyle/>
                    <a:p>
                      <a:r>
                        <a:rPr sz="720" b="1">
                          <a:solidFill>
                            <a:srgbClr val="21242A"/>
                          </a:solidFill>
                          <a:latin typeface="Microsoft YaHei"/>
                        </a:rPr>
                        <a:t>早期复发亚组</a:t>
                      </a:r>
                    </a:p>
                  </a:txBody>
                  <a:tcPr>
                    <a:solidFill>
                      <a:srgbClr val="FFFFFF"/>
                    </a:solidFill>
                  </a:tcPr>
                </a:tc>
                <a:tc>
                  <a:txBody>
                    <a:bodyPr wrap="square" lIns="36576" rIns="36576" tIns="18288" bIns="18288"/>
                    <a:lstStyle/>
                    <a:p>
                      <a:r>
                        <a:rPr sz="720" b="0">
                          <a:solidFill>
                            <a:srgbClr val="21242A"/>
                          </a:solidFill>
                          <a:latin typeface="Microsoft YaHei"/>
                        </a:rPr>
                        <a:t>2L CAR-T队列24个月总生存率：60.9%（95% CI: 42.1-88.2）</a:t>
                      </a:r>
                    </a:p>
                  </a:txBody>
                  <a:tcPr>
                    <a:solidFill>
                      <a:srgbClr val="FFFFFF"/>
                    </a:solidFill>
                  </a:tcPr>
                </a:tc>
              </a:tr>
              <a:tr h="896112">
                <a:tc>
                  <a:txBody>
                    <a:bodyPr wrap="square" lIns="36576" rIns="36576" tIns="18288" bIns="18288"/>
                    <a:lstStyle/>
                    <a:p>
                      <a:r>
                        <a:rPr sz="720" b="1">
                          <a:solidFill>
                            <a:srgbClr val="21242A"/>
                          </a:solidFill>
                          <a:latin typeface="Microsoft YaHei"/>
                        </a:rPr>
                        <a:t>STARGLO</a:t>
                      </a:r>
                    </a:p>
                  </a:txBody>
                  <a:tcPr>
                    <a:solidFill>
                      <a:srgbClr val="F6F8FB"/>
                    </a:solidFill>
                  </a:tcPr>
                </a:tc>
                <a:tc>
                  <a:txBody>
                    <a:bodyPr wrap="square" lIns="36576" rIns="36576" tIns="18288" bIns="18288"/>
                    <a:lstStyle/>
                    <a:p>
                      <a:r>
                        <a:rPr sz="720" b="0">
                          <a:solidFill>
                            <a:srgbClr val="21242A"/>
                          </a:solidFill>
                          <a:latin typeface="Microsoft YaHei"/>
                        </a:rPr>
                        <a:t>46.5%（95% CI: 35.2-57.8）</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relmacabtagene autoleucel（relma-cel）治疗成人复发/难治性大b细胞淋巴瘤的安全性和有...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safety and efficacy of relmacabtagene autoleucel (relma-cel) in adult patient...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试验药/方案：瑞基奥仑赛</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3个月ORR（研究者评估）：58.33%</a:t>
            </a:r>
          </a:p>
          <a:p>
            <a:pPr>
              <a:lnSpc>
                <a:spcPct val="103000"/>
              </a:lnSpc>
              <a:spcAft>
                <a:spcPts val="300"/>
              </a:spcAft>
              <a:defRPr sz="800">
                <a:solidFill>
                  <a:srgbClr val="21242A"/>
                </a:solidFill>
                <a:latin typeface="Microsoft YaHei"/>
              </a:defRPr>
            </a:pPr>
            <a:r>
              <a:t>3个月CRR（研究者评估）：41.67%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人数：12</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试验药/方案：瑞基奥仑赛</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药物/技术类别：CAR-T、外周血单个核细胞PBMC、自体细胞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relmacabtagene autoleucel（relma-cel）治疗成人复发/难治性大b细胞淋巴瘤的安全性和有...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safety and efficacy of relmacabtagene autoleucel (relma-cel) in adult patient...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EHA原文结果（中文字段未通过数字核对）（1/5）</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As of July 15, 2025, 14 patients underwent leukapheresis and 12 received relma-cel.</a:t>
            </a:r>
          </a:p>
          <a:p>
            <a:pPr>
              <a:lnSpc>
                <a:spcPct val="103000"/>
              </a:lnSpc>
              <a:spcAft>
                <a:spcPts val="300"/>
              </a:spcAft>
              <a:defRPr sz="819">
                <a:solidFill>
                  <a:srgbClr val="21242A"/>
                </a:solidFill>
                <a:latin typeface="Microsoft YaHei"/>
              </a:defRPr>
            </a:pPr>
            <a:r>
              <a:t>The median age was 61.5 years (range, 46–76; 41.7% ≥65 years), and 58.3% were male.</a:t>
            </a:r>
          </a:p>
          <a:p>
            <a:pPr>
              <a:lnSpc>
                <a:spcPct val="103000"/>
              </a:lnSpc>
              <a:spcAft>
                <a:spcPts val="300"/>
              </a:spcAft>
              <a:defRPr sz="819">
                <a:solidFill>
                  <a:srgbClr val="21242A"/>
                </a:solidFill>
                <a:latin typeface="Microsoft YaHei"/>
              </a:defRPr>
            </a:pPr>
            <a:r>
              <a:t>High-risk disease features were common: 50.0% had an International Prognostic Index ≥3, 83.3% had Ann Arbor stage III/</a:t>
            </a:r>
          </a:p>
          <a:p>
            <a:pPr>
              <a:lnSpc>
                <a:spcPct val="103000"/>
              </a:lnSpc>
              <a:spcAft>
                <a:spcPts val="300"/>
              </a:spcAft>
              <a:defRPr sz="819">
                <a:solidFill>
                  <a:srgbClr val="21242A"/>
                </a:solidFill>
                <a:latin typeface="Microsoft YaHei"/>
              </a:defRPr>
            </a:pPr>
            <a:r>
              <a:t>IV disease, 41.7% had elevated baseline lactate dehydrogenase, and 83.3% had the non-germinal center B-cell-like subty</a:t>
            </a:r>
          </a:p>
          <a:p>
            <a:pPr>
              <a:lnSpc>
                <a:spcPct val="103000"/>
              </a:lnSpc>
              <a:spcAft>
                <a:spcPts val="300"/>
              </a:spcAft>
              <a:defRPr sz="819">
                <a:solidFill>
                  <a:srgbClr val="21242A"/>
                </a:solidFill>
                <a:latin typeface="Microsoft YaHei"/>
              </a:defRPr>
            </a:pPr>
            <a:r>
              <a:t>pe.</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摘要号：PS2113</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relmacabtagene autoleucel（relma-cel）治疗成人复发/难治性大b细胞淋巴瘤的安全性和有...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safety and efficacy of relmacabtagene autoleucel (relma-cel) in adult patient...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Prior therapies included ≥3 lines in 41.7% of patients; 25.0% had received polatuzumab vedotin and 25.0% had received </a:t>
            </a:r>
          </a:p>
          <a:p>
            <a:pPr>
              <a:lnSpc>
                <a:spcPct val="103000"/>
              </a:lnSpc>
              <a:spcAft>
                <a:spcPts val="300"/>
              </a:spcAft>
              <a:defRPr sz="819">
                <a:solidFill>
                  <a:srgbClr val="21242A"/>
                </a:solidFill>
                <a:latin typeface="Microsoft YaHei"/>
              </a:defRPr>
            </a:pPr>
            <a:r>
              <a:t>CD3/CD20 bispecific antibodies (one patient was primary refractoriness, two patients were relapsed within 12 months of</a:t>
            </a:r>
          </a:p>
          <a:p>
            <a:pPr>
              <a:lnSpc>
                <a:spcPct val="103000"/>
              </a:lnSpc>
              <a:spcAft>
                <a:spcPts val="300"/>
              </a:spcAft>
              <a:defRPr sz="819">
                <a:solidFill>
                  <a:srgbClr val="21242A"/>
                </a:solidFill>
                <a:latin typeface="Microsoft YaHei"/>
              </a:defRPr>
            </a:pPr>
            <a:r>
              <a:t> first-line therapy, and three patients were subsequently treated with bispecific antibodies, and all were refractory </a:t>
            </a:r>
          </a:p>
          <a:p>
            <a:pPr>
              <a:lnSpc>
                <a:spcPct val="103000"/>
              </a:lnSpc>
              <a:spcAft>
                <a:spcPts val="300"/>
              </a:spcAft>
              <a:defRPr sz="819">
                <a:solidFill>
                  <a:srgbClr val="21242A"/>
                </a:solidFill>
                <a:latin typeface="Microsoft YaHei"/>
              </a:defRPr>
            </a:pPr>
            <a:r>
              <a:t>to bispecific antibody).</a:t>
            </a:r>
          </a:p>
          <a:p>
            <a:pPr>
              <a:lnSpc>
                <a:spcPct val="103000"/>
              </a:lnSpc>
              <a:spcAft>
                <a:spcPts val="300"/>
              </a:spcAft>
              <a:defRPr sz="819">
                <a:solidFill>
                  <a:srgbClr val="21242A"/>
                </a:solidFill>
                <a:latin typeface="Microsoft YaHei"/>
              </a:defRPr>
            </a:pPr>
            <a:r>
              <a:t>Overall, 33.3% had relapsed disease, 66.7% were refractory to their most recent therapy.</a:t>
            </a:r>
          </a:p>
          <a:p>
            <a:pPr>
              <a:lnSpc>
                <a:spcPct val="103000"/>
              </a:lnSpc>
              <a:spcAft>
                <a:spcPts val="300"/>
              </a:spcAft>
              <a:defRPr sz="819">
                <a:solidFill>
                  <a:srgbClr val="21242A"/>
                </a:solidFill>
                <a:latin typeface="Microsoft YaHei"/>
              </a:defRPr>
            </a:pPr>
            <a:r>
              <a:t>41.7% of patients received bridging therapy.</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relmacabtagene autoleucel（relma-cel）治疗成人复发/难治性大b细胞淋巴瘤的安全性和有...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safety and efficacy of relmacabtagene autoleucel (relma-cel) in adult patient...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With a median follow-up was 4.6 months (range, 2.79–5.85), in the modified intent to treatment (mITT) population (n=12</a:t>
            </a:r>
          </a:p>
          <a:p>
            <a:pPr>
              <a:lnSpc>
                <a:spcPct val="103000"/>
              </a:lnSpc>
              <a:spcAft>
                <a:spcPts val="300"/>
              </a:spcAft>
              <a:defRPr sz="819">
                <a:solidFill>
                  <a:srgbClr val="21242A"/>
                </a:solidFill>
                <a:latin typeface="Microsoft YaHei"/>
              </a:defRPr>
            </a:pPr>
            <a:r>
              <a:t>), the investigator-assessed ORR at 3 months was 58.33%, with a CRR of 41.67%, meeting the primary endpoint.</a:t>
            </a:r>
          </a:p>
          <a:p>
            <a:pPr>
              <a:lnSpc>
                <a:spcPct val="103000"/>
              </a:lnSpc>
              <a:spcAft>
                <a:spcPts val="300"/>
              </a:spcAft>
              <a:defRPr sz="819">
                <a:solidFill>
                  <a:srgbClr val="21242A"/>
                </a:solidFill>
                <a:latin typeface="Microsoft YaHei"/>
              </a:defRPr>
            </a:pPr>
            <a:r>
              <a:t>The best investigator-assessed ORR was 66.67%, with a best CRR of 41.67%.</a:t>
            </a:r>
          </a:p>
          <a:p>
            <a:pPr>
              <a:lnSpc>
                <a:spcPct val="103000"/>
              </a:lnSpc>
              <a:spcAft>
                <a:spcPts val="300"/>
              </a:spcAft>
              <a:defRPr sz="819">
                <a:solidFill>
                  <a:srgbClr val="21242A"/>
                </a:solidFill>
                <a:latin typeface="Microsoft YaHei"/>
              </a:defRPr>
            </a:pPr>
            <a:r>
              <a:t>Independent review committee (IRC)-assessed ORR at 3 months was 58.33%, with a CRR of 58.33%.</a:t>
            </a:r>
          </a:p>
          <a:p>
            <a:pPr>
              <a:lnSpc>
                <a:spcPct val="103000"/>
              </a:lnSpc>
              <a:spcAft>
                <a:spcPts val="300"/>
              </a:spcAft>
              <a:defRPr sz="819">
                <a:solidFill>
                  <a:srgbClr val="21242A"/>
                </a:solidFill>
                <a:latin typeface="Microsoft YaHei"/>
              </a:defRPr>
            </a:pPr>
            <a:r>
              <a:t>The best ORR was 75.00%, with a best CRR of 58.33% ( Figure 1 ).</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relmacabtagene autoleucel（relma-cel）治疗成人复发/难治性大b细胞淋巴瘤的安全性和有...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safety and efficacy of relmacabtagene autoleucel (relma-cel) in adult patient...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Three patients refractory to bispecific antibodies achieved PR, PD and CR, respectively, at 1 month; excluding the pat</a:t>
            </a:r>
          </a:p>
          <a:p>
            <a:pPr>
              <a:lnSpc>
                <a:spcPct val="103000"/>
              </a:lnSpc>
              <a:spcAft>
                <a:spcPts val="300"/>
              </a:spcAft>
              <a:defRPr sz="819">
                <a:solidFill>
                  <a:srgbClr val="21242A"/>
                </a:solidFill>
                <a:latin typeface="Microsoft YaHei"/>
              </a:defRPr>
            </a:pPr>
            <a:r>
              <a:t>ient with PD, the other two patients had PD and CR respectively at 3 months.</a:t>
            </a:r>
          </a:p>
          <a:p>
            <a:pPr>
              <a:lnSpc>
                <a:spcPct val="103000"/>
              </a:lnSpc>
              <a:spcAft>
                <a:spcPts val="300"/>
              </a:spcAft>
              <a:defRPr sz="819">
                <a:solidFill>
                  <a:srgbClr val="21242A"/>
                </a:solidFill>
                <a:latin typeface="Microsoft YaHei"/>
              </a:defRPr>
            </a:pPr>
            <a:r>
              <a:t>Median DOR, PFS, and OS have not been reached.</a:t>
            </a:r>
          </a:p>
          <a:p>
            <a:pPr>
              <a:lnSpc>
                <a:spcPct val="103000"/>
              </a:lnSpc>
              <a:spcAft>
                <a:spcPts val="300"/>
              </a:spcAft>
              <a:defRPr sz="819">
                <a:solidFill>
                  <a:srgbClr val="21242A"/>
                </a:solidFill>
                <a:latin typeface="Microsoft YaHei"/>
              </a:defRPr>
            </a:pPr>
            <a:r>
              <a:t>Relma-cel manufactured with JWLV011 demonstrated a manageable safety profile with no treatment-related deaths, or stud</a:t>
            </a:r>
          </a:p>
          <a:p>
            <a:pPr>
              <a:lnSpc>
                <a:spcPct val="103000"/>
              </a:lnSpc>
              <a:spcAft>
                <a:spcPts val="300"/>
              </a:spcAft>
              <a:defRPr sz="819">
                <a:solidFill>
                  <a:srgbClr val="21242A"/>
                </a:solidFill>
                <a:latin typeface="Microsoft YaHei"/>
              </a:defRPr>
            </a:pPr>
            <a:r>
              <a:t>y discontinuations due to adverse events.</a:t>
            </a:r>
          </a:p>
          <a:p>
            <a:pPr>
              <a:lnSpc>
                <a:spcPct val="103000"/>
              </a:lnSpc>
              <a:spcAft>
                <a:spcPts val="300"/>
              </a:spcAft>
              <a:defRPr sz="819">
                <a:solidFill>
                  <a:srgbClr val="21242A"/>
                </a:solidFill>
                <a:latin typeface="Microsoft YaHei"/>
              </a:defRPr>
            </a:pPr>
            <a:r>
              <a:t>All patients experienced treatment-related adverse events, 8.3% developed serious treatment-emergent adverse events.</a:t>
            </a:r>
          </a:p>
          <a:p>
            <a:pPr>
              <a:lnSpc>
                <a:spcPct val="103000"/>
              </a:lnSpc>
              <a:spcAft>
                <a:spcPts val="300"/>
              </a:spcAft>
              <a:defRPr sz="819">
                <a:solidFill>
                  <a:srgbClr val="21242A"/>
                </a:solidFill>
                <a:latin typeface="Microsoft YaHei"/>
              </a:defRPr>
            </a:pPr>
            <a:r>
              <a:t>Cytokine release syndrome occurred in 83.3% of patients, all grade 1-2.</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relmacabtagene autoleucel（relma-cel）治疗成人复发/难治性大b细胞淋巴瘤的安全性和有...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safety and efficacy of relmacabtagene autoleucel (relma-cel) in adult patient...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EHA原文结果（中文字段未通过数字核对）（5/5）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No patient developed neurological toxicities.</a:t>
            </a:r>
          </a:p>
          <a:p>
            <a:pPr>
              <a:lnSpc>
                <a:spcPct val="103000"/>
              </a:lnSpc>
              <a:spcAft>
                <a:spcPts val="300"/>
              </a:spcAft>
              <a:defRPr sz="819">
                <a:solidFill>
                  <a:srgbClr val="21242A"/>
                </a:solidFill>
                <a:latin typeface="Microsoft YaHei"/>
              </a:defRPr>
            </a:pPr>
            <a:r>
              <a:t>Summary/Conclusion: Relma-cel manufactured using the domestically produced lentiviral vector demonstrated favorable ef</a:t>
            </a:r>
          </a:p>
          <a:p>
            <a:pPr>
              <a:lnSpc>
                <a:spcPct val="103000"/>
              </a:lnSpc>
              <a:spcAft>
                <a:spcPts val="300"/>
              </a:spcAft>
              <a:defRPr sz="819">
                <a:solidFill>
                  <a:srgbClr val="21242A"/>
                </a:solidFill>
                <a:latin typeface="Microsoft YaHei"/>
              </a:defRPr>
            </a:pPr>
            <a:r>
              <a:t>ficacy and a manageable safety profile in adult patients with R/R LBCL.</a:t>
            </a:r>
          </a:p>
          <a:p>
            <a:pPr>
              <a:lnSpc>
                <a:spcPct val="103000"/>
              </a:lnSpc>
              <a:spcAft>
                <a:spcPts val="300"/>
              </a:spcAft>
              <a:defRPr sz="819">
                <a:solidFill>
                  <a:srgbClr val="21242A"/>
                </a:solidFill>
                <a:latin typeface="Microsoft YaHei"/>
              </a:defRPr>
            </a:pPr>
            <a:r>
              <a:t>These findings support the feasibility of in-house lentiviral vector manufacturing without compromising clinical perfo</a:t>
            </a:r>
          </a:p>
          <a:p>
            <a:pPr>
              <a:lnSpc>
                <a:spcPct val="103000"/>
              </a:lnSpc>
              <a:spcAft>
                <a:spcPts val="300"/>
              </a:spcAft>
              <a:defRPr sz="819">
                <a:solidFill>
                  <a:srgbClr val="21242A"/>
                </a:solidFill>
                <a:latin typeface="Microsoft YaHei"/>
              </a:defRPr>
            </a:pPr>
            <a:r>
              <a:t>rmance.</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复发/难治性弥漫性大b细胞淋巴瘤单靶（cd19）与双靶（cd19/cd22或cd19/cd20）car t细胞治疗的系...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single-target (cd19) versus dual-target (cd19/cd22 or cd19/cd20) car t-cell 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N=1425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分组：试验组1：单靶点(CD19) CAR-T细胞治疗</a:t>
            </a:r>
          </a:p>
          <a:p>
            <a:pPr>
              <a:lnSpc>
                <a:spcPct val="103000"/>
              </a:lnSpc>
              <a:spcAft>
                <a:spcPts val="300"/>
              </a:spcAft>
              <a:defRPr sz="800">
                <a:solidFill>
                  <a:srgbClr val="21242A"/>
                </a:solidFill>
                <a:latin typeface="Microsoft YaHei"/>
              </a:defRPr>
            </a:pPr>
            <a:r>
              <a:t>试验组2：双靶点(CD19/CD22或CD19/CD20) CAR-T细胞治疗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多组/多方案比较：试验组1：单靶点(CD19) CAR-T细胞治疗</a:t>
            </a:r>
          </a:p>
          <a:p>
            <a:pPr>
              <a:lnSpc>
                <a:spcPct val="103000"/>
              </a:lnSpc>
              <a:spcAft>
                <a:spcPts val="300"/>
              </a:spcAft>
              <a:defRPr sz="800">
                <a:solidFill>
                  <a:srgbClr val="21242A"/>
                </a:solidFill>
                <a:latin typeface="Microsoft YaHei"/>
              </a:defRPr>
            </a:pPr>
            <a:r>
              <a:t>试验组2：双靶点(CD19/CD22或CD19/CD20) CAR-T细胞治疗</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总缓解率(ORR): 双靶点86% vs 单靶点75% (P=0.06)</a:t>
            </a:r>
          </a:p>
          <a:p>
            <a:pPr>
              <a:lnSpc>
                <a:spcPct val="103000"/>
              </a:lnSpc>
              <a:spcAft>
                <a:spcPts val="300"/>
              </a:spcAft>
              <a:defRPr sz="800">
                <a:solidFill>
                  <a:srgbClr val="21242A"/>
                </a:solidFill>
                <a:latin typeface="Microsoft YaHei"/>
              </a:defRPr>
            </a:pPr>
            <a:r>
              <a:t>完全缓解率(CR): 62% vs 53% (P=0.22)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研究类型：系统综述和荟萃分析</a:t>
            </a:r>
          </a:p>
          <a:p>
            <a:pPr>
              <a:lnSpc>
                <a:spcPct val="103000"/>
              </a:lnSpc>
              <a:spcAft>
                <a:spcPts val="300"/>
              </a:spcAft>
              <a:defRPr sz="810">
                <a:solidFill>
                  <a:srgbClr val="21242A"/>
                </a:solidFill>
                <a:latin typeface="Microsoft YaHei"/>
              </a:defRPr>
            </a:pPr>
            <a:r>
              <a:t>人数：1425</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分组/治疗流程：试验组1：单靶点(CD19) CAR-T细胞治疗、试验组2：双靶点(CD19/CD22或CD19/CD20) CAR-T细胞治疗</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复发/难治性弥漫性大b细胞淋巴瘤单靶（cd19）与双靶（cd19/cd22或cd19/cd20）car t细胞治疗的系...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single-target (cd19) versus dual-target (cd19/cd22 or cd19/cd20) car t-cell 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总缓解率(ORR)</a:t>
                      </a:r>
                    </a:p>
                  </a:txBody>
                  <a:tcPr>
                    <a:solidFill>
                      <a:srgbClr val="F6F8FB"/>
                    </a:solidFill>
                  </a:tcPr>
                </a:tc>
                <a:tc>
                  <a:txBody>
                    <a:bodyPr wrap="square" lIns="36576" rIns="36576" tIns="18288" bIns="18288"/>
                    <a:lstStyle/>
                    <a:p>
                      <a:r>
                        <a:rPr sz="720" b="0">
                          <a:solidFill>
                            <a:srgbClr val="21242A"/>
                          </a:solidFill>
                          <a:latin typeface="Microsoft YaHei"/>
                        </a:rPr>
                        <a:t>双靶点86% vs 单靶点75% (P=0.06)</a:t>
                      </a:r>
                    </a:p>
                  </a:txBody>
                  <a:tcPr>
                    <a:solidFill>
                      <a:srgbClr val="F6F8FB"/>
                    </a:solidFill>
                  </a:tcPr>
                </a:tc>
              </a:tr>
              <a:tr h="376428">
                <a:tc>
                  <a:txBody>
                    <a:bodyPr wrap="square" lIns="36576" rIns="36576" tIns="18288" bIns="18288"/>
                    <a:lstStyle/>
                    <a:p>
                      <a:r>
                        <a:rPr sz="720" b="1">
                          <a:solidFill>
                            <a:srgbClr val="21242A"/>
                          </a:solidFill>
                          <a:latin typeface="Microsoft YaHei"/>
                        </a:rPr>
                        <a:t>完全缓解率(CR)</a:t>
                      </a:r>
                    </a:p>
                  </a:txBody>
                  <a:tcPr>
                    <a:solidFill>
                      <a:srgbClr val="FFFFFF"/>
                    </a:solidFill>
                  </a:tcPr>
                </a:tc>
                <a:tc>
                  <a:txBody>
                    <a:bodyPr wrap="square" lIns="36576" rIns="36576" tIns="18288" bIns="18288"/>
                    <a:lstStyle/>
                    <a:p>
                      <a:r>
                        <a:rPr sz="720" b="0">
                          <a:solidFill>
                            <a:srgbClr val="21242A"/>
                          </a:solidFill>
                          <a:latin typeface="Microsoft YaHei"/>
                        </a:rPr>
                        <a:t>62% vs 53% (P=0.22)</a:t>
                      </a:r>
                    </a:p>
                  </a:txBody>
                  <a:tcPr>
                    <a:solidFill>
                      <a:srgbClr val="FFFFFF"/>
                    </a:solidFill>
                  </a:tcPr>
                </a:tc>
              </a:tr>
              <a:tr h="376428">
                <a:tc>
                  <a:txBody>
                    <a:bodyPr wrap="square" lIns="36576" rIns="36576" tIns="18288" bIns="18288"/>
                    <a:lstStyle/>
                    <a:p>
                      <a:r>
                        <a:rPr sz="720" b="1">
                          <a:solidFill>
                            <a:srgbClr val="21242A"/>
                          </a:solidFill>
                          <a:latin typeface="Microsoft YaHei"/>
                        </a:rPr>
                        <a:t>1年无进展生存率(PFS)</a:t>
                      </a:r>
                    </a:p>
                  </a:txBody>
                  <a:tcPr>
                    <a:solidFill>
                      <a:srgbClr val="F6F8FB"/>
                    </a:solidFill>
                  </a:tcPr>
                </a:tc>
                <a:tc>
                  <a:txBody>
                    <a:bodyPr wrap="square" lIns="36576" rIns="36576" tIns="18288" bIns="18288"/>
                    <a:lstStyle/>
                    <a:p>
                      <a:r>
                        <a:rPr sz="720" b="0">
                          <a:solidFill>
                            <a:srgbClr val="21242A"/>
                          </a:solidFill>
                          <a:latin typeface="Microsoft YaHei"/>
                        </a:rPr>
                        <a:t>67% vs 48% (P=0.23)</a:t>
                      </a:r>
                    </a:p>
                  </a:txBody>
                  <a:tcPr>
                    <a:solidFill>
                      <a:srgbClr val="F6F8FB"/>
                    </a:solidFill>
                  </a:tcPr>
                </a:tc>
              </a:tr>
              <a:tr h="376428">
                <a:tc>
                  <a:txBody>
                    <a:bodyPr wrap="square" lIns="36576" rIns="36576" tIns="18288" bIns="18288"/>
                    <a:lstStyle/>
                    <a:p>
                      <a:r>
                        <a:rPr sz="720" b="1">
                          <a:solidFill>
                            <a:srgbClr val="21242A"/>
                          </a:solidFill>
                          <a:latin typeface="Microsoft YaHei"/>
                        </a:rPr>
                        <a:t>≥3级血液学毒性</a:t>
                      </a:r>
                    </a:p>
                  </a:txBody>
                  <a:tcPr>
                    <a:solidFill>
                      <a:srgbClr val="FFFFFF"/>
                    </a:solidFill>
                  </a:tcPr>
                </a:tc>
                <a:tc>
                  <a:txBody>
                    <a:bodyPr wrap="square" lIns="36576" rIns="36576" tIns="18288" bIns="18288"/>
                    <a:lstStyle/>
                    <a:p>
                      <a:r>
                        <a:rPr sz="720" b="0">
                          <a:solidFill>
                            <a:srgbClr val="21242A"/>
                          </a:solidFill>
                          <a:latin typeface="Microsoft YaHei"/>
                        </a:rPr>
                        <a:t>81% vs 55% (P=0.02)</a:t>
                      </a:r>
                    </a:p>
                  </a:txBody>
                  <a:tcPr>
                    <a:solidFill>
                      <a:srgbClr val="FFFFFF"/>
                    </a:solidFill>
                  </a:tcPr>
                </a:tc>
              </a:tr>
              <a:tr h="376428">
                <a:tc>
                  <a:txBody>
                    <a:bodyPr wrap="square" lIns="36576" rIns="36576" tIns="18288" bIns="18288"/>
                    <a:lstStyle/>
                    <a:p>
                      <a:r>
                        <a:rPr sz="720" b="1">
                          <a:solidFill>
                            <a:srgbClr val="21242A"/>
                          </a:solidFill>
                          <a:latin typeface="Microsoft YaHei"/>
                        </a:rPr>
                        <a:t>≥3级感染</a:t>
                      </a:r>
                    </a:p>
                  </a:txBody>
                  <a:tcPr>
                    <a:solidFill>
                      <a:srgbClr val="F6F8FB"/>
                    </a:solidFill>
                  </a:tcPr>
                </a:tc>
                <a:tc>
                  <a:txBody>
                    <a:bodyPr wrap="square" lIns="36576" rIns="36576" tIns="18288" bIns="18288"/>
                    <a:lstStyle/>
                    <a:p>
                      <a:r>
                        <a:rPr sz="720" b="0">
                          <a:solidFill>
                            <a:srgbClr val="21242A"/>
                          </a:solidFill>
                          <a:latin typeface="Microsoft YaHei"/>
                        </a:rPr>
                        <a:t>4% vs 13%</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摘要号：PS2111</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cd3xcd20双特异性抗体（bsab）单药治疗与bsab联合治疗复发/难治性大b细胞淋巴瘤的现实世界比较：美国双特异...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real-world comparison of cd3xcd20 bispecific antibody (bsab) monotherapy vs...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N=352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格菲妥单抗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多组/多方案比较：试验组1：BsAb单药（glofitamab, epcoritamab, mosunetuzumab）</a:t>
            </a:r>
          </a:p>
          <a:p>
            <a:pPr>
              <a:lnSpc>
                <a:spcPct val="103000"/>
              </a:lnSpc>
              <a:spcAft>
                <a:spcPts val="300"/>
              </a:spcAft>
              <a:defRPr sz="800">
                <a:solidFill>
                  <a:srgbClr val="21242A"/>
                </a:solidFill>
                <a:latin typeface="Microsoft YaHei"/>
              </a:defRPr>
            </a:pPr>
            <a:r>
              <a:t>试验组2：BsAb联合治疗（包括BsAb-化疗、BsAb-ADC、BsAb-其他组合）</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总体缓解率（ORR）：BsAb单药组54.0%，BsAb联合组63.9%（p=0.12）</a:t>
            </a:r>
          </a:p>
          <a:p>
            <a:pPr>
              <a:lnSpc>
                <a:spcPct val="103000"/>
              </a:lnSpc>
              <a:spcAft>
                <a:spcPts val="300"/>
              </a:spcAft>
              <a:defRPr sz="800">
                <a:solidFill>
                  <a:srgbClr val="21242A"/>
                </a:solidFill>
                <a:latin typeface="Microsoft YaHei"/>
              </a:defRPr>
            </a:pPr>
            <a:r>
              <a:t>完全缓解率（CR）：BsAb单药组35.0%，BsAb联合组44.6%（p=0.12）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人数：352</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试验药/方案：艾可瑞妥单抗、格菲妥单抗、莫妥珠单抗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cd3xcd20双特异性抗体（bsab）单药治疗与bsab联合治疗复发/难治性大b细胞淋巴瘤的现实世界比较：美国双特异...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real-world comparison of cd3xcd20 bispecific antibody (bsab) monotherapy vs...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总体缓解率（ORR）</a:t>
                      </a:r>
                    </a:p>
                  </a:txBody>
                  <a:tcPr>
                    <a:solidFill>
                      <a:srgbClr val="F6F8FB"/>
                    </a:solidFill>
                  </a:tcPr>
                </a:tc>
                <a:tc>
                  <a:txBody>
                    <a:bodyPr wrap="square" lIns="36576" rIns="36576" tIns="18288" bIns="18288"/>
                    <a:lstStyle/>
                    <a:p>
                      <a:r>
                        <a:rPr sz="720" b="0">
                          <a:solidFill>
                            <a:srgbClr val="21242A"/>
                          </a:solidFill>
                          <a:latin typeface="Microsoft YaHei"/>
                        </a:rPr>
                        <a:t>BsAb单药组54.0%，BsAb联合组63.9%（p=0.12）</a:t>
                      </a:r>
                    </a:p>
                  </a:txBody>
                  <a:tcPr>
                    <a:solidFill>
                      <a:srgbClr val="F6F8FB"/>
                    </a:solidFill>
                  </a:tcPr>
                </a:tc>
              </a:tr>
              <a:tr h="282321">
                <a:tc>
                  <a:txBody>
                    <a:bodyPr wrap="square" lIns="36576" rIns="36576" tIns="18288" bIns="18288"/>
                    <a:lstStyle/>
                    <a:p>
                      <a:r>
                        <a:rPr sz="720" b="1">
                          <a:solidFill>
                            <a:srgbClr val="21242A"/>
                          </a:solidFill>
                          <a:latin typeface="Microsoft YaHei"/>
                        </a:rPr>
                        <a:t>完全缓解率（CR）</a:t>
                      </a:r>
                    </a:p>
                  </a:txBody>
                  <a:tcPr>
                    <a:solidFill>
                      <a:srgbClr val="FFFFFF"/>
                    </a:solidFill>
                  </a:tcPr>
                </a:tc>
                <a:tc>
                  <a:txBody>
                    <a:bodyPr wrap="square" lIns="36576" rIns="36576" tIns="18288" bIns="18288"/>
                    <a:lstStyle/>
                    <a:p>
                      <a:r>
                        <a:rPr sz="720" b="0">
                          <a:solidFill>
                            <a:srgbClr val="21242A"/>
                          </a:solidFill>
                          <a:latin typeface="Microsoft YaHei"/>
                        </a:rPr>
                        <a:t>BsAb单药组35.0%，BsAb联合组44.6%（p=0.12）；多因素分析中BsAb-ADC组较单药组CR优势显著（OR 3.21, p=0.026）</a:t>
                      </a:r>
                    </a:p>
                  </a:txBody>
                  <a:tcPr>
                    <a:solidFill>
                      <a:srgbClr val="FFFFFF"/>
                    </a:solidFill>
                  </a:tcPr>
                </a:tc>
              </a:tr>
              <a:tr h="282321">
                <a:tc>
                  <a:txBody>
                    <a:bodyPr wrap="square" lIns="36576" rIns="36576" tIns="18288" bIns="18288"/>
                    <a:lstStyle/>
                    <a:p>
                      <a:r>
                        <a:rPr sz="720" b="1">
                          <a:solidFill>
                            <a:srgbClr val="21242A"/>
                          </a:solidFill>
                          <a:latin typeface="Microsoft YaHei"/>
                        </a:rPr>
                        <a:t>无进展生存期（PFS）</a:t>
                      </a:r>
                    </a:p>
                  </a:txBody>
                  <a:tcPr>
                    <a:solidFill>
                      <a:srgbClr val="F6F8FB"/>
                    </a:solidFill>
                  </a:tcPr>
                </a:tc>
                <a:tc>
                  <a:txBody>
                    <a:bodyPr wrap="square" lIns="36576" rIns="36576" tIns="18288" bIns="18288"/>
                    <a:lstStyle/>
                    <a:p>
                      <a:r>
                        <a:rPr sz="720" b="0">
                          <a:solidFill>
                            <a:srgbClr val="21242A"/>
                          </a:solidFill>
                          <a:latin typeface="Microsoft YaHei"/>
                        </a:rPr>
                        <a:t>未报告具体数值，多因素分析显示治疗策略与PFS无独立关联</a:t>
                      </a:r>
                    </a:p>
                  </a:txBody>
                  <a:tcPr>
                    <a:solidFill>
                      <a:srgbClr val="F6F8FB"/>
                    </a:solidFill>
                  </a:tcPr>
                </a:tc>
              </a:tr>
              <a:tr h="282321">
                <a:tc>
                  <a:txBody>
                    <a:bodyPr wrap="square" lIns="36576" rIns="36576" tIns="18288" bIns="18288"/>
                    <a:lstStyle/>
                    <a:p>
                      <a:r>
                        <a:rPr sz="720" b="1">
                          <a:solidFill>
                            <a:srgbClr val="21242A"/>
                          </a:solidFill>
                          <a:latin typeface="Microsoft YaHei"/>
                        </a:rPr>
                        <a:t>总生存期（OS）</a:t>
                      </a:r>
                    </a:p>
                  </a:txBody>
                  <a:tcPr>
                    <a:solidFill>
                      <a:srgbClr val="FFFFFF"/>
                    </a:solidFill>
                  </a:tcPr>
                </a:tc>
                <a:tc>
                  <a:txBody>
                    <a:bodyPr wrap="square" lIns="36576" rIns="36576" tIns="18288" bIns="18288"/>
                    <a:lstStyle/>
                    <a:p>
                      <a:r>
                        <a:rPr sz="720" b="0">
                          <a:solidFill>
                            <a:srgbClr val="21242A"/>
                          </a:solidFill>
                          <a:latin typeface="Microsoft YaHei"/>
                        </a:rPr>
                        <a:t>未报告具体数值，多因素分析显示治疗策略与OS无独立关联</a:t>
                      </a:r>
                    </a:p>
                  </a:txBody>
                  <a:tcPr>
                    <a:solidFill>
                      <a:srgbClr val="FFFFFF"/>
                    </a:solidFill>
                  </a:tcPr>
                </a:tc>
              </a:tr>
              <a:tr h="282321">
                <a:tc>
                  <a:txBody>
                    <a:bodyPr wrap="square" lIns="36576" rIns="36576" tIns="18288" bIns="18288"/>
                    <a:lstStyle/>
                    <a:p>
                      <a:r>
                        <a:rPr sz="720" b="1">
                          <a:solidFill>
                            <a:srgbClr val="21242A"/>
                          </a:solidFill>
                          <a:latin typeface="Microsoft YaHei"/>
                        </a:rPr>
                        <a:t>细胞因子释放综合征（CRS）</a:t>
                      </a:r>
                    </a:p>
                  </a:txBody>
                  <a:tcPr>
                    <a:solidFill>
                      <a:srgbClr val="F6F8FB"/>
                    </a:solidFill>
                  </a:tcPr>
                </a:tc>
                <a:tc>
                  <a:txBody>
                    <a:bodyPr wrap="square" lIns="36576" rIns="36576" tIns="18288" bIns="18288"/>
                    <a:lstStyle/>
                    <a:p>
                      <a:r>
                        <a:rPr sz="720" b="0">
                          <a:solidFill>
                            <a:srgbClr val="21242A"/>
                          </a:solidFill>
                          <a:latin typeface="Microsoft YaHei"/>
                        </a:rPr>
                        <a:t>BsAb单药组38.8%，BsAb联合组31.5%（p&gt;0.05）</a:t>
                      </a:r>
                    </a:p>
                  </a:txBody>
                  <a:tcPr>
                    <a:solidFill>
                      <a:srgbClr val="F6F8FB"/>
                    </a:solidFill>
                  </a:tcPr>
                </a:tc>
              </a:tr>
              <a:tr h="282321">
                <a:tc>
                  <a:txBody>
                    <a:bodyPr wrap="square" lIns="36576" rIns="36576" tIns="18288" bIns="18288"/>
                    <a:lstStyle/>
                    <a:p>
                      <a:r>
                        <a:rPr sz="720" b="1">
                          <a:solidFill>
                            <a:srgbClr val="21242A"/>
                          </a:solidFill>
                          <a:latin typeface="Microsoft YaHei"/>
                        </a:rPr>
                        <a:t>免疫效应细胞相关神经毒性综合征（ICANS）</a:t>
                      </a:r>
                    </a:p>
                  </a:txBody>
                  <a:tcPr>
                    <a:solidFill>
                      <a:srgbClr val="FFFFFF"/>
                    </a:solidFill>
                  </a:tcPr>
                </a:tc>
                <a:tc>
                  <a:txBody>
                    <a:bodyPr wrap="square" lIns="36576" rIns="36576" tIns="18288" bIns="18288"/>
                    <a:lstStyle/>
                    <a:p>
                      <a:r>
                        <a:rPr sz="720" b="0">
                          <a:solidFill>
                            <a:srgbClr val="21242A"/>
                          </a:solidFill>
                          <a:latin typeface="Microsoft YaHei"/>
                        </a:rPr>
                        <a:t>BsAb单药组13.1%，BsAb联合组12.6%（p&gt;0.05）</a:t>
                      </a:r>
                    </a:p>
                  </a:txBody>
                  <a:tcPr>
                    <a:solidFill>
                      <a:srgbClr val="FFFFFF"/>
                    </a:solidFill>
                  </a:tcPr>
                </a:tc>
              </a:tr>
              <a:tr h="282321">
                <a:tc>
                  <a:txBody>
                    <a:bodyPr wrap="square" lIns="36576" rIns="36576" tIns="18288" bIns="18288"/>
                    <a:lstStyle/>
                    <a:p>
                      <a:r>
                        <a:rPr sz="720" b="1">
                          <a:solidFill>
                            <a:srgbClr val="21242A"/>
                          </a:solidFill>
                          <a:latin typeface="Microsoft YaHei"/>
                        </a:rPr>
                        <a:t>治疗后感染</a:t>
                      </a:r>
                    </a:p>
                  </a:txBody>
                  <a:tcPr>
                    <a:solidFill>
                      <a:srgbClr val="F6F8FB"/>
                    </a:solidFill>
                  </a:tcPr>
                </a:tc>
                <a:tc>
                  <a:txBody>
                    <a:bodyPr wrap="square" lIns="36576" rIns="36576" tIns="18288" bIns="18288"/>
                    <a:lstStyle/>
                    <a:p>
                      <a:r>
                        <a:rPr sz="720" b="0">
                          <a:solidFill>
                            <a:srgbClr val="21242A"/>
                          </a:solidFill>
                          <a:latin typeface="Microsoft YaHei"/>
                        </a:rPr>
                        <a:t>BsAb单药组33.6%，BsAb联合组30.0%（p&gt;0.05）</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摘要号：PS2102</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cd3xcd20双特异性抗体（bsab）单药治疗与bsab联合治疗复发/难治性大b细胞淋巴瘤的现实世界比较：美国双特异...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real-world comparison of cd3xcd20 bispecific antibody (bsab) monotherapy vs...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1792224">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1792224">
                <a:tc>
                  <a:txBody>
                    <a:bodyPr wrap="square" lIns="36576" rIns="36576" tIns="18288" bIns="18288"/>
                    <a:lstStyle/>
                    <a:p>
                      <a:r>
                        <a:rPr sz="720" b="1">
                          <a:solidFill>
                            <a:srgbClr val="21242A"/>
                          </a:solidFill>
                          <a:latin typeface="Microsoft YaHei"/>
                        </a:rPr>
                        <a:t>ICU入住率</a:t>
                      </a:r>
                    </a:p>
                  </a:txBody>
                  <a:tcPr>
                    <a:solidFill>
                      <a:srgbClr val="F6F8FB"/>
                    </a:solidFill>
                  </a:tcPr>
                </a:tc>
                <a:tc>
                  <a:txBody>
                    <a:bodyPr wrap="square" lIns="36576" rIns="36576" tIns="18288" bIns="18288"/>
                    <a:lstStyle/>
                    <a:p>
                      <a:r>
                        <a:rPr sz="720" b="0">
                          <a:solidFill>
                            <a:srgbClr val="21242A"/>
                          </a:solidFill>
                          <a:latin typeface="Microsoft YaHei"/>
                        </a:rPr>
                        <a:t>BsAb单药组15.2%，BsAb联合组12.5%（p&gt;0.05）</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tafasitamab（tafa）治疗复发/难治性弥漫性大b细胞淋巴瘤（r/r dlbcl）后嵌合抗原受体t细胞（ca...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effectiveness and safety of chimeric antigen receptor t-cell (car-t) therapy...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N=338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Lisocabtagene maraleucel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多组/多方案比较：试验组1：总体，药物：tafasitamab、axicabtagene ciloleucel、lisocab...</a:t>
            </a:r>
          </a:p>
          <a:p>
            <a:pPr>
              <a:lnSpc>
                <a:spcPct val="103000"/>
              </a:lnSpc>
              <a:spcAft>
                <a:spcPts val="300"/>
              </a:spcAft>
              <a:defRPr sz="800">
                <a:solidFill>
                  <a:srgbClr val="21242A"/>
                </a:solidFill>
                <a:latin typeface="Microsoft YaHei"/>
              </a:defRPr>
            </a:pPr>
            <a:r>
              <a:t>试验组2：二线CAR-T（tafa作为桥接），药物：tafasitamab、CAR-T</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客观缓解率（ORR）：81.1%（338例中274例）</a:t>
            </a:r>
          </a:p>
          <a:p>
            <a:pPr>
              <a:lnSpc>
                <a:spcPct val="103000"/>
              </a:lnSpc>
              <a:spcAft>
                <a:spcPts val="300"/>
              </a:spcAft>
              <a:defRPr sz="800">
                <a:solidFill>
                  <a:srgbClr val="21242A"/>
                </a:solidFill>
                <a:latin typeface="Microsoft YaHei"/>
              </a:defRPr>
            </a:pPr>
            <a:r>
              <a:t>完全缓解率（CR）：58.6%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人数：338</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试验药/方案：阿基仑赛、Lisocabtagene maraleucel、Tisagenlecleucel、坦昔妥单抗</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tafasitamab（tafa）治疗复发/难治性弥漫性大b细胞淋巴瘤（r/r dlbcl）后嵌合抗原受体t细胞（ca...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effectiveness and safety of chimeric antigen receptor t-cell (car-t) therapy...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EHA原文结果（中文字段未通过数字核对）（1/5）</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A total of 338 pt charts (US: 168 [49.7%]; EU: 170 [50.3%]) were abstracted by 145 physicians (US: 73 [50.3%]</a:t>
            </a:r>
          </a:p>
          <a:p>
            <a:pPr>
              <a:lnSpc>
                <a:spcPct val="103000"/>
              </a:lnSpc>
              <a:spcAft>
                <a:spcPts val="300"/>
              </a:spcAft>
              <a:defRPr sz="819">
                <a:solidFill>
                  <a:srgbClr val="21242A"/>
                </a:solidFill>
                <a:latin typeface="Microsoft YaHei"/>
              </a:defRPr>
            </a:pPr>
            <a:r>
              <a:t>; EU: 72 [49.7%]).</a:t>
            </a:r>
          </a:p>
          <a:p>
            <a:pPr>
              <a:lnSpc>
                <a:spcPct val="103000"/>
              </a:lnSpc>
              <a:spcAft>
                <a:spcPts val="300"/>
              </a:spcAft>
              <a:defRPr sz="819">
                <a:solidFill>
                  <a:srgbClr val="21242A"/>
                </a:solidFill>
                <a:latin typeface="Microsoft YaHei"/>
              </a:defRPr>
            </a:pPr>
            <a:r>
              <a:t>Pts were 66.0% male with median (IQR) age 61.5 (55.1, 67.4) years at CAR-T infusion, 51.2% had double/triple-hit disea</a:t>
            </a:r>
          </a:p>
          <a:p>
            <a:pPr>
              <a:lnSpc>
                <a:spcPct val="103000"/>
              </a:lnSpc>
              <a:spcAft>
                <a:spcPts val="300"/>
              </a:spcAft>
              <a:defRPr sz="819">
                <a:solidFill>
                  <a:srgbClr val="21242A"/>
                </a:solidFill>
                <a:latin typeface="Microsoft YaHei"/>
              </a:defRPr>
            </a:pPr>
            <a:r>
              <a:t>se, 72.8% were primary refractory, and 53.0% had revised International Prognostic Index score ≥3.</a:t>
            </a:r>
          </a:p>
          <a:p>
            <a:pPr>
              <a:lnSpc>
                <a:spcPct val="103000"/>
              </a:lnSpc>
              <a:spcAft>
                <a:spcPts val="300"/>
              </a:spcAft>
              <a:defRPr sz="819">
                <a:solidFill>
                  <a:srgbClr val="21242A"/>
                </a:solidFill>
                <a:latin typeface="Microsoft YaHei"/>
              </a:defRPr>
            </a:pPr>
            <a:r>
              <a:t>\n Most pts received axicabtagene ciloleucel (65.1%), followed by lisocabtagene maraleucel (21.9%) and tisagenlecleuce</a:t>
            </a:r>
          </a:p>
          <a:p>
            <a:pPr>
              <a:lnSpc>
                <a:spcPct val="103000"/>
              </a:lnSpc>
              <a:spcAft>
                <a:spcPts val="300"/>
              </a:spcAft>
              <a:defRPr sz="819">
                <a:solidFill>
                  <a:srgbClr val="21242A"/>
                </a:solidFill>
                <a:latin typeface="Microsoft YaHei"/>
              </a:defRPr>
            </a:pPr>
            <a:r>
              <a:t>l (13.0%) CAR-T.</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摘要号：PS2089</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tafasitamab（tafa）治疗复发/难治性弥漫性大b细胞淋巴瘤（r/r dlbcl）后嵌合抗原受体t细胞（ca...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effectiveness and safety of chimeric antigen receptor t-cell (car-t) therapy...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Median (IQR) time from the last tafa dose until CAR-T was 1.2 (0.6-2.3) months; follow-up time post CAR-T was 7.4 (3.3</a:t>
            </a:r>
          </a:p>
          <a:p>
            <a:pPr>
              <a:lnSpc>
                <a:spcPct val="103000"/>
              </a:lnSpc>
              <a:spcAft>
                <a:spcPts val="300"/>
              </a:spcAft>
              <a:defRPr sz="819">
                <a:solidFill>
                  <a:srgbClr val="21242A"/>
                </a:solidFill>
                <a:latin typeface="Microsoft YaHei"/>
              </a:defRPr>
            </a:pPr>
            <a:r>
              <a:t>-10.6) months; and 73.1% were still alive at the time of last contact.</a:t>
            </a:r>
          </a:p>
          <a:p>
            <a:pPr>
              <a:lnSpc>
                <a:spcPct val="103000"/>
              </a:lnSpc>
              <a:spcAft>
                <a:spcPts val="300"/>
              </a:spcAft>
              <a:defRPr sz="819">
                <a:solidFill>
                  <a:srgbClr val="21242A"/>
                </a:solidFill>
                <a:latin typeface="Microsoft YaHei"/>
              </a:defRPr>
            </a:pPr>
            <a:r>
              <a:t>\n Overall, ORR for CAR-T was 81.1%, and grade ≥3 (severe) CRS and ICANS occurred in 7.4% and 3.8% of pts, respectivel</a:t>
            </a:r>
          </a:p>
          <a:p>
            <a:pPr>
              <a:lnSpc>
                <a:spcPct val="103000"/>
              </a:lnSpc>
              <a:spcAft>
                <a:spcPts val="300"/>
              </a:spcAft>
              <a:defRPr sz="819">
                <a:solidFill>
                  <a:srgbClr val="21242A"/>
                </a:solidFill>
                <a:latin typeface="Microsoft YaHei"/>
              </a:defRPr>
            </a:pPr>
            <a:r>
              <a:t>y.</a:t>
            </a:r>
          </a:p>
          <a:p>
            <a:pPr>
              <a:lnSpc>
                <a:spcPct val="103000"/>
              </a:lnSpc>
              <a:spcAft>
                <a:spcPts val="300"/>
              </a:spcAft>
              <a:defRPr sz="819">
                <a:solidFill>
                  <a:srgbClr val="21242A"/>
                </a:solidFill>
                <a:latin typeface="Microsoft YaHei"/>
              </a:defRPr>
            </a:pPr>
            <a:r>
              <a:t>ORR by CAR-T line and the observed tafa/CAR-T treatment sequences are reported in the Table.</a:t>
            </a:r>
          </a:p>
          <a:p>
            <a:pPr>
              <a:lnSpc>
                <a:spcPct val="103000"/>
              </a:lnSpc>
              <a:spcAft>
                <a:spcPts val="300"/>
              </a:spcAft>
              <a:defRPr sz="819">
                <a:solidFill>
                  <a:srgbClr val="21242A"/>
                </a:solidFill>
                <a:latin typeface="Microsoft YaHei"/>
              </a:defRPr>
            </a:pPr>
            <a:r>
              <a:t>CRS and ICANS by CAR-T line are reported in the Figure . \n Table.</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tafasitamab（tafa）治疗复发/难治性弥漫性大b细胞淋巴瘤（r/r dlbcl）后嵌合抗原受体t细胞（ca...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effectiveness and safety of chimeric antigen receptor t-cell (car-t) therapy...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ORR to CAR-T by CAR-T line and treatment sequence \n \n \n \n \n \n N \n \n \n ORR, n (%) \n \n \n CR, n (%) \n \n \n </a:t>
            </a:r>
          </a:p>
          <a:p>
            <a:pPr>
              <a:lnSpc>
                <a:spcPct val="103000"/>
              </a:lnSpc>
              <a:spcAft>
                <a:spcPts val="300"/>
              </a:spcAft>
              <a:defRPr sz="819">
                <a:solidFill>
                  <a:srgbClr val="21242A"/>
                </a:solidFill>
                <a:latin typeface="Microsoft YaHei"/>
              </a:defRPr>
            </a:pPr>
            <a:r>
              <a:t>PR, n (%) \n \n \n \n \n Overall \n \n \n 338 \n \n \n 274 (81.1) \n \n \n 198 (58.6) \n \n \n 76 (22.5) \n \n \n \n \</a:t>
            </a:r>
          </a:p>
          <a:p>
            <a:pPr>
              <a:lnSpc>
                <a:spcPct val="103000"/>
              </a:lnSpc>
              <a:spcAft>
                <a:spcPts val="300"/>
              </a:spcAft>
              <a:defRPr sz="819">
                <a:solidFill>
                  <a:srgbClr val="21242A"/>
                </a:solidFill>
                <a:latin typeface="Microsoft YaHei"/>
              </a:defRPr>
            </a:pPr>
            <a:r>
              <a:t>n 2L CAR-T (tafa as bridge) * \n \n \n 37 \n \n \n 34 (91.9) \n \n \n 22 (59.5) \n \n \n 12 (32.4) \n \n \n \n \n 3L C</a:t>
            </a:r>
          </a:p>
          <a:p>
            <a:pPr>
              <a:lnSpc>
                <a:spcPct val="103000"/>
              </a:lnSpc>
              <a:spcAft>
                <a:spcPts val="300"/>
              </a:spcAft>
              <a:defRPr sz="819">
                <a:solidFill>
                  <a:srgbClr val="21242A"/>
                </a:solidFill>
                <a:latin typeface="Microsoft YaHei"/>
              </a:defRPr>
            </a:pPr>
            <a:r>
              <a:t>AR-T 2L tafa Tafa as bridge 2L tafa + bridge † \n \n \n 243 178 32 33 \n \n \n 195 (80.2) 142 (79.8) 27 (84.4) 26 (78.</a:t>
            </a:r>
          </a:p>
          <a:p>
            <a:pPr>
              <a:lnSpc>
                <a:spcPct val="103000"/>
              </a:lnSpc>
              <a:spcAft>
                <a:spcPts val="300"/>
              </a:spcAft>
              <a:defRPr sz="819">
                <a:solidFill>
                  <a:srgbClr val="21242A"/>
                </a:solidFill>
                <a:latin typeface="Microsoft YaHei"/>
              </a:defRPr>
            </a:pPr>
            <a:r>
              <a:t>8) \n \n 146 (60.1) 112 (62.9) 16 (50.0) 18 (54.5) \n 49 (20.2) 30 (16.9) 11 (34.4) 8 (24.2) \n \n \n \n 4L CAR-T 2L t</a:t>
            </a:r>
          </a:p>
          <a:p>
            <a:pPr>
              <a:lnSpc>
                <a:spcPct val="103000"/>
              </a:lnSpc>
              <a:spcAft>
                <a:spcPts val="300"/>
              </a:spcAft>
              <a:defRPr sz="819">
                <a:solidFill>
                  <a:srgbClr val="21242A"/>
                </a:solidFill>
                <a:latin typeface="Microsoft YaHei"/>
              </a:defRPr>
            </a:pPr>
            <a:r>
              <a:t>afa 3L tafa Tafa as bridge 3L</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tafasitamab（tafa）治疗复发/难治性弥漫性大b细胞淋巴瘤（r/r dlbcl）后嵌合抗原受体t细胞（ca...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effectiveness and safety of chimeric antigen receptor t-cell (car-t) therapy...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tafa + bridge † \n \n 58 31 14 3 10 \n 45 (77.6) 23 (74.2) 13 (92.9) 1 (33.3) 8 (80.0) \n 30 (51.7) 16 (51.6) 8 (57.1)</a:t>
            </a:r>
          </a:p>
          <a:p>
            <a:pPr>
              <a:lnSpc>
                <a:spcPct val="103000"/>
              </a:lnSpc>
              <a:spcAft>
                <a:spcPts val="300"/>
              </a:spcAft>
              <a:defRPr sz="819">
                <a:solidFill>
                  <a:srgbClr val="21242A"/>
                </a:solidFill>
                <a:latin typeface="Microsoft YaHei"/>
              </a:defRPr>
            </a:pPr>
            <a:r>
              <a:t> 0 (0.0) 6 (60.0) \n 15 (25.9) 7 (22.6) 5 (35.7) 1 (33.3) 2 (20.0) \n \n \n \n * A ll pts received tafa as bridging th</a:t>
            </a:r>
          </a:p>
          <a:p>
            <a:pPr>
              <a:lnSpc>
                <a:spcPct val="103000"/>
              </a:lnSpc>
              <a:spcAft>
                <a:spcPts val="300"/>
              </a:spcAft>
              <a:defRPr sz="819">
                <a:solidFill>
                  <a:srgbClr val="21242A"/>
                </a:solidFill>
                <a:latin typeface="Microsoft YaHei"/>
              </a:defRPr>
            </a:pPr>
            <a:r>
              <a:t>erapy to CAR-T.</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tafasitamab（tafa）治疗复发/难治性弥漫性大b细胞淋巴瘤（r/r dlbcl）后嵌合抗原受体t细胞（ca...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effectiveness and safety of chimeric antigen receptor t-cell (car-t) therapy...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EHA原文结果（中文字段未通过数字核对）（5/5）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\n † Tafa was used both as line of therapy and as bridging therapy to CAR-T.</a:t>
            </a:r>
          </a:p>
          <a:p>
            <a:pPr>
              <a:lnSpc>
                <a:spcPct val="103000"/>
              </a:lnSpc>
              <a:spcAft>
                <a:spcPts val="300"/>
              </a:spcAft>
              <a:defRPr sz="819">
                <a:solidFill>
                  <a:srgbClr val="21242A"/>
                </a:solidFill>
                <a:latin typeface="Microsoft YaHei"/>
              </a:defRPr>
            </a:pPr>
            <a:r>
              <a:t>Summary/Conclusion: This large, global, real-world study shows that prior exposure to tafa does not appear to adversel</a:t>
            </a:r>
          </a:p>
          <a:p>
            <a:pPr>
              <a:lnSpc>
                <a:spcPct val="103000"/>
              </a:lnSpc>
              <a:spcAft>
                <a:spcPts val="300"/>
              </a:spcAft>
              <a:defRPr sz="819">
                <a:solidFill>
                  <a:srgbClr val="21242A"/>
                </a:solidFill>
                <a:latin typeface="Microsoft YaHei"/>
              </a:defRPr>
            </a:pPr>
            <a:r>
              <a:t>y affect the effectiveness nor safety of subsequent CAR-T therapy in patients with R/R DLBCL.</a:t>
            </a:r>
          </a:p>
          <a:p>
            <a:pPr>
              <a:lnSpc>
                <a:spcPct val="103000"/>
              </a:lnSpc>
              <a:spcAft>
                <a:spcPts val="300"/>
              </a:spcAft>
              <a:defRPr sz="819">
                <a:solidFill>
                  <a:srgbClr val="21242A"/>
                </a:solidFill>
                <a:latin typeface="Microsoft YaHei"/>
              </a:defRPr>
            </a:pPr>
            <a:r>
              <a:t>These results are particularly relevant with recent phase 3 data for tafa in the front‑line setting of DLBCL.</a:t>
            </a:r>
          </a:p>
          <a:p>
            <a:pPr>
              <a:lnSpc>
                <a:spcPct val="103000"/>
              </a:lnSpc>
              <a:spcAft>
                <a:spcPts val="300"/>
              </a:spcAft>
              <a:defRPr sz="819">
                <a:solidFill>
                  <a:srgbClr val="21242A"/>
                </a:solidFill>
                <a:latin typeface="Microsoft YaHei"/>
              </a:defRPr>
            </a:pPr>
            <a:r>
              <a:t>While these real-world study findings should be interpreted in the context of an observational cohort, they support ta</a:t>
            </a:r>
          </a:p>
          <a:p>
            <a:pPr>
              <a:lnSpc>
                <a:spcPct val="103000"/>
              </a:lnSpc>
              <a:spcAft>
                <a:spcPts val="300"/>
              </a:spcAft>
              <a:defRPr sz="819">
                <a:solidFill>
                  <a:srgbClr val="21242A"/>
                </a:solidFill>
                <a:latin typeface="Microsoft YaHei"/>
              </a:defRPr>
            </a:pPr>
            <a:r>
              <a:t>fa followed by CAR-T therapy as a feasible and potentially favorable sequencing strategy.</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kite-753治疗复发/难治性b细胞淋巴瘤患者的1期研究：最新的安全性和疗效结果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phase 1 study of kite-753 in patients (pts) with relapsed/refractory (r/r)...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大B细胞淋巴瘤，非霍奇金淋巴瘤</a:t>
            </a:r>
          </a:p>
          <a:p>
            <a:pPr>
              <a:lnSpc>
                <a:spcPct val="103000"/>
              </a:lnSpc>
              <a:spcAft>
                <a:spcPts val="300"/>
              </a:spcAft>
              <a:defRPr sz="800">
                <a:solidFill>
                  <a:srgbClr val="21242A"/>
                </a:solidFill>
                <a:latin typeface="Microsoft YaHei"/>
              </a:defRPr>
            </a:pPr>
            <a:r>
              <a:t>N=33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试验药/方案：KITE-753</a:t>
            </a:r>
          </a:p>
          <a:p>
            <a:pPr>
              <a:lnSpc>
                <a:spcPct val="103000"/>
              </a:lnSpc>
              <a:spcAft>
                <a:spcPts val="300"/>
              </a:spcAft>
              <a:defRPr sz="800">
                <a:solidFill>
                  <a:srgbClr val="21242A"/>
                </a:solidFill>
                <a:latin typeface="Microsoft YaHei"/>
              </a:defRPr>
            </a:pPr>
            <a:r>
              <a:t>靶点：CD19，CD20</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多组/多方案比较：试验组1：KITE-753 (0.3×10^5 CAR T cells/kg)</a:t>
            </a:r>
          </a:p>
          <a:p>
            <a:pPr>
              <a:lnSpc>
                <a:spcPct val="103000"/>
              </a:lnSpc>
              <a:spcAft>
                <a:spcPts val="300"/>
              </a:spcAft>
              <a:defRPr sz="800">
                <a:solidFill>
                  <a:srgbClr val="21242A"/>
                </a:solidFill>
                <a:latin typeface="Microsoft YaHei"/>
              </a:defRPr>
            </a:pPr>
            <a:r>
              <a:t>试验组2：KITE-753 (1×10^5 CAR T cells/kg)</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总体反应率（ORR）在CAR-naive患者最高剂量组（DL3，n=17）为88%</a:t>
            </a:r>
          </a:p>
          <a:p>
            <a:pPr>
              <a:lnSpc>
                <a:spcPct val="103000"/>
              </a:lnSpc>
              <a:spcAft>
                <a:spcPts val="300"/>
              </a:spcAft>
              <a:defRPr sz="800">
                <a:solidFill>
                  <a:srgbClr val="21242A"/>
                </a:solidFill>
                <a:latin typeface="Microsoft YaHei"/>
              </a:defRPr>
            </a:pPr>
            <a:r>
              <a:t>完全缓解率（CR）在数据截止时71%，数据截止后76%（1例从PR转为CR）</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人数：33</a:t>
            </a:r>
          </a:p>
          <a:p>
            <a:pPr>
              <a:lnSpc>
                <a:spcPct val="103000"/>
              </a:lnSpc>
              <a:spcAft>
                <a:spcPts val="300"/>
              </a:spcAft>
              <a:defRPr sz="810">
                <a:solidFill>
                  <a:srgbClr val="21242A"/>
                </a:solidFill>
                <a:latin typeface="Microsoft YaHei"/>
              </a:defRPr>
            </a:pPr>
            <a:r>
              <a:t>适应症：大B细胞淋巴瘤、非霍奇金淋巴瘤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登记号：NCT04989803</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试验药/方案：KITE-753</a:t>
            </a:r>
          </a:p>
          <a:p>
            <a:pPr>
              <a:lnSpc>
                <a:spcPct val="103000"/>
              </a:lnSpc>
              <a:spcAft>
                <a:spcPts val="300"/>
              </a:spcAft>
              <a:defRPr sz="810">
                <a:solidFill>
                  <a:srgbClr val="21242A"/>
                </a:solidFill>
                <a:latin typeface="Microsoft YaHei"/>
              </a:defRPr>
            </a:pPr>
            <a:r>
              <a:t>靶点：CD19、CD20</a:t>
            </a:r>
          </a:p>
          <a:p>
            <a:pPr>
              <a:lnSpc>
                <a:spcPct val="103000"/>
              </a:lnSpc>
              <a:spcAft>
                <a:spcPts val="300"/>
              </a:spcAft>
              <a:defRPr sz="810">
                <a:solidFill>
                  <a:srgbClr val="21242A"/>
                </a:solidFill>
                <a:latin typeface="Microsoft YaHei"/>
              </a:defRPr>
            </a:pPr>
            <a:r>
              <a:t>药物/技术类别：CAR-T、自体细胞、经基因修饰</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kite-753治疗复发/难治性b细胞淋巴瘤患者的1期研究：最新的安全性和疗效结果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phase 1 study of kite-753 in patients (pts) with relapsed/refractory (r/r)...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EHA原文结果（中文字段未通过数字核对）（1/4）</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As of 12/03/25, 33 pts received KITE-753 (3 in DL 1, 8 in DL 2, 22 in DL 3).</a:t>
            </a:r>
          </a:p>
          <a:p>
            <a:pPr>
              <a:lnSpc>
                <a:spcPct val="103000"/>
              </a:lnSpc>
              <a:spcAft>
                <a:spcPts val="300"/>
              </a:spcAft>
              <a:defRPr sz="819">
                <a:solidFill>
                  <a:srgbClr val="21242A"/>
                </a:solidFill>
                <a:latin typeface="Microsoft YaHei"/>
              </a:defRPr>
            </a:pPr>
            <a:r>
              <a:t>Median follow-up was 7.4 months (range, 5.8-12.7).</a:t>
            </a:r>
          </a:p>
          <a:p>
            <a:pPr>
              <a:lnSpc>
                <a:spcPct val="103000"/>
              </a:lnSpc>
              <a:spcAft>
                <a:spcPts val="300"/>
              </a:spcAft>
              <a:defRPr sz="819">
                <a:solidFill>
                  <a:srgbClr val="21242A"/>
                </a:solidFill>
                <a:latin typeface="Microsoft YaHei"/>
              </a:defRPr>
            </a:pPr>
            <a:r>
              <a:t>Median age at analysis was 59.0 years (range, 25-84); 88% of pts had LBCL and 12% had indolent non-Hodgkin lymphoma, a</a:t>
            </a:r>
          </a:p>
          <a:p>
            <a:pPr>
              <a:lnSpc>
                <a:spcPct val="103000"/>
              </a:lnSpc>
              <a:spcAft>
                <a:spcPts val="300"/>
              </a:spcAft>
              <a:defRPr sz="819">
                <a:solidFill>
                  <a:srgbClr val="21242A"/>
                </a:solidFill>
                <a:latin typeface="Microsoft YaHei"/>
              </a:defRPr>
            </a:pPr>
            <a:r>
              <a:t>nd 76% had Stage III/IV disease.</a:t>
            </a:r>
          </a:p>
          <a:p>
            <a:pPr>
              <a:lnSpc>
                <a:spcPct val="103000"/>
              </a:lnSpc>
              <a:spcAft>
                <a:spcPts val="300"/>
              </a:spcAft>
              <a:defRPr sz="819">
                <a:solidFill>
                  <a:srgbClr val="21242A"/>
                </a:solidFill>
                <a:latin typeface="Microsoft YaHei"/>
              </a:defRPr>
            </a:pPr>
            <a:r>
              <a:t>Nine pts (27% of all; 31% of LBCL) were primary refractory and 10 (30%) had received prior CAR T-cell therapy.</a:t>
            </a:r>
          </a:p>
          <a:p>
            <a:pPr>
              <a:lnSpc>
                <a:spcPct val="103000"/>
              </a:lnSpc>
              <a:spcAft>
                <a:spcPts val="300"/>
              </a:spcAft>
              <a:defRPr sz="819">
                <a:solidFill>
                  <a:srgbClr val="21242A"/>
                </a:solidFill>
                <a:latin typeface="Microsoft YaHei"/>
              </a:defRPr>
            </a:pPr>
            <a:r>
              <a:t>No DLTs occurred in dose escalation.</a:t>
            </a:r>
          </a:p>
          <a:p>
            <a:pPr>
              <a:lnSpc>
                <a:spcPct val="103000"/>
              </a:lnSpc>
              <a:spcAft>
                <a:spcPts val="300"/>
              </a:spcAft>
              <a:defRPr sz="819">
                <a:solidFill>
                  <a:srgbClr val="21242A"/>
                </a:solidFill>
                <a:latin typeface="Microsoft YaHei"/>
              </a:defRPr>
            </a:pPr>
            <a:r>
              <a:t>Grade ≥3 adverse events occurred in 85% of pts (91% in DL 3), primarily cytopenias.</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摘要号：PS2068</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kite-753治疗复发/难治性b细胞淋巴瘤患者的1期研究：最新的安全性和疗效结果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phase 1 study of kite-753 in patients (pts) with relapsed/refractory (r/r)...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Eight pts (24%) had max Grade 1 CRS, 8 (24%) had max Grade 2 CRS, 1 had max Grade 3 CRS (LBCL, DL 2), and none had Gra</a:t>
            </a:r>
          </a:p>
          <a:p>
            <a:pPr>
              <a:lnSpc>
                <a:spcPct val="103000"/>
              </a:lnSpc>
              <a:spcAft>
                <a:spcPts val="300"/>
              </a:spcAft>
              <a:defRPr sz="819">
                <a:solidFill>
                  <a:srgbClr val="21242A"/>
                </a:solidFill>
                <a:latin typeface="Microsoft YaHei"/>
              </a:defRPr>
            </a:pPr>
            <a:r>
              <a:t>de 4/5 CRS.</a:t>
            </a:r>
          </a:p>
          <a:p>
            <a:pPr>
              <a:lnSpc>
                <a:spcPct val="103000"/>
              </a:lnSpc>
              <a:spcAft>
                <a:spcPts val="300"/>
              </a:spcAft>
              <a:defRPr sz="819">
                <a:solidFill>
                  <a:srgbClr val="21242A"/>
                </a:solidFill>
                <a:latin typeface="Microsoft YaHei"/>
              </a:defRPr>
            </a:pPr>
            <a:r>
              <a:t>Median time to CRS onset was 6.0 days; median duration was 6.0 days.</a:t>
            </a:r>
          </a:p>
          <a:p>
            <a:pPr>
              <a:lnSpc>
                <a:spcPct val="103000"/>
              </a:lnSpc>
              <a:spcAft>
                <a:spcPts val="300"/>
              </a:spcAft>
              <a:defRPr sz="819">
                <a:solidFill>
                  <a:srgbClr val="21242A"/>
                </a:solidFill>
                <a:latin typeface="Microsoft YaHei"/>
              </a:defRPr>
            </a:pPr>
            <a:r>
              <a:t>Two pts had Grade 1 ICANS (1 each in DL 2 and DL 3), 4 had Grade 2 ICANS (1 in DL 2, 3 in DL 3), and none had Grade ≥3</a:t>
            </a:r>
          </a:p>
          <a:p>
            <a:pPr>
              <a:lnSpc>
                <a:spcPct val="103000"/>
              </a:lnSpc>
              <a:spcAft>
                <a:spcPts val="300"/>
              </a:spcAft>
              <a:defRPr sz="819">
                <a:solidFill>
                  <a:srgbClr val="21242A"/>
                </a:solidFill>
                <a:latin typeface="Microsoft YaHei"/>
              </a:defRPr>
            </a:pPr>
            <a:r>
              <a:t> ICANS.</a:t>
            </a:r>
          </a:p>
          <a:p>
            <a:pPr>
              <a:lnSpc>
                <a:spcPct val="103000"/>
              </a:lnSpc>
              <a:spcAft>
                <a:spcPts val="300"/>
              </a:spcAft>
              <a:defRPr sz="819">
                <a:solidFill>
                  <a:srgbClr val="21242A"/>
                </a:solidFill>
                <a:latin typeface="Microsoft YaHei"/>
              </a:defRPr>
            </a:pPr>
            <a:r>
              <a:t>Median time to ICANS onset was 10.5 days; median duration was 3.5 days.</a:t>
            </a:r>
          </a:p>
          <a:p>
            <a:pPr>
              <a:lnSpc>
                <a:spcPct val="103000"/>
              </a:lnSpc>
              <a:spcAft>
                <a:spcPts val="300"/>
              </a:spcAft>
              <a:defRPr sz="819">
                <a:solidFill>
                  <a:srgbClr val="21242A"/>
                </a:solidFill>
                <a:latin typeface="Microsoft YaHei"/>
              </a:defRPr>
            </a:pPr>
            <a:r>
              <a:t>Five pts died: 2 due to infections unrelated to KITE-753 per investigator assessment and 3 due to progression.</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kite-753治疗复发/难治性b细胞淋巴瘤患者的1期研究：最新的安全性和疗效结果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phase 1 study of kite-753 in patients (pts) with relapsed/refractory (r/r)...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ORR in CAR-naive pts at DL 3 (n=17) was 88%; CR rate was 71% (12/17) at the data cutoff and 76% (13/17) post-data cuto</a:t>
            </a:r>
          </a:p>
          <a:p>
            <a:pPr>
              <a:lnSpc>
                <a:spcPct val="103000"/>
              </a:lnSpc>
              <a:spcAft>
                <a:spcPts val="300"/>
              </a:spcAft>
              <a:defRPr sz="819">
                <a:solidFill>
                  <a:srgbClr val="21242A"/>
                </a:solidFill>
                <a:latin typeface="Microsoft YaHei"/>
              </a:defRPr>
            </a:pPr>
            <a:r>
              <a:t>ff, with 1 pt converting from a partial response (PR) to a CR.</a:t>
            </a:r>
          </a:p>
          <a:p>
            <a:pPr>
              <a:lnSpc>
                <a:spcPct val="103000"/>
              </a:lnSpc>
              <a:spcAft>
                <a:spcPts val="300"/>
              </a:spcAft>
              <a:defRPr sz="819">
                <a:solidFill>
                  <a:srgbClr val="21242A"/>
                </a:solidFill>
                <a:latin typeface="Microsoft YaHei"/>
              </a:defRPr>
            </a:pPr>
            <a:r>
              <a:t>In pts with prior CAR exposure (all DLs; n=10), 3 (30%) had a CR and 2 (20%) had a PR.</a:t>
            </a:r>
          </a:p>
          <a:p>
            <a:pPr>
              <a:lnSpc>
                <a:spcPct val="103000"/>
              </a:lnSpc>
              <a:spcAft>
                <a:spcPts val="300"/>
              </a:spcAft>
              <a:defRPr sz="819">
                <a:solidFill>
                  <a:srgbClr val="21242A"/>
                </a:solidFill>
                <a:latin typeface="Microsoft YaHei"/>
              </a:defRPr>
            </a:pPr>
            <a:r>
              <a:t>In a comparative analysis of KITE-753 vs axicabtagene ciloleucel (axi-cel; ZUMA-1), levels of the neurotoxicity-associ</a:t>
            </a:r>
          </a:p>
          <a:p>
            <a:pPr>
              <a:lnSpc>
                <a:spcPct val="103000"/>
              </a:lnSpc>
              <a:spcAft>
                <a:spcPts val="300"/>
              </a:spcAft>
              <a:defRPr sz="819">
                <a:solidFill>
                  <a:srgbClr val="21242A"/>
                </a:solidFill>
                <a:latin typeface="Microsoft YaHei"/>
              </a:defRPr>
            </a:pPr>
            <a:r>
              <a:t>ated cytokine, IL-15, were lower with KITE-753, coinciding with an improved toxicity profile.</a:t>
            </a:r>
          </a:p>
          <a:p>
            <a:pPr>
              <a:lnSpc>
                <a:spcPct val="103000"/>
              </a:lnSpc>
              <a:spcAft>
                <a:spcPts val="300"/>
              </a:spcAft>
              <a:defRPr sz="819">
                <a:solidFill>
                  <a:srgbClr val="21242A"/>
                </a:solidFill>
                <a:latin typeface="Microsoft YaHei"/>
              </a:defRPr>
            </a:pPr>
            <a:r>
              <a:t>Peak CAR T-cell expansion was delayed with KITE-753 vs axi-cel; IL-2, INF-γ, and granzyme B kinetics correlated with d</a:t>
            </a:r>
          </a:p>
          <a:p>
            <a:pPr>
              <a:lnSpc>
                <a:spcPct val="103000"/>
              </a:lnSpc>
              <a:spcAft>
                <a:spcPts val="300"/>
              </a:spcAft>
              <a:defRPr sz="819">
                <a:solidFill>
                  <a:srgbClr val="21242A"/>
                </a:solidFill>
                <a:latin typeface="Microsoft YaHei"/>
              </a:defRPr>
            </a:pPr>
            <a:r>
              <a:t>elayed time to peak.</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kite-753治疗复发/难治性b细胞淋巴瘤患者的1期研究：最新的安全性和疗效结果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phase 1 study of kite-753 in patients (pts) with relapsed/refractory (r/r)...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These favorable pharmacokinetic and pharmacodynamic profiles may reflect KITE-753’s optimized CAR T-cell dose that mit</a:t>
            </a:r>
          </a:p>
          <a:p>
            <a:pPr>
              <a:lnSpc>
                <a:spcPct val="103000"/>
              </a:lnSpc>
              <a:spcAft>
                <a:spcPts val="300"/>
              </a:spcAft>
              <a:defRPr sz="819">
                <a:solidFill>
                  <a:srgbClr val="21242A"/>
                </a:solidFill>
                <a:latin typeface="Microsoft YaHei"/>
              </a:defRPr>
            </a:pPr>
            <a:r>
              <a:t>igates toxicity and its rapid manufacturing process that preserves CAR T-cell fitness.</a:t>
            </a:r>
          </a:p>
          <a:p>
            <a:pPr>
              <a:lnSpc>
                <a:spcPct val="103000"/>
              </a:lnSpc>
              <a:spcAft>
                <a:spcPts val="300"/>
              </a:spcAft>
              <a:defRPr sz="819">
                <a:solidFill>
                  <a:srgbClr val="21242A"/>
                </a:solidFill>
                <a:latin typeface="Microsoft YaHei"/>
              </a:defRPr>
            </a:pPr>
            <a:r>
              <a:t>Summary/Conclusion: KITE-753, with a unique CAR design and rapid manufacturing process preserving a naive T-cell pheno</a:t>
            </a:r>
          </a:p>
          <a:p>
            <a:pPr>
              <a:lnSpc>
                <a:spcPct val="103000"/>
              </a:lnSpc>
              <a:spcAft>
                <a:spcPts val="300"/>
              </a:spcAft>
              <a:defRPr sz="819">
                <a:solidFill>
                  <a:srgbClr val="21242A"/>
                </a:solidFill>
                <a:latin typeface="Microsoft YaHei"/>
              </a:defRPr>
            </a:pPr>
            <a:r>
              <a:t>type, at the highest DL showed high CR rates in CAR-naive pts and a favorable safety profile with only low-grade CRS a</a:t>
            </a:r>
          </a:p>
          <a:p>
            <a:pPr>
              <a:lnSpc>
                <a:spcPct val="103000"/>
              </a:lnSpc>
              <a:spcAft>
                <a:spcPts val="300"/>
              </a:spcAft>
              <a:defRPr sz="819">
                <a:solidFill>
                  <a:srgbClr val="21242A"/>
                </a:solidFill>
                <a:latin typeface="Microsoft YaHei"/>
              </a:defRPr>
            </a:pPr>
            <a:r>
              <a:t>nd ICANS.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快速增加glofitamab治疗复发难治性大b细胞淋巴瘤的可行性和安全性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feasibility and safety of rapid glofitamab ramp-up for the treatment of relap...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N=83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多组/多方案比较：试验组1：BiCAR样组（obinutuzumab预处理，glofitamab在8-14天内加速给药）</a:t>
            </a:r>
          </a:p>
          <a:p>
            <a:pPr>
              <a:lnSpc>
                <a:spcPct val="103000"/>
              </a:lnSpc>
              <a:spcAft>
                <a:spcPts val="300"/>
              </a:spcAft>
              <a:defRPr sz="800">
                <a:solidFill>
                  <a:srgbClr val="21242A"/>
                </a:solidFill>
                <a:latin typeface="Microsoft YaHei"/>
              </a:defRPr>
            </a:pPr>
            <a:r>
              <a:t>试验组2：快速glofitamab组（obinutuzumab预处理，glofitamab在4-7天内加速给药）</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细胞因子释放综合征（CRS）发生率：47%（39/83），其中多数为1级（36%[30/39]），3级以上CRS未发生</a:t>
            </a:r>
          </a:p>
          <a:p>
            <a:pPr>
              <a:lnSpc>
                <a:spcPct val="103000"/>
              </a:lnSpc>
              <a:spcAft>
                <a:spcPts val="300"/>
              </a:spcAft>
              <a:defRPr sz="800">
                <a:solidFill>
                  <a:srgbClr val="21242A"/>
                </a:solidFill>
                <a:latin typeface="Microsoft YaHei"/>
              </a:defRPr>
            </a:pPr>
            <a:r>
              <a:t>免疫效应细胞相关神经毒性综合征（ICANS）发生率：持续较低，3级以上未发生</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人数：83</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快速增加glofitamab治疗复发难治性大b细胞淋巴瘤的可行性和安全性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feasibility and safety of rapid glofitamab ramp-up for the treatment of relap...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细胞因子释放综合征（CRS）发生率</a:t>
                      </a:r>
                    </a:p>
                  </a:txBody>
                  <a:tcPr>
                    <a:solidFill>
                      <a:srgbClr val="F6F8FB"/>
                    </a:solidFill>
                  </a:tcPr>
                </a:tc>
                <a:tc>
                  <a:txBody>
                    <a:bodyPr wrap="square" lIns="36576" rIns="36576" tIns="18288" bIns="18288"/>
                    <a:lstStyle/>
                    <a:p>
                      <a:r>
                        <a:rPr sz="720" b="0">
                          <a:solidFill>
                            <a:srgbClr val="21242A"/>
                          </a:solidFill>
                          <a:latin typeface="Microsoft YaHei"/>
                        </a:rPr>
                        <a:t>47%（39/83），其中多数为1级（36%[30/39]），3级以上CRS未发生</a:t>
                      </a:r>
                    </a:p>
                  </a:txBody>
                  <a:tcPr>
                    <a:solidFill>
                      <a:srgbClr val="F6F8FB"/>
                    </a:solidFill>
                  </a:tcPr>
                </a:tc>
              </a:tr>
              <a:tr h="376428">
                <a:tc>
                  <a:txBody>
                    <a:bodyPr wrap="square" lIns="36576" rIns="36576" tIns="18288" bIns="18288"/>
                    <a:lstStyle/>
                    <a:p>
                      <a:r>
                        <a:rPr sz="720" b="1">
                          <a:solidFill>
                            <a:srgbClr val="21242A"/>
                          </a:solidFill>
                          <a:latin typeface="Microsoft YaHei"/>
                        </a:rPr>
                        <a:t>免疫效应细胞相关神经毒性综合征（ICANS）发生率</a:t>
                      </a:r>
                    </a:p>
                  </a:txBody>
                  <a:tcPr>
                    <a:solidFill>
                      <a:srgbClr val="FFFFFF"/>
                    </a:solidFill>
                  </a:tcPr>
                </a:tc>
                <a:tc>
                  <a:txBody>
                    <a:bodyPr wrap="square" lIns="36576" rIns="36576" tIns="18288" bIns="18288"/>
                    <a:lstStyle/>
                    <a:p>
                      <a:r>
                        <a:rPr sz="720" b="0">
                          <a:solidFill>
                            <a:srgbClr val="21242A"/>
                          </a:solidFill>
                          <a:latin typeface="Microsoft YaHei"/>
                        </a:rPr>
                        <a:t>持续较低，3级以上未发生</a:t>
                      </a:r>
                    </a:p>
                  </a:txBody>
                  <a:tcPr>
                    <a:solidFill>
                      <a:srgbClr val="FFFFFF"/>
                    </a:solidFill>
                  </a:tcPr>
                </a:tc>
              </a:tr>
              <a:tr h="376428">
                <a:tc>
                  <a:txBody>
                    <a:bodyPr wrap="square" lIns="36576" rIns="36576" tIns="18288" bIns="18288"/>
                    <a:lstStyle/>
                    <a:p>
                      <a:r>
                        <a:rPr sz="720" b="1">
                          <a:solidFill>
                            <a:srgbClr val="21242A"/>
                          </a:solidFill>
                          <a:latin typeface="Microsoft YaHei"/>
                        </a:rPr>
                        <a:t>总缓解率（ORR）</a:t>
                      </a:r>
                    </a:p>
                  </a:txBody>
                  <a:tcPr>
                    <a:solidFill>
                      <a:srgbClr val="F6F8FB"/>
                    </a:solidFill>
                  </a:tcPr>
                </a:tc>
                <a:tc>
                  <a:txBody>
                    <a:bodyPr wrap="square" lIns="36576" rIns="36576" tIns="18288" bIns="18288"/>
                    <a:lstStyle/>
                    <a:p>
                      <a:r>
                        <a:rPr sz="720" b="0">
                          <a:solidFill>
                            <a:srgbClr val="21242A"/>
                          </a:solidFill>
                          <a:latin typeface="Microsoft YaHei"/>
                        </a:rPr>
                        <a:t>53%（44/83），其中完全缓解/代谢完全缓解（CR/CMR）12%，部分缓解（PR）41%</a:t>
                      </a:r>
                    </a:p>
                  </a:txBody>
                  <a:tcPr>
                    <a:solidFill>
                      <a:srgbClr val="F6F8FB"/>
                    </a:solidFill>
                  </a:tcPr>
                </a:tc>
              </a:tr>
              <a:tr h="376428">
                <a:tc>
                  <a:txBody>
                    <a:bodyPr wrap="square" lIns="36576" rIns="36576" tIns="18288" bIns="18288"/>
                    <a:lstStyle/>
                    <a:p>
                      <a:r>
                        <a:rPr sz="720" b="1">
                          <a:solidFill>
                            <a:srgbClr val="21242A"/>
                          </a:solidFill>
                          <a:latin typeface="Microsoft YaHei"/>
                        </a:rPr>
                        <a:t>中位无进展生存期（PFS）</a:t>
                      </a:r>
                    </a:p>
                  </a:txBody>
                  <a:tcPr>
                    <a:solidFill>
                      <a:srgbClr val="FFFFFF"/>
                    </a:solidFill>
                  </a:tcPr>
                </a:tc>
                <a:tc>
                  <a:txBody>
                    <a:bodyPr wrap="square" lIns="36576" rIns="36576" tIns="18288" bIns="18288"/>
                    <a:lstStyle/>
                    <a:p>
                      <a:r>
                        <a:rPr sz="720" b="0">
                          <a:solidFill>
                            <a:srgbClr val="21242A"/>
                          </a:solidFill>
                          <a:latin typeface="Microsoft YaHei"/>
                        </a:rPr>
                        <a:t>6.3个月</a:t>
                      </a:r>
                    </a:p>
                  </a:txBody>
                  <a:tcPr>
                    <a:solidFill>
                      <a:srgbClr val="FFFFFF"/>
                    </a:solidFill>
                  </a:tcPr>
                </a:tc>
              </a:tr>
              <a:tr h="376428">
                <a:tc>
                  <a:txBody>
                    <a:bodyPr wrap="square" lIns="36576" rIns="36576" tIns="18288" bIns="18288"/>
                    <a:lstStyle/>
                    <a:p>
                      <a:r>
                        <a:rPr sz="720" b="1">
                          <a:solidFill>
                            <a:srgbClr val="21242A"/>
                          </a:solidFill>
                          <a:latin typeface="Microsoft YaHei"/>
                        </a:rPr>
                        <a:t>中位总生存期（OS）</a:t>
                      </a:r>
                    </a:p>
                  </a:txBody>
                  <a:tcPr>
                    <a:solidFill>
                      <a:srgbClr val="F6F8FB"/>
                    </a:solidFill>
                  </a:tcPr>
                </a:tc>
                <a:tc>
                  <a:txBody>
                    <a:bodyPr wrap="square" lIns="36576" rIns="36576" tIns="18288" bIns="18288"/>
                    <a:lstStyle/>
                    <a:p>
                      <a:r>
                        <a:rPr sz="720" b="0">
                          <a:solidFill>
                            <a:srgbClr val="21242A"/>
                          </a:solidFill>
                          <a:latin typeface="Microsoft YaHei"/>
                        </a:rPr>
                        <a:t>21.5个月</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摘要号：PF996</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car-t细胞疗法的引入显著改善了在人群水平上接受二线治疗的复发/难治性大b细胞淋巴瘤患者的预后</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introduction of car-t cell therapy dramatically improved outcomes of patients...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N=524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试验药/方案：CAR-T(达博生物)</a:t>
            </a:r>
          </a:p>
          <a:p>
            <a:pPr>
              <a:lnSpc>
                <a:spcPct val="103000"/>
              </a:lnSpc>
              <a:spcAft>
                <a:spcPts val="300"/>
              </a:spcAft>
              <a:defRPr sz="800">
                <a:solidFill>
                  <a:srgbClr val="21242A"/>
                </a:solidFill>
                <a:latin typeface="Microsoft YaHei"/>
              </a:defRPr>
            </a:pPr>
            <a:r>
              <a:t>类别：CAR-T，经基因修饰</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总生存期（OS）：Era2相比于Era1的HR=0.71（95%CI 0.56-0.91，P=0.01）</a:t>
            </a:r>
          </a:p>
          <a:p>
            <a:pPr>
              <a:lnSpc>
                <a:spcPct val="103000"/>
              </a:lnSpc>
              <a:spcAft>
                <a:spcPts val="300"/>
              </a:spcAft>
              <a:defRPr sz="800">
                <a:solidFill>
                  <a:srgbClr val="21242A"/>
                </a:solidFill>
                <a:latin typeface="Microsoft YaHei"/>
              </a:defRPr>
            </a:pPr>
            <a:r>
              <a:t>2年OS率：Era2为56%，Era1为41%||淋巴瘤相关死亡率累积发生率（CIF of LRM）：2年LRM率Era2为3...</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人数：524</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治疗线数：二线</a:t>
            </a:r>
          </a:p>
          <a:p>
            <a:pPr>
              <a:lnSpc>
                <a:spcPct val="103000"/>
              </a:lnSpc>
              <a:spcAft>
                <a:spcPts val="300"/>
              </a:spcAft>
              <a:defRPr sz="810">
                <a:solidFill>
                  <a:srgbClr val="21242A"/>
                </a:solidFill>
                <a:latin typeface="Microsoft YaHei"/>
              </a:defRPr>
            </a:pPr>
            <a:r>
              <a:t>登记号：NCT03199066</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试验药/方案：CAR-T(达博生物)</a:t>
            </a:r>
          </a:p>
          <a:p>
            <a:pPr>
              <a:lnSpc>
                <a:spcPct val="103000"/>
              </a:lnSpc>
              <a:spcAft>
                <a:spcPts val="300"/>
              </a:spcAft>
              <a:defRPr sz="810">
                <a:solidFill>
                  <a:srgbClr val="21242A"/>
                </a:solidFill>
                <a:latin typeface="Microsoft YaHei"/>
              </a:defRPr>
            </a:pPr>
            <a:r>
              <a:t>药物/技术类别：CAR-T、经基因修饰</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car-t细胞疗法的引入显著改善了在人群水平上接受二线治疗的复发/难治性大b细胞淋巴瘤患者的预后</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introduction of car-t cell therapy dramatically improved outcomes of patients...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总生存期（OS）：Era2相比于Era1的HR=0.71（95%CI 0.56-0.91，P=0.01）；2年OS率：Era2为56%，Era1为41%||淋巴瘤相关死亡率累积发生率（CIF of LRM）：2年LRM率Era2为33%</a:t>
            </a:r>
          </a:p>
          <a:p>
            <a:pPr>
              <a:lnSpc>
                <a:spcPct val="103000"/>
              </a:lnSpc>
              <a:spcAft>
                <a:spcPts val="300"/>
              </a:spcAft>
              <a:defRPr sz="819">
                <a:solidFill>
                  <a:srgbClr val="21242A"/>
                </a:solidFill>
                <a:latin typeface="Microsoft YaHei"/>
              </a:defRPr>
            </a:pPr>
            <a:r>
              <a:t>，Era1为41%（P=0.09）</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摘要号：PF990</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zamtocabtagene autoleucel，一种串联cd20-cd19导向的car-t细胞治疗复发/难治性大b...</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zamtocabtagene autoleucel, a tandem cd20-cd19 directed car-t cell therapy in...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试验药/方案：zamtocabtagene autoleucel</a:t>
            </a:r>
          </a:p>
          <a:p>
            <a:pPr>
              <a:lnSpc>
                <a:spcPct val="103000"/>
              </a:lnSpc>
              <a:spcAft>
                <a:spcPts val="300"/>
              </a:spcAft>
              <a:defRPr sz="800">
                <a:solidFill>
                  <a:srgbClr val="21242A"/>
                </a:solidFill>
                <a:latin typeface="Microsoft YaHei"/>
              </a:defRPr>
            </a:pPr>
            <a:r>
              <a:t>靶点：CD20，CD19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对照/比较：试验组1：zamto-cel组，zamtocabtagene autoleucel</a:t>
            </a:r>
          </a:p>
          <a:p>
            <a:pPr>
              <a:lnSpc>
                <a:spcPct val="103000"/>
              </a:lnSpc>
              <a:spcAft>
                <a:spcPts val="300"/>
              </a:spcAft>
              <a:defRPr sz="800">
                <a:solidFill>
                  <a:srgbClr val="21242A"/>
                </a:solidFill>
                <a:latin typeface="Microsoft YaHei"/>
              </a:defRPr>
            </a:pPr>
            <a:r>
              <a:t>对照组：标准治疗组，R-GemOx, Pola-BR</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最佳总体缓解率（BOR）：79.3%</a:t>
            </a:r>
          </a:p>
          <a:p>
            <a:pPr>
              <a:lnSpc>
                <a:spcPct val="103000"/>
              </a:lnSpc>
              <a:spcAft>
                <a:spcPts val="300"/>
              </a:spcAft>
              <a:defRPr sz="800">
                <a:solidFill>
                  <a:srgbClr val="21242A"/>
                </a:solidFill>
                <a:latin typeface="Microsoft YaHei"/>
              </a:defRPr>
            </a:pPr>
            <a:r>
              <a:t>完全缓解率（CR）：65.5%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人数：29</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治疗线数：二线</a:t>
            </a:r>
          </a:p>
          <a:p>
            <a:pPr>
              <a:lnSpc>
                <a:spcPct val="103000"/>
              </a:lnSpc>
              <a:spcAft>
                <a:spcPts val="300"/>
              </a:spcAft>
              <a:defRPr sz="810">
                <a:solidFill>
                  <a:srgbClr val="21242A"/>
                </a:solidFill>
                <a:latin typeface="Microsoft YaHei"/>
              </a:defRPr>
            </a:pPr>
            <a:r>
              <a:t>登记号：NCT04844866</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试验药/方案：zamtocabtagene autoleucel</a:t>
            </a:r>
          </a:p>
          <a:p>
            <a:pPr>
              <a:lnSpc>
                <a:spcPct val="103000"/>
              </a:lnSpc>
              <a:spcAft>
                <a:spcPts val="300"/>
              </a:spcAft>
              <a:defRPr sz="810">
                <a:solidFill>
                  <a:srgbClr val="21242A"/>
                </a:solidFill>
                <a:latin typeface="Microsoft YaHei"/>
              </a:defRPr>
            </a:pPr>
            <a:r>
              <a:t>靶点：CD20、CD19</a:t>
            </a:r>
          </a:p>
          <a:p>
            <a:pPr>
              <a:lnSpc>
                <a:spcPct val="103000"/>
              </a:lnSpc>
              <a:spcAft>
                <a:spcPts val="300"/>
              </a:spcAft>
              <a:defRPr sz="810">
                <a:solidFill>
                  <a:srgbClr val="21242A"/>
                </a:solidFill>
                <a:latin typeface="Microsoft YaHei"/>
              </a:defRPr>
            </a:pPr>
            <a:r>
              <a:t>药物/技术类别：CAR-T、自体细胞、慢病毒载体LV</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zamtocabtagene autoleucel，一种串联cd20-cd19导向的car-t细胞治疗复发/难治性大b...</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zamtocabtagene autoleucel, a tandem cd20-cd19 directed car-t cell therapy in...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2265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22652">
                <a:tc>
                  <a:txBody>
                    <a:bodyPr wrap="square" lIns="36576" rIns="36576" tIns="18288" bIns="18288"/>
                    <a:lstStyle/>
                    <a:p>
                      <a:r>
                        <a:rPr sz="720" b="1">
                          <a:solidFill>
                            <a:srgbClr val="21242A"/>
                          </a:solidFill>
                          <a:latin typeface="Microsoft YaHei"/>
                        </a:rPr>
                        <a:t>最佳总体缓解率（BOR）</a:t>
                      </a:r>
                    </a:p>
                  </a:txBody>
                  <a:tcPr>
                    <a:solidFill>
                      <a:srgbClr val="F6F8FB"/>
                    </a:solidFill>
                  </a:tcPr>
                </a:tc>
                <a:tc>
                  <a:txBody>
                    <a:bodyPr wrap="square" lIns="36576" rIns="36576" tIns="18288" bIns="18288"/>
                    <a:lstStyle/>
                    <a:p>
                      <a:r>
                        <a:rPr sz="720" b="0">
                          <a:solidFill>
                            <a:srgbClr val="21242A"/>
                          </a:solidFill>
                          <a:latin typeface="Microsoft YaHei"/>
                        </a:rPr>
                        <a:t>79.3%</a:t>
                      </a:r>
                    </a:p>
                  </a:txBody>
                  <a:tcPr>
                    <a:solidFill>
                      <a:srgbClr val="F6F8FB"/>
                    </a:solidFill>
                  </a:tcPr>
                </a:tc>
              </a:tr>
              <a:tr h="322652">
                <a:tc>
                  <a:txBody>
                    <a:bodyPr wrap="square" lIns="36576" rIns="36576" tIns="18288" bIns="18288"/>
                    <a:lstStyle/>
                    <a:p>
                      <a:r>
                        <a:rPr sz="720" b="1">
                          <a:solidFill>
                            <a:srgbClr val="21242A"/>
                          </a:solidFill>
                          <a:latin typeface="Microsoft YaHei"/>
                        </a:rPr>
                        <a:t>完全缓解率（CR）</a:t>
                      </a:r>
                    </a:p>
                  </a:txBody>
                  <a:tcPr>
                    <a:solidFill>
                      <a:srgbClr val="FFFFFF"/>
                    </a:solidFill>
                  </a:tcPr>
                </a:tc>
                <a:tc>
                  <a:txBody>
                    <a:bodyPr wrap="square" lIns="36576" rIns="36576" tIns="18288" bIns="18288"/>
                    <a:lstStyle/>
                    <a:p>
                      <a:r>
                        <a:rPr sz="720" b="0">
                          <a:solidFill>
                            <a:srgbClr val="21242A"/>
                          </a:solidFill>
                          <a:latin typeface="Microsoft YaHei"/>
                        </a:rPr>
                        <a:t>65.5%</a:t>
                      </a:r>
                    </a:p>
                  </a:txBody>
                  <a:tcPr>
                    <a:solidFill>
                      <a:srgbClr val="FFFFFF"/>
                    </a:solidFill>
                  </a:tcPr>
                </a:tc>
              </a:tr>
              <a:tr h="322652">
                <a:tc>
                  <a:txBody>
                    <a:bodyPr wrap="square" lIns="36576" rIns="36576" tIns="18288" bIns="18288"/>
                    <a:lstStyle/>
                    <a:p>
                      <a:r>
                        <a:rPr sz="720" b="1">
                          <a:solidFill>
                            <a:srgbClr val="21242A"/>
                          </a:solidFill>
                          <a:latin typeface="Microsoft YaHei"/>
                        </a:rPr>
                        <a:t>6个月无事件生存率</a:t>
                      </a:r>
                    </a:p>
                  </a:txBody>
                  <a:tcPr>
                    <a:solidFill>
                      <a:srgbClr val="F6F8FB"/>
                    </a:solidFill>
                  </a:tcPr>
                </a:tc>
                <a:tc>
                  <a:txBody>
                    <a:bodyPr wrap="square" lIns="36576" rIns="36576" tIns="18288" bIns="18288"/>
                    <a:lstStyle/>
                    <a:p>
                      <a:r>
                        <a:rPr sz="720" b="0">
                          <a:solidFill>
                            <a:srgbClr val="21242A"/>
                          </a:solidFill>
                          <a:latin typeface="Microsoft YaHei"/>
                        </a:rPr>
                        <a:t>79%（95% CI 53%-92%）</a:t>
                      </a:r>
                    </a:p>
                  </a:txBody>
                  <a:tcPr>
                    <a:solidFill>
                      <a:srgbClr val="F6F8FB"/>
                    </a:solidFill>
                  </a:tcPr>
                </a:tc>
              </a:tr>
              <a:tr h="322652">
                <a:tc>
                  <a:txBody>
                    <a:bodyPr wrap="square" lIns="36576" rIns="36576" tIns="18288" bIns="18288"/>
                    <a:lstStyle/>
                    <a:p>
                      <a:r>
                        <a:rPr sz="720" b="1">
                          <a:solidFill>
                            <a:srgbClr val="21242A"/>
                          </a:solidFill>
                          <a:latin typeface="Microsoft YaHei"/>
                        </a:rPr>
                        <a:t>6个月无进展生存率</a:t>
                      </a:r>
                    </a:p>
                  </a:txBody>
                  <a:tcPr>
                    <a:solidFill>
                      <a:srgbClr val="FFFFFF"/>
                    </a:solidFill>
                  </a:tcPr>
                </a:tc>
                <a:tc>
                  <a:txBody>
                    <a:bodyPr wrap="square" lIns="36576" rIns="36576" tIns="18288" bIns="18288"/>
                    <a:lstStyle/>
                    <a:p>
                      <a:r>
                        <a:rPr sz="720" b="0">
                          <a:solidFill>
                            <a:srgbClr val="21242A"/>
                          </a:solidFill>
                          <a:latin typeface="Microsoft YaHei"/>
                        </a:rPr>
                        <a:t>79%（95% CI 53%-92%）</a:t>
                      </a:r>
                    </a:p>
                  </a:txBody>
                  <a:tcPr>
                    <a:solidFill>
                      <a:srgbClr val="FFFFFF"/>
                    </a:solidFill>
                  </a:tcPr>
                </a:tc>
              </a:tr>
              <a:tr h="322652">
                <a:tc>
                  <a:txBody>
                    <a:bodyPr wrap="square" lIns="36576" rIns="36576" tIns="18288" bIns="18288"/>
                    <a:lstStyle/>
                    <a:p>
                      <a:r>
                        <a:rPr sz="720" b="1">
                          <a:solidFill>
                            <a:srgbClr val="21242A"/>
                          </a:solidFill>
                          <a:latin typeface="Microsoft YaHei"/>
                        </a:rPr>
                        <a:t>≥3级细胞因子释放综合征（CRS）</a:t>
                      </a:r>
                    </a:p>
                  </a:txBody>
                  <a:tcPr>
                    <a:solidFill>
                      <a:srgbClr val="F6F8FB"/>
                    </a:solidFill>
                  </a:tcPr>
                </a:tc>
                <a:tc>
                  <a:txBody>
                    <a:bodyPr wrap="square" lIns="36576" rIns="36576" tIns="18288" bIns="18288"/>
                    <a:lstStyle/>
                    <a:p>
                      <a:r>
                        <a:rPr sz="720" b="0">
                          <a:solidFill>
                            <a:srgbClr val="21242A"/>
                          </a:solidFill>
                          <a:latin typeface="Microsoft YaHei"/>
                        </a:rPr>
                        <a:t>6.9%</a:t>
                      </a:r>
                    </a:p>
                  </a:txBody>
                  <a:tcPr>
                    <a:solidFill>
                      <a:srgbClr val="F6F8FB"/>
                    </a:solidFill>
                  </a:tcPr>
                </a:tc>
              </a:tr>
              <a:tr h="322656">
                <a:tc>
                  <a:txBody>
                    <a:bodyPr wrap="square" lIns="36576" rIns="36576" tIns="18288" bIns="18288"/>
                    <a:lstStyle/>
                    <a:p>
                      <a:r>
                        <a:rPr sz="720" b="1">
                          <a:solidFill>
                            <a:srgbClr val="21242A"/>
                          </a:solidFill>
                          <a:latin typeface="Microsoft YaHei"/>
                        </a:rPr>
                        <a:t>≥3级免疫细胞相关神经毒性综合征（ICANS）</a:t>
                      </a:r>
                    </a:p>
                  </a:txBody>
                  <a:tcPr>
                    <a:solidFill>
                      <a:srgbClr val="FFFFFF"/>
                    </a:solidFill>
                  </a:tcPr>
                </a:tc>
                <a:tc>
                  <a:txBody>
                    <a:bodyPr wrap="square" lIns="36576" rIns="36576" tIns="18288" bIns="18288"/>
                    <a:lstStyle/>
                    <a:p>
                      <a:r>
                        <a:rPr sz="720" b="0">
                          <a:solidFill>
                            <a:srgbClr val="21242A"/>
                          </a:solidFill>
                          <a:latin typeface="Microsoft YaHei"/>
                        </a:rPr>
                        <a:t>3.4%</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摘要号：PF975</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il-7/ccl19装甲car-t细胞早期car-t收缩期间时间限定的pd-1阻断与高危复发/难治性lbcl标志的反应...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time-defined pd-1 blockade during early car-t contraction of il-7/ccl19–armor...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试验药/方案：替雷利珠单抗</a:t>
            </a:r>
          </a:p>
          <a:p>
            <a:pPr>
              <a:lnSpc>
                <a:spcPct val="103000"/>
              </a:lnSpc>
              <a:spcAft>
                <a:spcPts val="300"/>
              </a:spcAft>
              <a:defRPr sz="800">
                <a:solidFill>
                  <a:srgbClr val="21242A"/>
                </a:solidFill>
                <a:latin typeface="Microsoft YaHei"/>
              </a:defRPr>
            </a:pPr>
            <a:r>
              <a:t>靶点：PD-1</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3个月客观缓解率(ORR): 85%</a:t>
            </a:r>
          </a:p>
          <a:p>
            <a:pPr>
              <a:lnSpc>
                <a:spcPct val="103000"/>
              </a:lnSpc>
              <a:spcAft>
                <a:spcPts val="300"/>
              </a:spcAft>
              <a:defRPr sz="800">
                <a:solidFill>
                  <a:srgbClr val="21242A"/>
                </a:solidFill>
                <a:latin typeface="Microsoft YaHei"/>
              </a:defRPr>
            </a:pPr>
            <a:r>
              <a:t>累积完全缓解率(CR): 70%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人数：20</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登记号：NCT04381741</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试验药/方案：替雷利珠单抗</a:t>
            </a:r>
          </a:p>
          <a:p>
            <a:pPr>
              <a:lnSpc>
                <a:spcPct val="103000"/>
              </a:lnSpc>
              <a:spcAft>
                <a:spcPts val="300"/>
              </a:spcAft>
              <a:defRPr sz="810">
                <a:solidFill>
                  <a:srgbClr val="21242A"/>
                </a:solidFill>
                <a:latin typeface="Microsoft YaHei"/>
              </a:defRPr>
            </a:pPr>
            <a:r>
              <a:t>靶点：PD-1</a:t>
            </a:r>
          </a:p>
          <a:p>
            <a:pPr>
              <a:lnSpc>
                <a:spcPct val="103000"/>
              </a:lnSpc>
              <a:spcAft>
                <a:spcPts val="300"/>
              </a:spcAft>
              <a:defRPr sz="810">
                <a:solidFill>
                  <a:srgbClr val="21242A"/>
                </a:solidFill>
                <a:latin typeface="Microsoft YaHei"/>
              </a:defRPr>
            </a:pPr>
            <a:r>
              <a:t>药物/技术类别：单特异性抗体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il-7/ccl19装甲car-t细胞早期car-t收缩期间时间限定的pd-1阻断与高危复发/难治性lbcl标志的反应...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time-defined pd-1 blockade during early car-t contraction of il-7/ccl19–armor...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2265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22652">
                <a:tc>
                  <a:txBody>
                    <a:bodyPr wrap="square" lIns="36576" rIns="36576" tIns="18288" bIns="18288"/>
                    <a:lstStyle/>
                    <a:p>
                      <a:r>
                        <a:rPr sz="720" b="1">
                          <a:solidFill>
                            <a:srgbClr val="21242A"/>
                          </a:solidFill>
                          <a:latin typeface="Microsoft YaHei"/>
                        </a:rPr>
                        <a:t>1. 3个月客观缓解率(ORR)</a:t>
                      </a:r>
                    </a:p>
                  </a:txBody>
                  <a:tcPr>
                    <a:solidFill>
                      <a:srgbClr val="F6F8FB"/>
                    </a:solidFill>
                  </a:tcPr>
                </a:tc>
                <a:tc>
                  <a:txBody>
                    <a:bodyPr wrap="square" lIns="36576" rIns="36576" tIns="18288" bIns="18288"/>
                    <a:lstStyle/>
                    <a:p>
                      <a:r>
                        <a:rPr sz="720" b="0">
                          <a:solidFill>
                            <a:srgbClr val="21242A"/>
                          </a:solidFill>
                          <a:latin typeface="Microsoft YaHei"/>
                        </a:rPr>
                        <a:t>85%</a:t>
                      </a:r>
                    </a:p>
                  </a:txBody>
                  <a:tcPr>
                    <a:solidFill>
                      <a:srgbClr val="F6F8FB"/>
                    </a:solidFill>
                  </a:tcPr>
                </a:tc>
              </a:tr>
              <a:tr h="322652">
                <a:tc>
                  <a:txBody>
                    <a:bodyPr wrap="square" lIns="36576" rIns="36576" tIns="18288" bIns="18288"/>
                    <a:lstStyle/>
                    <a:p>
                      <a:r>
                        <a:rPr sz="720" b="1">
                          <a:solidFill>
                            <a:srgbClr val="21242A"/>
                          </a:solidFill>
                          <a:latin typeface="Microsoft YaHei"/>
                        </a:rPr>
                        <a:t>2. 累积完全缓解率(CR)</a:t>
                      </a:r>
                    </a:p>
                  </a:txBody>
                  <a:tcPr>
                    <a:solidFill>
                      <a:srgbClr val="FFFFFF"/>
                    </a:solidFill>
                  </a:tcPr>
                </a:tc>
                <a:tc>
                  <a:txBody>
                    <a:bodyPr wrap="square" lIns="36576" rIns="36576" tIns="18288" bIns="18288"/>
                    <a:lstStyle/>
                    <a:p>
                      <a:r>
                        <a:rPr sz="720" b="0">
                          <a:solidFill>
                            <a:srgbClr val="21242A"/>
                          </a:solidFill>
                          <a:latin typeface="Microsoft YaHei"/>
                        </a:rPr>
                        <a:t>70%</a:t>
                      </a:r>
                    </a:p>
                  </a:txBody>
                  <a:tcPr>
                    <a:solidFill>
                      <a:srgbClr val="FFFFFF"/>
                    </a:solidFill>
                  </a:tcPr>
                </a:tc>
              </a:tr>
              <a:tr h="322652">
                <a:tc>
                  <a:txBody>
                    <a:bodyPr wrap="square" lIns="36576" rIns="36576" tIns="18288" bIns="18288"/>
                    <a:lstStyle/>
                    <a:p>
                      <a:r>
                        <a:rPr sz="720" b="1">
                          <a:solidFill>
                            <a:srgbClr val="21242A"/>
                          </a:solidFill>
                          <a:latin typeface="Microsoft YaHei"/>
                        </a:rPr>
                        <a:t>3. 2年无进展生存期(PFS)</a:t>
                      </a:r>
                    </a:p>
                  </a:txBody>
                  <a:tcPr>
                    <a:solidFill>
                      <a:srgbClr val="F6F8FB"/>
                    </a:solidFill>
                  </a:tcPr>
                </a:tc>
                <a:tc>
                  <a:txBody>
                    <a:bodyPr wrap="square" lIns="36576" rIns="36576" tIns="18288" bIns="18288"/>
                    <a:lstStyle/>
                    <a:p>
                      <a:r>
                        <a:rPr sz="720" b="0">
                          <a:solidFill>
                            <a:srgbClr val="21242A"/>
                          </a:solidFill>
                          <a:latin typeface="Microsoft YaHei"/>
                        </a:rPr>
                        <a:t>60.0%</a:t>
                      </a:r>
                    </a:p>
                  </a:txBody>
                  <a:tcPr>
                    <a:solidFill>
                      <a:srgbClr val="F6F8FB"/>
                    </a:solidFill>
                  </a:tcPr>
                </a:tc>
              </a:tr>
              <a:tr h="322652">
                <a:tc>
                  <a:txBody>
                    <a:bodyPr wrap="square" lIns="36576" rIns="36576" tIns="18288" bIns="18288"/>
                    <a:lstStyle/>
                    <a:p>
                      <a:r>
                        <a:rPr sz="720" b="1">
                          <a:solidFill>
                            <a:srgbClr val="21242A"/>
                          </a:solidFill>
                          <a:latin typeface="Microsoft YaHei"/>
                        </a:rPr>
                        <a:t>4. 2年总生存期(OS)</a:t>
                      </a:r>
                    </a:p>
                  </a:txBody>
                  <a:tcPr>
                    <a:solidFill>
                      <a:srgbClr val="FFFFFF"/>
                    </a:solidFill>
                  </a:tcPr>
                </a:tc>
                <a:tc>
                  <a:txBody>
                    <a:bodyPr wrap="square" lIns="36576" rIns="36576" tIns="18288" bIns="18288"/>
                    <a:lstStyle/>
                    <a:p>
                      <a:r>
                        <a:rPr sz="720" b="0">
                          <a:solidFill>
                            <a:srgbClr val="21242A"/>
                          </a:solidFill>
                          <a:latin typeface="Microsoft YaHei"/>
                        </a:rPr>
                        <a:t>71.1%</a:t>
                      </a:r>
                    </a:p>
                  </a:txBody>
                  <a:tcPr>
                    <a:solidFill>
                      <a:srgbClr val="FFFFFF"/>
                    </a:solidFill>
                  </a:tcPr>
                </a:tc>
              </a:tr>
              <a:tr h="322652">
                <a:tc>
                  <a:txBody>
                    <a:bodyPr wrap="square" lIns="36576" rIns="36576" tIns="18288" bIns="18288"/>
                    <a:lstStyle/>
                    <a:p>
                      <a:r>
                        <a:rPr sz="720" b="1">
                          <a:solidFill>
                            <a:srgbClr val="21242A"/>
                          </a:solidFill>
                          <a:latin typeface="Microsoft YaHei"/>
                        </a:rPr>
                        <a:t>5. 中位随访时间</a:t>
                      </a:r>
                    </a:p>
                  </a:txBody>
                  <a:tcPr>
                    <a:solidFill>
                      <a:srgbClr val="F6F8FB"/>
                    </a:solidFill>
                  </a:tcPr>
                </a:tc>
                <a:tc>
                  <a:txBody>
                    <a:bodyPr wrap="square" lIns="36576" rIns="36576" tIns="18288" bIns="18288"/>
                    <a:lstStyle/>
                    <a:p>
                      <a:r>
                        <a:rPr sz="720" b="0">
                          <a:solidFill>
                            <a:srgbClr val="21242A"/>
                          </a:solidFill>
                          <a:latin typeface="Microsoft YaHei"/>
                        </a:rPr>
                        <a:t>21.8个月</a:t>
                      </a:r>
                    </a:p>
                  </a:txBody>
                  <a:tcPr>
                    <a:solidFill>
                      <a:srgbClr val="F6F8FB"/>
                    </a:solidFill>
                  </a:tcPr>
                </a:tc>
              </a:tr>
              <a:tr h="322656">
                <a:tc>
                  <a:txBody>
                    <a:bodyPr wrap="square" lIns="36576" rIns="36576" tIns="18288" bIns="18288"/>
                    <a:lstStyle/>
                    <a:p>
                      <a:r>
                        <a:rPr sz="720" b="1">
                          <a:solidFill>
                            <a:srgbClr val="21242A"/>
                          </a:solidFill>
                          <a:latin typeface="Microsoft YaHei"/>
                        </a:rPr>
                        <a:t>6. 安全性</a:t>
                      </a:r>
                    </a:p>
                  </a:txBody>
                  <a:tcPr>
                    <a:solidFill>
                      <a:srgbClr val="FFFFFF"/>
                    </a:solidFill>
                  </a:tcPr>
                </a:tc>
                <a:tc>
                  <a:txBody>
                    <a:bodyPr wrap="square" lIns="36576" rIns="36576" tIns="18288" bIns="18288"/>
                    <a:lstStyle/>
                    <a:p>
                      <a:r>
                        <a:rPr sz="720" b="0">
                          <a:solidFill>
                            <a:srgbClr val="21242A"/>
                          </a:solidFill>
                          <a:latin typeface="Microsoft YaHei"/>
                        </a:rPr>
                        <a:t>未出现新的CRS或ICANS</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摘要号：PF969</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先前的治疗方案对阿昔布他加烯-西洛卢塞或利沙他加烯maraleucel car t细胞治疗后进展风险和失败后总生存率的...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prior lines of therapy on progression risk and post-failure overall...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N=627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Lisocabtagene maraleucel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6个月进展累积发生率：2L组38%，3L组40%，4L+组47%</a:t>
            </a:r>
          </a:p>
          <a:p>
            <a:pPr>
              <a:lnSpc>
                <a:spcPct val="103000"/>
              </a:lnSpc>
              <a:spcAft>
                <a:spcPts val="300"/>
              </a:spcAft>
              <a:defRPr sz="800">
                <a:solidFill>
                  <a:srgbClr val="21242A"/>
                </a:solidFill>
                <a:latin typeface="Microsoft YaHei"/>
              </a:defRPr>
            </a:pPr>
            <a:r>
              <a:t>1年进展后总生存率：2L组35%，3L组36%，4L+组26%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人数：627</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试验药/方案：阿基仑赛、Lisocabtagene maraleucel</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先前的治疗方案对阿昔布他加烯-西洛卢塞或利沙他加烯maraleucel car t细胞治疗后进展风险和失败后总生存率的...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prior lines of therapy on progression risk and post-failure overall...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EHA原文结果（中文字段未通过数字核对）（1/2）</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Of 627 pts, 221 (35%) received CAR T-cells in the 2L, 282 (45%) in 3 rd (3L), and 124 (20%) in 4 th or later </a:t>
            </a:r>
          </a:p>
          <a:p>
            <a:pPr>
              <a:lnSpc>
                <a:spcPct val="103000"/>
              </a:lnSpc>
              <a:spcAft>
                <a:spcPts val="300"/>
              </a:spcAft>
              <a:defRPr sz="819">
                <a:solidFill>
                  <a:srgbClr val="21242A"/>
                </a:solidFill>
                <a:latin typeface="Microsoft YaHei"/>
              </a:defRPr>
            </a:pPr>
            <a:r>
              <a:t>line (4L+).</a:t>
            </a:r>
          </a:p>
          <a:p>
            <a:pPr>
              <a:lnSpc>
                <a:spcPct val="103000"/>
              </a:lnSpc>
              <a:spcAft>
                <a:spcPts val="300"/>
              </a:spcAft>
              <a:defRPr sz="819">
                <a:solidFill>
                  <a:srgbClr val="21242A"/>
                </a:solidFill>
                <a:latin typeface="Microsoft YaHei"/>
              </a:defRPr>
            </a:pPr>
            <a:r>
              <a:t>Patient characteristics differed significantly across groups for the following factors: 1) High-grade B-cell lymphomas</a:t>
            </a:r>
          </a:p>
          <a:p>
            <a:pPr>
              <a:lnSpc>
                <a:spcPct val="103000"/>
              </a:lnSpc>
              <a:spcAft>
                <a:spcPts val="300"/>
              </a:spcAft>
              <a:defRPr sz="819">
                <a:solidFill>
                  <a:srgbClr val="21242A"/>
                </a:solidFill>
                <a:latin typeface="Microsoft YaHei"/>
              </a:defRPr>
            </a:pPr>
            <a:r>
              <a:t> were more common in 4L+ and 3L than in 2L (20% vs 17% vs 9%, p Summary/Conclusion: Despite limitations inherent to ou</a:t>
            </a:r>
          </a:p>
          <a:p>
            <a:pPr>
              <a:lnSpc>
                <a:spcPct val="103000"/>
              </a:lnSpc>
              <a:spcAft>
                <a:spcPts val="300"/>
              </a:spcAft>
              <a:defRPr sz="819">
                <a:solidFill>
                  <a:srgbClr val="21242A"/>
                </a:solidFill>
                <a:latin typeface="Microsoft YaHei"/>
              </a:defRPr>
            </a:pPr>
            <a:r>
              <a:t>r population and the high number of primary refractory pts treated in 2L, this study showed that the probability of PD</a:t>
            </a:r>
          </a:p>
          <a:p>
            <a:pPr>
              <a:lnSpc>
                <a:spcPct val="103000"/>
              </a:lnSpc>
              <a:spcAft>
                <a:spcPts val="300"/>
              </a:spcAft>
              <a:defRPr sz="819">
                <a:solidFill>
                  <a:srgbClr val="21242A"/>
                </a:solidFill>
                <a:latin typeface="Microsoft YaHei"/>
              </a:defRPr>
            </a:pPr>
            <a:r>
              <a:t> within 6 months following CAR T-cells was 20% lower in 2L+ than in 4L+.</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摘要号：PF966</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先前的治疗方案对阿昔布他加烯-西洛卢塞或利沙他加烯maraleucel car t细胞治疗后进展风险和失败后总生存率的...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prior lines of therapy on progression risk and post-failure overall...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EHA原文结果（中文字段未通过数字核对）（2/2）</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Despite a significant increase in bispecific therapy after 2L CAR T-cells failure, 1-year OS2 remained poor, underscor</a:t>
            </a:r>
          </a:p>
          <a:p>
            <a:pPr>
              <a:lnSpc>
                <a:spcPct val="103000"/>
              </a:lnSpc>
              <a:spcAft>
                <a:spcPts val="300"/>
              </a:spcAft>
              <a:defRPr sz="819">
                <a:solidFill>
                  <a:srgbClr val="21242A"/>
                </a:solidFill>
                <a:latin typeface="Microsoft YaHei"/>
              </a:defRPr>
            </a:pPr>
            <a:r>
              <a:t>ing a critical unmet clinical need.</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glofitamab单药治疗完全缓解的复发/难治性大b细胞淋巴瘤患者的五年随访</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five-year follow-up of patients with relapsed/refractory large b-cell lymphom...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N=107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中位完全缓解持续时间（DOCR）：60.0个月（95% CI: 24.9–NE）</a:t>
            </a:r>
          </a:p>
          <a:p>
            <a:pPr>
              <a:lnSpc>
                <a:spcPct val="103000"/>
              </a:lnSpc>
              <a:spcAft>
                <a:spcPts val="300"/>
              </a:spcAft>
              <a:defRPr sz="800">
                <a:solidFill>
                  <a:srgbClr val="21242A"/>
                </a:solidFill>
                <a:latin typeface="Microsoft YaHei"/>
              </a:defRPr>
            </a:pPr>
            <a:r>
              <a:t>中位无进展生存期（PFS）：61.4个月（95% CI: 26.3–NE）</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人数：107</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登记号：NCT03075696</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glofitamab单药治疗完全缓解的复发/难治性大b细胞淋巴瘤患者的五年随访</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five-year follow-up of patients with relapsed/refractory large b-cell lymphom...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中位完全缓解持续时间（DOCR）</a:t>
                      </a:r>
                    </a:p>
                  </a:txBody>
                  <a:tcPr>
                    <a:solidFill>
                      <a:srgbClr val="F6F8FB"/>
                    </a:solidFill>
                  </a:tcPr>
                </a:tc>
                <a:tc>
                  <a:txBody>
                    <a:bodyPr wrap="square" lIns="36576" rIns="36576" tIns="18288" bIns="18288"/>
                    <a:lstStyle/>
                    <a:p>
                      <a:r>
                        <a:rPr sz="720" b="0">
                          <a:solidFill>
                            <a:srgbClr val="21242A"/>
                          </a:solidFill>
                          <a:latin typeface="Microsoft YaHei"/>
                        </a:rPr>
                        <a:t>60.0个月（95% CI: 24.9–NE）</a:t>
                      </a:r>
                    </a:p>
                  </a:txBody>
                  <a:tcPr>
                    <a:solidFill>
                      <a:srgbClr val="F6F8FB"/>
                    </a:solidFill>
                  </a:tcPr>
                </a:tc>
              </a:tr>
              <a:tr h="282321">
                <a:tc>
                  <a:txBody>
                    <a:bodyPr wrap="square" lIns="36576" rIns="36576" tIns="18288" bIns="18288"/>
                    <a:lstStyle/>
                    <a:p>
                      <a:r>
                        <a:rPr sz="720" b="1">
                          <a:solidFill>
                            <a:srgbClr val="21242A"/>
                          </a:solidFill>
                          <a:latin typeface="Microsoft YaHei"/>
                        </a:rPr>
                        <a:t>中位无进展生存期（PFS）</a:t>
                      </a:r>
                    </a:p>
                  </a:txBody>
                  <a:tcPr>
                    <a:solidFill>
                      <a:srgbClr val="FFFFFF"/>
                    </a:solidFill>
                  </a:tcPr>
                </a:tc>
                <a:tc>
                  <a:txBody>
                    <a:bodyPr wrap="square" lIns="36576" rIns="36576" tIns="18288" bIns="18288"/>
                    <a:lstStyle/>
                    <a:p>
                      <a:r>
                        <a:rPr sz="720" b="0">
                          <a:solidFill>
                            <a:srgbClr val="21242A"/>
                          </a:solidFill>
                          <a:latin typeface="Microsoft YaHei"/>
                        </a:rPr>
                        <a:t>61.4个月（95% CI: 26.3–NE）</a:t>
                      </a:r>
                    </a:p>
                  </a:txBody>
                  <a:tcPr>
                    <a:solidFill>
                      <a:srgbClr val="FFFFFF"/>
                    </a:solidFill>
                  </a:tcPr>
                </a:tc>
              </a:tr>
              <a:tr h="282321">
                <a:tc>
                  <a:txBody>
                    <a:bodyPr wrap="square" lIns="36576" rIns="36576" tIns="18288" bIns="18288"/>
                    <a:lstStyle/>
                    <a:p>
                      <a:r>
                        <a:rPr sz="720" b="1">
                          <a:solidFill>
                            <a:srgbClr val="21242A"/>
                          </a:solidFill>
                          <a:latin typeface="Microsoft YaHei"/>
                        </a:rPr>
                        <a:t>5年PFS率</a:t>
                      </a:r>
                    </a:p>
                  </a:txBody>
                  <a:tcPr>
                    <a:solidFill>
                      <a:srgbClr val="F6F8FB"/>
                    </a:solidFill>
                  </a:tcPr>
                </a:tc>
                <a:tc>
                  <a:txBody>
                    <a:bodyPr wrap="square" lIns="36576" rIns="36576" tIns="18288" bIns="18288"/>
                    <a:lstStyle/>
                    <a:p>
                      <a:r>
                        <a:rPr sz="720" b="0">
                          <a:solidFill>
                            <a:srgbClr val="21242A"/>
                          </a:solidFill>
                          <a:latin typeface="Microsoft YaHei"/>
                        </a:rPr>
                        <a:t>51.5%（95% CI: 41.2–61.8）</a:t>
                      </a:r>
                    </a:p>
                  </a:txBody>
                  <a:tcPr>
                    <a:solidFill>
                      <a:srgbClr val="F6F8FB"/>
                    </a:solidFill>
                  </a:tcPr>
                </a:tc>
              </a:tr>
              <a:tr h="282321">
                <a:tc>
                  <a:txBody>
                    <a:bodyPr wrap="square" lIns="36576" rIns="36576" tIns="18288" bIns="18288"/>
                    <a:lstStyle/>
                    <a:p>
                      <a:r>
                        <a:rPr sz="720" b="1">
                          <a:solidFill>
                            <a:srgbClr val="21242A"/>
                          </a:solidFill>
                          <a:latin typeface="Microsoft YaHei"/>
                        </a:rPr>
                        <a:t>中位总生存期（OS）</a:t>
                      </a:r>
                    </a:p>
                  </a:txBody>
                  <a:tcPr>
                    <a:solidFill>
                      <a:srgbClr val="FFFFFF"/>
                    </a:solidFill>
                  </a:tcPr>
                </a:tc>
                <a:tc>
                  <a:txBody>
                    <a:bodyPr wrap="square" lIns="36576" rIns="36576" tIns="18288" bIns="18288"/>
                    <a:lstStyle/>
                    <a:p>
                      <a:r>
                        <a:rPr sz="720" b="0">
                          <a:solidFill>
                            <a:srgbClr val="21242A"/>
                          </a:solidFill>
                          <a:latin typeface="Microsoft YaHei"/>
                        </a:rPr>
                        <a:t>未达到（95% CI: NE）</a:t>
                      </a:r>
                    </a:p>
                  </a:txBody>
                  <a:tcPr>
                    <a:solidFill>
                      <a:srgbClr val="FFFFFF"/>
                    </a:solidFill>
                  </a:tcPr>
                </a:tc>
              </a:tr>
              <a:tr h="282321">
                <a:tc>
                  <a:txBody>
                    <a:bodyPr wrap="square" lIns="36576" rIns="36576" tIns="18288" bIns="18288"/>
                    <a:lstStyle/>
                    <a:p>
                      <a:r>
                        <a:rPr sz="720" b="1">
                          <a:solidFill>
                            <a:srgbClr val="21242A"/>
                          </a:solidFill>
                          <a:latin typeface="Microsoft YaHei"/>
                        </a:rPr>
                        <a:t>5年OS率</a:t>
                      </a:r>
                    </a:p>
                  </a:txBody>
                  <a:tcPr>
                    <a:solidFill>
                      <a:srgbClr val="F6F8FB"/>
                    </a:solidFill>
                  </a:tcPr>
                </a:tc>
                <a:tc>
                  <a:txBody>
                    <a:bodyPr wrap="square" lIns="36576" rIns="36576" tIns="18288" bIns="18288"/>
                    <a:lstStyle/>
                    <a:p>
                      <a:r>
                        <a:rPr sz="720" b="0">
                          <a:solidFill>
                            <a:srgbClr val="21242A"/>
                          </a:solidFill>
                          <a:latin typeface="Microsoft YaHei"/>
                        </a:rPr>
                        <a:t>67.5%（95% CI: 57.8–77.1）</a:t>
                      </a:r>
                    </a:p>
                  </a:txBody>
                  <a:tcPr>
                    <a:solidFill>
                      <a:srgbClr val="F6F8FB"/>
                    </a:solidFill>
                  </a:tcPr>
                </a:tc>
              </a:tr>
              <a:tr h="282321">
                <a:tc>
                  <a:txBody>
                    <a:bodyPr wrap="square" lIns="36576" rIns="36576" tIns="18288" bIns="18288"/>
                    <a:lstStyle/>
                    <a:p>
                      <a:r>
                        <a:rPr sz="720" b="1">
                          <a:solidFill>
                            <a:srgbClr val="21242A"/>
                          </a:solidFill>
                          <a:latin typeface="Microsoft YaHei"/>
                        </a:rPr>
                        <a:t>5年疾病特异性生存率</a:t>
                      </a:r>
                    </a:p>
                  </a:txBody>
                  <a:tcPr>
                    <a:solidFill>
                      <a:srgbClr val="FFFFFF"/>
                    </a:solidFill>
                  </a:tcPr>
                </a:tc>
                <a:tc>
                  <a:txBody>
                    <a:bodyPr wrap="square" lIns="36576" rIns="36576" tIns="18288" bIns="18288"/>
                    <a:lstStyle/>
                    <a:p>
                      <a:r>
                        <a:rPr sz="720" b="0">
                          <a:solidFill>
                            <a:srgbClr val="21242A"/>
                          </a:solidFill>
                          <a:latin typeface="Microsoft YaHei"/>
                        </a:rPr>
                        <a:t>86.0%（95% CI: 78.6–93.4）</a:t>
                      </a:r>
                    </a:p>
                  </a:txBody>
                  <a:tcPr>
                    <a:solidFill>
                      <a:srgbClr val="FFFFFF"/>
                    </a:solidFill>
                  </a:tcPr>
                </a:tc>
              </a:tr>
              <a:tr h="282321">
                <a:tc>
                  <a:txBody>
                    <a:bodyPr wrap="square" lIns="36576" rIns="36576" tIns="18288" bIns="18288"/>
                    <a:lstStyle/>
                    <a:p>
                      <a:r>
                        <a:rPr sz="720" b="1">
                          <a:solidFill>
                            <a:srgbClr val="21242A"/>
                          </a:solidFill>
                          <a:latin typeface="Microsoft YaHei"/>
                        </a:rPr>
                        <a:t>≥3级不良事件发生率</a:t>
                      </a:r>
                    </a:p>
                  </a:txBody>
                  <a:tcPr>
                    <a:solidFill>
                      <a:srgbClr val="F6F8FB"/>
                    </a:solidFill>
                  </a:tcPr>
                </a:tc>
                <a:tc>
                  <a:txBody>
                    <a:bodyPr wrap="square" lIns="36576" rIns="36576" tIns="18288" bIns="18288"/>
                    <a:lstStyle/>
                    <a:p>
                      <a:r>
                        <a:rPr sz="720" b="0">
                          <a:solidFill>
                            <a:srgbClr val="21242A"/>
                          </a:solidFill>
                          <a:latin typeface="Microsoft YaHei"/>
                        </a:rPr>
                        <a:t>63.6%（最常见为中性粒细胞减少37.4%）</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摘要号：PF963</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glofitamab单药治疗完全缓解的复发/难治性大b细胞淋巴瘤患者的五年随访</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five-year follow-up of patients with relapsed/refractory large b-cell lymphom...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1792224">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1792224">
                <a:tc>
                  <a:txBody>
                    <a:bodyPr wrap="square" lIns="36576" rIns="36576" tIns="18288" bIns="18288"/>
                    <a:lstStyle/>
                    <a:p>
                      <a:r>
                        <a:rPr sz="720" b="1">
                          <a:solidFill>
                            <a:srgbClr val="21242A"/>
                          </a:solidFill>
                          <a:latin typeface="Microsoft YaHei"/>
                        </a:rPr>
                        <a:t>5级不良事件发生率</a:t>
                      </a:r>
                    </a:p>
                  </a:txBody>
                  <a:tcPr>
                    <a:solidFill>
                      <a:srgbClr val="F6F8FB"/>
                    </a:solidFill>
                  </a:tcPr>
                </a:tc>
                <a:tc>
                  <a:txBody>
                    <a:bodyPr wrap="square" lIns="36576" rIns="36576" tIns="18288" bIns="18288"/>
                    <a:lstStyle/>
                    <a:p>
                      <a:r>
                        <a:rPr sz="720" b="0">
                          <a:solidFill>
                            <a:srgbClr val="21242A"/>
                          </a:solidFill>
                          <a:latin typeface="Microsoft YaHei"/>
                        </a:rPr>
                        <a:t>3.7%（急性髓系白血病2例，复发性胰腺癌1例，COVID-19 1例；均判断与研究药物无关）</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复发/难治性dlbcl中epcoritamab家庭护理途径与常规epcoritamad和glofitamab医院护理方...</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epcoritamab home-based care pathways in relapsed/refractory dlbcl versus conv...</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PF1410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治疗线数/场景：三线，末线</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分组：护理路径1：Epcoritamab在医院护理中心给药</a:t>
            </a:r>
          </a:p>
          <a:p>
            <a:pPr>
              <a:lnSpc>
                <a:spcPct val="103000"/>
              </a:lnSpc>
              <a:spcAft>
                <a:spcPts val="300"/>
              </a:spcAft>
              <a:defRPr sz="800">
                <a:solidFill>
                  <a:srgbClr val="21242A"/>
                </a:solidFill>
                <a:latin typeface="Microsoft YaHei"/>
              </a:defRPr>
            </a:pPr>
            <a:r>
              <a:t>护理路径2：Epcoritamab从第2周期开始家庭住院给药</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多组/多方案比较：护理路径1：Epcoritamab在医院护理中心给药</a:t>
            </a:r>
          </a:p>
          <a:p>
            <a:pPr>
              <a:lnSpc>
                <a:spcPct val="103000"/>
              </a:lnSpc>
              <a:spcAft>
                <a:spcPts val="300"/>
              </a:spcAft>
              <a:defRPr sz="800">
                <a:solidFill>
                  <a:srgbClr val="21242A"/>
                </a:solidFill>
                <a:latin typeface="Microsoft YaHei"/>
              </a:defRPr>
            </a:pPr>
            <a:r>
              <a:t>护理路径2：Epcoritamab从第2周期开始家庭住院给药</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Epcoritamab医院护理路径总成本：12,922€</a:t>
            </a:r>
          </a:p>
          <a:p>
            <a:pPr>
              <a:lnSpc>
                <a:spcPct val="103000"/>
              </a:lnSpc>
              <a:spcAft>
                <a:spcPts val="300"/>
              </a:spcAft>
              <a:defRPr sz="800">
                <a:solidFill>
                  <a:srgbClr val="21242A"/>
                </a:solidFill>
                <a:latin typeface="Microsoft YaHei"/>
              </a:defRPr>
            </a:pPr>
            <a:r>
              <a:t>Epcoritamab从第2周期家庭住院路径总成本：10,145€（节省21.5%）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研究类型：卫生经济学分析</a:t>
            </a:r>
          </a:p>
          <a:p>
            <a:pPr>
              <a:lnSpc>
                <a:spcPct val="103000"/>
              </a:lnSpc>
              <a:spcAft>
                <a:spcPts val="300"/>
              </a:spcAft>
              <a:defRPr sz="810">
                <a:solidFill>
                  <a:srgbClr val="21242A"/>
                </a:solidFill>
                <a:latin typeface="Microsoft YaHei"/>
              </a:defRPr>
            </a:pPr>
            <a:r>
              <a:t>人数：未提取</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登记号：NCT03625037</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分组/治疗流程：护理路径1：Epcoritamab在医院护理中心给药、护理路径2：Epcoritamab从第2周期开始家庭住院给药、护理路径3：Epcoritamab从第1周期开始家庭住...</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复发/难治性dlbcl中epcoritamab家庭护理途径与常规epcoritamad和glofitamab医院护理方...</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epcoritamab home-based care pathways in relapsed/refractory dlbcl versus conv...</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PF1410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Epcoritamab医院护理路径总成本</a:t>
                      </a:r>
                    </a:p>
                  </a:txBody>
                  <a:tcPr>
                    <a:solidFill>
                      <a:srgbClr val="F6F8FB"/>
                    </a:solidFill>
                  </a:tcPr>
                </a:tc>
                <a:tc>
                  <a:txBody>
                    <a:bodyPr wrap="square" lIns="36576" rIns="36576" tIns="18288" bIns="18288"/>
                    <a:lstStyle/>
                    <a:p>
                      <a:r>
                        <a:rPr sz="720" b="0">
                          <a:solidFill>
                            <a:srgbClr val="21242A"/>
                          </a:solidFill>
                          <a:latin typeface="Microsoft YaHei"/>
                        </a:rPr>
                        <a:t>12,922€</a:t>
                      </a:r>
                    </a:p>
                  </a:txBody>
                  <a:tcPr>
                    <a:solidFill>
                      <a:srgbClr val="F6F8FB"/>
                    </a:solidFill>
                  </a:tcPr>
                </a:tc>
              </a:tr>
              <a:tr h="376428">
                <a:tc>
                  <a:txBody>
                    <a:bodyPr wrap="square" lIns="36576" rIns="36576" tIns="18288" bIns="18288"/>
                    <a:lstStyle/>
                    <a:p>
                      <a:r>
                        <a:rPr sz="720" b="1">
                          <a:solidFill>
                            <a:srgbClr val="21242A"/>
                          </a:solidFill>
                          <a:latin typeface="Microsoft YaHei"/>
                        </a:rPr>
                        <a:t>Epcoritamab从第2周期家庭住院路径总成本</a:t>
                      </a:r>
                    </a:p>
                  </a:txBody>
                  <a:tcPr>
                    <a:solidFill>
                      <a:srgbClr val="FFFFFF"/>
                    </a:solidFill>
                  </a:tcPr>
                </a:tc>
                <a:tc>
                  <a:txBody>
                    <a:bodyPr wrap="square" lIns="36576" rIns="36576" tIns="18288" bIns="18288"/>
                    <a:lstStyle/>
                    <a:p>
                      <a:r>
                        <a:rPr sz="720" b="0">
                          <a:solidFill>
                            <a:srgbClr val="21242A"/>
                          </a:solidFill>
                          <a:latin typeface="Microsoft YaHei"/>
                        </a:rPr>
                        <a:t>10,145€（节省21.5%）</a:t>
                      </a:r>
                    </a:p>
                  </a:txBody>
                  <a:tcPr>
                    <a:solidFill>
                      <a:srgbClr val="FFFFFF"/>
                    </a:solidFill>
                  </a:tcPr>
                </a:tc>
              </a:tr>
              <a:tr h="376428">
                <a:tc>
                  <a:txBody>
                    <a:bodyPr wrap="square" lIns="36576" rIns="36576" tIns="18288" bIns="18288"/>
                    <a:lstStyle/>
                    <a:p>
                      <a:r>
                        <a:rPr sz="720" b="1">
                          <a:solidFill>
                            <a:srgbClr val="21242A"/>
                          </a:solidFill>
                          <a:latin typeface="Microsoft YaHei"/>
                        </a:rPr>
                        <a:t>Epcoritamab从第1周期家庭住院路径总成本</a:t>
                      </a:r>
                    </a:p>
                  </a:txBody>
                  <a:tcPr>
                    <a:solidFill>
                      <a:srgbClr val="F6F8FB"/>
                    </a:solidFill>
                  </a:tcPr>
                </a:tc>
                <a:tc>
                  <a:txBody>
                    <a:bodyPr wrap="square" lIns="36576" rIns="36576" tIns="18288" bIns="18288"/>
                    <a:lstStyle/>
                    <a:p>
                      <a:r>
                        <a:rPr sz="720" b="0">
                          <a:solidFill>
                            <a:srgbClr val="21242A"/>
                          </a:solidFill>
                          <a:latin typeface="Microsoft YaHei"/>
                        </a:rPr>
                        <a:t>7,858€（节省39.1%）</a:t>
                      </a:r>
                    </a:p>
                  </a:txBody>
                  <a:tcPr>
                    <a:solidFill>
                      <a:srgbClr val="F6F8FB"/>
                    </a:solidFill>
                  </a:tcPr>
                </a:tc>
              </a:tr>
              <a:tr h="376428">
                <a:tc>
                  <a:txBody>
                    <a:bodyPr wrap="square" lIns="36576" rIns="36576" tIns="18288" bIns="18288"/>
                    <a:lstStyle/>
                    <a:p>
                      <a:r>
                        <a:rPr sz="720" b="1">
                          <a:solidFill>
                            <a:srgbClr val="21242A"/>
                          </a:solidFill>
                          <a:latin typeface="Microsoft YaHei"/>
                        </a:rPr>
                        <a:t>Glofitamab医院护理路径总成本</a:t>
                      </a:r>
                    </a:p>
                  </a:txBody>
                  <a:tcPr>
                    <a:solidFill>
                      <a:srgbClr val="FFFFFF"/>
                    </a:solidFill>
                  </a:tcPr>
                </a:tc>
                <a:tc>
                  <a:txBody>
                    <a:bodyPr wrap="square" lIns="36576" rIns="36576" tIns="18288" bIns="18288"/>
                    <a:lstStyle/>
                    <a:p>
                      <a:r>
                        <a:rPr sz="720" b="0">
                          <a:solidFill>
                            <a:srgbClr val="21242A"/>
                          </a:solidFill>
                          <a:latin typeface="Microsoft YaHei"/>
                        </a:rPr>
                        <a:t>7,268€</a:t>
                      </a:r>
                    </a:p>
                  </a:txBody>
                  <a:tcPr>
                    <a:solidFill>
                      <a:srgbClr val="FFFFFF"/>
                    </a:solidFill>
                  </a:tcPr>
                </a:tc>
              </a:tr>
              <a:tr h="37642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对于管理50名患者的医院，逐步转为第1周期家庭住院五年累计节省约673,000€</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摘要号：PF1410</a:t>
            </a:r>
          </a:p>
          <a:p>
            <a:pPr>
              <a:lnSpc>
                <a:spcPct val="103000"/>
              </a:lnSpc>
              <a:spcAft>
                <a:spcPts val="300"/>
              </a:spcAft>
              <a:defRPr sz="740">
                <a:solidFill>
                  <a:srgbClr val="5E6570"/>
                </a:solidFill>
                <a:latin typeface="Microsoft YaHei"/>
              </a:defRPr>
            </a:pPr>
            <a:r>
              <a:t>会议栏目：37. Health economics</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超分割放疗作为一种桥接策略，减轻t细胞耗竭，增强cd19car-t在复发/难治性弥漫性大b细胞淋巴瘤中的疗效</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hyper-fractionated radiotherapy as a bridging strategy attenuates t-cell exha...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PF1240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试验药/方案：CD19靶向CAR-T(北京大学人民医院)</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1个月CR率：64%（16/25）</a:t>
            </a:r>
          </a:p>
          <a:p>
            <a:pPr>
              <a:lnSpc>
                <a:spcPct val="103000"/>
              </a:lnSpc>
              <a:spcAft>
                <a:spcPts val="300"/>
              </a:spcAft>
              <a:defRPr sz="800">
                <a:solidFill>
                  <a:srgbClr val="21242A"/>
                </a:solidFill>
                <a:latin typeface="Microsoft YaHei"/>
              </a:defRPr>
            </a:pPr>
            <a:r>
              <a:t>6个月CR率：76%（19/25）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人数：25</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登记号：NCT05514327</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试验药/方案：CD19靶向CAR-T(北京大学人民医院)</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药物/技术类别：CAR-T、经基因修饰</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超分割放疗作为一种桥接策略，减轻t细胞耗竭，增强cd19car-t在复发/难治性弥漫性大b细胞淋巴瘤中的疗效</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hyper-fractionated radiotherapy as a bridging strategy attenuates t-cell exha...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PF1240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1个月CR率</a:t>
                      </a:r>
                    </a:p>
                  </a:txBody>
                  <a:tcPr>
                    <a:solidFill>
                      <a:srgbClr val="F6F8FB"/>
                    </a:solidFill>
                  </a:tcPr>
                </a:tc>
                <a:tc>
                  <a:txBody>
                    <a:bodyPr wrap="square" lIns="36576" rIns="36576" tIns="18288" bIns="18288"/>
                    <a:lstStyle/>
                    <a:p>
                      <a:r>
                        <a:rPr sz="720" b="0">
                          <a:solidFill>
                            <a:srgbClr val="21242A"/>
                          </a:solidFill>
                          <a:latin typeface="Microsoft YaHei"/>
                        </a:rPr>
                        <a:t>64%（16/25）</a:t>
                      </a:r>
                    </a:p>
                  </a:txBody>
                  <a:tcPr>
                    <a:solidFill>
                      <a:srgbClr val="F6F8FB"/>
                    </a:solidFill>
                  </a:tcPr>
                </a:tc>
              </a:tr>
              <a:tr h="282321">
                <a:tc>
                  <a:txBody>
                    <a:bodyPr wrap="square" lIns="36576" rIns="36576" tIns="18288" bIns="18288"/>
                    <a:lstStyle/>
                    <a:p>
                      <a:r>
                        <a:rPr sz="720" b="1">
                          <a:solidFill>
                            <a:srgbClr val="21242A"/>
                          </a:solidFill>
                          <a:latin typeface="Microsoft YaHei"/>
                        </a:rPr>
                        <a:t>6个月CR率</a:t>
                      </a:r>
                    </a:p>
                  </a:txBody>
                  <a:tcPr>
                    <a:solidFill>
                      <a:srgbClr val="FFFFFF"/>
                    </a:solidFill>
                  </a:tcPr>
                </a:tc>
                <a:tc>
                  <a:txBody>
                    <a:bodyPr wrap="square" lIns="36576" rIns="36576" tIns="18288" bIns="18288"/>
                    <a:lstStyle/>
                    <a:p>
                      <a:r>
                        <a:rPr sz="720" b="0">
                          <a:solidFill>
                            <a:srgbClr val="21242A"/>
                          </a:solidFill>
                          <a:latin typeface="Microsoft YaHei"/>
                        </a:rPr>
                        <a:t>76%（19/25）</a:t>
                      </a:r>
                    </a:p>
                  </a:txBody>
                  <a:tcPr>
                    <a:solidFill>
                      <a:srgbClr val="FFFFFF"/>
                    </a:solidFill>
                  </a:tcPr>
                </a:tc>
              </a:tr>
              <a:tr h="282321">
                <a:tc>
                  <a:txBody>
                    <a:bodyPr wrap="square" lIns="36576" rIns="36576" tIns="18288" bIns="18288"/>
                    <a:lstStyle/>
                    <a:p>
                      <a:r>
                        <a:rPr sz="720" b="1">
                          <a:solidFill>
                            <a:srgbClr val="21242A"/>
                          </a:solidFill>
                          <a:latin typeface="Microsoft YaHei"/>
                        </a:rPr>
                        <a:t>2年PFS率</a:t>
                      </a:r>
                    </a:p>
                  </a:txBody>
                  <a:tcPr>
                    <a:solidFill>
                      <a:srgbClr val="F6F8FB"/>
                    </a:solidFill>
                  </a:tcPr>
                </a:tc>
                <a:tc>
                  <a:txBody>
                    <a:bodyPr wrap="square" lIns="36576" rIns="36576" tIns="18288" bIns="18288"/>
                    <a:lstStyle/>
                    <a:p>
                      <a:r>
                        <a:rPr sz="720" b="0">
                          <a:solidFill>
                            <a:srgbClr val="21242A"/>
                          </a:solidFill>
                          <a:latin typeface="Microsoft YaHei"/>
                        </a:rPr>
                        <a:t>63.3%</a:t>
                      </a:r>
                    </a:p>
                  </a:txBody>
                  <a:tcPr>
                    <a:solidFill>
                      <a:srgbClr val="F6F8FB"/>
                    </a:solidFill>
                  </a:tcPr>
                </a:tc>
              </a:tr>
              <a:tr h="282321">
                <a:tc>
                  <a:txBody>
                    <a:bodyPr wrap="square" lIns="36576" rIns="36576" tIns="18288" bIns="18288"/>
                    <a:lstStyle/>
                    <a:p>
                      <a:r>
                        <a:rPr sz="720" b="1">
                          <a:solidFill>
                            <a:srgbClr val="21242A"/>
                          </a:solidFill>
                          <a:latin typeface="Microsoft YaHei"/>
                        </a:rPr>
                        <a:t>2年OS率</a:t>
                      </a:r>
                    </a:p>
                  </a:txBody>
                  <a:tcPr>
                    <a:solidFill>
                      <a:srgbClr val="FFFFFF"/>
                    </a:solidFill>
                  </a:tcPr>
                </a:tc>
                <a:tc>
                  <a:txBody>
                    <a:bodyPr wrap="square" lIns="36576" rIns="36576" tIns="18288" bIns="18288"/>
                    <a:lstStyle/>
                    <a:p>
                      <a:r>
                        <a:rPr sz="720" b="0">
                          <a:solidFill>
                            <a:srgbClr val="21242A"/>
                          </a:solidFill>
                          <a:latin typeface="Microsoft YaHei"/>
                        </a:rPr>
                        <a:t>75%</a:t>
                      </a:r>
                    </a:p>
                  </a:txBody>
                  <a:tcPr>
                    <a:solidFill>
                      <a:srgbClr val="FFFFFF"/>
                    </a:solidFill>
                  </a:tcPr>
                </a:tc>
              </a:tr>
              <a:tr h="282321">
                <a:tc>
                  <a:txBody>
                    <a:bodyPr wrap="square" lIns="36576" rIns="36576" tIns="18288" bIns="18288"/>
                    <a:lstStyle/>
                    <a:p>
                      <a:r>
                        <a:rPr sz="720" b="1">
                          <a:solidFill>
                            <a:srgbClr val="21242A"/>
                          </a:solidFill>
                          <a:latin typeface="Microsoft YaHei"/>
                        </a:rPr>
                        <a:t>CRS</a:t>
                      </a:r>
                    </a:p>
                  </a:txBody>
                  <a:tcPr>
                    <a:solidFill>
                      <a:srgbClr val="F6F8FB"/>
                    </a:solidFill>
                  </a:tcPr>
                </a:tc>
                <a:tc>
                  <a:txBody>
                    <a:bodyPr wrap="square" lIns="36576" rIns="36576" tIns="18288" bIns="18288"/>
                    <a:lstStyle/>
                    <a:p>
                      <a:r>
                        <a:rPr sz="720" b="0">
                          <a:solidFill>
                            <a:srgbClr val="21242A"/>
                          </a:solidFill>
                          <a:latin typeface="Microsoft YaHei"/>
                        </a:rPr>
                        <a:t>44% 1级，24% 2级，16% 3级</a:t>
                      </a:r>
                    </a:p>
                  </a:txBody>
                  <a:tcPr>
                    <a:solidFill>
                      <a:srgbClr val="F6F8FB"/>
                    </a:solidFill>
                  </a:tcPr>
                </a:tc>
              </a:tr>
              <a:tr h="282321">
                <a:tc>
                  <a:txBody>
                    <a:bodyPr wrap="square" lIns="36576" rIns="36576" tIns="18288" bIns="18288"/>
                    <a:lstStyle/>
                    <a:p>
                      <a:r>
                        <a:rPr sz="720" b="1">
                          <a:solidFill>
                            <a:srgbClr val="21242A"/>
                          </a:solidFill>
                          <a:latin typeface="Microsoft YaHei"/>
                        </a:rPr>
                        <a:t>ICANS</a:t>
                      </a:r>
                    </a:p>
                  </a:txBody>
                  <a:tcPr>
                    <a:solidFill>
                      <a:srgbClr val="FFFFFF"/>
                    </a:solidFill>
                  </a:tcPr>
                </a:tc>
                <a:tc>
                  <a:txBody>
                    <a:bodyPr wrap="square" lIns="36576" rIns="36576" tIns="18288" bIns="18288"/>
                    <a:lstStyle/>
                    <a:p>
                      <a:r>
                        <a:rPr sz="720" b="0">
                          <a:solidFill>
                            <a:srgbClr val="21242A"/>
                          </a:solidFill>
                          <a:latin typeface="Microsoft YaHei"/>
                        </a:rPr>
                        <a:t>20%发生率（8% 1级，8% 3级，4% 4级）</a:t>
                      </a:r>
                    </a:p>
                  </a:txBody>
                  <a:tcPr>
                    <a:solidFill>
                      <a:srgbClr val="FFFFFF"/>
                    </a:solidFill>
                  </a:tcPr>
                </a:tc>
              </a:tr>
              <a:tr h="282321">
                <a:tc>
                  <a:txBody>
                    <a:bodyPr wrap="square" lIns="36576" rIns="36576" tIns="18288" bIns="18288"/>
                    <a:lstStyle/>
                    <a:p>
                      <a:r>
                        <a:rPr sz="720" b="1">
                          <a:solidFill>
                            <a:srgbClr val="21242A"/>
                          </a:solidFill>
                          <a:latin typeface="Microsoft YaHei"/>
                        </a:rPr>
                        <a:t>3-4级粒细胞减少</a:t>
                      </a:r>
                    </a:p>
                  </a:txBody>
                  <a:tcPr>
                    <a:solidFill>
                      <a:srgbClr val="F6F8FB"/>
                    </a:solidFill>
                  </a:tcPr>
                </a:tc>
                <a:tc>
                  <a:txBody>
                    <a:bodyPr wrap="square" lIns="36576" rIns="36576" tIns="18288" bIns="18288"/>
                    <a:lstStyle/>
                    <a:p>
                      <a:r>
                        <a:rPr sz="720" b="0">
                          <a:solidFill>
                            <a:srgbClr val="21242A"/>
                          </a:solidFill>
                          <a:latin typeface="Microsoft YaHei"/>
                        </a:rPr>
                        <a:t>88%，中位持续时间5.5天</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摘要号：PF1240</a:t>
            </a:r>
          </a:p>
          <a:p>
            <a:pPr>
              <a:lnSpc>
                <a:spcPct val="103000"/>
              </a:lnSpc>
              <a:spcAft>
                <a:spcPts val="300"/>
              </a:spcAft>
              <a:defRPr sz="740">
                <a:solidFill>
                  <a:srgbClr val="5E6570"/>
                </a:solidFill>
                <a:latin typeface="Microsoft YaHei"/>
              </a:defRPr>
            </a:pPr>
            <a:r>
              <a:t>会议栏目：26. Gene therapy, cellular immunotherapy and vaccination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意大利现实生活中使用loncastuximab tesirine治疗大b细胞淋巴瘤的经验</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large b-cell lymphoma treatment with loncastuximab tesirine in an italian rea...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N=37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试验药/方案：泰朗妥昔单抗</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完全缓解率：32.4%</a:t>
            </a:r>
          </a:p>
          <a:p>
            <a:pPr>
              <a:lnSpc>
                <a:spcPct val="103000"/>
              </a:lnSpc>
              <a:spcAft>
                <a:spcPts val="300"/>
              </a:spcAft>
              <a:defRPr sz="800">
                <a:solidFill>
                  <a:srgbClr val="21242A"/>
                </a:solidFill>
                <a:latin typeface="Microsoft YaHei"/>
              </a:defRPr>
            </a:pPr>
            <a:r>
              <a:t>部分缓解率：10.8%</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人数：37</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试验药/方案：泰朗妥昔单抗</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药物/技术类别：缬氨酸-丙氨酸 VA、PBD二聚体：SG3199、抗体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意大利现实生活中使用loncastuximab tesirine治疗大b细胞淋巴瘤的经验</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large b-cell lymphoma treatment with loncastuximab tesirine in an italian rea...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完全缓解率</a:t>
                      </a:r>
                    </a:p>
                  </a:txBody>
                  <a:tcPr>
                    <a:solidFill>
                      <a:srgbClr val="F6F8FB"/>
                    </a:solidFill>
                  </a:tcPr>
                </a:tc>
                <a:tc>
                  <a:txBody>
                    <a:bodyPr wrap="square" lIns="36576" rIns="36576" tIns="18288" bIns="18288"/>
                    <a:lstStyle/>
                    <a:p>
                      <a:r>
                        <a:rPr sz="720" b="0">
                          <a:solidFill>
                            <a:srgbClr val="21242A"/>
                          </a:solidFill>
                          <a:latin typeface="Microsoft YaHei"/>
                        </a:rPr>
                        <a:t>32.4%</a:t>
                      </a:r>
                    </a:p>
                  </a:txBody>
                  <a:tcPr>
                    <a:solidFill>
                      <a:srgbClr val="F6F8FB"/>
                    </a:solidFill>
                  </a:tcPr>
                </a:tc>
              </a:tr>
              <a:tr h="282321">
                <a:tc>
                  <a:txBody>
                    <a:bodyPr wrap="square" lIns="36576" rIns="36576" tIns="18288" bIns="18288"/>
                    <a:lstStyle/>
                    <a:p>
                      <a:r>
                        <a:rPr sz="720" b="1">
                          <a:solidFill>
                            <a:srgbClr val="21242A"/>
                          </a:solidFill>
                          <a:latin typeface="Microsoft YaHei"/>
                        </a:rPr>
                        <a:t>部分缓解率</a:t>
                      </a:r>
                    </a:p>
                  </a:txBody>
                  <a:tcPr>
                    <a:solidFill>
                      <a:srgbClr val="FFFFFF"/>
                    </a:solidFill>
                  </a:tcPr>
                </a:tc>
                <a:tc>
                  <a:txBody>
                    <a:bodyPr wrap="square" lIns="36576" rIns="36576" tIns="18288" bIns="18288"/>
                    <a:lstStyle/>
                    <a:p>
                      <a:r>
                        <a:rPr sz="720" b="0">
                          <a:solidFill>
                            <a:srgbClr val="21242A"/>
                          </a:solidFill>
                          <a:latin typeface="Microsoft YaHei"/>
                        </a:rPr>
                        <a:t>10.8%</a:t>
                      </a:r>
                    </a:p>
                  </a:txBody>
                  <a:tcPr>
                    <a:solidFill>
                      <a:srgbClr val="FFFFFF"/>
                    </a:solidFill>
                  </a:tcPr>
                </a:tc>
              </a:tr>
              <a:tr h="282321">
                <a:tc>
                  <a:txBody>
                    <a:bodyPr wrap="square" lIns="36576" rIns="36576" tIns="18288" bIns="18288"/>
                    <a:lstStyle/>
                    <a:p>
                      <a:r>
                        <a:rPr sz="720" b="1">
                          <a:solidFill>
                            <a:srgbClr val="21242A"/>
                          </a:solidFill>
                          <a:latin typeface="Microsoft YaHei"/>
                        </a:rPr>
                        <a:t>中位至缓解时间</a:t>
                      </a:r>
                    </a:p>
                  </a:txBody>
                  <a:tcPr>
                    <a:solidFill>
                      <a:srgbClr val="F6F8FB"/>
                    </a:solidFill>
                  </a:tcPr>
                </a:tc>
                <a:tc>
                  <a:txBody>
                    <a:bodyPr wrap="square" lIns="36576" rIns="36576" tIns="18288" bIns="18288"/>
                    <a:lstStyle/>
                    <a:p>
                      <a:r>
                        <a:rPr sz="720" b="0">
                          <a:solidFill>
                            <a:srgbClr val="21242A"/>
                          </a:solidFill>
                          <a:latin typeface="Microsoft YaHei"/>
                        </a:rPr>
                        <a:t>3.3个月</a:t>
                      </a:r>
                    </a:p>
                  </a:txBody>
                  <a:tcPr>
                    <a:solidFill>
                      <a:srgbClr val="F6F8FB"/>
                    </a:solidFill>
                  </a:tcPr>
                </a:tc>
              </a:tr>
              <a:tr h="282321">
                <a:tc>
                  <a:txBody>
                    <a:bodyPr wrap="square" lIns="36576" rIns="36576" tIns="18288" bIns="18288"/>
                    <a:lstStyle/>
                    <a:p>
                      <a:r>
                        <a:rPr sz="720" b="1">
                          <a:solidFill>
                            <a:srgbClr val="21242A"/>
                          </a:solidFill>
                          <a:latin typeface="Microsoft YaHei"/>
                        </a:rPr>
                        <a:t>中位无进展生存期</a:t>
                      </a:r>
                    </a:p>
                  </a:txBody>
                  <a:tcPr>
                    <a:solidFill>
                      <a:srgbClr val="FFFFFF"/>
                    </a:solidFill>
                  </a:tcPr>
                </a:tc>
                <a:tc>
                  <a:txBody>
                    <a:bodyPr wrap="square" lIns="36576" rIns="36576" tIns="18288" bIns="18288"/>
                    <a:lstStyle/>
                    <a:p>
                      <a:r>
                        <a:rPr sz="720" b="0">
                          <a:solidFill>
                            <a:srgbClr val="21242A"/>
                          </a:solidFill>
                          <a:latin typeface="Microsoft YaHei"/>
                        </a:rPr>
                        <a:t>2.7个月</a:t>
                      </a:r>
                    </a:p>
                  </a:txBody>
                  <a:tcPr>
                    <a:solidFill>
                      <a:srgbClr val="FFFFFF"/>
                    </a:solidFill>
                  </a:tcPr>
                </a:tc>
              </a:tr>
              <a:tr h="282321">
                <a:tc>
                  <a:txBody>
                    <a:bodyPr wrap="square" lIns="36576" rIns="36576" tIns="18288" bIns="18288"/>
                    <a:lstStyle/>
                    <a:p>
                      <a:r>
                        <a:rPr sz="720" b="1">
                          <a:solidFill>
                            <a:srgbClr val="21242A"/>
                          </a:solidFill>
                          <a:latin typeface="Microsoft YaHei"/>
                        </a:rPr>
                        <a:t>中位总生存期</a:t>
                      </a:r>
                    </a:p>
                  </a:txBody>
                  <a:tcPr>
                    <a:solidFill>
                      <a:srgbClr val="F6F8FB"/>
                    </a:solidFill>
                  </a:tcPr>
                </a:tc>
                <a:tc>
                  <a:txBody>
                    <a:bodyPr wrap="square" lIns="36576" rIns="36576" tIns="18288" bIns="18288"/>
                    <a:lstStyle/>
                    <a:p>
                      <a:r>
                        <a:rPr sz="720" b="0">
                          <a:solidFill>
                            <a:srgbClr val="21242A"/>
                          </a:solidFill>
                          <a:latin typeface="Microsoft YaHei"/>
                        </a:rPr>
                        <a:t>5.5个月</a:t>
                      </a:r>
                    </a:p>
                  </a:txBody>
                  <a:tcPr>
                    <a:solidFill>
                      <a:srgbClr val="F6F8FB"/>
                    </a:solidFill>
                  </a:tcPr>
                </a:tc>
              </a:tr>
              <a:tr h="282321">
                <a:tc>
                  <a:txBody>
                    <a:bodyPr wrap="square" lIns="36576" rIns="36576" tIns="18288" bIns="18288"/>
                    <a:lstStyle/>
                    <a:p>
                      <a:r>
                        <a:rPr sz="720" b="1">
                          <a:solidFill>
                            <a:srgbClr val="21242A"/>
                          </a:solidFill>
                          <a:latin typeface="Microsoft YaHei"/>
                        </a:rPr>
                        <a:t>中位完全缓解持续时间</a:t>
                      </a:r>
                    </a:p>
                  </a:txBody>
                  <a:tcPr>
                    <a:solidFill>
                      <a:srgbClr val="FFFFFF"/>
                    </a:solidFill>
                  </a:tcPr>
                </a:tc>
                <a:tc>
                  <a:txBody>
                    <a:bodyPr wrap="square" lIns="36576" rIns="36576" tIns="18288" bIns="18288"/>
                    <a:lstStyle/>
                    <a:p>
                      <a:r>
                        <a:rPr sz="720" b="0">
                          <a:solidFill>
                            <a:srgbClr val="21242A"/>
                          </a:solidFill>
                          <a:latin typeface="Microsoft YaHei"/>
                        </a:rPr>
                        <a:t>5.4个月</a:t>
                      </a:r>
                    </a:p>
                  </a:txBody>
                  <a:tcPr>
                    <a:solidFill>
                      <a:srgbClr val="FFFFFF"/>
                    </a:solidFill>
                  </a:tcPr>
                </a:tc>
              </a:tr>
              <a:tr h="282321">
                <a:tc>
                  <a:txBody>
                    <a:bodyPr wrap="square" lIns="36576" rIns="36576" tIns="18288" bIns="18288"/>
                    <a:lstStyle/>
                    <a:p>
                      <a:r>
                        <a:rPr sz="720" b="1">
                          <a:solidFill>
                            <a:srgbClr val="21242A"/>
                          </a:solidFill>
                          <a:latin typeface="Microsoft YaHei"/>
                        </a:rPr>
                        <a:t>疾病进展率</a:t>
                      </a:r>
                    </a:p>
                  </a:txBody>
                  <a:tcPr>
                    <a:solidFill>
                      <a:srgbClr val="F6F8FB"/>
                    </a:solidFill>
                  </a:tcPr>
                </a:tc>
                <a:tc>
                  <a:txBody>
                    <a:bodyPr wrap="square" lIns="36576" rIns="36576" tIns="18288" bIns="18288"/>
                    <a:lstStyle/>
                    <a:p>
                      <a:r>
                        <a:rPr sz="720" b="0">
                          <a:solidFill>
                            <a:srgbClr val="21242A"/>
                          </a:solidFill>
                          <a:latin typeface="Microsoft YaHei"/>
                        </a:rPr>
                        <a:t>51.4%</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摘要号：PF1024</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意大利现实生活中使用loncastuximab tesirine治疗大b细胞淋巴瘤的经验</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large b-cell lymphoma treatment with loncastuximab tesirine in an italian rea...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716889">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716889">
                <a:tc>
                  <a:txBody>
                    <a:bodyPr wrap="square" lIns="36576" rIns="36576" tIns="18288" bIns="18288"/>
                    <a:lstStyle/>
                    <a:p>
                      <a:r>
                        <a:rPr sz="720" b="1">
                          <a:solidFill>
                            <a:srgbClr val="21242A"/>
                          </a:solidFill>
                          <a:latin typeface="Microsoft YaHei"/>
                        </a:rPr>
                        <a:t>稳定疾病率</a:t>
                      </a:r>
                    </a:p>
                  </a:txBody>
                  <a:tcPr>
                    <a:solidFill>
                      <a:srgbClr val="F6F8FB"/>
                    </a:solidFill>
                  </a:tcPr>
                </a:tc>
                <a:tc>
                  <a:txBody>
                    <a:bodyPr wrap="square" lIns="36576" rIns="36576" tIns="18288" bIns="18288"/>
                    <a:lstStyle/>
                    <a:p>
                      <a:r>
                        <a:rPr sz="720" b="0">
                          <a:solidFill>
                            <a:srgbClr val="21242A"/>
                          </a:solidFill>
                          <a:latin typeface="Microsoft YaHei"/>
                        </a:rPr>
                        <a:t>5.4%</a:t>
                      </a:r>
                    </a:p>
                  </a:txBody>
                  <a:tcPr>
                    <a:solidFill>
                      <a:srgbClr val="F6F8FB"/>
                    </a:solidFill>
                  </a:tcPr>
                </a:tc>
              </a:tr>
              <a:tr h="716889">
                <a:tc>
                  <a:txBody>
                    <a:bodyPr wrap="square" lIns="36576" rIns="36576" tIns="18288" bIns="18288"/>
                    <a:lstStyle/>
                    <a:p>
                      <a:r>
                        <a:rPr sz="720" b="1">
                          <a:solidFill>
                            <a:srgbClr val="21242A"/>
                          </a:solidFill>
                          <a:latin typeface="Microsoft YaHei"/>
                        </a:rPr>
                        <a:t>血液学不良事件</a:t>
                      </a:r>
                    </a:p>
                  </a:txBody>
                  <a:tcPr>
                    <a:solidFill>
                      <a:srgbClr val="FFFFFF"/>
                    </a:solidFill>
                  </a:tcPr>
                </a:tc>
                <a:tc>
                  <a:txBody>
                    <a:bodyPr wrap="square" lIns="36576" rIns="36576" tIns="18288" bIns="18288"/>
                    <a:lstStyle/>
                    <a:p>
                      <a:r>
                        <a:rPr sz="720" b="0">
                          <a:solidFill>
                            <a:srgbClr val="21242A"/>
                          </a:solidFill>
                          <a:latin typeface="Microsoft YaHei"/>
                        </a:rPr>
                        <a:t>7例患者共17起，包括3级贫血3例，3级中性粒细胞减少1例，3级血小板减少3例，4级中性粒细胞减少1例，4级血小板减少3例</a:t>
                      </a:r>
                    </a:p>
                  </a:txBody>
                  <a:tcPr>
                    <a:solidFill>
                      <a:srgbClr val="FFFFFF"/>
                    </a:solidFill>
                  </a:tcPr>
                </a:tc>
              </a:tr>
              <a:tr h="716889">
                <a:tc>
                  <a:txBody>
                    <a:bodyPr wrap="square" lIns="36576" rIns="36576" tIns="18288" bIns="18288"/>
                    <a:lstStyle/>
                    <a:p>
                      <a:r>
                        <a:rPr sz="720" b="1">
                          <a:solidFill>
                            <a:srgbClr val="21242A"/>
                          </a:solidFill>
                          <a:latin typeface="Microsoft YaHei"/>
                        </a:rPr>
                        <a:t>非血液学不良事件</a:t>
                      </a:r>
                    </a:p>
                  </a:txBody>
                  <a:tcPr>
                    <a:solidFill>
                      <a:srgbClr val="F6F8FB"/>
                    </a:solidFill>
                  </a:tcPr>
                </a:tc>
                <a:tc>
                  <a:txBody>
                    <a:bodyPr wrap="square" lIns="36576" rIns="36576" tIns="18288" bIns="18288"/>
                    <a:lstStyle/>
                    <a:p>
                      <a:r>
                        <a:rPr sz="720" b="0">
                          <a:solidFill>
                            <a:srgbClr val="21242A"/>
                          </a:solidFill>
                          <a:latin typeface="Microsoft YaHei"/>
                        </a:rPr>
                        <a:t>19例患者共25起，其中13起考虑与药物相关（发生在11例患者），4起≥3级（3例患者）：3级皮肤毒性1例，3级水肿1例，3级感染2例</a:t>
                      </a:r>
                    </a:p>
                  </a:txBody>
                  <a:tcPr>
                    <a:solidFill>
                      <a:srgbClr val="F6F8FB"/>
                    </a:solidFill>
                  </a:tcPr>
                </a:tc>
              </a:tr>
              <a:tr h="716892">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无治疗相关死亡</a:t>
                      </a:r>
                    </a:p>
                  </a:txBody>
                  <a:tcPr>
                    <a:solidFill>
                      <a:srgbClr val="FFFFFF"/>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鞘内注射联合静脉注射car-t细胞治疗中枢神经系统b细胞恶性肿瘤的安全性和有效性初步研究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preliminary study on the safety and efficacy of intrathecal combined with 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PF780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B细胞急性淋巴细胞白血病，多发性骨髓瘤，弥漫性大B细胞淋巴瘤</a:t>
            </a:r>
          </a:p>
          <a:p>
            <a:pPr>
              <a:lnSpc>
                <a:spcPct val="103000"/>
              </a:lnSpc>
              <a:spcAft>
                <a:spcPts val="300"/>
              </a:spcAft>
              <a:defRPr sz="800">
                <a:solidFill>
                  <a:srgbClr val="21242A"/>
                </a:solidFill>
                <a:latin typeface="Microsoft YaHei"/>
              </a:defRPr>
            </a:pPr>
            <a:r>
              <a:t>N=8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试验药/方案：CAR-T(达博生物)</a:t>
            </a:r>
          </a:p>
          <a:p>
            <a:pPr>
              <a:lnSpc>
                <a:spcPct val="103000"/>
              </a:lnSpc>
              <a:spcAft>
                <a:spcPts val="300"/>
              </a:spcAft>
              <a:defRPr sz="800">
                <a:solidFill>
                  <a:srgbClr val="21242A"/>
                </a:solidFill>
                <a:latin typeface="Microsoft YaHei"/>
              </a:defRPr>
            </a:pPr>
            <a:r>
              <a:t>类别：CAR-T，经基因修饰</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总体客观缓解率（ORR）为100%</a:t>
            </a:r>
          </a:p>
          <a:p>
            <a:pPr>
              <a:lnSpc>
                <a:spcPct val="103000"/>
              </a:lnSpc>
              <a:spcAft>
                <a:spcPts val="300"/>
              </a:spcAft>
              <a:defRPr sz="800">
                <a:solidFill>
                  <a:srgbClr val="21242A"/>
                </a:solidFill>
                <a:latin typeface="Microsoft YaHei"/>
              </a:defRPr>
            </a:pPr>
            <a:r>
              <a:t>完全缓解（CR）5例</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人数：8</a:t>
            </a:r>
          </a:p>
          <a:p>
            <a:pPr>
              <a:lnSpc>
                <a:spcPct val="103000"/>
              </a:lnSpc>
              <a:spcAft>
                <a:spcPts val="300"/>
              </a:spcAft>
              <a:defRPr sz="810">
                <a:solidFill>
                  <a:srgbClr val="21242A"/>
                </a:solidFill>
                <a:latin typeface="Microsoft YaHei"/>
              </a:defRPr>
            </a:pPr>
            <a:r>
              <a:t>适应症：B细胞急性淋巴细胞白血病、多发性骨髓瘤、弥漫性大B细胞淋巴瘤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试验药/方案：CAR-T(达博生物)</a:t>
            </a:r>
          </a:p>
          <a:p>
            <a:pPr>
              <a:lnSpc>
                <a:spcPct val="103000"/>
              </a:lnSpc>
              <a:spcAft>
                <a:spcPts val="300"/>
              </a:spcAft>
              <a:defRPr sz="810">
                <a:solidFill>
                  <a:srgbClr val="21242A"/>
                </a:solidFill>
                <a:latin typeface="Microsoft YaHei"/>
              </a:defRPr>
            </a:pPr>
            <a:r>
              <a:t>药物/技术类别：CAR-T、经基因修饰</a:t>
            </a:r>
          </a:p>
          <a:p>
            <a:pPr>
              <a:lnSpc>
                <a:spcPct val="103000"/>
              </a:lnSpc>
              <a:spcAft>
                <a:spcPts val="300"/>
              </a:spcAft>
              <a:defRPr sz="810">
                <a:solidFill>
                  <a:srgbClr val="21242A"/>
                </a:solidFill>
                <a:latin typeface="Microsoft YaHei"/>
              </a:defRPr>
            </a:pPr>
            <a:r>
              <a:t>分组/治疗流程：所有患者接受鞘内联合静脉CAR-T治疗</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鞘内注射联合静脉注射car-t细胞治疗中枢神经系统b细胞恶性肿瘤的安全性和有效性初步研究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preliminary study on the safety and efficacy of intrathecal combined with 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PF780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总体客观缓解率（ORR）为100%</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完全缓解（CR）5例</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非常好的部分缓解（VGPR）1例</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部分缓解（PR）2例</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中位随访4个月，50%复发</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细胞因子释放综合征（CRS）发生率100%（62.5% 1-2级，37.5% 3级）</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ICANS（1-2级）发生率50%</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摘要号：PF780</a:t>
            </a:r>
          </a:p>
          <a:p>
            <a:pPr>
              <a:lnSpc>
                <a:spcPct val="103000"/>
              </a:lnSpc>
              <a:spcAft>
                <a:spcPts val="300"/>
              </a:spcAft>
              <a:defRPr sz="740">
                <a:solidFill>
                  <a:srgbClr val="5E6570"/>
                </a:solidFill>
                <a:latin typeface="Microsoft YaHei"/>
              </a:defRPr>
            </a:pPr>
            <a:r>
              <a:t>会议栏目：14. Myeloma and other monoclonal gammopathies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鞘内注射联合静脉注射car-t细胞治疗中枢神经系统b细胞恶性肿瘤的安全性和有效性初步研究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preliminary study on the safety and efficacy of intrathecal combined with 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PF780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1194816">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1194816">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感染发生率12.5%</a:t>
                      </a:r>
                    </a:p>
                  </a:txBody>
                  <a:tcPr>
                    <a:solidFill>
                      <a:srgbClr val="F6F8FB"/>
                    </a:solidFill>
                  </a:tcPr>
                </a:tc>
              </a:tr>
              <a:tr h="1194816">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无≥3级严重不良事件或治疗相关死亡</a:t>
                      </a:r>
                    </a:p>
                  </a:txBody>
                  <a:tcPr>
                    <a:solidFill>
                      <a:srgbClr val="FFFFFF"/>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glofitamab联合吉西他滨和奥沙利铂（gemox）治疗复发/难治性（r/r）弥漫性大b细胞淋巴瘤（dlbcl）的...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outpatient treatment with glofitamab plus gemcitabine and oxaliplatin (gemox)...</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CRS发生率：44%（Grade1 32%，Grade2 12%，无Grade≥3）</a:t>
            </a:r>
          </a:p>
          <a:p>
            <a:pPr>
              <a:lnSpc>
                <a:spcPct val="103000"/>
              </a:lnSpc>
              <a:spcAft>
                <a:spcPts val="300"/>
              </a:spcAft>
              <a:defRPr sz="800">
                <a:solidFill>
                  <a:srgbClr val="21242A"/>
                </a:solidFill>
                <a:latin typeface="Microsoft YaHei"/>
              </a:defRPr>
            </a:pPr>
            <a:r>
              <a:t>严重CRS事件：16%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人数：25</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登记号：NCT06806033</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glofitamab联合吉西他滨和奥沙利铂（gemox）治疗复发/难治性（r/r）弥漫性大b细胞淋巴瘤（dlbcl）的...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outpatient treatment with glofitamab plus gemcitabine and oxaliplatin (gemox)...</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CRS发生率</a:t>
                      </a:r>
                    </a:p>
                  </a:txBody>
                  <a:tcPr>
                    <a:solidFill>
                      <a:srgbClr val="F6F8FB"/>
                    </a:solidFill>
                  </a:tcPr>
                </a:tc>
                <a:tc>
                  <a:txBody>
                    <a:bodyPr wrap="square" lIns="36576" rIns="36576" tIns="18288" bIns="18288"/>
                    <a:lstStyle/>
                    <a:p>
                      <a:r>
                        <a:rPr sz="720" b="0">
                          <a:solidFill>
                            <a:srgbClr val="21242A"/>
                          </a:solidFill>
                          <a:latin typeface="Microsoft YaHei"/>
                        </a:rPr>
                        <a:t>44%（Grade1 32%，Grade2 12%，无Grade≥3）</a:t>
                      </a:r>
                    </a:p>
                  </a:txBody>
                  <a:tcPr>
                    <a:solidFill>
                      <a:srgbClr val="F6F8FB"/>
                    </a:solidFill>
                  </a:tcPr>
                </a:tc>
              </a:tr>
              <a:tr h="282321">
                <a:tc>
                  <a:txBody>
                    <a:bodyPr wrap="square" lIns="36576" rIns="36576" tIns="18288" bIns="18288"/>
                    <a:lstStyle/>
                    <a:p>
                      <a:r>
                        <a:rPr sz="720" b="1">
                          <a:solidFill>
                            <a:srgbClr val="21242A"/>
                          </a:solidFill>
                          <a:latin typeface="Microsoft YaHei"/>
                        </a:rPr>
                        <a:t>严重CRS事件</a:t>
                      </a:r>
                    </a:p>
                  </a:txBody>
                  <a:tcPr>
                    <a:solidFill>
                      <a:srgbClr val="FFFFFF"/>
                    </a:solidFill>
                  </a:tcPr>
                </a:tc>
                <a:tc>
                  <a:txBody>
                    <a:bodyPr wrap="square" lIns="36576" rIns="36576" tIns="18288" bIns="18288"/>
                    <a:lstStyle/>
                    <a:p>
                      <a:r>
                        <a:rPr sz="720" b="0">
                          <a:solidFill>
                            <a:srgbClr val="21242A"/>
                          </a:solidFill>
                          <a:latin typeface="Microsoft YaHei"/>
                        </a:rPr>
                        <a:t>16%</a:t>
                      </a:r>
                    </a:p>
                  </a:txBody>
                  <a:tcPr>
                    <a:solidFill>
                      <a:srgbClr val="FFFFFF"/>
                    </a:solidFill>
                  </a:tcPr>
                </a:tc>
              </a:tr>
              <a:tr h="282321">
                <a:tc>
                  <a:txBody>
                    <a:bodyPr wrap="square" lIns="36576" rIns="36576" tIns="18288" bIns="18288"/>
                    <a:lstStyle/>
                    <a:p>
                      <a:r>
                        <a:rPr sz="720" b="1">
                          <a:solidFill>
                            <a:srgbClr val="21242A"/>
                          </a:solidFill>
                          <a:latin typeface="Microsoft YaHei"/>
                        </a:rPr>
                        <a:t>CRS缓解中位时间</a:t>
                      </a:r>
                    </a:p>
                  </a:txBody>
                  <a:tcPr>
                    <a:solidFill>
                      <a:srgbClr val="F6F8FB"/>
                    </a:solidFill>
                  </a:tcPr>
                </a:tc>
                <a:tc>
                  <a:txBody>
                    <a:bodyPr wrap="square" lIns="36576" rIns="36576" tIns="18288" bIns="18288"/>
                    <a:lstStyle/>
                    <a:p>
                      <a:r>
                        <a:rPr sz="720" b="0">
                          <a:solidFill>
                            <a:srgbClr val="21242A"/>
                          </a:solidFill>
                          <a:latin typeface="Microsoft YaHei"/>
                        </a:rPr>
                        <a:t>2天</a:t>
                      </a:r>
                    </a:p>
                  </a:txBody>
                  <a:tcPr>
                    <a:solidFill>
                      <a:srgbClr val="F6F8FB"/>
                    </a:solidFill>
                  </a:tcPr>
                </a:tc>
              </a:tr>
              <a:tr h="282321">
                <a:tc>
                  <a:txBody>
                    <a:bodyPr wrap="square" lIns="36576" rIns="36576" tIns="18288" bIns="18288"/>
                    <a:lstStyle/>
                    <a:p>
                      <a:r>
                        <a:rPr sz="720" b="1">
                          <a:solidFill>
                            <a:srgbClr val="21242A"/>
                          </a:solidFill>
                          <a:latin typeface="Microsoft YaHei"/>
                        </a:rPr>
                        <a:t>CRS导致治疗终止</a:t>
                      </a:r>
                    </a:p>
                  </a:txBody>
                  <a:tcPr>
                    <a:solidFill>
                      <a:srgbClr val="FFFFFF"/>
                    </a:solidFill>
                  </a:tcPr>
                </a:tc>
                <a:tc>
                  <a:txBody>
                    <a:bodyPr wrap="square" lIns="36576" rIns="36576" tIns="18288" bIns="18288"/>
                    <a:lstStyle/>
                    <a:p>
                      <a:r>
                        <a:rPr sz="720" b="0">
                          <a:solidFill>
                            <a:srgbClr val="21242A"/>
                          </a:solidFill>
                          <a:latin typeface="Microsoft YaHei"/>
                        </a:rPr>
                        <a:t>0</a:t>
                      </a:r>
                    </a:p>
                  </a:txBody>
                  <a:tcPr>
                    <a:solidFill>
                      <a:srgbClr val="FFFFFF"/>
                    </a:solidFill>
                  </a:tcPr>
                </a:tc>
              </a:tr>
              <a:tr h="282321">
                <a:tc>
                  <a:txBody>
                    <a:bodyPr wrap="square" lIns="36576" rIns="36576" tIns="18288" bIns="18288"/>
                    <a:lstStyle/>
                    <a:p>
                      <a:r>
                        <a:rPr sz="720" b="1">
                          <a:solidFill>
                            <a:srgbClr val="21242A"/>
                          </a:solidFill>
                          <a:latin typeface="Microsoft YaHei"/>
                        </a:rPr>
                        <a:t>最常见的3/4级AE</a:t>
                      </a:r>
                    </a:p>
                  </a:txBody>
                  <a:tcPr>
                    <a:solidFill>
                      <a:srgbClr val="F6F8FB"/>
                    </a:solidFill>
                  </a:tcPr>
                </a:tc>
                <a:tc>
                  <a:txBody>
                    <a:bodyPr wrap="square" lIns="36576" rIns="36576" tIns="18288" bIns="18288"/>
                    <a:lstStyle/>
                    <a:p>
                      <a:r>
                        <a:rPr sz="720" b="0">
                          <a:solidFill>
                            <a:srgbClr val="21242A"/>
                          </a:solidFill>
                          <a:latin typeface="Microsoft YaHei"/>
                        </a:rPr>
                        <a:t>贫血24%，中性粒细胞减少20%，发热性中性粒细胞减少12%，血小板减少12%</a:t>
                      </a:r>
                    </a:p>
                  </a:txBody>
                  <a:tcPr>
                    <a:solidFill>
                      <a:srgbClr val="F6F8FB"/>
                    </a:solidFill>
                  </a:tcPr>
                </a:tc>
              </a:tr>
              <a:tr h="282321">
                <a:tc>
                  <a:txBody>
                    <a:bodyPr wrap="square" lIns="36576" rIns="36576" tIns="18288" bIns="18288"/>
                    <a:lstStyle/>
                    <a:p>
                      <a:r>
                        <a:rPr sz="720" b="1">
                          <a:solidFill>
                            <a:srgbClr val="21242A"/>
                          </a:solidFill>
                          <a:latin typeface="Microsoft YaHei"/>
                        </a:rPr>
                        <a:t>感染发生率</a:t>
                      </a:r>
                    </a:p>
                  </a:txBody>
                  <a:tcPr>
                    <a:solidFill>
                      <a:srgbClr val="FFFFFF"/>
                    </a:solidFill>
                  </a:tcPr>
                </a:tc>
                <a:tc>
                  <a:txBody>
                    <a:bodyPr wrap="square" lIns="36576" rIns="36576" tIns="18288" bIns="18288"/>
                    <a:lstStyle/>
                    <a:p>
                      <a:r>
                        <a:rPr sz="720" b="0">
                          <a:solidFill>
                            <a:srgbClr val="21242A"/>
                          </a:solidFill>
                          <a:latin typeface="Microsoft YaHei"/>
                        </a:rPr>
                        <a:t>16%，多数为1/2级</a:t>
                      </a:r>
                    </a:p>
                  </a:txBody>
                  <a:tcPr>
                    <a:solidFill>
                      <a:srgbClr val="FFFFFF"/>
                    </a:solidFill>
                  </a:tcPr>
                </a:tc>
              </a:tr>
              <a:tr h="282321">
                <a:tc>
                  <a:txBody>
                    <a:bodyPr wrap="square" lIns="36576" rIns="36576" tIns="18288" bIns="18288"/>
                    <a:lstStyle/>
                    <a:p>
                      <a:r>
                        <a:rPr sz="720" b="1">
                          <a:solidFill>
                            <a:srgbClr val="21242A"/>
                          </a:solidFill>
                          <a:latin typeface="Microsoft YaHei"/>
                        </a:rPr>
                        <a:t>治疗相关死亡</a:t>
                      </a:r>
                    </a:p>
                  </a:txBody>
                  <a:tcPr>
                    <a:solidFill>
                      <a:srgbClr val="F6F8FB"/>
                    </a:solidFill>
                  </a:tcPr>
                </a:tc>
                <a:tc>
                  <a:txBody>
                    <a:bodyPr wrap="square" lIns="36576" rIns="36576" tIns="18288" bIns="18288"/>
                    <a:lstStyle/>
                    <a:p>
                      <a:r>
                        <a:rPr sz="720" b="0">
                          <a:solidFill>
                            <a:srgbClr val="21242A"/>
                          </a:solidFill>
                          <a:latin typeface="Microsoft YaHei"/>
                        </a:rPr>
                        <a:t>1例（未暴露于glofitamab的COVID-19肺炎）</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摘要号：PF1000</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glofitamab联合吉西他滨和奥沙利铂（gemox）治疗复发/难治性（r/r）弥漫性大b细胞淋巴瘤（dlbcl）的...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outpatient treatment with glofitamab plus gemcitabine and oxaliplatin (gemox)...</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89611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896112">
                <a:tc>
                  <a:txBody>
                    <a:bodyPr wrap="square" lIns="36576" rIns="36576" tIns="18288" bIns="18288"/>
                    <a:lstStyle/>
                    <a:p>
                      <a:r>
                        <a:rPr sz="720" b="1">
                          <a:solidFill>
                            <a:srgbClr val="21242A"/>
                          </a:solidFill>
                          <a:latin typeface="Microsoft YaHei"/>
                        </a:rPr>
                        <a:t>ICANS发生率</a:t>
                      </a:r>
                    </a:p>
                  </a:txBody>
                  <a:tcPr>
                    <a:solidFill>
                      <a:srgbClr val="F6F8FB"/>
                    </a:solidFill>
                  </a:tcPr>
                </a:tc>
                <a:tc>
                  <a:txBody>
                    <a:bodyPr wrap="square" lIns="36576" rIns="36576" tIns="18288" bIns="18288"/>
                    <a:lstStyle/>
                    <a:p>
                      <a:r>
                        <a:rPr sz="720" b="0">
                          <a:solidFill>
                            <a:srgbClr val="21242A"/>
                          </a:solidFill>
                          <a:latin typeface="Microsoft YaHei"/>
                        </a:rPr>
                        <a:t>12%（Grade1、2、3各4%）</a:t>
                      </a:r>
                    </a:p>
                  </a:txBody>
                  <a:tcPr>
                    <a:solidFill>
                      <a:srgbClr val="F6F8FB"/>
                    </a:solidFill>
                  </a:tcPr>
                </a:tc>
              </a:tr>
              <a:tr h="896112">
                <a:tc>
                  <a:txBody>
                    <a:bodyPr wrap="square" lIns="36576" rIns="36576" tIns="18288" bIns="18288"/>
                    <a:lstStyle/>
                    <a:p>
                      <a:r>
                        <a:rPr sz="720" b="1">
                          <a:solidFill>
                            <a:srgbClr val="21242A"/>
                          </a:solidFill>
                          <a:latin typeface="Microsoft YaHei"/>
                        </a:rPr>
                        <a:t>ICANS缓解时间</a:t>
                      </a:r>
                    </a:p>
                  </a:txBody>
                  <a:tcPr>
                    <a:solidFill>
                      <a:srgbClr val="FFFFFF"/>
                    </a:solidFill>
                  </a:tcPr>
                </a:tc>
                <a:tc>
                  <a:txBody>
                    <a:bodyPr wrap="square" lIns="36576" rIns="36576" tIns="18288" bIns="18288"/>
                    <a:lstStyle/>
                    <a:p>
                      <a:r>
                        <a:rPr sz="720" b="0">
                          <a:solidFill>
                            <a:srgbClr val="21242A"/>
                          </a:solidFill>
                          <a:latin typeface="Microsoft YaHei"/>
                        </a:rPr>
                        <a:t>2天</a:t>
                      </a:r>
                    </a:p>
                  </a:txBody>
                  <a:tcPr>
                    <a:solidFill>
                      <a:srgbClr val="FFFFFF"/>
                    </a:solidFill>
                  </a:tcPr>
                </a:tc>
              </a:tr>
              <a:tr h="896112">
                <a:tc>
                  <a:txBody>
                    <a:bodyPr wrap="square" lIns="36576" rIns="36576" tIns="18288" bIns="18288"/>
                    <a:lstStyle/>
                    <a:p>
                      <a:r>
                        <a:rPr sz="720" b="1">
                          <a:solidFill>
                            <a:srgbClr val="21242A"/>
                          </a:solidFill>
                          <a:latin typeface="Microsoft YaHei"/>
                        </a:rPr>
                        <a:t>ICANS导致治疗终止</a:t>
                      </a:r>
                    </a:p>
                  </a:txBody>
                  <a:tcPr>
                    <a:solidFill>
                      <a:srgbClr val="F6F8FB"/>
                    </a:solidFill>
                  </a:tcPr>
                </a:tc>
                <a:tc>
                  <a:txBody>
                    <a:bodyPr wrap="square" lIns="36576" rIns="36576" tIns="18288" bIns="18288"/>
                    <a:lstStyle/>
                    <a:p>
                      <a:r>
                        <a:rPr sz="720" b="0">
                          <a:solidFill>
                            <a:srgbClr val="21242A"/>
                          </a:solidFill>
                          <a:latin typeface="Microsoft YaHei"/>
                        </a:rPr>
                        <a:t>0</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支持抗肿瘤t细胞免疫和cd4的肿瘤微环境原型⁺ 弥漫性大b细胞淋巴瘤中t细胞细胞毒性分化支持对glofitamab的反应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tumour microenvironment archetypes that support anti-tumour t-cell immunity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治疗线数/场景：一线</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应答者肿瘤微环境显示IFNγ和IL-2-STAT5信号最佳</a:t>
            </a:r>
          </a:p>
          <a:p>
            <a:pPr>
              <a:lnSpc>
                <a:spcPct val="103000"/>
              </a:lnSpc>
              <a:spcAft>
                <a:spcPts val="300"/>
              </a:spcAft>
              <a:defRPr sz="800">
                <a:solidFill>
                  <a:srgbClr val="21242A"/>
                </a:solidFill>
                <a:latin typeface="Microsoft YaHei"/>
              </a:defRPr>
            </a:pPr>
            <a:r>
              <a:t>应答者肿瘤微环境富含CD4/CD8 T细胞-肿瘤互作</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人数：未提取</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登记号：NCT04914741</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支持抗肿瘤t细胞免疫和cd4的肿瘤微环境原型⁺ 弥漫性大b细胞淋巴瘤中t细胞细胞毒性分化支持对glofitamab的反应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tumour microenvironment archetypes that support anti-tumour t-cell immunity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1. 应答者肿瘤微环境显示IFNγ和IL-2-STAT5信号最佳；</a:t>
                      </a:r>
                    </a:p>
                  </a:txBody>
                  <a:tcPr>
                    <a:solidFill>
                      <a:srgbClr val="F6F8FB"/>
                    </a:solidFill>
                  </a:tcPr>
                </a:tc>
              </a:tr>
              <a:tr h="376428">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2. 应答者肿瘤微环境富含CD4/CD8 T细胞-肿瘤互作；</a:t>
                      </a:r>
                    </a:p>
                  </a:txBody>
                  <a:tcPr>
                    <a:solidFill>
                      <a:srgbClr val="FFFFFF"/>
                    </a:solidFill>
                  </a:tcPr>
                </a:tc>
              </a:tr>
              <a:tr h="37642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3. T细胞在glofitamab治疗后显著扩增；</a:t>
                      </a:r>
                    </a:p>
                  </a:txBody>
                  <a:tcPr>
                    <a:solidFill>
                      <a:srgbClr val="F6F8FB"/>
                    </a:solidFill>
                  </a:tcPr>
                </a:tc>
              </a:tr>
              <a:tr h="376428">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4. CD4 T细胞获得细胞毒性功能并杀伤肿瘤细胞；</a:t>
                      </a:r>
                    </a:p>
                  </a:txBody>
                  <a:tcPr>
                    <a:solidFill>
                      <a:srgbClr val="FFFFFF"/>
                    </a:solidFill>
                  </a:tcPr>
                </a:tc>
              </a:tr>
              <a:tr h="37642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5. 非应答者基线时MHCII、CD2、ICOS和CD6下调。</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药物/技术：双抗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摘要号：S244</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纵向患者报告结果强调，在一线ii期r-pola-glo试验中治疗的r-chop阴性侵袭性b细胞淋巴瘤患者的生活质量得到...</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longitudinal patient-reported outcomes highlight improved quality of life for...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PS2504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N=80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格菲妥单抗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全球健康状况（QLQ-C30 GHS）：治疗期间改善+10.7分，具有临床意义</a:t>
            </a:r>
          </a:p>
          <a:p>
            <a:pPr>
              <a:lnSpc>
                <a:spcPct val="103000"/>
              </a:lnSpc>
              <a:spcAft>
                <a:spcPts val="300"/>
              </a:spcAft>
              <a:defRPr sz="800">
                <a:solidFill>
                  <a:srgbClr val="21242A"/>
                </a:solidFill>
                <a:latin typeface="Microsoft YaHei"/>
              </a:defRPr>
            </a:pPr>
            <a:r>
              <a:t>44%患者在C4时改善≥10分</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人数：80</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登记号：NCT05798156</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试验药/方案：维泊妥珠单抗、格菲妥单抗、利妥昔单抗</a:t>
            </a:r>
          </a:p>
          <a:p>
            <a:pPr>
              <a:lnSpc>
                <a:spcPct val="103000"/>
              </a:lnSpc>
              <a:spcAft>
                <a:spcPts val="300"/>
              </a:spcAft>
              <a:defRPr sz="810">
                <a:solidFill>
                  <a:srgbClr val="21242A"/>
                </a:solidFill>
                <a:latin typeface="Microsoft YaHei"/>
              </a:defRPr>
            </a:pPr>
            <a:r>
              <a:t>靶点：CD79B、CD20、CD3</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纵向患者报告结果强调，在一线ii期r-pola-glo试验中治疗的r-chop阴性侵袭性b细胞淋巴瘤患者的生活质量得到...</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longitudinal patient-reported outcomes highlight improved quality of life for...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PS2504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全球健康状况（QLQ-C30 GHS）</a:t>
                      </a:r>
                    </a:p>
                  </a:txBody>
                  <a:tcPr>
                    <a:solidFill>
                      <a:srgbClr val="F6F8FB"/>
                    </a:solidFill>
                  </a:tcPr>
                </a:tc>
                <a:tc>
                  <a:txBody>
                    <a:bodyPr wrap="square" lIns="36576" rIns="36576" tIns="18288" bIns="18288"/>
                    <a:lstStyle/>
                    <a:p>
                      <a:r>
                        <a:rPr sz="720" b="0">
                          <a:solidFill>
                            <a:srgbClr val="21242A"/>
                          </a:solidFill>
                          <a:latin typeface="Microsoft YaHei"/>
                        </a:rPr>
                        <a:t>治疗期间改善+10.7分，具有临床意义；44%患者在C4时改善≥10分</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至EOT和随访时仍高于基线</a:t>
                      </a:r>
                    </a:p>
                  </a:txBody>
                  <a:tcPr>
                    <a:solidFill>
                      <a:srgbClr val="FFFFFF"/>
                    </a:solidFill>
                  </a:tcPr>
                </a:tc>
              </a:tr>
              <a:tr h="282321">
                <a:tc>
                  <a:txBody>
                    <a:bodyPr wrap="square" lIns="36576" rIns="36576" tIns="18288" bIns="18288"/>
                    <a:lstStyle/>
                    <a:p>
                      <a:r>
                        <a:rPr sz="720" b="1">
                          <a:solidFill>
                            <a:srgbClr val="21242A"/>
                          </a:solidFill>
                          <a:latin typeface="Microsoft YaHei"/>
                        </a:rPr>
                        <a:t>身体功能</a:t>
                      </a:r>
                    </a:p>
                  </a:txBody>
                  <a:tcPr>
                    <a:solidFill>
                      <a:srgbClr val="F6F8FB"/>
                    </a:solidFill>
                  </a:tcPr>
                </a:tc>
                <a:tc>
                  <a:txBody>
                    <a:bodyPr wrap="square" lIns="36576" rIns="36576" tIns="18288" bIns="18288"/>
                    <a:lstStyle/>
                    <a:p>
                      <a:r>
                        <a:rPr sz="720" b="0">
                          <a:solidFill>
                            <a:srgbClr val="21242A"/>
                          </a:solidFill>
                          <a:latin typeface="Microsoft YaHei"/>
                        </a:rPr>
                        <a:t>维持治疗前水平</a:t>
                      </a:r>
                    </a:p>
                  </a:txBody>
                  <a:tcPr>
                    <a:solidFill>
                      <a:srgbClr val="F6F8FB"/>
                    </a:solidFill>
                  </a:tcPr>
                </a:tc>
              </a:tr>
              <a:tr h="282321">
                <a:tc>
                  <a:txBody>
                    <a:bodyPr wrap="square" lIns="36576" rIns="36576" tIns="18288" bIns="18288"/>
                    <a:lstStyle/>
                    <a:p>
                      <a:r>
                        <a:rPr sz="720" b="1">
                          <a:solidFill>
                            <a:srgbClr val="21242A"/>
                          </a:solidFill>
                          <a:latin typeface="Microsoft YaHei"/>
                        </a:rPr>
                        <a:t>疲劳</a:t>
                      </a:r>
                    </a:p>
                  </a:txBody>
                  <a:tcPr>
                    <a:solidFill>
                      <a:srgbClr val="FFFFFF"/>
                    </a:solidFill>
                  </a:tcPr>
                </a:tc>
                <a:tc>
                  <a:txBody>
                    <a:bodyPr wrap="square" lIns="36576" rIns="36576" tIns="18288" bIns="18288"/>
                    <a:lstStyle/>
                    <a:p>
                      <a:r>
                        <a:rPr sz="720" b="0">
                          <a:solidFill>
                            <a:srgbClr val="21242A"/>
                          </a:solidFill>
                          <a:latin typeface="Microsoft YaHei"/>
                        </a:rPr>
                        <a:t>未增加负担</a:t>
                      </a:r>
                    </a:p>
                  </a:txBody>
                  <a:tcPr>
                    <a:solidFill>
                      <a:srgbClr val="FFFFFF"/>
                    </a:solidFill>
                  </a:tcPr>
                </a:tc>
              </a:tr>
              <a:tr h="282321">
                <a:tc>
                  <a:txBody>
                    <a:bodyPr wrap="square" lIns="36576" rIns="36576" tIns="18288" bIns="18288"/>
                    <a:lstStyle/>
                    <a:p>
                      <a:r>
                        <a:rPr sz="720" b="1">
                          <a:solidFill>
                            <a:srgbClr val="21242A"/>
                          </a:solidFill>
                          <a:latin typeface="Microsoft YaHei"/>
                        </a:rPr>
                        <a:t>情绪功能</a:t>
                      </a:r>
                    </a:p>
                  </a:txBody>
                  <a:tcPr>
                    <a:solidFill>
                      <a:srgbClr val="F6F8FB"/>
                    </a:solidFill>
                  </a:tcPr>
                </a:tc>
                <a:tc>
                  <a:txBody>
                    <a:bodyPr wrap="square" lIns="36576" rIns="36576" tIns="18288" bIns="18288"/>
                    <a:lstStyle/>
                    <a:p>
                      <a:r>
                        <a:rPr sz="720" b="0">
                          <a:solidFill>
                            <a:srgbClr val="21242A"/>
                          </a:solidFill>
                          <a:latin typeface="Microsoft YaHei"/>
                        </a:rPr>
                        <a:t>持续改善</a:t>
                      </a:r>
                    </a:p>
                  </a:txBody>
                  <a:tcPr>
                    <a:solidFill>
                      <a:srgbClr val="F6F8FB"/>
                    </a:solidFill>
                  </a:tcPr>
                </a:tc>
              </a:tr>
              <a:tr h="282321">
                <a:tc>
                  <a:txBody>
                    <a:bodyPr wrap="square" lIns="36576" rIns="36576" tIns="18288" bIns="18288"/>
                    <a:lstStyle/>
                    <a:p>
                      <a:r>
                        <a:rPr sz="720" b="1">
                          <a:solidFill>
                            <a:srgbClr val="21242A"/>
                          </a:solidFill>
                          <a:latin typeface="Microsoft YaHei"/>
                        </a:rPr>
                        <a:t>FACT-Lym总分</a:t>
                      </a:r>
                    </a:p>
                  </a:txBody>
                  <a:tcPr>
                    <a:solidFill>
                      <a:srgbClr val="FFFFFF"/>
                    </a:solidFill>
                  </a:tcPr>
                </a:tc>
                <a:tc>
                  <a:txBody>
                    <a:bodyPr wrap="square" lIns="36576" rIns="36576" tIns="18288" bIns="18288"/>
                    <a:lstStyle/>
                    <a:p>
                      <a:r>
                        <a:rPr sz="720" b="0">
                          <a:solidFill>
                            <a:srgbClr val="21242A"/>
                          </a:solidFill>
                          <a:latin typeface="Microsoft YaHei"/>
                        </a:rPr>
                        <a:t>C4时增加+10分，具有临床意义</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至EOT和随访仍高于基线</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药物/技术：双抗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摘要号：PS2504</a:t>
            </a:r>
          </a:p>
          <a:p>
            <a:pPr>
              <a:lnSpc>
                <a:spcPct val="103000"/>
              </a:lnSpc>
              <a:spcAft>
                <a:spcPts val="300"/>
              </a:spcAft>
              <a:defRPr sz="740">
                <a:solidFill>
                  <a:srgbClr val="5E6570"/>
                </a:solidFill>
                <a:latin typeface="Microsoft YaHei"/>
              </a:defRPr>
            </a:pPr>
            <a:r>
              <a:t>会议栏目：36. Quality of life, ethics, supportive and palliative care</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纵向患者报告结果强调，在一线ii期r-pola-glo试验中治疗的r-chop阴性侵袭性b细胞淋巴瘤患者的生活质量得到...</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longitudinal patient-reported outcomes highlight improved quality of life for...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PS2504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1792224">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1792224">
                <a:tc>
                  <a:txBody>
                    <a:bodyPr wrap="square" lIns="36576" rIns="36576" tIns="18288" bIns="18288"/>
                    <a:lstStyle/>
                    <a:p>
                      <a:r>
                        <a:rPr sz="720" b="1">
                          <a:solidFill>
                            <a:srgbClr val="21242A"/>
                          </a:solidFill>
                          <a:latin typeface="Microsoft YaHei"/>
                        </a:rPr>
                        <a:t>试验结果指标（TOI）</a:t>
                      </a:r>
                    </a:p>
                  </a:txBody>
                  <a:tcPr>
                    <a:solidFill>
                      <a:srgbClr val="F6F8FB"/>
                    </a:solidFill>
                  </a:tcPr>
                </a:tc>
                <a:tc>
                  <a:txBody>
                    <a:bodyPr wrap="square" lIns="36576" rIns="36576" tIns="18288" bIns="18288"/>
                    <a:lstStyle/>
                    <a:p>
                      <a:r>
                        <a:rPr sz="720" b="0">
                          <a:solidFill>
                            <a:srgbClr val="21242A"/>
                          </a:solidFill>
                          <a:latin typeface="Microsoft YaHei"/>
                        </a:rPr>
                        <a:t>类似模式</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glofitamab治疗复发/难治性大b细胞淋巴瘤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glofitamab in relapsed/refractory large b-cell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N=114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最佳客观缓解率（ORR）80%</a:t>
            </a:r>
          </a:p>
          <a:p>
            <a:pPr>
              <a:lnSpc>
                <a:spcPct val="103000"/>
              </a:lnSpc>
              <a:spcAft>
                <a:spcPts val="300"/>
              </a:spcAft>
              <a:defRPr sz="800">
                <a:solidFill>
                  <a:srgbClr val="21242A"/>
                </a:solidFill>
                <a:latin typeface="Microsoft YaHei"/>
              </a:defRPr>
            </a:pPr>
            <a:r>
              <a:t>完全缓解（CR）率42%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人数：114</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glofitamab治疗复发/难治性大b细胞淋巴瘤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glofitamab in relapsed/refractory large b-cell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29/187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最佳客观缓解率（ORR）80%</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完全缓解（CR）率42%</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早期（第2或3周期）ORR 78%</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中位既往治疗线数3线（范围2-9）</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细胞因子释放综合征（CRS）发生率43.2%（≥3级2.7%），主要发生在第1周期（任何级别35.1%，≥3级1.4%），第5周期后仅1例1级事件，无5级事件</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免疫效应细胞相关神经毒性综合征（ICANS）发生率4.1%（≥3级1.4%），无5级事件</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ctDNA降低与无进展生存期改善相关</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药物/技术：双抗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摘要号：PS2110</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glofitamab、polatuzumab vedotin和zanubrutinib在未经治疗的老年dlbcl患者中...</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 2 trial of glofitamab, polatuzumab vedotin and zanubrutinib in untreate...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格菲妥单抗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安全性：10例患者均完成28天安全导入期观察</a:t>
            </a:r>
          </a:p>
          <a:p>
            <a:pPr>
              <a:lnSpc>
                <a:spcPct val="103000"/>
              </a:lnSpc>
              <a:spcAft>
                <a:spcPts val="300"/>
              </a:spcAft>
              <a:defRPr sz="800">
                <a:solidFill>
                  <a:srgbClr val="21242A"/>
                </a:solidFill>
                <a:latin typeface="Microsoft YaHei"/>
              </a:defRPr>
            </a:pPr>
            <a:r>
              <a:t>90%发生1-2级CRS</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人数：10</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登记号：NCT07012980</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试验药/方案：维泊妥珠单抗、格菲妥单抗、泽布替尼</a:t>
            </a:r>
          </a:p>
          <a:p>
            <a:pPr>
              <a:lnSpc>
                <a:spcPct val="103000"/>
              </a:lnSpc>
              <a:spcAft>
                <a:spcPts val="300"/>
              </a:spcAft>
              <a:defRPr sz="810">
                <a:solidFill>
                  <a:srgbClr val="21242A"/>
                </a:solidFill>
                <a:latin typeface="Microsoft YaHei"/>
              </a:defRPr>
            </a:pPr>
            <a:r>
              <a:t>靶点：CD79B、CD20、CD3、BTK</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glofitamab、polatuzumab vedotin和zanubrutinib在未经治疗的老年dlbcl患者中...</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 2 trial of glofitamab, polatuzumab vedotin and zanubrutinib in untreate...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安全性：10例患者均完成28天安全导入期观察；90%发生1-2级CRS；1例（10%）基线有小肠受累的患者出现3级下消化道出血和4级肿瘤溶解综合征，该患者停药；20%发生2级肺部感染，10%发生3级肺部感染；无肿瘤耀斑发生。</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药物/技术：双抗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摘要号：PS2107</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大b细胞淋巴瘤双特异性抗体治疗前最佳绝对淋巴细胞计数的确定：美国双特异性联盟（cubic）的一项合作研究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identification of an optimal absolute lymphocyte count before bispecific anti...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N=317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格菲妥单抗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多组/多方案比较：组别1：低ALC组（ALC &lt; 0.25×10³/µL）</a:t>
            </a:r>
          </a:p>
          <a:p>
            <a:pPr>
              <a:lnSpc>
                <a:spcPct val="103000"/>
              </a:lnSpc>
              <a:spcAft>
                <a:spcPts val="300"/>
              </a:spcAft>
              <a:defRPr sz="800">
                <a:solidFill>
                  <a:srgbClr val="21242A"/>
                </a:solidFill>
                <a:latin typeface="Microsoft YaHei"/>
              </a:defRPr>
            </a:pPr>
            <a:r>
              <a:t>组别2：高ALC组（ALC ≥ 0.25×10³/µL）</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总人群（317例）中：ORR 51%，CR 34%，中位PFS 3.9个月。</a:t>
            </a:r>
          </a:p>
          <a:p>
            <a:pPr>
              <a:lnSpc>
                <a:spcPct val="103000"/>
              </a:lnSpc>
              <a:spcAft>
                <a:spcPts val="300"/>
              </a:spcAft>
              <a:defRPr sz="800">
                <a:solidFill>
                  <a:srgbClr val="21242A"/>
                </a:solidFill>
                <a:latin typeface="Microsoft YaHei"/>
              </a:defRPr>
            </a:pPr>
            <a:r>
              <a:t>低ALC组（57例）vs 高ALC组（260例）：ORR 37% vs 52%（p=0.05）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人数：317</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大b细胞淋巴瘤双特异性抗体治疗前最佳绝对淋巴细胞计数的确定：美国双特异性联盟（cubic）的一项合作研究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identification of an optimal absolute lymphocyte count before bispecific anti...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EHA原文结果（中文字段未通过数字核对）（1/2）</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A total of 317 patients were included in the analysis: 165 (52%) received glofit and 152 (48%) epco.</a:t>
            </a:r>
          </a:p>
          <a:p>
            <a:pPr>
              <a:lnSpc>
                <a:spcPct val="103000"/>
              </a:lnSpc>
              <a:spcAft>
                <a:spcPts val="300"/>
              </a:spcAft>
              <a:defRPr sz="819">
                <a:solidFill>
                  <a:srgbClr val="21242A"/>
                </a:solidFill>
                <a:latin typeface="Microsoft YaHei"/>
              </a:defRPr>
            </a:pPr>
            <a:r>
              <a:t>At BsAb initiation, median age was 70 years (range, 22-93), 13% had double-hit LBCL, 69% had an international prognost</a:t>
            </a:r>
          </a:p>
          <a:p>
            <a:pPr>
              <a:lnSpc>
                <a:spcPct val="103000"/>
              </a:lnSpc>
              <a:spcAft>
                <a:spcPts val="300"/>
              </a:spcAft>
              <a:defRPr sz="819">
                <a:solidFill>
                  <a:srgbClr val="21242A"/>
                </a:solidFill>
                <a:latin typeface="Microsoft YaHei"/>
              </a:defRPr>
            </a:pPr>
            <a:r>
              <a:t>ic index score of ≥3, median prior lines of therapy (LOT) was 3 (range, 1-9), and median ALC was 0.6×10³/µL (IQR, 0.3-</a:t>
            </a:r>
          </a:p>
          <a:p>
            <a:pPr>
              <a:lnSpc>
                <a:spcPct val="103000"/>
              </a:lnSpc>
              <a:spcAft>
                <a:spcPts val="300"/>
              </a:spcAft>
              <a:defRPr sz="819">
                <a:solidFill>
                  <a:srgbClr val="21242A"/>
                </a:solidFill>
                <a:latin typeface="Microsoft YaHei"/>
              </a:defRPr>
            </a:pPr>
            <a:r>
              <a:t>1.0; range, 0-39.1×10³/µL).</a:t>
            </a:r>
          </a:p>
          <a:p>
            <a:pPr>
              <a:lnSpc>
                <a:spcPct val="103000"/>
              </a:lnSpc>
              <a:spcAft>
                <a:spcPts val="300"/>
              </a:spcAft>
              <a:defRPr sz="819">
                <a:solidFill>
                  <a:srgbClr val="21242A"/>
                </a:solidFill>
                <a:latin typeface="Microsoft YaHei"/>
              </a:defRPr>
            </a:pPr>
            <a:r>
              <a:t>Any-grade CRS and ICANS occurred in 112 (36%) and 37 (12%) of patients, respectively, with grade ≥3 occurring in 13 (4</a:t>
            </a:r>
          </a:p>
          <a:p>
            <a:pPr>
              <a:lnSpc>
                <a:spcPct val="103000"/>
              </a:lnSpc>
              <a:spcAft>
                <a:spcPts val="300"/>
              </a:spcAft>
              <a:defRPr sz="819">
                <a:solidFill>
                  <a:srgbClr val="21242A"/>
                </a:solidFill>
                <a:latin typeface="Microsoft YaHei"/>
              </a:defRPr>
            </a:pPr>
            <a:r>
              <a:t>%) and 6 (2%).</a:t>
            </a:r>
          </a:p>
          <a:p>
            <a:pPr>
              <a:lnSpc>
                <a:spcPct val="103000"/>
              </a:lnSpc>
              <a:spcAft>
                <a:spcPts val="300"/>
              </a:spcAft>
              <a:defRPr sz="819">
                <a:solidFill>
                  <a:srgbClr val="21242A"/>
                </a:solidFill>
                <a:latin typeface="Microsoft YaHei"/>
              </a:defRPr>
            </a:pPr>
            <a:r>
              <a:t>Overall response rates (ORR) and complete response rates (CR) were 51% and 34%, respectively.</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药物/技术：双抗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摘要号：PS2087</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大b细胞淋巴瘤双特异性抗体治疗前最佳绝对淋巴细胞计数的确定：美国双特异性联盟（cubic）的一项合作研究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identification of an optimal absolute lymphocyte count before bispecific anti...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EHA原文结果（中文字段未通过数字核对）（2/2）</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After a median follow-up of 12.1 months, median PFS was 3.9 months.</a:t>
            </a:r>
          </a:p>
          <a:p>
            <a:pPr>
              <a:lnSpc>
                <a:spcPct val="103000"/>
              </a:lnSpc>
              <a:spcAft>
                <a:spcPts val="300"/>
              </a:spcAft>
              <a:defRPr sz="819">
                <a:solidFill>
                  <a:srgbClr val="21242A"/>
                </a:solidFill>
                <a:latin typeface="Microsoft YaHei"/>
              </a:defRPr>
            </a:pPr>
            <a:r>
              <a:t>The optimal ALC threshold in the training dataset was 0.25×10³/µL.</a:t>
            </a:r>
          </a:p>
          <a:p>
            <a:pPr>
              <a:lnSpc>
                <a:spcPct val="103000"/>
              </a:lnSpc>
              <a:spcAft>
                <a:spcPts val="300"/>
              </a:spcAft>
              <a:defRPr sz="819">
                <a:solidFill>
                  <a:srgbClr val="21242A"/>
                </a:solidFill>
                <a:latin typeface="Microsoft YaHei"/>
              </a:defRPr>
            </a:pPr>
            <a:r>
              <a:t>In the overall cohort, 260 patients (82%) had high ALC.</a:t>
            </a:r>
          </a:p>
          <a:p>
            <a:pPr>
              <a:lnSpc>
                <a:spcPct val="103000"/>
              </a:lnSpc>
              <a:spcAft>
                <a:spcPts val="300"/>
              </a:spcAft>
              <a:defRPr sz="819">
                <a:solidFill>
                  <a:srgbClr val="21242A"/>
                </a:solidFill>
                <a:latin typeface="Microsoft YaHei"/>
              </a:defRPr>
            </a:pPr>
            <a:r>
              <a:t>Compared to the low pre-treatment ALC ( Summary/Conclusion: An optimal ALC threshold of 0.25×10³/µL could identify pat</a:t>
            </a:r>
          </a:p>
          <a:p>
            <a:pPr>
              <a:lnSpc>
                <a:spcPct val="103000"/>
              </a:lnSpc>
              <a:spcAft>
                <a:spcPts val="300"/>
              </a:spcAft>
              <a:defRPr sz="819">
                <a:solidFill>
                  <a:srgbClr val="21242A"/>
                </a:solidFill>
                <a:latin typeface="Microsoft YaHei"/>
              </a:defRPr>
            </a:pPr>
            <a:r>
              <a:t>ients with R/R LBCL who may experience deeper responses and longer PFS with BsAb.</a:t>
            </a:r>
          </a:p>
          <a:p>
            <a:pPr>
              <a:lnSpc>
                <a:spcPct val="103000"/>
              </a:lnSpc>
              <a:spcAft>
                <a:spcPts val="300"/>
              </a:spcAft>
              <a:defRPr sz="819">
                <a:solidFill>
                  <a:srgbClr val="21242A"/>
                </a:solidFill>
                <a:latin typeface="Microsoft YaHei"/>
              </a:defRPr>
            </a:pPr>
            <a:r>
              <a:t>Biological analysis, aimed at investigating clinically relevant T-cell subgroups, and prospective validation of these </a:t>
            </a:r>
          </a:p>
          <a:p>
            <a:pPr>
              <a:lnSpc>
                <a:spcPct val="103000"/>
              </a:lnSpc>
              <a:spcAft>
                <a:spcPts val="300"/>
              </a:spcAft>
              <a:defRPr sz="819">
                <a:solidFill>
                  <a:srgbClr val="21242A"/>
                </a:solidFill>
                <a:latin typeface="Microsoft YaHei"/>
              </a:defRPr>
            </a:pPr>
            <a:r>
              <a:t>findings are warranted.</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固定持续时间epcoritamab单一疗法诱导老年新诊断大b细胞淋巴瘤及其合并症患者的高反应率和mrd阴性率：epco...</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fixed-duration epcoritamab monotherapy induces high response and mrd-negativi...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N=66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ORR: 73%</a:t>
            </a:r>
          </a:p>
          <a:p>
            <a:pPr>
              <a:lnSpc>
                <a:spcPct val="103000"/>
              </a:lnSpc>
              <a:spcAft>
                <a:spcPts val="300"/>
              </a:spcAft>
              <a:defRPr sz="800">
                <a:solidFill>
                  <a:srgbClr val="21242A"/>
                </a:solidFill>
                <a:latin typeface="Microsoft YaHei"/>
              </a:defRPr>
            </a:pPr>
            <a:r>
              <a:t>CR: 63%</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人数：66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登记号：NCT05660967</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固定持续时间epcoritamab单一疗法诱导老年新诊断大b细胞淋巴瘤及其合并症患者的高反应率和mrd阴性率：epco...</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fixed-duration epcoritamab monotherapy induces high response and mrd-negativi...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中文结果数据表（原表）（1/3）</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ORR</a:t>
                      </a:r>
                    </a:p>
                  </a:txBody>
                  <a:tcPr>
                    <a:solidFill>
                      <a:srgbClr val="F6F8FB"/>
                    </a:solidFill>
                  </a:tcPr>
                </a:tc>
                <a:tc>
                  <a:txBody>
                    <a:bodyPr wrap="square" lIns="36576" rIns="36576" tIns="18288" bIns="18288"/>
                    <a:lstStyle/>
                    <a:p>
                      <a:r>
                        <a:rPr sz="720" b="0">
                          <a:solidFill>
                            <a:srgbClr val="21242A"/>
                          </a:solidFill>
                          <a:latin typeface="Microsoft YaHei"/>
                        </a:rPr>
                        <a:t>73%</a:t>
                      </a:r>
                    </a:p>
                  </a:txBody>
                  <a:tcPr>
                    <a:solidFill>
                      <a:srgbClr val="F6F8FB"/>
                    </a:solidFill>
                  </a:tcPr>
                </a:tc>
              </a:tr>
              <a:tr h="282321">
                <a:tc>
                  <a:txBody>
                    <a:bodyPr wrap="square" lIns="36576" rIns="36576" tIns="18288" bIns="18288"/>
                    <a:lstStyle/>
                    <a:p>
                      <a:r>
                        <a:rPr sz="720" b="1">
                          <a:solidFill>
                            <a:srgbClr val="21242A"/>
                          </a:solidFill>
                          <a:latin typeface="Microsoft YaHei"/>
                        </a:rPr>
                        <a:t>CR</a:t>
                      </a:r>
                    </a:p>
                  </a:txBody>
                  <a:tcPr>
                    <a:solidFill>
                      <a:srgbClr val="FFFFFF"/>
                    </a:solidFill>
                  </a:tcPr>
                </a:tc>
                <a:tc>
                  <a:txBody>
                    <a:bodyPr wrap="square" lIns="36576" rIns="36576" tIns="18288" bIns="18288"/>
                    <a:lstStyle/>
                    <a:p>
                      <a:r>
                        <a:rPr sz="720" b="0">
                          <a:solidFill>
                            <a:srgbClr val="21242A"/>
                          </a:solidFill>
                          <a:latin typeface="Microsoft YaHei"/>
                        </a:rPr>
                        <a:t>63%</a:t>
                      </a:r>
                    </a:p>
                  </a:txBody>
                  <a:tcPr>
                    <a:solidFill>
                      <a:srgbClr val="FFFFFF"/>
                    </a:solidFill>
                  </a:tcPr>
                </a:tc>
              </a:tr>
              <a:tr h="282321">
                <a:tc>
                  <a:txBody>
                    <a:bodyPr wrap="square" lIns="36576" rIns="36576" tIns="18288" bIns="18288"/>
                    <a:lstStyle/>
                    <a:p>
                      <a:r>
                        <a:rPr sz="720" b="1">
                          <a:solidFill>
                            <a:srgbClr val="21242A"/>
                          </a:solidFill>
                          <a:latin typeface="Microsoft YaHei"/>
                        </a:rPr>
                        <a:t>中位至缓解时间</a:t>
                      </a:r>
                    </a:p>
                  </a:txBody>
                  <a:tcPr>
                    <a:solidFill>
                      <a:srgbClr val="F6F8FB"/>
                    </a:solidFill>
                  </a:tcPr>
                </a:tc>
                <a:tc>
                  <a:txBody>
                    <a:bodyPr wrap="square" lIns="36576" rIns="36576" tIns="18288" bIns="18288"/>
                    <a:lstStyle/>
                    <a:p>
                      <a:r>
                        <a:rPr sz="720" b="0">
                          <a:solidFill>
                            <a:srgbClr val="21242A"/>
                          </a:solidFill>
                          <a:latin typeface="Microsoft YaHei"/>
                        </a:rPr>
                        <a:t>1.5个月</a:t>
                      </a:r>
                    </a:p>
                  </a:txBody>
                  <a:tcPr>
                    <a:solidFill>
                      <a:srgbClr val="F6F8FB"/>
                    </a:solidFill>
                  </a:tcPr>
                </a:tc>
              </a:tr>
              <a:tr h="282321">
                <a:tc>
                  <a:txBody>
                    <a:bodyPr wrap="square" lIns="36576" rIns="36576" tIns="18288" bIns="18288"/>
                    <a:lstStyle/>
                    <a:p>
                      <a:r>
                        <a:rPr sz="720" b="1">
                          <a:solidFill>
                            <a:srgbClr val="21242A"/>
                          </a:solidFill>
                          <a:latin typeface="Microsoft YaHei"/>
                        </a:rPr>
                        <a:t>中位至CR时间</a:t>
                      </a:r>
                    </a:p>
                  </a:txBody>
                  <a:tcPr>
                    <a:solidFill>
                      <a:srgbClr val="FFFFFF"/>
                    </a:solidFill>
                  </a:tcPr>
                </a:tc>
                <a:tc>
                  <a:txBody>
                    <a:bodyPr wrap="square" lIns="36576" rIns="36576" tIns="18288" bIns="18288"/>
                    <a:lstStyle/>
                    <a:p>
                      <a:r>
                        <a:rPr sz="720" b="0">
                          <a:solidFill>
                            <a:srgbClr val="21242A"/>
                          </a:solidFill>
                          <a:latin typeface="Microsoft YaHei"/>
                        </a:rPr>
                        <a:t>2.2个月</a:t>
                      </a:r>
                    </a:p>
                  </a:txBody>
                  <a:tcPr>
                    <a:solidFill>
                      <a:srgbClr val="FFFFFF"/>
                    </a:solidFill>
                  </a:tcPr>
                </a:tc>
              </a:tr>
              <a:tr h="282321">
                <a:tc>
                  <a:txBody>
                    <a:bodyPr wrap="square" lIns="36576" rIns="36576" tIns="18288" bIns="18288"/>
                    <a:lstStyle/>
                    <a:p>
                      <a:r>
                        <a:rPr sz="720" b="1">
                          <a:solidFill>
                            <a:srgbClr val="21242A"/>
                          </a:solidFill>
                          <a:latin typeface="Microsoft YaHei"/>
                        </a:rPr>
                        <a:t>中位DOR</a:t>
                      </a:r>
                    </a:p>
                  </a:txBody>
                  <a:tcPr>
                    <a:solidFill>
                      <a:srgbClr val="F6F8FB"/>
                    </a:solidFill>
                  </a:tcPr>
                </a:tc>
                <a:tc>
                  <a:txBody>
                    <a:bodyPr wrap="square" lIns="36576" rIns="36576" tIns="18288" bIns="18288"/>
                    <a:lstStyle/>
                    <a:p>
                      <a:r>
                        <a:rPr sz="720" b="0">
                          <a:solidFill>
                            <a:srgbClr val="21242A"/>
                          </a:solidFill>
                          <a:latin typeface="Microsoft YaHei"/>
                        </a:rPr>
                        <a:t>未达到</a:t>
                      </a:r>
                    </a:p>
                  </a:txBody>
                  <a:tcPr>
                    <a:solidFill>
                      <a:srgbClr val="F6F8FB"/>
                    </a:solidFill>
                  </a:tcPr>
                </a:tc>
              </a:tr>
              <a:tr h="282321">
                <a:tc>
                  <a:txBody>
                    <a:bodyPr wrap="square" lIns="36576" rIns="36576" tIns="18288" bIns="18288"/>
                    <a:lstStyle/>
                    <a:p>
                      <a:r>
                        <a:rPr sz="720" b="1">
                          <a:solidFill>
                            <a:srgbClr val="21242A"/>
                          </a:solidFill>
                          <a:latin typeface="Microsoft YaHei"/>
                        </a:rPr>
                        <a:t>中位DOCR</a:t>
                      </a:r>
                    </a:p>
                  </a:txBody>
                  <a:tcPr>
                    <a:solidFill>
                      <a:srgbClr val="FFFFFF"/>
                    </a:solidFill>
                  </a:tcPr>
                </a:tc>
                <a:tc>
                  <a:txBody>
                    <a:bodyPr wrap="square" lIns="36576" rIns="36576" tIns="18288" bIns="18288"/>
                    <a:lstStyle/>
                    <a:p>
                      <a:r>
                        <a:rPr sz="720" b="0">
                          <a:solidFill>
                            <a:srgbClr val="21242A"/>
                          </a:solidFill>
                          <a:latin typeface="Microsoft YaHei"/>
                        </a:rPr>
                        <a:t>未达到</a:t>
                      </a:r>
                    </a:p>
                  </a:txBody>
                  <a:tcPr>
                    <a:solidFill>
                      <a:srgbClr val="FFFFFF"/>
                    </a:solidFill>
                  </a:tcPr>
                </a:tc>
              </a:tr>
              <a:tr h="282321">
                <a:tc>
                  <a:txBody>
                    <a:bodyPr wrap="square" lIns="36576" rIns="36576" tIns="18288" bIns="18288"/>
                    <a:lstStyle/>
                    <a:p>
                      <a:r>
                        <a:rPr sz="720" b="1">
                          <a:solidFill>
                            <a:srgbClr val="21242A"/>
                          </a:solidFill>
                          <a:latin typeface="Microsoft YaHei"/>
                        </a:rPr>
                        <a:t>12个月缓解持续率</a:t>
                      </a:r>
                    </a:p>
                  </a:txBody>
                  <a:tcPr>
                    <a:solidFill>
                      <a:srgbClr val="F6F8FB"/>
                    </a:solidFill>
                  </a:tcPr>
                </a:tc>
                <a:tc>
                  <a:txBody>
                    <a:bodyPr wrap="square" lIns="36576" rIns="36576" tIns="18288" bIns="18288"/>
                    <a:lstStyle/>
                    <a:p>
                      <a:r>
                        <a:rPr sz="720" b="0">
                          <a:solidFill>
                            <a:srgbClr val="21242A"/>
                          </a:solidFill>
                          <a:latin typeface="Microsoft YaHei"/>
                        </a:rPr>
                        <a:t>67%</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药物/技术：双抗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摘要号：PS2082</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固定持续时间epcoritamab单一疗法诱导老年新诊断大b细胞淋巴瘤及其合并症患者的高反应率和mrd阴性率：epco...</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fixed-duration epcoritamab monotherapy induces high response and mrd-negativi...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中文结果数据表（原表）（2/3）</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448056">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448056">
                <a:tc>
                  <a:txBody>
                    <a:bodyPr wrap="square" lIns="36576" rIns="36576" tIns="18288" bIns="18288"/>
                    <a:lstStyle/>
                    <a:p>
                      <a:r>
                        <a:rPr sz="720" b="1">
                          <a:solidFill>
                            <a:srgbClr val="21242A"/>
                          </a:solidFill>
                          <a:latin typeface="Microsoft YaHei"/>
                        </a:rPr>
                        <a:t>12个月CR持续率</a:t>
                      </a:r>
                    </a:p>
                  </a:txBody>
                  <a:tcPr>
                    <a:solidFill>
                      <a:srgbClr val="F6F8FB"/>
                    </a:solidFill>
                  </a:tcPr>
                </a:tc>
                <a:tc>
                  <a:txBody>
                    <a:bodyPr wrap="square" lIns="36576" rIns="36576" tIns="18288" bIns="18288"/>
                    <a:lstStyle/>
                    <a:p>
                      <a:r>
                        <a:rPr sz="720" b="0">
                          <a:solidFill>
                            <a:srgbClr val="21242A"/>
                          </a:solidFill>
                          <a:latin typeface="Microsoft YaHei"/>
                        </a:rPr>
                        <a:t>73%</a:t>
                      </a:r>
                    </a:p>
                  </a:txBody>
                  <a:tcPr>
                    <a:solidFill>
                      <a:srgbClr val="F6F8FB"/>
                    </a:solidFill>
                  </a:tcPr>
                </a:tc>
              </a:tr>
              <a:tr h="448056">
                <a:tc>
                  <a:txBody>
                    <a:bodyPr wrap="square" lIns="36576" rIns="36576" tIns="18288" bIns="18288"/>
                    <a:lstStyle/>
                    <a:p>
                      <a:r>
                        <a:rPr sz="720" b="1">
                          <a:solidFill>
                            <a:srgbClr val="21242A"/>
                          </a:solidFill>
                          <a:latin typeface="Microsoft YaHei"/>
                        </a:rPr>
                        <a:t>中位PFS</a:t>
                      </a:r>
                    </a:p>
                  </a:txBody>
                  <a:tcPr>
                    <a:solidFill>
                      <a:srgbClr val="FFFFFF"/>
                    </a:solidFill>
                  </a:tcPr>
                </a:tc>
                <a:tc>
                  <a:txBody>
                    <a:bodyPr wrap="square" lIns="36576" rIns="36576" tIns="18288" bIns="18288"/>
                    <a:lstStyle/>
                    <a:p>
                      <a:r>
                        <a:rPr sz="720" b="0">
                          <a:solidFill>
                            <a:srgbClr val="21242A"/>
                          </a:solidFill>
                          <a:latin typeface="Microsoft YaHei"/>
                        </a:rPr>
                        <a:t>13.0个月</a:t>
                      </a:r>
                    </a:p>
                  </a:txBody>
                  <a:tcPr>
                    <a:solidFill>
                      <a:srgbClr val="FFFFFF"/>
                    </a:solidFill>
                  </a:tcPr>
                </a:tc>
              </a:tr>
              <a:tr h="448056">
                <a:tc>
                  <a:txBody>
                    <a:bodyPr wrap="square" lIns="36576" rIns="36576" tIns="18288" bIns="18288"/>
                    <a:lstStyle/>
                    <a:p>
                      <a:r>
                        <a:rPr sz="720" b="1">
                          <a:solidFill>
                            <a:srgbClr val="21242A"/>
                          </a:solidFill>
                          <a:latin typeface="Microsoft YaHei"/>
                        </a:rPr>
                        <a:t>中位OS</a:t>
                      </a:r>
                    </a:p>
                  </a:txBody>
                  <a:tcPr>
                    <a:solidFill>
                      <a:srgbClr val="F6F8FB"/>
                    </a:solidFill>
                  </a:tcPr>
                </a:tc>
                <a:tc>
                  <a:txBody>
                    <a:bodyPr wrap="square" lIns="36576" rIns="36576" tIns="18288" bIns="18288"/>
                    <a:lstStyle/>
                    <a:p>
                      <a:r>
                        <a:rPr sz="720" b="0">
                          <a:solidFill>
                            <a:srgbClr val="21242A"/>
                          </a:solidFill>
                          <a:latin typeface="Microsoft YaHei"/>
                        </a:rPr>
                        <a:t>未达到</a:t>
                      </a:r>
                    </a:p>
                  </a:txBody>
                  <a:tcPr>
                    <a:solidFill>
                      <a:srgbClr val="F6F8FB"/>
                    </a:solidFill>
                  </a:tcPr>
                </a:tc>
              </a:tr>
              <a:tr h="448056">
                <a:tc>
                  <a:txBody>
                    <a:bodyPr wrap="square" lIns="36576" rIns="36576" tIns="18288" bIns="18288"/>
                    <a:lstStyle/>
                    <a:p>
                      <a:r>
                        <a:rPr sz="720" b="1">
                          <a:solidFill>
                            <a:srgbClr val="21242A"/>
                          </a:solidFill>
                          <a:latin typeface="Microsoft YaHei"/>
                        </a:rPr>
                        <a:t>12个月无进展生存率</a:t>
                      </a:r>
                    </a:p>
                  </a:txBody>
                  <a:tcPr>
                    <a:solidFill>
                      <a:srgbClr val="FFFFFF"/>
                    </a:solidFill>
                  </a:tcPr>
                </a:tc>
                <a:tc>
                  <a:txBody>
                    <a:bodyPr wrap="square" lIns="36576" rIns="36576" tIns="18288" bIns="18288"/>
                    <a:lstStyle/>
                    <a:p>
                      <a:r>
                        <a:rPr sz="720" b="0">
                          <a:solidFill>
                            <a:srgbClr val="21242A"/>
                          </a:solidFill>
                          <a:latin typeface="Microsoft YaHei"/>
                        </a:rPr>
                        <a:t>50%</a:t>
                      </a:r>
                    </a:p>
                  </a:txBody>
                  <a:tcPr>
                    <a:solidFill>
                      <a:srgbClr val="FFFFFF"/>
                    </a:solidFill>
                  </a:tcPr>
                </a:tc>
              </a:tr>
              <a:tr h="448056">
                <a:tc>
                  <a:txBody>
                    <a:bodyPr wrap="square" lIns="36576" rIns="36576" tIns="18288" bIns="18288"/>
                    <a:lstStyle/>
                    <a:p>
                      <a:r>
                        <a:rPr sz="720" b="1">
                          <a:solidFill>
                            <a:srgbClr val="21242A"/>
                          </a:solidFill>
                          <a:latin typeface="Microsoft YaHei"/>
                        </a:rPr>
                        <a:t>12个月总生存率</a:t>
                      </a:r>
                    </a:p>
                  </a:txBody>
                  <a:tcPr>
                    <a:solidFill>
                      <a:srgbClr val="F6F8FB"/>
                    </a:solidFill>
                  </a:tcPr>
                </a:tc>
                <a:tc>
                  <a:txBody>
                    <a:bodyPr wrap="square" lIns="36576" rIns="36576" tIns="18288" bIns="18288"/>
                    <a:lstStyle/>
                    <a:p>
                      <a:r>
                        <a:rPr sz="720" b="0">
                          <a:solidFill>
                            <a:srgbClr val="21242A"/>
                          </a:solidFill>
                          <a:latin typeface="Microsoft YaHei"/>
                        </a:rPr>
                        <a:t>66%</a:t>
                      </a:r>
                    </a:p>
                  </a:txBody>
                  <a:tcPr>
                    <a:solidFill>
                      <a:srgbClr val="F6F8FB"/>
                    </a:solidFill>
                  </a:tcPr>
                </a:tc>
              </a:tr>
              <a:tr h="448056">
                <a:tc>
                  <a:txBody>
                    <a:bodyPr wrap="square" lIns="36576" rIns="36576" tIns="18288" bIns="18288"/>
                    <a:lstStyle/>
                    <a:p>
                      <a:r>
                        <a:rPr sz="720" b="1">
                          <a:solidFill>
                            <a:srgbClr val="21242A"/>
                          </a:solidFill>
                          <a:latin typeface="Microsoft YaHei"/>
                        </a:rPr>
                        <a:t>MRD阴性率</a:t>
                      </a:r>
                    </a:p>
                  </a:txBody>
                  <a:tcPr>
                    <a:solidFill>
                      <a:srgbClr val="FFFFFF"/>
                    </a:solidFill>
                  </a:tcPr>
                </a:tc>
                <a:tc>
                  <a:txBody>
                    <a:bodyPr wrap="square" lIns="36576" rIns="36576" tIns="18288" bIns="18288"/>
                    <a:lstStyle/>
                    <a:p>
                      <a:r>
                        <a:rPr sz="720" b="0">
                          <a:solidFill>
                            <a:srgbClr val="21242A"/>
                          </a:solidFill>
                          <a:latin typeface="Microsoft YaHei"/>
                        </a:rPr>
                        <a:t>92% (33/36)</a:t>
                      </a:r>
                    </a:p>
                  </a:txBody>
                  <a:tcPr>
                    <a:solidFill>
                      <a:srgbClr val="FFFFFF"/>
                    </a:solidFill>
                  </a:tcPr>
                </a:tc>
              </a:tr>
              <a:tr h="448056">
                <a:tc>
                  <a:txBody>
                    <a:bodyPr wrap="square" lIns="36576" rIns="36576" tIns="18288" bIns="18288"/>
                    <a:lstStyle/>
                    <a:p>
                      <a:r>
                        <a:rPr sz="720" b="1">
                          <a:solidFill>
                            <a:srgbClr val="21242A"/>
                          </a:solidFill>
                          <a:latin typeface="Microsoft YaHei"/>
                        </a:rPr>
                        <a:t>TEAE发生率</a:t>
                      </a:r>
                    </a:p>
                  </a:txBody>
                  <a:tcPr>
                    <a:solidFill>
                      <a:srgbClr val="F6F8FB"/>
                    </a:solidFill>
                  </a:tcPr>
                </a:tc>
                <a:tc>
                  <a:txBody>
                    <a:bodyPr wrap="square" lIns="36576" rIns="36576" tIns="18288" bIns="18288"/>
                    <a:lstStyle/>
                    <a:p>
                      <a:r>
                        <a:rPr sz="720" b="0">
                          <a:solidFill>
                            <a:srgbClr val="21242A"/>
                          </a:solidFill>
                          <a:latin typeface="Microsoft YaHei"/>
                        </a:rPr>
                        <a:t>97%</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固定持续时间epcoritamab单一疗法诱导老年新诊断大b细胞淋巴瘤及其合并症患者的高反应率和mrd阴性率：epco...</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fixed-duration epcoritamab monotherapy induces high response and mrd-negativi...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中文结果数据表（原表）（3/3）</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59740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597408">
                <a:tc>
                  <a:txBody>
                    <a:bodyPr wrap="square" lIns="36576" rIns="36576" tIns="18288" bIns="18288"/>
                    <a:lstStyle/>
                    <a:p>
                      <a:r>
                        <a:rPr sz="720" b="1">
                          <a:solidFill>
                            <a:srgbClr val="21242A"/>
                          </a:solidFill>
                          <a:latin typeface="Microsoft YaHei"/>
                        </a:rPr>
                        <a:t>CRS发生率</a:t>
                      </a:r>
                    </a:p>
                  </a:txBody>
                  <a:tcPr>
                    <a:solidFill>
                      <a:srgbClr val="F6F8FB"/>
                    </a:solidFill>
                  </a:tcPr>
                </a:tc>
                <a:tc>
                  <a:txBody>
                    <a:bodyPr wrap="square" lIns="36576" rIns="36576" tIns="18288" bIns="18288"/>
                    <a:lstStyle/>
                    <a:p>
                      <a:r>
                        <a:rPr sz="720" b="0">
                          <a:solidFill>
                            <a:srgbClr val="21242A"/>
                          </a:solidFill>
                          <a:latin typeface="Microsoft YaHei"/>
                        </a:rPr>
                        <a:t>71%</a:t>
                      </a:r>
                    </a:p>
                  </a:txBody>
                  <a:tcPr>
                    <a:solidFill>
                      <a:srgbClr val="F6F8FB"/>
                    </a:solidFill>
                  </a:tcPr>
                </a:tc>
              </a:tr>
              <a:tr h="597408">
                <a:tc>
                  <a:txBody>
                    <a:bodyPr wrap="square" lIns="36576" rIns="36576" tIns="18288" bIns="18288"/>
                    <a:lstStyle/>
                    <a:p>
                      <a:r>
                        <a:rPr sz="720" b="1">
                          <a:solidFill>
                            <a:srgbClr val="21242A"/>
                          </a:solidFill>
                          <a:latin typeface="Microsoft YaHei"/>
                        </a:rPr>
                        <a:t>ICANS发生率</a:t>
                      </a:r>
                    </a:p>
                  </a:txBody>
                  <a:tcPr>
                    <a:solidFill>
                      <a:srgbClr val="FFFFFF"/>
                    </a:solidFill>
                  </a:tcPr>
                </a:tc>
                <a:tc>
                  <a:txBody>
                    <a:bodyPr wrap="square" lIns="36576" rIns="36576" tIns="18288" bIns="18288"/>
                    <a:lstStyle/>
                    <a:p>
                      <a:r>
                        <a:rPr sz="720" b="0">
                          <a:solidFill>
                            <a:srgbClr val="21242A"/>
                          </a:solidFill>
                          <a:latin typeface="Microsoft YaHei"/>
                        </a:rPr>
                        <a:t>18%</a:t>
                      </a:r>
                    </a:p>
                  </a:txBody>
                  <a:tcPr>
                    <a:solidFill>
                      <a:srgbClr val="FFFFFF"/>
                    </a:solidFill>
                  </a:tcPr>
                </a:tc>
              </a:tr>
              <a:tr h="597408">
                <a:tc>
                  <a:txBody>
                    <a:bodyPr wrap="square" lIns="36576" rIns="36576" tIns="18288" bIns="18288"/>
                    <a:lstStyle/>
                    <a:p>
                      <a:r>
                        <a:rPr sz="720" b="1">
                          <a:solidFill>
                            <a:srgbClr val="21242A"/>
                          </a:solidFill>
                          <a:latin typeface="Microsoft YaHei"/>
                        </a:rPr>
                        <a:t>中性粒细胞减少</a:t>
                      </a:r>
                    </a:p>
                  </a:txBody>
                  <a:tcPr>
                    <a:solidFill>
                      <a:srgbClr val="F6F8FB"/>
                    </a:solidFill>
                  </a:tcPr>
                </a:tc>
                <a:tc>
                  <a:txBody>
                    <a:bodyPr wrap="square" lIns="36576" rIns="36576" tIns="18288" bIns="18288"/>
                    <a:lstStyle/>
                    <a:p>
                      <a:r>
                        <a:rPr sz="720" b="0">
                          <a:solidFill>
                            <a:srgbClr val="21242A"/>
                          </a:solidFill>
                          <a:latin typeface="Microsoft YaHei"/>
                        </a:rPr>
                        <a:t>18%</a:t>
                      </a:r>
                    </a:p>
                  </a:txBody>
                  <a:tcPr>
                    <a:solidFill>
                      <a:srgbClr val="F6F8FB"/>
                    </a:solidFill>
                  </a:tcPr>
                </a:tc>
              </a:tr>
              <a:tr h="597408">
                <a:tc>
                  <a:txBody>
                    <a:bodyPr wrap="square" lIns="36576" rIns="36576" tIns="18288" bIns="18288"/>
                    <a:lstStyle/>
                    <a:p>
                      <a:r>
                        <a:rPr sz="720" b="1">
                          <a:solidFill>
                            <a:srgbClr val="21242A"/>
                          </a:solidFill>
                          <a:latin typeface="Microsoft YaHei"/>
                        </a:rPr>
                        <a:t>感染</a:t>
                      </a:r>
                    </a:p>
                  </a:txBody>
                  <a:tcPr>
                    <a:solidFill>
                      <a:srgbClr val="FFFFFF"/>
                    </a:solidFill>
                  </a:tcPr>
                </a:tc>
                <a:tc>
                  <a:txBody>
                    <a:bodyPr wrap="square" lIns="36576" rIns="36576" tIns="18288" bIns="18288"/>
                    <a:lstStyle/>
                    <a:p>
                      <a:r>
                        <a:rPr sz="720" b="0">
                          <a:solidFill>
                            <a:srgbClr val="21242A"/>
                          </a:solidFill>
                          <a:latin typeface="Microsoft YaHei"/>
                        </a:rPr>
                        <a:t>68%</a:t>
                      </a:r>
                    </a:p>
                  </a:txBody>
                  <a:tcPr>
                    <a:solidFill>
                      <a:srgbClr val="FFFFFF"/>
                    </a:solidFill>
                  </a:tcPr>
                </a:tc>
              </a:tr>
              <a:tr h="597408">
                <a:tc>
                  <a:txBody>
                    <a:bodyPr wrap="square" lIns="36576" rIns="36576" tIns="18288" bIns="18288"/>
                    <a:lstStyle/>
                    <a:p>
                      <a:r>
                        <a:rPr sz="720" b="1">
                          <a:solidFill>
                            <a:srgbClr val="21242A"/>
                          </a:solidFill>
                          <a:latin typeface="Microsoft YaHei"/>
                        </a:rPr>
                        <a:t>G5事件</a:t>
                      </a:r>
                    </a:p>
                  </a:txBody>
                  <a:tcPr>
                    <a:solidFill>
                      <a:srgbClr val="F6F8FB"/>
                    </a:solidFill>
                  </a:tcPr>
                </a:tc>
                <a:tc>
                  <a:txBody>
                    <a:bodyPr wrap="square" lIns="36576" rIns="36576" tIns="18288" bIns="18288"/>
                    <a:lstStyle/>
                    <a:p>
                      <a:r>
                        <a:rPr sz="720" b="0">
                          <a:solidFill>
                            <a:srgbClr val="21242A"/>
                          </a:solidFill>
                          <a:latin typeface="Microsoft YaHei"/>
                        </a:rPr>
                        <a:t>8例</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glofitamab联合polatuzumab vedotin治疗复发/难治性（r/r）大b细胞淋巴瘤（lbcl）的持...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durable remissions with glofitamab plus polatuzumab vedotin in relapsed/refra...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N=129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总缓解率（ORR）：79.1%（95%CI: 71.0-85.7）</a:t>
            </a:r>
          </a:p>
          <a:p>
            <a:pPr>
              <a:lnSpc>
                <a:spcPct val="103000"/>
              </a:lnSpc>
              <a:spcAft>
                <a:spcPts val="300"/>
              </a:spcAft>
              <a:defRPr sz="800">
                <a:solidFill>
                  <a:srgbClr val="21242A"/>
                </a:solidFill>
                <a:latin typeface="Microsoft YaHei"/>
              </a:defRPr>
            </a:pPr>
            <a:r>
              <a:t>完全缓解率（CR）：60.5%（95%CI: 51.5-69.0）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人数：129</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登记号：NCT03533283</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glofitamab联合polatuzumab vedotin治疗复发/难治性（r/r）大b细胞淋巴瘤（lbcl）的持...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durable remissions with glofitamab plus polatuzumab vedotin in relapsed/refra...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56464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564642">
                <a:tc>
                  <a:txBody>
                    <a:bodyPr wrap="square" lIns="36576" rIns="36576" tIns="18288" bIns="18288"/>
                    <a:lstStyle/>
                    <a:p>
                      <a:r>
                        <a:rPr sz="720" b="1">
                          <a:solidFill>
                            <a:srgbClr val="21242A"/>
                          </a:solidFill>
                          <a:latin typeface="Microsoft YaHei"/>
                        </a:rPr>
                        <a:t>总缓解率（ORR）</a:t>
                      </a:r>
                    </a:p>
                  </a:txBody>
                  <a:tcPr>
                    <a:solidFill>
                      <a:srgbClr val="F6F8FB"/>
                    </a:solidFill>
                  </a:tcPr>
                </a:tc>
                <a:tc>
                  <a:txBody>
                    <a:bodyPr wrap="square" lIns="36576" rIns="36576" tIns="18288" bIns="18288"/>
                    <a:lstStyle/>
                    <a:p>
                      <a:r>
                        <a:rPr sz="720" b="0">
                          <a:solidFill>
                            <a:srgbClr val="21242A"/>
                          </a:solidFill>
                          <a:latin typeface="Microsoft YaHei"/>
                        </a:rPr>
                        <a:t>79.1%（95%CI: 71.0-85.7）</a:t>
                      </a:r>
                    </a:p>
                  </a:txBody>
                  <a:tcPr>
                    <a:solidFill>
                      <a:srgbClr val="F6F8FB"/>
                    </a:solidFill>
                  </a:tcPr>
                </a:tc>
              </a:tr>
              <a:tr h="564642">
                <a:tc>
                  <a:txBody>
                    <a:bodyPr wrap="square" lIns="36576" rIns="36576" tIns="18288" bIns="18288"/>
                    <a:lstStyle/>
                    <a:p>
                      <a:r>
                        <a:rPr sz="720" b="1">
                          <a:solidFill>
                            <a:srgbClr val="21242A"/>
                          </a:solidFill>
                          <a:latin typeface="Microsoft YaHei"/>
                        </a:rPr>
                        <a:t>完全缓解率（CR）</a:t>
                      </a:r>
                    </a:p>
                  </a:txBody>
                  <a:tcPr>
                    <a:solidFill>
                      <a:srgbClr val="FFFFFF"/>
                    </a:solidFill>
                  </a:tcPr>
                </a:tc>
                <a:tc>
                  <a:txBody>
                    <a:bodyPr wrap="square" lIns="36576" rIns="36576" tIns="18288" bIns="18288"/>
                    <a:lstStyle/>
                    <a:p>
                      <a:r>
                        <a:rPr sz="720" b="0">
                          <a:solidFill>
                            <a:srgbClr val="21242A"/>
                          </a:solidFill>
                          <a:latin typeface="Microsoft YaHei"/>
                        </a:rPr>
                        <a:t>60.5%（95%CI: 51.5-69.0）</a:t>
                      </a:r>
                    </a:p>
                  </a:txBody>
                  <a:tcPr>
                    <a:solidFill>
                      <a:srgbClr val="FFFFFF"/>
                    </a:solidFill>
                  </a:tcPr>
                </a:tc>
              </a:tr>
              <a:tr h="564642">
                <a:tc>
                  <a:txBody>
                    <a:bodyPr wrap="square" lIns="36576" rIns="36576" tIns="18288" bIns="18288"/>
                    <a:lstStyle/>
                    <a:p>
                      <a:r>
                        <a:rPr sz="720" b="1">
                          <a:solidFill>
                            <a:srgbClr val="21242A"/>
                          </a:solidFill>
                          <a:latin typeface="Microsoft YaHei"/>
                        </a:rPr>
                        <a:t>中位无进展生存期（mPFS）</a:t>
                      </a:r>
                    </a:p>
                  </a:txBody>
                  <a:tcPr>
                    <a:solidFill>
                      <a:srgbClr val="F6F8FB"/>
                    </a:solidFill>
                  </a:tcPr>
                </a:tc>
                <a:tc>
                  <a:txBody>
                    <a:bodyPr wrap="square" lIns="36576" rIns="36576" tIns="18288" bIns="18288"/>
                    <a:lstStyle/>
                    <a:p>
                      <a:r>
                        <a:rPr sz="720" b="0">
                          <a:solidFill>
                            <a:srgbClr val="21242A"/>
                          </a:solidFill>
                          <a:latin typeface="Microsoft YaHei"/>
                        </a:rPr>
                        <a:t>15.4个月（95%CI: 8.8-29.7）</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药物/技术：双抗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摘要号：PS2063</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odronextamab治疗弥漫性大b细胞淋巴瘤（dlbcl）和滤泡性淋巴瘤（fl）患者与细胞因子释放综合征（crs）...</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peripheral proteomic signatures associated with cytokine release syndrome (cr...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PF1088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滤泡性淋巴瘤</a:t>
            </a:r>
          </a:p>
          <a:p>
            <a:pPr>
              <a:lnSpc>
                <a:spcPct val="103000"/>
              </a:lnSpc>
              <a:spcAft>
                <a:spcPts val="300"/>
              </a:spcAft>
              <a:defRPr sz="800">
                <a:solidFill>
                  <a:srgbClr val="21242A"/>
                </a:solidFill>
                <a:latin typeface="Microsoft YaHei"/>
              </a:defRPr>
            </a:pPr>
            <a:r>
              <a:t>弥漫性大B细胞淋巴瘤</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试验药/方案：奥德罗奈昔单抗</a:t>
            </a:r>
          </a:p>
          <a:p>
            <a:pPr>
              <a:lnSpc>
                <a:spcPct val="103000"/>
              </a:lnSpc>
              <a:spcAft>
                <a:spcPts val="300"/>
              </a:spcAft>
              <a:defRPr sz="800">
                <a:solidFill>
                  <a:srgbClr val="21242A"/>
                </a:solidFill>
                <a:latin typeface="Microsoft YaHei"/>
              </a:defRPr>
            </a:pPr>
            <a:r>
              <a:t>靶点：CD3，CD20</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基线（类固醇预处理后、odronextamab治疗前）：DLBCL患者细胞增殖和代谢激活相关蛋白表达显著更高</a:t>
            </a:r>
          </a:p>
          <a:p>
            <a:pPr>
              <a:lnSpc>
                <a:spcPct val="103000"/>
              </a:lnSpc>
              <a:spcAft>
                <a:spcPts val="300"/>
              </a:spcAft>
              <a:defRPr sz="800">
                <a:solidFill>
                  <a:srgbClr val="21242A"/>
                </a:solidFill>
                <a:latin typeface="Microsoft YaHei"/>
              </a:defRPr>
            </a:pPr>
            <a:r>
              <a:t>FL患者血清CD21、ADGRG2、CD1C表达更高。</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人数：78</a:t>
            </a:r>
          </a:p>
          <a:p>
            <a:pPr>
              <a:lnSpc>
                <a:spcPct val="103000"/>
              </a:lnSpc>
              <a:spcAft>
                <a:spcPts val="300"/>
              </a:spcAft>
              <a:defRPr sz="810">
                <a:solidFill>
                  <a:srgbClr val="21242A"/>
                </a:solidFill>
                <a:latin typeface="Microsoft YaHei"/>
              </a:defRPr>
            </a:pPr>
            <a:r>
              <a:t>适应症：滤泡性淋巴瘤、弥漫性大B细胞淋巴瘤、B细胞非霍奇金淋巴瘤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登记号：NCT03888105</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试验药/方案：奥德罗奈昔单抗</a:t>
            </a:r>
          </a:p>
          <a:p>
            <a:pPr>
              <a:lnSpc>
                <a:spcPct val="103000"/>
              </a:lnSpc>
              <a:spcAft>
                <a:spcPts val="300"/>
              </a:spcAft>
              <a:defRPr sz="810">
                <a:solidFill>
                  <a:srgbClr val="21242A"/>
                </a:solidFill>
                <a:latin typeface="Microsoft YaHei"/>
              </a:defRPr>
            </a:pPr>
            <a:r>
              <a:t>靶点：CD3、CD20</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odronextamab治疗弥漫性大b细胞淋巴瘤（dlbcl）和滤泡性淋巴瘤（fl）患者与细胞因子释放综合征（crs）...</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peripheral proteomic signatures associated with cytokine release syndrome (cr...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PF1088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2265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22652">
                <a:tc>
                  <a:txBody>
                    <a:bodyPr wrap="square" lIns="36576" rIns="36576" tIns="18288" bIns="18288"/>
                    <a:lstStyle/>
                    <a:p>
                      <a:r>
                        <a:rPr sz="720" b="1">
                          <a:solidFill>
                            <a:srgbClr val="21242A"/>
                          </a:solidFill>
                          <a:latin typeface="Microsoft YaHei"/>
                        </a:rPr>
                        <a:t>1. 基线（类固醇预处理后、odronextamab治疗前）</a:t>
                      </a:r>
                    </a:p>
                  </a:txBody>
                  <a:tcPr>
                    <a:solidFill>
                      <a:srgbClr val="F6F8FB"/>
                    </a:solidFill>
                  </a:tcPr>
                </a:tc>
                <a:tc>
                  <a:txBody>
                    <a:bodyPr wrap="square" lIns="36576" rIns="36576" tIns="18288" bIns="18288"/>
                    <a:lstStyle/>
                    <a:p>
                      <a:r>
                        <a:rPr sz="720" b="0">
                          <a:solidFill>
                            <a:srgbClr val="21242A"/>
                          </a:solidFill>
                          <a:latin typeface="Microsoft YaHei"/>
                        </a:rPr>
                        <a:t>DLBCL患者细胞增殖和代谢激活相关蛋白表达显著更高；FL患者血清CD21、ADGRG2、CD1C表达更高。</a:t>
                      </a:r>
                    </a:p>
                  </a:txBody>
                  <a:tcPr>
                    <a:solidFill>
                      <a:srgbClr val="F6F8FB"/>
                    </a:solidFill>
                  </a:tcPr>
                </a:tc>
              </a:tr>
              <a:tr h="322652">
                <a:tc>
                  <a:txBody>
                    <a:bodyPr wrap="square" lIns="36576" rIns="36576" tIns="18288" bIns="18288"/>
                    <a:lstStyle/>
                    <a:p>
                      <a:r>
                        <a:rPr sz="720" b="1">
                          <a:solidFill>
                            <a:srgbClr val="21242A"/>
                          </a:solidFill>
                          <a:latin typeface="Microsoft YaHei"/>
                        </a:rPr>
                        <a:t>2. 改良方案与原始方案比较</a:t>
                      </a:r>
                    </a:p>
                  </a:txBody>
                  <a:tcPr>
                    <a:solidFill>
                      <a:srgbClr val="FFFFFF"/>
                    </a:solidFill>
                  </a:tcPr>
                </a:tc>
                <a:tc>
                  <a:txBody>
                    <a:bodyPr wrap="square" lIns="36576" rIns="36576" tIns="18288" bIns="18288"/>
                    <a:lstStyle/>
                    <a:p>
                      <a:r>
                        <a:rPr sz="720" b="0">
                          <a:solidFill>
                            <a:srgbClr val="21242A"/>
                          </a:solidFill>
                          <a:latin typeface="Microsoft YaHei"/>
                        </a:rPr>
                        <a:t>异体移植排斥通路显著下调，凝血通路富集；血清IFNγ和IL6水平降低。</a:t>
                      </a:r>
                    </a:p>
                  </a:txBody>
                  <a:tcPr>
                    <a:solidFill>
                      <a:srgbClr val="FFFFFF"/>
                    </a:solidFill>
                  </a:tcPr>
                </a:tc>
              </a:tr>
              <a:tr h="322652">
                <a:tc>
                  <a:txBody>
                    <a:bodyPr wrap="square" lIns="36576" rIns="36576" tIns="18288" bIns="18288"/>
                    <a:lstStyle/>
                    <a:p>
                      <a:r>
                        <a:rPr sz="720" b="1">
                          <a:solidFill>
                            <a:srgbClr val="21242A"/>
                          </a:solidFill>
                          <a:latin typeface="Microsoft YaHei"/>
                        </a:rPr>
                        <a:t>3. Gr≥2 CRS vs Gr1/no CRS基线比较</a:t>
                      </a:r>
                    </a:p>
                  </a:txBody>
                  <a:tcPr>
                    <a:solidFill>
                      <a:srgbClr val="F6F8FB"/>
                    </a:solidFill>
                  </a:tcPr>
                </a:tc>
                <a:tc>
                  <a:txBody>
                    <a:bodyPr wrap="square" lIns="36576" rIns="36576" tIns="18288" bIns="18288"/>
                    <a:lstStyle/>
                    <a:p>
                      <a:r>
                        <a:rPr sz="720" b="0">
                          <a:solidFill>
                            <a:srgbClr val="21242A"/>
                          </a:solidFill>
                          <a:latin typeface="Microsoft YaHei"/>
                        </a:rPr>
                        <a:t>FL患者中多种炎症通路富集（异体移植排斥、IFNγ、炎症反应、IL6/JAK/STAT3），DLBCL患者中无。</a:t>
                      </a:r>
                    </a:p>
                  </a:txBody>
                  <a:tcPr>
                    <a:solidFill>
                      <a:srgbClr val="F6F8FB"/>
                    </a:solidFill>
                  </a:tcPr>
                </a:tc>
              </a:tr>
              <a:tr h="322652">
                <a:tc>
                  <a:txBody>
                    <a:bodyPr wrap="square" lIns="36576" rIns="36576" tIns="18288" bIns="18288"/>
                    <a:lstStyle/>
                    <a:p>
                      <a:r>
                        <a:rPr sz="720" b="1">
                          <a:solidFill>
                            <a:srgbClr val="21242A"/>
                          </a:solidFill>
                          <a:latin typeface="Microsoft YaHei"/>
                        </a:rPr>
                        <a:t>4. CAR-HThigh vs CAR-HTlow的DLBCL基线样本</a:t>
                      </a:r>
                    </a:p>
                  </a:txBody>
                  <a:tcPr>
                    <a:solidFill>
                      <a:srgbClr val="FFFFFF"/>
                    </a:solidFill>
                  </a:tcPr>
                </a:tc>
                <a:tc>
                  <a:txBody>
                    <a:bodyPr wrap="square" lIns="36576" rIns="36576" tIns="18288" bIns="18288"/>
                    <a:lstStyle/>
                    <a:p>
                      <a:r>
                        <a:rPr sz="720" b="0">
                          <a:solidFill>
                            <a:srgbClr val="21242A"/>
                          </a:solidFill>
                          <a:latin typeface="Microsoft YaHei"/>
                        </a:rPr>
                        <a:t>异体移植排斥通路富集。</a:t>
                      </a:r>
                    </a:p>
                  </a:txBody>
                  <a:tcPr>
                    <a:solidFill>
                      <a:srgbClr val="FFFFFF"/>
                    </a:solidFill>
                  </a:tcPr>
                </a:tc>
              </a:tr>
              <a:tr h="322652">
                <a:tc>
                  <a:txBody>
                    <a:bodyPr wrap="square" lIns="36576" rIns="36576" tIns="18288" bIns="18288"/>
                    <a:lstStyle/>
                    <a:p>
                      <a:r>
                        <a:rPr sz="720" b="1">
                          <a:solidFill>
                            <a:srgbClr val="21242A"/>
                          </a:solidFill>
                          <a:latin typeface="Microsoft YaHei"/>
                        </a:rPr>
                        <a:t>5. 治疗期间</a:t>
                      </a:r>
                    </a:p>
                  </a:txBody>
                  <a:tcPr>
                    <a:solidFill>
                      <a:srgbClr val="F6F8FB"/>
                    </a:solidFill>
                  </a:tcPr>
                </a:tc>
                <a:tc>
                  <a:txBody>
                    <a:bodyPr wrap="square" lIns="36576" rIns="36576" tIns="18288" bIns="18288"/>
                    <a:lstStyle/>
                    <a:p>
                      <a:r>
                        <a:rPr sz="720" b="0">
                          <a:solidFill>
                            <a:srgbClr val="21242A"/>
                          </a:solidFill>
                          <a:latin typeface="Microsoft YaHei"/>
                        </a:rPr>
                        <a:t>DLBCL患者Gr≥2 CRS时炎症通路富集，FL患者更显著；FL患者Gr≥2 CRS还持续富集细胞/代谢应激反应通路（氧化磷酸化、脂肪酸代谢、血红素代谢）。</a:t>
                      </a:r>
                    </a:p>
                  </a:txBody>
                  <a:tcPr>
                    <a:solidFill>
                      <a:srgbClr val="F6F8FB"/>
                    </a:solidFill>
                  </a:tcPr>
                </a:tc>
              </a:tr>
              <a:tr h="322656">
                <a:tc>
                  <a:txBody>
                    <a:bodyPr wrap="square" lIns="36576" rIns="36576" tIns="18288" bIns="18288"/>
                    <a:lstStyle/>
                    <a:p>
                      <a:r>
                        <a:rPr sz="720" b="1">
                          <a:solidFill>
                            <a:srgbClr val="21242A"/>
                          </a:solidFill>
                          <a:latin typeface="Microsoft YaHei"/>
                        </a:rPr>
                        <a:t>6. 与odronextamab特征不同的CRS特征</a:t>
                      </a:r>
                    </a:p>
                  </a:txBody>
                  <a:tcPr>
                    <a:solidFill>
                      <a:srgbClr val="FFFFFF"/>
                    </a:solidFill>
                  </a:tcPr>
                </a:tc>
                <a:tc>
                  <a:txBody>
                    <a:bodyPr wrap="square" lIns="36576" rIns="36576" tIns="18288" bIns="18288"/>
                    <a:lstStyle/>
                    <a:p>
                      <a:r>
                        <a:rPr sz="720" b="0">
                          <a:solidFill>
                            <a:srgbClr val="21242A"/>
                          </a:solidFill>
                          <a:latin typeface="Microsoft YaHei"/>
                        </a:rPr>
                        <a:t>Gr≥2 CRS患者中IL6、IFNγ、IL17A、IL2持续升高（第1-4周）。</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药物/技术：双抗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摘要号：PF1088</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epcoritamab治疗后cd20表达减少和瘤内cd3+t细胞与弥漫性大b细胞淋巴瘤和滤泡性淋巴瘤亚群的进展性疾病有关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reduced cd20 expression and intratumoral cd3+ t cells following epcoritamab 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PF1069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滤泡性淋巴瘤</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基线CD20高表达（&gt;80%阳性肿瘤细胞）比例：89%（319/357）</a:t>
            </a:r>
          </a:p>
          <a:p>
            <a:pPr>
              <a:lnSpc>
                <a:spcPct val="103000"/>
              </a:lnSpc>
              <a:spcAft>
                <a:spcPts val="300"/>
              </a:spcAft>
              <a:defRPr sz="800">
                <a:solidFill>
                  <a:srgbClr val="21242A"/>
                </a:solidFill>
                <a:latin typeface="Microsoft YaHei"/>
              </a:defRPr>
            </a:pPr>
            <a:r>
              <a:t>在进展性疾病（PD）患者中，69%（18/26）在C2D15或EOT出现CD20表达下降（相对基线减少≥50%）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人数：357</a:t>
            </a:r>
          </a:p>
          <a:p>
            <a:pPr>
              <a:lnSpc>
                <a:spcPct val="103000"/>
              </a:lnSpc>
              <a:spcAft>
                <a:spcPts val="300"/>
              </a:spcAft>
              <a:defRPr sz="810">
                <a:solidFill>
                  <a:srgbClr val="21242A"/>
                </a:solidFill>
                <a:latin typeface="Microsoft YaHei"/>
              </a:defRPr>
            </a:pPr>
            <a:r>
              <a:t>适应症：弥漫性大B细胞淋巴瘤、滤泡性淋巴瘤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登记号：NCT03625037</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epcoritamab治疗后cd20表达减少和瘤内cd3+t细胞与弥漫性大b细胞淋巴瘤和滤泡性淋巴瘤亚群的进展性疾病有关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reduced cd20 expression and intratumoral cd3+ t cells following epcoritamab 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PF1069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EHA原文结果（中文字段未通过数字核对）（1/3）</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High baseline CD20 expression (&gt; 80% positive tumor cells) was observed in 89% (319/357) of biomarker-evaluab</a:t>
            </a:r>
          </a:p>
          <a:p>
            <a:pPr>
              <a:lnSpc>
                <a:spcPct val="103000"/>
              </a:lnSpc>
              <a:spcAft>
                <a:spcPts val="300"/>
              </a:spcAft>
              <a:defRPr sz="819">
                <a:solidFill>
                  <a:srgbClr val="21242A"/>
                </a:solidFill>
                <a:latin typeface="Microsoft YaHei"/>
              </a:defRPr>
            </a:pPr>
            <a:r>
              <a:t>le biopsies from patients with DLBCL and FL; CD20 expression 10% (PR, n = 3; SD, n = 2; PD, n = 18); patients with CR </a:t>
            </a:r>
          </a:p>
          <a:p>
            <a:pPr>
              <a:lnSpc>
                <a:spcPct val="103000"/>
              </a:lnSpc>
              <a:spcAft>
                <a:spcPts val="300"/>
              </a:spcAft>
              <a:defRPr sz="819">
                <a:solidFill>
                  <a:srgbClr val="21242A"/>
                </a:solidFill>
                <a:latin typeface="Microsoft YaHei"/>
              </a:defRPr>
            </a:pPr>
            <a:r>
              <a:t>were excluded due to no detectable tumor at C2D15, limiting generalizability.</a:t>
            </a:r>
          </a:p>
          <a:p>
            <a:pPr>
              <a:lnSpc>
                <a:spcPct val="103000"/>
              </a:lnSpc>
              <a:spcAft>
                <a:spcPts val="300"/>
              </a:spcAft>
              <a:defRPr sz="819">
                <a:solidFill>
                  <a:srgbClr val="21242A"/>
                </a:solidFill>
                <a:latin typeface="Microsoft YaHei"/>
              </a:defRPr>
            </a:pPr>
            <a:r>
              <a:t>CD20 expression was maintained on tx in 4 of 5 patients with PR/SD.</a:t>
            </a:r>
          </a:p>
          <a:p>
            <a:pPr>
              <a:lnSpc>
                <a:spcPct val="103000"/>
              </a:lnSpc>
              <a:spcAft>
                <a:spcPts val="300"/>
              </a:spcAft>
              <a:defRPr sz="819">
                <a:solidFill>
                  <a:srgbClr val="21242A"/>
                </a:solidFill>
                <a:latin typeface="Microsoft YaHei"/>
              </a:defRPr>
            </a:pPr>
            <a:r>
              <a:t>CD20 expression MS4A1 mutations in the extracellular and transmembrane domains; transcriptional downregulation was obs</a:t>
            </a:r>
          </a:p>
          <a:p>
            <a:pPr>
              <a:lnSpc>
                <a:spcPct val="103000"/>
              </a:lnSpc>
              <a:spcAft>
                <a:spcPts val="300"/>
              </a:spcAft>
              <a:defRPr sz="819">
                <a:solidFill>
                  <a:srgbClr val="21242A"/>
                </a:solidFill>
                <a:latin typeface="Microsoft YaHei"/>
              </a:defRPr>
            </a:pPr>
            <a:r>
              <a:t>erved in 2 (17%) patients.</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药物/技术：双抗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摘要号：PF1069</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epcoritamab治疗后cd20表达减少和瘤内cd3+t细胞与弥漫性大b细胞淋巴瘤和滤泡性淋巴瘤亚群的进展性疾病有关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reduced cd20 expression and intratumoral cd3+ t cells following epcoritamab 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PF1069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EHA原文结果（中文字段未通过数字核对）（2/3）</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Notably, 1 patient with SD who maintained CD20 expression at C2D15 harbored a pre-existing missense mutation in extrac</a:t>
            </a:r>
          </a:p>
          <a:p>
            <a:pPr>
              <a:lnSpc>
                <a:spcPct val="103000"/>
              </a:lnSpc>
              <a:spcAft>
                <a:spcPts val="300"/>
              </a:spcAft>
              <a:defRPr sz="819">
                <a:solidFill>
                  <a:srgbClr val="21242A"/>
                </a:solidFill>
                <a:latin typeface="Microsoft YaHei"/>
              </a:defRPr>
            </a:pPr>
            <a:r>
              <a:t>ellular loop 2 that may have interfered with epcor binding.</a:t>
            </a:r>
          </a:p>
          <a:p>
            <a:pPr>
              <a:lnSpc>
                <a:spcPct val="103000"/>
              </a:lnSpc>
              <a:spcAft>
                <a:spcPts val="300"/>
              </a:spcAft>
              <a:defRPr sz="819">
                <a:solidFill>
                  <a:srgbClr val="21242A"/>
                </a:solidFill>
                <a:latin typeface="Microsoft YaHei"/>
              </a:defRPr>
            </a:pPr>
            <a:r>
              <a:t>Of the 18 pts with PD, 7 maintained CD20 expression, of whom 4 showed on-tx and EOT reductions in intratumoral CD3 T c</a:t>
            </a:r>
          </a:p>
          <a:p>
            <a:pPr>
              <a:lnSpc>
                <a:spcPct val="103000"/>
              </a:lnSpc>
              <a:spcAft>
                <a:spcPts val="300"/>
              </a:spcAft>
              <a:defRPr sz="819">
                <a:solidFill>
                  <a:srgbClr val="21242A"/>
                </a:solidFill>
                <a:latin typeface="Microsoft YaHei"/>
              </a:defRPr>
            </a:pPr>
            <a:r>
              <a:t>ells.</a:t>
            </a:r>
          </a:p>
          <a:p>
            <a:pPr>
              <a:lnSpc>
                <a:spcPct val="103000"/>
              </a:lnSpc>
              <a:spcAft>
                <a:spcPts val="300"/>
              </a:spcAft>
              <a:defRPr sz="819">
                <a:solidFill>
                  <a:srgbClr val="21242A"/>
                </a:solidFill>
                <a:latin typeface="Microsoft YaHei"/>
              </a:defRPr>
            </a:pPr>
            <a:r>
              <a:t>Summary/Conclusion: Whilst most patients with DLBCL and FL have high baseline CD20 expression and high response rates </a:t>
            </a:r>
          </a:p>
          <a:p>
            <a:pPr>
              <a:lnSpc>
                <a:spcPct val="103000"/>
              </a:lnSpc>
              <a:spcAft>
                <a:spcPts val="300"/>
              </a:spcAft>
              <a:defRPr sz="819">
                <a:solidFill>
                  <a:srgbClr val="21242A"/>
                </a:solidFill>
                <a:latin typeface="Microsoft YaHei"/>
              </a:defRPr>
            </a:pPr>
            <a:r>
              <a:t>to epcor, clinical responses were also observed in some patients with baseline CD20 expression MS4A1 mutations and tra</a:t>
            </a:r>
          </a:p>
          <a:p>
            <a:pPr>
              <a:lnSpc>
                <a:spcPct val="103000"/>
              </a:lnSpc>
              <a:spcAft>
                <a:spcPts val="300"/>
              </a:spcAft>
              <a:defRPr sz="819">
                <a:solidFill>
                  <a:srgbClr val="21242A"/>
                </a:solidFill>
                <a:latin typeface="Microsoft YaHei"/>
              </a:defRPr>
            </a:pPr>
            <a:r>
              <a:t>nscriptional downregulation in a subset of patients.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epcoritamab治疗后cd20表达减少和瘤内cd3+t细胞与弥漫性大b细胞淋巴瘤和滤泡性淋巴瘤亚群的进展性疾病有关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reduced cd20 expression and intratumoral cd3+ t cells following epcoritamab 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PF1069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EHA原文结果（中文字段未通过数字核对）（3/3）</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Decreased intratumoral T-cell numbers were also identified as a potential mechanism of resistance.</a:t>
            </a:r>
          </a:p>
          <a:p>
            <a:pPr>
              <a:lnSpc>
                <a:spcPct val="103000"/>
              </a:lnSpc>
              <a:spcAft>
                <a:spcPts val="300"/>
              </a:spcAft>
              <a:defRPr sz="819">
                <a:solidFill>
                  <a:srgbClr val="21242A"/>
                </a:solidFill>
                <a:latin typeface="Microsoft YaHei"/>
              </a:defRPr>
            </a:pPr>
            <a:r>
              <a:t>Similar changes in CD20 expression at progression have been reported with other CD3xCD20 bispecific antibodies, sugges</a:t>
            </a:r>
          </a:p>
          <a:p>
            <a:pPr>
              <a:lnSpc>
                <a:spcPct val="103000"/>
              </a:lnSpc>
              <a:spcAft>
                <a:spcPts val="300"/>
              </a:spcAft>
              <a:defRPr sz="819">
                <a:solidFill>
                  <a:srgbClr val="21242A"/>
                </a:solidFill>
                <a:latin typeface="Microsoft YaHei"/>
              </a:defRPr>
            </a:pPr>
            <a:r>
              <a:t>ting antigen modulation may contribute to resistance in some patients.</a:t>
            </a:r>
          </a:p>
          <a:p>
            <a:pPr>
              <a:lnSpc>
                <a:spcPct val="103000"/>
              </a:lnSpc>
              <a:spcAft>
                <a:spcPts val="300"/>
              </a:spcAft>
              <a:defRPr sz="819">
                <a:solidFill>
                  <a:srgbClr val="21242A"/>
                </a:solidFill>
                <a:latin typeface="Microsoft YaHei"/>
              </a:defRPr>
            </a:pPr>
            <a:r>
              <a:t>These findings support further exploration of strategies to overcome antigen escape and restore therapeutic sensitivit</a:t>
            </a:r>
          </a:p>
          <a:p>
            <a:pPr>
              <a:lnSpc>
                <a:spcPct val="103000"/>
              </a:lnSpc>
              <a:spcAft>
                <a:spcPts val="300"/>
              </a:spcAft>
              <a:defRPr sz="819">
                <a:solidFill>
                  <a:srgbClr val="21242A"/>
                </a:solidFill>
                <a:latin typeface="Microsoft YaHei"/>
              </a:defRPr>
            </a:pPr>
            <a:r>
              <a:t>y.</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总代谢肿瘤体积和循环肿瘤dna作为复发/难治性弥漫性大b细胞淋巴瘤早期预后因素：starglo 3期试验的结果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total metabolic tumor volume and circulating tumor dna as early prognostic fa...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PF1061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N=246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对照/比较：试验组1：glofitamab, gemcitabine, oxaliplatin（Glofit-GemOx）</a:t>
            </a:r>
          </a:p>
          <a:p>
            <a:pPr>
              <a:lnSpc>
                <a:spcPct val="103000"/>
              </a:lnSpc>
              <a:spcAft>
                <a:spcPts val="300"/>
              </a:spcAft>
              <a:defRPr sz="800">
                <a:solidFill>
                  <a:srgbClr val="21242A"/>
                </a:solidFill>
                <a:latin typeface="Microsoft YaHei"/>
              </a:defRPr>
            </a:pPr>
            <a:r>
              <a:t>对照组：rituximab, gemcitabine, oxaliplatin（R-GemOx）</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基线高TMTV（≥125 cm³）与较差PFS相关：HR=1.49, p=0.004</a:t>
            </a:r>
          </a:p>
          <a:p>
            <a:pPr>
              <a:lnSpc>
                <a:spcPct val="103000"/>
              </a:lnSpc>
              <a:spcAft>
                <a:spcPts val="300"/>
              </a:spcAft>
              <a:defRPr sz="800">
                <a:solidFill>
                  <a:srgbClr val="21242A"/>
                </a:solidFill>
                <a:latin typeface="Microsoft YaHei"/>
              </a:defRPr>
            </a:pPr>
            <a:r>
              <a:t>Glofit-GemOx vs R-GemOx的PFS改善：高TMTV亚组HR=0.37, p&lt;0.001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人数：246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登记号：NCT04408638</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总代谢肿瘤体积和循环肿瘤dna作为复发/难治性弥漫性大b细胞淋巴瘤早期预后因素：starglo 3期试验的结果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total metabolic tumor volume and circulating tumor dna as early prognostic fa...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PF1061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EHA原文结果（中文字段未通过数字核对）（1/3）</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As of May 1, 2025, among TMTV-evaluable pts (n=246), high baseline TMTV (≥125cm 3 , median) was prognostic fo</a:t>
            </a:r>
          </a:p>
          <a:p>
            <a:pPr>
              <a:lnSpc>
                <a:spcPct val="103000"/>
              </a:lnSpc>
              <a:spcAft>
                <a:spcPts val="300"/>
              </a:spcAft>
              <a:defRPr sz="819">
                <a:solidFill>
                  <a:srgbClr val="21242A"/>
                </a:solidFill>
                <a:latin typeface="Microsoft YaHei"/>
              </a:defRPr>
            </a:pPr>
            <a:r>
              <a:t>r inferior PFS (hazard ratio [HR], 1.49, p=0.004).</a:t>
            </a:r>
          </a:p>
          <a:p>
            <a:pPr>
              <a:lnSpc>
                <a:spcPct val="103000"/>
              </a:lnSpc>
              <a:spcAft>
                <a:spcPts val="300"/>
              </a:spcAft>
              <a:defRPr sz="819">
                <a:solidFill>
                  <a:srgbClr val="21242A"/>
                </a:solidFill>
                <a:latin typeface="Microsoft YaHei"/>
              </a:defRPr>
            </a:pPr>
            <a:r>
              <a:t>Glofit-GemOx showed improved PFS over R-GemOx irrespective of TMTV burden (high TMTV: HR, 0.37, p \n Longitudinal ctDN</a:t>
            </a:r>
          </a:p>
          <a:p>
            <a:pPr>
              <a:lnSpc>
                <a:spcPct val="103000"/>
              </a:lnSpc>
              <a:spcAft>
                <a:spcPts val="300"/>
              </a:spcAft>
              <a:defRPr sz="819">
                <a:solidFill>
                  <a:srgbClr val="21242A"/>
                </a:solidFill>
                <a:latin typeface="Microsoft YaHei"/>
              </a:defRPr>
            </a:pPr>
            <a:r>
              <a:t>A analyses showed higher rates of undetected ctDNA with Glofit-GemOx vs R-GemOx across all timepoints: 47.7% vs 9.5% a</a:t>
            </a:r>
          </a:p>
          <a:p>
            <a:pPr>
              <a:lnSpc>
                <a:spcPct val="103000"/>
              </a:lnSpc>
              <a:spcAft>
                <a:spcPts val="300"/>
              </a:spcAft>
              <a:defRPr sz="819">
                <a:solidFill>
                  <a:srgbClr val="21242A"/>
                </a:solidFill>
                <a:latin typeface="Microsoft YaHei"/>
              </a:defRPr>
            </a:pPr>
            <a:r>
              <a:t>t Days 25–65 (early treatment), 65.6% vs 32.1% at Days 65–110 (mid-treatment), and 70.0% vs 31.6% at Days 110–220 ( Fi</a:t>
            </a:r>
          </a:p>
          <a:p>
            <a:pPr>
              <a:lnSpc>
                <a:spcPct val="103000"/>
              </a:lnSpc>
              <a:spcAft>
                <a:spcPts val="300"/>
              </a:spcAft>
              <a:defRPr sz="819">
                <a:solidFill>
                  <a:srgbClr val="21242A"/>
                </a:solidFill>
                <a:latin typeface="Microsoft YaHei"/>
              </a:defRPr>
            </a:pPr>
            <a:r>
              <a:t>gure ).</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药物/技术：双抗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摘要号：PF1061</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总代谢肿瘤体积和循环肿瘤dna作为复发/难治性弥漫性大b细胞淋巴瘤早期预后因素：starglo 3期试验的结果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total metabolic tumor volume and circulating tumor dna as early prognostic fa...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PF1061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EHA原文结果（中文字段未通过数字核对）（2/3）</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Among pts treated with Glofit-GemOx, undetected ctDNA status at Cycle 3 was strongly associated with prolonged PFS (p </a:t>
            </a:r>
          </a:p>
          <a:p>
            <a:pPr>
              <a:lnSpc>
                <a:spcPct val="103000"/>
              </a:lnSpc>
              <a:spcAft>
                <a:spcPts val="300"/>
              </a:spcAft>
              <a:defRPr sz="819">
                <a:solidFill>
                  <a:srgbClr val="21242A"/>
                </a:solidFill>
                <a:latin typeface="Microsoft YaHei"/>
              </a:defRPr>
            </a:pPr>
            <a:r>
              <a:t>Summary/Conclusion: These results demonstrate the potential for TMTV and ctDNA as powerful prognostic tools in R/R DLB</a:t>
            </a:r>
          </a:p>
          <a:p>
            <a:pPr>
              <a:lnSpc>
                <a:spcPct val="103000"/>
              </a:lnSpc>
              <a:spcAft>
                <a:spcPts val="300"/>
              </a:spcAft>
              <a:defRPr sz="819">
                <a:solidFill>
                  <a:srgbClr val="21242A"/>
                </a:solidFill>
                <a:latin typeface="Microsoft YaHei"/>
              </a:defRPr>
            </a:pPr>
            <a:r>
              <a:t>CL.</a:t>
            </a:r>
          </a:p>
          <a:p>
            <a:pPr>
              <a:lnSpc>
                <a:spcPct val="103000"/>
              </a:lnSpc>
              <a:spcAft>
                <a:spcPts val="300"/>
              </a:spcAft>
              <a:defRPr sz="819">
                <a:solidFill>
                  <a:srgbClr val="21242A"/>
                </a:solidFill>
                <a:latin typeface="Microsoft YaHei"/>
              </a:defRPr>
            </a:pPr>
            <a:r>
              <a:t>Glofit-GemOx demonstrated superior efficacy over R-GemOx regardless of tumor burden (TMTV or ctDNA).</a:t>
            </a:r>
          </a:p>
          <a:p>
            <a:pPr>
              <a:lnSpc>
                <a:spcPct val="103000"/>
              </a:lnSpc>
              <a:spcAft>
                <a:spcPts val="300"/>
              </a:spcAft>
              <a:defRPr sz="819">
                <a:solidFill>
                  <a:srgbClr val="21242A"/>
                </a:solidFill>
                <a:latin typeface="Microsoft YaHei"/>
              </a:defRPr>
            </a:pPr>
            <a:r>
              <a:t>In addition, longitudinal ctDNA monitoring supports early response assessment, with undetected ctDNA status by Cycle 3</a:t>
            </a:r>
          </a:p>
          <a:p>
            <a:pPr>
              <a:lnSpc>
                <a:spcPct val="103000"/>
              </a:lnSpc>
              <a:spcAft>
                <a:spcPts val="300"/>
              </a:spcAft>
              <a:defRPr sz="819">
                <a:solidFill>
                  <a:srgbClr val="21242A"/>
                </a:solidFill>
                <a:latin typeface="Microsoft YaHei"/>
              </a:defRPr>
            </a:pPr>
            <a:r>
              <a:t> emerging as a strong predictor of long-term PFS.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总代谢肿瘤体积和循环肿瘤dna作为复发/难治性弥漫性大b细胞淋巴瘤早期预后因素：starglo 3期试验的结果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total metabolic tumor volume and circulating tumor dna as early prognostic fa...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PF1061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EHA原文结果（中文字段未通过数字核对）（3/3）</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Higher rates of undetectable ctDNA were observed with Glofit-GemOx vs R-GemOx, validating its clinical benefit and sup</a:t>
            </a:r>
          </a:p>
          <a:p>
            <a:pPr>
              <a:lnSpc>
                <a:spcPct val="103000"/>
              </a:lnSpc>
              <a:spcAft>
                <a:spcPts val="300"/>
              </a:spcAft>
              <a:defRPr sz="819">
                <a:solidFill>
                  <a:srgbClr val="21242A"/>
                </a:solidFill>
                <a:latin typeface="Microsoft YaHei"/>
              </a:defRPr>
            </a:pPr>
            <a:r>
              <a:t>porting the superior efficacy observed in the primary analysis of STARGLO.</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epcoritamab+r-mini-chop治疗老年新诊断dlbcl患者2年缓解和mrd阴性率高：epcore nh...</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epcoritamab + r-mini-chop results in 2-year remissions and high mrd-negativit...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总缓解率（ORR）：93%</a:t>
            </a:r>
          </a:p>
          <a:p>
            <a:pPr>
              <a:lnSpc>
                <a:spcPct val="103000"/>
              </a:lnSpc>
              <a:spcAft>
                <a:spcPts val="300"/>
              </a:spcAft>
              <a:defRPr sz="800">
                <a:solidFill>
                  <a:srgbClr val="21242A"/>
                </a:solidFill>
                <a:latin typeface="Microsoft YaHei"/>
              </a:defRPr>
            </a:pPr>
            <a:r>
              <a:t>完全缓解率（CR）：86%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人数：28</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治疗线数：一线、二线、三线</a:t>
            </a:r>
          </a:p>
          <a:p>
            <a:pPr>
              <a:lnSpc>
                <a:spcPct val="103000"/>
              </a:lnSpc>
              <a:spcAft>
                <a:spcPts val="300"/>
              </a:spcAft>
              <a:defRPr sz="810">
                <a:solidFill>
                  <a:srgbClr val="21242A"/>
                </a:solidFill>
                <a:latin typeface="Microsoft YaHei"/>
              </a:defRPr>
            </a:pPr>
            <a:r>
              <a:t>登记号：NCT04663347</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epcoritamab+r-mini-chop治疗老年新诊断dlbcl患者2年缓解和mrd阴性率高：epcore nh...</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epcoritamab + r-mini-chop results in 2-year remissions and high mrd-negativit...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总缓解率（ORR）</a:t>
                      </a:r>
                    </a:p>
                  </a:txBody>
                  <a:tcPr>
                    <a:solidFill>
                      <a:srgbClr val="F6F8FB"/>
                    </a:solidFill>
                  </a:tcPr>
                </a:tc>
                <a:tc>
                  <a:txBody>
                    <a:bodyPr wrap="square" lIns="36576" rIns="36576" tIns="18288" bIns="18288"/>
                    <a:lstStyle/>
                    <a:p>
                      <a:r>
                        <a:rPr sz="720" b="0">
                          <a:solidFill>
                            <a:srgbClr val="21242A"/>
                          </a:solidFill>
                          <a:latin typeface="Microsoft YaHei"/>
                        </a:rPr>
                        <a:t>93%</a:t>
                      </a:r>
                    </a:p>
                  </a:txBody>
                  <a:tcPr>
                    <a:solidFill>
                      <a:srgbClr val="F6F8FB"/>
                    </a:solidFill>
                  </a:tcPr>
                </a:tc>
              </a:tr>
              <a:tr h="282321">
                <a:tc>
                  <a:txBody>
                    <a:bodyPr wrap="square" lIns="36576" rIns="36576" tIns="18288" bIns="18288"/>
                    <a:lstStyle/>
                    <a:p>
                      <a:r>
                        <a:rPr sz="720" b="1">
                          <a:solidFill>
                            <a:srgbClr val="21242A"/>
                          </a:solidFill>
                          <a:latin typeface="Microsoft YaHei"/>
                        </a:rPr>
                        <a:t>完全缓解率（CR）</a:t>
                      </a:r>
                    </a:p>
                  </a:txBody>
                  <a:tcPr>
                    <a:solidFill>
                      <a:srgbClr val="FFFFFF"/>
                    </a:solidFill>
                  </a:tcPr>
                </a:tc>
                <a:tc>
                  <a:txBody>
                    <a:bodyPr wrap="square" lIns="36576" rIns="36576" tIns="18288" bIns="18288"/>
                    <a:lstStyle/>
                    <a:p>
                      <a:r>
                        <a:rPr sz="720" b="0">
                          <a:solidFill>
                            <a:srgbClr val="21242A"/>
                          </a:solidFill>
                          <a:latin typeface="Microsoft YaHei"/>
                        </a:rPr>
                        <a:t>86%</a:t>
                      </a:r>
                    </a:p>
                  </a:txBody>
                  <a:tcPr>
                    <a:solidFill>
                      <a:srgbClr val="FFFFFF"/>
                    </a:solidFill>
                  </a:tcPr>
                </a:tc>
              </a:tr>
              <a:tr h="282321">
                <a:tc>
                  <a:txBody>
                    <a:bodyPr wrap="square" lIns="36576" rIns="36576" tIns="18288" bIns="18288"/>
                    <a:lstStyle/>
                    <a:p>
                      <a:r>
                        <a:rPr sz="720" b="1">
                          <a:solidFill>
                            <a:srgbClr val="21242A"/>
                          </a:solidFill>
                          <a:latin typeface="Microsoft YaHei"/>
                        </a:rPr>
                        <a:t>2年缓解持续时间（DOR）率</a:t>
                      </a:r>
                    </a:p>
                  </a:txBody>
                  <a:tcPr>
                    <a:solidFill>
                      <a:srgbClr val="F6F8FB"/>
                    </a:solidFill>
                  </a:tcPr>
                </a:tc>
                <a:tc>
                  <a:txBody>
                    <a:bodyPr wrap="square" lIns="36576" rIns="36576" tIns="18288" bIns="18288"/>
                    <a:lstStyle/>
                    <a:p>
                      <a:r>
                        <a:rPr sz="720" b="0">
                          <a:solidFill>
                            <a:srgbClr val="21242A"/>
                          </a:solidFill>
                          <a:latin typeface="Microsoft YaHei"/>
                        </a:rPr>
                        <a:t>79%</a:t>
                      </a:r>
                    </a:p>
                  </a:txBody>
                  <a:tcPr>
                    <a:solidFill>
                      <a:srgbClr val="F6F8FB"/>
                    </a:solidFill>
                  </a:tcPr>
                </a:tc>
              </a:tr>
              <a:tr h="282321">
                <a:tc>
                  <a:txBody>
                    <a:bodyPr wrap="square" lIns="36576" rIns="36576" tIns="18288" bIns="18288"/>
                    <a:lstStyle/>
                    <a:p>
                      <a:r>
                        <a:rPr sz="720" b="1">
                          <a:solidFill>
                            <a:srgbClr val="21242A"/>
                          </a:solidFill>
                          <a:latin typeface="Microsoft YaHei"/>
                        </a:rPr>
                        <a:t>2年完全缓解持续时间（DOCR）率</a:t>
                      </a:r>
                    </a:p>
                  </a:txBody>
                  <a:tcPr>
                    <a:solidFill>
                      <a:srgbClr val="FFFFFF"/>
                    </a:solidFill>
                  </a:tcPr>
                </a:tc>
                <a:tc>
                  <a:txBody>
                    <a:bodyPr wrap="square" lIns="36576" rIns="36576" tIns="18288" bIns="18288"/>
                    <a:lstStyle/>
                    <a:p>
                      <a:r>
                        <a:rPr sz="720" b="0">
                          <a:solidFill>
                            <a:srgbClr val="21242A"/>
                          </a:solidFill>
                          <a:latin typeface="Microsoft YaHei"/>
                        </a:rPr>
                        <a:t>79%</a:t>
                      </a:r>
                    </a:p>
                  </a:txBody>
                  <a:tcPr>
                    <a:solidFill>
                      <a:srgbClr val="FFFFFF"/>
                    </a:solidFill>
                  </a:tcPr>
                </a:tc>
              </a:tr>
              <a:tr h="282321">
                <a:tc>
                  <a:txBody>
                    <a:bodyPr wrap="square" lIns="36576" rIns="36576" tIns="18288" bIns="18288"/>
                    <a:lstStyle/>
                    <a:p>
                      <a:r>
                        <a:rPr sz="720" b="1">
                          <a:solidFill>
                            <a:srgbClr val="21242A"/>
                          </a:solidFill>
                          <a:latin typeface="Microsoft YaHei"/>
                        </a:rPr>
                        <a:t>2年无进展生存（PFS）率</a:t>
                      </a:r>
                    </a:p>
                  </a:txBody>
                  <a:tcPr>
                    <a:solidFill>
                      <a:srgbClr val="F6F8FB"/>
                    </a:solidFill>
                  </a:tcPr>
                </a:tc>
                <a:tc>
                  <a:txBody>
                    <a:bodyPr wrap="square" lIns="36576" rIns="36576" tIns="18288" bIns="18288"/>
                    <a:lstStyle/>
                    <a:p>
                      <a:r>
                        <a:rPr sz="720" b="0">
                          <a:solidFill>
                            <a:srgbClr val="21242A"/>
                          </a:solidFill>
                          <a:latin typeface="Microsoft YaHei"/>
                        </a:rPr>
                        <a:t>76%</a:t>
                      </a:r>
                    </a:p>
                  </a:txBody>
                  <a:tcPr>
                    <a:solidFill>
                      <a:srgbClr val="F6F8FB"/>
                    </a:solidFill>
                  </a:tcPr>
                </a:tc>
              </a:tr>
              <a:tr h="282321">
                <a:tc>
                  <a:txBody>
                    <a:bodyPr wrap="square" lIns="36576" rIns="36576" tIns="18288" bIns="18288"/>
                    <a:lstStyle/>
                    <a:p>
                      <a:r>
                        <a:rPr sz="720" b="1">
                          <a:solidFill>
                            <a:srgbClr val="21242A"/>
                          </a:solidFill>
                          <a:latin typeface="Microsoft YaHei"/>
                        </a:rPr>
                        <a:t>2年总生存（OS）率</a:t>
                      </a:r>
                    </a:p>
                  </a:txBody>
                  <a:tcPr>
                    <a:solidFill>
                      <a:srgbClr val="FFFFFF"/>
                    </a:solidFill>
                  </a:tcPr>
                </a:tc>
                <a:tc>
                  <a:txBody>
                    <a:bodyPr wrap="square" lIns="36576" rIns="36576" tIns="18288" bIns="18288"/>
                    <a:lstStyle/>
                    <a:p>
                      <a:r>
                        <a:rPr sz="720" b="0">
                          <a:solidFill>
                            <a:srgbClr val="21242A"/>
                          </a:solidFill>
                          <a:latin typeface="Microsoft YaHei"/>
                        </a:rPr>
                        <a:t>82%</a:t>
                      </a:r>
                    </a:p>
                  </a:txBody>
                  <a:tcPr>
                    <a:solidFill>
                      <a:srgbClr val="FFFFFF"/>
                    </a:solidFill>
                  </a:tcPr>
                </a:tc>
              </a:tr>
              <a:tr h="282321">
                <a:tc>
                  <a:txBody>
                    <a:bodyPr wrap="square" lIns="36576" rIns="36576" tIns="18288" bIns="18288"/>
                    <a:lstStyle/>
                    <a:p>
                      <a:r>
                        <a:rPr sz="720" b="1">
                          <a:solidFill>
                            <a:srgbClr val="21242A"/>
                          </a:solidFill>
                          <a:latin typeface="Microsoft YaHei"/>
                        </a:rPr>
                        <a:t>MRD阴性率</a:t>
                      </a:r>
                    </a:p>
                  </a:txBody>
                  <a:tcPr>
                    <a:solidFill>
                      <a:srgbClr val="F6F8FB"/>
                    </a:solidFill>
                  </a:tcPr>
                </a:tc>
                <a:tc>
                  <a:txBody>
                    <a:bodyPr wrap="square" lIns="36576" rIns="36576" tIns="18288" bIns="18288"/>
                    <a:lstStyle/>
                    <a:p>
                      <a:r>
                        <a:rPr sz="720" b="0">
                          <a:solidFill>
                            <a:srgbClr val="21242A"/>
                          </a:solidFill>
                          <a:latin typeface="Microsoft YaHei"/>
                        </a:rPr>
                        <a:t>95%（20/21）</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药物/技术：双抗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摘要号：PF1007</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epcoritamab+r-mini-chop治疗老年新诊断dlbcl患者2年缓解和mrd阴性率高：epcore nh...</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epcoritamab + r-mini-chop results in 2-year remissions and high mrd-negativit...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89611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896112">
                <a:tc>
                  <a:txBody>
                    <a:bodyPr wrap="square" lIns="36576" rIns="36576" tIns="18288" bIns="18288"/>
                    <a:lstStyle/>
                    <a:p>
                      <a:r>
                        <a:rPr sz="720" b="1">
                          <a:solidFill>
                            <a:srgbClr val="21242A"/>
                          </a:solidFill>
                          <a:latin typeface="Microsoft YaHei"/>
                        </a:rPr>
                        <a:t>≥3级中性粒细胞减少</a:t>
                      </a:r>
                    </a:p>
                  </a:txBody>
                  <a:tcPr>
                    <a:solidFill>
                      <a:srgbClr val="F6F8FB"/>
                    </a:solidFill>
                  </a:tcPr>
                </a:tc>
                <a:tc>
                  <a:txBody>
                    <a:bodyPr wrap="square" lIns="36576" rIns="36576" tIns="18288" bIns="18288"/>
                    <a:lstStyle/>
                    <a:p>
                      <a:r>
                        <a:rPr sz="720" b="0">
                          <a:solidFill>
                            <a:srgbClr val="21242A"/>
                          </a:solidFill>
                          <a:latin typeface="Microsoft YaHei"/>
                        </a:rPr>
                        <a:t>43%</a:t>
                      </a:r>
                    </a:p>
                  </a:txBody>
                  <a:tcPr>
                    <a:solidFill>
                      <a:srgbClr val="F6F8FB"/>
                    </a:solidFill>
                  </a:tcPr>
                </a:tc>
              </a:tr>
              <a:tr h="896112">
                <a:tc>
                  <a:txBody>
                    <a:bodyPr wrap="square" lIns="36576" rIns="36576" tIns="18288" bIns="18288"/>
                    <a:lstStyle/>
                    <a:p>
                      <a:r>
                        <a:rPr sz="720" b="1">
                          <a:solidFill>
                            <a:srgbClr val="21242A"/>
                          </a:solidFill>
                          <a:latin typeface="Microsoft YaHei"/>
                        </a:rPr>
                        <a:t>严重感染</a:t>
                      </a:r>
                    </a:p>
                  </a:txBody>
                  <a:tcPr>
                    <a:solidFill>
                      <a:srgbClr val="FFFFFF"/>
                    </a:solidFill>
                  </a:tcPr>
                </a:tc>
                <a:tc>
                  <a:txBody>
                    <a:bodyPr wrap="square" lIns="36576" rIns="36576" tIns="18288" bIns="18288"/>
                    <a:lstStyle/>
                    <a:p>
                      <a:r>
                        <a:rPr sz="720" b="0">
                          <a:solidFill>
                            <a:srgbClr val="21242A"/>
                          </a:solidFill>
                          <a:latin typeface="Microsoft YaHei"/>
                        </a:rPr>
                        <a:t>32%</a:t>
                      </a:r>
                    </a:p>
                  </a:txBody>
                  <a:tcPr>
                    <a:solidFill>
                      <a:srgbClr val="FFFFFF"/>
                    </a:solidFill>
                  </a:tcPr>
                </a:tc>
              </a:tr>
              <a:tr h="896112">
                <a:tc>
                  <a:txBody>
                    <a:bodyPr wrap="square" lIns="36576" rIns="36576" tIns="18288" bIns="18288"/>
                    <a:lstStyle/>
                    <a:p>
                      <a:r>
                        <a:rPr sz="720" b="1">
                          <a:solidFill>
                            <a:srgbClr val="21242A"/>
                          </a:solidFill>
                          <a:latin typeface="Microsoft YaHei"/>
                        </a:rPr>
                        <a:t>贫血</a:t>
                      </a:r>
                    </a:p>
                  </a:txBody>
                  <a:tcPr>
                    <a:solidFill>
                      <a:srgbClr val="F6F8FB"/>
                    </a:solidFill>
                  </a:tcPr>
                </a:tc>
                <a:tc>
                  <a:txBody>
                    <a:bodyPr wrap="square" lIns="36576" rIns="36576" tIns="18288" bIns="18288"/>
                    <a:lstStyle/>
                    <a:p>
                      <a:r>
                        <a:rPr sz="720" b="0">
                          <a:solidFill>
                            <a:srgbClr val="21242A"/>
                          </a:solidFill>
                          <a:latin typeface="Microsoft YaHei"/>
                        </a:rPr>
                        <a:t>14%</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北欧淋巴瘤组3期北极熊试验在老年或体弱弥漫性大细胞淋巴瘤患者中的安全性数据和初步合并疗效数据-r-polamini-c...</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safety data and initial pooled efficacy data from the nordic lymphoma group 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S238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N=300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靶点：CD79B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多组/多方案比较：试验组1：R-miniCHOP（标准治疗组）</a:t>
            </a:r>
          </a:p>
          <a:p>
            <a:pPr>
              <a:lnSpc>
                <a:spcPct val="103000"/>
              </a:lnSpc>
              <a:spcAft>
                <a:spcPts val="300"/>
              </a:spcAft>
              <a:defRPr sz="800">
                <a:solidFill>
                  <a:srgbClr val="21242A"/>
                </a:solidFill>
                <a:latin typeface="Microsoft YaHei"/>
              </a:defRPr>
            </a:pPr>
            <a:r>
              <a:t>试验组2：Pola-R-miniCHP（实验组，polatuzumab vedotin替代长春新碱）</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不良事件（AE）：任何等级AE发生率未明确给出，但报告了≥3级AE在Arm A为30%，Arm B为36%</a:t>
            </a:r>
          </a:p>
          <a:p>
            <a:pPr>
              <a:lnSpc>
                <a:spcPct val="103000"/>
              </a:lnSpc>
              <a:spcAft>
                <a:spcPts val="300"/>
              </a:spcAft>
              <a:defRPr sz="800">
                <a:solidFill>
                  <a:srgbClr val="21242A"/>
                </a:solidFill>
                <a:latin typeface="Microsoft YaHei"/>
              </a:defRPr>
            </a:pPr>
            <a:r>
              <a:t>感染≥3级：Arm A 7.3%，Arm B 12.7%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人数：300</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登记号：NCT04332822</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a:t>
            </a:r>
          </a:p>
          <a:p>
            <a:pPr>
              <a:lnSpc>
                <a:spcPct val="103000"/>
              </a:lnSpc>
              <a:spcAft>
                <a:spcPts val="300"/>
              </a:spcAft>
              <a:defRPr sz="810">
                <a:solidFill>
                  <a:srgbClr val="21242A"/>
                </a:solidFill>
                <a:latin typeface="Microsoft YaHei"/>
              </a:defRPr>
            </a:pPr>
            <a:r>
              <a:t>靶点：CD79B</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北欧淋巴瘤组3期北极熊试验在老年或体弱弥漫性大细胞淋巴瘤患者中的安全性数据和初步合并疗效数据-r-polamini-c...</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safety data and initial pooled efficacy data from the nordic lymphoma group 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S238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不良事件（AE）</a:t>
                      </a:r>
                    </a:p>
                  </a:txBody>
                  <a:tcPr>
                    <a:solidFill>
                      <a:srgbClr val="F6F8FB"/>
                    </a:solidFill>
                  </a:tcPr>
                </a:tc>
                <a:tc>
                  <a:txBody>
                    <a:bodyPr wrap="square" lIns="36576" rIns="36576" tIns="18288" bIns="18288"/>
                    <a:lstStyle/>
                    <a:p>
                      <a:r>
                        <a:rPr sz="720" b="0">
                          <a:solidFill>
                            <a:srgbClr val="21242A"/>
                          </a:solidFill>
                          <a:latin typeface="Microsoft YaHei"/>
                        </a:rPr>
                        <a:t>任何等级AE发生率未明确给出，但报告了≥3级AE在Arm A为30%，Arm B为36%</a:t>
                      </a:r>
                    </a:p>
                  </a:txBody>
                  <a:tcPr>
                    <a:solidFill>
                      <a:srgbClr val="F6F8FB"/>
                    </a:solidFill>
                  </a:tcPr>
                </a:tc>
              </a:tr>
              <a:tr h="282321">
                <a:tc>
                  <a:txBody>
                    <a:bodyPr wrap="square" lIns="36576" rIns="36576" tIns="18288" bIns="18288"/>
                    <a:lstStyle/>
                    <a:p>
                      <a:r>
                        <a:rPr sz="720" b="1">
                          <a:solidFill>
                            <a:srgbClr val="21242A"/>
                          </a:solidFill>
                          <a:latin typeface="Microsoft YaHei"/>
                        </a:rPr>
                        <a:t>感染≥3级</a:t>
                      </a:r>
                    </a:p>
                  </a:txBody>
                  <a:tcPr>
                    <a:solidFill>
                      <a:srgbClr val="FFFFFF"/>
                    </a:solidFill>
                  </a:tcPr>
                </a:tc>
                <a:tc>
                  <a:txBody>
                    <a:bodyPr wrap="square" lIns="36576" rIns="36576" tIns="18288" bIns="18288"/>
                    <a:lstStyle/>
                    <a:p>
                      <a:r>
                        <a:rPr sz="720" b="0">
                          <a:solidFill>
                            <a:srgbClr val="21242A"/>
                          </a:solidFill>
                          <a:latin typeface="Microsoft YaHei"/>
                        </a:rPr>
                        <a:t>Arm A 7.3%，Arm B 12.7%</a:t>
                      </a:r>
                    </a:p>
                  </a:txBody>
                  <a:tcPr>
                    <a:solidFill>
                      <a:srgbClr val="FFFFFF"/>
                    </a:solidFill>
                  </a:tcPr>
                </a:tc>
              </a:tr>
              <a:tr h="282321">
                <a:tc>
                  <a:txBody>
                    <a:bodyPr wrap="square" lIns="36576" rIns="36576" tIns="18288" bIns="18288"/>
                    <a:lstStyle/>
                    <a:p>
                      <a:r>
                        <a:rPr sz="720" b="1">
                          <a:solidFill>
                            <a:srgbClr val="21242A"/>
                          </a:solidFill>
                          <a:latin typeface="Microsoft YaHei"/>
                        </a:rPr>
                        <a:t>胃肠道毒性&gt;2级</a:t>
                      </a:r>
                    </a:p>
                  </a:txBody>
                  <a:tcPr>
                    <a:solidFill>
                      <a:srgbClr val="F6F8FB"/>
                    </a:solidFill>
                  </a:tcPr>
                </a:tc>
                <a:tc>
                  <a:txBody>
                    <a:bodyPr wrap="square" lIns="36576" rIns="36576" tIns="18288" bIns="18288"/>
                    <a:lstStyle/>
                    <a:p>
                      <a:r>
                        <a:rPr sz="720" b="0">
                          <a:solidFill>
                            <a:srgbClr val="21242A"/>
                          </a:solidFill>
                          <a:latin typeface="Microsoft YaHei"/>
                        </a:rPr>
                        <a:t>Arm A 3.3%，Arm B 6%</a:t>
                      </a:r>
                    </a:p>
                  </a:txBody>
                  <a:tcPr>
                    <a:solidFill>
                      <a:srgbClr val="F6F8FB"/>
                    </a:solidFill>
                  </a:tcPr>
                </a:tc>
              </a:tr>
              <a:tr h="282321">
                <a:tc>
                  <a:txBody>
                    <a:bodyPr wrap="square" lIns="36576" rIns="36576" tIns="18288" bIns="18288"/>
                    <a:lstStyle/>
                    <a:p>
                      <a:r>
                        <a:rPr sz="720" b="1">
                          <a:solidFill>
                            <a:srgbClr val="21242A"/>
                          </a:solidFill>
                          <a:latin typeface="Microsoft YaHei"/>
                        </a:rPr>
                        <a:t>周围神经病变1-2级</a:t>
                      </a:r>
                    </a:p>
                  </a:txBody>
                  <a:tcPr>
                    <a:solidFill>
                      <a:srgbClr val="FFFFFF"/>
                    </a:solidFill>
                  </a:tcPr>
                </a:tc>
                <a:tc>
                  <a:txBody>
                    <a:bodyPr wrap="square" lIns="36576" rIns="36576" tIns="18288" bIns="18288"/>
                    <a:lstStyle/>
                    <a:p>
                      <a:r>
                        <a:rPr sz="720" b="0">
                          <a:solidFill>
                            <a:srgbClr val="21242A"/>
                          </a:solidFill>
                          <a:latin typeface="Microsoft YaHei"/>
                        </a:rPr>
                        <a:t>Arm A 10.7%，Arm B 17.3%，≥3级仅Arm B 2例</a:t>
                      </a:r>
                    </a:p>
                  </a:txBody>
                  <a:tcPr>
                    <a:solidFill>
                      <a:srgbClr val="FFFFFF"/>
                    </a:solidFill>
                  </a:tcPr>
                </a:tc>
              </a:tr>
              <a:tr h="282321">
                <a:tc>
                  <a:txBody>
                    <a:bodyPr wrap="square" lIns="36576" rIns="36576" tIns="18288" bIns="18288"/>
                    <a:lstStyle/>
                    <a:p>
                      <a:r>
                        <a:rPr sz="720" b="1">
                          <a:solidFill>
                            <a:srgbClr val="21242A"/>
                          </a:solidFill>
                          <a:latin typeface="Microsoft YaHei"/>
                        </a:rPr>
                        <a:t>5级AE</a:t>
                      </a:r>
                    </a:p>
                  </a:txBody>
                  <a:tcPr>
                    <a:solidFill>
                      <a:srgbClr val="F6F8FB"/>
                    </a:solidFill>
                  </a:tcPr>
                </a:tc>
                <a:tc>
                  <a:txBody>
                    <a:bodyPr wrap="square" lIns="36576" rIns="36576" tIns="18288" bIns="18288"/>
                    <a:lstStyle/>
                    <a:p>
                      <a:r>
                        <a:rPr sz="720" b="0">
                          <a:solidFill>
                            <a:srgbClr val="21242A"/>
                          </a:solidFill>
                          <a:latin typeface="Microsoft YaHei"/>
                        </a:rPr>
                        <a:t>Arm A 2例，Arm B 8例</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血液学毒性两组无差异。</a:t>
                      </a:r>
                    </a:p>
                  </a:txBody>
                  <a:tcPr>
                    <a:solidFill>
                      <a:srgbClr val="FFFFFF"/>
                    </a:solidFill>
                  </a:tcPr>
                </a:tc>
              </a:tr>
              <a:tr h="282321">
                <a:tc>
                  <a:txBody>
                    <a:bodyPr wrap="square" lIns="36576" rIns="36576" tIns="18288" bIns="18288"/>
                    <a:lstStyle/>
                    <a:p>
                      <a:r>
                        <a:rPr sz="720" b="1">
                          <a:solidFill>
                            <a:srgbClr val="21242A"/>
                          </a:solidFill>
                          <a:latin typeface="Microsoft YaHei"/>
                        </a:rPr>
                        <a:t>疗效</a:t>
                      </a:r>
                    </a:p>
                  </a:txBody>
                  <a:tcPr>
                    <a:solidFill>
                      <a:srgbClr val="F6F8FB"/>
                    </a:solidFill>
                  </a:tcPr>
                </a:tc>
                <a:tc>
                  <a:txBody>
                    <a:bodyPr wrap="square" lIns="36576" rIns="36576" tIns="18288" bIns="18288"/>
                    <a:lstStyle/>
                    <a:p>
                      <a:r>
                        <a:rPr sz="720" b="0">
                          <a:solidFill>
                            <a:srgbClr val="21242A"/>
                          </a:solidFill>
                          <a:latin typeface="Microsoft YaHei"/>
                        </a:rPr>
                        <a:t>合并的2年无进展生存期（PFS）为67%（95%CI 60-73）；合并的2年总生存期（OS）为76%；总事件85例，其中35例死亡为首发事件。</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药物/技术：ADC</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摘要号：S238</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克隆性造血与接受dlbcl治疗的老年患者持续贫血有关：北极熊3期试验分析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clonal hematopoiesis is associated with persisting anemia in elderly patients...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PS2184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N=228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靶点：CD79B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多组/多方案比较：试验组1：R-miniCHOP</a:t>
            </a:r>
          </a:p>
          <a:p>
            <a:pPr>
              <a:lnSpc>
                <a:spcPct val="103000"/>
              </a:lnSpc>
              <a:spcAft>
                <a:spcPts val="300"/>
              </a:spcAft>
              <a:defRPr sz="800">
                <a:solidFill>
                  <a:srgbClr val="21242A"/>
                </a:solidFill>
                <a:latin typeface="Microsoft YaHei"/>
              </a:defRPr>
            </a:pPr>
            <a:r>
              <a:t>试验组2：R-miniCHP-polatuzumab vedotin</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基线CHIP检出率：40% (92/228)</a:t>
            </a:r>
          </a:p>
          <a:p>
            <a:pPr>
              <a:lnSpc>
                <a:spcPct val="103000"/>
              </a:lnSpc>
              <a:spcAft>
                <a:spcPts val="300"/>
              </a:spcAft>
              <a:defRPr sz="800">
                <a:solidFill>
                  <a:srgbClr val="21242A"/>
                </a:solidFill>
                <a:latin typeface="Microsoft YaHei"/>
              </a:defRPr>
            </a:pPr>
            <a:r>
              <a:t>常见突变基因：DNMT3A (n=55), TET2 (n=45), SF3B1 (n=15)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人数：228</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登记号：NCT04332822</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a:t>
            </a:r>
          </a:p>
          <a:p>
            <a:pPr>
              <a:lnSpc>
                <a:spcPct val="103000"/>
              </a:lnSpc>
              <a:spcAft>
                <a:spcPts val="300"/>
              </a:spcAft>
              <a:defRPr sz="810">
                <a:solidFill>
                  <a:srgbClr val="21242A"/>
                </a:solidFill>
                <a:latin typeface="Microsoft YaHei"/>
              </a:defRPr>
            </a:pPr>
            <a:r>
              <a:t>靶点：CD79B</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克隆性造血与接受dlbcl治疗的老年患者持续贫血有关：北极熊3期试验分析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clonal hematopoiesis is associated with persisting anemia in elderly patients...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PS2184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39/187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基线CHIP检出率：40% (92/228)；常见突变基因：DNMT3A (n=55), TET2 (n=45), SF3B1 (n=15)；大CHIP克隆(VAF≥10%, n=33)患者存在持续性贫血，治疗后未恢复；治疗后出现/增长</a:t>
            </a:r>
          </a:p>
          <a:p>
            <a:pPr>
              <a:lnSpc>
                <a:spcPct val="103000"/>
              </a:lnSpc>
              <a:spcAft>
                <a:spcPts val="300"/>
              </a:spcAft>
              <a:defRPr sz="819">
                <a:solidFill>
                  <a:srgbClr val="21242A"/>
                </a:solidFill>
                <a:latin typeface="Microsoft YaHei"/>
              </a:defRPr>
            </a:pPr>
            <a:r>
              <a:t>与治疗相关白血病相关的突变 (TP53和PPM1D, n=7)；SF3B1突变克隆在免疫化疗后迅速缩小(VAF下降≥40%, n=9)</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药物/技术：ADC</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摘要号：PS2184</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基于polatuzumab vedotin的弥漫性大b细胞淋巴瘤一线治疗的真实疗效、安全性和分子特征：一项具有综合gs...</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safety, and molecular characterization of polatuzumab ve...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N=51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靶点：CD79B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多组/多方案比较：试验组1：Pola-R-CHP（polatuzumab vedotin, rituximab, cyclop...</a:t>
            </a:r>
          </a:p>
          <a:p>
            <a:pPr>
              <a:lnSpc>
                <a:spcPct val="103000"/>
              </a:lnSpc>
              <a:spcAft>
                <a:spcPts val="300"/>
              </a:spcAft>
              <a:defRPr sz="800">
                <a:solidFill>
                  <a:srgbClr val="21242A"/>
                </a:solidFill>
                <a:latin typeface="Microsoft YaHei"/>
              </a:defRPr>
            </a:pPr>
            <a:r>
              <a:t>试验组2：Pola-R-miniCHP（polatuzumab vedotin, rituximab, cyclophosph...</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最佳总缓解率(ORR): 90.2%</a:t>
            </a:r>
          </a:p>
          <a:p>
            <a:pPr>
              <a:lnSpc>
                <a:spcPct val="103000"/>
              </a:lnSpc>
              <a:spcAft>
                <a:spcPts val="300"/>
              </a:spcAft>
              <a:defRPr sz="800">
                <a:solidFill>
                  <a:srgbClr val="21242A"/>
                </a:solidFill>
                <a:latin typeface="Microsoft YaHei"/>
              </a:defRPr>
            </a:pPr>
            <a:r>
              <a:t>完全缓解(CR): 84.3%</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人数：51</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a:t>
            </a:r>
          </a:p>
          <a:p>
            <a:pPr>
              <a:lnSpc>
                <a:spcPct val="103000"/>
              </a:lnSpc>
              <a:spcAft>
                <a:spcPts val="300"/>
              </a:spcAft>
              <a:defRPr sz="810">
                <a:solidFill>
                  <a:srgbClr val="21242A"/>
                </a:solidFill>
                <a:latin typeface="Microsoft YaHei"/>
              </a:defRPr>
            </a:pPr>
            <a:r>
              <a:t>靶点：CD79B</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基于polatuzumab vedotin的弥漫性大b细胞淋巴瘤一线治疗的真实疗效、安全性和分子特征：一项具有综合gs...</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safety, and molecular characterization of polatuzumab ve...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最佳总缓解率(ORR)</a:t>
                      </a:r>
                    </a:p>
                  </a:txBody>
                  <a:tcPr>
                    <a:solidFill>
                      <a:srgbClr val="F6F8FB"/>
                    </a:solidFill>
                  </a:tcPr>
                </a:tc>
                <a:tc>
                  <a:txBody>
                    <a:bodyPr wrap="square" lIns="36576" rIns="36576" tIns="18288" bIns="18288"/>
                    <a:lstStyle/>
                    <a:p>
                      <a:r>
                        <a:rPr sz="720" b="0">
                          <a:solidFill>
                            <a:srgbClr val="21242A"/>
                          </a:solidFill>
                          <a:latin typeface="Microsoft YaHei"/>
                        </a:rPr>
                        <a:t>90.2%</a:t>
                      </a:r>
                    </a:p>
                  </a:txBody>
                  <a:tcPr>
                    <a:solidFill>
                      <a:srgbClr val="F6F8FB"/>
                    </a:solidFill>
                  </a:tcPr>
                </a:tc>
              </a:tr>
              <a:tr h="282321">
                <a:tc>
                  <a:txBody>
                    <a:bodyPr wrap="square" lIns="36576" rIns="36576" tIns="18288" bIns="18288"/>
                    <a:lstStyle/>
                    <a:p>
                      <a:r>
                        <a:rPr sz="720" b="1">
                          <a:solidFill>
                            <a:srgbClr val="21242A"/>
                          </a:solidFill>
                          <a:latin typeface="Microsoft YaHei"/>
                        </a:rPr>
                        <a:t>完全缓解(CR)</a:t>
                      </a:r>
                    </a:p>
                  </a:txBody>
                  <a:tcPr>
                    <a:solidFill>
                      <a:srgbClr val="FFFFFF"/>
                    </a:solidFill>
                  </a:tcPr>
                </a:tc>
                <a:tc>
                  <a:txBody>
                    <a:bodyPr wrap="square" lIns="36576" rIns="36576" tIns="18288" bIns="18288"/>
                    <a:lstStyle/>
                    <a:p>
                      <a:r>
                        <a:rPr sz="720" b="0">
                          <a:solidFill>
                            <a:srgbClr val="21242A"/>
                          </a:solidFill>
                          <a:latin typeface="Microsoft YaHei"/>
                        </a:rPr>
                        <a:t>84.3%</a:t>
                      </a:r>
                    </a:p>
                  </a:txBody>
                  <a:tcPr>
                    <a:solidFill>
                      <a:srgbClr val="FFFFFF"/>
                    </a:solidFill>
                  </a:tcPr>
                </a:tc>
              </a:tr>
              <a:tr h="282321">
                <a:tc>
                  <a:txBody>
                    <a:bodyPr wrap="square" lIns="36576" rIns="36576" tIns="18288" bIns="18288"/>
                    <a:lstStyle/>
                    <a:p>
                      <a:r>
                        <a:rPr sz="720" b="1">
                          <a:solidFill>
                            <a:srgbClr val="21242A"/>
                          </a:solidFill>
                          <a:latin typeface="Microsoft YaHei"/>
                        </a:rPr>
                        <a:t>部分缓解(PR)</a:t>
                      </a:r>
                    </a:p>
                  </a:txBody>
                  <a:tcPr>
                    <a:solidFill>
                      <a:srgbClr val="F6F8FB"/>
                    </a:solidFill>
                  </a:tcPr>
                </a:tc>
                <a:tc>
                  <a:txBody>
                    <a:bodyPr wrap="square" lIns="36576" rIns="36576" tIns="18288" bIns="18288"/>
                    <a:lstStyle/>
                    <a:p>
                      <a:r>
                        <a:rPr sz="720" b="0">
                          <a:solidFill>
                            <a:srgbClr val="21242A"/>
                          </a:solidFill>
                          <a:latin typeface="Microsoft YaHei"/>
                        </a:rPr>
                        <a:t>5.9%</a:t>
                      </a:r>
                    </a:p>
                  </a:txBody>
                  <a:tcPr>
                    <a:solidFill>
                      <a:srgbClr val="F6F8FB"/>
                    </a:solidFill>
                  </a:tcPr>
                </a:tc>
              </a:tr>
              <a:tr h="282321">
                <a:tc>
                  <a:txBody>
                    <a:bodyPr wrap="square" lIns="36576" rIns="36576" tIns="18288" bIns="18288"/>
                    <a:lstStyle/>
                    <a:p>
                      <a:r>
                        <a:rPr sz="720" b="1">
                          <a:solidFill>
                            <a:srgbClr val="21242A"/>
                          </a:solidFill>
                          <a:latin typeface="Microsoft YaHei"/>
                        </a:rPr>
                        <a:t>疾病进展(PD)</a:t>
                      </a:r>
                    </a:p>
                  </a:txBody>
                  <a:tcPr>
                    <a:solidFill>
                      <a:srgbClr val="FFFFFF"/>
                    </a:solidFill>
                  </a:tcPr>
                </a:tc>
                <a:tc>
                  <a:txBody>
                    <a:bodyPr wrap="square" lIns="36576" rIns="36576" tIns="18288" bIns="18288"/>
                    <a:lstStyle/>
                    <a:p>
                      <a:r>
                        <a:rPr sz="720" b="0">
                          <a:solidFill>
                            <a:srgbClr val="21242A"/>
                          </a:solidFill>
                          <a:latin typeface="Microsoft YaHei"/>
                        </a:rPr>
                        <a:t>9.8%</a:t>
                      </a:r>
                    </a:p>
                  </a:txBody>
                  <a:tcPr>
                    <a:solidFill>
                      <a:srgbClr val="FFFFFF"/>
                    </a:solidFill>
                  </a:tcPr>
                </a:tc>
              </a:tr>
              <a:tr h="282321">
                <a:tc>
                  <a:txBody>
                    <a:bodyPr wrap="square" lIns="36576" rIns="36576" tIns="18288" bIns="18288"/>
                    <a:lstStyle/>
                    <a:p>
                      <a:r>
                        <a:rPr sz="720" b="1">
                          <a:solidFill>
                            <a:srgbClr val="21242A"/>
                          </a:solidFill>
                          <a:latin typeface="Microsoft YaHei"/>
                        </a:rPr>
                        <a:t>12个月无进展生存期(PFS)</a:t>
                      </a:r>
                    </a:p>
                  </a:txBody>
                  <a:tcPr>
                    <a:solidFill>
                      <a:srgbClr val="F6F8FB"/>
                    </a:solidFill>
                  </a:tcPr>
                </a:tc>
                <a:tc>
                  <a:txBody>
                    <a:bodyPr wrap="square" lIns="36576" rIns="36576" tIns="18288" bIns="18288"/>
                    <a:lstStyle/>
                    <a:p>
                      <a:r>
                        <a:rPr sz="720" b="0">
                          <a:solidFill>
                            <a:srgbClr val="21242A"/>
                          </a:solidFill>
                          <a:latin typeface="Microsoft YaHei"/>
                        </a:rPr>
                        <a:t>88.6%</a:t>
                      </a:r>
                    </a:p>
                  </a:txBody>
                  <a:tcPr>
                    <a:solidFill>
                      <a:srgbClr val="F6F8FB"/>
                    </a:solidFill>
                  </a:tcPr>
                </a:tc>
              </a:tr>
              <a:tr h="282321">
                <a:tc>
                  <a:txBody>
                    <a:bodyPr wrap="square" lIns="36576" rIns="36576" tIns="18288" bIns="18288"/>
                    <a:lstStyle/>
                    <a:p>
                      <a:r>
                        <a:rPr sz="720" b="1">
                          <a:solidFill>
                            <a:srgbClr val="21242A"/>
                          </a:solidFill>
                          <a:latin typeface="Microsoft YaHei"/>
                        </a:rPr>
                        <a:t>中位随访</a:t>
                      </a:r>
                    </a:p>
                  </a:txBody>
                  <a:tcPr>
                    <a:solidFill>
                      <a:srgbClr val="FFFFFF"/>
                    </a:solidFill>
                  </a:tcPr>
                </a:tc>
                <a:tc>
                  <a:txBody>
                    <a:bodyPr wrap="square" lIns="36576" rIns="36576" tIns="18288" bIns="18288"/>
                    <a:lstStyle/>
                    <a:p>
                      <a:r>
                        <a:rPr sz="720" b="0">
                          <a:solidFill>
                            <a:srgbClr val="21242A"/>
                          </a:solidFill>
                          <a:latin typeface="Microsoft YaHei"/>
                        </a:rPr>
                        <a:t>13.2个月</a:t>
                      </a:r>
                    </a:p>
                  </a:txBody>
                  <a:tcPr>
                    <a:solidFill>
                      <a:srgbClr val="FFFFFF"/>
                    </a:solidFill>
                  </a:tcPr>
                </a:tc>
              </a:tr>
              <a:tr h="282321">
                <a:tc>
                  <a:txBody>
                    <a:bodyPr wrap="square" lIns="36576" rIns="36576" tIns="18288" bIns="18288"/>
                    <a:lstStyle/>
                    <a:p>
                      <a:r>
                        <a:rPr sz="720" b="1">
                          <a:solidFill>
                            <a:srgbClr val="21242A"/>
                          </a:solidFill>
                          <a:latin typeface="Microsoft YaHei"/>
                        </a:rPr>
                        <a:t>3-4级血液学毒性</a:t>
                      </a:r>
                    </a:p>
                  </a:txBody>
                  <a:tcPr>
                    <a:solidFill>
                      <a:srgbClr val="F6F8FB"/>
                    </a:solidFill>
                  </a:tcPr>
                </a:tc>
                <a:tc>
                  <a:txBody>
                    <a:bodyPr wrap="square" lIns="36576" rIns="36576" tIns="18288" bIns="18288"/>
                    <a:lstStyle/>
                    <a:p>
                      <a:r>
                        <a:rPr sz="720" b="0">
                          <a:solidFill>
                            <a:srgbClr val="21242A"/>
                          </a:solidFill>
                          <a:latin typeface="Microsoft YaHei"/>
                        </a:rPr>
                        <a:t>51.0%</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药物/技术：ADC</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摘要号：PS2120</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基于polatuzumab vedotin的弥漫性大b细胞淋巴瘤一线治疗的真实疗效、安全性和分子特征：一项具有综合gs...</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safety, and molecular characterization of polatuzumab ve...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1194816">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1194816">
                <a:tc>
                  <a:txBody>
                    <a:bodyPr wrap="square" lIns="36576" rIns="36576" tIns="18288" bIns="18288"/>
                    <a:lstStyle/>
                    <a:p>
                      <a:r>
                        <a:rPr sz="720" b="1">
                          <a:solidFill>
                            <a:srgbClr val="21242A"/>
                          </a:solidFill>
                          <a:latin typeface="Microsoft YaHei"/>
                        </a:rPr>
                        <a:t>肺部感染</a:t>
                      </a:r>
                    </a:p>
                  </a:txBody>
                  <a:tcPr>
                    <a:solidFill>
                      <a:srgbClr val="F6F8FB"/>
                    </a:solidFill>
                  </a:tcPr>
                </a:tc>
                <a:tc>
                  <a:txBody>
                    <a:bodyPr wrap="square" lIns="36576" rIns="36576" tIns="18288" bIns="18288"/>
                    <a:lstStyle/>
                    <a:p>
                      <a:r>
                        <a:rPr sz="720" b="0">
                          <a:solidFill>
                            <a:srgbClr val="21242A"/>
                          </a:solidFill>
                          <a:latin typeface="Microsoft YaHei"/>
                        </a:rPr>
                        <a:t>9.8%</a:t>
                      </a:r>
                    </a:p>
                  </a:txBody>
                  <a:tcPr>
                    <a:solidFill>
                      <a:srgbClr val="F6F8FB"/>
                    </a:solidFill>
                  </a:tcPr>
                </a:tc>
              </a:tr>
              <a:tr h="1194816">
                <a:tc>
                  <a:txBody>
                    <a:bodyPr wrap="square" lIns="36576" rIns="36576" tIns="18288" bIns="18288"/>
                    <a:lstStyle/>
                    <a:p>
                      <a:r>
                        <a:rPr sz="720" b="1">
                          <a:solidFill>
                            <a:srgbClr val="21242A"/>
                          </a:solidFill>
                          <a:latin typeface="Microsoft YaHei"/>
                        </a:rPr>
                        <a:t>周围神经病变(1-2级)</a:t>
                      </a:r>
                    </a:p>
                  </a:txBody>
                  <a:tcPr>
                    <a:solidFill>
                      <a:srgbClr val="FFFFFF"/>
                    </a:solidFill>
                  </a:tcPr>
                </a:tc>
                <a:tc>
                  <a:txBody>
                    <a:bodyPr wrap="square" lIns="36576" rIns="36576" tIns="18288" bIns="18288"/>
                    <a:lstStyle/>
                    <a:p>
                      <a:r>
                        <a:rPr sz="720" b="0">
                          <a:solidFill>
                            <a:srgbClr val="21242A"/>
                          </a:solidFill>
                          <a:latin typeface="Microsoft YaHei"/>
                        </a:rPr>
                        <a:t>19.6%</a:t>
                      </a:r>
                    </a:p>
                  </a:txBody>
                  <a:tcPr>
                    <a:solidFill>
                      <a:srgbClr val="FFFFFF"/>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polatuzumab vedotin联合奥来拉替尼和利妥昔单抗（pro方案）作为一线治疗高龄体弱dlbcl患者：一项...</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polatuzumab vedotin combined with orelabrutinib and rituximab (pro regimen)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N=39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试验药/方案：奥布替尼</a:t>
            </a:r>
          </a:p>
          <a:p>
            <a:pPr>
              <a:lnSpc>
                <a:spcPct val="103000"/>
              </a:lnSpc>
              <a:spcAft>
                <a:spcPts val="300"/>
              </a:spcAft>
              <a:defRPr sz="800">
                <a:solidFill>
                  <a:srgbClr val="21242A"/>
                </a:solidFill>
                <a:latin typeface="Microsoft YaHei"/>
              </a:defRPr>
            </a:pPr>
            <a:r>
              <a:t>维泊妥珠单抗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完全缓解率（CR）: 58.6% (17/29)</a:t>
            </a:r>
          </a:p>
          <a:p>
            <a:pPr>
              <a:lnSpc>
                <a:spcPct val="103000"/>
              </a:lnSpc>
              <a:spcAft>
                <a:spcPts val="300"/>
              </a:spcAft>
              <a:defRPr sz="800">
                <a:solidFill>
                  <a:srgbClr val="21242A"/>
                </a:solidFill>
                <a:latin typeface="Microsoft YaHei"/>
              </a:defRPr>
            </a:pPr>
            <a:r>
              <a:t>客观缓解率（ORR）: 96.5%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人数：39</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登记号：NCT06530511</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试验药/方案：奥布替尼、维泊妥珠单抗、利妥昔单抗</a:t>
            </a:r>
          </a:p>
          <a:p>
            <a:pPr>
              <a:lnSpc>
                <a:spcPct val="103000"/>
              </a:lnSpc>
              <a:spcAft>
                <a:spcPts val="300"/>
              </a:spcAft>
              <a:defRPr sz="810">
                <a:solidFill>
                  <a:srgbClr val="21242A"/>
                </a:solidFill>
                <a:latin typeface="Microsoft YaHei"/>
              </a:defRPr>
            </a:pPr>
            <a:r>
              <a:t>靶点：BTK、CD79B、CD20</a:t>
            </a:r>
          </a:p>
          <a:p>
            <a:pPr>
              <a:lnSpc>
                <a:spcPct val="103000"/>
              </a:lnSpc>
              <a:spcAft>
                <a:spcPts val="300"/>
              </a:spcAft>
              <a:defRPr sz="810">
                <a:solidFill>
                  <a:srgbClr val="21242A"/>
                </a:solidFill>
                <a:latin typeface="Microsoft YaHei"/>
              </a:defRPr>
            </a:pPr>
            <a:r>
              <a:t>药物/技术类别：化药、缬氨酸-瓜氨酸 VC、MMAE</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polatuzumab vedotin联合奥来拉替尼和利妥昔单抗（pro方案）作为一线治疗高龄体弱dlbcl患者：一项...</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polatuzumab vedotin combined with orelabrutinib and rituximab (pro regimen)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EHA原文结果（中文字段未通过数字核对）（1/5）</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By February 2026, 39 patients with a median age of 78.0 years (IQR: 75.0–84.0) were evaluable, including 43.6</a:t>
            </a:r>
          </a:p>
          <a:p>
            <a:pPr>
              <a:lnSpc>
                <a:spcPct val="103000"/>
              </a:lnSpc>
              <a:spcAft>
                <a:spcPts val="300"/>
              </a:spcAft>
              <a:defRPr sz="819">
                <a:solidFill>
                  <a:srgbClr val="21242A"/>
                </a:solidFill>
                <a:latin typeface="Microsoft YaHei"/>
              </a:defRPr>
            </a:pPr>
            <a:r>
              <a:t>% (n=17) aged ≥80.</a:t>
            </a:r>
          </a:p>
          <a:p>
            <a:pPr>
              <a:lnSpc>
                <a:spcPct val="103000"/>
              </a:lnSpc>
              <a:spcAft>
                <a:spcPts val="300"/>
              </a:spcAft>
              <a:defRPr sz="819">
                <a:solidFill>
                  <a:srgbClr val="21242A"/>
                </a:solidFill>
                <a:latin typeface="Microsoft YaHei"/>
              </a:defRPr>
            </a:pPr>
            <a:r>
              <a:t>High-risk features were prevalent: 69.2% each presented with an IPI score of 3–5, stage III–IV disease, or elevated LD</a:t>
            </a:r>
          </a:p>
          <a:p>
            <a:pPr>
              <a:lnSpc>
                <a:spcPct val="103000"/>
              </a:lnSpc>
              <a:spcAft>
                <a:spcPts val="300"/>
              </a:spcAft>
              <a:defRPr sz="819">
                <a:solidFill>
                  <a:srgbClr val="21242A"/>
                </a:solidFill>
                <a:latin typeface="Microsoft YaHei"/>
              </a:defRPr>
            </a:pPr>
            <a:r>
              <a:t>H.</a:t>
            </a:r>
          </a:p>
          <a:p>
            <a:pPr>
              <a:lnSpc>
                <a:spcPct val="103000"/>
              </a:lnSpc>
              <a:spcAft>
                <a:spcPts val="300"/>
              </a:spcAft>
              <a:defRPr sz="819">
                <a:solidFill>
                  <a:srgbClr val="21242A"/>
                </a:solidFill>
                <a:latin typeface="Microsoft YaHei"/>
              </a:defRPr>
            </a:pPr>
            <a:r>
              <a:t>Histologically, 97.4% had DLBCL, and one (2.6%) had primary cutaneous DLBCL, leg type (PCDLBCL, LT); 77.0% were of the</a:t>
            </a:r>
          </a:p>
          <a:p>
            <a:pPr>
              <a:lnSpc>
                <a:spcPct val="103000"/>
              </a:lnSpc>
              <a:spcAft>
                <a:spcPts val="300"/>
              </a:spcAft>
              <a:defRPr sz="819">
                <a:solidFill>
                  <a:srgbClr val="21242A"/>
                </a:solidFill>
                <a:latin typeface="Microsoft YaHei"/>
              </a:defRPr>
            </a:pPr>
            <a:r>
              <a:t> non-GCB/ABC subtype.</a:t>
            </a:r>
          </a:p>
          <a:p>
            <a:pPr>
              <a:lnSpc>
                <a:spcPct val="103000"/>
              </a:lnSpc>
              <a:spcAft>
                <a:spcPts val="300"/>
              </a:spcAft>
              <a:defRPr sz="819">
                <a:solidFill>
                  <a:srgbClr val="21242A"/>
                </a:solidFill>
                <a:latin typeface="Microsoft YaHei"/>
              </a:defRPr>
            </a:pPr>
            <a:r>
              <a:t>Comorbidities affected 74.3% (29/39) of this ultra-elderly cohort, most commonly cardiovascular diseases (41.0%), hype</a:t>
            </a:r>
          </a:p>
          <a:p>
            <a:pPr>
              <a:lnSpc>
                <a:spcPct val="103000"/>
              </a:lnSpc>
              <a:spcAft>
                <a:spcPts val="300"/>
              </a:spcAft>
              <a:defRPr sz="819">
                <a:solidFill>
                  <a:srgbClr val="21242A"/>
                </a:solidFill>
                <a:latin typeface="Microsoft YaHei"/>
              </a:defRPr>
            </a:pPr>
            <a:r>
              <a:t>rtension (35.9%), diabetes (15.4%), cerebrovascular diseases (15.4%), and prostatic hypertrophy (5.1%).</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药物/技术：ADC</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摘要号：PS2072</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polatuzumab vedotin联合奥来拉替尼和利妥昔单抗（pro方案）作为一线治疗高龄体弱dlbcl患者：一项...</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polatuzumab vedotin combined with orelabrutinib and rituximab (pro regimen)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\n At the data cutoff, of the 39 enrolled patients, 29 have completed the interim efficacy assessment, the CR rate was</a:t>
            </a:r>
          </a:p>
          <a:p>
            <a:pPr>
              <a:lnSpc>
                <a:spcPct val="103000"/>
              </a:lnSpc>
              <a:spcAft>
                <a:spcPts val="300"/>
              </a:spcAft>
              <a:defRPr sz="819">
                <a:solidFill>
                  <a:srgbClr val="21242A"/>
                </a:solidFill>
                <a:latin typeface="Microsoft YaHei"/>
              </a:defRPr>
            </a:pPr>
            <a:r>
              <a:t> 58.6% (17/29), with an ORR of 96.5%.</a:t>
            </a:r>
          </a:p>
          <a:p>
            <a:pPr>
              <a:lnSpc>
                <a:spcPct val="103000"/>
              </a:lnSpc>
              <a:spcAft>
                <a:spcPts val="300"/>
              </a:spcAft>
              <a:defRPr sz="819">
                <a:solidFill>
                  <a:srgbClr val="21242A"/>
                </a:solidFill>
                <a:latin typeface="Microsoft YaHei"/>
              </a:defRPr>
            </a:pPr>
            <a:r>
              <a:t>Among these, 37.9% (11/29) achieved a partial response, while 3.4% (1/29) experienced disease progression.</a:t>
            </a:r>
          </a:p>
          <a:p>
            <a:pPr>
              <a:lnSpc>
                <a:spcPct val="103000"/>
              </a:lnSpc>
              <a:spcAft>
                <a:spcPts val="300"/>
              </a:spcAft>
              <a:defRPr sz="819">
                <a:solidFill>
                  <a:srgbClr val="21242A"/>
                </a:solidFill>
                <a:latin typeface="Microsoft YaHei"/>
              </a:defRPr>
            </a:pPr>
            <a:r>
              <a:t>Notably, in the 12 patients identified with the MCD subtype, the ORR rate was 100% (12/12), the CR rate was 66.7% (8/1</a:t>
            </a:r>
          </a:p>
          <a:p>
            <a:pPr>
              <a:lnSpc>
                <a:spcPct val="103000"/>
              </a:lnSpc>
              <a:spcAft>
                <a:spcPts val="300"/>
              </a:spcAft>
              <a:defRPr sz="819">
                <a:solidFill>
                  <a:srgbClr val="21242A"/>
                </a:solidFill>
                <a:latin typeface="Microsoft YaHei"/>
              </a:defRPr>
            </a:pPr>
            <a:r>
              <a:t>2).</a:t>
            </a:r>
          </a:p>
          <a:p>
            <a:pPr>
              <a:lnSpc>
                <a:spcPct val="103000"/>
              </a:lnSpc>
              <a:spcAft>
                <a:spcPts val="300"/>
              </a:spcAft>
              <a:defRPr sz="819">
                <a:solidFill>
                  <a:srgbClr val="21242A"/>
                </a:solidFill>
                <a:latin typeface="Microsoft YaHei"/>
              </a:defRPr>
            </a:pPr>
            <a:r>
              <a:t>At the completion of combination therapy (C6-response), the CR rate was 91.7% (22/24), the ORR rate was 95.8 % (23/24)</a:t>
            </a:r>
          </a:p>
          <a:p>
            <a:pPr>
              <a:lnSpc>
                <a:spcPct val="103000"/>
              </a:lnSpc>
              <a:spcAft>
                <a:spcPts val="300"/>
              </a:spcAft>
              <a:defRPr sz="819">
                <a:solidFill>
                  <a:srgbClr val="21242A"/>
                </a:solidFill>
                <a:latin typeface="Microsoft YaHei"/>
              </a:defRPr>
            </a:pPr>
            <a:r>
              <a:t>.</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polatuzumab vedotin联合奥来拉替尼和利妥昔单抗（pro方案）作为一线治疗高龄体弱dlbcl患者：一项...</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polatuzumab vedotin combined with orelabrutinib and rituximab (pro regimen)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With a median follow-up of 7.0 months (range, 0.4–21.5), neither the median progression-free survival (PFS) nor the me</a:t>
            </a:r>
          </a:p>
          <a:p>
            <a:pPr>
              <a:lnSpc>
                <a:spcPct val="103000"/>
              </a:lnSpc>
              <a:spcAft>
                <a:spcPts val="300"/>
              </a:spcAft>
              <a:defRPr sz="819">
                <a:solidFill>
                  <a:srgbClr val="21242A"/>
                </a:solidFill>
                <a:latin typeface="Microsoft YaHei"/>
              </a:defRPr>
            </a:pPr>
            <a:r>
              <a:t>dian overall survival (OS) has been reached.</a:t>
            </a:r>
          </a:p>
          <a:p>
            <a:pPr>
              <a:lnSpc>
                <a:spcPct val="103000"/>
              </a:lnSpc>
              <a:spcAft>
                <a:spcPts val="300"/>
              </a:spcAft>
              <a:defRPr sz="819">
                <a:solidFill>
                  <a:srgbClr val="21242A"/>
                </a:solidFill>
                <a:latin typeface="Microsoft YaHei"/>
              </a:defRPr>
            </a:pPr>
            <a:r>
              <a:t>The estimated 9-month PFS rate was 92.8%.</a:t>
            </a:r>
          </a:p>
          <a:p>
            <a:pPr>
              <a:lnSpc>
                <a:spcPct val="103000"/>
              </a:lnSpc>
              <a:spcAft>
                <a:spcPts val="300"/>
              </a:spcAft>
              <a:defRPr sz="819">
                <a:solidFill>
                  <a:srgbClr val="21242A"/>
                </a:solidFill>
                <a:latin typeface="Microsoft YaHei"/>
              </a:defRPr>
            </a:pPr>
            <a:r>
              <a:t>Subgroup analysis of patients aged ≥80 years (n=17) demonstrated survival outcomes comparable to the overall cohort, s</a:t>
            </a:r>
          </a:p>
          <a:p>
            <a:pPr>
              <a:lnSpc>
                <a:spcPct val="103000"/>
              </a:lnSpc>
              <a:spcAft>
                <a:spcPts val="300"/>
              </a:spcAft>
              <a:defRPr sz="819">
                <a:solidFill>
                  <a:srgbClr val="21242A"/>
                </a:solidFill>
                <a:latin typeface="Microsoft YaHei"/>
              </a:defRPr>
            </a:pPr>
            <a:r>
              <a:t>uggesting the sustained benefit of the chemo-free PRO regimen in the oldest-old.</a:t>
            </a:r>
          </a:p>
          <a:p>
            <a:pPr>
              <a:lnSpc>
                <a:spcPct val="103000"/>
              </a:lnSpc>
              <a:spcAft>
                <a:spcPts val="300"/>
              </a:spcAft>
              <a:defRPr sz="819">
                <a:solidFill>
                  <a:srgbClr val="21242A"/>
                </a:solidFill>
                <a:latin typeface="Microsoft YaHei"/>
              </a:defRPr>
            </a:pPr>
            <a:r>
              <a:t>\n The PRO regimen demonstrated a manageable safety profile in this ultra-elderly and frail population.</a:t>
            </a:r>
          </a:p>
          <a:p>
            <a:pPr>
              <a:lnSpc>
                <a:spcPct val="103000"/>
              </a:lnSpc>
              <a:spcAft>
                <a:spcPts val="300"/>
              </a:spcAft>
              <a:defRPr sz="819">
                <a:solidFill>
                  <a:srgbClr val="21242A"/>
                </a:solidFill>
                <a:latin typeface="Microsoft YaHei"/>
              </a:defRPr>
            </a:pPr>
            <a:r>
              <a:t>Grade 3-4 adverse events (AEs) were primarily pulmonary infections (17.9%) and neutropenia (10.3%).</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polatuzumab vedotin联合奥来拉替尼和利妥昔单抗（pro方案）作为一线治疗高龄体弱dlbcl患者：一项...</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polatuzumab vedotin combined with orelabrutinib and rituximab (pro regimen)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Most other hematological and non-hematological toxicities were confined to Grade 1-2 and were clinically manageable wi</a:t>
            </a:r>
          </a:p>
          <a:p>
            <a:pPr>
              <a:lnSpc>
                <a:spcPct val="103000"/>
              </a:lnSpc>
              <a:spcAft>
                <a:spcPts val="300"/>
              </a:spcAft>
              <a:defRPr sz="819">
                <a:solidFill>
                  <a:srgbClr val="21242A"/>
                </a:solidFill>
                <a:latin typeface="Microsoft YaHei"/>
              </a:defRPr>
            </a:pPr>
            <a:r>
              <a:t>th supportive care.</a:t>
            </a:r>
          </a:p>
          <a:p>
            <a:pPr>
              <a:lnSpc>
                <a:spcPct val="103000"/>
              </a:lnSpc>
              <a:spcAft>
                <a:spcPts val="300"/>
              </a:spcAft>
              <a:defRPr sz="819">
                <a:solidFill>
                  <a:srgbClr val="21242A"/>
                </a:solidFill>
                <a:latin typeface="Microsoft YaHei"/>
              </a:defRPr>
            </a:pPr>
            <a:r>
              <a:t>Summary/Conclusion: In summary, despite a high comorbidity burden (74.3%), updated data from 39 patients indicate that</a:t>
            </a:r>
          </a:p>
          <a:p>
            <a:pPr>
              <a:lnSpc>
                <a:spcPct val="103000"/>
              </a:lnSpc>
              <a:spcAft>
                <a:spcPts val="300"/>
              </a:spcAft>
              <a:defRPr sz="819">
                <a:solidFill>
                  <a:srgbClr val="21242A"/>
                </a:solidFill>
                <a:latin typeface="Microsoft YaHei"/>
              </a:defRPr>
            </a:pPr>
            <a:r>
              <a:t> the chemotherapy-free PRO regimen is an effective and tolerable frontline option for elderly and frail DLBCL patients</a:t>
            </a:r>
          </a:p>
          <a:p>
            <a:pPr>
              <a:lnSpc>
                <a:spcPct val="103000"/>
              </a:lnSpc>
              <a:spcAft>
                <a:spcPts val="300"/>
              </a:spcAft>
              <a:defRPr sz="819">
                <a:solidFill>
                  <a:srgbClr val="21242A"/>
                </a:solidFill>
                <a:latin typeface="Microsoft YaHei"/>
              </a:defRPr>
            </a:pPr>
            <a:r>
              <a:t>.</a:t>
            </a:r>
          </a:p>
          <a:p>
            <a:pPr>
              <a:lnSpc>
                <a:spcPct val="103000"/>
              </a:lnSpc>
              <a:spcAft>
                <a:spcPts val="300"/>
              </a:spcAft>
              <a:defRPr sz="819">
                <a:solidFill>
                  <a:srgbClr val="21242A"/>
                </a:solidFill>
                <a:latin typeface="Microsoft YaHei"/>
              </a:defRPr>
            </a:pPr>
            <a:r>
              <a:t>It achieved a 91.7% CR rate at treatment completion and an estimated 9-month PFS of 92.8%, with 100% ORR in the MCD su</a:t>
            </a:r>
          </a:p>
          <a:p>
            <a:pPr>
              <a:lnSpc>
                <a:spcPct val="103000"/>
              </a:lnSpc>
              <a:spcAft>
                <a:spcPts val="300"/>
              </a:spcAft>
              <a:defRPr sz="819">
                <a:solidFill>
                  <a:srgbClr val="21242A"/>
                </a:solidFill>
                <a:latin typeface="Microsoft YaHei"/>
              </a:defRPr>
            </a:pPr>
            <a:r>
              <a:t>btype.</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polatuzumab vedotin联合奥来拉替尼和利妥昔单抗（pro方案）作为一线治疗高龄体弱dlbcl患者：一项...</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polatuzumab vedotin combined with orelabrutinib and rituximab (pro regimen)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EHA原文结果（中文字段未通过数字核对）（5/5）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These results support PRO as a feasible strategy for vulnerable patients, including those ≥80 years who are unfit for </a:t>
            </a:r>
          </a:p>
          <a:p>
            <a:pPr>
              <a:lnSpc>
                <a:spcPct val="103000"/>
              </a:lnSpc>
              <a:spcAft>
                <a:spcPts val="300"/>
              </a:spcAft>
              <a:defRPr sz="819">
                <a:solidFill>
                  <a:srgbClr val="21242A"/>
                </a:solidFill>
                <a:latin typeface="Microsoft YaHei"/>
              </a:defRPr>
            </a:pPr>
            <a:r>
              <a:t>intensive immunochemotherapy.</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缩短ctdna的初步结果：弥漫性大b细胞淋巴瘤一线治疗可测量的残余疾病适应降级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preliminary results from shorten-ctdna: measurable residual disease-adapted 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环磷酰胺</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多组/多方案比较：试验组1：R-CHOP（rituximab, cyclophosphamide, doxorubicin,...</a:t>
            </a:r>
          </a:p>
          <a:p>
            <a:pPr>
              <a:lnSpc>
                <a:spcPct val="103000"/>
              </a:lnSpc>
              <a:spcAft>
                <a:spcPts val="300"/>
              </a:spcAft>
              <a:defRPr sz="800">
                <a:solidFill>
                  <a:srgbClr val="21242A"/>
                </a:solidFill>
                <a:latin typeface="Microsoft YaHei"/>
              </a:defRPr>
            </a:pPr>
            <a:r>
              <a:t>试验组2：R-pola-CHP（polatuzumab vedotin, rituximab, cyclophosphamid...</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实时ctDNA-MRD检测成功率：13/14 (93%) 患者成功鉴定PV并进行检测</a:t>
            </a:r>
          </a:p>
          <a:p>
            <a:pPr>
              <a:lnSpc>
                <a:spcPct val="103000"/>
              </a:lnSpc>
              <a:spcAft>
                <a:spcPts val="300"/>
              </a:spcAft>
              <a:defRPr sz="800">
                <a:solidFill>
                  <a:srgbClr val="21242A"/>
                </a:solidFill>
                <a:latin typeface="Microsoft YaHei"/>
              </a:defRPr>
            </a:pPr>
            <a:r>
              <a:t>C4D1 ctDNA-MRD未检测到率：9/13 (69%)</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人数：14</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登记号：NCT06693830</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试验药/方案：维泊妥珠单抗、环磷酰胺、泼尼松、长春新碱</a:t>
            </a:r>
          </a:p>
          <a:p>
            <a:pPr>
              <a:lnSpc>
                <a:spcPct val="103000"/>
              </a:lnSpc>
              <a:spcAft>
                <a:spcPts val="300"/>
              </a:spcAft>
              <a:defRPr sz="810">
                <a:solidFill>
                  <a:srgbClr val="21242A"/>
                </a:solidFill>
                <a:latin typeface="Microsoft YaHei"/>
              </a:defRPr>
            </a:pPr>
            <a:r>
              <a:t>靶点：CD79B、DNA、GR、Tubulin</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缩短ctdna的初步结果：弥漫性大b细胞淋巴瘤一线治疗可测量的残余疾病适应降级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preliminary results from shorten-ctdna: measurable residual disease-adapted 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451713">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451713">
                <a:tc>
                  <a:txBody>
                    <a:bodyPr wrap="square" lIns="36576" rIns="36576" tIns="18288" bIns="18288"/>
                    <a:lstStyle/>
                    <a:p>
                      <a:r>
                        <a:rPr sz="720" b="1">
                          <a:solidFill>
                            <a:srgbClr val="21242A"/>
                          </a:solidFill>
                          <a:latin typeface="Microsoft YaHei"/>
                        </a:rPr>
                        <a:t>实时ctDNA-MRD检测成功率</a:t>
                      </a:r>
                    </a:p>
                  </a:txBody>
                  <a:tcPr>
                    <a:solidFill>
                      <a:srgbClr val="F6F8FB"/>
                    </a:solidFill>
                  </a:tcPr>
                </a:tc>
                <a:tc>
                  <a:txBody>
                    <a:bodyPr wrap="square" lIns="36576" rIns="36576" tIns="18288" bIns="18288"/>
                    <a:lstStyle/>
                    <a:p>
                      <a:r>
                        <a:rPr sz="720" b="0">
                          <a:solidFill>
                            <a:srgbClr val="21242A"/>
                          </a:solidFill>
                          <a:latin typeface="Microsoft YaHei"/>
                        </a:rPr>
                        <a:t>13/14 (93%) 患者成功鉴定PV并进行检测</a:t>
                      </a:r>
                    </a:p>
                  </a:txBody>
                  <a:tcPr>
                    <a:solidFill>
                      <a:srgbClr val="F6F8FB"/>
                    </a:solidFill>
                  </a:tcPr>
                </a:tc>
              </a:tr>
              <a:tr h="451713">
                <a:tc>
                  <a:txBody>
                    <a:bodyPr wrap="square" lIns="36576" rIns="36576" tIns="18288" bIns="18288"/>
                    <a:lstStyle/>
                    <a:p>
                      <a:r>
                        <a:rPr sz="720" b="1">
                          <a:solidFill>
                            <a:srgbClr val="21242A"/>
                          </a:solidFill>
                          <a:latin typeface="Microsoft YaHei"/>
                        </a:rPr>
                        <a:t>C4D1 ctDNA-MRD未检测到率</a:t>
                      </a:r>
                    </a:p>
                  </a:txBody>
                  <a:tcPr>
                    <a:solidFill>
                      <a:srgbClr val="FFFFFF"/>
                    </a:solidFill>
                  </a:tcPr>
                </a:tc>
                <a:tc>
                  <a:txBody>
                    <a:bodyPr wrap="square" lIns="36576" rIns="36576" tIns="18288" bIns="18288"/>
                    <a:lstStyle/>
                    <a:p>
                      <a:r>
                        <a:rPr sz="720" b="0">
                          <a:solidFill>
                            <a:srgbClr val="21242A"/>
                          </a:solidFill>
                          <a:latin typeface="Microsoft YaHei"/>
                        </a:rPr>
                        <a:t>9/13 (69%)</a:t>
                      </a:r>
                    </a:p>
                  </a:txBody>
                  <a:tcPr>
                    <a:solidFill>
                      <a:srgbClr val="FFFFFF"/>
                    </a:solidFill>
                  </a:tcPr>
                </a:tc>
              </a:tr>
              <a:tr h="451713">
                <a:tc>
                  <a:txBody>
                    <a:bodyPr wrap="square" lIns="36576" rIns="36576" tIns="18288" bIns="18288"/>
                    <a:lstStyle/>
                    <a:p>
                      <a:r>
                        <a:rPr sz="720" b="1">
                          <a:solidFill>
                            <a:srgbClr val="21242A"/>
                          </a:solidFill>
                          <a:latin typeface="Microsoft YaHei"/>
                        </a:rPr>
                        <a:t>iPET4结果</a:t>
                      </a:r>
                    </a:p>
                  </a:txBody>
                  <a:tcPr>
                    <a:solidFill>
                      <a:srgbClr val="F6F8FB"/>
                    </a:solidFill>
                  </a:tcPr>
                </a:tc>
                <a:tc>
                  <a:txBody>
                    <a:bodyPr wrap="square" lIns="36576" rIns="36576" tIns="18288" bIns="18288"/>
                    <a:lstStyle/>
                    <a:p>
                      <a:r>
                        <a:rPr sz="720" b="0">
                          <a:solidFill>
                            <a:srgbClr val="21242A"/>
                          </a:solidFill>
                          <a:latin typeface="Microsoft YaHei"/>
                        </a:rPr>
                        <a:t>5/9明确CMR，4/9模棱两可但活检证实CMR</a:t>
                      </a:r>
                    </a:p>
                  </a:txBody>
                  <a:tcPr>
                    <a:solidFill>
                      <a:srgbClr val="F6F8FB"/>
                    </a:solidFill>
                  </a:tcPr>
                </a:tc>
              </a:tr>
              <a:tr h="451716">
                <a:tc>
                  <a:txBody>
                    <a:bodyPr wrap="square" lIns="36576" rIns="36576" tIns="18288" bIns="18288"/>
                    <a:lstStyle/>
                    <a:p>
                      <a:r>
                        <a:rPr sz="720" b="1">
                          <a:solidFill>
                            <a:srgbClr val="21242A"/>
                          </a:solidFill>
                          <a:latin typeface="Microsoft YaHei"/>
                        </a:rPr>
                        <a:t>降阶梯结果</a:t>
                      </a:r>
                    </a:p>
                  </a:txBody>
                  <a:tcPr>
                    <a:solidFill>
                      <a:srgbClr val="FFFFFF"/>
                    </a:solidFill>
                  </a:tcPr>
                </a:tc>
                <a:tc>
                  <a:txBody>
                    <a:bodyPr wrap="square" lIns="36576" rIns="36576" tIns="18288" bIns="18288"/>
                    <a:lstStyle/>
                    <a:p>
                      <a:r>
                        <a:rPr sz="720" b="0">
                          <a:solidFill>
                            <a:srgbClr val="21242A"/>
                          </a:solidFill>
                          <a:latin typeface="Microsoft YaHei"/>
                        </a:rPr>
                        <a:t>8例降阶梯至利妥昔单抗单药（另1例等待中），前6例EOT PET均为CMR，所有降阶梯患者保持缓解，中位随访6.4个月</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药物/技术：ADC</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摘要号：PF982</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pola-rchp治疗结外受累的dlbcl患者：代表性不足人群的真实证据</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pola-rchp for dlbcl patients with extranodal involvement: real-world evidence...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N=103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靶点：CD79B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客观缓解率（ORR）：86%|完全缓解率（CR）：81%|6个月无进展生存率：85.9%|12个月无进展生存率：77.3%|6...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人数：103</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a:t>
            </a:r>
          </a:p>
          <a:p>
            <a:pPr>
              <a:lnSpc>
                <a:spcPct val="103000"/>
              </a:lnSpc>
              <a:spcAft>
                <a:spcPts val="300"/>
              </a:spcAft>
              <a:defRPr sz="810">
                <a:solidFill>
                  <a:srgbClr val="21242A"/>
                </a:solidFill>
                <a:latin typeface="Microsoft YaHei"/>
              </a:defRPr>
            </a:pPr>
            <a:r>
              <a:t>靶点：CD79B</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pola-rchp治疗结外受累的dlbcl患者：代表性不足人群的真实证据</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pola-rchp for dlbcl patients with extranodal involvement: real-world evidence...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客观缓解率（ORR）：86%|完全缓解率（CR）：81%|6个月无进展生存率：85.9%|12个月无进展生存率：77.3%|6个月总生存率：100%|12个月总生存率：97.4%|任何级别不良事件：中性粒细胞减少32%，恶心25%，周围</a:t>
            </a:r>
          </a:p>
          <a:p>
            <a:pPr>
              <a:lnSpc>
                <a:spcPct val="103000"/>
              </a:lnSpc>
              <a:spcAft>
                <a:spcPts val="300"/>
              </a:spcAft>
              <a:defRPr sz="819">
                <a:solidFill>
                  <a:srgbClr val="21242A"/>
                </a:solidFill>
                <a:latin typeface="Microsoft YaHei"/>
              </a:defRPr>
            </a:pPr>
            <a:r>
              <a:t>神经病变20%|≥3级不良事件：中性粒细胞减少24%，感染10%，贫血9%|无治疗相关死亡</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药物/技术：ADC</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摘要号：PF1022</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布鲁顿酪氨酸激酶抑制剂维持治疗一线弥漫性大b细胞淋巴瘤：一项挑战传统范式的多中心现实研究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bruton tyrosine kinase inhibitor maintenance therapy in first-line diffuse la...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N=106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试验药/方案：奥布替尼</a:t>
            </a:r>
          </a:p>
          <a:p>
            <a:pPr>
              <a:lnSpc>
                <a:spcPct val="103000"/>
              </a:lnSpc>
              <a:spcAft>
                <a:spcPts val="300"/>
              </a:spcAft>
              <a:defRPr sz="800">
                <a:solidFill>
                  <a:srgbClr val="21242A"/>
                </a:solidFill>
                <a:latin typeface="Microsoft YaHei"/>
              </a:defRPr>
            </a:pPr>
            <a:r>
              <a:t>泽布替尼</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对照/比较：试验组：BTKi维持治疗（zanubrutinib或orelabrutinib）</a:t>
            </a:r>
          </a:p>
          <a:p>
            <a:pPr>
              <a:lnSpc>
                <a:spcPct val="103000"/>
              </a:lnSpc>
              <a:spcAft>
                <a:spcPts val="300"/>
              </a:spcAft>
              <a:defRPr sz="800">
                <a:solidFill>
                  <a:srgbClr val="21242A"/>
                </a:solidFill>
                <a:latin typeface="Microsoft YaHei"/>
              </a:defRPr>
            </a:pPr>
            <a:r>
              <a:t>对照组：PSM匹配对照组（来自REMOL-B数据库）</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2年PFS率：90%</a:t>
            </a:r>
          </a:p>
          <a:p>
            <a:pPr>
              <a:lnSpc>
                <a:spcPct val="103000"/>
              </a:lnSpc>
              <a:spcAft>
                <a:spcPts val="300"/>
              </a:spcAft>
              <a:defRPr sz="800">
                <a:solidFill>
                  <a:srgbClr val="21242A"/>
                </a:solidFill>
                <a:latin typeface="Microsoft YaHei"/>
              </a:defRPr>
            </a:pPr>
            <a:r>
              <a:t>2年OS率：98%</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人数：106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治疗线数：一线、维持</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试验药/方案：奥布替尼、泽布替尼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布鲁顿酪氨酸激酶抑制剂维持治疗一线弥漫性大b细胞淋巴瘤：一项挑战传统范式的多中心现实研究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bruton tyrosine kinase inhibitor maintenance therapy in first-line diffuse la...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2年PFS率</a:t>
                      </a:r>
                    </a:p>
                  </a:txBody>
                  <a:tcPr>
                    <a:solidFill>
                      <a:srgbClr val="F6F8FB"/>
                    </a:solidFill>
                  </a:tcPr>
                </a:tc>
                <a:tc>
                  <a:txBody>
                    <a:bodyPr wrap="square" lIns="36576" rIns="36576" tIns="18288" bIns="18288"/>
                    <a:lstStyle/>
                    <a:p>
                      <a:r>
                        <a:rPr sz="720" b="0">
                          <a:solidFill>
                            <a:srgbClr val="21242A"/>
                          </a:solidFill>
                          <a:latin typeface="Microsoft YaHei"/>
                        </a:rPr>
                        <a:t>90%</a:t>
                      </a:r>
                    </a:p>
                  </a:txBody>
                  <a:tcPr>
                    <a:solidFill>
                      <a:srgbClr val="F6F8FB"/>
                    </a:solidFill>
                  </a:tcPr>
                </a:tc>
              </a:tr>
              <a:tr h="282321">
                <a:tc>
                  <a:txBody>
                    <a:bodyPr wrap="square" lIns="36576" rIns="36576" tIns="18288" bIns="18288"/>
                    <a:lstStyle/>
                    <a:p>
                      <a:r>
                        <a:rPr sz="720" b="1">
                          <a:solidFill>
                            <a:srgbClr val="21242A"/>
                          </a:solidFill>
                          <a:latin typeface="Microsoft YaHei"/>
                        </a:rPr>
                        <a:t>2年OS率</a:t>
                      </a:r>
                    </a:p>
                  </a:txBody>
                  <a:tcPr>
                    <a:solidFill>
                      <a:srgbClr val="FFFFFF"/>
                    </a:solidFill>
                  </a:tcPr>
                </a:tc>
                <a:tc>
                  <a:txBody>
                    <a:bodyPr wrap="square" lIns="36576" rIns="36576" tIns="18288" bIns="18288"/>
                    <a:lstStyle/>
                    <a:p>
                      <a:r>
                        <a:rPr sz="720" b="0">
                          <a:solidFill>
                            <a:srgbClr val="21242A"/>
                          </a:solidFill>
                          <a:latin typeface="Microsoft YaHei"/>
                        </a:rPr>
                        <a:t>98%</a:t>
                      </a:r>
                    </a:p>
                  </a:txBody>
                  <a:tcPr>
                    <a:solidFill>
                      <a:srgbClr val="FFFFFF"/>
                    </a:solidFill>
                  </a:tcPr>
                </a:tc>
              </a:tr>
              <a:tr h="282321">
                <a:tc>
                  <a:txBody>
                    <a:bodyPr wrap="square" lIns="36576" rIns="36576" tIns="18288" bIns="18288"/>
                    <a:lstStyle/>
                    <a:p>
                      <a:r>
                        <a:rPr sz="720" b="1">
                          <a:solidFill>
                            <a:srgbClr val="21242A"/>
                          </a:solidFill>
                          <a:latin typeface="Microsoft YaHei"/>
                        </a:rPr>
                        <a:t>高危（IPI≥3）2年PFS</a:t>
                      </a:r>
                    </a:p>
                  </a:txBody>
                  <a:tcPr>
                    <a:solidFill>
                      <a:srgbClr val="F6F8FB"/>
                    </a:solidFill>
                  </a:tcPr>
                </a:tc>
                <a:tc>
                  <a:txBody>
                    <a:bodyPr wrap="square" lIns="36576" rIns="36576" tIns="18288" bIns="18288"/>
                    <a:lstStyle/>
                    <a:p>
                      <a:r>
                        <a:rPr sz="720" b="0">
                          <a:solidFill>
                            <a:srgbClr val="21242A"/>
                          </a:solidFill>
                          <a:latin typeface="Microsoft YaHei"/>
                        </a:rPr>
                        <a:t>87.0%</a:t>
                      </a:r>
                    </a:p>
                  </a:txBody>
                  <a:tcPr>
                    <a:solidFill>
                      <a:srgbClr val="F6F8FB"/>
                    </a:solidFill>
                  </a:tcPr>
                </a:tc>
              </a:tr>
              <a:tr h="282321">
                <a:tc>
                  <a:txBody>
                    <a:bodyPr wrap="square" lIns="36576" rIns="36576" tIns="18288" bIns="18288"/>
                    <a:lstStyle/>
                    <a:p>
                      <a:r>
                        <a:rPr sz="720" b="1">
                          <a:solidFill>
                            <a:srgbClr val="21242A"/>
                          </a:solidFill>
                          <a:latin typeface="Microsoft YaHei"/>
                        </a:rPr>
                        <a:t>高危（CNS-IPI≥4）2年PFS</a:t>
                      </a:r>
                    </a:p>
                  </a:txBody>
                  <a:tcPr>
                    <a:solidFill>
                      <a:srgbClr val="FFFFFF"/>
                    </a:solidFill>
                  </a:tcPr>
                </a:tc>
                <a:tc>
                  <a:txBody>
                    <a:bodyPr wrap="square" lIns="36576" rIns="36576" tIns="18288" bIns="18288"/>
                    <a:lstStyle/>
                    <a:p>
                      <a:r>
                        <a:rPr sz="720" b="0">
                          <a:solidFill>
                            <a:srgbClr val="21242A"/>
                          </a:solidFill>
                          <a:latin typeface="Microsoft YaHei"/>
                        </a:rPr>
                        <a:t>86.5%</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多因素分析维持治疗为PFS独立预后因素（HR 0.42, 95% CI 0.20-0.88</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P=0.019）</a:t>
                      </a:r>
                    </a:p>
                  </a:txBody>
                  <a:tcPr>
                    <a:solidFill>
                      <a:srgbClr val="FFFFFF"/>
                    </a:solidFill>
                  </a:tcPr>
                </a:tc>
              </a:tr>
              <a:tr h="282321">
                <a:tc>
                  <a:txBody>
                    <a:bodyPr wrap="square" lIns="36576" rIns="36576" tIns="18288" bIns="18288"/>
                    <a:lstStyle/>
                    <a:p>
                      <a:r>
                        <a:rPr sz="720" b="1">
                          <a:solidFill>
                            <a:srgbClr val="21242A"/>
                          </a:solidFill>
                          <a:latin typeface="Microsoft YaHei"/>
                        </a:rPr>
                        <a:t>BTKi治疗组（n=78）2年PFS</a:t>
                      </a:r>
                    </a:p>
                  </a:txBody>
                  <a:tcPr>
                    <a:solidFill>
                      <a:srgbClr val="F6F8FB"/>
                    </a:solidFill>
                  </a:tcPr>
                </a:tc>
                <a:tc>
                  <a:txBody>
                    <a:bodyPr wrap="square" lIns="36576" rIns="36576" tIns="18288" bIns="18288"/>
                    <a:lstStyle/>
                    <a:p>
                      <a:r>
                        <a:rPr sz="720" b="0">
                          <a:solidFill>
                            <a:srgbClr val="21242A"/>
                          </a:solidFill>
                          <a:latin typeface="Microsoft YaHei"/>
                        </a:rPr>
                        <a:t>87.6%，2年OS：97.2%</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药物/技术：BTKi</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摘要号：PS2127</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布鲁顿酪氨酸激酶抑制剂维持治疗一线弥漫性大b细胞淋巴瘤：一项挑战传统范式的多中心现实研究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bruton tyrosine kinase inhibitor maintenance therapy in first-line diffuse la...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59740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59740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无CNS复发（高危患者中）</a:t>
                      </a:r>
                    </a:p>
                  </a:txBody>
                  <a:tcPr>
                    <a:solidFill>
                      <a:srgbClr val="F6F8FB"/>
                    </a:solidFill>
                  </a:tcPr>
                </a:tc>
              </a:tr>
              <a:tr h="597408">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维持时间≥12个月与更好PFS相关（P=0.042）</a:t>
                      </a:r>
                    </a:p>
                  </a:txBody>
                  <a:tcPr>
                    <a:solidFill>
                      <a:srgbClr val="FFFFFF"/>
                    </a:solidFill>
                  </a:tcPr>
                </a:tc>
              </a:tr>
              <a:tr h="59740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仅PR患者接受维持后PFS与CR患者相当</a:t>
                      </a:r>
                    </a:p>
                  </a:txBody>
                  <a:tcPr>
                    <a:solidFill>
                      <a:srgbClr val="F6F8FB"/>
                    </a:solidFill>
                  </a:tcPr>
                </a:tc>
              </a:tr>
              <a:tr h="597408">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MCD亚型PFS优于A53亚型（P=0.078）</a:t>
                      </a:r>
                    </a:p>
                  </a:txBody>
                  <a:tcPr>
                    <a:solidFill>
                      <a:srgbClr val="FFFFFF"/>
                    </a:solidFill>
                  </a:tcPr>
                </a:tc>
              </a:tr>
              <a:tr h="59740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≥3级血小板减少发生率2.6%，无≥3级非血液学毒性</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myc/bcl-2双表达弥漫性大b细胞淋巴瘤的临床特征和疗效：来自believe研究的真实数据</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clinical characteristics and efficacy of myc/bcl-2 double-expressing diffuse...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N=1088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试验药/方案：奥布替尼</a:t>
            </a:r>
          </a:p>
          <a:p>
            <a:pPr>
              <a:lnSpc>
                <a:spcPct val="103000"/>
              </a:lnSpc>
              <a:spcAft>
                <a:spcPts val="300"/>
              </a:spcAft>
              <a:defRPr sz="800">
                <a:solidFill>
                  <a:srgbClr val="21242A"/>
                </a:solidFill>
                <a:latin typeface="Microsoft YaHei"/>
              </a:defRPr>
            </a:pPr>
            <a:r>
              <a:t>BTK抑制剂</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多组/多方案比较：试验组1：R-CHOP-like方案</a:t>
            </a:r>
          </a:p>
          <a:p>
            <a:pPr>
              <a:lnSpc>
                <a:spcPct val="103000"/>
              </a:lnSpc>
              <a:spcAft>
                <a:spcPts val="300"/>
              </a:spcAft>
              <a:defRPr sz="800">
                <a:solidFill>
                  <a:srgbClr val="21242A"/>
                </a:solidFill>
                <a:latin typeface="Microsoft YaHei"/>
              </a:defRPr>
            </a:pPr>
            <a:r>
              <a:t>试验组2：R-CHOP加靶向药物（包括BTK抑制剂等）</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客观缓解率（ORR）：在可评估的1051例DEL-DLBCL患者中为75.9%</a:t>
            </a:r>
          </a:p>
          <a:p>
            <a:pPr>
              <a:lnSpc>
                <a:spcPct val="103000"/>
              </a:lnSpc>
              <a:spcAft>
                <a:spcPts val="300"/>
              </a:spcAft>
              <a:defRPr sz="800">
                <a:solidFill>
                  <a:srgbClr val="21242A"/>
                </a:solidFill>
                <a:latin typeface="Microsoft YaHei"/>
              </a:defRPr>
            </a:pPr>
            <a:r>
              <a:t>完全缓解率（CRR）：57.5%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人数：1088</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登记号：NCT06026488</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试验药/方案：奥布替尼、BTK抑制剂</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myc/bcl-2双表达弥漫性大b细胞淋巴瘤的临床特征和疗效：来自believe研究的真实数据</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clinical characteristics and efficacy of myc/bcl-2 double-expressing diffuse...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客观缓解率（ORR）：在可评估的1051例DEL-DLBCL患者中为75.9%；完全缓解率（CRR）：57.5%；R-CHOP加靶向药物组的ORR为84.2%；R-CHOP+BTKi组（n=69）的ORR为88.4%，CRR为75.4%</a:t>
            </a:r>
          </a:p>
          <a:p>
            <a:pPr>
              <a:lnSpc>
                <a:spcPct val="103000"/>
              </a:lnSpc>
              <a:spcAft>
                <a:spcPts val="300"/>
              </a:spcAft>
              <a:defRPr sz="819">
                <a:solidFill>
                  <a:srgbClr val="21242A"/>
                </a:solidFill>
                <a:latin typeface="Microsoft YaHei"/>
              </a:defRPr>
            </a:pPr>
            <a:r>
              <a:t>；奥布替尼组（n=43）的ORR为88.3%，CRR为76.7%</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药物/技术：BTKi</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摘要号：PS2103</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orelabrutinib联合r-chop治疗新诊断的非gcb双表达弥漫性大b细胞淋巴瘤：一项多中心、单臂、ii期研究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orelabrutinib plus r-chop for the treatment of newly diagnosed non-gcb double...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试验药/方案：奥布替尼</a:t>
            </a:r>
          </a:p>
          <a:p>
            <a:pPr>
              <a:lnSpc>
                <a:spcPct val="103000"/>
              </a:lnSpc>
              <a:spcAft>
                <a:spcPts val="300"/>
              </a:spcAft>
              <a:defRPr sz="800">
                <a:solidFill>
                  <a:srgbClr val="21242A"/>
                </a:solidFill>
                <a:latin typeface="Microsoft YaHei"/>
              </a:defRPr>
            </a:pPr>
            <a:r>
              <a:t>靶点：BTK</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主要终点：事件无进展生存期（EFS）未达到</a:t>
            </a:r>
          </a:p>
          <a:p>
            <a:pPr>
              <a:lnSpc>
                <a:spcPct val="103000"/>
              </a:lnSpc>
              <a:spcAft>
                <a:spcPts val="300"/>
              </a:spcAft>
              <a:defRPr sz="800">
                <a:solidFill>
                  <a:srgbClr val="21242A"/>
                </a:solidFill>
                <a:latin typeface="Microsoft YaHei"/>
              </a:defRPr>
            </a:pPr>
            <a:r>
              <a:t>次要终点：</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人数：49</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试验药/方案：奥布替尼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orelabrutinib联合r-chop治疗新诊断的非gcb双表达弥漫性大b细胞淋巴瘤：一项多中心、单臂、ii期研究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orelabrutinib plus r-chop for the treatment of newly diagnosed non-gcb double...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主要终点</a:t>
                      </a:r>
                    </a:p>
                  </a:txBody>
                  <a:tcPr>
                    <a:solidFill>
                      <a:srgbClr val="F6F8FB"/>
                    </a:solidFill>
                  </a:tcPr>
                </a:tc>
                <a:tc>
                  <a:txBody>
                    <a:bodyPr wrap="square" lIns="36576" rIns="36576" tIns="18288" bIns="18288"/>
                    <a:lstStyle/>
                    <a:p>
                      <a:r>
                        <a:rPr sz="720" b="0">
                          <a:solidFill>
                            <a:srgbClr val="21242A"/>
                          </a:solidFill>
                          <a:latin typeface="Microsoft YaHei"/>
                        </a:rPr>
                        <a:t>事件无进展生存期（EFS）未达到</a:t>
                      </a:r>
                    </a:p>
                  </a:txBody>
                  <a:tcPr>
                    <a:solidFill>
                      <a:srgbClr val="F6F8FB"/>
                    </a:solidFill>
                  </a:tcPr>
                </a:tc>
              </a:tr>
              <a:tr h="282321">
                <a:tc>
                  <a:txBody>
                    <a:bodyPr wrap="square" lIns="36576" rIns="36576" tIns="18288" bIns="18288"/>
                    <a:lstStyle/>
                    <a:p>
                      <a:r>
                        <a:rPr sz="720" b="1">
                          <a:solidFill>
                            <a:srgbClr val="21242A"/>
                          </a:solidFill>
                          <a:latin typeface="Microsoft YaHei"/>
                        </a:rPr>
                        <a:t>次要终点</a:t>
                      </a:r>
                    </a:p>
                  </a:txBody>
                  <a:tcPr>
                    <a:solidFill>
                      <a:srgbClr val="FFFFFF"/>
                    </a:solidFill>
                  </a:tcPr>
                </a:tc>
                <a:tc>
                  <a:txBody>
                    <a:bodyPr wrap="square" lIns="36576" rIns="36576" tIns="18288" bIns="18288"/>
                    <a:lstStyle/>
                    <a:p>
                      <a:r>
                        <a:rPr sz="720" b="0">
                          <a:solidFill>
                            <a:srgbClr val="21242A"/>
                          </a:solidFill>
                          <a:latin typeface="Microsoft YaHei"/>
                        </a:rPr>
                        <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- 4周期后完全缓解率（CRR）75.5%（37/49）</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- 4周期后客观缓解率（ORR）98.0%（48/49）</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- 8周期后CRR 89.8%（44/49）</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- 8周期后ORR 95.9%（47/49）</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 中位PFS未达到</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药物/技术：BTKi</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摘要号：PS2075</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orelabrutinib联合r-chop治疗新诊断的非gcb双表达弥漫性大b细胞淋巴瘤：一项多中心、单臂、ii期研究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orelabrutinib plus r-chop for the treatment of newly diagnosed non-gcb double...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512064">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512064">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 中位OS未达到</a:t>
                      </a:r>
                    </a:p>
                  </a:txBody>
                  <a:tcPr>
                    <a:solidFill>
                      <a:srgbClr val="F6F8FB"/>
                    </a:solidFill>
                  </a:tcPr>
                </a:tc>
              </a:tr>
              <a:tr h="512064">
                <a:tc>
                  <a:txBody>
                    <a:bodyPr wrap="square" lIns="36576" rIns="36576" tIns="18288" bIns="18288"/>
                    <a:lstStyle/>
                    <a:p>
                      <a:r>
                        <a:rPr sz="720" b="1">
                          <a:solidFill>
                            <a:srgbClr val="21242A"/>
                          </a:solidFill>
                          <a:latin typeface="Microsoft YaHei"/>
                        </a:rPr>
                        <a:t>- 2年EFS率82.0%（95%CI</a:t>
                      </a:r>
                    </a:p>
                  </a:txBody>
                  <a:tcPr>
                    <a:solidFill>
                      <a:srgbClr val="FFFFFF"/>
                    </a:solidFill>
                  </a:tcPr>
                </a:tc>
                <a:tc>
                  <a:txBody>
                    <a:bodyPr wrap="square" lIns="36576" rIns="36576" tIns="18288" bIns="18288"/>
                    <a:lstStyle/>
                    <a:p>
                      <a:r>
                        <a:rPr sz="720" b="0">
                          <a:solidFill>
                            <a:srgbClr val="21242A"/>
                          </a:solidFill>
                          <a:latin typeface="Microsoft YaHei"/>
                        </a:rPr>
                        <a:t>71.2-94.3%）</a:t>
                      </a:r>
                    </a:p>
                  </a:txBody>
                  <a:tcPr>
                    <a:solidFill>
                      <a:srgbClr val="FFFFFF"/>
                    </a:solidFill>
                  </a:tcPr>
                </a:tc>
              </a:tr>
              <a:tr h="512064">
                <a:tc>
                  <a:txBody>
                    <a:bodyPr wrap="square" lIns="36576" rIns="36576" tIns="18288" bIns="18288"/>
                    <a:lstStyle/>
                    <a:p>
                      <a:r>
                        <a:rPr sz="720" b="1">
                          <a:solidFill>
                            <a:srgbClr val="21242A"/>
                          </a:solidFill>
                          <a:latin typeface="Microsoft YaHei"/>
                        </a:rPr>
                        <a:t>- 2年PFS率82.0%（95%CI</a:t>
                      </a:r>
                    </a:p>
                  </a:txBody>
                  <a:tcPr>
                    <a:solidFill>
                      <a:srgbClr val="F6F8FB"/>
                    </a:solidFill>
                  </a:tcPr>
                </a:tc>
                <a:tc>
                  <a:txBody>
                    <a:bodyPr wrap="square" lIns="36576" rIns="36576" tIns="18288" bIns="18288"/>
                    <a:lstStyle/>
                    <a:p>
                      <a:r>
                        <a:rPr sz="720" b="0">
                          <a:solidFill>
                            <a:srgbClr val="21242A"/>
                          </a:solidFill>
                          <a:latin typeface="Microsoft YaHei"/>
                        </a:rPr>
                        <a:t>71.2-94.3%）</a:t>
                      </a:r>
                    </a:p>
                  </a:txBody>
                  <a:tcPr>
                    <a:solidFill>
                      <a:srgbClr val="F6F8FB"/>
                    </a:solidFill>
                  </a:tcPr>
                </a:tc>
              </a:tr>
              <a:tr h="512064">
                <a:tc>
                  <a:txBody>
                    <a:bodyPr wrap="square" lIns="36576" rIns="36576" tIns="18288" bIns="18288"/>
                    <a:lstStyle/>
                    <a:p>
                      <a:r>
                        <a:rPr sz="720" b="1">
                          <a:solidFill>
                            <a:srgbClr val="21242A"/>
                          </a:solidFill>
                          <a:latin typeface="Microsoft YaHei"/>
                        </a:rPr>
                        <a:t>- 2年OS率97.9%（95%CI</a:t>
                      </a:r>
                    </a:p>
                  </a:txBody>
                  <a:tcPr>
                    <a:solidFill>
                      <a:srgbClr val="FFFFFF"/>
                    </a:solidFill>
                  </a:tcPr>
                </a:tc>
                <a:tc>
                  <a:txBody>
                    <a:bodyPr wrap="square" lIns="36576" rIns="36576" tIns="18288" bIns="18288"/>
                    <a:lstStyle/>
                    <a:p>
                      <a:r>
                        <a:rPr sz="720" b="0">
                          <a:solidFill>
                            <a:srgbClr val="21242A"/>
                          </a:solidFill>
                          <a:latin typeface="Microsoft YaHei"/>
                        </a:rPr>
                        <a:t>94.0-100.0%）</a:t>
                      </a:r>
                    </a:p>
                  </a:txBody>
                  <a:tcPr>
                    <a:solidFill>
                      <a:srgbClr val="FFFFFF"/>
                    </a:solidFill>
                  </a:tcPr>
                </a:tc>
              </a:tr>
              <a:tr h="512064">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 中枢神经系统复发2例（4.1%），1年和2年累积发生率分别为2.1%和5.6%</a:t>
                      </a:r>
                    </a:p>
                  </a:txBody>
                  <a:tcPr>
                    <a:solidFill>
                      <a:srgbClr val="F6F8FB"/>
                    </a:solidFill>
                  </a:tcPr>
                </a:tc>
              </a:tr>
              <a:tr h="512064">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 ≥3级不良事件51.0%，最常见为中性粒细胞减少症（38.8%）</a:t>
                      </a:r>
                    </a:p>
                  </a:txBody>
                  <a:tcPr>
                    <a:solidFill>
                      <a:srgbClr val="FFFFFF"/>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在靶向治疗时代重新评估自体干细胞移植在原发性中枢神经系统弥漫性大b细胞淋巴瘤中的作用：一项倾向评分匹配的多中心现实研究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re‑evaluating the role of autologous stem cell transplantation in primary cns...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235000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36956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544568"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N=291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分组：ASCT组/非ASCT组</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主要终点：无进展生存期（PFS），ASCT组优于非ASCT组（p=0.023）</a:t>
            </a:r>
          </a:p>
          <a:p>
            <a:pPr>
              <a:lnSpc>
                <a:spcPct val="103000"/>
              </a:lnSpc>
              <a:spcAft>
                <a:spcPts val="300"/>
              </a:spcAft>
              <a:defRPr sz="800">
                <a:solidFill>
                  <a:srgbClr val="21242A"/>
                </a:solidFill>
                <a:latin typeface="Microsoft YaHei"/>
              </a:defRPr>
            </a:pPr>
            <a:r>
              <a:t>次要终点：总生存期（OS），ASCT组有获益趋势但未达统计学意义（p=0.085）。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人数：291</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分组/治疗流程：ASCT组/非ASCT组</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在靶向治疗时代重新评估自体干细胞移植在原发性中枢神经系统弥漫性大b细胞淋巴瘤中的作用：一项倾向评分匹配的多中心现实研究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re‑evaluating the role of autologous stem cell transplantation in primary cns...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235000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36956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544568"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主要终点：无进展生存期（PFS），ASCT组优于非ASCT组（p=0.023）；次要终点：总生存期（OS），ASCT组有获益趋势但未达统计学意义（p=0.085）。</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药物/技术：BTKi</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摘要号：PF992</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比列替尼在弥漫性大b细胞淋巴瘤中显示出可控的安全性和跨分子亚型的普遍抗肿瘤活性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birelentinib demonstrates manageable safety profile and universal antitumor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N=58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试验药/方案：比瑞替尼</a:t>
            </a:r>
          </a:p>
          <a:p>
            <a:pPr>
              <a:lnSpc>
                <a:spcPct val="103000"/>
              </a:lnSpc>
              <a:spcAft>
                <a:spcPts val="300"/>
              </a:spcAft>
              <a:defRPr sz="800">
                <a:solidFill>
                  <a:srgbClr val="21242A"/>
                </a:solidFill>
                <a:latin typeface="Microsoft YaHei"/>
              </a:defRPr>
            </a:pPr>
            <a:r>
              <a:t>靶点：BTK，BTK C481S，LYN</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多组/多方案比较：试验组1：birelentinib 25mg每日一次</a:t>
            </a:r>
          </a:p>
          <a:p>
            <a:pPr>
              <a:lnSpc>
                <a:spcPct val="103000"/>
              </a:lnSpc>
              <a:spcAft>
                <a:spcPts val="300"/>
              </a:spcAft>
              <a:defRPr sz="800">
                <a:solidFill>
                  <a:srgbClr val="21242A"/>
                </a:solidFill>
                <a:latin typeface="Microsoft YaHei"/>
              </a:defRPr>
            </a:pPr>
            <a:r>
              <a:t>试验组2：birelentinib 50mg每日一次</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总客观缓解率（ORR）在50mg和75mg剂量组中为47.6%（20/42）</a:t>
            </a:r>
          </a:p>
          <a:p>
            <a:pPr>
              <a:lnSpc>
                <a:spcPct val="103000"/>
              </a:lnSpc>
              <a:spcAft>
                <a:spcPts val="300"/>
              </a:spcAft>
              <a:defRPr sz="800">
                <a:solidFill>
                  <a:srgbClr val="21242A"/>
                </a:solidFill>
                <a:latin typeface="Microsoft YaHei"/>
              </a:defRPr>
            </a:pPr>
            <a:r>
              <a:t>完全缓解率（CRR）为31.0%（13/42）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人数：58</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登记号：NCT06539195</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试验药/方案：比瑞替尼</a:t>
            </a:r>
          </a:p>
          <a:p>
            <a:pPr>
              <a:lnSpc>
                <a:spcPct val="103000"/>
              </a:lnSpc>
              <a:spcAft>
                <a:spcPts val="300"/>
              </a:spcAft>
              <a:defRPr sz="810">
                <a:solidFill>
                  <a:srgbClr val="21242A"/>
                </a:solidFill>
                <a:latin typeface="Microsoft YaHei"/>
              </a:defRPr>
            </a:pPr>
            <a:r>
              <a:t>靶点：BTK、BTK C481S、LYN</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比列替尼在弥漫性大b细胞淋巴瘤中显示出可控的安全性和跨分子亚型的普遍抗肿瘤活性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birelentinib demonstrates manageable safety profile and universal antitumor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总客观缓解率（ORR）在50mg和75mg剂量组中为47.6%（20/42）</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完全缓解率（CRR）为31.0%（13/42）</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GCB亚型ORR 58.3%（7/12），CRR 41.7%（5/12）</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非GCB亚型ORR 44.8%（13/29），CRR 27.6%（8/29）</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完全缓解患者中位缓解持续时间（DoR）未达到，最长CR超过9.3个月</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MCD-like亚型ORR 50.0%（6/12），CRR 33.3%（4/12）</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TP53-mut亚型ORR 50.0%（5/10），CRR 30.0%（3/10）</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药物/技术：BTKi</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摘要号：PF973</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比列替尼在弥漫性大b细胞淋巴瘤中显示出可控的安全性和跨分子亚型的普遍抗肿瘤活性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birelentinib demonstrates manageable safety profile and universal antitumor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1194816">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1194816">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NOS亚型ORR 50.0%（7/14），CRR 35.7%（5/14）</a:t>
                      </a:r>
                    </a:p>
                  </a:txBody>
                  <a:tcPr>
                    <a:solidFill>
                      <a:srgbClr val="F6F8FB"/>
                    </a:solidFill>
                  </a:tcPr>
                </a:tc>
              </a:tr>
              <a:tr h="1194816">
                <a:tc>
                  <a:txBody>
                    <a:bodyPr wrap="square" lIns="36576" rIns="36576" tIns="18288" bIns="18288"/>
                    <a:lstStyle/>
                    <a:p>
                      <a:r>
                        <a:rPr sz="720" b="1">
                          <a:solidFill>
                            <a:srgbClr val="21242A"/>
                          </a:solidFill>
                          <a:latin typeface="Microsoft YaHei"/>
                        </a:rPr>
                        <a:t>常见3/4级药物相关不良事件</a:t>
                      </a:r>
                    </a:p>
                  </a:txBody>
                  <a:tcPr>
                    <a:solidFill>
                      <a:srgbClr val="FFFFFF"/>
                    </a:solidFill>
                  </a:tcPr>
                </a:tc>
                <a:tc>
                  <a:txBody>
                    <a:bodyPr wrap="square" lIns="36576" rIns="36576" tIns="18288" bIns="18288"/>
                    <a:lstStyle/>
                    <a:p>
                      <a:r>
                        <a:rPr sz="720" b="0">
                          <a:solidFill>
                            <a:srgbClr val="21242A"/>
                          </a:solidFill>
                          <a:latin typeface="Microsoft YaHei"/>
                        </a:rPr>
                        <a:t>血小板减少（20.7%）、中性粒细胞减少（12.1%）、肺炎（5.2%）</a:t>
                      </a:r>
                    </a:p>
                  </a:txBody>
                  <a:tcPr>
                    <a:solidFill>
                      <a:srgbClr val="FFFFFF"/>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扎努布替尼联合利妥昔单抗、异环磷酰胺、卡铂和依托泊苷治疗复发/难治性弥漫性大b细胞淋巴瘤的i/ii期研究：ii期部分的...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 i/ii study of zanubrutinib in combination with rituximab, ifosfamide,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235000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36956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544568"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中枢神经系统淋巴瘤，弥漫性大B细胞淋巴瘤</a:t>
            </a:r>
          </a:p>
          <a:p>
            <a:pPr>
              <a:lnSpc>
                <a:spcPct val="103000"/>
              </a:lnSpc>
              <a:spcAft>
                <a:spcPts val="300"/>
              </a:spcAft>
              <a:defRPr sz="800">
                <a:solidFill>
                  <a:srgbClr val="21242A"/>
                </a:solidFill>
                <a:latin typeface="Microsoft YaHei"/>
              </a:defRPr>
            </a:pPr>
            <a:r>
              <a:t>N=52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试验药/方案：泽布替尼</a:t>
            </a:r>
          </a:p>
          <a:p>
            <a:pPr>
              <a:lnSpc>
                <a:spcPct val="103000"/>
              </a:lnSpc>
              <a:spcAft>
                <a:spcPts val="300"/>
              </a:spcAft>
              <a:defRPr sz="800">
                <a:solidFill>
                  <a:srgbClr val="21242A"/>
                </a:solidFill>
                <a:latin typeface="Microsoft YaHei"/>
              </a:defRPr>
            </a:pPr>
            <a:r>
              <a:t>靶点：BTK</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多组/多方案比较：队列A（R/R systemic non-GCB DLBCL）：zanubrutinib 160mg每日联合...</a:t>
            </a:r>
          </a:p>
          <a:p>
            <a:pPr>
              <a:lnSpc>
                <a:spcPct val="103000"/>
              </a:lnSpc>
              <a:spcAft>
                <a:spcPts val="300"/>
              </a:spcAft>
              <a:defRPr sz="800">
                <a:solidFill>
                  <a:srgbClr val="21242A"/>
                </a:solidFill>
                <a:latin typeface="Microsoft YaHei"/>
              </a:defRPr>
            </a:pPr>
            <a:r>
              <a:t>队列B（R/R CNS淋巴瘤）：zanubrutinib 160mg每日联合R-ICE方案（利妥昔单抗、异环磷酰胺、卡铂、依托...</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总人群：ORR 90.9%，CR率72.7%</a:t>
            </a:r>
          </a:p>
          <a:p>
            <a:pPr>
              <a:lnSpc>
                <a:spcPct val="103000"/>
              </a:lnSpc>
              <a:spcAft>
                <a:spcPts val="300"/>
              </a:spcAft>
              <a:defRPr sz="800">
                <a:solidFill>
                  <a:srgbClr val="21242A"/>
                </a:solidFill>
                <a:latin typeface="Microsoft YaHei"/>
              </a:defRPr>
            </a:pPr>
            <a:r>
              <a:t>队列A：ORR 90.3%，CR率74.2%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人数：52</a:t>
            </a:r>
          </a:p>
          <a:p>
            <a:pPr>
              <a:lnSpc>
                <a:spcPct val="103000"/>
              </a:lnSpc>
              <a:spcAft>
                <a:spcPts val="300"/>
              </a:spcAft>
              <a:defRPr sz="810">
                <a:solidFill>
                  <a:srgbClr val="21242A"/>
                </a:solidFill>
                <a:latin typeface="Microsoft YaHei"/>
              </a:defRPr>
            </a:pPr>
            <a:r>
              <a:t>适应症：中枢神经系统淋巴瘤、弥漫性大B细胞淋巴瘤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试验药/方案：泽布替尼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扎努布替尼联合利妥昔单抗、异环磷酰胺、卡铂和依托泊苷治疗复发/难治性弥漫性大b细胞淋巴瘤的i/ii期研究：ii期部分的...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 i/ii study of zanubrutinib in combination with rituximab, ifosfamide,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235000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36956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544568"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总人群</a:t>
                      </a:r>
                    </a:p>
                  </a:txBody>
                  <a:tcPr>
                    <a:solidFill>
                      <a:srgbClr val="F6F8FB"/>
                    </a:solidFill>
                  </a:tcPr>
                </a:tc>
                <a:tc>
                  <a:txBody>
                    <a:bodyPr wrap="square" lIns="36576" rIns="36576" tIns="18288" bIns="18288"/>
                    <a:lstStyle/>
                    <a:p>
                      <a:r>
                        <a:rPr sz="720" b="0">
                          <a:solidFill>
                            <a:srgbClr val="21242A"/>
                          </a:solidFill>
                          <a:latin typeface="Microsoft YaHei"/>
                        </a:rPr>
                        <a:t>ORR 90.9%，CR率72.7%</a:t>
                      </a:r>
                    </a:p>
                  </a:txBody>
                  <a:tcPr>
                    <a:solidFill>
                      <a:srgbClr val="F6F8FB"/>
                    </a:solidFill>
                  </a:tcPr>
                </a:tc>
              </a:tr>
              <a:tr h="282321">
                <a:tc>
                  <a:txBody>
                    <a:bodyPr wrap="square" lIns="36576" rIns="36576" tIns="18288" bIns="18288"/>
                    <a:lstStyle/>
                    <a:p>
                      <a:r>
                        <a:rPr sz="720" b="1">
                          <a:solidFill>
                            <a:srgbClr val="21242A"/>
                          </a:solidFill>
                          <a:latin typeface="Microsoft YaHei"/>
                        </a:rPr>
                        <a:t>队列A</a:t>
                      </a:r>
                    </a:p>
                  </a:txBody>
                  <a:tcPr>
                    <a:solidFill>
                      <a:srgbClr val="FFFFFF"/>
                    </a:solidFill>
                  </a:tcPr>
                </a:tc>
                <a:tc>
                  <a:txBody>
                    <a:bodyPr wrap="square" lIns="36576" rIns="36576" tIns="18288" bIns="18288"/>
                    <a:lstStyle/>
                    <a:p>
                      <a:r>
                        <a:rPr sz="720" b="0">
                          <a:solidFill>
                            <a:srgbClr val="21242A"/>
                          </a:solidFill>
                          <a:latin typeface="Microsoft YaHei"/>
                        </a:rPr>
                        <a:t>ORR 90.3%，CR率74.2%</a:t>
                      </a:r>
                    </a:p>
                  </a:txBody>
                  <a:tcPr>
                    <a:solidFill>
                      <a:srgbClr val="FFFFFF"/>
                    </a:solidFill>
                  </a:tcPr>
                </a:tc>
              </a:tr>
              <a:tr h="282321">
                <a:tc>
                  <a:txBody>
                    <a:bodyPr wrap="square" lIns="36576" rIns="36576" tIns="18288" bIns="18288"/>
                    <a:lstStyle/>
                    <a:p>
                      <a:r>
                        <a:rPr sz="720" b="1">
                          <a:solidFill>
                            <a:srgbClr val="21242A"/>
                          </a:solidFill>
                          <a:latin typeface="Microsoft YaHei"/>
                        </a:rPr>
                        <a:t>队列B</a:t>
                      </a:r>
                    </a:p>
                  </a:txBody>
                  <a:tcPr>
                    <a:solidFill>
                      <a:srgbClr val="F6F8FB"/>
                    </a:solidFill>
                  </a:tcPr>
                </a:tc>
                <a:tc>
                  <a:txBody>
                    <a:bodyPr wrap="square" lIns="36576" rIns="36576" tIns="18288" bIns="18288"/>
                    <a:lstStyle/>
                    <a:p>
                      <a:r>
                        <a:rPr sz="720" b="0">
                          <a:solidFill>
                            <a:srgbClr val="21242A"/>
                          </a:solidFill>
                          <a:latin typeface="Microsoft YaHei"/>
                        </a:rPr>
                        <a:t>ORR 92.3%，CR率69.2%</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中位随访5.8个月，6个月PFS率76.3%，6个月OS率90.0%</a:t>
                      </a:r>
                    </a:p>
                  </a:txBody>
                  <a:tcPr>
                    <a:solidFill>
                      <a:srgbClr val="FFFFFF"/>
                    </a:solidFill>
                  </a:tcPr>
                </a:tc>
              </a:tr>
              <a:tr h="282321">
                <a:tc>
                  <a:txBody>
                    <a:bodyPr wrap="square" lIns="36576" rIns="36576" tIns="18288" bIns="18288"/>
                    <a:lstStyle/>
                    <a:p>
                      <a:r>
                        <a:rPr sz="720" b="1">
                          <a:solidFill>
                            <a:srgbClr val="21242A"/>
                          </a:solidFill>
                          <a:latin typeface="Microsoft YaHei"/>
                        </a:rPr>
                        <a:t>队列A</a:t>
                      </a:r>
                    </a:p>
                  </a:txBody>
                  <a:tcPr>
                    <a:solidFill>
                      <a:srgbClr val="F6F8FB"/>
                    </a:solidFill>
                  </a:tcPr>
                </a:tc>
                <a:tc>
                  <a:txBody>
                    <a:bodyPr wrap="square" lIns="36576" rIns="36576" tIns="18288" bIns="18288"/>
                    <a:lstStyle/>
                    <a:p>
                      <a:r>
                        <a:rPr sz="720" b="0">
                          <a:solidFill>
                            <a:srgbClr val="21242A"/>
                          </a:solidFill>
                          <a:latin typeface="Microsoft YaHei"/>
                        </a:rPr>
                        <a:t>6个月PFS率83.2%，6个月OS率100.0%</a:t>
                      </a:r>
                    </a:p>
                  </a:txBody>
                  <a:tcPr>
                    <a:solidFill>
                      <a:srgbClr val="F6F8FB"/>
                    </a:solidFill>
                  </a:tcPr>
                </a:tc>
              </a:tr>
              <a:tr h="282321">
                <a:tc>
                  <a:txBody>
                    <a:bodyPr wrap="square" lIns="36576" rIns="36576" tIns="18288" bIns="18288"/>
                    <a:lstStyle/>
                    <a:p>
                      <a:r>
                        <a:rPr sz="720" b="1">
                          <a:solidFill>
                            <a:srgbClr val="21242A"/>
                          </a:solidFill>
                          <a:latin typeface="Microsoft YaHei"/>
                        </a:rPr>
                        <a:t>队列B</a:t>
                      </a:r>
                    </a:p>
                  </a:txBody>
                  <a:tcPr>
                    <a:solidFill>
                      <a:srgbClr val="FFFFFF"/>
                    </a:solidFill>
                  </a:tcPr>
                </a:tc>
                <a:tc>
                  <a:txBody>
                    <a:bodyPr wrap="square" lIns="36576" rIns="36576" tIns="18288" bIns="18288"/>
                    <a:lstStyle/>
                    <a:p>
                      <a:r>
                        <a:rPr sz="720" b="0">
                          <a:solidFill>
                            <a:srgbClr val="21242A"/>
                          </a:solidFill>
                          <a:latin typeface="Microsoft YaHei"/>
                        </a:rPr>
                        <a:t>6个月PFS率62.3%，6个月OS率71.6%</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11例患者（均来自队列A）接受了前期ASCT，截至数据截止无事件</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药物/技术：BTKi</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摘要号：PF972</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扎努布替尼联合利妥昔单抗、异环磷酰胺、卡铂和依托泊苷治疗复发/难治性弥漫性大b细胞淋巴瘤的i/ii期研究：ii期部分的...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 i/ii study of zanubrutinib in combination with rituximab, ifosfamide,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235000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36956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544568"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49/187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89611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896112">
                <a:tc>
                  <a:txBody>
                    <a:bodyPr wrap="square" lIns="36576" rIns="36576" tIns="18288" bIns="18288"/>
                    <a:lstStyle/>
                    <a:p>
                      <a:r>
                        <a:rPr sz="720" b="1">
                          <a:solidFill>
                            <a:srgbClr val="21242A"/>
                          </a:solidFill>
                          <a:latin typeface="Microsoft YaHei"/>
                        </a:rPr>
                        <a:t>最常见≥3级不良事件</a:t>
                      </a:r>
                    </a:p>
                  </a:txBody>
                  <a:tcPr>
                    <a:solidFill>
                      <a:srgbClr val="F6F8FB"/>
                    </a:solidFill>
                  </a:tcPr>
                </a:tc>
                <a:tc>
                  <a:txBody>
                    <a:bodyPr wrap="square" lIns="36576" rIns="36576" tIns="18288" bIns="18288"/>
                    <a:lstStyle/>
                    <a:p>
                      <a:r>
                        <a:rPr sz="720" b="0">
                          <a:solidFill>
                            <a:srgbClr val="21242A"/>
                          </a:solidFill>
                          <a:latin typeface="Microsoft YaHei"/>
                        </a:rPr>
                        <a:t>中性粒细胞减少46.0%，血小板减少46.0%，贫血29.0%</a:t>
                      </a:r>
                    </a:p>
                  </a:txBody>
                  <a:tcPr>
                    <a:solidFill>
                      <a:srgbClr val="F6F8FB"/>
                    </a:solidFill>
                  </a:tcPr>
                </a:tc>
              </a:tr>
              <a:tr h="896112">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发热性中性粒细胞减少5例(10.0%)</a:t>
                      </a:r>
                    </a:p>
                  </a:txBody>
                  <a:tcPr>
                    <a:solidFill>
                      <a:srgbClr val="FFFFFF"/>
                    </a:solidFill>
                  </a:tcPr>
                </a:tc>
              </a:tr>
              <a:tr h="896112">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1例死于治疗相关脓毒症，无患者因AE停止治疗</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zanubrutinib联合r-chop作为myd88（l265p）/cd79b突变（mcd）弥漫性大b细胞淋巴瘤的一...</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zanubrutinib plus r-chop as frontline therapy for myd88（l265p）/cd79b-mutated...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试验药/方案：泽布替尼</a:t>
            </a:r>
          </a:p>
          <a:p>
            <a:pPr>
              <a:lnSpc>
                <a:spcPct val="103000"/>
              </a:lnSpc>
              <a:spcAft>
                <a:spcPts val="300"/>
              </a:spcAft>
              <a:defRPr sz="800">
                <a:solidFill>
                  <a:srgbClr val="21242A"/>
                </a:solidFill>
                <a:latin typeface="Microsoft YaHei"/>
              </a:defRPr>
            </a:pPr>
            <a:r>
              <a:t>靶点：BTK</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总缓解率(ORR): 95%</a:t>
            </a:r>
          </a:p>
          <a:p>
            <a:pPr>
              <a:lnSpc>
                <a:spcPct val="103000"/>
              </a:lnSpc>
              <a:spcAft>
                <a:spcPts val="300"/>
              </a:spcAft>
              <a:defRPr sz="800">
                <a:solidFill>
                  <a:srgbClr val="21242A"/>
                </a:solidFill>
                <a:latin typeface="Microsoft YaHei"/>
              </a:defRPr>
            </a:pPr>
            <a:r>
              <a:t>完全缓解率(CR): 87.5% (35/40)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人数：40</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试验药/方案：泽布替尼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zanubrutinib联合r-chop作为myd88（l265p）/cd79b突变（mcd）弥漫性大b细胞淋巴瘤的一...</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zanubrutinib plus r-chop as frontline therapy for myd88（l265p）/cd79b-mutated...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总缓解率(ORR)</a:t>
                      </a:r>
                    </a:p>
                  </a:txBody>
                  <a:tcPr>
                    <a:solidFill>
                      <a:srgbClr val="F6F8FB"/>
                    </a:solidFill>
                  </a:tcPr>
                </a:tc>
                <a:tc>
                  <a:txBody>
                    <a:bodyPr wrap="square" lIns="36576" rIns="36576" tIns="18288" bIns="18288"/>
                    <a:lstStyle/>
                    <a:p>
                      <a:r>
                        <a:rPr sz="720" b="0">
                          <a:solidFill>
                            <a:srgbClr val="21242A"/>
                          </a:solidFill>
                          <a:latin typeface="Microsoft YaHei"/>
                        </a:rPr>
                        <a:t>95%</a:t>
                      </a:r>
                    </a:p>
                  </a:txBody>
                  <a:tcPr>
                    <a:solidFill>
                      <a:srgbClr val="F6F8FB"/>
                    </a:solidFill>
                  </a:tcPr>
                </a:tc>
              </a:tr>
              <a:tr h="282321">
                <a:tc>
                  <a:txBody>
                    <a:bodyPr wrap="square" lIns="36576" rIns="36576" tIns="18288" bIns="18288"/>
                    <a:lstStyle/>
                    <a:p>
                      <a:r>
                        <a:rPr sz="720" b="1">
                          <a:solidFill>
                            <a:srgbClr val="21242A"/>
                          </a:solidFill>
                          <a:latin typeface="Microsoft YaHei"/>
                        </a:rPr>
                        <a:t>完全缓解率(CR)</a:t>
                      </a:r>
                    </a:p>
                  </a:txBody>
                  <a:tcPr>
                    <a:solidFill>
                      <a:srgbClr val="FFFFFF"/>
                    </a:solidFill>
                  </a:tcPr>
                </a:tc>
                <a:tc>
                  <a:txBody>
                    <a:bodyPr wrap="square" lIns="36576" rIns="36576" tIns="18288" bIns="18288"/>
                    <a:lstStyle/>
                    <a:p>
                      <a:r>
                        <a:rPr sz="720" b="0">
                          <a:solidFill>
                            <a:srgbClr val="21242A"/>
                          </a:solidFill>
                          <a:latin typeface="Microsoft YaHei"/>
                        </a:rPr>
                        <a:t>87.5% (35/40)</a:t>
                      </a:r>
                    </a:p>
                  </a:txBody>
                  <a:tcPr>
                    <a:solidFill>
                      <a:srgbClr val="FFFFFF"/>
                    </a:solidFill>
                  </a:tcPr>
                </a:tc>
              </a:tr>
              <a:tr h="282321">
                <a:tc>
                  <a:txBody>
                    <a:bodyPr wrap="square" lIns="36576" rIns="36576" tIns="18288" bIns="18288"/>
                    <a:lstStyle/>
                    <a:p>
                      <a:r>
                        <a:rPr sz="720" b="1">
                          <a:solidFill>
                            <a:srgbClr val="21242A"/>
                          </a:solidFill>
                          <a:latin typeface="Microsoft YaHei"/>
                        </a:rPr>
                        <a:t>3年无进展生存率(PFS)</a:t>
                      </a:r>
                    </a:p>
                  </a:txBody>
                  <a:tcPr>
                    <a:solidFill>
                      <a:srgbClr val="F6F8FB"/>
                    </a:solidFill>
                  </a:tcPr>
                </a:tc>
                <a:tc>
                  <a:txBody>
                    <a:bodyPr wrap="square" lIns="36576" rIns="36576" tIns="18288" bIns="18288"/>
                    <a:lstStyle/>
                    <a:p>
                      <a:r>
                        <a:rPr sz="720" b="0">
                          <a:solidFill>
                            <a:srgbClr val="21242A"/>
                          </a:solidFill>
                          <a:latin typeface="Microsoft YaHei"/>
                        </a:rPr>
                        <a:t>88.5% (95% CI, 71.4–95.7)</a:t>
                      </a:r>
                    </a:p>
                  </a:txBody>
                  <a:tcPr>
                    <a:solidFill>
                      <a:srgbClr val="F6F8FB"/>
                    </a:solidFill>
                  </a:tcPr>
                </a:tc>
              </a:tr>
              <a:tr h="282321">
                <a:tc>
                  <a:txBody>
                    <a:bodyPr wrap="square" lIns="36576" rIns="36576" tIns="18288" bIns="18288"/>
                    <a:lstStyle/>
                    <a:p>
                      <a:r>
                        <a:rPr sz="720" b="1">
                          <a:solidFill>
                            <a:srgbClr val="21242A"/>
                          </a:solidFill>
                          <a:latin typeface="Microsoft YaHei"/>
                        </a:rPr>
                        <a:t>3年总生存率(OS)</a:t>
                      </a:r>
                    </a:p>
                  </a:txBody>
                  <a:tcPr>
                    <a:solidFill>
                      <a:srgbClr val="FFFFFF"/>
                    </a:solidFill>
                  </a:tcPr>
                </a:tc>
                <a:tc>
                  <a:txBody>
                    <a:bodyPr wrap="square" lIns="36576" rIns="36576" tIns="18288" bIns="18288"/>
                    <a:lstStyle/>
                    <a:p>
                      <a:r>
                        <a:rPr sz="720" b="0">
                          <a:solidFill>
                            <a:srgbClr val="21242A"/>
                          </a:solidFill>
                          <a:latin typeface="Microsoft YaHei"/>
                        </a:rPr>
                        <a:t>97.5% (95% CI, 83.5–99.6)</a:t>
                      </a:r>
                    </a:p>
                  </a:txBody>
                  <a:tcPr>
                    <a:solidFill>
                      <a:srgbClr val="FFFFFF"/>
                    </a:solidFill>
                  </a:tcPr>
                </a:tc>
              </a:tr>
              <a:tr h="282321">
                <a:tc>
                  <a:txBody>
                    <a:bodyPr wrap="square" lIns="36576" rIns="36576" tIns="18288" bIns="18288"/>
                    <a:lstStyle/>
                    <a:p>
                      <a:r>
                        <a:rPr sz="720" b="1">
                          <a:solidFill>
                            <a:srgbClr val="21242A"/>
                          </a:solidFill>
                          <a:latin typeface="Microsoft YaHei"/>
                        </a:rPr>
                        <a:t>中枢神经系统复发</a:t>
                      </a:r>
                    </a:p>
                  </a:txBody>
                  <a:tcPr>
                    <a:solidFill>
                      <a:srgbClr val="F6F8FB"/>
                    </a:solidFill>
                  </a:tcPr>
                </a:tc>
                <a:tc>
                  <a:txBody>
                    <a:bodyPr wrap="square" lIns="36576" rIns="36576" tIns="18288" bIns="18288"/>
                    <a:lstStyle/>
                    <a:p>
                      <a:r>
                        <a:rPr sz="720" b="0">
                          <a:solidFill>
                            <a:srgbClr val="21242A"/>
                          </a:solidFill>
                          <a:latin typeface="Microsoft YaHei"/>
                        </a:rPr>
                        <a:t>0</a:t>
                      </a:r>
                    </a:p>
                  </a:txBody>
                  <a:tcPr>
                    <a:solidFill>
                      <a:srgbClr val="F6F8FB"/>
                    </a:solidFill>
                  </a:tcPr>
                </a:tc>
              </a:tr>
              <a:tr h="282321">
                <a:tc>
                  <a:txBody>
                    <a:bodyPr wrap="square" lIns="36576" rIns="36576" tIns="18288" bIns="18288"/>
                    <a:lstStyle/>
                    <a:p>
                      <a:r>
                        <a:rPr sz="720" b="1">
                          <a:solidFill>
                            <a:srgbClr val="21242A"/>
                          </a:solidFill>
                          <a:latin typeface="Microsoft YaHei"/>
                        </a:rPr>
                        <a:t>3级及以上不良事件发生率</a:t>
                      </a:r>
                    </a:p>
                  </a:txBody>
                  <a:tcPr>
                    <a:solidFill>
                      <a:srgbClr val="FFFFFF"/>
                    </a:solidFill>
                  </a:tcPr>
                </a:tc>
                <a:tc>
                  <a:txBody>
                    <a:bodyPr wrap="square" lIns="36576" rIns="36576" tIns="18288" bIns="18288"/>
                    <a:lstStyle/>
                    <a:p>
                      <a:r>
                        <a:rPr sz="720" b="0">
                          <a:solidFill>
                            <a:srgbClr val="21242A"/>
                          </a:solidFill>
                          <a:latin typeface="Microsoft YaHei"/>
                        </a:rPr>
                        <a:t>62.5%</a:t>
                      </a:r>
                    </a:p>
                  </a:txBody>
                  <a:tcPr>
                    <a:solidFill>
                      <a:srgbClr val="FFFFFF"/>
                    </a:solidFill>
                  </a:tcPr>
                </a:tc>
              </a:tr>
              <a:tr h="282321">
                <a:tc>
                  <a:txBody>
                    <a:bodyPr wrap="square" lIns="36576" rIns="36576" tIns="18288" bIns="18288"/>
                    <a:lstStyle/>
                    <a:p>
                      <a:r>
                        <a:rPr sz="720" b="1">
                          <a:solidFill>
                            <a:srgbClr val="21242A"/>
                          </a:solidFill>
                          <a:latin typeface="Microsoft YaHei"/>
                        </a:rPr>
                        <a:t>最常见不良事件(所有级别)</a:t>
                      </a:r>
                    </a:p>
                  </a:txBody>
                  <a:tcPr>
                    <a:solidFill>
                      <a:srgbClr val="F6F8FB"/>
                    </a:solidFill>
                  </a:tcPr>
                </a:tc>
                <a:tc>
                  <a:txBody>
                    <a:bodyPr wrap="square" lIns="36576" rIns="36576" tIns="18288" bIns="18288"/>
                    <a:lstStyle/>
                    <a:p>
                      <a:r>
                        <a:rPr sz="720" b="0">
                          <a:solidFill>
                            <a:srgbClr val="21242A"/>
                          </a:solidFill>
                          <a:latin typeface="Microsoft YaHei"/>
                        </a:rPr>
                        <a:t>中性粒细胞减少95%, 肺部感染20%, 贫血10%, 血小板减少8%</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药物/技术：BTKi</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摘要号：PF964</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zanubrutinib联合r-chop作为myd88（l265p）/cd79b突变（mcd）弥漫性大b细胞淋巴瘤的一...</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zanubrutinib plus r-chop as frontline therapy for myd88（l265p）/cd79b-mutated...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1792224">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1792224">
                <a:tc>
                  <a:txBody>
                    <a:bodyPr wrap="square" lIns="36576" rIns="36576" tIns="18288" bIns="18288"/>
                    <a:lstStyle/>
                    <a:p>
                      <a:r>
                        <a:rPr sz="720" b="1">
                          <a:solidFill>
                            <a:srgbClr val="21242A"/>
                          </a:solidFill>
                          <a:latin typeface="Microsoft YaHei"/>
                        </a:rPr>
                        <a:t>最常见的3-4级不良事件</a:t>
                      </a:r>
                    </a:p>
                  </a:txBody>
                  <a:tcPr>
                    <a:solidFill>
                      <a:srgbClr val="F6F8FB"/>
                    </a:solidFill>
                  </a:tcPr>
                </a:tc>
                <a:tc>
                  <a:txBody>
                    <a:bodyPr wrap="square" lIns="36576" rIns="36576" tIns="18288" bIns="18288"/>
                    <a:lstStyle/>
                    <a:p>
                      <a:r>
                        <a:rPr sz="720" b="0">
                          <a:solidFill>
                            <a:srgbClr val="21242A"/>
                          </a:solidFill>
                          <a:latin typeface="Microsoft YaHei"/>
                        </a:rPr>
                        <a:t>中性粒细胞减少</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扎努布替尼联合r-chop（zr-chop）治疗非生发中心b细胞样（非gcb）弥漫性大b细胞淋巴瘤患者，这些患者在两个...</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zanubrutinib plus r-chop (zr-chop) in non-germinal center b-cell-like (non-gc...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试验药/方案：泽布替尼</a:t>
            </a:r>
          </a:p>
          <a:p>
            <a:pPr>
              <a:lnSpc>
                <a:spcPct val="103000"/>
              </a:lnSpc>
              <a:spcAft>
                <a:spcPts val="300"/>
              </a:spcAft>
              <a:defRPr sz="800">
                <a:solidFill>
                  <a:srgbClr val="21242A"/>
                </a:solidFill>
                <a:latin typeface="Microsoft YaHei"/>
              </a:defRPr>
            </a:pPr>
            <a:r>
              <a:t>靶点：BTK</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中位随访28.3个月</a:t>
            </a:r>
          </a:p>
          <a:p>
            <a:pPr>
              <a:lnSpc>
                <a:spcPct val="103000"/>
              </a:lnSpc>
              <a:spcAft>
                <a:spcPts val="300"/>
              </a:spcAft>
              <a:defRPr sz="800">
                <a:solidFill>
                  <a:srgbClr val="21242A"/>
                </a:solidFill>
                <a:latin typeface="Microsoft YaHei"/>
              </a:defRPr>
            </a:pPr>
            <a:r>
              <a:t>2年无事件生存（EFS）率38.2%（95%CI 18.4-57.9）</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人数：28</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试验药/方案：泽布替尼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扎努布替尼联合r-chop（zr-chop）治疗非生发中心b细胞样（非gcb）弥漫性大b细胞淋巴瘤患者，这些患者在两个...</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zanubrutinib plus r-chop (zr-chop) in non-germinal center b-cell-like (non-gc...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中位随访28.3个月；2年无事件生存（EFS）率38.2%（95%CI 18.4-57.9）；中位EFS 17.6个月（8.3-NE）；最佳总缓解率（ORR）89.3%（CR 42.9%，PR 46.4%）；反应改善率54.2%（13/</a:t>
            </a:r>
          </a:p>
          <a:p>
            <a:pPr>
              <a:lnSpc>
                <a:spcPct val="103000"/>
              </a:lnSpc>
              <a:spcAft>
                <a:spcPts val="300"/>
              </a:spcAft>
              <a:defRPr sz="819">
                <a:solidFill>
                  <a:srgbClr val="21242A"/>
                </a:solidFill>
                <a:latin typeface="Microsoft YaHei"/>
              </a:defRPr>
            </a:pPr>
            <a:r>
              <a:t>24，95%CI 32.8-74.5）；任意级别治疗期间不良事件（TEAE）发生率96.4%；≥3级TEAE发生率77.8%；严重不良事件（SAE）发生率18.5%。</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药物/技术：BTKi</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摘要号：PF1027</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利用循环肿瘤dna双链体对侵袭性大b细胞淋巴瘤进行分子监测</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molecular surveillance of aggressive large b-cell lymphoma using circulating...</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N=123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前瞻性临床研究结果：molecular surveillance of aggressive large b-cell lym...</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5年无进展生存率：82%</a:t>
            </a:r>
          </a:p>
          <a:p>
            <a:pPr>
              <a:lnSpc>
                <a:spcPct val="103000"/>
              </a:lnSpc>
              <a:spcAft>
                <a:spcPts val="300"/>
              </a:spcAft>
              <a:defRPr sz="800">
                <a:solidFill>
                  <a:srgbClr val="21242A"/>
                </a:solidFill>
                <a:latin typeface="Microsoft YaHei"/>
              </a:defRPr>
            </a:pPr>
            <a:r>
              <a:t>5年总生存率：90%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人数：123</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研究主题：molecular surveillance of aggressive large b-cell lymphoma using circulating tumor dna duplexes</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利用循环肿瘤dna双链体对侵袭性大b细胞淋巴瘤进行分子监测</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molecular surveillance of aggressive large b-cell lymphoma using circulating...</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5年无进展生存率</a:t>
                      </a:r>
                    </a:p>
                  </a:txBody>
                  <a:tcPr>
                    <a:solidFill>
                      <a:srgbClr val="F6F8FB"/>
                    </a:solidFill>
                  </a:tcPr>
                </a:tc>
                <a:tc>
                  <a:txBody>
                    <a:bodyPr wrap="square" lIns="36576" rIns="36576" tIns="18288" bIns="18288"/>
                    <a:lstStyle/>
                    <a:p>
                      <a:r>
                        <a:rPr sz="720" b="0">
                          <a:solidFill>
                            <a:srgbClr val="21242A"/>
                          </a:solidFill>
                          <a:latin typeface="Microsoft YaHei"/>
                        </a:rPr>
                        <a:t>82%</a:t>
                      </a:r>
                    </a:p>
                  </a:txBody>
                  <a:tcPr>
                    <a:solidFill>
                      <a:srgbClr val="F6F8FB"/>
                    </a:solidFill>
                  </a:tcPr>
                </a:tc>
              </a:tr>
              <a:tr h="282321">
                <a:tc>
                  <a:txBody>
                    <a:bodyPr wrap="square" lIns="36576" rIns="36576" tIns="18288" bIns="18288"/>
                    <a:lstStyle/>
                    <a:p>
                      <a:r>
                        <a:rPr sz="720" b="1">
                          <a:solidFill>
                            <a:srgbClr val="21242A"/>
                          </a:solidFill>
                          <a:latin typeface="Microsoft YaHei"/>
                        </a:rPr>
                        <a:t>5年总生存率</a:t>
                      </a:r>
                    </a:p>
                  </a:txBody>
                  <a:tcPr>
                    <a:solidFill>
                      <a:srgbClr val="FFFFFF"/>
                    </a:solidFill>
                  </a:tcPr>
                </a:tc>
                <a:tc>
                  <a:txBody>
                    <a:bodyPr wrap="square" lIns="36576" rIns="36576" tIns="18288" bIns="18288"/>
                    <a:lstStyle/>
                    <a:p>
                      <a:r>
                        <a:rPr sz="720" b="0">
                          <a:solidFill>
                            <a:srgbClr val="21242A"/>
                          </a:solidFill>
                          <a:latin typeface="Microsoft YaHei"/>
                        </a:rPr>
                        <a:t>90%</a:t>
                      </a:r>
                    </a:p>
                  </a:txBody>
                  <a:tcPr>
                    <a:solidFill>
                      <a:srgbClr val="FFFFFF"/>
                    </a:solidFill>
                  </a:tcPr>
                </a:tc>
              </a:tr>
              <a:tr h="282321">
                <a:tc>
                  <a:txBody>
                    <a:bodyPr wrap="square" lIns="36576" rIns="36576" tIns="18288" bIns="18288"/>
                    <a:lstStyle/>
                    <a:p>
                      <a:r>
                        <a:rPr sz="720" b="1">
                          <a:solidFill>
                            <a:srgbClr val="21242A"/>
                          </a:solidFill>
                          <a:latin typeface="Microsoft YaHei"/>
                        </a:rPr>
                        <a:t>两个周期化疗后分子缓解率</a:t>
                      </a:r>
                    </a:p>
                  </a:txBody>
                  <a:tcPr>
                    <a:solidFill>
                      <a:srgbClr val="F6F8FB"/>
                    </a:solidFill>
                  </a:tcPr>
                </a:tc>
                <a:tc>
                  <a:txBody>
                    <a:bodyPr wrap="square" lIns="36576" rIns="36576" tIns="18288" bIns="18288"/>
                    <a:lstStyle/>
                    <a:p>
                      <a:r>
                        <a:rPr sz="720" b="0">
                          <a:solidFill>
                            <a:srgbClr val="21242A"/>
                          </a:solidFill>
                          <a:latin typeface="Microsoft YaHei"/>
                        </a:rPr>
                        <a:t>67%</a:t>
                      </a:r>
                    </a:p>
                  </a:txBody>
                  <a:tcPr>
                    <a:solidFill>
                      <a:srgbClr val="F6F8FB"/>
                    </a:solidFill>
                  </a:tcPr>
                </a:tc>
              </a:tr>
              <a:tr h="282321">
                <a:tc>
                  <a:txBody>
                    <a:bodyPr wrap="square" lIns="36576" rIns="36576" tIns="18288" bIns="18288"/>
                    <a:lstStyle/>
                    <a:p>
                      <a:r>
                        <a:rPr sz="720" b="1">
                          <a:solidFill>
                            <a:srgbClr val="21242A"/>
                          </a:solidFill>
                          <a:latin typeface="Microsoft YaHei"/>
                        </a:rPr>
                        <a:t>两个周期后MRD阳性患者5年OS</a:t>
                      </a:r>
                    </a:p>
                  </a:txBody>
                  <a:tcPr>
                    <a:solidFill>
                      <a:srgbClr val="FFFFFF"/>
                    </a:solidFill>
                  </a:tcPr>
                </a:tc>
                <a:tc>
                  <a:txBody>
                    <a:bodyPr wrap="square" lIns="36576" rIns="36576" tIns="18288" bIns="18288"/>
                    <a:lstStyle/>
                    <a:p>
                      <a:r>
                        <a:rPr sz="720" b="0">
                          <a:solidFill>
                            <a:srgbClr val="21242A"/>
                          </a:solidFill>
                          <a:latin typeface="Microsoft YaHei"/>
                        </a:rPr>
                        <a:t>97% vs 75%</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四个周期后MRD阳性患者中52%转为阴性</a:t>
                      </a:r>
                    </a:p>
                  </a:txBody>
                  <a:tcPr>
                    <a:solidFill>
                      <a:srgbClr val="F6F8FB"/>
                    </a:solidFill>
                  </a:tcPr>
                </a:tc>
              </a:tr>
              <a:tr h="282321">
                <a:tc>
                  <a:txBody>
                    <a:bodyPr wrap="square" lIns="36576" rIns="36576" tIns="18288" bIns="18288"/>
                    <a:lstStyle/>
                    <a:p>
                      <a:r>
                        <a:rPr sz="720" b="1">
                          <a:solidFill>
                            <a:srgbClr val="21242A"/>
                          </a:solidFill>
                          <a:latin typeface="Microsoft YaHei"/>
                        </a:rPr>
                        <a:t>治疗结束时MRD阴性患者5年OS</a:t>
                      </a:r>
                    </a:p>
                  </a:txBody>
                  <a:tcPr>
                    <a:solidFill>
                      <a:srgbClr val="FFFFFF"/>
                    </a:solidFill>
                  </a:tcPr>
                </a:tc>
                <a:tc>
                  <a:txBody>
                    <a:bodyPr wrap="square" lIns="36576" rIns="36576" tIns="18288" bIns="18288"/>
                    <a:lstStyle/>
                    <a:p>
                      <a:r>
                        <a:rPr sz="720" b="0">
                          <a:solidFill>
                            <a:srgbClr val="21242A"/>
                          </a:solidFill>
                          <a:latin typeface="Microsoft YaHei"/>
                        </a:rPr>
                        <a:t>96% vs 30%</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随访中92%的患者在临床进展前ctDNA转为阳性（中位提前6个月）</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摘要号：S259</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外周循环免疫细胞亚群在初发弥漫性大b细胞淋巴瘤治疗中的预后价值及其与临床特征的相关性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peripheral circulating immune cell subsets: prognostic value and correlation...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PS2207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N=111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前瞻性临床研究结果：peripheral circulating immune cell subsets: prognosti...</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高IPI风险患者：DNB I更高，CD4+/CD8+比值、辅助诱导T细胞、初始CD8+ T细胞、DNB II和过渡性B细胞更低...</a:t>
            </a:r>
          </a:p>
          <a:p>
            <a:pPr>
              <a:lnSpc>
                <a:spcPct val="103000"/>
              </a:lnSpc>
              <a:spcAft>
                <a:spcPts val="300"/>
              </a:spcAft>
              <a:defRPr sz="800">
                <a:solidFill>
                  <a:srgbClr val="21242A"/>
                </a:solidFill>
                <a:latin typeface="Microsoft YaHei"/>
              </a:defRPr>
            </a:pPr>
            <a:r>
              <a:t>化疗后感染患者：效应记忆CD4+/CD8+ T细胞增加，初始和中央记忆CD4+ T细胞减少，感染是独立不良预后因素</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人数：111</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研究主题：peripheral circulating immune cell subsets: prognostic value and correlation with clinical features in treatment-naive...</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外周循环免疫细胞亚群在初发弥漫性大b细胞淋巴瘤治疗中的预后价值及其与临床特征的相关性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peripheral circulating immune cell subsets: prognostic value and correlation...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PS2207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高IPI风险患者</a:t>
                      </a:r>
                    </a:p>
                  </a:txBody>
                  <a:tcPr>
                    <a:solidFill>
                      <a:srgbClr val="F6F8FB"/>
                    </a:solidFill>
                  </a:tcPr>
                </a:tc>
                <a:tc>
                  <a:txBody>
                    <a:bodyPr wrap="square" lIns="36576" rIns="36576" tIns="18288" bIns="18288"/>
                    <a:lstStyle/>
                    <a:p>
                      <a:r>
                        <a:rPr sz="720" b="0">
                          <a:solidFill>
                            <a:srgbClr val="21242A"/>
                          </a:solidFill>
                          <a:latin typeface="Microsoft YaHei"/>
                        </a:rPr>
                        <a:t>DNB I更高，CD4+/CD8+比值、辅助诱导T细胞、初始CD8+ T细胞、DNB II和过渡性B细胞更低，复发率更高</a:t>
                      </a:r>
                    </a:p>
                  </a:txBody>
                  <a:tcPr>
                    <a:solidFill>
                      <a:srgbClr val="F6F8FB"/>
                    </a:solidFill>
                  </a:tcPr>
                </a:tc>
              </a:tr>
              <a:tr h="376428">
                <a:tc>
                  <a:txBody>
                    <a:bodyPr wrap="square" lIns="36576" rIns="36576" tIns="18288" bIns="18288"/>
                    <a:lstStyle/>
                    <a:p>
                      <a:r>
                        <a:rPr sz="720" b="1">
                          <a:solidFill>
                            <a:srgbClr val="21242A"/>
                          </a:solidFill>
                          <a:latin typeface="Microsoft YaHei"/>
                        </a:rPr>
                        <a:t>化疗后感染患者</a:t>
                      </a:r>
                    </a:p>
                  </a:txBody>
                  <a:tcPr>
                    <a:solidFill>
                      <a:srgbClr val="FFFFFF"/>
                    </a:solidFill>
                  </a:tcPr>
                </a:tc>
                <a:tc>
                  <a:txBody>
                    <a:bodyPr wrap="square" lIns="36576" rIns="36576" tIns="18288" bIns="18288"/>
                    <a:lstStyle/>
                    <a:p>
                      <a:r>
                        <a:rPr sz="720" b="0">
                          <a:solidFill>
                            <a:srgbClr val="21242A"/>
                          </a:solidFill>
                          <a:latin typeface="Microsoft YaHei"/>
                        </a:rPr>
                        <a:t>效应记忆CD4+/CD8+ T细胞增加，初始和中央记忆CD4+ T细胞减少，感染是独立不良预后因素</a:t>
                      </a:r>
                    </a:p>
                  </a:txBody>
                  <a:tcPr>
                    <a:solidFill>
                      <a:srgbClr val="FFFFFF"/>
                    </a:solidFill>
                  </a:tcPr>
                </a:tc>
              </a:tr>
              <a:tr h="376428">
                <a:tc>
                  <a:txBody>
                    <a:bodyPr wrap="square" lIns="36576" rIns="36576" tIns="18288" bIns="18288"/>
                    <a:lstStyle/>
                    <a:p>
                      <a:r>
                        <a:rPr sz="720" b="1">
                          <a:solidFill>
                            <a:srgbClr val="21242A"/>
                          </a:solidFill>
                          <a:latin typeface="Microsoft YaHei"/>
                        </a:rPr>
                        <a:t>CR患者</a:t>
                      </a:r>
                    </a:p>
                  </a:txBody>
                  <a:tcPr>
                    <a:solidFill>
                      <a:srgbClr val="F6F8FB"/>
                    </a:solidFill>
                  </a:tcPr>
                </a:tc>
                <a:tc>
                  <a:txBody>
                    <a:bodyPr wrap="square" lIns="36576" rIns="36576" tIns="18288" bIns="18288"/>
                    <a:lstStyle/>
                    <a:p>
                      <a:r>
                        <a:rPr sz="720" b="0">
                          <a:solidFill>
                            <a:srgbClr val="21242A"/>
                          </a:solidFill>
                          <a:latin typeface="Microsoft YaHei"/>
                        </a:rPr>
                        <a:t>初始CD8+ T细胞和细胞毒性T细胞更高</a:t>
                      </a:r>
                    </a:p>
                  </a:txBody>
                  <a:tcPr>
                    <a:solidFill>
                      <a:srgbClr val="F6F8FB"/>
                    </a:solidFill>
                  </a:tcPr>
                </a:tc>
              </a:tr>
              <a:tr h="376428">
                <a:tc>
                  <a:txBody>
                    <a:bodyPr wrap="square" lIns="36576" rIns="36576" tIns="18288" bIns="18288"/>
                    <a:lstStyle/>
                    <a:p>
                      <a:r>
                        <a:rPr sz="720" b="1">
                          <a:solidFill>
                            <a:srgbClr val="21242A"/>
                          </a:solidFill>
                          <a:latin typeface="Microsoft YaHei"/>
                        </a:rPr>
                        <a:t>PD患者</a:t>
                      </a:r>
                    </a:p>
                  </a:txBody>
                  <a:tcPr>
                    <a:solidFill>
                      <a:srgbClr val="FFFFFF"/>
                    </a:solidFill>
                  </a:tcPr>
                </a:tc>
                <a:tc>
                  <a:txBody>
                    <a:bodyPr wrap="square" lIns="36576" rIns="36576" tIns="18288" bIns="18288"/>
                    <a:lstStyle/>
                    <a:p>
                      <a:r>
                        <a:rPr sz="720" b="0">
                          <a:solidFill>
                            <a:srgbClr val="21242A"/>
                          </a:solidFill>
                          <a:latin typeface="Microsoft YaHei"/>
                        </a:rPr>
                        <a:t>DNB和Tph水平更高</a:t>
                      </a:r>
                    </a:p>
                  </a:txBody>
                  <a:tcPr>
                    <a:solidFill>
                      <a:srgbClr val="FFFFFF"/>
                    </a:solidFill>
                  </a:tcPr>
                </a:tc>
              </a:tr>
              <a:tr h="37642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建立了包含五个免疫指标和IPI评分的预后列线图，C-index为0.805</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摘要号：PS2207</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弥漫性大b细胞淋巴瘤中cd20阳性细胞外囊泡充当抗原诱饵并降低利妥昔单抗活性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cd20-positive extracellular vesicles act as antigen decoys and reduce rituxim...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PS2190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N=116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试验药/方案：利妥昔单抗</a:t>
            </a:r>
          </a:p>
          <a:p>
            <a:pPr>
              <a:lnSpc>
                <a:spcPct val="103000"/>
              </a:lnSpc>
              <a:spcAft>
                <a:spcPts val="300"/>
              </a:spcAft>
              <a:defRPr sz="800">
                <a:solidFill>
                  <a:srgbClr val="21242A"/>
                </a:solidFill>
                <a:latin typeface="Microsoft YaHei"/>
              </a:defRPr>
            </a:pPr>
            <a:r>
              <a:t>靶点：CD20</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在训练队列（n=26）中，高CD20阳性大EV组患者疾病特异性生存（DSS）和总生存（OS）显著更差</a:t>
            </a:r>
          </a:p>
          <a:p>
            <a:pPr>
              <a:lnSpc>
                <a:spcPct val="103000"/>
              </a:lnSpc>
              <a:spcAft>
                <a:spcPts val="300"/>
              </a:spcAft>
              <a:defRPr sz="800">
                <a:solidFill>
                  <a:srgbClr val="21242A"/>
                </a:solidFill>
                <a:latin typeface="Microsoft YaHei"/>
              </a:defRPr>
            </a:pPr>
            <a:r>
              <a:t>在验证队列（n=90）中，高CD20阳性大EV水平与更多疾病进展、更差的DSS和OS显著相关</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人数：116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试验药/方案：利妥昔单抗</a:t>
            </a:r>
          </a:p>
          <a:p>
            <a:pPr>
              <a:lnSpc>
                <a:spcPct val="103000"/>
              </a:lnSpc>
              <a:spcAft>
                <a:spcPts val="300"/>
              </a:spcAft>
              <a:defRPr sz="810">
                <a:solidFill>
                  <a:srgbClr val="21242A"/>
                </a:solidFill>
                <a:latin typeface="Microsoft YaHei"/>
              </a:defRPr>
            </a:pPr>
            <a:r>
              <a:t>靶点：CD20</a:t>
            </a:r>
          </a:p>
          <a:p>
            <a:pPr>
              <a:lnSpc>
                <a:spcPct val="103000"/>
              </a:lnSpc>
              <a:spcAft>
                <a:spcPts val="300"/>
              </a:spcAft>
              <a:defRPr sz="810">
                <a:solidFill>
                  <a:srgbClr val="21242A"/>
                </a:solidFill>
                <a:latin typeface="Microsoft YaHei"/>
              </a:defRPr>
            </a:pPr>
            <a:r>
              <a:t>药物/技术类别：单特异性抗体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弥漫性大b细胞淋巴瘤中cd20阳性细胞外囊泡充当抗原诱饵并降低利妥昔单抗活性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cd20-positive extracellular vesicles act as antigen decoys and reduce rituxim...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PS2190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在训练队列（n=26）中，高CD20阳性大EV组患者疾病特异性生存（DSS）和总生存（OS）显著更差；在验证队列（n=90）中，高CD20阳性大EV水平与更多疾病进展、更差的DSS和OS显著相关；多因素调整后CD20阳性大EV仍是独立预</a:t>
            </a:r>
          </a:p>
          <a:p>
            <a:pPr>
              <a:lnSpc>
                <a:spcPct val="103000"/>
              </a:lnSpc>
              <a:spcAft>
                <a:spcPts val="300"/>
              </a:spcAft>
              <a:defRPr sz="819">
                <a:solidFill>
                  <a:srgbClr val="21242A"/>
                </a:solidFill>
                <a:latin typeface="Microsoft YaHei"/>
              </a:defRPr>
            </a:pPr>
            <a:r>
              <a:t>后因素。功能实验显示患者来源的CD20阳性大EV增强肿瘤细胞增殖、减弱利妥昔单抗介导的生长抑制和细胞毒性。</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摘要号：PS2190</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连续扩散，而非血行扩散：原发性经鼻dlbcl-94例患者中枢神经系统风险和治疗强度的再思考</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contiguous spread, not hematogenous dissemination: rethinking cns risk and tr...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N=94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分组：试验组1：R-CHOP方案</a:t>
            </a:r>
          </a:p>
          <a:p>
            <a:pPr>
              <a:lnSpc>
                <a:spcPct val="103000"/>
              </a:lnSpc>
              <a:spcAft>
                <a:spcPts val="300"/>
              </a:spcAft>
              <a:defRPr sz="800">
                <a:solidFill>
                  <a:srgbClr val="21242A"/>
                </a:solidFill>
                <a:latin typeface="Microsoft YaHei"/>
              </a:defRPr>
            </a:pPr>
            <a:r>
              <a:t>试验组2：da-R-EPOCH方案</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多组/多方案比较：试验组1：R-CHOP方案</a:t>
            </a:r>
          </a:p>
          <a:p>
            <a:pPr>
              <a:lnSpc>
                <a:spcPct val="103000"/>
              </a:lnSpc>
              <a:spcAft>
                <a:spcPts val="300"/>
              </a:spcAft>
              <a:defRPr sz="800">
                <a:solidFill>
                  <a:srgbClr val="21242A"/>
                </a:solidFill>
                <a:latin typeface="Microsoft YaHei"/>
              </a:defRPr>
            </a:pPr>
            <a:r>
              <a:t>试验组2：da-R-EPOCH方案</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5年无进展生存率（PFS）: 67.0%</a:t>
            </a:r>
          </a:p>
          <a:p>
            <a:pPr>
              <a:lnSpc>
                <a:spcPct val="103000"/>
              </a:lnSpc>
              <a:spcAft>
                <a:spcPts val="300"/>
              </a:spcAft>
              <a:defRPr sz="800">
                <a:solidFill>
                  <a:srgbClr val="21242A"/>
                </a:solidFill>
                <a:latin typeface="Microsoft YaHei"/>
              </a:defRPr>
            </a:pPr>
            <a:r>
              <a:t>5年总生存率（OS）: 73.1%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人数：94</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分组/治疗流程：试验组1：R-CHOP方案、试验组2：da-R-EPOCH方案、试验组3：Pola-R-CHP方案</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连续扩散，而非血行扩散：原发性经鼻dlbcl-94例患者中枢神经系统风险和治疗强度的再思考</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contiguous spread, not hematogenous dissemination: rethinking cns risk and tr...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5年无进展生存率（PFS）</a:t>
                      </a:r>
                    </a:p>
                  </a:txBody>
                  <a:tcPr>
                    <a:solidFill>
                      <a:srgbClr val="F6F8FB"/>
                    </a:solidFill>
                  </a:tcPr>
                </a:tc>
                <a:tc>
                  <a:txBody>
                    <a:bodyPr wrap="square" lIns="36576" rIns="36576" tIns="18288" bIns="18288"/>
                    <a:lstStyle/>
                    <a:p>
                      <a:r>
                        <a:rPr sz="720" b="0">
                          <a:solidFill>
                            <a:srgbClr val="21242A"/>
                          </a:solidFill>
                          <a:latin typeface="Microsoft YaHei"/>
                        </a:rPr>
                        <a:t>67.0%</a:t>
                      </a:r>
                    </a:p>
                  </a:txBody>
                  <a:tcPr>
                    <a:solidFill>
                      <a:srgbClr val="F6F8FB"/>
                    </a:solidFill>
                  </a:tcPr>
                </a:tc>
              </a:tr>
              <a:tr h="376428">
                <a:tc>
                  <a:txBody>
                    <a:bodyPr wrap="square" lIns="36576" rIns="36576" tIns="18288" bIns="18288"/>
                    <a:lstStyle/>
                    <a:p>
                      <a:r>
                        <a:rPr sz="720" b="1">
                          <a:solidFill>
                            <a:srgbClr val="21242A"/>
                          </a:solidFill>
                          <a:latin typeface="Microsoft YaHei"/>
                        </a:rPr>
                        <a:t>5年总生存率（OS）</a:t>
                      </a:r>
                    </a:p>
                  </a:txBody>
                  <a:tcPr>
                    <a:solidFill>
                      <a:srgbClr val="FFFFFF"/>
                    </a:solidFill>
                  </a:tcPr>
                </a:tc>
                <a:tc>
                  <a:txBody>
                    <a:bodyPr wrap="square" lIns="36576" rIns="36576" tIns="18288" bIns="18288"/>
                    <a:lstStyle/>
                    <a:p>
                      <a:r>
                        <a:rPr sz="720" b="0">
                          <a:solidFill>
                            <a:srgbClr val="21242A"/>
                          </a:solidFill>
                          <a:latin typeface="Microsoft YaHei"/>
                        </a:rPr>
                        <a:t>73.1%</a:t>
                      </a:r>
                    </a:p>
                  </a:txBody>
                  <a:tcPr>
                    <a:solidFill>
                      <a:srgbClr val="FFFFFF"/>
                    </a:solidFill>
                  </a:tcPr>
                </a:tc>
              </a:tr>
              <a:tr h="376428">
                <a:tc>
                  <a:txBody>
                    <a:bodyPr wrap="square" lIns="36576" rIns="36576" tIns="18288" bIns="18288"/>
                    <a:lstStyle/>
                    <a:p>
                      <a:r>
                        <a:rPr sz="720" b="1">
                          <a:solidFill>
                            <a:srgbClr val="21242A"/>
                          </a:solidFill>
                          <a:latin typeface="Microsoft YaHei"/>
                        </a:rPr>
                        <a:t>基线CNS受累</a:t>
                      </a:r>
                    </a:p>
                  </a:txBody>
                  <a:tcPr>
                    <a:solidFill>
                      <a:srgbClr val="F6F8FB"/>
                    </a:solidFill>
                  </a:tcPr>
                </a:tc>
                <a:tc>
                  <a:txBody>
                    <a:bodyPr wrap="square" lIns="36576" rIns="36576" tIns="18288" bIns="18288"/>
                    <a:lstStyle/>
                    <a:p>
                      <a:r>
                        <a:rPr sz="720" b="0">
                          <a:solidFill>
                            <a:srgbClr val="21242A"/>
                          </a:solidFill>
                          <a:latin typeface="Microsoft YaHei"/>
                        </a:rPr>
                        <a:t>9.6%</a:t>
                      </a:r>
                    </a:p>
                  </a:txBody>
                  <a:tcPr>
                    <a:solidFill>
                      <a:srgbClr val="F6F8FB"/>
                    </a:solidFill>
                  </a:tcPr>
                </a:tc>
              </a:tr>
              <a:tr h="376428">
                <a:tc>
                  <a:txBody>
                    <a:bodyPr wrap="square" lIns="36576" rIns="36576" tIns="18288" bIns="18288"/>
                    <a:lstStyle/>
                    <a:p>
                      <a:r>
                        <a:rPr sz="720" b="1">
                          <a:solidFill>
                            <a:srgbClr val="21242A"/>
                          </a:solidFill>
                          <a:latin typeface="Microsoft YaHei"/>
                        </a:rPr>
                        <a:t>CNS进展率</a:t>
                      </a:r>
                    </a:p>
                  </a:txBody>
                  <a:tcPr>
                    <a:solidFill>
                      <a:srgbClr val="FFFFFF"/>
                    </a:solidFill>
                  </a:tcPr>
                </a:tc>
                <a:tc>
                  <a:txBody>
                    <a:bodyPr wrap="square" lIns="36576" rIns="36576" tIns="18288" bIns="18288"/>
                    <a:lstStyle/>
                    <a:p>
                      <a:r>
                        <a:rPr sz="720" b="0">
                          <a:solidFill>
                            <a:srgbClr val="21242A"/>
                          </a:solidFill>
                          <a:latin typeface="Microsoft YaHei"/>
                        </a:rPr>
                        <a:t>3.2%</a:t>
                      </a:r>
                    </a:p>
                  </a:txBody>
                  <a:tcPr>
                    <a:solidFill>
                      <a:srgbClr val="FFFFFF"/>
                    </a:solidFill>
                  </a:tcPr>
                </a:tc>
              </a:tr>
              <a:tr h="376428">
                <a:tc>
                  <a:txBody>
                    <a:bodyPr wrap="square" lIns="36576" rIns="36576" tIns="18288" bIns="18288"/>
                    <a:lstStyle/>
                    <a:p>
                      <a:r>
                        <a:rPr sz="720" b="1">
                          <a:solidFill>
                            <a:srgbClr val="21242A"/>
                          </a:solidFill>
                          <a:latin typeface="Microsoft YaHei"/>
                        </a:rPr>
                        <a:t>≥3级中性粒细胞减少</a:t>
                      </a:r>
                    </a:p>
                  </a:txBody>
                  <a:tcPr>
                    <a:solidFill>
                      <a:srgbClr val="F6F8FB"/>
                    </a:solidFill>
                  </a:tcPr>
                </a:tc>
                <a:tc>
                  <a:txBody>
                    <a:bodyPr wrap="square" lIns="36576" rIns="36576" tIns="18288" bIns="18288"/>
                    <a:lstStyle/>
                    <a:p>
                      <a:r>
                        <a:rPr sz="720" b="0">
                          <a:solidFill>
                            <a:srgbClr val="21242A"/>
                          </a:solidFill>
                          <a:latin typeface="Microsoft YaHei"/>
                        </a:rPr>
                        <a:t>83.0%</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摘要号：PS2125</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血清mir-155-3p、mir-142-3p和mir-22-3p作为大b细胞淋巴瘤（lbcl）患者诊断和预后生物标志...</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serum mir-155-3p, mir-142-3p and mir-22-3p as diagnostic and prognostic bioma...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N=45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前瞻性临床研究结果：serum mir-155-3p, mir-142-3p and mir-22-3p as diagnos...</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血清miR-22-3p在LBCL患者中显著升高（p&lt;0.001），但与OS无关</a:t>
            </a:r>
          </a:p>
          <a:p>
            <a:pPr>
              <a:lnSpc>
                <a:spcPct val="103000"/>
              </a:lnSpc>
              <a:spcAft>
                <a:spcPts val="300"/>
              </a:spcAft>
              <a:defRPr sz="800">
                <a:solidFill>
                  <a:srgbClr val="21242A"/>
                </a:solidFill>
                <a:latin typeface="Microsoft YaHei"/>
              </a:defRPr>
            </a:pPr>
            <a:r>
              <a:t>高miR-155-3p和低miR-142-3p是独立的不良预后因素。</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人数：45</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研究主题：serum mir-155-3p, mir-142-3p and mir-22-3p as diagnostic and prognostic biomarkers in patients with large b-cell lympho...</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血清mir-155-3p、mir-142-3p和mir-22-3p作为大b细胞淋巴瘤（lbcl）患者诊断和预后生物标志...</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serum mir-155-3p, mir-142-3p and mir-22-3p as diagnostic and prognostic bioma...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EHA原文结果（中文字段未通过数字核对）（1/2）</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The median patient age was 67 years (58% male), with a median follow-up of 26 months; 13 patients died during</a:t>
            </a:r>
          </a:p>
          <a:p>
            <a:pPr>
              <a:lnSpc>
                <a:spcPct val="103000"/>
              </a:lnSpc>
              <a:spcAft>
                <a:spcPts val="300"/>
              </a:spcAft>
              <a:defRPr sz="819">
                <a:solidFill>
                  <a:srgbClr val="21242A"/>
                </a:solidFill>
                <a:latin typeface="Microsoft YaHei"/>
              </a:defRPr>
            </a:pPr>
            <a:r>
              <a:t> the study period.</a:t>
            </a:r>
          </a:p>
          <a:p>
            <a:pPr>
              <a:lnSpc>
                <a:spcPct val="103000"/>
              </a:lnSpc>
              <a:spcAft>
                <a:spcPts val="300"/>
              </a:spcAft>
              <a:defRPr sz="819">
                <a:solidFill>
                  <a:srgbClr val="21242A"/>
                </a:solidFill>
                <a:latin typeface="Microsoft YaHei"/>
              </a:defRPr>
            </a:pPr>
            <a:r>
              <a:t>Serum miR-155-3p and miR-142-3p levels did not differ significantly between patients and controls, whereas miR-22-3p w</a:t>
            </a:r>
          </a:p>
          <a:p>
            <a:pPr>
              <a:lnSpc>
                <a:spcPct val="103000"/>
              </a:lnSpc>
              <a:spcAft>
                <a:spcPts val="300"/>
              </a:spcAft>
              <a:defRPr sz="819">
                <a:solidFill>
                  <a:srgbClr val="21242A"/>
                </a:solidFill>
                <a:latin typeface="Microsoft YaHei"/>
              </a:defRPr>
            </a:pPr>
            <a:r>
              <a:t>as significantly elevated in LBCL patients (p Summary/Conclusion: Elevated serum miR-22-3p is characteristic of LBCL b</a:t>
            </a:r>
          </a:p>
          <a:p>
            <a:pPr>
              <a:lnSpc>
                <a:spcPct val="103000"/>
              </a:lnSpc>
              <a:spcAft>
                <a:spcPts val="300"/>
              </a:spcAft>
              <a:defRPr sz="819">
                <a:solidFill>
                  <a:srgbClr val="21242A"/>
                </a:solidFill>
                <a:latin typeface="Microsoft YaHei"/>
              </a:defRPr>
            </a:pPr>
            <a:r>
              <a:t>ut not linked to OS, while high miR-155-3p and low miR-142-3p are independent adverse prognostic factors, supporting t</a:t>
            </a:r>
          </a:p>
          <a:p>
            <a:pPr>
              <a:lnSpc>
                <a:spcPct val="103000"/>
              </a:lnSpc>
              <a:spcAft>
                <a:spcPts val="300"/>
              </a:spcAft>
              <a:defRPr sz="819">
                <a:solidFill>
                  <a:srgbClr val="21242A"/>
                </a:solidFill>
                <a:latin typeface="Microsoft YaHei"/>
              </a:defRPr>
            </a:pPr>
            <a:r>
              <a:t>heir potential as circulating risk-stratification biomarkers.</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摘要号：PS2109</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血清mir-155-3p、mir-142-3p和mir-22-3p作为大b细胞淋巴瘤（lbcl）患者诊断和预后生物标志...</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serum mir-155-3p, mir-142-3p and mir-22-3p as diagnostic and prognostic bioma...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EHA原文结果（中文字段未通过数字核对）（2/2）</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These preliminary findings require validation in larger multicenter studies and further exploration of their integrati</a:t>
            </a:r>
          </a:p>
          <a:p>
            <a:pPr>
              <a:lnSpc>
                <a:spcPct val="103000"/>
              </a:lnSpc>
              <a:spcAft>
                <a:spcPts val="300"/>
              </a:spcAft>
              <a:defRPr sz="819">
                <a:solidFill>
                  <a:srgbClr val="21242A"/>
                </a:solidFill>
                <a:latin typeface="Microsoft YaHei"/>
              </a:defRPr>
            </a:pPr>
            <a:r>
              <a:t>on into existing prognostic models.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一线selinexor联合r-chop治疗ebv阳性弥漫性大b细胞淋巴瘤（xplore）：单臂ib/ii期试验</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first-line selinexor in combination with r-chop for ebv-positive diffuse larg...</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试验药/方案：塞利尼索</a:t>
            </a:r>
          </a:p>
          <a:p>
            <a:pPr>
              <a:lnSpc>
                <a:spcPct val="103000"/>
              </a:lnSpc>
              <a:spcAft>
                <a:spcPts val="300"/>
              </a:spcAft>
              <a:defRPr sz="800">
                <a:solidFill>
                  <a:srgbClr val="21242A"/>
                </a:solidFill>
                <a:latin typeface="Microsoft YaHei"/>
              </a:defRPr>
            </a:pPr>
            <a:r>
              <a:t>靶点：XPO1</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最佳完全缓解率（CR）: 72.0%（18/25）</a:t>
            </a:r>
          </a:p>
          <a:p>
            <a:pPr>
              <a:lnSpc>
                <a:spcPct val="103000"/>
              </a:lnSpc>
              <a:spcAft>
                <a:spcPts val="300"/>
              </a:spcAft>
              <a:defRPr sz="800">
                <a:solidFill>
                  <a:srgbClr val="21242A"/>
                </a:solidFill>
                <a:latin typeface="Microsoft YaHei"/>
              </a:defRPr>
            </a:pPr>
            <a:r>
              <a:t>最佳总缓解率（ORR）: 96.0%（24/25）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人数：27</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登记号：NCT05577364</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试验药/方案：塞利尼索</a:t>
            </a:r>
          </a:p>
          <a:p>
            <a:pPr>
              <a:lnSpc>
                <a:spcPct val="103000"/>
              </a:lnSpc>
              <a:spcAft>
                <a:spcPts val="300"/>
              </a:spcAft>
              <a:defRPr sz="810">
                <a:solidFill>
                  <a:srgbClr val="21242A"/>
                </a:solidFill>
                <a:latin typeface="Microsoft YaHei"/>
              </a:defRPr>
            </a:pPr>
            <a:r>
              <a:t>靶点：XPO1</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一线selinexor联合r-chop治疗ebv阳性弥漫性大b细胞淋巴瘤（xplore）：单臂ib/ii期试验</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first-line selinexor in combination with r-chop for ebv-positive diffuse larg...</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2265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22652">
                <a:tc>
                  <a:txBody>
                    <a:bodyPr wrap="square" lIns="36576" rIns="36576" tIns="18288" bIns="18288"/>
                    <a:lstStyle/>
                    <a:p>
                      <a:r>
                        <a:rPr sz="720" b="1">
                          <a:solidFill>
                            <a:srgbClr val="21242A"/>
                          </a:solidFill>
                          <a:latin typeface="Microsoft YaHei"/>
                        </a:rPr>
                        <a:t>最佳完全缓解率（CR）</a:t>
                      </a:r>
                    </a:p>
                  </a:txBody>
                  <a:tcPr>
                    <a:solidFill>
                      <a:srgbClr val="F6F8FB"/>
                    </a:solidFill>
                  </a:tcPr>
                </a:tc>
                <a:tc>
                  <a:txBody>
                    <a:bodyPr wrap="square" lIns="36576" rIns="36576" tIns="18288" bIns="18288"/>
                    <a:lstStyle/>
                    <a:p>
                      <a:r>
                        <a:rPr sz="720" b="0">
                          <a:solidFill>
                            <a:srgbClr val="21242A"/>
                          </a:solidFill>
                          <a:latin typeface="Microsoft YaHei"/>
                        </a:rPr>
                        <a:t>72.0%（18/25）</a:t>
                      </a:r>
                    </a:p>
                  </a:txBody>
                  <a:tcPr>
                    <a:solidFill>
                      <a:srgbClr val="F6F8FB"/>
                    </a:solidFill>
                  </a:tcPr>
                </a:tc>
              </a:tr>
              <a:tr h="322652">
                <a:tc>
                  <a:txBody>
                    <a:bodyPr wrap="square" lIns="36576" rIns="36576" tIns="18288" bIns="18288"/>
                    <a:lstStyle/>
                    <a:p>
                      <a:r>
                        <a:rPr sz="720" b="1">
                          <a:solidFill>
                            <a:srgbClr val="21242A"/>
                          </a:solidFill>
                          <a:latin typeface="Microsoft YaHei"/>
                        </a:rPr>
                        <a:t>最佳总缓解率（ORR）</a:t>
                      </a:r>
                    </a:p>
                  </a:txBody>
                  <a:tcPr>
                    <a:solidFill>
                      <a:srgbClr val="FFFFFF"/>
                    </a:solidFill>
                  </a:tcPr>
                </a:tc>
                <a:tc>
                  <a:txBody>
                    <a:bodyPr wrap="square" lIns="36576" rIns="36576" tIns="18288" bIns="18288"/>
                    <a:lstStyle/>
                    <a:p>
                      <a:r>
                        <a:rPr sz="720" b="0">
                          <a:solidFill>
                            <a:srgbClr val="21242A"/>
                          </a:solidFill>
                          <a:latin typeface="Microsoft YaHei"/>
                        </a:rPr>
                        <a:t>96.0%（24/25）</a:t>
                      </a:r>
                    </a:p>
                  </a:txBody>
                  <a:tcPr>
                    <a:solidFill>
                      <a:srgbClr val="FFFFFF"/>
                    </a:solidFill>
                  </a:tcPr>
                </a:tc>
              </a:tr>
              <a:tr h="322652">
                <a:tc>
                  <a:txBody>
                    <a:bodyPr wrap="square" lIns="36576" rIns="36576" tIns="18288" bIns="18288"/>
                    <a:lstStyle/>
                    <a:p>
                      <a:r>
                        <a:rPr sz="720" b="1">
                          <a:solidFill>
                            <a:srgbClr val="21242A"/>
                          </a:solidFill>
                          <a:latin typeface="Microsoft YaHei"/>
                        </a:rPr>
                        <a:t>任意级别治疗相关不良事件（TRAEs）</a:t>
                      </a:r>
                    </a:p>
                  </a:txBody>
                  <a:tcPr>
                    <a:solidFill>
                      <a:srgbClr val="F6F8FB"/>
                    </a:solidFill>
                  </a:tcPr>
                </a:tc>
                <a:tc>
                  <a:txBody>
                    <a:bodyPr wrap="square" lIns="36576" rIns="36576" tIns="18288" bIns="18288"/>
                    <a:lstStyle/>
                    <a:p>
                      <a:r>
                        <a:rPr sz="720" b="0">
                          <a:solidFill>
                            <a:srgbClr val="21242A"/>
                          </a:solidFill>
                          <a:latin typeface="Microsoft YaHei"/>
                        </a:rPr>
                        <a:t>白细胞减少92.5%，中性粒细胞减少92.5%，血小板减少74.0%，贫血77.8%，恶心55.6%</a:t>
                      </a:r>
                    </a:p>
                  </a:txBody>
                  <a:tcPr>
                    <a:solidFill>
                      <a:srgbClr val="F6F8FB"/>
                    </a:solidFill>
                  </a:tcPr>
                </a:tc>
              </a:tr>
              <a:tr h="322652">
                <a:tc>
                  <a:txBody>
                    <a:bodyPr wrap="square" lIns="36576" rIns="36576" tIns="18288" bIns="18288"/>
                    <a:lstStyle/>
                    <a:p>
                      <a:r>
                        <a:rPr sz="720" b="1">
                          <a:solidFill>
                            <a:srgbClr val="21242A"/>
                          </a:solidFill>
                          <a:latin typeface="Microsoft YaHei"/>
                        </a:rPr>
                        <a:t>3-4级TRAEs</a:t>
                      </a:r>
                    </a:p>
                  </a:txBody>
                  <a:tcPr>
                    <a:solidFill>
                      <a:srgbClr val="FFFFFF"/>
                    </a:solidFill>
                  </a:tcPr>
                </a:tc>
                <a:tc>
                  <a:txBody>
                    <a:bodyPr wrap="square" lIns="36576" rIns="36576" tIns="18288" bIns="18288"/>
                    <a:lstStyle/>
                    <a:p>
                      <a:r>
                        <a:rPr sz="720" b="0">
                          <a:solidFill>
                            <a:srgbClr val="21242A"/>
                          </a:solidFill>
                          <a:latin typeface="Microsoft YaHei"/>
                        </a:rPr>
                        <a:t>白细胞减少77.8%，中性粒细胞减少74.0%</a:t>
                      </a:r>
                    </a:p>
                  </a:txBody>
                  <a:tcPr>
                    <a:solidFill>
                      <a:srgbClr val="FFFFFF"/>
                    </a:solidFill>
                  </a:tcPr>
                </a:tc>
              </a:tr>
              <a:tr h="322652">
                <a:tc>
                  <a:txBody>
                    <a:bodyPr wrap="square" lIns="36576" rIns="36576" tIns="18288" bIns="18288"/>
                    <a:lstStyle/>
                    <a:p>
                      <a:r>
                        <a:rPr sz="720" b="1">
                          <a:solidFill>
                            <a:srgbClr val="21242A"/>
                          </a:solidFill>
                          <a:latin typeface="Microsoft YaHei"/>
                        </a:rPr>
                        <a:t>TRAE相关治疗中断</a:t>
                      </a:r>
                    </a:p>
                  </a:txBody>
                  <a:tcPr>
                    <a:solidFill>
                      <a:srgbClr val="F6F8FB"/>
                    </a:solidFill>
                  </a:tcPr>
                </a:tc>
                <a:tc>
                  <a:txBody>
                    <a:bodyPr wrap="square" lIns="36576" rIns="36576" tIns="18288" bIns="18288"/>
                    <a:lstStyle/>
                    <a:p>
                      <a:r>
                        <a:rPr sz="720" b="0">
                          <a:solidFill>
                            <a:srgbClr val="21242A"/>
                          </a:solidFill>
                          <a:latin typeface="Microsoft YaHei"/>
                        </a:rPr>
                        <a:t>29.6%</a:t>
                      </a:r>
                    </a:p>
                  </a:txBody>
                  <a:tcPr>
                    <a:solidFill>
                      <a:srgbClr val="F6F8FB"/>
                    </a:solidFill>
                  </a:tcPr>
                </a:tc>
              </a:tr>
              <a:tr h="322656">
                <a:tc>
                  <a:txBody>
                    <a:bodyPr wrap="square" lIns="36576" rIns="36576" tIns="18288" bIns="18288"/>
                    <a:lstStyle/>
                    <a:p>
                      <a:r>
                        <a:rPr sz="720" b="1">
                          <a:solidFill>
                            <a:srgbClr val="21242A"/>
                          </a:solidFill>
                          <a:latin typeface="Microsoft YaHei"/>
                        </a:rPr>
                        <a:t>治疗相关死亡</a:t>
                      </a:r>
                    </a:p>
                  </a:txBody>
                  <a:tcPr>
                    <a:solidFill>
                      <a:srgbClr val="FFFFFF"/>
                    </a:solidFill>
                  </a:tcPr>
                </a:tc>
                <a:tc>
                  <a:txBody>
                    <a:bodyPr wrap="square" lIns="36576" rIns="36576" tIns="18288" bIns="18288"/>
                    <a:lstStyle/>
                    <a:p>
                      <a:r>
                        <a:rPr sz="720" b="0">
                          <a:solidFill>
                            <a:srgbClr val="21242A"/>
                          </a:solidFill>
                          <a:latin typeface="Microsoft YaHei"/>
                        </a:rPr>
                        <a:t>0</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摘要号：PS2093</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selinexor联合r-chop方案作为高危gcb亚型弥漫性大b细胞淋巴瘤患者的一线治疗：一项多中心、单臂、ii期研究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selinexor in combination with the r-chop regimen as a first-line treatment fo...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试验药/方案：塞利尼索</a:t>
            </a:r>
          </a:p>
          <a:p>
            <a:pPr>
              <a:lnSpc>
                <a:spcPct val="103000"/>
              </a:lnSpc>
              <a:spcAft>
                <a:spcPts val="300"/>
              </a:spcAft>
              <a:defRPr sz="800">
                <a:solidFill>
                  <a:srgbClr val="21242A"/>
                </a:solidFill>
                <a:latin typeface="Microsoft YaHei"/>
              </a:defRPr>
            </a:pPr>
            <a:r>
              <a:t>靶点：XPO1</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完全缓解率(CR): 76.2%</a:t>
            </a:r>
          </a:p>
          <a:p>
            <a:pPr>
              <a:lnSpc>
                <a:spcPct val="103000"/>
              </a:lnSpc>
              <a:spcAft>
                <a:spcPts val="300"/>
              </a:spcAft>
              <a:defRPr sz="800">
                <a:solidFill>
                  <a:srgbClr val="21242A"/>
                </a:solidFill>
                <a:latin typeface="Microsoft YaHei"/>
              </a:defRPr>
            </a:pPr>
            <a:r>
              <a:t>客观缓解率(ORR): 100.0%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人数：45</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登记号：NCT05422066</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试验药/方案：塞利尼索</a:t>
            </a:r>
          </a:p>
          <a:p>
            <a:pPr>
              <a:lnSpc>
                <a:spcPct val="103000"/>
              </a:lnSpc>
              <a:spcAft>
                <a:spcPts val="300"/>
              </a:spcAft>
              <a:defRPr sz="810">
                <a:solidFill>
                  <a:srgbClr val="21242A"/>
                </a:solidFill>
                <a:latin typeface="Microsoft YaHei"/>
              </a:defRPr>
            </a:pPr>
            <a:r>
              <a:t>靶点：XPO1</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selinexor联合r-chop方案作为高危gcb亚型弥漫性大b细胞淋巴瘤患者的一线治疗：一项多中心、单臂、ii期研究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selinexor in combination with the r-chop regimen as a first-line treatment fo...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EHA原文结果（中文字段未通过数字核对）（1/3）</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Between August 2022 and February 2026 , a total of 45 patients were enrolled , with a median age of 59 years </a:t>
            </a:r>
          </a:p>
          <a:p>
            <a:pPr>
              <a:lnSpc>
                <a:spcPct val="103000"/>
              </a:lnSpc>
              <a:spcAft>
                <a:spcPts val="300"/>
              </a:spcAft>
              <a:defRPr sz="819">
                <a:solidFill>
                  <a:srgbClr val="21242A"/>
                </a:solidFill>
                <a:latin typeface="Microsoft YaHei"/>
              </a:defRPr>
            </a:pPr>
            <a:r>
              <a:t>(range, 26-79).</a:t>
            </a:r>
          </a:p>
          <a:p>
            <a:pPr>
              <a:lnSpc>
                <a:spcPct val="103000"/>
              </a:lnSpc>
              <a:spcAft>
                <a:spcPts val="300"/>
              </a:spcAft>
              <a:defRPr sz="819">
                <a:solidFill>
                  <a:srgbClr val="21242A"/>
                </a:solidFill>
                <a:latin typeface="Microsoft YaHei"/>
              </a:defRPr>
            </a:pPr>
            <a:r>
              <a:t>T he majority o f patients (9 7 . 8 %) presented with stage III-IV disease, and 4 2.2 % were over 60 years.</a:t>
            </a:r>
          </a:p>
          <a:p>
            <a:pPr>
              <a:lnSpc>
                <a:spcPct val="103000"/>
              </a:lnSpc>
              <a:spcAft>
                <a:spcPts val="300"/>
              </a:spcAft>
              <a:defRPr sz="819">
                <a:solidFill>
                  <a:srgbClr val="21242A"/>
                </a:solidFill>
                <a:latin typeface="Microsoft YaHei"/>
              </a:defRPr>
            </a:pPr>
            <a:r>
              <a:t>Additionally, 68.9% of patients presented with two or more extranodal involvement , and 5 1.1 % had elevated lactate d</a:t>
            </a:r>
          </a:p>
          <a:p>
            <a:pPr>
              <a:lnSpc>
                <a:spcPct val="103000"/>
              </a:lnSpc>
              <a:spcAft>
                <a:spcPts val="300"/>
              </a:spcAft>
              <a:defRPr sz="819">
                <a:solidFill>
                  <a:srgbClr val="21242A"/>
                </a:solidFill>
                <a:latin typeface="Microsoft YaHei"/>
              </a:defRPr>
            </a:pPr>
            <a:r>
              <a:t>ehydrogenase levels .</a:t>
            </a:r>
          </a:p>
          <a:p>
            <a:pPr>
              <a:lnSpc>
                <a:spcPct val="103000"/>
              </a:lnSpc>
              <a:spcAft>
                <a:spcPts val="300"/>
              </a:spcAft>
              <a:defRPr sz="819">
                <a:solidFill>
                  <a:srgbClr val="21242A"/>
                </a:solidFill>
                <a:latin typeface="Microsoft YaHei"/>
              </a:defRPr>
            </a:pPr>
            <a:r>
              <a:t>The double expression of MYC and BCL2 was detected in 20.0 % of patients .</a:t>
            </a:r>
          </a:p>
          <a:p>
            <a:pPr>
              <a:lnSpc>
                <a:spcPct val="103000"/>
              </a:lnSpc>
              <a:spcAft>
                <a:spcPts val="300"/>
              </a:spcAft>
              <a:defRPr sz="819">
                <a:solidFill>
                  <a:srgbClr val="21242A"/>
                </a:solidFill>
                <a:latin typeface="Microsoft YaHei"/>
              </a:defRPr>
            </a:pPr>
            <a:r>
              <a:t>The median follow-up period was 21.0 months (95% CI: 16.1 - 25.9), with 42 patients being evaluable for response.</a:t>
            </a:r>
          </a:p>
          <a:p>
            <a:pPr>
              <a:lnSpc>
                <a:spcPct val="103000"/>
              </a:lnSpc>
              <a:spcAft>
                <a:spcPts val="300"/>
              </a:spcAft>
              <a:defRPr sz="819">
                <a:solidFill>
                  <a:srgbClr val="21242A"/>
                </a:solidFill>
                <a:latin typeface="Microsoft YaHei"/>
              </a:defRPr>
            </a:pPr>
            <a:r>
              <a:t>The CR rate was 76.2 %, and the ORR was 100.0%.</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摘要号：PS2065</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selinexor联合r-chop方案作为高危gcb亚型弥漫性大b细胞淋巴瘤患者的一线治疗：一项多中心、单臂、ii期研究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selinexor in combination with the r-chop regimen as a first-line treatment fo...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EHA原文结果（中文字段未通过数字核对）（2/3）</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The 2-year OS, PFS and DFS rate were 97.6 % (95% CI: 93.1 %- 100 %) , 6 6.7 % (95% CI: 50.4 %- 88.1 %) and 82.4 % (95%</a:t>
            </a:r>
          </a:p>
          <a:p>
            <a:pPr>
              <a:lnSpc>
                <a:spcPct val="103000"/>
              </a:lnSpc>
              <a:spcAft>
                <a:spcPts val="300"/>
              </a:spcAft>
              <a:defRPr sz="819">
                <a:solidFill>
                  <a:srgbClr val="21242A"/>
                </a:solidFill>
                <a:latin typeface="Microsoft YaHei"/>
              </a:defRPr>
            </a:pPr>
            <a:r>
              <a:t> CI: 63.9 %-100%), respectively.</a:t>
            </a:r>
          </a:p>
          <a:p>
            <a:pPr>
              <a:lnSpc>
                <a:spcPct val="103000"/>
              </a:lnSpc>
              <a:spcAft>
                <a:spcPts val="300"/>
              </a:spcAft>
              <a:defRPr sz="819">
                <a:solidFill>
                  <a:srgbClr val="21242A"/>
                </a:solidFill>
                <a:latin typeface="Microsoft YaHei"/>
              </a:defRPr>
            </a:pPr>
            <a:r>
              <a:t>The median PFS, DFS and OS have not yet been reached. The majority of adverse events (AEs) were of grade 1-2.</a:t>
            </a:r>
          </a:p>
          <a:p>
            <a:pPr>
              <a:lnSpc>
                <a:spcPct val="103000"/>
              </a:lnSpc>
              <a:spcAft>
                <a:spcPts val="300"/>
              </a:spcAft>
              <a:defRPr sz="819">
                <a:solidFill>
                  <a:srgbClr val="21242A"/>
                </a:solidFill>
                <a:latin typeface="Microsoft YaHei"/>
              </a:defRPr>
            </a:pPr>
            <a:r>
              <a:t>Grade 3-4 AEs included neutropenia (71.1%), leukopenia (60.0%), decreased lymphocyte count (31.1%), and thrombocytopen</a:t>
            </a:r>
          </a:p>
          <a:p>
            <a:pPr>
              <a:lnSpc>
                <a:spcPct val="103000"/>
              </a:lnSpc>
              <a:spcAft>
                <a:spcPts val="300"/>
              </a:spcAft>
              <a:defRPr sz="819">
                <a:solidFill>
                  <a:srgbClr val="21242A"/>
                </a:solidFill>
                <a:latin typeface="Microsoft YaHei"/>
              </a:defRPr>
            </a:pPr>
            <a:r>
              <a:t>ia (26.7%).</a:t>
            </a:r>
          </a:p>
          <a:p>
            <a:pPr>
              <a:lnSpc>
                <a:spcPct val="103000"/>
              </a:lnSpc>
              <a:spcAft>
                <a:spcPts val="300"/>
              </a:spcAft>
              <a:defRPr sz="819">
                <a:solidFill>
                  <a:srgbClr val="21242A"/>
                </a:solidFill>
                <a:latin typeface="Microsoft YaHei"/>
              </a:defRPr>
            </a:pPr>
            <a:r>
              <a:t>All AEs were effectively managed with supportive care and subsequently resolved.</a:t>
            </a:r>
          </a:p>
          <a:p>
            <a:pPr>
              <a:lnSpc>
                <a:spcPct val="103000"/>
              </a:lnSpc>
              <a:spcAft>
                <a:spcPts val="300"/>
              </a:spcAft>
              <a:defRPr sz="819">
                <a:solidFill>
                  <a:srgbClr val="21242A"/>
                </a:solidFill>
                <a:latin typeface="Microsoft YaHei"/>
              </a:defRPr>
            </a:pPr>
            <a:r>
              <a:t>\n Table 1: Baseline Characteristics of the Study Population. \n \n \n \n \n Baseline characteristics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selinexor联合r-chop方案作为高危gcb亚型弥漫性大b细胞淋巴瘤患者的一线治疗：一项多中心、单臂、ii期研究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selinexor in combination with the r-chop regimen as a first-line treatment fo...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EHA原文结果（中文字段未通过数字核对）（3/3）</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Summary/Conclusion: The combination of selinexor with the R-CHOP as a first-line treatment for high-risk (IPI 3-5) GCB</a:t>
            </a:r>
          </a:p>
          <a:p>
            <a:pPr>
              <a:lnSpc>
                <a:spcPct val="103000"/>
              </a:lnSpc>
              <a:spcAft>
                <a:spcPts val="300"/>
              </a:spcAft>
              <a:defRPr sz="819">
                <a:solidFill>
                  <a:srgbClr val="21242A"/>
                </a:solidFill>
                <a:latin typeface="Microsoft YaHei"/>
              </a:defRPr>
            </a:pPr>
            <a:r>
              <a:t>-DLBCL demonstrates encouraging efficacy and and a manageable safety profile.</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dlbcl大队列脑脊液ctdna突变特征分析：对预测中枢神经系统复发和临床结果的意义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profiling the csf-ctdna mutational landscape in a large cohort of dlbcl: impl...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N=410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前瞻性临床研究结果：profiling the csf-ctdna mutational landscape in a lar...</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CSF-ctDNA阳性率：23.9%（98/410）</a:t>
            </a:r>
          </a:p>
          <a:p>
            <a:pPr>
              <a:lnSpc>
                <a:spcPct val="103000"/>
              </a:lnSpc>
              <a:spcAft>
                <a:spcPts val="300"/>
              </a:spcAft>
              <a:defRPr sz="800">
                <a:solidFill>
                  <a:srgbClr val="21242A"/>
                </a:solidFill>
                <a:latin typeface="Microsoft YaHei"/>
              </a:defRPr>
            </a:pPr>
            <a:r>
              <a:t>CSF(+)患者中前10个最常突变基因：MYD88 35.8%, PIM1 34.6%, CD79B 28.8%, KMT2D...</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人数：410</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研究主题：profiling the csf-ctdna mutational landscape in a large cohort of dlbcl: implications for predicting cns relapse and cl...</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dlbcl大队列脑脊液ctdna突变特征分析：对预测中枢神经系统复发和临床结果的意义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profiling the csf-ctdna mutational landscape in a large cohort of dlbcl: impl...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EHA原文结果（中文字段未通过数字核对）（1/5）</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Of the 410 ND-DLBCL patients, 98 (23.9%) were identified as CSF(+), among which 63 (64.3%) fulfilled both cri</a:t>
            </a:r>
          </a:p>
          <a:p>
            <a:pPr>
              <a:lnSpc>
                <a:spcPct val="103000"/>
              </a:lnSpc>
              <a:spcAft>
                <a:spcPts val="300"/>
              </a:spcAft>
              <a:defRPr sz="819">
                <a:solidFill>
                  <a:srgbClr val="21242A"/>
                </a:solidFill>
                <a:latin typeface="Microsoft YaHei"/>
              </a:defRPr>
            </a:pPr>
            <a:r>
              <a:t>teria, while 17 (17.3%) only met criterion 1 and 18 (18.4%) only met criterion 2 ( Figure 1B ).</a:t>
            </a:r>
          </a:p>
          <a:p>
            <a:pPr>
              <a:lnSpc>
                <a:spcPct val="103000"/>
              </a:lnSpc>
              <a:spcAft>
                <a:spcPts val="300"/>
              </a:spcAft>
              <a:defRPr sz="819">
                <a:solidFill>
                  <a:srgbClr val="21242A"/>
                </a:solidFill>
                <a:latin typeface="Microsoft YaHei"/>
              </a:defRPr>
            </a:pPr>
            <a:r>
              <a:t>Among the 80 CSF(+) patients with matched tissue, plasma and CSF samples, the top 10 frequently mutated genes were MYD</a:t>
            </a:r>
          </a:p>
          <a:p>
            <a:pPr>
              <a:lnSpc>
                <a:spcPct val="103000"/>
              </a:lnSpc>
              <a:spcAft>
                <a:spcPts val="300"/>
              </a:spcAft>
              <a:defRPr sz="819">
                <a:solidFill>
                  <a:srgbClr val="21242A"/>
                </a:solidFill>
                <a:latin typeface="Microsoft YaHei"/>
              </a:defRPr>
            </a:pPr>
            <a:r>
              <a:t>88 (35.8%), PIM1 (34.6%), CD79B (28.8%), KMT2D (24.2%), BTG2 (23.3%), TP53 (23.3%), H1-4 (23.3%), BTG1 (22.1%), BCL6 (</a:t>
            </a:r>
          </a:p>
          <a:p>
            <a:pPr>
              <a:lnSpc>
                <a:spcPct val="103000"/>
              </a:lnSpc>
              <a:spcAft>
                <a:spcPts val="300"/>
              </a:spcAft>
              <a:defRPr sz="819">
                <a:solidFill>
                  <a:srgbClr val="21242A"/>
                </a:solidFill>
                <a:latin typeface="Microsoft YaHei"/>
              </a:defRPr>
            </a:pPr>
            <a:r>
              <a:t>20.8%) and ETV6 (19.6%) ( Figure 1C ).</a:t>
            </a:r>
          </a:p>
          <a:p>
            <a:pPr>
              <a:lnSpc>
                <a:spcPct val="103000"/>
              </a:lnSpc>
              <a:spcAft>
                <a:spcPts val="300"/>
              </a:spcAft>
              <a:defRPr sz="819">
                <a:solidFill>
                  <a:srgbClr val="21242A"/>
                </a:solidFill>
                <a:latin typeface="Microsoft YaHei"/>
              </a:defRPr>
            </a:pPr>
            <a:r>
              <a:t>The mean variant allele frequency was significantly lower in CSF than in tissue and plasma samples ( Figure 1D ).</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摘要号：PS2062</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dlbcl大队列脑脊液ctdna突变特征分析：对预测中枢神经系统复发和临床结果的意义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profiling the csf-ctdna mutational landscape in a large cohort of dlbcl: impl...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As to genetic subtypes, CSF(+) patients were mostly distributed in MCD (N=37), Other (N=29), ST2 (N=10), BN2 (N=8) and</a:t>
            </a:r>
          </a:p>
          <a:p>
            <a:pPr>
              <a:lnSpc>
                <a:spcPct val="103000"/>
              </a:lnSpc>
              <a:spcAft>
                <a:spcPts val="300"/>
              </a:spcAft>
              <a:defRPr sz="819">
                <a:solidFill>
                  <a:srgbClr val="21242A"/>
                </a:solidFill>
                <a:latin typeface="Microsoft YaHei"/>
              </a:defRPr>
            </a:pPr>
            <a:r>
              <a:t> TP53-disrupted subtypes (N=7), while TP53-disrupted (36.8%) and MCD (34.3%) subtypes showed highest CSF(+) ratio ( Fi</a:t>
            </a:r>
          </a:p>
          <a:p>
            <a:pPr>
              <a:lnSpc>
                <a:spcPct val="103000"/>
              </a:lnSpc>
              <a:spcAft>
                <a:spcPts val="300"/>
              </a:spcAft>
              <a:defRPr sz="819">
                <a:solidFill>
                  <a:srgbClr val="21242A"/>
                </a:solidFill>
                <a:latin typeface="Microsoft YaHei"/>
              </a:defRPr>
            </a:pPr>
            <a:r>
              <a:t>gure 1E ).</a:t>
            </a:r>
          </a:p>
          <a:p>
            <a:pPr>
              <a:lnSpc>
                <a:spcPct val="103000"/>
              </a:lnSpc>
              <a:spcAft>
                <a:spcPts val="300"/>
              </a:spcAft>
              <a:defRPr sz="819">
                <a:solidFill>
                  <a:srgbClr val="21242A"/>
                </a:solidFill>
                <a:latin typeface="Microsoft YaHei"/>
              </a:defRPr>
            </a:pPr>
            <a:r>
              <a:t>However, no difference in CSF-ctDNA burden was observed across genetic subtypes ( Figure 1F ).</a:t>
            </a:r>
          </a:p>
          <a:p>
            <a:pPr>
              <a:lnSpc>
                <a:spcPct val="103000"/>
              </a:lnSpc>
              <a:spcAft>
                <a:spcPts val="300"/>
              </a:spcAft>
              <a:defRPr sz="819">
                <a:solidFill>
                  <a:srgbClr val="21242A"/>
                </a:solidFill>
                <a:latin typeface="Microsoft YaHei"/>
              </a:defRPr>
            </a:pPr>
            <a:r>
              <a:t>Furthermore, CSF(+) patients exhibited higher plasma ctDNA burden ( Figure 1G ).</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dlbcl大队列脑脊液ctdna突变特征分析：对预测中枢神经系统复发和临床结果的意义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profiling the csf-ctdna mutational landscape in a large cohort of dlbcl: impl...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Patients with MCD subtype, non-GCB orign, specific extranodal sites involvement (reproductive system, kidney/adrenal g</a:t>
            </a:r>
          </a:p>
          <a:p>
            <a:pPr>
              <a:lnSpc>
                <a:spcPct val="103000"/>
              </a:lnSpc>
              <a:spcAft>
                <a:spcPts val="300"/>
              </a:spcAft>
              <a:defRPr sz="819">
                <a:solidFill>
                  <a:srgbClr val="21242A"/>
                </a:solidFill>
                <a:latin typeface="Microsoft YaHei"/>
              </a:defRPr>
            </a:pPr>
            <a:r>
              <a:t>land, bone marrow) and higher IPI score were correlated with higher CSF(+) rate, while gastrointestinal tract involvem</a:t>
            </a:r>
          </a:p>
          <a:p>
            <a:pPr>
              <a:lnSpc>
                <a:spcPct val="103000"/>
              </a:lnSpc>
              <a:spcAft>
                <a:spcPts val="300"/>
              </a:spcAft>
              <a:defRPr sz="819">
                <a:solidFill>
                  <a:srgbClr val="21242A"/>
                </a:solidFill>
                <a:latin typeface="Microsoft YaHei"/>
              </a:defRPr>
            </a:pPr>
            <a:r>
              <a:t>ent seemed negatively associated with CSF(+) ( Figure 1H ).</a:t>
            </a:r>
          </a:p>
          <a:p>
            <a:pPr>
              <a:lnSpc>
                <a:spcPct val="103000"/>
              </a:lnSpc>
              <a:spcAft>
                <a:spcPts val="300"/>
              </a:spcAft>
              <a:defRPr sz="819">
                <a:solidFill>
                  <a:srgbClr val="21242A"/>
                </a:solidFill>
                <a:latin typeface="Microsoft YaHei"/>
              </a:defRPr>
            </a:pPr>
            <a:r>
              <a:t>In plasma samples, MYD88, CD79B, ETV6, IGLL5, CDKN2A, CARD11, CD274 mutations were associated with higher CSF(+) rate </a:t>
            </a:r>
          </a:p>
          <a:p>
            <a:pPr>
              <a:lnSpc>
                <a:spcPct val="103000"/>
              </a:lnSpc>
              <a:spcAft>
                <a:spcPts val="300"/>
              </a:spcAft>
              <a:defRPr sz="819">
                <a:solidFill>
                  <a:srgbClr val="21242A"/>
                </a:solidFill>
                <a:latin typeface="Microsoft YaHei"/>
              </a:defRPr>
            </a:pPr>
            <a:r>
              <a:t>( Figure 1I ), while in tissue samples, CARD11, PRDM1, MCL1 mutations seemed correlated with higher CSF(+) rate ( Figu</a:t>
            </a:r>
          </a:p>
          <a:p>
            <a:pPr>
              <a:lnSpc>
                <a:spcPct val="103000"/>
              </a:lnSpc>
              <a:spcAft>
                <a:spcPts val="300"/>
              </a:spcAft>
              <a:defRPr sz="819">
                <a:solidFill>
                  <a:srgbClr val="21242A"/>
                </a:solidFill>
                <a:latin typeface="Microsoft YaHei"/>
              </a:defRPr>
            </a:pPr>
            <a:r>
              <a:t>re 1J ).</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dlbcl大队列脑脊液ctdna突变特征分析：对预测中枢神经系统复发和临床结果的意义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profiling the csf-ctdna mutational landscape in a large cohort of dlbcl: impl...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In RNA level, the dysregulated genes of CSF(+) patients were enriched in cytokine-cytokine receptor interaction, focal</a:t>
            </a:r>
          </a:p>
          <a:p>
            <a:pPr>
              <a:lnSpc>
                <a:spcPct val="103000"/>
              </a:lnSpc>
              <a:spcAft>
                <a:spcPts val="300"/>
              </a:spcAft>
              <a:defRPr sz="819">
                <a:solidFill>
                  <a:srgbClr val="21242A"/>
                </a:solidFill>
                <a:latin typeface="Microsoft YaHei"/>
              </a:defRPr>
            </a:pPr>
            <a:r>
              <a:t> adhesion, cytoskeleton, and PI3K-AKT signaling pathways, potentially promoting CNSi in ND-DLBCL ( Figure 1K ).</a:t>
            </a:r>
          </a:p>
          <a:p>
            <a:pPr>
              <a:lnSpc>
                <a:spcPct val="103000"/>
              </a:lnSpc>
              <a:spcAft>
                <a:spcPts val="300"/>
              </a:spcAft>
              <a:defRPr sz="819">
                <a:solidFill>
                  <a:srgbClr val="21242A"/>
                </a:solidFill>
                <a:latin typeface="Microsoft YaHei"/>
              </a:defRPr>
            </a:pPr>
            <a:r>
              <a:t>Moreover, CSF(+) significantly correlated with inferior response to initial treatment and worse survival in ND-DLBCL p</a:t>
            </a:r>
          </a:p>
          <a:p>
            <a:pPr>
              <a:lnSpc>
                <a:spcPct val="103000"/>
              </a:lnSpc>
              <a:spcAft>
                <a:spcPts val="300"/>
              </a:spcAft>
              <a:defRPr sz="819">
                <a:solidFill>
                  <a:srgbClr val="21242A"/>
                </a:solidFill>
                <a:latin typeface="Microsoft YaHei"/>
              </a:defRPr>
            </a:pPr>
            <a:r>
              <a:t>atients ( Figure 1L-1N ).</a:t>
            </a:r>
          </a:p>
          <a:p>
            <a:pPr>
              <a:lnSpc>
                <a:spcPct val="103000"/>
              </a:lnSpc>
              <a:spcAft>
                <a:spcPts val="300"/>
              </a:spcAft>
              <a:defRPr sz="819">
                <a:solidFill>
                  <a:srgbClr val="21242A"/>
                </a:solidFill>
                <a:latin typeface="Microsoft YaHei"/>
              </a:defRPr>
            </a:pPr>
            <a:r>
              <a:t>Besides, CSF-ctDNA(+) demonstrated superior prediction capability for CNS relapse compared with high-risk CNS-IPI in N</a:t>
            </a:r>
          </a:p>
          <a:p>
            <a:pPr>
              <a:lnSpc>
                <a:spcPct val="103000"/>
              </a:lnSpc>
              <a:spcAft>
                <a:spcPts val="300"/>
              </a:spcAft>
              <a:defRPr sz="819">
                <a:solidFill>
                  <a:srgbClr val="21242A"/>
                </a:solidFill>
                <a:latin typeface="Microsoft YaHei"/>
              </a:defRPr>
            </a:pPr>
            <a:r>
              <a:t>D-DLBCL ( Figure 1O ).</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dlbcl大队列脑脊液ctdna突变特征分析：对预测中枢神经系统复发和临床结果的意义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profiling the csf-ctdna mutational landscape in a large cohort of dlbcl: impl...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PS2062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59/187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EHA原文结果（中文字段未通过数字核对）（5/5）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Summary/Conclusion: To conclude, in this large-scale cohort, we comprehensively depicted the mutational landscape of C</a:t>
            </a:r>
          </a:p>
          <a:p>
            <a:pPr>
              <a:lnSpc>
                <a:spcPct val="103000"/>
              </a:lnSpc>
              <a:spcAft>
                <a:spcPts val="300"/>
              </a:spcAft>
              <a:defRPr sz="819">
                <a:solidFill>
                  <a:srgbClr val="21242A"/>
                </a:solidFill>
                <a:latin typeface="Microsoft YaHei"/>
              </a:defRPr>
            </a:pPr>
            <a:r>
              <a:t>SF-ctDNA, explored the biological characteristics of CSF(+) patients, and highlighted the importance of CSF-ctDNA in p</a:t>
            </a:r>
          </a:p>
          <a:p>
            <a:pPr>
              <a:lnSpc>
                <a:spcPct val="103000"/>
              </a:lnSpc>
              <a:spcAft>
                <a:spcPts val="300"/>
              </a:spcAft>
              <a:defRPr sz="819">
                <a:solidFill>
                  <a:srgbClr val="21242A"/>
                </a:solidFill>
                <a:latin typeface="Microsoft YaHei"/>
              </a:defRPr>
            </a:pPr>
            <a:r>
              <a:t>redicting clinical outcome and CNS relapse in ND-DLBCL patients.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r-gemox+nivolumab与r-gemox作为移植不合格患者大b细胞淋巴瘤二线治疗的比较：对agmt、gla、...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r-gemox+nivolumab vs r-gemox as 2nd-line therapy for large b-cell lymphoma in...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B细胞非霍奇金淋巴瘤</a:t>
            </a:r>
          </a:p>
          <a:p>
            <a:pPr>
              <a:lnSpc>
                <a:spcPct val="103000"/>
              </a:lnSpc>
              <a:spcAft>
                <a:spcPts val="300"/>
              </a:spcAft>
              <a:defRPr sz="800">
                <a:solidFill>
                  <a:srgbClr val="21242A"/>
                </a:solidFill>
                <a:latin typeface="Microsoft YaHei"/>
              </a:defRPr>
            </a:pPr>
            <a:r>
              <a:t>弥漫性大B细胞淋巴瘤</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试验药/方案：纳武利尤单抗</a:t>
            </a:r>
          </a:p>
          <a:p>
            <a:pPr>
              <a:lnSpc>
                <a:spcPct val="103000"/>
              </a:lnSpc>
              <a:spcAft>
                <a:spcPts val="300"/>
              </a:spcAft>
              <a:defRPr sz="800">
                <a:solidFill>
                  <a:srgbClr val="21242A"/>
                </a:solidFill>
                <a:latin typeface="Microsoft YaHei"/>
              </a:defRPr>
            </a:pPr>
            <a:r>
              <a:t>靶点：PD-1</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多组/多方案比较：试验组1：R-GEMOX（利妥昔单抗、吉西他滨、奥沙利铂）</a:t>
            </a:r>
          </a:p>
          <a:p>
            <a:pPr>
              <a:lnSpc>
                <a:spcPct val="103000"/>
              </a:lnSpc>
              <a:spcAft>
                <a:spcPts val="300"/>
              </a:spcAft>
              <a:defRPr sz="800">
                <a:solidFill>
                  <a:srgbClr val="21242A"/>
                </a:solidFill>
                <a:latin typeface="Microsoft YaHei"/>
              </a:defRPr>
            </a:pPr>
            <a:r>
              <a:t>试验组2：R-GEMOX + 纳武利尤单抗，随后纳武利尤单抗维持治疗（最多1年）</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1年无进展生存期（PFS）：试验组A 27% vs 试验组B 23%，p=0.686</a:t>
            </a:r>
          </a:p>
          <a:p>
            <a:pPr>
              <a:lnSpc>
                <a:spcPct val="103000"/>
              </a:lnSpc>
              <a:spcAft>
                <a:spcPts val="300"/>
              </a:spcAft>
              <a:defRPr sz="800">
                <a:solidFill>
                  <a:srgbClr val="21242A"/>
                </a:solidFill>
                <a:latin typeface="Microsoft YaHei"/>
              </a:defRPr>
            </a:pPr>
            <a:r>
              <a:t>1年无事件生存期（EFS）：试验组A 22% vs 试验组B 22%，p=0.897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人数：267</a:t>
            </a:r>
          </a:p>
          <a:p>
            <a:pPr>
              <a:lnSpc>
                <a:spcPct val="103000"/>
              </a:lnSpc>
              <a:spcAft>
                <a:spcPts val="300"/>
              </a:spcAft>
              <a:defRPr sz="810">
                <a:solidFill>
                  <a:srgbClr val="21242A"/>
                </a:solidFill>
                <a:latin typeface="Microsoft YaHei"/>
              </a:defRPr>
            </a:pPr>
            <a:r>
              <a:t>适应症：B细胞非霍奇金淋巴瘤、弥漫性大B细胞淋巴瘤、大B细胞淋巴瘤</a:t>
            </a:r>
          </a:p>
          <a:p>
            <a:pPr>
              <a:lnSpc>
                <a:spcPct val="103000"/>
              </a:lnSpc>
              <a:spcAft>
                <a:spcPts val="300"/>
              </a:spcAft>
              <a:defRPr sz="810">
                <a:solidFill>
                  <a:srgbClr val="21242A"/>
                </a:solidFill>
                <a:latin typeface="Microsoft YaHei"/>
              </a:defRPr>
            </a:pPr>
            <a:r>
              <a:t>治疗线数：二线</a:t>
            </a:r>
          </a:p>
          <a:p>
            <a:pPr>
              <a:lnSpc>
                <a:spcPct val="103000"/>
              </a:lnSpc>
              <a:spcAft>
                <a:spcPts val="300"/>
              </a:spcAft>
              <a:defRPr sz="810">
                <a:solidFill>
                  <a:srgbClr val="21242A"/>
                </a:solidFill>
                <a:latin typeface="Microsoft YaHei"/>
              </a:defRPr>
            </a:pPr>
            <a:r>
              <a:t>登记号：NCT03366272</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试验药/方案：纳武利尤单抗</a:t>
            </a:r>
          </a:p>
          <a:p>
            <a:pPr>
              <a:lnSpc>
                <a:spcPct val="103000"/>
              </a:lnSpc>
              <a:spcAft>
                <a:spcPts val="300"/>
              </a:spcAft>
              <a:defRPr sz="810">
                <a:solidFill>
                  <a:srgbClr val="21242A"/>
                </a:solidFill>
                <a:latin typeface="Microsoft YaHei"/>
              </a:defRPr>
            </a:pPr>
            <a:r>
              <a:t>靶点：PD-1</a:t>
            </a:r>
          </a:p>
          <a:p>
            <a:pPr>
              <a:lnSpc>
                <a:spcPct val="103000"/>
              </a:lnSpc>
              <a:spcAft>
                <a:spcPts val="300"/>
              </a:spcAft>
              <a:defRPr sz="810">
                <a:solidFill>
                  <a:srgbClr val="21242A"/>
                </a:solidFill>
                <a:latin typeface="Microsoft YaHei"/>
              </a:defRPr>
            </a:pPr>
            <a:r>
              <a:t>药物/技术类别：单特异性抗体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r-gemox+nivolumab与r-gemox作为移植不合格患者大b细胞淋巴瘤二线治疗的比较：对agmt、gla、...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r-gemox+nivolumab vs r-gemox as 2nd-line therapy for large b-cell lymphoma in...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1年无进展生存期（PFS）</a:t>
                      </a:r>
                    </a:p>
                  </a:txBody>
                  <a:tcPr>
                    <a:solidFill>
                      <a:srgbClr val="F6F8FB"/>
                    </a:solidFill>
                  </a:tcPr>
                </a:tc>
                <a:tc>
                  <a:txBody>
                    <a:bodyPr wrap="square" lIns="36576" rIns="36576" tIns="18288" bIns="18288"/>
                    <a:lstStyle/>
                    <a:p>
                      <a:r>
                        <a:rPr sz="720" b="0">
                          <a:solidFill>
                            <a:srgbClr val="21242A"/>
                          </a:solidFill>
                          <a:latin typeface="Microsoft YaHei"/>
                        </a:rPr>
                        <a:t>试验组A 27% vs 试验组B 23%，p=0.686</a:t>
                      </a:r>
                    </a:p>
                  </a:txBody>
                  <a:tcPr>
                    <a:solidFill>
                      <a:srgbClr val="F6F8FB"/>
                    </a:solidFill>
                  </a:tcPr>
                </a:tc>
              </a:tr>
              <a:tr h="282321">
                <a:tc>
                  <a:txBody>
                    <a:bodyPr wrap="square" lIns="36576" rIns="36576" tIns="18288" bIns="18288"/>
                    <a:lstStyle/>
                    <a:p>
                      <a:r>
                        <a:rPr sz="720" b="1">
                          <a:solidFill>
                            <a:srgbClr val="21242A"/>
                          </a:solidFill>
                          <a:latin typeface="Microsoft YaHei"/>
                        </a:rPr>
                        <a:t>1年无事件生存期（EFS）</a:t>
                      </a:r>
                    </a:p>
                  </a:txBody>
                  <a:tcPr>
                    <a:solidFill>
                      <a:srgbClr val="FFFFFF"/>
                    </a:solidFill>
                  </a:tcPr>
                </a:tc>
                <a:tc>
                  <a:txBody>
                    <a:bodyPr wrap="square" lIns="36576" rIns="36576" tIns="18288" bIns="18288"/>
                    <a:lstStyle/>
                    <a:p>
                      <a:r>
                        <a:rPr sz="720" b="0">
                          <a:solidFill>
                            <a:srgbClr val="21242A"/>
                          </a:solidFill>
                          <a:latin typeface="Microsoft YaHei"/>
                        </a:rPr>
                        <a:t>试验组A 22% vs 试验组B 22%，p=0.897</a:t>
                      </a:r>
                    </a:p>
                  </a:txBody>
                  <a:tcPr>
                    <a:solidFill>
                      <a:srgbClr val="FFFFFF"/>
                    </a:solidFill>
                  </a:tcPr>
                </a:tc>
              </a:tr>
              <a:tr h="282321">
                <a:tc>
                  <a:txBody>
                    <a:bodyPr wrap="square" lIns="36576" rIns="36576" tIns="18288" bIns="18288"/>
                    <a:lstStyle/>
                    <a:p>
                      <a:r>
                        <a:rPr sz="720" b="1">
                          <a:solidFill>
                            <a:srgbClr val="21242A"/>
                          </a:solidFill>
                          <a:latin typeface="Microsoft YaHei"/>
                        </a:rPr>
                        <a:t>1年总生存期（OS）</a:t>
                      </a:r>
                    </a:p>
                  </a:txBody>
                  <a:tcPr>
                    <a:solidFill>
                      <a:srgbClr val="F6F8FB"/>
                    </a:solidFill>
                  </a:tcPr>
                </a:tc>
                <a:tc>
                  <a:txBody>
                    <a:bodyPr wrap="square" lIns="36576" rIns="36576" tIns="18288" bIns="18288"/>
                    <a:lstStyle/>
                    <a:p>
                      <a:r>
                        <a:rPr sz="720" b="0">
                          <a:solidFill>
                            <a:srgbClr val="21242A"/>
                          </a:solidFill>
                          <a:latin typeface="Microsoft YaHei"/>
                        </a:rPr>
                        <a:t>试验组A 51% vs 试验组B 58%，p=0.884</a:t>
                      </a:r>
                    </a:p>
                  </a:txBody>
                  <a:tcPr>
                    <a:solidFill>
                      <a:srgbClr val="F6F8FB"/>
                    </a:solidFill>
                  </a:tcPr>
                </a:tc>
              </a:tr>
              <a:tr h="282321">
                <a:tc>
                  <a:txBody>
                    <a:bodyPr wrap="square" lIns="36576" rIns="36576" tIns="18288" bIns="18288"/>
                    <a:lstStyle/>
                    <a:p>
                      <a:r>
                        <a:rPr sz="720" b="1">
                          <a:solidFill>
                            <a:srgbClr val="21242A"/>
                          </a:solidFill>
                          <a:latin typeface="Microsoft YaHei"/>
                        </a:rPr>
                        <a:t>2年PFS</a:t>
                      </a:r>
                    </a:p>
                  </a:txBody>
                  <a:tcPr>
                    <a:solidFill>
                      <a:srgbClr val="FFFFFF"/>
                    </a:solidFill>
                  </a:tcPr>
                </a:tc>
                <a:tc>
                  <a:txBody>
                    <a:bodyPr wrap="square" lIns="36576" rIns="36576" tIns="18288" bIns="18288"/>
                    <a:lstStyle/>
                    <a:p>
                      <a:r>
                        <a:rPr sz="720" b="0">
                          <a:solidFill>
                            <a:srgbClr val="21242A"/>
                          </a:solidFill>
                          <a:latin typeface="Microsoft YaHei"/>
                        </a:rPr>
                        <a:t>19% vs 18%</a:t>
                      </a:r>
                    </a:p>
                  </a:txBody>
                  <a:tcPr>
                    <a:solidFill>
                      <a:srgbClr val="FFFFFF"/>
                    </a:solidFill>
                  </a:tcPr>
                </a:tc>
              </a:tr>
              <a:tr h="282321">
                <a:tc>
                  <a:txBody>
                    <a:bodyPr wrap="square" lIns="36576" rIns="36576" tIns="18288" bIns="18288"/>
                    <a:lstStyle/>
                    <a:p>
                      <a:r>
                        <a:rPr sz="720" b="1">
                          <a:solidFill>
                            <a:srgbClr val="21242A"/>
                          </a:solidFill>
                          <a:latin typeface="Microsoft YaHei"/>
                        </a:rPr>
                        <a:t>2年EFS</a:t>
                      </a:r>
                    </a:p>
                  </a:txBody>
                  <a:tcPr>
                    <a:solidFill>
                      <a:srgbClr val="F6F8FB"/>
                    </a:solidFill>
                  </a:tcPr>
                </a:tc>
                <a:tc>
                  <a:txBody>
                    <a:bodyPr wrap="square" lIns="36576" rIns="36576" tIns="18288" bIns="18288"/>
                    <a:lstStyle/>
                    <a:p>
                      <a:r>
                        <a:rPr sz="720" b="0">
                          <a:solidFill>
                            <a:srgbClr val="21242A"/>
                          </a:solidFill>
                          <a:latin typeface="Microsoft YaHei"/>
                        </a:rPr>
                        <a:t>17% vs 17%</a:t>
                      </a:r>
                    </a:p>
                  </a:txBody>
                  <a:tcPr>
                    <a:solidFill>
                      <a:srgbClr val="F6F8FB"/>
                    </a:solidFill>
                  </a:tcPr>
                </a:tc>
              </a:tr>
              <a:tr h="282321">
                <a:tc>
                  <a:txBody>
                    <a:bodyPr wrap="square" lIns="36576" rIns="36576" tIns="18288" bIns="18288"/>
                    <a:lstStyle/>
                    <a:p>
                      <a:r>
                        <a:rPr sz="720" b="1">
                          <a:solidFill>
                            <a:srgbClr val="21242A"/>
                          </a:solidFill>
                          <a:latin typeface="Microsoft YaHei"/>
                        </a:rPr>
                        <a:t>2年OS</a:t>
                      </a:r>
                    </a:p>
                  </a:txBody>
                  <a:tcPr>
                    <a:solidFill>
                      <a:srgbClr val="FFFFFF"/>
                    </a:solidFill>
                  </a:tcPr>
                </a:tc>
                <a:tc>
                  <a:txBody>
                    <a:bodyPr wrap="square" lIns="36576" rIns="36576" tIns="18288" bIns="18288"/>
                    <a:lstStyle/>
                    <a:p>
                      <a:r>
                        <a:rPr sz="720" b="0">
                          <a:solidFill>
                            <a:srgbClr val="21242A"/>
                          </a:solidFill>
                          <a:latin typeface="Microsoft YaHei"/>
                        </a:rPr>
                        <a:t>39% vs 42%</a:t>
                      </a:r>
                    </a:p>
                  </a:txBody>
                  <a:tcPr>
                    <a:solidFill>
                      <a:srgbClr val="FFFFFF"/>
                    </a:solidFill>
                  </a:tcPr>
                </a:tc>
              </a:tr>
              <a:tr h="282321">
                <a:tc>
                  <a:txBody>
                    <a:bodyPr wrap="square" lIns="36576" rIns="36576" tIns="18288" bIns="18288"/>
                    <a:lstStyle/>
                    <a:p>
                      <a:r>
                        <a:rPr sz="720" b="1">
                          <a:solidFill>
                            <a:srgbClr val="21242A"/>
                          </a:solidFill>
                          <a:latin typeface="Microsoft YaHei"/>
                        </a:rPr>
                        <a:t>客观缓解率（OR）</a:t>
                      </a:r>
                    </a:p>
                  </a:txBody>
                  <a:tcPr>
                    <a:solidFill>
                      <a:srgbClr val="F6F8FB"/>
                    </a:solidFill>
                  </a:tcPr>
                </a:tc>
                <a:tc>
                  <a:txBody>
                    <a:bodyPr wrap="square" lIns="36576" rIns="36576" tIns="18288" bIns="18288"/>
                    <a:lstStyle/>
                    <a:p>
                      <a:r>
                        <a:rPr sz="720" b="0">
                          <a:solidFill>
                            <a:srgbClr val="21242A"/>
                          </a:solidFill>
                          <a:latin typeface="Microsoft YaHei"/>
                        </a:rPr>
                        <a:t>37% vs 34%</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摘要号：PF993</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r-gemox+nivolumab与r-gemox作为移植不合格患者大b细胞淋巴瘤二线治疗的比较：对agmt、gla、...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r-gemox+nivolumab vs r-gemox as 2nd-line therapy for large b-cell lymphoma in...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59740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597408">
                <a:tc>
                  <a:txBody>
                    <a:bodyPr wrap="square" lIns="36576" rIns="36576" tIns="18288" bIns="18288"/>
                    <a:lstStyle/>
                    <a:p>
                      <a:r>
                        <a:rPr sz="720" b="1">
                          <a:solidFill>
                            <a:srgbClr val="21242A"/>
                          </a:solidFill>
                          <a:latin typeface="Microsoft YaHei"/>
                        </a:rPr>
                        <a:t>完全缓解率（CR）</a:t>
                      </a:r>
                    </a:p>
                  </a:txBody>
                  <a:tcPr>
                    <a:solidFill>
                      <a:srgbClr val="F6F8FB"/>
                    </a:solidFill>
                  </a:tcPr>
                </a:tc>
                <a:tc>
                  <a:txBody>
                    <a:bodyPr wrap="square" lIns="36576" rIns="36576" tIns="18288" bIns="18288"/>
                    <a:lstStyle/>
                    <a:p>
                      <a:r>
                        <a:rPr sz="720" b="0">
                          <a:solidFill>
                            <a:srgbClr val="21242A"/>
                          </a:solidFill>
                          <a:latin typeface="Microsoft YaHei"/>
                        </a:rPr>
                        <a:t>22% vs 22%</a:t>
                      </a:r>
                    </a:p>
                  </a:txBody>
                  <a:tcPr>
                    <a:solidFill>
                      <a:srgbClr val="F6F8FB"/>
                    </a:solidFill>
                  </a:tcPr>
                </a:tc>
              </a:tr>
              <a:tr h="597408">
                <a:tc>
                  <a:txBody>
                    <a:bodyPr wrap="square" lIns="36576" rIns="36576" tIns="18288" bIns="18288"/>
                    <a:lstStyle/>
                    <a:p>
                      <a:r>
                        <a:rPr sz="720" b="1">
                          <a:solidFill>
                            <a:srgbClr val="21242A"/>
                          </a:solidFill>
                          <a:latin typeface="Microsoft YaHei"/>
                        </a:rPr>
                        <a:t>疾病进展率（PD）</a:t>
                      </a:r>
                    </a:p>
                  </a:txBody>
                  <a:tcPr>
                    <a:solidFill>
                      <a:srgbClr val="FFFFFF"/>
                    </a:solidFill>
                  </a:tcPr>
                </a:tc>
                <a:tc>
                  <a:txBody>
                    <a:bodyPr wrap="square" lIns="36576" rIns="36576" tIns="18288" bIns="18288"/>
                    <a:lstStyle/>
                    <a:p>
                      <a:r>
                        <a:rPr sz="720" b="0">
                          <a:solidFill>
                            <a:srgbClr val="21242A"/>
                          </a:solidFill>
                          <a:latin typeface="Microsoft YaHei"/>
                        </a:rPr>
                        <a:t>53% vs 45%</a:t>
                      </a:r>
                    </a:p>
                  </a:txBody>
                  <a:tcPr>
                    <a:solidFill>
                      <a:srgbClr val="FFFFFF"/>
                    </a:solidFill>
                  </a:tcPr>
                </a:tc>
              </a:tr>
              <a:tr h="597408">
                <a:tc>
                  <a:txBody>
                    <a:bodyPr wrap="square" lIns="36576" rIns="36576" tIns="18288" bIns="18288"/>
                    <a:lstStyle/>
                    <a:p>
                      <a:r>
                        <a:rPr sz="720" b="1">
                          <a:solidFill>
                            <a:srgbClr val="21242A"/>
                          </a:solidFill>
                          <a:latin typeface="Microsoft YaHei"/>
                        </a:rPr>
                        <a:t>3-5级不良事件</a:t>
                      </a:r>
                    </a:p>
                  </a:txBody>
                  <a:tcPr>
                    <a:solidFill>
                      <a:srgbClr val="F6F8FB"/>
                    </a:solidFill>
                  </a:tcPr>
                </a:tc>
                <a:tc>
                  <a:txBody>
                    <a:bodyPr wrap="square" lIns="36576" rIns="36576" tIns="18288" bIns="18288"/>
                    <a:lstStyle/>
                    <a:p>
                      <a:r>
                        <a:rPr sz="720" b="0">
                          <a:solidFill>
                            <a:srgbClr val="21242A"/>
                          </a:solidFill>
                          <a:latin typeface="Microsoft YaHei"/>
                        </a:rPr>
                        <a:t>胃肠道4% vs 8%</a:t>
                      </a:r>
                    </a:p>
                  </a:txBody>
                  <a:tcPr>
                    <a:solidFill>
                      <a:srgbClr val="F6F8FB"/>
                    </a:solidFill>
                  </a:tcPr>
                </a:tc>
              </a:tr>
              <a:tr h="597408">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肝胆系统19% vs 23%</a:t>
                      </a:r>
                    </a:p>
                  </a:txBody>
                  <a:tcPr>
                    <a:solidFill>
                      <a:srgbClr val="FFFFFF"/>
                    </a:solidFill>
                  </a:tcPr>
                </a:tc>
              </a:tr>
              <a:tr h="597408">
                <a:tc>
                  <a:txBody>
                    <a:bodyPr wrap="square" lIns="36576" rIns="36576" tIns="18288" bIns="18288"/>
                    <a:lstStyle/>
                    <a:p>
                      <a:r>
                        <a:rPr sz="720" b="1">
                          <a:solidFill>
                            <a:srgbClr val="21242A"/>
                          </a:solidFill>
                          <a:latin typeface="Microsoft YaHei"/>
                        </a:rPr>
                        <a:t>治疗相关死亡</a:t>
                      </a:r>
                    </a:p>
                  </a:txBody>
                  <a:tcPr>
                    <a:solidFill>
                      <a:srgbClr val="F6F8FB"/>
                    </a:solidFill>
                  </a:tcPr>
                </a:tc>
                <a:tc>
                  <a:txBody>
                    <a:bodyPr wrap="square" lIns="36576" rIns="36576" tIns="18288" bIns="18288"/>
                    <a:lstStyle/>
                    <a:p>
                      <a:r>
                        <a:rPr sz="720" b="0">
                          <a:solidFill>
                            <a:srgbClr val="21242A"/>
                          </a:solidFill>
                          <a:latin typeface="Microsoft YaHei"/>
                        </a:rPr>
                        <a:t>6例(4%) vs 12例(9%)</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不同分子亚型弥漫性大b细胞淋巴瘤的大规模现实临床特征和疗效：来自believe研究的中期数据</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large-scale real-world clinical characteristics and efficacy of diffuse large...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N=3773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前瞻性临床研究结果：large-scale real-world clinical characteristics and e...</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总体客观缓解率（ORR）为81.3%</a:t>
            </a:r>
          </a:p>
          <a:p>
            <a:pPr>
              <a:lnSpc>
                <a:spcPct val="103000"/>
              </a:lnSpc>
              <a:spcAft>
                <a:spcPts val="300"/>
              </a:spcAft>
              <a:defRPr sz="800">
                <a:solidFill>
                  <a:srgbClr val="21242A"/>
                </a:solidFill>
                <a:latin typeface="Microsoft YaHei"/>
              </a:defRPr>
            </a:pPr>
            <a:r>
              <a:t>完全缓解率（CRR）为64.1%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人数：3773</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登记号：NCT06026488</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研究主题：large-scale real-world clinical characteristics and efficacy of diffuse large b-cell lymphoma across distinct molecular...</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不同分子亚型弥漫性大b细胞淋巴瘤的大规模现实临床特征和疗效：来自believe研究的中期数据</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large-scale real-world clinical characteristics and efficacy of diffuse large...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总体客观缓解率（ORR）为81.3%；完全缓解率（CRR）为64.1%；R-CHOP联合靶向药物亚组ORR为88.4%，CRR为74.6%；BN2-like和N1-like亚型疗效较好，TP53Mut亚型疗效最差</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摘要号：PF991</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大剂量甲氨蝶呤不能降低超高危大b细胞淋巴瘤中枢神经系统复发的风险：1923例患者的国际回顾性分析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high-dose methotrexate does not reduce risk of cns relapse in ultra high-risk...</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CNS穿透/放疗/MTX策略</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N=1923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分组：未接受HDMTX组（no HDMTX）</a:t>
            </a:r>
          </a:p>
          <a:p>
            <a:pPr>
              <a:lnSpc>
                <a:spcPct val="103000"/>
              </a:lnSpc>
              <a:spcAft>
                <a:spcPts val="300"/>
              </a:spcAft>
              <a:defRPr sz="800">
                <a:solidFill>
                  <a:srgbClr val="21242A"/>
                </a:solidFill>
                <a:latin typeface="Microsoft YaHei"/>
              </a:defRPr>
            </a:pPr>
            <a:r>
              <a:t>接受HDMTX组（HDMTX）</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多组/多方案比较：未接受HDMTX组（no HDMTX）</a:t>
            </a:r>
          </a:p>
          <a:p>
            <a:pPr>
              <a:lnSpc>
                <a:spcPct val="103000"/>
              </a:lnSpc>
              <a:spcAft>
                <a:spcPts val="300"/>
              </a:spcAft>
              <a:defRPr sz="800">
                <a:solidFill>
                  <a:srgbClr val="21242A"/>
                </a:solidFill>
                <a:latin typeface="Microsoft YaHei"/>
              </a:defRPr>
            </a:pPr>
            <a:r>
              <a:t>接受HDMTX组（HDMTX）</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所有超高危患者3年CNS复发率：未接受HDMTX组 vs 接受HDMTX组 = 9.3% vs 8.1%，调整后HR 1.10...</a:t>
            </a:r>
          </a:p>
          <a:p>
            <a:pPr>
              <a:lnSpc>
                <a:spcPct val="103000"/>
              </a:lnSpc>
              <a:spcAft>
                <a:spcPts val="300"/>
              </a:spcAft>
              <a:defRPr sz="800">
                <a:solidFill>
                  <a:srgbClr val="21242A"/>
                </a:solidFill>
                <a:latin typeface="Microsoft YaHei"/>
              </a:defRPr>
            </a:pPr>
            <a:r>
              <a:t>孤立性CNS复发率：5.9% vs 5.7%，调整后HR 1.01 (95% CI 0.68-1.50)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人数：1923</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分组/治疗流程：未接受HDMTX组（no HDMTX）、接受HDMTX组（HDMTX）</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大剂量甲氨蝶呤不能降低超高危大b细胞淋巴瘤中枢神经系统复发的风险：1923例患者的国际回顾性分析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high-dose methotrexate does not reduce risk of cns relapse in ultra high-risk...</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CNS穿透/放疗/MTX策略</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所有超高危患者3年CNS复发率</a:t>
                      </a:r>
                    </a:p>
                  </a:txBody>
                  <a:tcPr>
                    <a:solidFill>
                      <a:srgbClr val="F6F8FB"/>
                    </a:solidFill>
                  </a:tcPr>
                </a:tc>
                <a:tc>
                  <a:txBody>
                    <a:bodyPr wrap="square" lIns="36576" rIns="36576" tIns="18288" bIns="18288"/>
                    <a:lstStyle/>
                    <a:p>
                      <a:r>
                        <a:rPr sz="720" b="0">
                          <a:solidFill>
                            <a:srgbClr val="21242A"/>
                          </a:solidFill>
                          <a:latin typeface="Microsoft YaHei"/>
                        </a:rPr>
                        <a:t>未接受HDMTX组 vs 接受HDMTX组 = 9.3% vs 8.1%，调整后HR 1.10 (95%CI 0.80-1.53)</a:t>
                      </a:r>
                    </a:p>
                  </a:txBody>
                  <a:tcPr>
                    <a:solidFill>
                      <a:srgbClr val="F6F8FB"/>
                    </a:solidFill>
                  </a:tcPr>
                </a:tc>
              </a:tr>
              <a:tr h="376428">
                <a:tc>
                  <a:txBody>
                    <a:bodyPr wrap="square" lIns="36576" rIns="36576" tIns="18288" bIns="18288"/>
                    <a:lstStyle/>
                    <a:p>
                      <a:r>
                        <a:rPr sz="720" b="1">
                          <a:solidFill>
                            <a:srgbClr val="21242A"/>
                          </a:solidFill>
                          <a:latin typeface="Microsoft YaHei"/>
                        </a:rPr>
                        <a:t>孤立性CNS复发率</a:t>
                      </a:r>
                    </a:p>
                  </a:txBody>
                  <a:tcPr>
                    <a:solidFill>
                      <a:srgbClr val="FFFFFF"/>
                    </a:solidFill>
                  </a:tcPr>
                </a:tc>
                <a:tc>
                  <a:txBody>
                    <a:bodyPr wrap="square" lIns="36576" rIns="36576" tIns="18288" bIns="18288"/>
                    <a:lstStyle/>
                    <a:p>
                      <a:r>
                        <a:rPr sz="720" b="0">
                          <a:solidFill>
                            <a:srgbClr val="21242A"/>
                          </a:solidFill>
                          <a:latin typeface="Microsoft YaHei"/>
                        </a:rPr>
                        <a:t>5.9% vs 5.7%，调整后HR 1.01 (95% CI 0.68-1.50)</a:t>
                      </a:r>
                    </a:p>
                  </a:txBody>
                  <a:tcPr>
                    <a:solidFill>
                      <a:srgbClr val="FFFFFF"/>
                    </a:solidFill>
                  </a:tcPr>
                </a:tc>
              </a:tr>
              <a:tr h="376428">
                <a:tc>
                  <a:txBody>
                    <a:bodyPr wrap="square" lIns="36576" rIns="36576" tIns="18288" bIns="18288"/>
                    <a:lstStyle/>
                    <a:p>
                      <a:r>
                        <a:rPr sz="720" b="1">
                          <a:solidFill>
                            <a:srgbClr val="21242A"/>
                          </a:solidFill>
                          <a:latin typeface="Microsoft YaHei"/>
                        </a:rPr>
                        <a:t>6个月地标分析（n=1529）</a:t>
                      </a:r>
                    </a:p>
                  </a:txBody>
                  <a:tcPr>
                    <a:solidFill>
                      <a:srgbClr val="F6F8FB"/>
                    </a:solidFill>
                  </a:tcPr>
                </a:tc>
                <a:tc>
                  <a:txBody>
                    <a:bodyPr wrap="square" lIns="36576" rIns="36576" tIns="18288" bIns="18288"/>
                    <a:lstStyle/>
                    <a:p>
                      <a:r>
                        <a:rPr sz="720" b="0">
                          <a:solidFill>
                            <a:srgbClr val="21242A"/>
                          </a:solidFill>
                          <a:latin typeface="Microsoft YaHei"/>
                        </a:rPr>
                        <a:t>3年OS：79.7% vs 83.8%</a:t>
                      </a:r>
                    </a:p>
                  </a:txBody>
                  <a:tcPr>
                    <a:solidFill>
                      <a:srgbClr val="F6F8FB"/>
                    </a:solidFill>
                  </a:tcPr>
                </a:tc>
              </a:tr>
              <a:tr h="376428">
                <a:tc>
                  <a:txBody>
                    <a:bodyPr wrap="square" lIns="36576" rIns="36576" tIns="18288" bIns="18288"/>
                    <a:lstStyle/>
                    <a:p>
                      <a:r>
                        <a:rPr sz="720" b="1">
                          <a:solidFill>
                            <a:srgbClr val="21242A"/>
                          </a:solidFill>
                          <a:latin typeface="Microsoft YaHei"/>
                        </a:rPr>
                        <a:t>3年CNS复发率</a:t>
                      </a:r>
                    </a:p>
                  </a:txBody>
                  <a:tcPr>
                    <a:solidFill>
                      <a:srgbClr val="FFFFFF"/>
                    </a:solidFill>
                  </a:tcPr>
                </a:tc>
                <a:tc>
                  <a:txBody>
                    <a:bodyPr wrap="square" lIns="36576" rIns="36576" tIns="18288" bIns="18288"/>
                    <a:lstStyle/>
                    <a:p>
                      <a:r>
                        <a:rPr sz="720" b="0">
                          <a:solidFill>
                            <a:srgbClr val="21242A"/>
                          </a:solidFill>
                          <a:latin typeface="Microsoft YaHei"/>
                        </a:rPr>
                        <a:t>6.7% vs 6.6%，调整后HR 0.89 (95%CI 0.58-1.35)</a:t>
                      </a:r>
                    </a:p>
                  </a:txBody>
                  <a:tcPr>
                    <a:solidFill>
                      <a:srgbClr val="FFFFFF"/>
                    </a:solidFill>
                  </a:tcPr>
                </a:tc>
              </a:tr>
              <a:tr h="376428">
                <a:tc>
                  <a:txBody>
                    <a:bodyPr wrap="square" lIns="36576" rIns="36576" tIns="18288" bIns="18288"/>
                    <a:lstStyle/>
                    <a:p>
                      <a:r>
                        <a:rPr sz="720" b="1">
                          <a:solidFill>
                            <a:srgbClr val="21242A"/>
                          </a:solidFill>
                          <a:latin typeface="Microsoft YaHei"/>
                        </a:rPr>
                        <a:t>睾丸受累亚组</a:t>
                      </a:r>
                    </a:p>
                  </a:txBody>
                  <a:tcPr>
                    <a:solidFill>
                      <a:srgbClr val="F6F8FB"/>
                    </a:solidFill>
                  </a:tcPr>
                </a:tc>
                <a:tc>
                  <a:txBody>
                    <a:bodyPr wrap="square" lIns="36576" rIns="36576" tIns="18288" bIns="18288"/>
                    <a:lstStyle/>
                    <a:p>
                      <a:r>
                        <a:rPr sz="720" b="0">
                          <a:solidFill>
                            <a:srgbClr val="21242A"/>
                          </a:solidFill>
                          <a:latin typeface="Microsoft YaHei"/>
                        </a:rPr>
                        <a:t>任何CNS复发率9.4% vs 6.8%，HR 1.54 (95%CI 0.78-3.03)；孤立性CNS复发6.1% vs 6.3%，HR 1.08 (95%CI 0.51-2.31)</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药物/技术：CNS穿透/放疗/MTX策略</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摘要号：S249</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综合血浆ctdna基因组分析对侵袭性dlbcl的诊断潜力评估</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evaluating the diagnostic potential of comprehensive plasma ctdna genomic pro...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PS2534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N=56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前瞻性临床研究结果：evaluating the diagnostic potential of comprehensive...</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在56例DLBCL患者中，40例（71.4%）检测到体细胞变异，被定义为ctDNA阳性。</a:t>
            </a:r>
          </a:p>
          <a:p>
            <a:pPr>
              <a:lnSpc>
                <a:spcPct val="103000"/>
              </a:lnSpc>
              <a:spcAft>
                <a:spcPts val="300"/>
              </a:spcAft>
              <a:defRPr sz="800">
                <a:solidFill>
                  <a:srgbClr val="21242A"/>
                </a:solidFill>
                <a:latin typeface="Microsoft YaHei"/>
              </a:defRPr>
            </a:pPr>
            <a:r>
              <a:t>ctDNA阳性病例中共鉴定出972个体细胞变异，中位数为每个患者12个变异（IQR: 6-20），中位变异等位基因频率（VAF...</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人数：56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登记号：ISRCTN12948913</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研究主题：evaluating the diagnostic potential of comprehensive plasma ctdna genomic profiling in aggressive dlbcl</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综合血浆ctdna基因组分析对侵袭性dlbcl的诊断潜力评估</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evaluating the diagnostic potential of comprehensive plasma ctdna genomic pro...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PS2534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EHA原文结果（中文字段未通过数字核对）（1/3）</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The median target coverage of unique duplex reads across patient ctDNA samples was 717X (interquartile range </a:t>
            </a:r>
          </a:p>
          <a:p>
            <a:pPr>
              <a:lnSpc>
                <a:spcPct val="103000"/>
              </a:lnSpc>
              <a:spcAft>
                <a:spcPts val="300"/>
              </a:spcAft>
              <a:defRPr sz="819">
                <a:solidFill>
                  <a:srgbClr val="21242A"/>
                </a:solidFill>
                <a:latin typeface="Microsoft YaHei"/>
              </a:defRPr>
            </a:pPr>
            <a:r>
              <a:t>(IQR): 623-798X), with &gt;88% of targets achieving ≥250X coverage.</a:t>
            </a:r>
          </a:p>
          <a:p>
            <a:pPr>
              <a:lnSpc>
                <a:spcPct val="103000"/>
              </a:lnSpc>
              <a:spcAft>
                <a:spcPts val="300"/>
              </a:spcAft>
              <a:defRPr sz="819">
                <a:solidFill>
                  <a:srgbClr val="21242A"/>
                </a:solidFill>
                <a:latin typeface="Microsoft YaHei"/>
              </a:defRPr>
            </a:pPr>
            <a:r>
              <a:t>Somatic variants were detected in 40/56 patients (71.4%), classifying them as ctDNA positive (ctDNA+).</a:t>
            </a:r>
          </a:p>
          <a:p>
            <a:pPr>
              <a:lnSpc>
                <a:spcPct val="103000"/>
              </a:lnSpc>
              <a:spcAft>
                <a:spcPts val="300"/>
              </a:spcAft>
              <a:defRPr sz="819">
                <a:solidFill>
                  <a:srgbClr val="21242A"/>
                </a:solidFill>
                <a:latin typeface="Microsoft YaHei"/>
              </a:defRPr>
            </a:pPr>
            <a:r>
              <a:t>Across ctDNA+ cases, 972 somatic variants were identified with a median of 12 variants per patient (IQR: 6-20) and a m</a:t>
            </a:r>
          </a:p>
          <a:p>
            <a:pPr>
              <a:lnSpc>
                <a:spcPct val="103000"/>
              </a:lnSpc>
              <a:spcAft>
                <a:spcPts val="300"/>
              </a:spcAft>
              <a:defRPr sz="819">
                <a:solidFill>
                  <a:srgbClr val="21242A"/>
                </a:solidFill>
                <a:latin typeface="Microsoft YaHei"/>
              </a:defRPr>
            </a:pPr>
            <a:r>
              <a:t>edian variant allele fraction (VAF) of 3%.</a:t>
            </a:r>
          </a:p>
          <a:p>
            <a:pPr>
              <a:lnSpc>
                <a:spcPct val="103000"/>
              </a:lnSpc>
              <a:spcAft>
                <a:spcPts val="300"/>
              </a:spcAft>
              <a:defRPr sz="819">
                <a:solidFill>
                  <a:srgbClr val="21242A"/>
                </a:solidFill>
                <a:latin typeface="Microsoft YaHei"/>
              </a:defRPr>
            </a:pPr>
            <a:r>
              <a:t>Stage I cases were significantly associated with ctDNA negativity (8/16 vs.</a:t>
            </a:r>
          </a:p>
          <a:p>
            <a:pPr>
              <a:lnSpc>
                <a:spcPct val="103000"/>
              </a:lnSpc>
              <a:spcAft>
                <a:spcPts val="300"/>
              </a:spcAft>
              <a:defRPr sz="819">
                <a:solidFill>
                  <a:srgbClr val="21242A"/>
                </a:solidFill>
                <a:latin typeface="Microsoft YaHei"/>
              </a:defRPr>
            </a:pPr>
            <a:r>
              <a:t>8/32 in stages II–IV; Fisher’s exact P= 0.047).</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摘要号：PS2534</a:t>
            </a:r>
          </a:p>
          <a:p>
            <a:pPr>
              <a:lnSpc>
                <a:spcPct val="103000"/>
              </a:lnSpc>
              <a:spcAft>
                <a:spcPts val="300"/>
              </a:spcAft>
              <a:defRPr sz="740">
                <a:solidFill>
                  <a:srgbClr val="5E6570"/>
                </a:solidFill>
                <a:latin typeface="Microsoft YaHei"/>
              </a:defRPr>
            </a:pPr>
            <a:r>
              <a:t>会议栏目：38. Novel technologies, techniques and digital analytical tools in hematology</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综合血浆ctdna基因组分析对侵袭性dlbcl的诊断潜力评估</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evaluating the diagnostic potential of comprehensive plasma ctdna genomic pro...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PS2534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EHA原文结果（中文字段未通过数字核对）（2/3）</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\n In matching tissue biopsies, somatic variants were detected in 54/56 patients (96.4%) with median 15.5 variants per</a:t>
            </a:r>
          </a:p>
          <a:p>
            <a:pPr>
              <a:lnSpc>
                <a:spcPct val="103000"/>
              </a:lnSpc>
              <a:spcAft>
                <a:spcPts val="300"/>
              </a:spcAft>
              <a:defRPr sz="819">
                <a:solidFill>
                  <a:srgbClr val="21242A"/>
                </a:solidFill>
                <a:latin typeface="Microsoft YaHei"/>
              </a:defRPr>
            </a:pPr>
            <a:r>
              <a:t> patient (IQR: 10-27) and median VAF of 23.6% (IQR: 12.7-36.4%).</a:t>
            </a:r>
          </a:p>
          <a:p>
            <a:pPr>
              <a:lnSpc>
                <a:spcPct val="103000"/>
              </a:lnSpc>
              <a:spcAft>
                <a:spcPts val="300"/>
              </a:spcAft>
              <a:defRPr sz="819">
                <a:solidFill>
                  <a:srgbClr val="21242A"/>
                </a:solidFill>
                <a:latin typeface="Microsoft YaHei"/>
              </a:defRPr>
            </a:pPr>
            <a:r>
              <a:t>Concordance analysis in 38 ctDNA+ patients with variants detected in paired tissue biopsies a median Jaccard Index of </a:t>
            </a:r>
          </a:p>
          <a:p>
            <a:pPr>
              <a:lnSpc>
                <a:spcPct val="103000"/>
              </a:lnSpc>
              <a:spcAft>
                <a:spcPts val="300"/>
              </a:spcAft>
              <a:defRPr sz="819">
                <a:solidFill>
                  <a:srgbClr val="21242A"/>
                </a:solidFill>
                <a:latin typeface="Microsoft YaHei"/>
              </a:defRPr>
            </a:pPr>
            <a:r>
              <a:t>0.62 (IQR: 0.24-0.76).</a:t>
            </a:r>
          </a:p>
          <a:p>
            <a:pPr>
              <a:lnSpc>
                <a:spcPct val="103000"/>
              </a:lnSpc>
              <a:spcAft>
                <a:spcPts val="300"/>
              </a:spcAft>
              <a:defRPr sz="819">
                <a:solidFill>
                  <a:srgbClr val="21242A"/>
                </a:solidFill>
                <a:latin typeface="Microsoft YaHei"/>
              </a:defRPr>
            </a:pPr>
            <a:r>
              <a:t>Shared variants exhibited significantly higher median VAFs in paraffin-embedded tissue compared with plasma (18.6% vs.</a:t>
            </a:r>
          </a:p>
          <a:p>
            <a:pPr>
              <a:lnSpc>
                <a:spcPct val="103000"/>
              </a:lnSpc>
              <a:spcAft>
                <a:spcPts val="300"/>
              </a:spcAft>
              <a:defRPr sz="819">
                <a:solidFill>
                  <a:srgbClr val="21242A"/>
                </a:solidFill>
                <a:latin typeface="Microsoft YaHei"/>
              </a:defRPr>
            </a:pPr>
            <a:r>
              <a:t>3.2%; Wilcoxon signed-rank test, P</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综合血浆ctdna基因组分析对侵袭性dlbcl的诊断潜力评估</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evaluating the diagnostic potential of comprehensive plasma ctdna genomic pro...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PS2534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EHA原文结果（中文字段未通过数字核对）（3/3）</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Summary/Conclusion: Our results so far demonstrate expected biological and technical contrasts between tissue and plas</a:t>
            </a:r>
          </a:p>
          <a:p>
            <a:pPr>
              <a:lnSpc>
                <a:spcPct val="103000"/>
              </a:lnSpc>
              <a:spcAft>
                <a:spcPts val="300"/>
              </a:spcAft>
              <a:defRPr sz="819">
                <a:solidFill>
                  <a:srgbClr val="21242A"/>
                </a:solidFill>
                <a:latin typeface="Microsoft YaHei"/>
              </a:defRPr>
            </a:pPr>
            <a:r>
              <a:t>ma sequencing for diagnostic profiling despite which the detection of overlapping variants across both biopsy types su</a:t>
            </a:r>
          </a:p>
          <a:p>
            <a:pPr>
              <a:lnSpc>
                <a:spcPct val="103000"/>
              </a:lnSpc>
              <a:spcAft>
                <a:spcPts val="300"/>
              </a:spcAft>
              <a:defRPr sz="819">
                <a:solidFill>
                  <a:srgbClr val="21242A"/>
                </a:solidFill>
                <a:latin typeface="Microsoft YaHei"/>
              </a:defRPr>
            </a:pPr>
            <a:r>
              <a:t>pports the utility of ctDNA as a complementary and minimally invasive tool for genomic profiling in DLBCL.</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ctdna测序揭示lbcl患者具有预后相关性的突变特征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ctdna sequencing reveals mutational signatures with prognostic relevance in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PS2179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N=310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前瞻性临床研究结果：ctdna sequencing reveals mutational signatures with p...</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PFS: AID-associated subgroup vs diverse signature subgroup, HR=...</a:t>
            </a:r>
          </a:p>
          <a:p>
            <a:pPr>
              <a:lnSpc>
                <a:spcPct val="103000"/>
              </a:lnSpc>
              <a:spcAft>
                <a:spcPts val="300"/>
              </a:spcAft>
              <a:defRPr sz="800">
                <a:solidFill>
                  <a:srgbClr val="21242A"/>
                </a:solidFill>
                <a:latin typeface="Microsoft YaHei"/>
              </a:defRPr>
            </a:pPr>
            <a:r>
              <a:t>验证队列LBC-06中PFS: HR=1.73, p=0.044</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人数：310</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研究主题：ctdna sequencing reveals mutational signatures with prognostic relevance in lbcl patients</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ctdna测序揭示lbcl患者具有预后相关性的突变特征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ctdna sequencing reveals mutational signatures with prognostic relevance in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PS2179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EHA原文结果（中文字段未通过数字核对）（1/2）</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We identified four distinct mutational signatures: SBS1 and SBS5 both indicative of age, SBS39 of unknown eti</a:t>
            </a:r>
          </a:p>
          <a:p>
            <a:pPr>
              <a:lnSpc>
                <a:spcPct val="103000"/>
              </a:lnSpc>
              <a:spcAft>
                <a:spcPts val="300"/>
              </a:spcAft>
              <a:defRPr sz="819">
                <a:solidFill>
                  <a:srgbClr val="21242A"/>
                </a:solidFill>
                <a:latin typeface="Microsoft YaHei"/>
              </a:defRPr>
            </a:pPr>
            <a:r>
              <a:t>ology, and SBS84 induced by cytidine deaminase (AID) activity.</a:t>
            </a:r>
          </a:p>
          <a:p>
            <a:pPr>
              <a:lnSpc>
                <a:spcPct val="103000"/>
              </a:lnSpc>
              <a:spcAft>
                <a:spcPts val="300"/>
              </a:spcAft>
              <a:defRPr sz="819">
                <a:solidFill>
                  <a:srgbClr val="21242A"/>
                </a:solidFill>
                <a:latin typeface="Microsoft YaHei"/>
              </a:defRPr>
            </a:pPr>
            <a:r>
              <a:t>Unsupervised k-means clustering of mutational signature profiles revealed two distinct molecular subgroups.</a:t>
            </a:r>
          </a:p>
          <a:p>
            <a:pPr>
              <a:lnSpc>
                <a:spcPct val="103000"/>
              </a:lnSpc>
              <a:spcAft>
                <a:spcPts val="300"/>
              </a:spcAft>
              <a:defRPr sz="819">
                <a:solidFill>
                  <a:srgbClr val="21242A"/>
                </a:solidFill>
                <a:latin typeface="Microsoft YaHei"/>
              </a:defRPr>
            </a:pPr>
            <a:r>
              <a:t>The first subgroup, termed “AID-associated” is characterized by a predominance of the AID-related mutational signature</a:t>
            </a:r>
          </a:p>
          <a:p>
            <a:pPr>
              <a:lnSpc>
                <a:spcPct val="103000"/>
              </a:lnSpc>
              <a:spcAft>
                <a:spcPts val="300"/>
              </a:spcAft>
              <a:defRPr sz="819">
                <a:solidFill>
                  <a:srgbClr val="21242A"/>
                </a:solidFill>
                <a:latin typeface="Microsoft YaHei"/>
              </a:defRPr>
            </a:pPr>
            <a:r>
              <a:t>, whereas the second “diverse signature” subgroup exhibited lower proportion of the AID related signature SBS84 (mean </a:t>
            </a:r>
          </a:p>
          <a:p>
            <a:pPr>
              <a:lnSpc>
                <a:spcPct val="103000"/>
              </a:lnSpc>
              <a:spcAft>
                <a:spcPts val="300"/>
              </a:spcAft>
              <a:defRPr sz="819">
                <a:solidFill>
                  <a:srgbClr val="21242A"/>
                </a:solidFill>
                <a:latin typeface="Microsoft YaHei"/>
              </a:defRPr>
            </a:pPr>
            <a:r>
              <a:t>23% vs 68% SBS84 proportion/sample, p</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摘要号：PS2179</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ctdna测序揭示lbcl患者具有预后相关性的突变特征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ctdna sequencing reveals mutational signatures with prognostic relevance in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PS2179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EHA原文结果（中文字段未通过数字核对）（2/2）</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Summary/Conclusion: ctDNA sequencing enables robust and reproducible identification of distinct mutational signature p</a:t>
            </a:r>
          </a:p>
          <a:p>
            <a:pPr>
              <a:lnSpc>
                <a:spcPct val="103000"/>
              </a:lnSpc>
              <a:spcAft>
                <a:spcPts val="300"/>
              </a:spcAft>
              <a:defRPr sz="819">
                <a:solidFill>
                  <a:srgbClr val="21242A"/>
                </a:solidFill>
                <a:latin typeface="Microsoft YaHei"/>
              </a:defRPr>
            </a:pPr>
            <a:r>
              <a:t>atterns, independent of technical workflows and targeted gene panel designs.</a:t>
            </a:r>
          </a:p>
          <a:p>
            <a:pPr>
              <a:lnSpc>
                <a:spcPct val="103000"/>
              </a:lnSpc>
              <a:spcAft>
                <a:spcPts val="300"/>
              </a:spcAft>
              <a:defRPr sz="819">
                <a:solidFill>
                  <a:srgbClr val="21242A"/>
                </a:solidFill>
                <a:latin typeface="Microsoft YaHei"/>
              </a:defRPr>
            </a:pPr>
            <a:r>
              <a:t>Classification based on these signatures delineates two distinct subgroups that are reproducible and independently ass</a:t>
            </a:r>
          </a:p>
          <a:p>
            <a:pPr>
              <a:lnSpc>
                <a:spcPct val="103000"/>
              </a:lnSpc>
              <a:spcAft>
                <a:spcPts val="300"/>
              </a:spcAft>
              <a:defRPr sz="819">
                <a:solidFill>
                  <a:srgbClr val="21242A"/>
                </a:solidFill>
                <a:latin typeface="Microsoft YaHei"/>
              </a:defRPr>
            </a:pPr>
            <a:r>
              <a:t>ociated with PFS.</a:t>
            </a:r>
          </a:p>
          <a:p>
            <a:pPr>
              <a:lnSpc>
                <a:spcPct val="103000"/>
              </a:lnSpc>
              <a:spcAft>
                <a:spcPts val="300"/>
              </a:spcAft>
              <a:defRPr sz="819">
                <a:solidFill>
                  <a:srgbClr val="21242A"/>
                </a:solidFill>
                <a:latin typeface="Microsoft YaHei"/>
              </a:defRPr>
            </a:pPr>
            <a:r>
              <a:t>Overall, incorporating the biological context of mutations could further enhance the prognostic power of ctDNA profili</a:t>
            </a:r>
          </a:p>
          <a:p>
            <a:pPr>
              <a:lnSpc>
                <a:spcPct val="103000"/>
              </a:lnSpc>
              <a:spcAft>
                <a:spcPts val="300"/>
              </a:spcAft>
              <a:defRPr sz="819">
                <a:solidFill>
                  <a:srgbClr val="21242A"/>
                </a:solidFill>
                <a:latin typeface="Microsoft YaHei"/>
              </a:defRPr>
            </a:pPr>
            <a:r>
              <a:t>ng, enabling earlier and more precise identification of patients at high risk for progressive disease.</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血浆铜作为弥漫性大b细胞淋巴瘤的预后标志物</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plasma copper as prognostic biomarker in diffuse large b-cell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N=600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前瞻性临床研究结果：plasma copper as prognostic biomarker in diffuse larg...</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中位无进展生存期：高铜组467天，低铜组3295天，P&lt;0.001</a:t>
            </a:r>
          </a:p>
          <a:p>
            <a:pPr>
              <a:lnSpc>
                <a:spcPct val="103000"/>
              </a:lnSpc>
              <a:spcAft>
                <a:spcPts val="300"/>
              </a:spcAft>
              <a:defRPr sz="800">
                <a:solidFill>
                  <a:srgbClr val="21242A"/>
                </a:solidFill>
                <a:latin typeface="Microsoft YaHei"/>
              </a:defRPr>
            </a:pPr>
            <a:r>
              <a:t>中位总生存期：高铜组1156天，低铜组4323天，P&lt;0.001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人数：600</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研究主题：plasma copper as prognostic biomarker in diffuse large b-cell lymphoma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血浆铜作为弥漫性大b细胞淋巴瘤的预后标志物</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plasma copper as prognostic biomarker in diffuse large b-cell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Elevated plasma copper levels independently predicted inferior survival outcomes in both cohorts.</a:t>
            </a:r>
          </a:p>
          <a:p>
            <a:pPr>
              <a:lnSpc>
                <a:spcPct val="103000"/>
              </a:lnSpc>
              <a:spcAft>
                <a:spcPts val="300"/>
              </a:spcAft>
              <a:defRPr sz="819">
                <a:solidFill>
                  <a:srgbClr val="21242A"/>
                </a:solidFill>
                <a:latin typeface="Microsoft YaHei"/>
              </a:defRPr>
            </a:pPr>
            <a:r>
              <a:t>High copper patients demonstrated dramatically shorter median PFS (467 vs 3,295 days, P Summary/Conclusion: Plasma cop</a:t>
            </a:r>
          </a:p>
          <a:p>
            <a:pPr>
              <a:lnSpc>
                <a:spcPct val="103000"/>
              </a:lnSpc>
              <a:spcAft>
                <a:spcPts val="300"/>
              </a:spcAft>
              <a:defRPr sz="819">
                <a:solidFill>
                  <a:srgbClr val="21242A"/>
                </a:solidFill>
                <a:latin typeface="Microsoft YaHei"/>
              </a:defRPr>
            </a:pPr>
            <a:r>
              <a:t>per represents a novel, independent prognostic biomarker in DLBCL that captures unique disease biology through its ass</a:t>
            </a:r>
          </a:p>
          <a:p>
            <a:pPr>
              <a:lnSpc>
                <a:spcPct val="103000"/>
              </a:lnSpc>
              <a:spcAft>
                <a:spcPts val="300"/>
              </a:spcAft>
              <a:defRPr sz="819">
                <a:solidFill>
                  <a:srgbClr val="21242A"/>
                </a:solidFill>
                <a:latin typeface="Microsoft YaHei"/>
              </a:defRPr>
            </a:pPr>
            <a:r>
              <a:t>ociation with inflammatory signaling.</a:t>
            </a:r>
          </a:p>
          <a:p>
            <a:pPr>
              <a:lnSpc>
                <a:spcPct val="103000"/>
              </a:lnSpc>
              <a:spcAft>
                <a:spcPts val="300"/>
              </a:spcAft>
              <a:defRPr sz="819">
                <a:solidFill>
                  <a:srgbClr val="21242A"/>
                </a:solidFill>
                <a:latin typeface="Microsoft YaHei"/>
              </a:defRPr>
            </a:pPr>
            <a:r>
              <a:t>Integration of copper assessment into clinical practice could guide personalized treatment strategies in DLBCL.</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摘要号：PS2122</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复发/难治性lbcl的年龄无关结果和竞争风险动态：一项现实世界分析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age-independent outcomes and competing risk dynamics in relapsed/refractory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N=401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回顾性临床研究结果：age-independent outcomes and competing risk dynamics...</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中位OS：≥70岁组24个月 vs &lt;70岁组91个月，p=0.008</a:t>
            </a:r>
          </a:p>
          <a:p>
            <a:pPr>
              <a:lnSpc>
                <a:spcPct val="103000"/>
              </a:lnSpc>
              <a:spcAft>
                <a:spcPts val="300"/>
              </a:spcAft>
              <a:defRPr sz="800">
                <a:solidFill>
                  <a:srgbClr val="21242A"/>
                </a:solidFill>
                <a:latin typeface="Microsoft YaHei"/>
              </a:defRPr>
            </a:pPr>
            <a:r>
              <a:t>中位PFS：7个月 vs 8个月，p=0.068</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人数：401</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研究主题：age-independent outcomes and competing risk dynamics in relapsed/refractory lbcl: a real-world analysis</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复发/难治性lbcl的年龄无关结果和竞争风险动态：一项现实世界分析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age-independent outcomes and competing risk dynamics in relapsed/refractory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2265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22652">
                <a:tc>
                  <a:txBody>
                    <a:bodyPr wrap="square" lIns="36576" rIns="36576" tIns="18288" bIns="18288"/>
                    <a:lstStyle/>
                    <a:p>
                      <a:r>
                        <a:rPr sz="720" b="1">
                          <a:solidFill>
                            <a:srgbClr val="21242A"/>
                          </a:solidFill>
                          <a:latin typeface="Microsoft YaHei"/>
                        </a:rPr>
                        <a:t>中位OS</a:t>
                      </a:r>
                    </a:p>
                  </a:txBody>
                  <a:tcPr>
                    <a:solidFill>
                      <a:srgbClr val="F6F8FB"/>
                    </a:solidFill>
                  </a:tcPr>
                </a:tc>
                <a:tc>
                  <a:txBody>
                    <a:bodyPr wrap="square" lIns="36576" rIns="36576" tIns="18288" bIns="18288"/>
                    <a:lstStyle/>
                    <a:p>
                      <a:r>
                        <a:rPr sz="720" b="0">
                          <a:solidFill>
                            <a:srgbClr val="21242A"/>
                          </a:solidFill>
                          <a:latin typeface="Microsoft YaHei"/>
                        </a:rPr>
                        <a:t>≥70岁组24个月 vs &lt;70岁组91个月，p=0.008</a:t>
                      </a:r>
                    </a:p>
                  </a:txBody>
                  <a:tcPr>
                    <a:solidFill>
                      <a:srgbClr val="F6F8FB"/>
                    </a:solidFill>
                  </a:tcPr>
                </a:tc>
              </a:tr>
              <a:tr h="322652">
                <a:tc>
                  <a:txBody>
                    <a:bodyPr wrap="square" lIns="36576" rIns="36576" tIns="18288" bIns="18288"/>
                    <a:lstStyle/>
                    <a:p>
                      <a:r>
                        <a:rPr sz="720" b="1">
                          <a:solidFill>
                            <a:srgbClr val="21242A"/>
                          </a:solidFill>
                          <a:latin typeface="Microsoft YaHei"/>
                        </a:rPr>
                        <a:t>中位PFS</a:t>
                      </a:r>
                    </a:p>
                  </a:txBody>
                  <a:tcPr>
                    <a:solidFill>
                      <a:srgbClr val="FFFFFF"/>
                    </a:solidFill>
                  </a:tcPr>
                </a:tc>
                <a:tc>
                  <a:txBody>
                    <a:bodyPr wrap="square" lIns="36576" rIns="36576" tIns="18288" bIns="18288"/>
                    <a:lstStyle/>
                    <a:p>
                      <a:r>
                        <a:rPr sz="720" b="0">
                          <a:solidFill>
                            <a:srgbClr val="21242A"/>
                          </a:solidFill>
                          <a:latin typeface="Microsoft YaHei"/>
                        </a:rPr>
                        <a:t>7个月 vs 8个月，p=0.068</a:t>
                      </a:r>
                    </a:p>
                  </a:txBody>
                  <a:tcPr>
                    <a:solidFill>
                      <a:srgbClr val="FFFFFF"/>
                    </a:solidFill>
                  </a:tcPr>
                </a:tc>
              </a:tr>
              <a:tr h="322652">
                <a:tc>
                  <a:txBody>
                    <a:bodyPr wrap="square" lIns="36576" rIns="36576" tIns="18288" bIns="18288"/>
                    <a:lstStyle/>
                    <a:p>
                      <a:r>
                        <a:rPr sz="720" b="1">
                          <a:solidFill>
                            <a:srgbClr val="21242A"/>
                          </a:solidFill>
                          <a:latin typeface="Microsoft YaHei"/>
                        </a:rPr>
                        <a:t>2年淋巴瘤相关死亡率</a:t>
                      </a:r>
                    </a:p>
                  </a:txBody>
                  <a:tcPr>
                    <a:solidFill>
                      <a:srgbClr val="F6F8FB"/>
                    </a:solidFill>
                  </a:tcPr>
                </a:tc>
                <a:tc>
                  <a:txBody>
                    <a:bodyPr wrap="square" lIns="36576" rIns="36576" tIns="18288" bIns="18288"/>
                    <a:lstStyle/>
                    <a:p>
                      <a:r>
                        <a:rPr sz="720" b="0">
                          <a:solidFill>
                            <a:srgbClr val="21242A"/>
                          </a:solidFill>
                          <a:latin typeface="Microsoft YaHei"/>
                        </a:rPr>
                        <a:t>37% vs 31%，p=0.4</a:t>
                      </a:r>
                    </a:p>
                  </a:txBody>
                  <a:tcPr>
                    <a:solidFill>
                      <a:srgbClr val="F6F8FB"/>
                    </a:solidFill>
                  </a:tcPr>
                </a:tc>
              </a:tr>
              <a:tr h="322652">
                <a:tc>
                  <a:txBody>
                    <a:bodyPr wrap="square" lIns="36576" rIns="36576" tIns="18288" bIns="18288"/>
                    <a:lstStyle/>
                    <a:p>
                      <a:r>
                        <a:rPr sz="720" b="1">
                          <a:solidFill>
                            <a:srgbClr val="21242A"/>
                          </a:solidFill>
                          <a:latin typeface="Microsoft YaHei"/>
                        </a:rPr>
                        <a:t>2年非淋巴瘤死亡率</a:t>
                      </a:r>
                    </a:p>
                  </a:txBody>
                  <a:tcPr>
                    <a:solidFill>
                      <a:srgbClr val="FFFFFF"/>
                    </a:solidFill>
                  </a:tcPr>
                </a:tc>
                <a:tc>
                  <a:txBody>
                    <a:bodyPr wrap="square" lIns="36576" rIns="36576" tIns="18288" bIns="18288"/>
                    <a:lstStyle/>
                    <a:p>
                      <a:r>
                        <a:rPr sz="720" b="0">
                          <a:solidFill>
                            <a:srgbClr val="21242A"/>
                          </a:solidFill>
                          <a:latin typeface="Microsoft YaHei"/>
                        </a:rPr>
                        <a:t>13% vs 7.3%，p=0.1</a:t>
                      </a:r>
                    </a:p>
                  </a:txBody>
                  <a:tcPr>
                    <a:solidFill>
                      <a:srgbClr val="FFFFFF"/>
                    </a:solidFill>
                  </a:tcPr>
                </a:tc>
              </a:tr>
              <a:tr h="322652">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多变量分析中年龄与淋巴瘤相关死亡无关（HR 0.67, 95%CI 0.31-1.43, p=0.3）</a:t>
                      </a:r>
                    </a:p>
                  </a:txBody>
                  <a:tcPr>
                    <a:solidFill>
                      <a:srgbClr val="F6F8FB"/>
                    </a:solidFill>
                  </a:tcPr>
                </a:tc>
              </a:tr>
              <a:tr h="322656">
                <a:tc>
                  <a:txBody>
                    <a:bodyPr wrap="square" lIns="36576" rIns="36576" tIns="18288" bIns="18288"/>
                    <a:lstStyle/>
                    <a:p>
                      <a:r>
                        <a:rPr sz="720" b="1">
                          <a:solidFill>
                            <a:srgbClr val="21242A"/>
                          </a:solidFill>
                          <a:latin typeface="Microsoft YaHei"/>
                        </a:rPr>
                        <a:t>接受ASCT患者2年OS</a:t>
                      </a:r>
                    </a:p>
                  </a:txBody>
                  <a:tcPr>
                    <a:solidFill>
                      <a:srgbClr val="FFFFFF"/>
                    </a:solidFill>
                  </a:tcPr>
                </a:tc>
                <a:tc>
                  <a:txBody>
                    <a:bodyPr wrap="square" lIns="36576" rIns="36576" tIns="18288" bIns="18288"/>
                    <a:lstStyle/>
                    <a:p>
                      <a:r>
                        <a:rPr sz="720" b="0">
                          <a:solidFill>
                            <a:srgbClr val="21242A"/>
                          </a:solidFill>
                          <a:latin typeface="Microsoft YaHei"/>
                        </a:rPr>
                        <a:t>53% vs 73%，p=0.15</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摘要号：PS2121</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单核细胞cfdna谱的动态变化可识别大b细胞淋巴瘤的高危患者</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dynamic changes in mononucleosomal cfdna profiles identify high-risk patients...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N=123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前瞻性临床研究结果：dynamic changes in mononucleosomal cfdna profiles ide...</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FSR分类与无进展生存期显著相关（p=0.00023）</a:t>
            </a:r>
          </a:p>
          <a:p>
            <a:pPr>
              <a:lnSpc>
                <a:spcPct val="103000"/>
              </a:lnSpc>
              <a:spcAft>
                <a:spcPts val="300"/>
              </a:spcAft>
              <a:defRPr sz="800">
                <a:solidFill>
                  <a:srgbClr val="21242A"/>
                </a:solidFill>
                <a:latin typeface="Microsoft YaHei"/>
              </a:defRPr>
            </a:pPr>
            <a:r>
              <a:t>FSR分类与总生存期显著相关（p&lt;0.0001）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人数：123</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研究主题：dynamic changes in mononucleosomal cfdna profiles identify high-risk patients with large b-cell lymphoma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单核细胞cfdna谱的动态变化可识别大b细胞淋巴瘤的高危患者</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dynamic changes in mononucleosomal cfdna profiles identify high-risk patients...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EHA原文结果（中文字段未通过数字核对）（1/2）</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Fragment length profiles showed marked inter-patient heterogeneity and dynamic changes during treatment.</a:t>
            </a:r>
          </a:p>
          <a:p>
            <a:pPr>
              <a:lnSpc>
                <a:spcPct val="103000"/>
              </a:lnSpc>
              <a:spcAft>
                <a:spcPts val="300"/>
              </a:spcAft>
              <a:defRPr sz="819">
                <a:solidFill>
                  <a:srgbClr val="21242A"/>
                </a:solidFill>
                <a:latin typeface="Microsoft YaHei"/>
              </a:defRPr>
            </a:pPr>
            <a:r>
              <a:t>Both large decreases and increases in SFF between baseline and EOT were associated with inferior survival.</a:t>
            </a:r>
          </a:p>
          <a:p>
            <a:pPr>
              <a:lnSpc>
                <a:spcPct val="103000"/>
              </a:lnSpc>
              <a:spcAft>
                <a:spcPts val="300"/>
              </a:spcAft>
              <a:defRPr sz="819">
                <a:solidFill>
                  <a:srgbClr val="21242A"/>
                </a:solidFill>
                <a:latin typeface="Microsoft YaHei"/>
              </a:defRPr>
            </a:pPr>
            <a:r>
              <a:t>Patients classified as FSR had significantly worse progression-free survival (PFS) (p=0.00023) and overall survival (O</a:t>
            </a:r>
          </a:p>
          <a:p>
            <a:pPr>
              <a:lnSpc>
                <a:spcPct val="103000"/>
              </a:lnSpc>
              <a:spcAft>
                <a:spcPts val="300"/>
              </a:spcAft>
              <a:defRPr sz="819">
                <a:solidFill>
                  <a:srgbClr val="21242A"/>
                </a:solidFill>
                <a:latin typeface="Microsoft YaHei"/>
              </a:defRPr>
            </a:pPr>
            <a:r>
              <a:t>S) (p Summary/Conclusion: The proposed fragmentome shift risk (FSR) metric may represent a novel non-invasive biomarke</a:t>
            </a:r>
          </a:p>
          <a:p>
            <a:pPr>
              <a:lnSpc>
                <a:spcPct val="103000"/>
              </a:lnSpc>
              <a:spcAft>
                <a:spcPts val="300"/>
              </a:spcAft>
              <a:defRPr sz="819">
                <a:solidFill>
                  <a:srgbClr val="21242A"/>
                </a:solidFill>
                <a:latin typeface="Microsoft YaHei"/>
              </a:defRPr>
            </a:pPr>
            <a:r>
              <a:t>r for outcome prediction.</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摘要号：PS2079</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单核细胞cfdna谱的动态变化可识别大b细胞淋巴瘤的高危患者</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dynamic changes in mononucleosomal cfdna profiles identify high-risk patients...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EHA原文结果（中文字段未通过数字核对）（2/2）</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Integration of cfDNA fragmentomics with ctDNA mutation profiling and minimal residual disease assessment could improve</a:t>
            </a:r>
          </a:p>
          <a:p>
            <a:pPr>
              <a:lnSpc>
                <a:spcPct val="103000"/>
              </a:lnSpc>
              <a:spcAft>
                <a:spcPts val="300"/>
              </a:spcAft>
              <a:defRPr sz="819">
                <a:solidFill>
                  <a:srgbClr val="21242A"/>
                </a:solidFill>
                <a:latin typeface="Microsoft YaHei"/>
              </a:defRPr>
            </a:pPr>
            <a:r>
              <a:t> disease monitoring and risk stratification in LBCL.</a:t>
            </a:r>
          </a:p>
          <a:p>
            <a:pPr>
              <a:lnSpc>
                <a:spcPct val="103000"/>
              </a:lnSpc>
              <a:spcAft>
                <a:spcPts val="300"/>
              </a:spcAft>
              <a:defRPr sz="819">
                <a:solidFill>
                  <a:srgbClr val="21242A"/>
                </a:solidFill>
                <a:latin typeface="Microsoft YaHei"/>
              </a:defRPr>
            </a:pPr>
            <a:r>
              <a:t>Independent validation in additional cohorts is needed.</a:t>
            </a:r>
          </a:p>
          <a:p>
            <a:pPr>
              <a:lnSpc>
                <a:spcPct val="103000"/>
              </a:lnSpc>
              <a:spcAft>
                <a:spcPts val="300"/>
              </a:spcAft>
              <a:defRPr sz="819">
                <a:solidFill>
                  <a:srgbClr val="21242A"/>
                </a:solidFill>
                <a:latin typeface="Microsoft YaHei"/>
              </a:defRPr>
            </a:pPr>
            <a:r>
              <a:t>Further insight into differences in fragmentation could be provided by studying the end-motif enrichment across distin</a:t>
            </a:r>
          </a:p>
          <a:p>
            <a:pPr>
              <a:lnSpc>
                <a:spcPct val="103000"/>
              </a:lnSpc>
              <a:spcAft>
                <a:spcPts val="300"/>
              </a:spcAft>
              <a:defRPr sz="819">
                <a:solidFill>
                  <a:srgbClr val="21242A"/>
                </a:solidFill>
                <a:latin typeface="Microsoft YaHei"/>
              </a:defRPr>
            </a:pPr>
            <a:r>
              <a:t>ct fragment lengths.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营养参数作为老年弥漫性大b细胞淋巴瘤患者的预后标志物：意大利林福美基金会老年项目的事后分析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nutritional parameters as prognostic markers in older patients with diffuse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N=688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回顾性临床研究结果：nutritional parameters as prognostic markers in older...</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白蛋白对3年OS的影响：单因素分析HR=0.43, 95%CI 0.34-0.55, P&lt;0.001</a:t>
            </a:r>
          </a:p>
          <a:p>
            <a:pPr>
              <a:lnSpc>
                <a:spcPct val="103000"/>
              </a:lnSpc>
              <a:spcAft>
                <a:spcPts val="300"/>
              </a:spcAft>
              <a:defRPr sz="800">
                <a:solidFill>
                  <a:srgbClr val="21242A"/>
                </a:solidFill>
                <a:latin typeface="Microsoft YaHei"/>
              </a:defRPr>
            </a:pPr>
            <a:r>
              <a:t>白蛋白&gt;3.5g/dl组3年OS优于≤3.5g/dl组，P&lt;0.001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人数：688</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研究主题：nutritional parameters as prognostic markers in older patients with diffuse large b-cell lymphoma: a post-hoc analysis...</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营养参数作为老年弥漫性大b细胞淋巴瘤患者的预后标志物：意大利林福美基金会老年项目的事后分析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nutritional parameters as prognostic markers in older patients with diffuse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EHA原文结果（中文字段未通过数字核对）（1/4）</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Based on the inclusion criteria, 688 out of total of 1207 patients (59%) were deemed eligible, with median ag</a:t>
            </a:r>
          </a:p>
          <a:p>
            <a:pPr>
              <a:lnSpc>
                <a:spcPct val="103000"/>
              </a:lnSpc>
              <a:spcAft>
                <a:spcPts val="300"/>
              </a:spcAft>
              <a:defRPr sz="819">
                <a:solidFill>
                  <a:srgbClr val="21242A"/>
                </a:solidFill>
                <a:latin typeface="Microsoft YaHei"/>
              </a:defRPr>
            </a:pPr>
            <a:r>
              <a:t>e of 75 years.In univariate analysis, albumin showed statistical correlation with 3-yr OS (HR, 0.43; 95% CI, 0.34-0.55</a:t>
            </a:r>
          </a:p>
          <a:p>
            <a:pPr>
              <a:lnSpc>
                <a:spcPct val="103000"/>
              </a:lnSpc>
              <a:spcAft>
                <a:spcPts val="300"/>
              </a:spcAft>
              <a:defRPr sz="819">
                <a:solidFill>
                  <a:srgbClr val="21242A"/>
                </a:solidFill>
                <a:latin typeface="Microsoft YaHei"/>
              </a:defRPr>
            </a:pPr>
            <a:r>
              <a:t>; P 3,5 gr/dl (P 98), low risk (GNRI 92-98), moderate (GNRI 82-92), high risk (GNRI Tab.</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摘要号：PS2078</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营养参数作为老年弥漫性大b细胞淋巴瘤患者的预后标志物：意大利林福美基金会老年项目的事后分析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nutritional parameters as prognostic markers in older patients with diffuse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1: GNRI in DLBCL \n \n \n \n \n GNRI \n \n \n N (fail) \n \n \n 3-yr OS % (95%CI) \n \n \n HR (95%CI) \n \n \n p-value</a:t>
            </a:r>
          </a:p>
          <a:p>
            <a:pPr>
              <a:lnSpc>
                <a:spcPct val="103000"/>
              </a:lnSpc>
              <a:spcAft>
                <a:spcPts val="300"/>
              </a:spcAft>
              <a:defRPr sz="819">
                <a:solidFill>
                  <a:srgbClr val="21242A"/>
                </a:solidFill>
                <a:latin typeface="Microsoft YaHei"/>
              </a:defRPr>
            </a:pPr>
            <a:r>
              <a:t> \n \n \n \n \n Overall Survival \n \n \n 688 (184) \n \n \n 68 (63-72) \n \n \n - \n \n \n - \n \n \n \n \n Continuou</a:t>
            </a:r>
          </a:p>
          <a:p>
            <a:pPr>
              <a:lnSpc>
                <a:spcPct val="103000"/>
              </a:lnSpc>
              <a:spcAft>
                <a:spcPts val="300"/>
              </a:spcAft>
              <a:defRPr sz="819">
                <a:solidFill>
                  <a:srgbClr val="21242A"/>
                </a:solidFill>
                <a:latin typeface="Microsoft YaHei"/>
              </a:defRPr>
            </a:pPr>
            <a:r>
              <a:t>s (increase 10 points) \n \n \n - \n \n \n - \n \n \n 0.65 (0.58-0.74) \n \n \n \n \n \n \n \n Adjusted by EPI \n \n \</a:t>
            </a:r>
          </a:p>
          <a:p>
            <a:pPr>
              <a:lnSpc>
                <a:spcPct val="103000"/>
              </a:lnSpc>
              <a:spcAft>
                <a:spcPts val="300"/>
              </a:spcAft>
              <a:defRPr sz="819">
                <a:solidFill>
                  <a:srgbClr val="21242A"/>
                </a:solidFill>
                <a:latin typeface="Microsoft YaHei"/>
              </a:defRPr>
            </a:pPr>
            <a:r>
              <a:t>n \n \n \n \n \n \n 0,73 (0,64-0,83) \n \n \n \n \n \n \n \n GNRI group \n \n \n N (%) [fail] \n \n \n 3-yr OS % (95%C</a:t>
            </a:r>
          </a:p>
          <a:p>
            <a:pPr>
              <a:lnSpc>
                <a:spcPct val="103000"/>
              </a:lnSpc>
              <a:spcAft>
                <a:spcPts val="300"/>
              </a:spcAft>
              <a:defRPr sz="819">
                <a:solidFill>
                  <a:srgbClr val="21242A"/>
                </a:solidFill>
                <a:latin typeface="Microsoft YaHei"/>
              </a:defRPr>
            </a:pPr>
            <a:r>
              <a:t>I) \n \n \n HR (95%CI) \n \n \n p-value \n \n \n \n \n None \n \n \n 408 (59) [79] \n \n \n 76 (70-80) \n \n \n 1.00 \</a:t>
            </a:r>
          </a:p>
          <a:p>
            <a:pPr>
              <a:lnSpc>
                <a:spcPct val="103000"/>
              </a:lnSpc>
              <a:spcAft>
                <a:spcPts val="300"/>
              </a:spcAft>
              <a:defRPr sz="819">
                <a:solidFill>
                  <a:srgbClr val="21242A"/>
                </a:solidFill>
                <a:latin typeface="Microsoft YaHei"/>
              </a:defRPr>
            </a:pPr>
            <a:r>
              <a:t>n \n \n \n \n \n \n \n Low \n</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营养参数作为老年弥漫性大b细胞淋巴瘤患者的预后标志物：意大利林福美基金会老年项目的事后分析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nutritional parameters as prognostic markers in older patients with diffuse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\n \n 131 (39) [39] \n \n \n 67 (57-75) \n \n \n 1.62 (1.10-2.38) \n \n \n 0.013 \n \n \n \n \n Moderate \n \n \n 109 </a:t>
            </a:r>
          </a:p>
          <a:p>
            <a:pPr>
              <a:lnSpc>
                <a:spcPct val="103000"/>
              </a:lnSpc>
              <a:spcAft>
                <a:spcPts val="300"/>
              </a:spcAft>
              <a:defRPr sz="819">
                <a:solidFill>
                  <a:srgbClr val="21242A"/>
                </a:solidFill>
                <a:latin typeface="Microsoft YaHei"/>
              </a:defRPr>
            </a:pPr>
            <a:r>
              <a:t>(16) [47] \n \n \n 50 (39-75) \n \n \n 2.70 (1.88-3.87) \n \n \n \n \n \n \n \n High \n \n \n 40 (6) [19] \n \n \n 35 </a:t>
            </a:r>
          </a:p>
          <a:p>
            <a:pPr>
              <a:lnSpc>
                <a:spcPct val="103000"/>
              </a:lnSpc>
              <a:spcAft>
                <a:spcPts val="300"/>
              </a:spcAft>
              <a:defRPr sz="819">
                <a:solidFill>
                  <a:srgbClr val="21242A"/>
                </a:solidFill>
                <a:latin typeface="Microsoft YaHei"/>
              </a:defRPr>
            </a:pPr>
            <a:r>
              <a:t>(13-58) \n \n \n 3.65 (2.21-6.03) \n \n \n \n \n \n \n \n</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营养参数作为老年弥漫性大b细胞淋巴瘤患者的预后标志物：意大利林福美基金会老年项目的事后分析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nutritional parameters as prognostic markers in older patients with diffuse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Summary/Conclusion: In the current therapeutic landscape, treatment personalization requires accurate risk stratificat</a:t>
            </a:r>
          </a:p>
          <a:p>
            <a:pPr>
              <a:lnSpc>
                <a:spcPct val="103000"/>
              </a:lnSpc>
              <a:spcAft>
                <a:spcPts val="300"/>
              </a:spcAft>
              <a:defRPr sz="819">
                <a:solidFill>
                  <a:srgbClr val="21242A"/>
                </a:solidFill>
                <a:latin typeface="Microsoft YaHei"/>
              </a:defRPr>
            </a:pPr>
            <a:r>
              <a:t>ion.</a:t>
            </a:r>
          </a:p>
          <a:p>
            <a:pPr>
              <a:lnSpc>
                <a:spcPct val="103000"/>
              </a:lnSpc>
              <a:spcAft>
                <a:spcPts val="300"/>
              </a:spcAft>
              <a:defRPr sz="819">
                <a:solidFill>
                  <a:srgbClr val="21242A"/>
                </a:solidFill>
                <a:latin typeface="Microsoft YaHei"/>
              </a:defRPr>
            </a:pPr>
            <a:r>
              <a:t>In elderly patients with DLBCL undergoing antineoplastic treatment, albumin, BMI and GNRI represent independent progno</a:t>
            </a:r>
          </a:p>
          <a:p>
            <a:pPr>
              <a:lnSpc>
                <a:spcPct val="103000"/>
              </a:lnSpc>
              <a:spcAft>
                <a:spcPts val="300"/>
              </a:spcAft>
              <a:defRPr sz="819">
                <a:solidFill>
                  <a:srgbClr val="21242A"/>
                </a:solidFill>
                <a:latin typeface="Microsoft YaHei"/>
              </a:defRPr>
            </a:pPr>
            <a:r>
              <a:t>stic parameters for survival, which are simple and easily applicable</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早期出现增殖性cd8+t细胞与接受自体造血干细胞移植加脐带血输注治疗的r/r dlbcl患者预后改善有关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earlier emergence of proliferative cd8+ t cells is associated with improved 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PF1113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分组：试验组1：自体造血干细胞移植+脐带血输注</a:t>
            </a:r>
          </a:p>
          <a:p>
            <a:pPr>
              <a:lnSpc>
                <a:spcPct val="103000"/>
              </a:lnSpc>
              <a:spcAft>
                <a:spcPts val="300"/>
              </a:spcAft>
              <a:defRPr sz="800">
                <a:solidFill>
                  <a:srgbClr val="21242A"/>
                </a:solidFill>
                <a:latin typeface="Microsoft YaHei"/>
              </a:defRPr>
            </a:pPr>
            <a:r>
              <a:t>对照组：单纯自体造血干细胞移植</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对照/比较：试验组1：自体造血干细胞移植+脐带血输注||对照组：单纯自体造血干细胞移植</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联合组中性粒细胞植入中位时间11天（范围10-21天），血小板植入中位时间14天（范围12-31天）</a:t>
            </a:r>
          </a:p>
          <a:p>
            <a:pPr>
              <a:lnSpc>
                <a:spcPct val="103000"/>
              </a:lnSpc>
              <a:spcAft>
                <a:spcPts val="300"/>
              </a:spcAft>
              <a:defRPr sz="800">
                <a:solidFill>
                  <a:srgbClr val="21242A"/>
                </a:solidFill>
                <a:latin typeface="Microsoft YaHei"/>
              </a:defRPr>
            </a:pPr>
            <a:r>
              <a:t>对照组中性粒细胞植入中位时间11天（范围10-19天），血小板植入中位时间12天（范围10-20天）</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人数：24</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分组/治疗流程：试验组1：自体造血干细胞移植+脐带血输注、对照组：单纯自体造血干细胞移植</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早期出现增殖性cd8+t细胞与接受自体造血干细胞移植加脐带血输注治疗的r/r dlbcl患者预后改善有关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earlier emergence of proliferative cd8+ t cells is associated with improved 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PF1113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4714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69/187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联合组中性粒细胞植入中位时间11天（范围10-21天），血小板植入中位时间14天（范围12-31天）</a:t>
                      </a:r>
                    </a:p>
                  </a:txBody>
                  <a:tcPr>
                    <a:solidFill>
                      <a:srgbClr val="F6F8FB"/>
                    </a:solidFill>
                  </a:tcPr>
                </a:tc>
              </a:tr>
              <a:tr h="376428">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对照组中性粒细胞植入中位时间11天（范围10-19天），血小板植入中位时间12天（范围10-20天）</a:t>
                      </a:r>
                    </a:p>
                  </a:txBody>
                  <a:tcPr>
                    <a:solidFill>
                      <a:srgbClr val="FFFFFF"/>
                    </a:solidFill>
                  </a:tcPr>
                </a:tc>
              </a:tr>
              <a:tr h="37642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联合组增殖性CD8+ T细胞出现中位时间比对照组早4天（2-5天）</a:t>
                      </a:r>
                    </a:p>
                  </a:txBody>
                  <a:tcPr>
                    <a:solidFill>
                      <a:srgbClr val="F6F8FB"/>
                    </a:solidFill>
                  </a:tcPr>
                </a:tc>
              </a:tr>
              <a:tr h="376428">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联合组干细胞样记忆CD8+ T细胞出现中位时间比对照组早9天（8-10天）</a:t>
                      </a:r>
                    </a:p>
                  </a:txBody>
                  <a:tcPr>
                    <a:solidFill>
                      <a:srgbClr val="FFFFFF"/>
                    </a:solidFill>
                  </a:tcPr>
                </a:tc>
              </a:tr>
              <a:tr h="37642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联合组总队列2年总生存率90.9%，2年无进展生存率86.3%</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摘要号：PF1113</a:t>
            </a:r>
          </a:p>
          <a:p>
            <a:pPr>
              <a:lnSpc>
                <a:spcPct val="103000"/>
              </a:lnSpc>
              <a:spcAft>
                <a:spcPts val="300"/>
              </a:spcAft>
              <a:defRPr sz="740">
                <a:solidFill>
                  <a:srgbClr val="5E6570"/>
                </a:solidFill>
                <a:latin typeface="Microsoft YaHei"/>
              </a:defRPr>
            </a:pPr>
            <a:r>
              <a:t>会议栏目：22. Stem cell transplantation - Experimental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阶段性变体揭示dlbcl原癌基因启动子高突变和cfdna断裂模式</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phased variants reveal proto-oncogene promoter hypermutation and cfdna fragme...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PF1106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N=116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前瞻性临床研究结果：phased variants reveal proto-oncogene promoter hyperm...</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LymphGen分类成功率：50.8%（FFPE），加入cfDNA后提升至62.9%</a:t>
            </a:r>
          </a:p>
          <a:p>
            <a:pPr>
              <a:lnSpc>
                <a:spcPct val="103000"/>
              </a:lnSpc>
              <a:spcAft>
                <a:spcPts val="300"/>
              </a:spcAft>
              <a:defRPr sz="800">
                <a:solidFill>
                  <a:srgbClr val="21242A"/>
                </a:solidFill>
                <a:latin typeface="Microsoft YaHei"/>
              </a:defRPr>
            </a:pPr>
            <a:r>
              <a:t>未分类病例中7/57重新分类为MCD，4/57重新分类为EZB</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人数：116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研究主题：phased variants reveal proto-oncogene promoter hypermutation and cfdna fragmentation patterns in dlbcl</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阶段性变体揭示dlbcl原癌基因启动子高突变和cfdna断裂模式</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phased variants reveal proto-oncogene promoter hypermutation and cfdna fragme...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PF1106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LymphGen分类成功率：50.8%（FFPE），加入cfDNA后提升至62.9%；未分类病例中7/57重新分类为MCD，4/57重新分类为EZB；肿瘤组织样本中位PVs数111.5（范围17-286）；86/116例cfDNA中可召</a:t>
            </a:r>
          </a:p>
          <a:p>
            <a:pPr>
              <a:lnSpc>
                <a:spcPct val="103000"/>
              </a:lnSpc>
              <a:spcAft>
                <a:spcPts val="300"/>
              </a:spcAft>
              <a:defRPr sz="819">
                <a:solidFill>
                  <a:srgbClr val="21242A"/>
                </a:solidFill>
                <a:latin typeface="Microsoft YaHei"/>
              </a:defRPr>
            </a:pPr>
            <a:r>
              <a:t>回PVs，中位召回率58.4%；PVs常见于IGK、IGHM、BCL6、BCL2、PIM1、MYC、BCL7A、CXCR4、TMSB4X基因，除MYC外多数影响5'UTR或启动子区；ctDNA片段化程度显著高于野生型DNA和总cfDNA</a:t>
            </a:r>
          </a:p>
          <a:p>
            <a:pPr>
              <a:lnSpc>
                <a:spcPct val="103000"/>
              </a:lnSpc>
              <a:spcAft>
                <a:spcPts val="300"/>
              </a:spcAft>
              <a:defRPr sz="819">
                <a:solidFill>
                  <a:srgbClr val="21242A"/>
                </a:solidFill>
                <a:latin typeface="Microsoft YaHei"/>
              </a:defRPr>
            </a:pPr>
            <a:r>
              <a:t>；BCL2和MYC的PV召回率低与血液中低表达、淋巴细胞中高表达相关。</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摘要号：PF1106</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基于预处理ctdna的dlbcl风险预测：非面板独立拷贝数分析克服了批间阈值变异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pretreatment ctdna-based risk prediction in dlbcl: panel-independent copy-num...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PF1089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N=184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前瞻性临床研究结果：pretreatment ctdna-based risk prediction in dlbcl: pa...</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基于CNA的肿瘤分数&gt;0.1定义高风险，对TTP的HR为4.97 (95% CI 2.52-9.83, p&lt;0.001)</a:t>
            </a:r>
          </a:p>
          <a:p>
            <a:pPr>
              <a:lnSpc>
                <a:spcPct val="103000"/>
              </a:lnSpc>
              <a:spcAft>
                <a:spcPts val="300"/>
              </a:spcAft>
              <a:defRPr sz="800">
                <a:solidFill>
                  <a:srgbClr val="21242A"/>
                </a:solidFill>
                <a:latin typeface="Microsoft YaHei"/>
              </a:defRPr>
            </a:pPr>
            <a:r>
              <a:t>对PFS的HR为3.02 (95% CI 1.56-5.85, p=0.001)。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人数：184</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研究主题：pretreatment ctdna-based risk prediction in dlbcl: panel-independent copy-number analysis overcomes inter-assay thresho...</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基于预处理ctdna的dlbcl风险预测：非面板独立拷贝数分析克服了批间阈值变异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pretreatment ctdna-based risk prediction in dlbcl: panel-independent copy-num...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PF1089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EHA原文结果（中文字段未通过数字核对）（1/5）</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All SNV-based approaches predicted clinical risk, but absolute ctDNA quantification varied markedly.</a:t>
            </a:r>
          </a:p>
          <a:p>
            <a:pPr>
              <a:lnSpc>
                <a:spcPct val="103000"/>
              </a:lnSpc>
              <a:spcAft>
                <a:spcPts val="300"/>
              </a:spcAft>
              <a:defRPr sz="819">
                <a:solidFill>
                  <a:srgbClr val="21242A"/>
                </a:solidFill>
                <a:latin typeface="Microsoft YaHei"/>
              </a:defRPr>
            </a:pPr>
            <a:r>
              <a:t>Even within the same cohort, thresholds defining high-risk disease required separate optimisation for each SNV calling</a:t>
            </a:r>
          </a:p>
          <a:p>
            <a:pPr>
              <a:lnSpc>
                <a:spcPct val="103000"/>
              </a:lnSpc>
              <a:spcAft>
                <a:spcPts val="300"/>
              </a:spcAft>
              <a:defRPr sz="819">
                <a:solidFill>
                  <a:srgbClr val="21242A"/>
                </a:solidFill>
                <a:latin typeface="Microsoft YaHei"/>
              </a:defRPr>
            </a:pPr>
            <a:r>
              <a:t> strategy and differed by &gt;10-fold.</a:t>
            </a:r>
          </a:p>
          <a:p>
            <a:pPr>
              <a:lnSpc>
                <a:spcPct val="103000"/>
              </a:lnSpc>
              <a:spcAft>
                <a:spcPts val="300"/>
              </a:spcAft>
              <a:defRPr sz="819">
                <a:solidFill>
                  <a:srgbClr val="21242A"/>
                </a:solidFill>
                <a:latin typeface="Microsoft YaHei"/>
              </a:defRPr>
            </a:pPr>
            <a:r>
              <a:t>This variation arose partly from different detection limits for low-allele-fraction variants leading to substantial di</a:t>
            </a:r>
          </a:p>
          <a:p>
            <a:pPr>
              <a:lnSpc>
                <a:spcPct val="103000"/>
              </a:lnSpc>
              <a:spcAft>
                <a:spcPts val="300"/>
              </a:spcAft>
              <a:defRPr sz="819">
                <a:solidFill>
                  <a:srgbClr val="21242A"/>
                </a:solidFill>
                <a:latin typeface="Microsoft YaHei"/>
              </a:defRPr>
            </a:pPr>
            <a:r>
              <a:t>fferences in average mutant allele fraction across different variant calling approaches (matched-germline, unmatched-g</a:t>
            </a:r>
          </a:p>
          <a:p>
            <a:pPr>
              <a:lnSpc>
                <a:spcPct val="103000"/>
              </a:lnSpc>
              <a:spcAft>
                <a:spcPts val="300"/>
              </a:spcAft>
              <a:defRPr sz="819">
                <a:solidFill>
                  <a:srgbClr val="21242A"/>
                </a:solidFill>
                <a:latin typeface="Microsoft YaHei"/>
              </a:defRPr>
            </a:pPr>
            <a:r>
              <a:t>ermline and tumour-only strategies employing different variant calling tools).</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摘要号：PF1089</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基于预处理ctdna的dlbcl风险预测：非面板独立拷贝数分析克服了批间阈值变异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pretreatment ctdna-based risk prediction in dlbcl: panel-independent copy-num...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PF1089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This variability presents a practical barrier to deploying SNV-based risk stratification across centres, sequencing pi</a:t>
            </a:r>
          </a:p>
          <a:p>
            <a:pPr>
              <a:lnSpc>
                <a:spcPct val="103000"/>
              </a:lnSpc>
              <a:spcAft>
                <a:spcPts val="300"/>
              </a:spcAft>
              <a:defRPr sz="819">
                <a:solidFill>
                  <a:srgbClr val="21242A"/>
                </a:solidFill>
                <a:latin typeface="Microsoft YaHei"/>
              </a:defRPr>
            </a:pPr>
            <a:r>
              <a:t>pelines and panel designs.</a:t>
            </a:r>
          </a:p>
          <a:p>
            <a:pPr>
              <a:lnSpc>
                <a:spcPct val="103000"/>
              </a:lnSpc>
              <a:spcAft>
                <a:spcPts val="300"/>
              </a:spcAft>
              <a:defRPr sz="819">
                <a:solidFill>
                  <a:srgbClr val="21242A"/>
                </a:solidFill>
                <a:latin typeface="Microsoft YaHei"/>
              </a:defRPr>
            </a:pPr>
            <a:r>
              <a:t>\n As an alternative, we derived tumour fraction from genome-wide CNAs.</a:t>
            </a:r>
          </a:p>
          <a:p>
            <a:pPr>
              <a:lnSpc>
                <a:spcPct val="103000"/>
              </a:lnSpc>
              <a:spcAft>
                <a:spcPts val="300"/>
              </a:spcAft>
              <a:defRPr sz="819">
                <a:solidFill>
                  <a:srgbClr val="21242A"/>
                </a:solidFill>
                <a:latin typeface="Microsoft YaHei"/>
              </a:defRPr>
            </a:pPr>
            <a:r>
              <a:t>Panel-based sequencing profiles including off-target reads were normalised to cfDNA from 51 healthy individuals.</a:t>
            </a:r>
          </a:p>
          <a:p>
            <a:pPr>
              <a:lnSpc>
                <a:spcPct val="103000"/>
              </a:lnSpc>
              <a:spcAft>
                <a:spcPts val="300"/>
              </a:spcAft>
              <a:defRPr sz="819">
                <a:solidFill>
                  <a:srgbClr val="21242A"/>
                </a:solidFill>
                <a:latin typeface="Microsoft YaHei"/>
              </a:defRPr>
            </a:pPr>
            <a:r>
              <a:t>A tumour fraction &gt;0.1 was identified as optimal to define high risk.</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基于预处理ctdna的dlbcl风险预测：非面板独立拷贝数分析克服了批间阈值变异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pretreatment ctdna-based risk prediction in dlbcl: panel-independent copy-num...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PF1089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In univariate analyses, CNA-based stratification strongly predicted TTP (HR 4.97, 95% CI 2.52–9.83, p \n We then asses</a:t>
            </a:r>
          </a:p>
          <a:p>
            <a:pPr>
              <a:lnSpc>
                <a:spcPct val="103000"/>
              </a:lnSpc>
              <a:spcAft>
                <a:spcPts val="300"/>
              </a:spcAft>
              <a:defRPr sz="819">
                <a:solidFill>
                  <a:srgbClr val="21242A"/>
                </a:solidFill>
                <a:latin typeface="Microsoft YaHei"/>
              </a:defRPr>
            </a:pPr>
            <a:r>
              <a:t>sed technical robustness to variables that typically differ across ctDNA platforms, including genomic regions analysed</a:t>
            </a:r>
          </a:p>
          <a:p>
            <a:pPr>
              <a:lnSpc>
                <a:spcPct val="103000"/>
              </a:lnSpc>
              <a:spcAft>
                <a:spcPts val="300"/>
              </a:spcAft>
              <a:defRPr sz="819">
                <a:solidFill>
                  <a:srgbClr val="21242A"/>
                </a:solidFill>
                <a:latin typeface="Microsoft YaHei"/>
              </a:defRPr>
            </a:pPr>
            <a:r>
              <a:t> and reference panel size.</a:t>
            </a:r>
          </a:p>
          <a:p>
            <a:pPr>
              <a:lnSpc>
                <a:spcPct val="103000"/>
              </a:lnSpc>
              <a:spcAft>
                <a:spcPts val="300"/>
              </a:spcAft>
              <a:defRPr sz="819">
                <a:solidFill>
                  <a:srgbClr val="21242A"/>
                </a:solidFill>
                <a:latin typeface="Microsoft YaHei"/>
              </a:defRPr>
            </a:pPr>
            <a:r>
              <a:t>Tumour fraction from panel-based sequencing showed strong concordance with low-pass whole-genome sequencing (Pearson’s</a:t>
            </a:r>
          </a:p>
          <a:p>
            <a:pPr>
              <a:lnSpc>
                <a:spcPct val="103000"/>
              </a:lnSpc>
              <a:spcAft>
                <a:spcPts val="300"/>
              </a:spcAft>
              <a:defRPr sz="819">
                <a:solidFill>
                  <a:srgbClr val="21242A"/>
                </a:solidFill>
                <a:latin typeface="Microsoft YaHei"/>
              </a:defRPr>
            </a:pPr>
            <a:r>
              <a:t> r &gt;0.9).</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基于预处理ctdna的dlbcl风险预测：非面板独立拷贝数分析克服了批间阈值变异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pretreatment ctdna-based risk prediction in dlbcl: panel-independent copy-num...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PF1089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Tumour fraction remained stable when chromosome arms were iteratively excluded to simulate alternative panel design, s</a:t>
            </a:r>
          </a:p>
          <a:p>
            <a:pPr>
              <a:lnSpc>
                <a:spcPct val="103000"/>
              </a:lnSpc>
              <a:spcAft>
                <a:spcPts val="300"/>
              </a:spcAft>
              <a:defRPr sz="819">
                <a:solidFill>
                  <a:srgbClr val="21242A"/>
                </a:solidFill>
                <a:latin typeface="Microsoft YaHei"/>
              </a:defRPr>
            </a:pPr>
            <a:r>
              <a:t>uggesting that risk prediction was driven by global tumour-burden signal rather than individual copy number aberration</a:t>
            </a:r>
          </a:p>
          <a:p>
            <a:pPr>
              <a:lnSpc>
                <a:spcPct val="103000"/>
              </a:lnSpc>
              <a:spcAft>
                <a:spcPts val="300"/>
              </a:spcAft>
              <a:defRPr sz="819">
                <a:solidFill>
                  <a:srgbClr val="21242A"/>
                </a:solidFill>
                <a:latin typeface="Microsoft YaHei"/>
              </a:defRPr>
            </a:pPr>
            <a:r>
              <a:t>s.</a:t>
            </a:r>
          </a:p>
          <a:p>
            <a:pPr>
              <a:lnSpc>
                <a:spcPct val="103000"/>
              </a:lnSpc>
              <a:spcAft>
                <a:spcPts val="300"/>
              </a:spcAft>
              <a:defRPr sz="819">
                <a:solidFill>
                  <a:srgbClr val="21242A"/>
                </a:solidFill>
                <a:latin typeface="Microsoft YaHei"/>
              </a:defRPr>
            </a:pPr>
            <a:r>
              <a:t>Quantification was also stable when at least 20 healthy cfDNA samples were used as reference.</a:t>
            </a:r>
          </a:p>
          <a:p>
            <a:pPr>
              <a:lnSpc>
                <a:spcPct val="103000"/>
              </a:lnSpc>
              <a:spcAft>
                <a:spcPts val="300"/>
              </a:spcAft>
              <a:defRPr sz="819">
                <a:solidFill>
                  <a:srgbClr val="21242A"/>
                </a:solidFill>
                <a:latin typeface="Microsoft YaHei"/>
              </a:defRPr>
            </a:pPr>
            <a:r>
              <a:t>Summary/Conclusion: In conclusion, CNA-based estimation of ctDNA tumour fraction provides a technically robust, panel-</a:t>
            </a:r>
          </a:p>
          <a:p>
            <a:pPr>
              <a:lnSpc>
                <a:spcPct val="103000"/>
              </a:lnSpc>
              <a:spcAft>
                <a:spcPts val="300"/>
              </a:spcAft>
              <a:defRPr sz="819">
                <a:solidFill>
                  <a:srgbClr val="21242A"/>
                </a:solidFill>
                <a:latin typeface="Microsoft YaHei"/>
              </a:defRPr>
            </a:pPr>
            <a:r>
              <a:t>independent approach to pretreatment risk stratification in LBCL.</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基于预处理ctdna的dlbcl风险预测：非面板独立拷贝数分析克服了批间阈值变异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pretreatment ctdna-based risk prediction in dlbcl: panel-independent copy-num...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PF1089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001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EHA原文结果（中文字段未通过数字核对）（5/5）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Application of this computationally simple approach facilitates harmonisation of risk prediction without the requireme</a:t>
            </a:r>
          </a:p>
          <a:p>
            <a:pPr>
              <a:lnSpc>
                <a:spcPct val="103000"/>
              </a:lnSpc>
              <a:spcAft>
                <a:spcPts val="300"/>
              </a:spcAft>
              <a:defRPr sz="819">
                <a:solidFill>
                  <a:srgbClr val="21242A"/>
                </a:solidFill>
                <a:latin typeface="Microsoft YaHei"/>
              </a:defRPr>
            </a:pPr>
            <a:r>
              <a:t>nt for individual centres to standardise sequencing panels and variant calling pipelines.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弥漫性大b细胞淋巴瘤肠道微生物组代谢组动态变化的宏基因组学研究：基于患者健康同居者作为对照的队列分析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metagenomic study on the dynamic changes of gut microbiome-metabolome in diff...</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分组：组1：新诊断DLBCL患者</a:t>
            </a:r>
          </a:p>
          <a:p>
            <a:pPr>
              <a:lnSpc>
                <a:spcPct val="103000"/>
              </a:lnSpc>
              <a:spcAft>
                <a:spcPts val="300"/>
              </a:spcAft>
              <a:defRPr sz="800">
                <a:solidFill>
                  <a:srgbClr val="21242A"/>
                </a:solidFill>
                <a:latin typeface="Microsoft YaHei"/>
              </a:defRPr>
            </a:pPr>
            <a:r>
              <a:t>组2：完全缓解DLBCL患者</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多组/多方案比较：组1：新诊断DLBCL患者</a:t>
            </a:r>
          </a:p>
          <a:p>
            <a:pPr>
              <a:lnSpc>
                <a:spcPct val="103000"/>
              </a:lnSpc>
              <a:spcAft>
                <a:spcPts val="300"/>
              </a:spcAft>
              <a:defRPr sz="800">
                <a:solidFill>
                  <a:srgbClr val="21242A"/>
                </a:solidFill>
                <a:latin typeface="Microsoft YaHei"/>
              </a:defRPr>
            </a:pPr>
            <a:r>
              <a:t>组2：完全缓解DLBCL患者</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肠道微生物多样性：新诊断患者显著降低（更少的独有基因，受损的稳定性）</a:t>
            </a:r>
          </a:p>
          <a:p>
            <a:pPr>
              <a:lnSpc>
                <a:spcPct val="103000"/>
              </a:lnSpc>
              <a:spcAft>
                <a:spcPts val="300"/>
              </a:spcAft>
              <a:defRPr sz="800">
                <a:solidFill>
                  <a:srgbClr val="21242A"/>
                </a:solidFill>
                <a:latin typeface="Microsoft YaHei"/>
              </a:defRPr>
            </a:pPr>
            <a:r>
              <a:t>核心菌群失调：新诊断患者拟杆菌门相对丰度升高（46.3%），厚壁菌门及其衍生分类群减少（Clostridia, Clostri...</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人数：9</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分组/治疗流程：组1：新诊断DLBCL患者、组2：完全缓解DLBCL患者、组3：健康同居者</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弥漫性大b细胞淋巴瘤肠道微生物组代谢组动态变化的宏基因组学研究：基于患者健康同居者作为对照的队列分析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metagenomic study on the dynamic changes of gut microbiome-metabolome in diff...</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451713">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451713">
                <a:tc>
                  <a:txBody>
                    <a:bodyPr wrap="square" lIns="36576" rIns="36576" tIns="18288" bIns="18288"/>
                    <a:lstStyle/>
                    <a:p>
                      <a:r>
                        <a:rPr sz="720" b="1">
                          <a:solidFill>
                            <a:srgbClr val="21242A"/>
                          </a:solidFill>
                          <a:latin typeface="Microsoft YaHei"/>
                        </a:rPr>
                        <a:t>肠道微生物多样性</a:t>
                      </a:r>
                    </a:p>
                  </a:txBody>
                  <a:tcPr>
                    <a:solidFill>
                      <a:srgbClr val="F6F8FB"/>
                    </a:solidFill>
                  </a:tcPr>
                </a:tc>
                <a:tc>
                  <a:txBody>
                    <a:bodyPr wrap="square" lIns="36576" rIns="36576" tIns="18288" bIns="18288"/>
                    <a:lstStyle/>
                    <a:p>
                      <a:r>
                        <a:rPr sz="720" b="0">
                          <a:solidFill>
                            <a:srgbClr val="21242A"/>
                          </a:solidFill>
                          <a:latin typeface="Microsoft YaHei"/>
                        </a:rPr>
                        <a:t>新诊断患者显著降低（更少的独有基因，受损的稳定性）</a:t>
                      </a:r>
                    </a:p>
                  </a:txBody>
                  <a:tcPr>
                    <a:solidFill>
                      <a:srgbClr val="F6F8FB"/>
                    </a:solidFill>
                  </a:tcPr>
                </a:tc>
              </a:tr>
              <a:tr h="451713">
                <a:tc>
                  <a:txBody>
                    <a:bodyPr wrap="square" lIns="36576" rIns="36576" tIns="18288" bIns="18288"/>
                    <a:lstStyle/>
                    <a:p>
                      <a:r>
                        <a:rPr sz="720" b="1">
                          <a:solidFill>
                            <a:srgbClr val="21242A"/>
                          </a:solidFill>
                          <a:latin typeface="Microsoft YaHei"/>
                        </a:rPr>
                        <a:t>核心菌群失调</a:t>
                      </a:r>
                    </a:p>
                  </a:txBody>
                  <a:tcPr>
                    <a:solidFill>
                      <a:srgbClr val="FFFFFF"/>
                    </a:solidFill>
                  </a:tcPr>
                </a:tc>
                <a:tc>
                  <a:txBody>
                    <a:bodyPr wrap="square" lIns="36576" rIns="36576" tIns="18288" bIns="18288"/>
                    <a:lstStyle/>
                    <a:p>
                      <a:r>
                        <a:rPr sz="720" b="0">
                          <a:solidFill>
                            <a:srgbClr val="21242A"/>
                          </a:solidFill>
                          <a:latin typeface="Microsoft YaHei"/>
                        </a:rPr>
                        <a:t>新诊断患者拟杆菌门相对丰度升高（46.3%），厚壁菌门及其衍生分类群减少（Clostridia, Clostridiales, Lachnospiraceae, Eubacteriaceae）</a:t>
                      </a:r>
                    </a:p>
                  </a:txBody>
                  <a:tcPr>
                    <a:solidFill>
                      <a:srgbClr val="FFFFFF"/>
                    </a:solidFill>
                  </a:tcPr>
                </a:tc>
              </a:tr>
              <a:tr h="451713">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有益产短链脂肪酸菌属（Blautia, Roseburia, Ruminococcus）减少，厚壁菌门/拟杆菌门比值降低——这些在完全缓解后恢复</a:t>
                      </a:r>
                    </a:p>
                  </a:txBody>
                  <a:tcPr>
                    <a:solidFill>
                      <a:srgbClr val="F6F8FB"/>
                    </a:solidFill>
                  </a:tcPr>
                </a:tc>
              </a:tr>
              <a:tr h="451716">
                <a:tc>
                  <a:txBody>
                    <a:bodyPr wrap="square" lIns="36576" rIns="36576" tIns="18288" bIns="18288"/>
                    <a:lstStyle/>
                    <a:p>
                      <a:r>
                        <a:rPr sz="720" b="1">
                          <a:solidFill>
                            <a:srgbClr val="21242A"/>
                          </a:solidFill>
                          <a:latin typeface="Microsoft YaHei"/>
                        </a:rPr>
                        <a:t>代谢通路</a:t>
                      </a:r>
                    </a:p>
                  </a:txBody>
                  <a:tcPr>
                    <a:solidFill>
                      <a:srgbClr val="FFFFFF"/>
                    </a:solidFill>
                  </a:tcPr>
                </a:tc>
                <a:tc>
                  <a:txBody>
                    <a:bodyPr wrap="square" lIns="36576" rIns="36576" tIns="18288" bIns="18288"/>
                    <a:lstStyle/>
                    <a:p>
                      <a:r>
                        <a:rPr sz="720" b="0">
                          <a:solidFill>
                            <a:srgbClr val="21242A"/>
                          </a:solidFill>
                          <a:latin typeface="Microsoft YaHei"/>
                        </a:rPr>
                        <a:t>新诊断患者中功能K06147（细菌ATP结合盒B亚家族）降低，功能K03088（RNA聚合酶sigma-70因子ECF亚家族）和K21572（淀粉结合外膜蛋白SusD/RagB家族）升高</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摘要号：PF1025</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前瞻性研究：亚洲、欧洲和美国dlbcl患者静脉血栓栓塞风险模型分层的国际现实队列研究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predic-to study: an international, real-world cohort study of venous thro...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N=1504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回顾性临床研究结果：the predic-to study: an international, real-world coh...</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VTE发生率：14.6%（219/1504）</a:t>
            </a:r>
          </a:p>
          <a:p>
            <a:pPr>
              <a:lnSpc>
                <a:spcPct val="103000"/>
              </a:lnSpc>
              <a:spcAft>
                <a:spcPts val="300"/>
              </a:spcAft>
              <a:defRPr sz="800">
                <a:solidFill>
                  <a:srgbClr val="21242A"/>
                </a:solidFill>
                <a:latin typeface="Microsoft YaHei"/>
              </a:defRPr>
            </a:pPr>
            <a:r>
              <a:t>1年累积发病率：3.3%（95% CI 2.4-4.2）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人数：1504</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登记号：NCT06694779</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研究主题：the predic-to study: an international, real-world cohort study of venous thromboembolism risk model stratification in d...</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前瞻性研究：亚洲、欧洲和美国dlbcl患者静脉血栓栓塞风险模型分层的国际现实队列研究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predic-to study: an international, real-world cohort study of venous thro...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EHA原文结果（中文字段未通过数字核对）（1/4）</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VTE occurred in 219/1504 patients (14.6%), with a 1-year cumulative incidence of 3.3% (95% CI 2.4–4.2).</a:t>
            </a:r>
          </a:p>
          <a:p>
            <a:pPr>
              <a:lnSpc>
                <a:spcPct val="103000"/>
              </a:lnSpc>
              <a:spcAft>
                <a:spcPts val="300"/>
              </a:spcAft>
              <a:defRPr sz="819">
                <a:solidFill>
                  <a:srgbClr val="21242A"/>
                </a:solidFill>
                <a:latin typeface="Microsoft YaHei"/>
              </a:defRPr>
            </a:pPr>
            <a:r>
              <a:t>Median time to VTE was 72 days, confirming the early clustering of thrombotic events.</a:t>
            </a:r>
          </a:p>
          <a:p>
            <a:pPr>
              <a:lnSpc>
                <a:spcPct val="103000"/>
              </a:lnSpc>
              <a:spcAft>
                <a:spcPts val="300"/>
              </a:spcAft>
              <a:defRPr sz="819">
                <a:solidFill>
                  <a:srgbClr val="21242A"/>
                </a:solidFill>
                <a:latin typeface="Microsoft YaHei"/>
              </a:defRPr>
            </a:pPr>
            <a:r>
              <a:t>VTE independently predicts inferior OS (38.5 vs 172.3 months).</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摘要号：PF1002</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前瞻性研究：亚洲、欧洲和美国dlbcl患者静脉血栓栓塞风险模型分层的国际现实队列研究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predic-to study: an international, real-world cohort study of venous thro...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In univariate analysis, hemoglobin (hb) level, leukocytosis, hypoalbuminemia, body mass index (BMI) &gt; 30, bulky diseas</a:t>
            </a:r>
          </a:p>
          <a:p>
            <a:pPr>
              <a:lnSpc>
                <a:spcPct val="103000"/>
              </a:lnSpc>
              <a:spcAft>
                <a:spcPts val="300"/>
              </a:spcAft>
              <a:defRPr sz="819">
                <a:solidFill>
                  <a:srgbClr val="21242A"/>
                </a:solidFill>
                <a:latin typeface="Microsoft YaHei"/>
              </a:defRPr>
            </a:pPr>
            <a:r>
              <a:t>e, and deep vein compression, were significantly associated with increased VTE risk (p 30 (96.6%), hb level (92.8%), n</a:t>
            </a:r>
          </a:p>
          <a:p>
            <a:pPr>
              <a:lnSpc>
                <a:spcPct val="103000"/>
              </a:lnSpc>
              <a:spcAft>
                <a:spcPts val="300"/>
              </a:spcAft>
              <a:defRPr sz="819">
                <a:solidFill>
                  <a:srgbClr val="21242A"/>
                </a:solidFill>
                <a:latin typeface="Microsoft YaHei"/>
              </a:defRPr>
            </a:pPr>
            <a:r>
              <a:t>eutrophil count (77.9%), and R-IPI (65.8%), while higher albumin levels showed a consistent protective association (96</a:t>
            </a:r>
          </a:p>
          <a:p>
            <a:pPr>
              <a:lnSpc>
                <a:spcPct val="103000"/>
              </a:lnSpc>
              <a:spcAft>
                <a:spcPts val="300"/>
              </a:spcAft>
              <a:defRPr sz="819">
                <a:solidFill>
                  <a:srgbClr val="21242A"/>
                </a:solidFill>
                <a:latin typeface="Microsoft YaHei"/>
              </a:defRPr>
            </a:pPr>
            <a:r>
              <a:t>.1% negative selection).</a:t>
            </a:r>
          </a:p>
          <a:p>
            <a:pPr>
              <a:lnSpc>
                <a:spcPct val="103000"/>
              </a:lnSpc>
              <a:spcAft>
                <a:spcPts val="300"/>
              </a:spcAft>
              <a:defRPr sz="819">
                <a:solidFill>
                  <a:srgbClr val="21242A"/>
                </a:solidFill>
                <a:latin typeface="Microsoft YaHei"/>
              </a:defRPr>
            </a:pPr>
            <a:r>
              <a:t>These findings suggest residual multidimensional risk information in our cohort, not fully captured by the composite M</a:t>
            </a:r>
          </a:p>
          <a:p>
            <a:pPr>
              <a:lnSpc>
                <a:spcPct val="103000"/>
              </a:lnSpc>
              <a:spcAft>
                <a:spcPts val="300"/>
              </a:spcAft>
              <a:defRPr sz="819">
                <a:solidFill>
                  <a:srgbClr val="21242A"/>
                </a:solidFill>
                <a:latin typeface="Microsoft YaHei"/>
              </a:defRPr>
            </a:pPr>
            <a:r>
              <a:t>odel IX weighting.</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前瞻性研究：亚洲、欧洲和美国dlbcl患者静脉血栓栓塞风险模型分层的国际现实队列研究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predic-to study: an international, real-world cohort study of venous thro...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Regarding OS prediction, Model IX again showed superior performance (c-index 0.67, 95% CI 0.65–0.69), outperforming Th</a:t>
            </a:r>
          </a:p>
          <a:p>
            <a:pPr>
              <a:lnSpc>
                <a:spcPct val="103000"/>
              </a:lnSpc>
              <a:spcAft>
                <a:spcPts val="300"/>
              </a:spcAft>
              <a:defRPr sz="819">
                <a:solidFill>
                  <a:srgbClr val="21242A"/>
                </a:solidFill>
                <a:latin typeface="Microsoft YaHei"/>
              </a:defRPr>
            </a:pPr>
            <a:r>
              <a:t>roLy, R-IPI, and Khorana.</a:t>
            </a:r>
          </a:p>
          <a:p>
            <a:pPr>
              <a:lnSpc>
                <a:spcPct val="103000"/>
              </a:lnSpc>
              <a:spcAft>
                <a:spcPts val="300"/>
              </a:spcAft>
              <a:defRPr sz="819">
                <a:solidFill>
                  <a:srgbClr val="21242A"/>
                </a:solidFill>
                <a:latin typeface="Microsoft YaHei"/>
              </a:defRPr>
            </a:pPr>
            <a:r>
              <a:t>While R-IPI retained strong prognostic value for survival, its discriminatory ability for VTE was limited (see Tab.</a:t>
            </a:r>
          </a:p>
          <a:p>
            <a:pPr>
              <a:lnSpc>
                <a:spcPct val="103000"/>
              </a:lnSpc>
              <a:spcAft>
                <a:spcPts val="300"/>
              </a:spcAft>
              <a:defRPr sz="819">
                <a:solidFill>
                  <a:srgbClr val="21242A"/>
                </a:solidFill>
                <a:latin typeface="Microsoft YaHei"/>
              </a:defRPr>
            </a:pPr>
            <a:r>
              <a:t>1).</a:t>
            </a:r>
          </a:p>
          <a:p>
            <a:pPr>
              <a:lnSpc>
                <a:spcPct val="103000"/>
              </a:lnSpc>
              <a:spcAft>
                <a:spcPts val="300"/>
              </a:spcAft>
              <a:defRPr sz="819">
                <a:solidFill>
                  <a:srgbClr val="21242A"/>
                </a:solidFill>
                <a:latin typeface="Microsoft YaHei"/>
              </a:defRPr>
            </a:pPr>
            <a:r>
              <a:t>Conversely, VTE-oriented models, particularly Model IX, captured prognostic information relevant to both thrombotic ri</a:t>
            </a:r>
          </a:p>
          <a:p>
            <a:pPr>
              <a:lnSpc>
                <a:spcPct val="103000"/>
              </a:lnSpc>
              <a:spcAft>
                <a:spcPts val="300"/>
              </a:spcAft>
              <a:defRPr sz="819">
                <a:solidFill>
                  <a:srgbClr val="21242A"/>
                </a:solidFill>
                <a:latin typeface="Microsoft YaHei"/>
              </a:defRPr>
            </a:pPr>
            <a:r>
              <a:t>sk and survival, highlighting a partial biological overlap between disease aggressiveness and thrombotic propensity.</a:t>
            </a:r>
          </a:p>
          <a:p>
            <a:pPr>
              <a:lnSpc>
                <a:spcPct val="103000"/>
              </a:lnSpc>
              <a:spcAft>
                <a:spcPts val="300"/>
              </a:spcAft>
              <a:defRPr sz="819">
                <a:solidFill>
                  <a:srgbClr val="21242A"/>
                </a:solidFill>
                <a:latin typeface="Microsoft YaHei"/>
              </a:defRPr>
            </a:pPr>
            <a:r>
              <a:t>Summary/Conclusion: VTE is a frequent early complication in DLBCL and is associated with inferior survival.</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前瞻性研究：亚洲、欧洲和美国dlbcl患者静脉血栓栓塞风险模型分层的国际现实队列研究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predic-to study: an international, real-world cohort study of venous thro...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0109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Model IX showed the best discrimination for VTE and outperformed the other models for OS, supporting its role as the m</a:t>
            </a:r>
          </a:p>
          <a:p>
            <a:pPr>
              <a:lnSpc>
                <a:spcPct val="103000"/>
              </a:lnSpc>
              <a:spcAft>
                <a:spcPts val="300"/>
              </a:spcAft>
              <a:defRPr sz="819">
                <a:solidFill>
                  <a:srgbClr val="21242A"/>
                </a:solidFill>
                <a:latin typeface="Microsoft YaHei"/>
              </a:defRPr>
            </a:pPr>
            <a:r>
              <a:t>ost informative risk stratification tool in this setting.</a:t>
            </a:r>
          </a:p>
          <a:p>
            <a:pPr>
              <a:lnSpc>
                <a:spcPct val="103000"/>
              </a:lnSpc>
              <a:spcAft>
                <a:spcPts val="300"/>
              </a:spcAft>
              <a:defRPr sz="819">
                <a:solidFill>
                  <a:srgbClr val="21242A"/>
                </a:solidFill>
                <a:latin typeface="Microsoft YaHei"/>
              </a:defRPr>
            </a:pPr>
            <a:r>
              <a:t>* PC, CGP and IC contributed equally</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polatuzumab vedotin联合利妥昔单抗、异环磷酰胺、卡铂、依托泊苷（pola-r-ice）与r-ice作...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polatuzumab vedotin plus rituximab, ifosfamide, carboplatin, etoposide (pola-...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S237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弥漫性大B细胞淋巴瘤，原发纵隔大B细胞淋巴瘤</a:t>
            </a:r>
          </a:p>
          <a:p>
            <a:pPr>
              <a:lnSpc>
                <a:spcPct val="103000"/>
              </a:lnSpc>
              <a:spcAft>
                <a:spcPts val="300"/>
              </a:spcAft>
              <a:defRPr sz="800">
                <a:solidFill>
                  <a:srgbClr val="21242A"/>
                </a:solidFill>
                <a:latin typeface="Microsoft YaHei"/>
              </a:defRPr>
            </a:pPr>
            <a:r>
              <a:t>N=294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靶点：CD79B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对照/比较：试验组：polatuzumab vedotin，rituximab，ifosfamide，carboplatin，...</a:t>
            </a:r>
          </a:p>
          <a:p>
            <a:pPr>
              <a:lnSpc>
                <a:spcPct val="103000"/>
              </a:lnSpc>
              <a:spcAft>
                <a:spcPts val="300"/>
              </a:spcAft>
              <a:defRPr sz="800">
                <a:solidFill>
                  <a:srgbClr val="21242A"/>
                </a:solidFill>
                <a:latin typeface="Microsoft YaHei"/>
              </a:defRPr>
            </a:pPr>
            <a:r>
              <a:t>对照组：rituximab，ifosfamide，carboplatin，etoposide</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2年EFS: 26% vs 30%, HR=1.0, p=0.901</a:t>
            </a:r>
          </a:p>
          <a:p>
            <a:pPr>
              <a:lnSpc>
                <a:spcPct val="103000"/>
              </a:lnSpc>
              <a:spcAft>
                <a:spcPts val="300"/>
              </a:spcAft>
              <a:defRPr sz="800">
                <a:solidFill>
                  <a:srgbClr val="21242A"/>
                </a:solidFill>
                <a:latin typeface="Microsoft YaHei"/>
              </a:defRPr>
            </a:pPr>
            <a:r>
              <a:t>2年PFS: 47% vs 41%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人数：294</a:t>
            </a:r>
          </a:p>
          <a:p>
            <a:pPr>
              <a:lnSpc>
                <a:spcPct val="103000"/>
              </a:lnSpc>
              <a:spcAft>
                <a:spcPts val="300"/>
              </a:spcAft>
              <a:defRPr sz="810">
                <a:solidFill>
                  <a:srgbClr val="21242A"/>
                </a:solidFill>
                <a:latin typeface="Microsoft YaHei"/>
              </a:defRPr>
            </a:pPr>
            <a:r>
              <a:t>适应症：弥漫性大B细胞淋巴瘤、原发纵隔大B细胞淋巴瘤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登记号：NCT04833114</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a:t>
            </a:r>
          </a:p>
          <a:p>
            <a:pPr>
              <a:lnSpc>
                <a:spcPct val="103000"/>
              </a:lnSpc>
              <a:spcAft>
                <a:spcPts val="300"/>
              </a:spcAft>
              <a:defRPr sz="810">
                <a:solidFill>
                  <a:srgbClr val="21242A"/>
                </a:solidFill>
                <a:latin typeface="Microsoft YaHei"/>
              </a:defRPr>
            </a:pPr>
            <a:r>
              <a:t>靶点：CD79B</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polatuzumab vedotin联合利妥昔单抗、异环磷酰胺、卡铂、依托泊苷（pola-r-ice）与r-ice作...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polatuzumab vedotin plus rituximab, ifosfamide, carboplatin, etoposide (pola-...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S237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2年EFS</a:t>
                      </a:r>
                    </a:p>
                  </a:txBody>
                  <a:tcPr>
                    <a:solidFill>
                      <a:srgbClr val="F6F8FB"/>
                    </a:solidFill>
                  </a:tcPr>
                </a:tc>
                <a:tc>
                  <a:txBody>
                    <a:bodyPr wrap="square" lIns="36576" rIns="36576" tIns="18288" bIns="18288"/>
                    <a:lstStyle/>
                    <a:p>
                      <a:r>
                        <a:rPr sz="720" b="0">
                          <a:solidFill>
                            <a:srgbClr val="21242A"/>
                          </a:solidFill>
                          <a:latin typeface="Microsoft YaHei"/>
                        </a:rPr>
                        <a:t>26% vs 30%, HR=1.0, p=0.901</a:t>
                      </a:r>
                    </a:p>
                  </a:txBody>
                  <a:tcPr>
                    <a:solidFill>
                      <a:srgbClr val="F6F8FB"/>
                    </a:solidFill>
                  </a:tcPr>
                </a:tc>
              </a:tr>
              <a:tr h="282321">
                <a:tc>
                  <a:txBody>
                    <a:bodyPr wrap="square" lIns="36576" rIns="36576" tIns="18288" bIns="18288"/>
                    <a:lstStyle/>
                    <a:p>
                      <a:r>
                        <a:rPr sz="720" b="1">
                          <a:solidFill>
                            <a:srgbClr val="21242A"/>
                          </a:solidFill>
                          <a:latin typeface="Microsoft YaHei"/>
                        </a:rPr>
                        <a:t>2年PFS</a:t>
                      </a:r>
                    </a:p>
                  </a:txBody>
                  <a:tcPr>
                    <a:solidFill>
                      <a:srgbClr val="FFFFFF"/>
                    </a:solidFill>
                  </a:tcPr>
                </a:tc>
                <a:tc>
                  <a:txBody>
                    <a:bodyPr wrap="square" lIns="36576" rIns="36576" tIns="18288" bIns="18288"/>
                    <a:lstStyle/>
                    <a:p>
                      <a:r>
                        <a:rPr sz="720" b="0">
                          <a:solidFill>
                            <a:srgbClr val="21242A"/>
                          </a:solidFill>
                          <a:latin typeface="Microsoft YaHei"/>
                        </a:rPr>
                        <a:t>47% vs 41%</a:t>
                      </a:r>
                    </a:p>
                  </a:txBody>
                  <a:tcPr>
                    <a:solidFill>
                      <a:srgbClr val="FFFFFF"/>
                    </a:solidFill>
                  </a:tcPr>
                </a:tc>
              </a:tr>
              <a:tr h="282321">
                <a:tc>
                  <a:txBody>
                    <a:bodyPr wrap="square" lIns="36576" rIns="36576" tIns="18288" bIns="18288"/>
                    <a:lstStyle/>
                    <a:p>
                      <a:r>
                        <a:rPr sz="720" b="1">
                          <a:solidFill>
                            <a:srgbClr val="21242A"/>
                          </a:solidFill>
                          <a:latin typeface="Microsoft YaHei"/>
                        </a:rPr>
                        <a:t>2年OS</a:t>
                      </a:r>
                    </a:p>
                  </a:txBody>
                  <a:tcPr>
                    <a:solidFill>
                      <a:srgbClr val="F6F8FB"/>
                    </a:solidFill>
                  </a:tcPr>
                </a:tc>
                <a:tc>
                  <a:txBody>
                    <a:bodyPr wrap="square" lIns="36576" rIns="36576" tIns="18288" bIns="18288"/>
                    <a:lstStyle/>
                    <a:p>
                      <a:r>
                        <a:rPr sz="720" b="0">
                          <a:solidFill>
                            <a:srgbClr val="21242A"/>
                          </a:solidFill>
                          <a:latin typeface="Microsoft YaHei"/>
                        </a:rPr>
                        <a:t>75% vs 64%</a:t>
                      </a:r>
                    </a:p>
                  </a:txBody>
                  <a:tcPr>
                    <a:solidFill>
                      <a:srgbClr val="F6F8FB"/>
                    </a:solidFill>
                  </a:tcPr>
                </a:tc>
              </a:tr>
              <a:tr h="282321">
                <a:tc>
                  <a:txBody>
                    <a:bodyPr wrap="square" lIns="36576" rIns="36576" tIns="18288" bIns="18288"/>
                    <a:lstStyle/>
                    <a:p>
                      <a:r>
                        <a:rPr sz="720" b="1">
                          <a:solidFill>
                            <a:srgbClr val="21242A"/>
                          </a:solidFill>
                          <a:latin typeface="Microsoft YaHei"/>
                        </a:rPr>
                        <a:t>DLBCL亚组2年PFS</a:t>
                      </a:r>
                    </a:p>
                  </a:txBody>
                  <a:tcPr>
                    <a:solidFill>
                      <a:srgbClr val="FFFFFF"/>
                    </a:solidFill>
                  </a:tcPr>
                </a:tc>
                <a:tc>
                  <a:txBody>
                    <a:bodyPr wrap="square" lIns="36576" rIns="36576" tIns="18288" bIns="18288"/>
                    <a:lstStyle/>
                    <a:p>
                      <a:r>
                        <a:rPr sz="720" b="0">
                          <a:solidFill>
                            <a:srgbClr val="21242A"/>
                          </a:solidFill>
                          <a:latin typeface="Microsoft YaHei"/>
                        </a:rPr>
                        <a:t>52% vs 42%, p=0.040</a:t>
                      </a:r>
                    </a:p>
                  </a:txBody>
                  <a:tcPr>
                    <a:solidFill>
                      <a:srgbClr val="FFFFFF"/>
                    </a:solidFill>
                  </a:tcPr>
                </a:tc>
              </a:tr>
              <a:tr h="282321">
                <a:tc>
                  <a:txBody>
                    <a:bodyPr wrap="square" lIns="36576" rIns="36576" tIns="18288" bIns="18288"/>
                    <a:lstStyle/>
                    <a:p>
                      <a:r>
                        <a:rPr sz="720" b="1">
                          <a:solidFill>
                            <a:srgbClr val="21242A"/>
                          </a:solidFill>
                          <a:latin typeface="Microsoft YaHei"/>
                        </a:rPr>
                        <a:t>DLBCL亚组2年OS</a:t>
                      </a:r>
                    </a:p>
                  </a:txBody>
                  <a:tcPr>
                    <a:solidFill>
                      <a:srgbClr val="F6F8FB"/>
                    </a:solidFill>
                  </a:tcPr>
                </a:tc>
                <a:tc>
                  <a:txBody>
                    <a:bodyPr wrap="square" lIns="36576" rIns="36576" tIns="18288" bIns="18288"/>
                    <a:lstStyle/>
                    <a:p>
                      <a:r>
                        <a:rPr sz="720" b="0">
                          <a:solidFill>
                            <a:srgbClr val="21242A"/>
                          </a:solidFill>
                          <a:latin typeface="Microsoft YaHei"/>
                        </a:rPr>
                        <a:t>77% vs 61%, p=0.033</a:t>
                      </a:r>
                    </a:p>
                  </a:txBody>
                  <a:tcPr>
                    <a:solidFill>
                      <a:srgbClr val="F6F8FB"/>
                    </a:solidFill>
                  </a:tcPr>
                </a:tc>
              </a:tr>
              <a:tr h="282321">
                <a:tc>
                  <a:txBody>
                    <a:bodyPr wrap="square" lIns="36576" rIns="36576" tIns="18288" bIns="18288"/>
                    <a:lstStyle/>
                    <a:p>
                      <a:r>
                        <a:rPr sz="720" b="1">
                          <a:solidFill>
                            <a:srgbClr val="21242A"/>
                          </a:solidFill>
                          <a:latin typeface="Microsoft YaHei"/>
                        </a:rPr>
                        <a:t>复发疾病亚组2年PFS</a:t>
                      </a:r>
                    </a:p>
                  </a:txBody>
                  <a:tcPr>
                    <a:solidFill>
                      <a:srgbClr val="FFFFFF"/>
                    </a:solidFill>
                  </a:tcPr>
                </a:tc>
                <a:tc>
                  <a:txBody>
                    <a:bodyPr wrap="square" lIns="36576" rIns="36576" tIns="18288" bIns="18288"/>
                    <a:lstStyle/>
                    <a:p>
                      <a:r>
                        <a:rPr sz="720" b="0">
                          <a:solidFill>
                            <a:srgbClr val="21242A"/>
                          </a:solidFill>
                          <a:latin typeface="Microsoft YaHei"/>
                        </a:rPr>
                        <a:t>66% vs 46%, p=0.004</a:t>
                      </a:r>
                    </a:p>
                  </a:txBody>
                  <a:tcPr>
                    <a:solidFill>
                      <a:srgbClr val="FFFFFF"/>
                    </a:solidFill>
                  </a:tcPr>
                </a:tc>
              </a:tr>
              <a:tr h="282321">
                <a:tc>
                  <a:txBody>
                    <a:bodyPr wrap="square" lIns="36576" rIns="36576" tIns="18288" bIns="18288"/>
                    <a:lstStyle/>
                    <a:p>
                      <a:r>
                        <a:rPr sz="720" b="1">
                          <a:solidFill>
                            <a:srgbClr val="21242A"/>
                          </a:solidFill>
                          <a:latin typeface="Microsoft YaHei"/>
                        </a:rPr>
                        <a:t>复发疾病亚组2年OS</a:t>
                      </a:r>
                    </a:p>
                  </a:txBody>
                  <a:tcPr>
                    <a:solidFill>
                      <a:srgbClr val="F6F8FB"/>
                    </a:solidFill>
                  </a:tcPr>
                </a:tc>
                <a:tc>
                  <a:txBody>
                    <a:bodyPr wrap="square" lIns="36576" rIns="36576" tIns="18288" bIns="18288"/>
                    <a:lstStyle/>
                    <a:p>
                      <a:r>
                        <a:rPr sz="720" b="0">
                          <a:solidFill>
                            <a:srgbClr val="21242A"/>
                          </a:solidFill>
                          <a:latin typeface="Microsoft YaHei"/>
                        </a:rPr>
                        <a:t>87% vs 71%, p=0.015</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疾病场景：PMBCL/特殊亚型</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摘要号：S237</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polatuzumab vedotin联合利妥昔单抗、异环磷酰胺、卡铂、依托泊苷（pola-r-ice）与r-ice作...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polatuzumab vedotin plus rituximab, ifosfamide, carboplatin, etoposide (pola-...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S237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59740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597408">
                <a:tc>
                  <a:txBody>
                    <a:bodyPr wrap="square" lIns="36576" rIns="36576" tIns="18288" bIns="18288"/>
                    <a:lstStyle/>
                    <a:p>
                      <a:r>
                        <a:rPr sz="720" b="1">
                          <a:solidFill>
                            <a:srgbClr val="21242A"/>
                          </a:solidFill>
                          <a:latin typeface="Microsoft YaHei"/>
                        </a:rPr>
                        <a:t>巨大肿块亚组2年PFS</a:t>
                      </a:r>
                    </a:p>
                  </a:txBody>
                  <a:tcPr>
                    <a:solidFill>
                      <a:srgbClr val="F6F8FB"/>
                    </a:solidFill>
                  </a:tcPr>
                </a:tc>
                <a:tc>
                  <a:txBody>
                    <a:bodyPr wrap="square" lIns="36576" rIns="36576" tIns="18288" bIns="18288"/>
                    <a:lstStyle/>
                    <a:p>
                      <a:r>
                        <a:rPr sz="720" b="0">
                          <a:solidFill>
                            <a:srgbClr val="21242A"/>
                          </a:solidFill>
                          <a:latin typeface="Microsoft YaHei"/>
                        </a:rPr>
                        <a:t>45% vs 23%, p=0.006</a:t>
                      </a:r>
                    </a:p>
                  </a:txBody>
                  <a:tcPr>
                    <a:solidFill>
                      <a:srgbClr val="F6F8FB"/>
                    </a:solidFill>
                  </a:tcPr>
                </a:tc>
              </a:tr>
              <a:tr h="597408">
                <a:tc>
                  <a:txBody>
                    <a:bodyPr wrap="square" lIns="36576" rIns="36576" tIns="18288" bIns="18288"/>
                    <a:lstStyle/>
                    <a:p>
                      <a:r>
                        <a:rPr sz="720" b="1">
                          <a:solidFill>
                            <a:srgbClr val="21242A"/>
                          </a:solidFill>
                          <a:latin typeface="Microsoft YaHei"/>
                        </a:rPr>
                        <a:t>巨大肿块亚组2年OS</a:t>
                      </a:r>
                    </a:p>
                  </a:txBody>
                  <a:tcPr>
                    <a:solidFill>
                      <a:srgbClr val="FFFFFF"/>
                    </a:solidFill>
                  </a:tcPr>
                </a:tc>
                <a:tc>
                  <a:txBody>
                    <a:bodyPr wrap="square" lIns="36576" rIns="36576" tIns="18288" bIns="18288"/>
                    <a:lstStyle/>
                    <a:p>
                      <a:r>
                        <a:rPr sz="720" b="0">
                          <a:solidFill>
                            <a:srgbClr val="21242A"/>
                          </a:solidFill>
                          <a:latin typeface="Microsoft YaHei"/>
                        </a:rPr>
                        <a:t>76% vs 39%, p=0.011</a:t>
                      </a:r>
                    </a:p>
                  </a:txBody>
                  <a:tcPr>
                    <a:solidFill>
                      <a:srgbClr val="FFFFFF"/>
                    </a:solidFill>
                  </a:tcPr>
                </a:tc>
              </a:tr>
              <a:tr h="597408">
                <a:tc>
                  <a:txBody>
                    <a:bodyPr wrap="square" lIns="36576" rIns="36576" tIns="18288" bIns="18288"/>
                    <a:lstStyle/>
                    <a:p>
                      <a:r>
                        <a:rPr sz="720" b="1">
                          <a:solidFill>
                            <a:srgbClr val="21242A"/>
                          </a:solidFill>
                          <a:latin typeface="Microsoft YaHei"/>
                        </a:rPr>
                        <a:t>高LDH亚组2年PFS</a:t>
                      </a:r>
                    </a:p>
                  </a:txBody>
                  <a:tcPr>
                    <a:solidFill>
                      <a:srgbClr val="F6F8FB"/>
                    </a:solidFill>
                  </a:tcPr>
                </a:tc>
                <a:tc>
                  <a:txBody>
                    <a:bodyPr wrap="square" lIns="36576" rIns="36576" tIns="18288" bIns="18288"/>
                    <a:lstStyle/>
                    <a:p>
                      <a:r>
                        <a:rPr sz="720" b="0">
                          <a:solidFill>
                            <a:srgbClr val="21242A"/>
                          </a:solidFill>
                          <a:latin typeface="Microsoft YaHei"/>
                        </a:rPr>
                        <a:t>44% vs 31%, p=0.034</a:t>
                      </a:r>
                    </a:p>
                  </a:txBody>
                  <a:tcPr>
                    <a:solidFill>
                      <a:srgbClr val="F6F8FB"/>
                    </a:solidFill>
                  </a:tcPr>
                </a:tc>
              </a:tr>
              <a:tr h="597408">
                <a:tc>
                  <a:txBody>
                    <a:bodyPr wrap="square" lIns="36576" rIns="36576" tIns="18288" bIns="18288"/>
                    <a:lstStyle/>
                    <a:p>
                      <a:r>
                        <a:rPr sz="720" b="1">
                          <a:solidFill>
                            <a:srgbClr val="21242A"/>
                          </a:solidFill>
                          <a:latin typeface="Microsoft YaHei"/>
                        </a:rPr>
                        <a:t>高LDH亚组2年OS</a:t>
                      </a:r>
                    </a:p>
                  </a:txBody>
                  <a:tcPr>
                    <a:solidFill>
                      <a:srgbClr val="FFFFFF"/>
                    </a:solidFill>
                  </a:tcPr>
                </a:tc>
                <a:tc>
                  <a:txBody>
                    <a:bodyPr wrap="square" lIns="36576" rIns="36576" tIns="18288" bIns="18288"/>
                    <a:lstStyle/>
                    <a:p>
                      <a:r>
                        <a:rPr sz="720" b="0">
                          <a:solidFill>
                            <a:srgbClr val="21242A"/>
                          </a:solidFill>
                          <a:latin typeface="Microsoft YaHei"/>
                        </a:rPr>
                        <a:t>67% vs 49%, p=0.036</a:t>
                      </a:r>
                    </a:p>
                  </a:txBody>
                  <a:tcPr>
                    <a:solidFill>
                      <a:srgbClr val="FFFFFF"/>
                    </a:solidFill>
                  </a:tcPr>
                </a:tc>
              </a:tr>
              <a:tr h="597408">
                <a:tc>
                  <a:txBody>
                    <a:bodyPr wrap="square" lIns="36576" rIns="36576" tIns="18288" bIns="18288"/>
                    <a:lstStyle/>
                    <a:p>
                      <a:r>
                        <a:rPr sz="720" b="1">
                          <a:solidFill>
                            <a:srgbClr val="21242A"/>
                          </a:solidFill>
                          <a:latin typeface="Microsoft YaHei"/>
                        </a:rPr>
                        <a:t>non-GCB亚组2年PFS</a:t>
                      </a:r>
                    </a:p>
                  </a:txBody>
                  <a:tcPr>
                    <a:solidFill>
                      <a:srgbClr val="F6F8FB"/>
                    </a:solidFill>
                  </a:tcPr>
                </a:tc>
                <a:tc>
                  <a:txBody>
                    <a:bodyPr wrap="square" lIns="36576" rIns="36576" tIns="18288" bIns="18288"/>
                    <a:lstStyle/>
                    <a:p>
                      <a:r>
                        <a:rPr sz="720" b="0">
                          <a:solidFill>
                            <a:srgbClr val="21242A"/>
                          </a:solidFill>
                          <a:latin typeface="Microsoft YaHei"/>
                        </a:rPr>
                        <a:t>54% vs 34%, p=0.040</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epcoritamab单药治疗持续缓解4年以上：复发或难治性大b细胞淋巴瘤患者关键epcore nhl-1试验的长期随...</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sustained remissions beyond 4 years with epcoritamab monotherapy: long-term f...</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54914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原发纵隔大B细胞淋巴瘤</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总缓解率（ORR）：59%（92/157）</a:t>
            </a:r>
          </a:p>
          <a:p>
            <a:pPr>
              <a:lnSpc>
                <a:spcPct val="103000"/>
              </a:lnSpc>
              <a:spcAft>
                <a:spcPts val="300"/>
              </a:spcAft>
              <a:defRPr sz="800">
                <a:solidFill>
                  <a:srgbClr val="21242A"/>
                </a:solidFill>
                <a:latin typeface="Microsoft YaHei"/>
              </a:defRPr>
            </a:pPr>
            <a:r>
              <a:t>完全缓解率（CR）：41%（65/157）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人数：157</a:t>
            </a:r>
          </a:p>
          <a:p>
            <a:pPr>
              <a:lnSpc>
                <a:spcPct val="103000"/>
              </a:lnSpc>
              <a:spcAft>
                <a:spcPts val="300"/>
              </a:spcAft>
              <a:defRPr sz="810">
                <a:solidFill>
                  <a:srgbClr val="21242A"/>
                </a:solidFill>
                <a:latin typeface="Microsoft YaHei"/>
              </a:defRPr>
            </a:pPr>
            <a:r>
              <a:t>适应症：弥漫性大B细胞淋巴瘤、原发纵隔大B细胞淋巴瘤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登记号：NCT03625037</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epcoritamab单药治疗持续缓解4年以上：复发或难治性大b细胞淋巴瘤患者关键epcore nhl-1试验的长期随...</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sustained remissions beyond 4 years with epcoritamab monotherapy: long-term f...</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54914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2265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22652">
                <a:tc>
                  <a:txBody>
                    <a:bodyPr wrap="square" lIns="36576" rIns="36576" tIns="18288" bIns="18288"/>
                    <a:lstStyle/>
                    <a:p>
                      <a:r>
                        <a:rPr sz="720" b="1">
                          <a:solidFill>
                            <a:srgbClr val="21242A"/>
                          </a:solidFill>
                          <a:latin typeface="Microsoft YaHei"/>
                        </a:rPr>
                        <a:t>总缓解率（ORR）</a:t>
                      </a:r>
                    </a:p>
                  </a:txBody>
                  <a:tcPr>
                    <a:solidFill>
                      <a:srgbClr val="F6F8FB"/>
                    </a:solidFill>
                  </a:tcPr>
                </a:tc>
                <a:tc>
                  <a:txBody>
                    <a:bodyPr wrap="square" lIns="36576" rIns="36576" tIns="18288" bIns="18288"/>
                    <a:lstStyle/>
                    <a:p>
                      <a:r>
                        <a:rPr sz="720" b="0">
                          <a:solidFill>
                            <a:srgbClr val="21242A"/>
                          </a:solidFill>
                          <a:latin typeface="Microsoft YaHei"/>
                        </a:rPr>
                        <a:t>59%（92/157）</a:t>
                      </a:r>
                    </a:p>
                  </a:txBody>
                  <a:tcPr>
                    <a:solidFill>
                      <a:srgbClr val="F6F8FB"/>
                    </a:solidFill>
                  </a:tcPr>
                </a:tc>
              </a:tr>
              <a:tr h="322652">
                <a:tc>
                  <a:txBody>
                    <a:bodyPr wrap="square" lIns="36576" rIns="36576" tIns="18288" bIns="18288"/>
                    <a:lstStyle/>
                    <a:p>
                      <a:r>
                        <a:rPr sz="720" b="1">
                          <a:solidFill>
                            <a:srgbClr val="21242A"/>
                          </a:solidFill>
                          <a:latin typeface="Microsoft YaHei"/>
                        </a:rPr>
                        <a:t>完全缓解率（CR）</a:t>
                      </a:r>
                    </a:p>
                  </a:txBody>
                  <a:tcPr>
                    <a:solidFill>
                      <a:srgbClr val="FFFFFF"/>
                    </a:solidFill>
                  </a:tcPr>
                </a:tc>
                <a:tc>
                  <a:txBody>
                    <a:bodyPr wrap="square" lIns="36576" rIns="36576" tIns="18288" bIns="18288"/>
                    <a:lstStyle/>
                    <a:p>
                      <a:r>
                        <a:rPr sz="720" b="0">
                          <a:solidFill>
                            <a:srgbClr val="21242A"/>
                          </a:solidFill>
                          <a:latin typeface="Microsoft YaHei"/>
                        </a:rPr>
                        <a:t>41%（65/157）</a:t>
                      </a:r>
                    </a:p>
                  </a:txBody>
                  <a:tcPr>
                    <a:solidFill>
                      <a:srgbClr val="FFFFFF"/>
                    </a:solidFill>
                  </a:tcPr>
                </a:tc>
              </a:tr>
              <a:tr h="322652">
                <a:tc>
                  <a:txBody>
                    <a:bodyPr wrap="square" lIns="36576" rIns="36576" tIns="18288" bIns="18288"/>
                    <a:lstStyle/>
                    <a:p>
                      <a:r>
                        <a:rPr sz="720" b="1">
                          <a:solidFill>
                            <a:srgbClr val="21242A"/>
                          </a:solidFill>
                          <a:latin typeface="Microsoft YaHei"/>
                        </a:rPr>
                        <a:t>中位完全缓解持续时间</a:t>
                      </a:r>
                    </a:p>
                  </a:txBody>
                  <a:tcPr>
                    <a:solidFill>
                      <a:srgbClr val="F6F8FB"/>
                    </a:solidFill>
                  </a:tcPr>
                </a:tc>
                <a:tc>
                  <a:txBody>
                    <a:bodyPr wrap="square" lIns="36576" rIns="36576" tIns="18288" bIns="18288"/>
                    <a:lstStyle/>
                    <a:p>
                      <a:r>
                        <a:rPr sz="720" b="0">
                          <a:solidFill>
                            <a:srgbClr val="21242A"/>
                          </a:solidFill>
                          <a:latin typeface="Microsoft YaHei"/>
                        </a:rPr>
                        <a:t>37.7个月（95% CI 25.1-NR）</a:t>
                      </a:r>
                    </a:p>
                  </a:txBody>
                  <a:tcPr>
                    <a:solidFill>
                      <a:srgbClr val="F6F8FB"/>
                    </a:solidFill>
                  </a:tcPr>
                </a:tc>
              </a:tr>
              <a:tr h="322652">
                <a:tc>
                  <a:txBody>
                    <a:bodyPr wrap="square" lIns="36576" rIns="36576" tIns="18288" bIns="18288"/>
                    <a:lstStyle/>
                    <a:p>
                      <a:r>
                        <a:rPr sz="720" b="1">
                          <a:solidFill>
                            <a:srgbClr val="21242A"/>
                          </a:solidFill>
                          <a:latin typeface="Microsoft YaHei"/>
                        </a:rPr>
                        <a:t>最长持续完全缓解</a:t>
                      </a:r>
                    </a:p>
                  </a:txBody>
                  <a:tcPr>
                    <a:solidFill>
                      <a:srgbClr val="FFFFFF"/>
                    </a:solidFill>
                  </a:tcPr>
                </a:tc>
                <a:tc>
                  <a:txBody>
                    <a:bodyPr wrap="square" lIns="36576" rIns="36576" tIns="18288" bIns="18288"/>
                    <a:lstStyle/>
                    <a:p>
                      <a:r>
                        <a:rPr sz="720" b="0">
                          <a:solidFill>
                            <a:srgbClr val="21242A"/>
                          </a:solidFill>
                          <a:latin typeface="Microsoft YaHei"/>
                        </a:rPr>
                        <a:t>54.5个月</a:t>
                      </a:r>
                    </a:p>
                  </a:txBody>
                  <a:tcPr>
                    <a:solidFill>
                      <a:srgbClr val="FFFFFF"/>
                    </a:solidFill>
                  </a:tcPr>
                </a:tc>
              </a:tr>
              <a:tr h="322652">
                <a:tc>
                  <a:txBody>
                    <a:bodyPr wrap="square" lIns="36576" rIns="36576" tIns="18288" bIns="18288"/>
                    <a:lstStyle/>
                    <a:p>
                      <a:r>
                        <a:rPr sz="720" b="1">
                          <a:solidFill>
                            <a:srgbClr val="21242A"/>
                          </a:solidFill>
                          <a:latin typeface="Microsoft YaHei"/>
                        </a:rPr>
                        <a:t>中位总生存期（OS）</a:t>
                      </a:r>
                    </a:p>
                  </a:txBody>
                  <a:tcPr>
                    <a:solidFill>
                      <a:srgbClr val="F6F8FB"/>
                    </a:solidFill>
                  </a:tcPr>
                </a:tc>
                <a:tc>
                  <a:txBody>
                    <a:bodyPr wrap="square" lIns="36576" rIns="36576" tIns="18288" bIns="18288"/>
                    <a:lstStyle/>
                    <a:p>
                      <a:r>
                        <a:rPr sz="720" b="0">
                          <a:solidFill>
                            <a:srgbClr val="21242A"/>
                          </a:solidFill>
                          <a:latin typeface="Microsoft YaHei"/>
                        </a:rPr>
                        <a:t>18.5个月（95% CI 11.7-27.7）</a:t>
                      </a:r>
                    </a:p>
                  </a:txBody>
                  <a:tcPr>
                    <a:solidFill>
                      <a:srgbClr val="F6F8FB"/>
                    </a:solidFill>
                  </a:tcPr>
                </a:tc>
              </a:tr>
              <a:tr h="322656">
                <a:tc>
                  <a:txBody>
                    <a:bodyPr wrap="square" lIns="36576" rIns="36576" tIns="18288" bIns="18288"/>
                    <a:lstStyle/>
                    <a:p>
                      <a:r>
                        <a:rPr sz="720" b="1">
                          <a:solidFill>
                            <a:srgbClr val="21242A"/>
                          </a:solidFill>
                          <a:latin typeface="Microsoft YaHei"/>
                        </a:rPr>
                        <a:t>4年总生存率</a:t>
                      </a:r>
                    </a:p>
                  </a:txBody>
                  <a:tcPr>
                    <a:solidFill>
                      <a:srgbClr val="FFFFFF"/>
                    </a:solidFill>
                  </a:tcPr>
                </a:tc>
                <a:tc>
                  <a:txBody>
                    <a:bodyPr wrap="square" lIns="36576" rIns="36576" tIns="18288" bIns="18288"/>
                    <a:lstStyle/>
                    <a:p>
                      <a:r>
                        <a:rPr sz="720" b="0">
                          <a:solidFill>
                            <a:srgbClr val="21242A"/>
                          </a:solidFill>
                          <a:latin typeface="Microsoft YaHei"/>
                        </a:rPr>
                        <a:t>全部患者32%，CR患者57%</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疾病场景：PMBCL/特殊亚型</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摘要号：PF977</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双靶向cd19/cd20 car t细胞候选产物rondecabtagene自溶素治疗大b细胞淋巴瘤患者的低级别crs...</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low-grade crs and icans with rondecabtagene autoleucel, a dual-targeting cd19...</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弥漫性大B细胞淋巴瘤，原发纵隔大B细胞淋巴瘤，大B细胞淋巴瘤</a:t>
            </a:r>
          </a:p>
          <a:p>
            <a:pPr>
              <a:lnSpc>
                <a:spcPct val="103000"/>
              </a:lnSpc>
              <a:spcAft>
                <a:spcPts val="300"/>
              </a:spcAft>
              <a:defRPr sz="800">
                <a:solidFill>
                  <a:srgbClr val="21242A"/>
                </a:solidFill>
                <a:latin typeface="Microsoft YaHei"/>
              </a:defRPr>
            </a:pPr>
            <a:r>
              <a:t>原发纵隔大B细胞淋巴瘤，弥漫性大B细胞淋巴瘤</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试验药/方案：朗迪卡基奥仑赛</a:t>
            </a:r>
          </a:p>
          <a:p>
            <a:pPr>
              <a:lnSpc>
                <a:spcPct val="103000"/>
              </a:lnSpc>
              <a:spcAft>
                <a:spcPts val="300"/>
              </a:spcAft>
              <a:defRPr sz="800">
                <a:solidFill>
                  <a:srgbClr val="21242A"/>
                </a:solidFill>
                <a:latin typeface="Microsoft YaHei"/>
              </a:defRPr>
            </a:pPr>
            <a:r>
              <a:t>靶点：CD19，CD20</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CRS 1-2级发生率60%（1级36%，2级24%），无≥3级</a:t>
            </a:r>
          </a:p>
          <a:p>
            <a:pPr>
              <a:lnSpc>
                <a:spcPct val="103000"/>
              </a:lnSpc>
              <a:spcAft>
                <a:spcPts val="300"/>
              </a:spcAft>
              <a:defRPr sz="800">
                <a:solidFill>
                  <a:srgbClr val="21242A"/>
                </a:solidFill>
                <a:latin typeface="Microsoft YaHei"/>
              </a:defRPr>
            </a:pPr>
            <a:r>
              <a:t>CRS中位起病时间5天，中位缓解时间3天</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人数：84</a:t>
            </a:r>
          </a:p>
          <a:p>
            <a:pPr>
              <a:lnSpc>
                <a:spcPct val="103000"/>
              </a:lnSpc>
              <a:spcAft>
                <a:spcPts val="300"/>
              </a:spcAft>
              <a:defRPr sz="810">
                <a:solidFill>
                  <a:srgbClr val="21242A"/>
                </a:solidFill>
                <a:latin typeface="Microsoft YaHei"/>
              </a:defRPr>
            </a:pPr>
            <a:r>
              <a:t>适应症：弥漫性大B细胞淋巴瘤、原发纵隔大B细胞淋巴瘤、大B细胞淋巴瘤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登记号：NCT05826535</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试验药/方案：朗迪卡基奥仑赛</a:t>
            </a:r>
          </a:p>
          <a:p>
            <a:pPr>
              <a:lnSpc>
                <a:spcPct val="103000"/>
              </a:lnSpc>
              <a:spcAft>
                <a:spcPts val="300"/>
              </a:spcAft>
              <a:defRPr sz="810">
                <a:solidFill>
                  <a:srgbClr val="21242A"/>
                </a:solidFill>
                <a:latin typeface="Microsoft YaHei"/>
              </a:defRPr>
            </a:pPr>
            <a:r>
              <a:t>靶点：CD19、CD20</a:t>
            </a:r>
          </a:p>
          <a:p>
            <a:pPr>
              <a:lnSpc>
                <a:spcPct val="103000"/>
              </a:lnSpc>
              <a:spcAft>
                <a:spcPts val="300"/>
              </a:spcAft>
              <a:defRPr sz="810">
                <a:solidFill>
                  <a:srgbClr val="21242A"/>
                </a:solidFill>
                <a:latin typeface="Microsoft YaHei"/>
              </a:defRPr>
            </a:pPr>
            <a:r>
              <a:t>药物/技术类别：CAR-T、自体细胞、经基因修饰</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双靶向cd19/cd20 car t细胞候选产物rondecabtagene自溶素治疗大b细胞淋巴瘤患者的低级别crs...</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low-grade crs and icans with rondecabtagene autoleucel, a dual-targeting cd19...</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CRS 1-2级发生率60%（1级36%，2级24%），无≥3级；CRS中位起病时间5天，中位缓解时间3天；托珠单抗使用率35%；ICANS 1-2级发生率11%（1级8%，2级2%）；≥3级ICANS在地塞米松预防组3% vs 未预防</a:t>
            </a:r>
          </a:p>
          <a:p>
            <a:pPr>
              <a:lnSpc>
                <a:spcPct val="103000"/>
              </a:lnSpc>
              <a:spcAft>
                <a:spcPts val="300"/>
              </a:spcAft>
              <a:defRPr sz="819">
                <a:solidFill>
                  <a:srgbClr val="21242A"/>
                </a:solidFill>
                <a:latin typeface="Microsoft YaHei"/>
              </a:defRPr>
            </a:pPr>
            <a:r>
              <a:t>组13%；ICANS中位起病时间7天（预防组），中位缓解时间3天；≥3级感染发生率10%；持续血细胞减少（≥3级且第28天未恢复）23%；无归因于ronde-cel的死亡</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疾病场景：PMBCL/特殊亚型</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摘要号：PF962</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ctdna引导下axi-cel早期二次输注治疗复发/难治性大b细胞淋巴瘤的前瞻性单臂临床研究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prospective, single-arm clinical study of ctdna-guided early second infusio...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PF1248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54914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弥漫性大B细胞淋巴瘤，原发纵隔大B细胞淋巴瘤</a:t>
            </a:r>
          </a:p>
          <a:p>
            <a:pPr>
              <a:lnSpc>
                <a:spcPct val="103000"/>
              </a:lnSpc>
              <a:spcAft>
                <a:spcPts val="300"/>
              </a:spcAft>
              <a:defRPr sz="800">
                <a:solidFill>
                  <a:srgbClr val="21242A"/>
                </a:solidFill>
                <a:latin typeface="Microsoft YaHei"/>
              </a:defRPr>
            </a:pPr>
            <a:r>
              <a:t>N=7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疗效：在第二次输注前CR但ctDNA阳性的4例患者中，2例在输注后1个月达到ctDNA阴性CR并保持缓解（396天和257天）...</a:t>
            </a:r>
          </a:p>
          <a:p>
            <a:pPr>
              <a:lnSpc>
                <a:spcPct val="103000"/>
              </a:lnSpc>
              <a:spcAft>
                <a:spcPts val="300"/>
              </a:spcAft>
              <a:defRPr sz="800">
                <a:solidFill>
                  <a:srgbClr val="21242A"/>
                </a:solidFill>
                <a:latin typeface="Microsoft YaHei"/>
              </a:defRPr>
            </a:pPr>
            <a:r>
              <a:t>在第二次输注前PR的3例患者中，1例ctDNA阴性PR维持1个月（3个月评估待定），2例ctDNA阳性PR早期疾病进展。</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人数：7</a:t>
            </a:r>
          </a:p>
          <a:p>
            <a:pPr>
              <a:lnSpc>
                <a:spcPct val="103000"/>
              </a:lnSpc>
              <a:spcAft>
                <a:spcPts val="300"/>
              </a:spcAft>
              <a:defRPr sz="810">
                <a:solidFill>
                  <a:srgbClr val="21242A"/>
                </a:solidFill>
                <a:latin typeface="Microsoft YaHei"/>
              </a:defRPr>
            </a:pPr>
            <a:r>
              <a:t>适应症：弥漫性大B细胞淋巴瘤、原发纵隔大B细胞淋巴瘤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登记号：NCT06902012</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ctdna引导下axi-cel早期二次输注治疗复发/难治性大b细胞淋巴瘤的前瞻性单臂临床研究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prospective, single-arm clinical study of ctdna-guided early second infusio...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PF1248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54914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疗效：在第二次输注前CR但ctDNA阳性的4例患者中，2例在输注后1个月达到ctDNA阴性CR并保持缓解（396天和257天），2例维持CR但ctDNA仍阳性（3个月评估待定）。在第二次输注前PR的3例患者中，1例ctDNA阴性PR维持</a:t>
            </a:r>
          </a:p>
          <a:p>
            <a:pPr>
              <a:lnSpc>
                <a:spcPct val="103000"/>
              </a:lnSpc>
              <a:spcAft>
                <a:spcPts val="300"/>
              </a:spcAft>
              <a:defRPr sz="819">
                <a:solidFill>
                  <a:srgbClr val="21242A"/>
                </a:solidFill>
                <a:latin typeface="Microsoft YaHei"/>
              </a:defRPr>
            </a:pPr>
            <a:r>
              <a:t>1个月（3个月评估待定），2例ctDNA阳性PR早期疾病进展。中位随访93天，中位OS和中位PFS未达到。安全性：CRS发生3例（42.8%），均为1级；无ICANS；常见血液学不良事件为4级中性粒细胞减少（6/7, 85.7%）和3-</a:t>
            </a:r>
          </a:p>
          <a:p>
            <a:pPr>
              <a:lnSpc>
                <a:spcPct val="103000"/>
              </a:lnSpc>
              <a:spcAft>
                <a:spcPts val="300"/>
              </a:spcAft>
              <a:defRPr sz="819">
                <a:solidFill>
                  <a:srgbClr val="21242A"/>
                </a:solidFill>
                <a:latin typeface="Microsoft YaHei"/>
              </a:defRPr>
            </a:pPr>
            <a:r>
              <a:t>4级血小板减少（3/7, 42.9%）；无治疗相关死亡或SAE。</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疾病场景：PMBCL/特殊亚型</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摘要号：PF1248</a:t>
            </a:r>
          </a:p>
          <a:p>
            <a:pPr>
              <a:lnSpc>
                <a:spcPct val="103000"/>
              </a:lnSpc>
              <a:spcAft>
                <a:spcPts val="300"/>
              </a:spcAft>
              <a:defRPr sz="740">
                <a:solidFill>
                  <a:srgbClr val="5E6570"/>
                </a:solidFill>
                <a:latin typeface="Microsoft YaHei"/>
              </a:defRPr>
            </a:pPr>
            <a:r>
              <a:t>会议栏目：26. Gene therapy, cellular immunotherapy and vaccination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rondecabtagene autoleucel（双靶向cd19/cd20 car t细胞）的持久反应与输注产品中具...</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durable responses with rondecabtagene autoleucel (dual-targeting cd19/cd20 ca...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PF1097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弥漫性大B细胞淋巴瘤，原发纵隔大B细胞淋巴瘤，大B细胞淋巴瘤</a:t>
            </a:r>
          </a:p>
          <a:p>
            <a:pPr>
              <a:lnSpc>
                <a:spcPct val="103000"/>
              </a:lnSpc>
              <a:spcAft>
                <a:spcPts val="300"/>
              </a:spcAft>
              <a:defRPr sz="800">
                <a:solidFill>
                  <a:srgbClr val="21242A"/>
                </a:solidFill>
                <a:latin typeface="Microsoft YaHei"/>
              </a:defRPr>
            </a:pPr>
            <a:r>
              <a:t>原发纵隔大B细胞淋巴瘤，弥漫性大B细胞淋巴瘤</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试验药/方案：朗迪卡基奥仑赛</a:t>
            </a:r>
          </a:p>
          <a:p>
            <a:pPr>
              <a:lnSpc>
                <a:spcPct val="103000"/>
              </a:lnSpc>
              <a:spcAft>
                <a:spcPts val="300"/>
              </a:spcAft>
              <a:defRPr sz="800">
                <a:solidFill>
                  <a:srgbClr val="21242A"/>
                </a:solidFill>
                <a:latin typeface="Microsoft YaHei"/>
              </a:defRPr>
            </a:pPr>
            <a:r>
              <a:t>靶点：CD19，CD20</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在CD8+CAR+细胞中，ronde-cel产品与已批准的CD19 CAR-T细胞疗法相比，记忆相关基因（CD62L, IL7...</a:t>
            </a:r>
          </a:p>
          <a:p>
            <a:pPr>
              <a:lnSpc>
                <a:spcPct val="103000"/>
              </a:lnSpc>
              <a:spcAft>
                <a:spcPts val="300"/>
              </a:spcAft>
              <a:defRPr sz="800">
                <a:solidFill>
                  <a:srgbClr val="21242A"/>
                </a:solidFill>
                <a:latin typeface="Microsoft YaHei"/>
              </a:defRPr>
            </a:pPr>
            <a:r>
              <a:t>在细胞毒性T细胞（Tcmp）中，ronde-cel产品中记忆标志物（LEF1, IL7R, BACH2）表达更高。</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人数：42</a:t>
            </a:r>
          </a:p>
          <a:p>
            <a:pPr>
              <a:lnSpc>
                <a:spcPct val="103000"/>
              </a:lnSpc>
              <a:spcAft>
                <a:spcPts val="300"/>
              </a:spcAft>
              <a:defRPr sz="810">
                <a:solidFill>
                  <a:srgbClr val="21242A"/>
                </a:solidFill>
                <a:latin typeface="Microsoft YaHei"/>
              </a:defRPr>
            </a:pPr>
            <a:r>
              <a:t>适应症：弥漫性大B细胞淋巴瘤、原发纵隔大B细胞淋巴瘤、大B细胞淋巴瘤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登记号：NCT05826535</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试验药/方案：朗迪卡基奥仑赛</a:t>
            </a:r>
          </a:p>
          <a:p>
            <a:pPr>
              <a:lnSpc>
                <a:spcPct val="103000"/>
              </a:lnSpc>
              <a:spcAft>
                <a:spcPts val="300"/>
              </a:spcAft>
              <a:defRPr sz="810">
                <a:solidFill>
                  <a:srgbClr val="21242A"/>
                </a:solidFill>
                <a:latin typeface="Microsoft YaHei"/>
              </a:defRPr>
            </a:pPr>
            <a:r>
              <a:t>靶点：CD19、CD20</a:t>
            </a:r>
          </a:p>
          <a:p>
            <a:pPr>
              <a:lnSpc>
                <a:spcPct val="103000"/>
              </a:lnSpc>
              <a:spcAft>
                <a:spcPts val="300"/>
              </a:spcAft>
              <a:defRPr sz="810">
                <a:solidFill>
                  <a:srgbClr val="21242A"/>
                </a:solidFill>
                <a:latin typeface="Microsoft YaHei"/>
              </a:defRPr>
            </a:pPr>
            <a:r>
              <a:t>药物/技术类别：CAR-T、自体细胞、经基因修饰</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rondecabtagene autoleucel（双靶向cd19/cd20 car t细胞）的持久反应与输注产品中具...</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durable responses with rondecabtagene autoleucel (dual-targeting cd19/cd20 ca...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PF1097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451713">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451713">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1. 在CD8+CAR+细胞中，ronde-cel产品与已批准的CD19 CAR-T细胞疗法相比，记忆相关基因（CD62L, IL7R, LEF1）表达更高。</a:t>
                      </a:r>
                    </a:p>
                  </a:txBody>
                  <a:tcPr>
                    <a:solidFill>
                      <a:srgbClr val="F6F8FB"/>
                    </a:solidFill>
                  </a:tcPr>
                </a:tc>
              </a:tr>
              <a:tr h="451713">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2. 在细胞毒性T细胞（Tcmp）中，ronde-cel产品中记忆标志物（LEF1, IL7R, BACH2）表达更高。</a:t>
                      </a:r>
                    </a:p>
                  </a:txBody>
                  <a:tcPr>
                    <a:solidFill>
                      <a:srgbClr val="FFFFFF"/>
                    </a:solidFill>
                  </a:tcPr>
                </a:tc>
              </a:tr>
              <a:tr h="451713">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3. 记忆表型细胞在输注后第28天（中位数83%，N=10）和第56天（中位数73%，N=4）仍存在，并可增殖、分泌细胞因子和杀死肿瘤细胞。</a:t>
                      </a:r>
                    </a:p>
                  </a:txBody>
                  <a:tcPr>
                    <a:solidFill>
                      <a:srgbClr val="F6F8FB"/>
                    </a:solidFill>
                  </a:tcPr>
                </a:tc>
              </a:tr>
              <a:tr h="451716">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4. 持续完全缓解≥12个月的患者（N=8）在CD8+CAR+细胞中Tcmp比例中位数为23（IQR 10-28），而3个月内进展的患者（N=6）中位数为7（IQR 6-9），p=0.029。</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疾病场景：PMBCL/特殊亚型</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摘要号：PF1097</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原发性纵隔b细胞淋巴瘤pts的现实世界管理和结果：来自法国realysa队列的见解。</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management and outcomes of pts with primary mediastinal b-cell lym...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PF1034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原发纵隔大B细胞淋巴瘤</a:t>
            </a:r>
          </a:p>
          <a:p>
            <a:pPr>
              <a:lnSpc>
                <a:spcPct val="103000"/>
              </a:lnSpc>
              <a:spcAft>
                <a:spcPts val="300"/>
              </a:spcAft>
              <a:defRPr sz="800">
                <a:solidFill>
                  <a:srgbClr val="21242A"/>
                </a:solidFill>
                <a:latin typeface="Microsoft YaHei"/>
              </a:defRPr>
            </a:pPr>
            <a:r>
              <a:t>N=150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分组：R-ACVBP组：R-ACVBP</a:t>
            </a:r>
          </a:p>
          <a:p>
            <a:pPr>
              <a:lnSpc>
                <a:spcPct val="103000"/>
              </a:lnSpc>
              <a:spcAft>
                <a:spcPts val="300"/>
              </a:spcAft>
              <a:defRPr sz="800">
                <a:solidFill>
                  <a:srgbClr val="21242A"/>
                </a:solidFill>
                <a:latin typeface="Microsoft YaHei"/>
              </a:defRPr>
            </a:pPr>
            <a:r>
              <a:t>R-CHOP14组：R-CHOP14</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多组/多方案比较：R-ACVBP组：R-ACVBP</a:t>
            </a:r>
          </a:p>
          <a:p>
            <a:pPr>
              <a:lnSpc>
                <a:spcPct val="103000"/>
              </a:lnSpc>
              <a:spcAft>
                <a:spcPts val="300"/>
              </a:spcAft>
              <a:defRPr sz="800">
                <a:solidFill>
                  <a:srgbClr val="21242A"/>
                </a:solidFill>
                <a:latin typeface="Microsoft YaHei"/>
              </a:defRPr>
            </a:pPr>
            <a:r>
              <a:t>R-CHOP14组：R-CHOP14</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中位随访35.5个月，中位PFS和OS未达到。</a:t>
            </a:r>
          </a:p>
          <a:p>
            <a:pPr>
              <a:lnSpc>
                <a:spcPct val="103000"/>
              </a:lnSpc>
              <a:spcAft>
                <a:spcPts val="300"/>
              </a:spcAft>
              <a:defRPr sz="800">
                <a:solidFill>
                  <a:srgbClr val="21242A"/>
                </a:solidFill>
                <a:latin typeface="Microsoft YaHei"/>
              </a:defRPr>
            </a:pPr>
            <a:r>
              <a:t>估计3年PFS率87.7%（95% CI 81.1-92.1），3年OS率99.3%（95% CI 95.2-99.9）。</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人数：150</a:t>
            </a:r>
          </a:p>
          <a:p>
            <a:pPr>
              <a:lnSpc>
                <a:spcPct val="103000"/>
              </a:lnSpc>
              <a:spcAft>
                <a:spcPts val="300"/>
              </a:spcAft>
              <a:defRPr sz="810">
                <a:solidFill>
                  <a:srgbClr val="21242A"/>
                </a:solidFill>
                <a:latin typeface="Microsoft YaHei"/>
              </a:defRPr>
            </a:pPr>
            <a:r>
              <a:t>适应症：原发纵隔大B细胞淋巴瘤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登记号：NCT03869619</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分组/治疗流程：R-ACVBP组：R-ACVBP、R-CHOP14组：R-CHOP14、R-CHOP21组：R-CHOP21</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原发性纵隔b细胞淋巴瘤pts的现实世界管理和结果：来自法国realysa队列的见解。</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management and outcomes of pts with primary mediastinal b-cell lym...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PF1034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79/187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中位随访35.5个月，中位PFS和OS未达到。估计3年PFS率87.7%（95% CI 81.1-92.1），3年OS率99.3%（95% CI 95.2-99.9）。4周期后CR率：R-ACVBP 71.9%，R-CHOP14 55%</a:t>
            </a:r>
          </a:p>
          <a:p>
            <a:pPr>
              <a:lnSpc>
                <a:spcPct val="103000"/>
              </a:lnSpc>
              <a:spcAft>
                <a:spcPts val="300"/>
              </a:spcAft>
              <a:defRPr sz="819">
                <a:solidFill>
                  <a:srgbClr val="21242A"/>
                </a:solidFill>
                <a:latin typeface="Microsoft YaHei"/>
              </a:defRPr>
            </a:pPr>
            <a:r>
              <a:t>，R-CHOP21 60%，R-EPOCH 66.7%。进展率：R-CHOP21 25%，R-ACVBP 95.2%（此数据可能表述有误，原文为“the progression rate was 25% with R-CHOP21 (n</a:t>
            </a:r>
          </a:p>
          <a:p>
            <a:pPr>
              <a:lnSpc>
                <a:spcPct val="103000"/>
              </a:lnSpc>
              <a:spcAft>
                <a:spcPts val="300"/>
              </a:spcAft>
              <a:defRPr sz="819">
                <a:solidFill>
                  <a:srgbClr val="21242A"/>
                </a:solidFill>
                <a:latin typeface="Microsoft YaHei"/>
              </a:defRPr>
            </a:pPr>
            <a:r>
              <a:t>=8) and, 95.2% (95% CI, 85.7–98.4) with R-ACVBP”，实际应为进展率或PFS率，按原文提取）。19例进展（12.7%），中位进展时间6个月。</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疾病场景：PMBCL/特殊亚型</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摘要号：PF1034</a:t>
            </a:r>
          </a:p>
          <a:p>
            <a:pPr>
              <a:lnSpc>
                <a:spcPct val="103000"/>
              </a:lnSpc>
              <a:spcAft>
                <a:spcPts val="300"/>
              </a:spcAft>
              <a:defRPr sz="740">
                <a:solidFill>
                  <a:srgbClr val="5E6570"/>
                </a:solidFill>
                <a:latin typeface="Microsoft YaHei"/>
              </a:defRPr>
            </a:pPr>
            <a:r>
              <a:t>会议栏目：20. Other aggressive lymphomas</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62例原发性纵隔大b细胞淋巴瘤（pmlbcl）患者继发中枢神经系统（cns）受累的国际队列管理和结果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management and outcome of secondary central nervous system (cns) involvement...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PF1040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原发纵隔大B细胞淋巴瘤</a:t>
            </a:r>
          </a:p>
          <a:p>
            <a:pPr>
              <a:lnSpc>
                <a:spcPct val="103000"/>
              </a:lnSpc>
              <a:spcAft>
                <a:spcPts val="300"/>
              </a:spcAft>
              <a:defRPr sz="800">
                <a:solidFill>
                  <a:srgbClr val="21242A"/>
                </a:solidFill>
                <a:latin typeface="Microsoft YaHei"/>
              </a:defRPr>
            </a:pPr>
            <a:r>
              <a:t>N=62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分组：试验组1：大剂量甲氨蝶呤（HD-MTX）为基础化疗后，有效者接受自体干细胞移植（ASCT）和/或全脑放疗（WBRT）</a:t>
            </a:r>
          </a:p>
          <a:p>
            <a:pPr>
              <a:lnSpc>
                <a:spcPct val="103000"/>
              </a:lnSpc>
              <a:spcAft>
                <a:spcPts val="300"/>
              </a:spcAft>
              <a:defRPr sz="800">
                <a:solidFill>
                  <a:srgbClr val="21242A"/>
                </a:solidFill>
                <a:latin typeface="Microsoft YaHei"/>
              </a:defRPr>
            </a:pPr>
            <a:r>
              <a:t>无效者接受脑部放疗或鞘内化疗（ITC）作为桥接，继以CAR-T细胞治疗或ASCT</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多组/多方案比较：试验组1：大剂量甲氨蝶呤（HD-MTX）为基础化疗后，有效者接受自体干细胞移植（ASCT）和/或全脑放疗（W...</a:t>
            </a:r>
          </a:p>
          <a:p>
            <a:pPr>
              <a:lnSpc>
                <a:spcPct val="103000"/>
              </a:lnSpc>
              <a:spcAft>
                <a:spcPts val="300"/>
              </a:spcAft>
              <a:defRPr sz="800">
                <a:solidFill>
                  <a:srgbClr val="21242A"/>
                </a:solidFill>
                <a:latin typeface="Microsoft YaHei"/>
              </a:defRPr>
            </a:pPr>
            <a:r>
              <a:t>无效者接受脑部放疗或鞘内化疗（ITC）作为桥接，继以CAR-T细胞治疗或ASCT</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5年无进展生存率（PFS）为24%（95%CI=6-48），5年总生存率（OS）为51%（95%CI=45-57）||HD-M...</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人数：62</a:t>
            </a:r>
          </a:p>
          <a:p>
            <a:pPr>
              <a:lnSpc>
                <a:spcPct val="103000"/>
              </a:lnSpc>
              <a:spcAft>
                <a:spcPts val="300"/>
              </a:spcAft>
              <a:defRPr sz="810">
                <a:solidFill>
                  <a:srgbClr val="21242A"/>
                </a:solidFill>
                <a:latin typeface="Microsoft YaHei"/>
              </a:defRPr>
            </a:pPr>
            <a:r>
              <a:t>适应症：原发纵隔大B细胞淋巴瘤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登记号：NCT06024694</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分组/治疗流程：试验组1：大剂量甲氨蝶呤（HD-MTX）为基础化疗后、有效者接受自体干细胞移植（ASCT）和/或全脑放疗（WBRT）；无效者接受脑部放疗或鞘内化疗（ITC）作为桥接、继以...</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62例原发性纵隔大b细胞淋巴瘤（pmlbcl）患者继发中枢神经系统（cns）受累的国际队列管理和结果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management and outcome of secondary central nervous system (cns) involvement...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PF1040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5年无进展生存率（PFS）为24%（95%CI=6-48），5年总生存率（OS）为51%（95%CI=45-57）||HD-MTX-based化疗后ASCT/WBRT或桥接治疗组（n=30）5年OS为83%（95%CI=63-92）||</a:t>
            </a:r>
          </a:p>
          <a:p>
            <a:pPr>
              <a:lnSpc>
                <a:spcPct val="103000"/>
              </a:lnSpc>
              <a:spcAft>
                <a:spcPts val="300"/>
              </a:spcAft>
              <a:defRPr sz="819">
                <a:solidFill>
                  <a:srgbClr val="21242A"/>
                </a:solidFill>
                <a:latin typeface="Microsoft YaHei"/>
              </a:defRPr>
            </a:pPr>
            <a:r>
              <a:t>2015-2024年治疗的患者OS优于早期（5年OS 67% vs 38%，p=0.04）</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疾病场景：PMBCL/特殊亚型</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摘要号：PF1040</a:t>
            </a:r>
          </a:p>
          <a:p>
            <a:pPr>
              <a:lnSpc>
                <a:spcPct val="103000"/>
              </a:lnSpc>
              <a:spcAft>
                <a:spcPts val="300"/>
              </a:spcAft>
              <a:defRPr sz="740">
                <a:solidFill>
                  <a:srgbClr val="5E6570"/>
                </a:solidFill>
                <a:latin typeface="Microsoft YaHei"/>
              </a:defRPr>
            </a:pPr>
            <a:r>
              <a:t>会议栏目：20. Other aggressive lymphomas</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皮下注射pembrolizumab治疗复发或难治性经典霍奇金淋巴瘤（chl）或原发性纵隔大b细胞淋巴瘤（pmbcl）的...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pharmacokinetics, efficacy, and safety of subcutaneous pembrolizumab in relap...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PS2021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54914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原发纵隔大B细胞淋巴瘤</a:t>
            </a:r>
          </a:p>
          <a:p>
            <a:pPr>
              <a:lnSpc>
                <a:spcPct val="103000"/>
              </a:lnSpc>
              <a:spcAft>
                <a:spcPts val="300"/>
              </a:spcAft>
              <a:defRPr sz="800">
                <a:solidFill>
                  <a:srgbClr val="21242A"/>
                </a:solidFill>
                <a:latin typeface="Microsoft YaHei"/>
              </a:defRPr>
            </a:pPr>
            <a:r>
              <a:t>经典型霍奇金淋巴瘤</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试验药/方案：帕博利珠单抗皮下注射-MK3475A</a:t>
            </a:r>
          </a:p>
          <a:p>
            <a:pPr>
              <a:lnSpc>
                <a:spcPct val="103000"/>
              </a:lnSpc>
              <a:spcAft>
                <a:spcPts val="300"/>
              </a:spcAft>
              <a:defRPr sz="800">
                <a:solidFill>
                  <a:srgbClr val="21242A"/>
                </a:solidFill>
                <a:latin typeface="Microsoft YaHei"/>
              </a:defRPr>
            </a:pPr>
            <a:r>
              <a:t>靶点：PD-1</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第1周期药代动力学：AUC0-6几何均值1716 mcg*day/mL，变异度47%</a:t>
            </a:r>
          </a:p>
          <a:p>
            <a:pPr>
              <a:lnSpc>
                <a:spcPct val="103000"/>
              </a:lnSpc>
              <a:spcAft>
                <a:spcPts val="300"/>
              </a:spcAft>
              <a:defRPr sz="800">
                <a:solidFill>
                  <a:srgbClr val="21242A"/>
                </a:solidFill>
                <a:latin typeface="Microsoft YaHei"/>
              </a:defRPr>
            </a:pPr>
            <a:r>
              <a:t>Cmax几何均值75.06 mcg/mL，变异度48%</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人数：53</a:t>
            </a:r>
          </a:p>
          <a:p>
            <a:pPr>
              <a:lnSpc>
                <a:spcPct val="103000"/>
              </a:lnSpc>
              <a:spcAft>
                <a:spcPts val="300"/>
              </a:spcAft>
              <a:defRPr sz="810">
                <a:solidFill>
                  <a:srgbClr val="21242A"/>
                </a:solidFill>
                <a:latin typeface="Microsoft YaHei"/>
              </a:defRPr>
            </a:pPr>
            <a:r>
              <a:t>适应症：原发纵隔大B细胞淋巴瘤、经典型霍奇金淋巴瘤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登记号：NCT06504394</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试验药/方案：帕博利珠单抗皮下注射-MK3475A</a:t>
            </a:r>
          </a:p>
          <a:p>
            <a:pPr>
              <a:lnSpc>
                <a:spcPct val="103000"/>
              </a:lnSpc>
              <a:spcAft>
                <a:spcPts val="300"/>
              </a:spcAft>
              <a:defRPr sz="810">
                <a:solidFill>
                  <a:srgbClr val="21242A"/>
                </a:solidFill>
                <a:latin typeface="Microsoft YaHei"/>
              </a:defRPr>
            </a:pPr>
            <a:r>
              <a:t>靶点：PD-1</a:t>
            </a:r>
          </a:p>
          <a:p>
            <a:pPr>
              <a:lnSpc>
                <a:spcPct val="103000"/>
              </a:lnSpc>
              <a:spcAft>
                <a:spcPts val="300"/>
              </a:spcAft>
              <a:defRPr sz="810">
                <a:solidFill>
                  <a:srgbClr val="21242A"/>
                </a:solidFill>
                <a:latin typeface="Microsoft YaHei"/>
              </a:defRPr>
            </a:pPr>
            <a:r>
              <a:t>药物/技术类别：单特异性抗体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皮下注射pembrolizumab治疗复发或难治性经典霍奇金淋巴瘤（chl）或原发性纵隔大b细胞淋巴瘤（pmbcl）的...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pharmacokinetics, efficacy, and safety of subcutaneous pembrolizumab in relap...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PS2021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54914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第1周期药代动力学</a:t>
                      </a:r>
                    </a:p>
                  </a:txBody>
                  <a:tcPr>
                    <a:solidFill>
                      <a:srgbClr val="F6F8FB"/>
                    </a:solidFill>
                  </a:tcPr>
                </a:tc>
                <a:tc>
                  <a:txBody>
                    <a:bodyPr wrap="square" lIns="36576" rIns="36576" tIns="18288" bIns="18288"/>
                    <a:lstStyle/>
                    <a:p>
                      <a:r>
                        <a:rPr sz="720" b="0">
                          <a:solidFill>
                            <a:srgbClr val="21242A"/>
                          </a:solidFill>
                          <a:latin typeface="Microsoft YaHei"/>
                        </a:rPr>
                        <a:t>AUC0-6几何均值1716 mcg*day/mL，变异度47%；Cmax几何均值75.06 mcg/mL，变异度48%；Ctrough几何均值25.17 mcg/mL，变异度62%</a:t>
                      </a:r>
                    </a:p>
                  </a:txBody>
                  <a:tcPr>
                    <a:solidFill>
                      <a:srgbClr val="F6F8FB"/>
                    </a:solidFill>
                  </a:tcPr>
                </a:tc>
              </a:tr>
              <a:tr h="282321">
                <a:tc>
                  <a:txBody>
                    <a:bodyPr wrap="square" lIns="36576" rIns="36576" tIns="18288" bIns="18288"/>
                    <a:lstStyle/>
                    <a:p>
                      <a:r>
                        <a:rPr sz="720" b="1">
                          <a:solidFill>
                            <a:srgbClr val="21242A"/>
                          </a:solidFill>
                          <a:latin typeface="Microsoft YaHei"/>
                        </a:rPr>
                        <a:t>客观缓解率（ORR）</a:t>
                      </a:r>
                    </a:p>
                  </a:txBody>
                  <a:tcPr>
                    <a:solidFill>
                      <a:srgbClr val="FFFFFF"/>
                    </a:solidFill>
                  </a:tcPr>
                </a:tc>
                <a:tc>
                  <a:txBody>
                    <a:bodyPr wrap="square" lIns="36576" rIns="36576" tIns="18288" bIns="18288"/>
                    <a:lstStyle/>
                    <a:p>
                      <a:r>
                        <a:rPr sz="720" b="0">
                          <a:solidFill>
                            <a:srgbClr val="21242A"/>
                          </a:solidFill>
                          <a:latin typeface="Microsoft YaHei"/>
                        </a:rPr>
                        <a:t>71.4%（95% CI, 47.8-88.7）</a:t>
                      </a:r>
                    </a:p>
                  </a:txBody>
                  <a:tcPr>
                    <a:solidFill>
                      <a:srgbClr val="FFFFFF"/>
                    </a:solidFill>
                  </a:tcPr>
                </a:tc>
              </a:tr>
              <a:tr h="282321">
                <a:tc>
                  <a:txBody>
                    <a:bodyPr wrap="square" lIns="36576" rIns="36576" tIns="18288" bIns="18288"/>
                    <a:lstStyle/>
                    <a:p>
                      <a:r>
                        <a:rPr sz="720" b="1">
                          <a:solidFill>
                            <a:srgbClr val="21242A"/>
                          </a:solidFill>
                          <a:latin typeface="Microsoft YaHei"/>
                        </a:rPr>
                        <a:t>完全缓解（CR）</a:t>
                      </a:r>
                    </a:p>
                  </a:txBody>
                  <a:tcPr>
                    <a:solidFill>
                      <a:srgbClr val="F6F8FB"/>
                    </a:solidFill>
                  </a:tcPr>
                </a:tc>
                <a:tc>
                  <a:txBody>
                    <a:bodyPr wrap="square" lIns="36576" rIns="36576" tIns="18288" bIns="18288"/>
                    <a:lstStyle/>
                    <a:p>
                      <a:r>
                        <a:rPr sz="720" b="0">
                          <a:solidFill>
                            <a:srgbClr val="21242A"/>
                          </a:solidFill>
                          <a:latin typeface="Microsoft YaHei"/>
                        </a:rPr>
                        <a:t>33%</a:t>
                      </a:r>
                    </a:p>
                  </a:txBody>
                  <a:tcPr>
                    <a:solidFill>
                      <a:srgbClr val="F6F8FB"/>
                    </a:solidFill>
                  </a:tcPr>
                </a:tc>
              </a:tr>
              <a:tr h="282321">
                <a:tc>
                  <a:txBody>
                    <a:bodyPr wrap="square" lIns="36576" rIns="36576" tIns="18288" bIns="18288"/>
                    <a:lstStyle/>
                    <a:p>
                      <a:r>
                        <a:rPr sz="720" b="1">
                          <a:solidFill>
                            <a:srgbClr val="21242A"/>
                          </a:solidFill>
                          <a:latin typeface="Microsoft YaHei"/>
                        </a:rPr>
                        <a:t>部分缓解（PR）</a:t>
                      </a:r>
                    </a:p>
                  </a:txBody>
                  <a:tcPr>
                    <a:solidFill>
                      <a:srgbClr val="FFFFFF"/>
                    </a:solidFill>
                  </a:tcPr>
                </a:tc>
                <a:tc>
                  <a:txBody>
                    <a:bodyPr wrap="square" lIns="36576" rIns="36576" tIns="18288" bIns="18288"/>
                    <a:lstStyle/>
                    <a:p>
                      <a:r>
                        <a:rPr sz="720" b="0">
                          <a:solidFill>
                            <a:srgbClr val="21242A"/>
                          </a:solidFill>
                          <a:latin typeface="Microsoft YaHei"/>
                        </a:rPr>
                        <a:t>38%</a:t>
                      </a:r>
                    </a:p>
                  </a:txBody>
                  <a:tcPr>
                    <a:solidFill>
                      <a:srgbClr val="FFFFFF"/>
                    </a:solidFill>
                  </a:tcPr>
                </a:tc>
              </a:tr>
              <a:tr h="282321">
                <a:tc>
                  <a:txBody>
                    <a:bodyPr wrap="square" lIns="36576" rIns="36576" tIns="18288" bIns="18288"/>
                    <a:lstStyle/>
                    <a:p>
                      <a:r>
                        <a:rPr sz="720" b="1">
                          <a:solidFill>
                            <a:srgbClr val="21242A"/>
                          </a:solidFill>
                          <a:latin typeface="Microsoft YaHei"/>
                        </a:rPr>
                        <a:t>任何级别治疗相关不良事件（TRAEs）</a:t>
                      </a:r>
                    </a:p>
                  </a:txBody>
                  <a:tcPr>
                    <a:solidFill>
                      <a:srgbClr val="F6F8FB"/>
                    </a:solidFill>
                  </a:tcPr>
                </a:tc>
                <a:tc>
                  <a:txBody>
                    <a:bodyPr wrap="square" lIns="36576" rIns="36576" tIns="18288" bIns="18288"/>
                    <a:lstStyle/>
                    <a:p>
                      <a:r>
                        <a:rPr sz="720" b="0">
                          <a:solidFill>
                            <a:srgbClr val="21242A"/>
                          </a:solidFill>
                          <a:latin typeface="Microsoft YaHei"/>
                        </a:rPr>
                        <a:t>51%；最常见（≥5%）瘙痒9%、皮疹8%、关节痛6%、甲状腺功能减退6%、肌痛6%</a:t>
                      </a:r>
                    </a:p>
                  </a:txBody>
                  <a:tcPr>
                    <a:solidFill>
                      <a:srgbClr val="F6F8FB"/>
                    </a:solidFill>
                  </a:tcPr>
                </a:tc>
              </a:tr>
              <a:tr h="282321">
                <a:tc>
                  <a:txBody>
                    <a:bodyPr wrap="square" lIns="36576" rIns="36576" tIns="18288" bIns="18288"/>
                    <a:lstStyle/>
                    <a:p>
                      <a:r>
                        <a:rPr sz="720" b="1">
                          <a:solidFill>
                            <a:srgbClr val="21242A"/>
                          </a:solidFill>
                          <a:latin typeface="Microsoft YaHei"/>
                        </a:rPr>
                        <a:t>3/4级TRAEs</a:t>
                      </a:r>
                    </a:p>
                  </a:txBody>
                  <a:tcPr>
                    <a:solidFill>
                      <a:srgbClr val="FFFFFF"/>
                    </a:solidFill>
                  </a:tcPr>
                </a:tc>
                <a:tc>
                  <a:txBody>
                    <a:bodyPr wrap="square" lIns="36576" rIns="36576" tIns="18288" bIns="18288"/>
                    <a:lstStyle/>
                    <a:p>
                      <a:r>
                        <a:rPr sz="720" b="0">
                          <a:solidFill>
                            <a:srgbClr val="21242A"/>
                          </a:solidFill>
                          <a:latin typeface="Microsoft YaHei"/>
                        </a:rPr>
                        <a:t>9%</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无因TRAEs停药或死亡</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疾病场景：PMBCL/特殊亚型</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摘要号：PS2021</a:t>
            </a:r>
          </a:p>
          <a:p>
            <a:pPr>
              <a:lnSpc>
                <a:spcPct val="103000"/>
              </a:lnSpc>
              <a:spcAft>
                <a:spcPts val="300"/>
              </a:spcAft>
              <a:defRPr sz="740">
                <a:solidFill>
                  <a:srgbClr val="5E6570"/>
                </a:solidFill>
                <a:latin typeface="Microsoft YaHei"/>
              </a:defRPr>
            </a:pPr>
            <a:r>
              <a:t>会议栏目：17. Hodgkin lymphoma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皮下注射pembrolizumab治疗复发或难治性经典霍奇金淋巴瘤（chl）或原发性纵隔大b细胞淋巴瘤（pmbcl）的...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pharmacokinetics, efficacy, and safety of subcutaneous pembrolizumab in relap...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PS2021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54914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1194816">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1194816">
                <a:tc>
                  <a:txBody>
                    <a:bodyPr wrap="square" lIns="36576" rIns="36576" tIns="18288" bIns="18288"/>
                    <a:lstStyle/>
                    <a:p>
                      <a:r>
                        <a:rPr sz="720" b="1">
                          <a:solidFill>
                            <a:srgbClr val="21242A"/>
                          </a:solidFill>
                          <a:latin typeface="Microsoft YaHei"/>
                        </a:rPr>
                        <a:t>免疫相关不良事件和输液反应</a:t>
                      </a:r>
                    </a:p>
                  </a:txBody>
                  <a:tcPr>
                    <a:solidFill>
                      <a:srgbClr val="F6F8FB"/>
                    </a:solidFill>
                  </a:tcPr>
                </a:tc>
                <a:tc>
                  <a:txBody>
                    <a:bodyPr wrap="square" lIns="36576" rIns="36576" tIns="18288" bIns="18288"/>
                    <a:lstStyle/>
                    <a:p>
                      <a:r>
                        <a:rPr sz="720" b="0">
                          <a:solidFill>
                            <a:srgbClr val="21242A"/>
                          </a:solidFill>
                          <a:latin typeface="Microsoft YaHei"/>
                        </a:rPr>
                        <a:t>9%</a:t>
                      </a:r>
                    </a:p>
                  </a:txBody>
                  <a:tcPr>
                    <a:solidFill>
                      <a:srgbClr val="F6F8FB"/>
                    </a:solidFill>
                  </a:tcPr>
                </a:tc>
              </a:tr>
              <a:tr h="1194816">
                <a:tc>
                  <a:txBody>
                    <a:bodyPr wrap="square" lIns="36576" rIns="36576" tIns="18288" bIns="18288"/>
                    <a:lstStyle/>
                    <a:p>
                      <a:r>
                        <a:rPr sz="720" b="1">
                          <a:solidFill>
                            <a:srgbClr val="21242A"/>
                          </a:solidFill>
                          <a:latin typeface="Microsoft YaHei"/>
                        </a:rPr>
                        <a:t>3/4级</a:t>
                      </a:r>
                    </a:p>
                  </a:txBody>
                  <a:tcPr>
                    <a:solidFill>
                      <a:srgbClr val="FFFFFF"/>
                    </a:solidFill>
                  </a:tcPr>
                </a:tc>
                <a:tc>
                  <a:txBody>
                    <a:bodyPr wrap="square" lIns="36576" rIns="36576" tIns="18288" bIns="18288"/>
                    <a:lstStyle/>
                    <a:p>
                      <a:r>
                        <a:rPr sz="720" b="0">
                          <a:solidFill>
                            <a:srgbClr val="21242A"/>
                          </a:solidFill>
                          <a:latin typeface="Microsoft YaHei"/>
                        </a:rPr>
                        <a:t>4%</a:t>
                      </a:r>
                    </a:p>
                  </a:txBody>
                  <a:tcPr>
                    <a:solidFill>
                      <a:srgbClr val="FFFFFF"/>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原发性纵隔b细胞淋巴瘤简单预后指标pmbcl-pi的建立及外部验证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and external validation of a simple prognostic index for primary...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原发纵隔大B细胞淋巴瘤</a:t>
            </a:r>
          </a:p>
          <a:p>
            <a:pPr>
              <a:lnSpc>
                <a:spcPct val="103000"/>
              </a:lnSpc>
              <a:spcAft>
                <a:spcPts val="300"/>
              </a:spcAft>
              <a:defRPr sz="800">
                <a:solidFill>
                  <a:srgbClr val="21242A"/>
                </a:solidFill>
                <a:latin typeface="Microsoft YaHei"/>
              </a:defRPr>
            </a:pPr>
            <a:r>
              <a:t>N=383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回顾性临床研究结果：development and external validation of a simple progn...</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5年总生存率（开发队列）：低风险组90%，中风险组77%，高风险组52%</a:t>
            </a:r>
          </a:p>
          <a:p>
            <a:pPr>
              <a:lnSpc>
                <a:spcPct val="103000"/>
              </a:lnSpc>
              <a:spcAft>
                <a:spcPts val="300"/>
              </a:spcAft>
              <a:defRPr sz="800">
                <a:solidFill>
                  <a:srgbClr val="21242A"/>
                </a:solidFill>
                <a:latin typeface="Microsoft YaHei"/>
              </a:defRPr>
            </a:pPr>
            <a:r>
              <a:t>5年无进展生存率（开发队列）：低风险组79%，中风险组56%，高风险组27%。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人数：383</a:t>
            </a:r>
          </a:p>
          <a:p>
            <a:pPr>
              <a:lnSpc>
                <a:spcPct val="103000"/>
              </a:lnSpc>
              <a:spcAft>
                <a:spcPts val="300"/>
              </a:spcAft>
              <a:defRPr sz="810">
                <a:solidFill>
                  <a:srgbClr val="21242A"/>
                </a:solidFill>
                <a:latin typeface="Microsoft YaHei"/>
              </a:defRPr>
            </a:pPr>
            <a:r>
              <a:t>适应症：原发纵隔大B细胞淋巴瘤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研究主题：development and external validation of a simple prognostic index for primary mediastinal b-cell lymphoma: pmbcl-pi</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原发性纵隔b细胞淋巴瘤简单预后指标pmbcl-pi的建立及外部验证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and external validation of a simple prognostic index for primary...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088636"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451713">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451713">
                <a:tc>
                  <a:txBody>
                    <a:bodyPr wrap="square" lIns="36576" rIns="36576" tIns="18288" bIns="18288"/>
                    <a:lstStyle/>
                    <a:p>
                      <a:r>
                        <a:rPr sz="720" b="1">
                          <a:solidFill>
                            <a:srgbClr val="21242A"/>
                          </a:solidFill>
                          <a:latin typeface="Microsoft YaHei"/>
                        </a:rPr>
                        <a:t>5年总生存率（开发队列）</a:t>
                      </a:r>
                    </a:p>
                  </a:txBody>
                  <a:tcPr>
                    <a:solidFill>
                      <a:srgbClr val="F6F8FB"/>
                    </a:solidFill>
                  </a:tcPr>
                </a:tc>
                <a:tc>
                  <a:txBody>
                    <a:bodyPr wrap="square" lIns="36576" rIns="36576" tIns="18288" bIns="18288"/>
                    <a:lstStyle/>
                    <a:p>
                      <a:r>
                        <a:rPr sz="720" b="0">
                          <a:solidFill>
                            <a:srgbClr val="21242A"/>
                          </a:solidFill>
                          <a:latin typeface="Microsoft YaHei"/>
                        </a:rPr>
                        <a:t>低风险组90%，中风险组77%，高风险组52%</a:t>
                      </a:r>
                    </a:p>
                  </a:txBody>
                  <a:tcPr>
                    <a:solidFill>
                      <a:srgbClr val="F6F8FB"/>
                    </a:solidFill>
                  </a:tcPr>
                </a:tc>
              </a:tr>
              <a:tr h="451713">
                <a:tc>
                  <a:txBody>
                    <a:bodyPr wrap="square" lIns="36576" rIns="36576" tIns="18288" bIns="18288"/>
                    <a:lstStyle/>
                    <a:p>
                      <a:r>
                        <a:rPr sz="720" b="1">
                          <a:solidFill>
                            <a:srgbClr val="21242A"/>
                          </a:solidFill>
                          <a:latin typeface="Microsoft YaHei"/>
                        </a:rPr>
                        <a:t>5年无进展生存率（开发队列）</a:t>
                      </a:r>
                    </a:p>
                  </a:txBody>
                  <a:tcPr>
                    <a:solidFill>
                      <a:srgbClr val="FFFFFF"/>
                    </a:solidFill>
                  </a:tcPr>
                </a:tc>
                <a:tc>
                  <a:txBody>
                    <a:bodyPr wrap="square" lIns="36576" rIns="36576" tIns="18288" bIns="18288"/>
                    <a:lstStyle/>
                    <a:p>
                      <a:r>
                        <a:rPr sz="720" b="0">
                          <a:solidFill>
                            <a:srgbClr val="21242A"/>
                          </a:solidFill>
                          <a:latin typeface="Microsoft YaHei"/>
                        </a:rPr>
                        <a:t>低风险组79%，中风险组56%，高风险组27%。</a:t>
                      </a:r>
                    </a:p>
                  </a:txBody>
                  <a:tcPr>
                    <a:solidFill>
                      <a:srgbClr val="FFFFFF"/>
                    </a:solidFill>
                  </a:tcPr>
                </a:tc>
              </a:tr>
              <a:tr h="451713">
                <a:tc>
                  <a:txBody>
                    <a:bodyPr wrap="square" lIns="36576" rIns="36576" tIns="18288" bIns="18288"/>
                    <a:lstStyle/>
                    <a:p>
                      <a:r>
                        <a:rPr sz="720" b="1">
                          <a:solidFill>
                            <a:srgbClr val="21242A"/>
                          </a:solidFill>
                          <a:latin typeface="Microsoft YaHei"/>
                        </a:rPr>
                        <a:t>5年总生存率（验证队列）</a:t>
                      </a:r>
                    </a:p>
                  </a:txBody>
                  <a:tcPr>
                    <a:solidFill>
                      <a:srgbClr val="F6F8FB"/>
                    </a:solidFill>
                  </a:tcPr>
                </a:tc>
                <a:tc>
                  <a:txBody>
                    <a:bodyPr wrap="square" lIns="36576" rIns="36576" tIns="18288" bIns="18288"/>
                    <a:lstStyle/>
                    <a:p>
                      <a:r>
                        <a:rPr sz="720" b="0">
                          <a:solidFill>
                            <a:srgbClr val="21242A"/>
                          </a:solidFill>
                          <a:latin typeface="Microsoft YaHei"/>
                        </a:rPr>
                        <a:t>低风险组100%，中风险组92%，高风险组81%</a:t>
                      </a:r>
                    </a:p>
                  </a:txBody>
                  <a:tcPr>
                    <a:solidFill>
                      <a:srgbClr val="F6F8FB"/>
                    </a:solidFill>
                  </a:tcPr>
                </a:tc>
              </a:tr>
              <a:tr h="451716">
                <a:tc>
                  <a:txBody>
                    <a:bodyPr wrap="square" lIns="36576" rIns="36576" tIns="18288" bIns="18288"/>
                    <a:lstStyle/>
                    <a:p>
                      <a:r>
                        <a:rPr sz="720" b="1">
                          <a:solidFill>
                            <a:srgbClr val="21242A"/>
                          </a:solidFill>
                          <a:latin typeface="Microsoft YaHei"/>
                        </a:rPr>
                        <a:t>5年无进展生存率（验证队列）</a:t>
                      </a:r>
                    </a:p>
                  </a:txBody>
                  <a:tcPr>
                    <a:solidFill>
                      <a:srgbClr val="FFFFFF"/>
                    </a:solidFill>
                  </a:tcPr>
                </a:tc>
                <a:tc>
                  <a:txBody>
                    <a:bodyPr wrap="square" lIns="36576" rIns="36576" tIns="18288" bIns="18288"/>
                    <a:lstStyle/>
                    <a:p>
                      <a:r>
                        <a:rPr sz="720" b="0">
                          <a:solidFill>
                            <a:srgbClr val="21242A"/>
                          </a:solidFill>
                          <a:latin typeface="Microsoft YaHei"/>
                        </a:rPr>
                        <a:t>低风险组90%，中风险组81%，高风险组63%。</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疾病场景：PMBCL/特殊亚型</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摘要号：PF998</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前瞻性实时ctdna监测在弥漫性大b细胞淋巴瘤患者常规临床护理中的可行性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feasibility of prospective real-time ctdna monitoring in routine clinical car...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7774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N=75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前瞻性临床研究结果：feasibility of prospective real-time ctdna monitoring...</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主要终点：从采血到ctDNA报告的平均周转时间为18天</a:t>
            </a:r>
          </a:p>
          <a:p>
            <a:pPr>
              <a:lnSpc>
                <a:spcPct val="103000"/>
              </a:lnSpc>
              <a:spcAft>
                <a:spcPts val="300"/>
              </a:spcAft>
              <a:defRPr sz="800">
                <a:solidFill>
                  <a:srgbClr val="21242A"/>
                </a:solidFill>
                <a:latin typeface="Microsoft YaHei"/>
              </a:defRPr>
            </a:pPr>
            <a:r>
              <a:t>远处站点（&gt;200 km）为21天 vs 本地站点16天（p&lt;0.0001）||C2D1可检测到ctDNA的患者中，进展率显著...</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人数：75</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研究主题：feasibility of prospective real-time ctdna monitoring in routine clinical care of diffuse large b-cell lymphoma patients</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前瞻性实时ctdna监测在弥漫性大b细胞淋巴瘤患者常规临床护理中的可行性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feasibility of prospective real-time ctdna monitoring in routine clinical car...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7774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EHA原文结果（中文字段未通过数字核对）（1/2）</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Between March 2024 and December 2025, 75 patients enrolled, provided 425 samples; 68 completed treatment (stu</a:t>
            </a:r>
          </a:p>
          <a:p>
            <a:pPr>
              <a:lnSpc>
                <a:spcPct val="103000"/>
              </a:lnSpc>
              <a:spcAft>
                <a:spcPts val="300"/>
              </a:spcAft>
              <a:defRPr sz="819">
                <a:solidFill>
                  <a:srgbClr val="21242A"/>
                </a:solidFill>
                <a:latin typeface="Microsoft YaHei"/>
              </a:defRPr>
            </a:pPr>
            <a:r>
              <a:t>dy ongoing).</a:t>
            </a:r>
          </a:p>
          <a:p>
            <a:pPr>
              <a:lnSpc>
                <a:spcPct val="103000"/>
              </a:lnSpc>
              <a:spcAft>
                <a:spcPts val="300"/>
              </a:spcAft>
              <a:defRPr sz="819">
                <a:solidFill>
                  <a:srgbClr val="21242A"/>
                </a:solidFill>
                <a:latin typeface="Microsoft YaHei"/>
              </a:defRPr>
            </a:pPr>
            <a:r>
              <a:t>The mean age was 63; 44 patients had IPI&gt;3, 10 had prior indolent lymphoma, and 13 experienced disease progression (PD</a:t>
            </a:r>
          </a:p>
          <a:p>
            <a:pPr>
              <a:lnSpc>
                <a:spcPct val="103000"/>
              </a:lnSpc>
              <a:spcAft>
                <a:spcPts val="300"/>
              </a:spcAft>
              <a:defRPr sz="819">
                <a:solidFill>
                  <a:srgbClr val="21242A"/>
                </a:solidFill>
                <a:latin typeface="Microsoft YaHei"/>
              </a:defRPr>
            </a:pPr>
            <a:r>
              <a:t>).</a:t>
            </a:r>
          </a:p>
          <a:p>
            <a:pPr>
              <a:lnSpc>
                <a:spcPct val="103000"/>
              </a:lnSpc>
              <a:spcAft>
                <a:spcPts val="300"/>
              </a:spcAft>
              <a:defRPr sz="819">
                <a:solidFill>
                  <a:srgbClr val="21242A"/>
                </a:solidFill>
                <a:latin typeface="Microsoft YaHei"/>
              </a:defRPr>
            </a:pPr>
            <a:r>
              <a:t>The mean turnaround time was 18 days, with distant sites (&gt;200 km) requiring 21 days versus 16 days for local sites (p</a:t>
            </a:r>
          </a:p>
          <a:p>
            <a:pPr>
              <a:lnSpc>
                <a:spcPct val="103000"/>
              </a:lnSpc>
              <a:spcAft>
                <a:spcPts val="300"/>
              </a:spcAft>
              <a:defRPr sz="819">
                <a:solidFill>
                  <a:srgbClr val="21242A"/>
                </a:solidFill>
                <a:latin typeface="Microsoft YaHei"/>
              </a:defRPr>
            </a:pPr>
            <a:r>
              <a:t> 3 (p Barriers to CART included poor performance status and high disease burden (n=6) and age/frailty (n=4).</a:t>
            </a:r>
          </a:p>
          <a:p>
            <a:pPr>
              <a:lnSpc>
                <a:spcPct val="103000"/>
              </a:lnSpc>
              <a:spcAft>
                <a:spcPts val="300"/>
              </a:spcAft>
              <a:defRPr sz="819">
                <a:solidFill>
                  <a:srgbClr val="21242A"/>
                </a:solidFill>
                <a:latin typeface="Microsoft YaHei"/>
              </a:defRPr>
            </a:pPr>
            <a:r>
              <a:t>Mortality was 70% among PD patients.</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疾病场景：转化/Richter</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摘要号：PF984</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前瞻性实时ctdna监测在弥漫性大b细胞淋巴瘤患者常规临床护理中的可行性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feasibility of prospective real-time ctdna monitoring in routine clinical car...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5250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7774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EHA原文结果（中文字段未通过数字核对）（2/2）</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Summary/Conclusion: Real-time ctDNA profiling is feasible, but logistical challenges for clinical implementation remai</a:t>
            </a:r>
          </a:p>
          <a:p>
            <a:pPr>
              <a:lnSpc>
                <a:spcPct val="103000"/>
              </a:lnSpc>
              <a:spcAft>
                <a:spcPts val="300"/>
              </a:spcAft>
              <a:defRPr sz="819">
                <a:solidFill>
                  <a:srgbClr val="21242A"/>
                </a:solidFill>
                <a:latin typeface="Microsoft YaHei"/>
              </a:defRPr>
            </a:pPr>
            <a:r>
              <a:t>n.</a:t>
            </a:r>
          </a:p>
          <a:p>
            <a:pPr>
              <a:lnSpc>
                <a:spcPct val="103000"/>
              </a:lnSpc>
              <a:spcAft>
                <a:spcPts val="300"/>
              </a:spcAft>
              <a:defRPr sz="819">
                <a:solidFill>
                  <a:srgbClr val="21242A"/>
                </a:solidFill>
                <a:latin typeface="Microsoft YaHei"/>
              </a:defRPr>
            </a:pPr>
            <a:r>
              <a:t>There is significant attrition among refractory DLBCL patients eligible for CART in real-world settings.</a:t>
            </a:r>
          </a:p>
          <a:p>
            <a:pPr>
              <a:lnSpc>
                <a:spcPct val="103000"/>
              </a:lnSpc>
              <a:spcAft>
                <a:spcPts val="300"/>
              </a:spcAft>
              <a:defRPr sz="819">
                <a:solidFill>
                  <a:srgbClr val="21242A"/>
                </a:solidFill>
                <a:latin typeface="Microsoft YaHei"/>
              </a:defRPr>
            </a:pPr>
            <a:r>
              <a:t>Our panel can identify high-risk patients as early as C2D1, supporting early intervention trials.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axicabtagene ciloleucel作为晚期复发大b细胞淋巴瘤患者的二线治疗：西班牙淋巴瘤组geltamo晚...</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axicabtagene ciloleucel as second-line treatment in patients with late-relaps...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54914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N=31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3个月完全缓解率（CR rate）：90%（基于21例可评估患者）</a:t>
            </a:r>
          </a:p>
          <a:p>
            <a:pPr>
              <a:lnSpc>
                <a:spcPct val="103000"/>
              </a:lnSpc>
              <a:spcAft>
                <a:spcPts val="300"/>
              </a:spcAft>
              <a:defRPr sz="800">
                <a:solidFill>
                  <a:srgbClr val="21242A"/>
                </a:solidFill>
                <a:latin typeface="Microsoft YaHei"/>
              </a:defRPr>
            </a:pPr>
            <a:r>
              <a:t>3个月总缓解率（ORR）：95%（基于21例可评估患者）</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人数：31</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登记号：NCT07254754</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axicabtagene ciloleucel作为晚期复发大b细胞淋巴瘤患者的二线治疗：西班牙淋巴瘤组geltamo晚...</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axicabtagene ciloleucel as second-line treatment in patients with late-relaps...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54914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EHA原文结果（中文字段未通过数字核对）（1/4）</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As of December 31 st 2025 (cut-off), 35 patients underwent leukapheresis and 31 had received axi-cel and were</a:t>
            </a:r>
          </a:p>
          <a:p>
            <a:pPr>
              <a:lnSpc>
                <a:spcPct val="103000"/>
              </a:lnSpc>
              <a:spcAft>
                <a:spcPts val="300"/>
              </a:spcAft>
              <a:defRPr sz="819">
                <a:solidFill>
                  <a:srgbClr val="21242A"/>
                </a:solidFill>
                <a:latin typeface="Microsoft YaHei"/>
              </a:defRPr>
            </a:pPr>
            <a:r>
              <a:t> included in the present analysis.</a:t>
            </a:r>
          </a:p>
          <a:p>
            <a:pPr>
              <a:lnSpc>
                <a:spcPct val="103000"/>
              </a:lnSpc>
              <a:spcAft>
                <a:spcPts val="300"/>
              </a:spcAft>
              <a:defRPr sz="819">
                <a:solidFill>
                  <a:srgbClr val="21242A"/>
                </a:solidFill>
                <a:latin typeface="Microsoft YaHei"/>
              </a:defRPr>
            </a:pPr>
            <a:r>
              <a:t>Median age was 63 years (range 28–79) and 19 (54%) patients were male.</a:t>
            </a:r>
          </a:p>
          <a:p>
            <a:pPr>
              <a:lnSpc>
                <a:spcPct val="103000"/>
              </a:lnSpc>
              <a:spcAft>
                <a:spcPts val="300"/>
              </a:spcAft>
              <a:defRPr sz="819">
                <a:solidFill>
                  <a:srgbClr val="21242A"/>
                </a:solidFill>
                <a:latin typeface="Microsoft YaHei"/>
              </a:defRPr>
            </a:pPr>
            <a:r>
              <a:t>At study entry, 49% had relapsed within 12–24 months and 51% within 24–60 months from first-line CIT; 26% of patients </a:t>
            </a:r>
          </a:p>
          <a:p>
            <a:pPr>
              <a:lnSpc>
                <a:spcPct val="103000"/>
              </a:lnSpc>
              <a:spcAft>
                <a:spcPts val="300"/>
              </a:spcAft>
              <a:defRPr sz="819">
                <a:solidFill>
                  <a:srgbClr val="21242A"/>
                </a:solidFill>
                <a:latin typeface="Microsoft YaHei"/>
              </a:defRPr>
            </a:pPr>
            <a:r>
              <a:t>had HBCL double hit, 83% showed Ann Arbor stage III–IV and 74% had an IPI ≥2.</a:t>
            </a:r>
          </a:p>
          <a:p>
            <a:pPr>
              <a:lnSpc>
                <a:spcPct val="103000"/>
              </a:lnSpc>
              <a:spcAft>
                <a:spcPts val="300"/>
              </a:spcAft>
              <a:defRPr sz="819">
                <a:solidFill>
                  <a:srgbClr val="21242A"/>
                </a:solidFill>
                <a:latin typeface="Microsoft YaHei"/>
              </a:defRPr>
            </a:pPr>
            <a:r>
              <a:t>\n The CR rate and ORR at 3 months among the 21 patients who had reached this time point at the time of data cutoff we</a:t>
            </a:r>
          </a:p>
          <a:p>
            <a:pPr>
              <a:lnSpc>
                <a:spcPct val="103000"/>
              </a:lnSpc>
              <a:spcAft>
                <a:spcPts val="300"/>
              </a:spcAft>
              <a:defRPr sz="819">
                <a:solidFill>
                  <a:srgbClr val="21242A"/>
                </a:solidFill>
                <a:latin typeface="Microsoft YaHei"/>
              </a:defRPr>
            </a:pPr>
            <a:r>
              <a:t>re 90% and 95%, respectively.</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疾病场景：转化/Richter</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摘要号：PF981</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axicabtagene ciloleucel作为晚期复发大b细胞淋巴瘤患者的二线治疗：西班牙淋巴瘤组geltamo晚...</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axicabtagene ciloleucel as second-line treatment in patients with late-relaps...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54914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With a median follow-up of 5.9 months (Q1-Q3: 2,4-8.7), the median progression-free survival (PFS) and overall surviva</a:t>
            </a:r>
          </a:p>
          <a:p>
            <a:pPr>
              <a:lnSpc>
                <a:spcPct val="103000"/>
              </a:lnSpc>
              <a:spcAft>
                <a:spcPts val="300"/>
              </a:spcAft>
              <a:defRPr sz="819">
                <a:solidFill>
                  <a:srgbClr val="21242A"/>
                </a:solidFill>
                <a:latin typeface="Microsoft YaHei"/>
              </a:defRPr>
            </a:pPr>
            <a:r>
              <a:t>l (OS) had not been reached.</a:t>
            </a:r>
          </a:p>
          <a:p>
            <a:pPr>
              <a:lnSpc>
                <a:spcPct val="103000"/>
              </a:lnSpc>
              <a:spcAft>
                <a:spcPts val="300"/>
              </a:spcAft>
              <a:defRPr sz="819">
                <a:solidFill>
                  <a:srgbClr val="21242A"/>
                </a:solidFill>
                <a:latin typeface="Microsoft YaHei"/>
              </a:defRPr>
            </a:pPr>
            <a:r>
              <a:t>The estimated 6-month PFS and OS were 87.0% (95% CI 68.0-100) and 95.7% (95% CI 86.7-100), respectively (Figure).</a:t>
            </a:r>
          </a:p>
          <a:p>
            <a:pPr>
              <a:lnSpc>
                <a:spcPct val="103000"/>
              </a:lnSpc>
              <a:spcAft>
                <a:spcPts val="300"/>
              </a:spcAft>
              <a:defRPr sz="819">
                <a:solidFill>
                  <a:srgbClr val="21242A"/>
                </a:solidFill>
                <a:latin typeface="Microsoft YaHei"/>
              </a:defRPr>
            </a:pPr>
            <a:r>
              <a:t>\n Regarding safety, a total of 81 adverse events classified as serious adverse events (SAEs) or adverse events of spe</a:t>
            </a:r>
          </a:p>
          <a:p>
            <a:pPr>
              <a:lnSpc>
                <a:spcPct val="103000"/>
              </a:lnSpc>
              <a:spcAft>
                <a:spcPts val="300"/>
              </a:spcAft>
              <a:defRPr sz="819">
                <a:solidFill>
                  <a:srgbClr val="21242A"/>
                </a:solidFill>
                <a:latin typeface="Microsoft YaHei"/>
              </a:defRPr>
            </a:pPr>
            <a:r>
              <a:t>cial interest (AESIs) and occurring on or before the cut-off time, were reported.</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axicabtagene ciloleucel作为晚期复发大b细胞淋巴瘤患者的二线治疗：西班牙淋巴瘤组geltamo晚...</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axicabtagene ciloleucel as second-line treatment in patients with late-relaps...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54914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Cytokine release syndrome (CRS) occurred in 74% of patients, predominantly grade 1 (37%) and 2 (28.6%); grade ≥3 CRS w</a:t>
            </a:r>
          </a:p>
          <a:p>
            <a:pPr>
              <a:lnSpc>
                <a:spcPct val="103000"/>
              </a:lnSpc>
              <a:spcAft>
                <a:spcPts val="300"/>
              </a:spcAft>
              <a:defRPr sz="819">
                <a:solidFill>
                  <a:srgbClr val="21242A"/>
                </a:solidFill>
                <a:latin typeface="Microsoft YaHei"/>
              </a:defRPr>
            </a:pPr>
            <a:r>
              <a:t>as infrequent (8.6%), with no grade 4–5 events.</a:t>
            </a:r>
          </a:p>
          <a:p>
            <a:pPr>
              <a:lnSpc>
                <a:spcPct val="103000"/>
              </a:lnSpc>
              <a:spcAft>
                <a:spcPts val="300"/>
              </a:spcAft>
              <a:defRPr sz="819">
                <a:solidFill>
                  <a:srgbClr val="21242A"/>
                </a:solidFill>
                <a:latin typeface="Microsoft YaHei"/>
              </a:defRPr>
            </a:pPr>
            <a:r>
              <a:t>Immune effector cell–associated neurotoxicity syndrome (ICANS) was reported in 45.7% of patients.</a:t>
            </a:r>
          </a:p>
          <a:p>
            <a:pPr>
              <a:lnSpc>
                <a:spcPct val="103000"/>
              </a:lnSpc>
              <a:spcAft>
                <a:spcPts val="300"/>
              </a:spcAft>
              <a:defRPr sz="819">
                <a:solidFill>
                  <a:srgbClr val="21242A"/>
                </a:solidFill>
                <a:latin typeface="Microsoft YaHei"/>
              </a:defRPr>
            </a:pPr>
            <a:r>
              <a:t>Most events were low to moderate in severity, with grade 3 and 4 events occurring in 14.6% and 8.3% of patients, respe</a:t>
            </a:r>
          </a:p>
          <a:p>
            <a:pPr>
              <a:lnSpc>
                <a:spcPct val="103000"/>
              </a:lnSpc>
              <a:spcAft>
                <a:spcPts val="300"/>
              </a:spcAft>
              <a:defRPr sz="819">
                <a:solidFill>
                  <a:srgbClr val="21242A"/>
                </a:solidFill>
                <a:latin typeface="Microsoft YaHei"/>
              </a:defRPr>
            </a:pPr>
            <a:r>
              <a:t>ctively; no grade 5 neurotoxicity was observed.</a:t>
            </a:r>
          </a:p>
          <a:p>
            <a:pPr>
              <a:lnSpc>
                <a:spcPct val="103000"/>
              </a:lnSpc>
              <a:spcAft>
                <a:spcPts val="300"/>
              </a:spcAft>
              <a:defRPr sz="819">
                <a:solidFill>
                  <a:srgbClr val="21242A"/>
                </a:solidFill>
                <a:latin typeface="Microsoft YaHei"/>
              </a:defRPr>
            </a:pPr>
            <a:r>
              <a:t>Hematologic toxicities were common, with thrombocytopenia (20%) and neutropenia (17.1%) being the most frequently repo</a:t>
            </a:r>
          </a:p>
          <a:p>
            <a:pPr>
              <a:lnSpc>
                <a:spcPct val="103000"/>
              </a:lnSpc>
              <a:spcAft>
                <a:spcPts val="300"/>
              </a:spcAft>
              <a:defRPr sz="819">
                <a:solidFill>
                  <a:srgbClr val="21242A"/>
                </a:solidFill>
                <a:latin typeface="Microsoft YaHei"/>
              </a:defRPr>
            </a:pPr>
            <a:r>
              <a:t>rted grade ≥3 cytopenias.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axicabtagene ciloleucel作为晚期复发大b细胞淋巴瘤患者的二线治疗：西班牙淋巴瘤组geltamo晚...</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axicabtagene ciloleucel as second-line treatment in patients with late-relaps...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54914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Severe infections were reported in 5 cases (14%), including one patient who died due to a septic shock at 34 days from</a:t>
            </a:r>
          </a:p>
          <a:p>
            <a:pPr>
              <a:lnSpc>
                <a:spcPct val="103000"/>
              </a:lnSpc>
              <a:spcAft>
                <a:spcPts val="300"/>
              </a:spcAft>
              <a:defRPr sz="819">
                <a:solidFill>
                  <a:srgbClr val="21242A"/>
                </a:solidFill>
                <a:latin typeface="Microsoft YaHei"/>
              </a:defRPr>
            </a:pPr>
            <a:r>
              <a:t> axi-cel infusion.</a:t>
            </a:r>
          </a:p>
          <a:p>
            <a:pPr>
              <a:lnSpc>
                <a:spcPct val="103000"/>
              </a:lnSpc>
              <a:spcAft>
                <a:spcPts val="300"/>
              </a:spcAft>
              <a:defRPr sz="819">
                <a:solidFill>
                  <a:srgbClr val="21242A"/>
                </a:solidFill>
                <a:latin typeface="Microsoft YaHei"/>
              </a:defRPr>
            </a:pPr>
            <a:r>
              <a:t>Summary/Conclusion: In this interim analysis of the LATE-R trial, axi-cel demonstrated remarkably high CR rates in pat</a:t>
            </a:r>
          </a:p>
          <a:p>
            <a:pPr>
              <a:lnSpc>
                <a:spcPct val="103000"/>
              </a:lnSpc>
              <a:spcAft>
                <a:spcPts val="300"/>
              </a:spcAft>
              <a:defRPr sz="819">
                <a:solidFill>
                  <a:srgbClr val="21242A"/>
                </a:solidFill>
                <a:latin typeface="Microsoft YaHei"/>
              </a:defRPr>
            </a:pPr>
            <a:r>
              <a:t>ients with late-relapsing aggressive B-cell lymphomas treated in the second-line setting, with a manageable toxicity p</a:t>
            </a:r>
          </a:p>
          <a:p>
            <a:pPr>
              <a:lnSpc>
                <a:spcPct val="103000"/>
              </a:lnSpc>
              <a:spcAft>
                <a:spcPts val="300"/>
              </a:spcAft>
              <a:defRPr sz="819">
                <a:solidFill>
                  <a:srgbClr val="21242A"/>
                </a:solidFill>
                <a:latin typeface="Microsoft YaHei"/>
              </a:defRPr>
            </a:pPr>
            <a:r>
              <a:t>rofile consistent with the known risks of axi-cel.</a:t>
            </a:r>
          </a:p>
          <a:p>
            <a:pPr>
              <a:lnSpc>
                <a:spcPct val="103000"/>
              </a:lnSpc>
              <a:spcAft>
                <a:spcPts val="300"/>
              </a:spcAft>
              <a:defRPr sz="819">
                <a:solidFill>
                  <a:srgbClr val="21242A"/>
                </a:solidFill>
                <a:latin typeface="Microsoft YaHei"/>
              </a:defRPr>
            </a:pPr>
            <a:r>
              <a:t>These findings suggest that patients with late CIT relapses could benefit from axi-cel and support its use in this cli</a:t>
            </a:r>
          </a:p>
          <a:p>
            <a:pPr>
              <a:lnSpc>
                <a:spcPct val="103000"/>
              </a:lnSpc>
              <a:spcAft>
                <a:spcPts val="300"/>
              </a:spcAft>
              <a:defRPr sz="819">
                <a:solidFill>
                  <a:srgbClr val="21242A"/>
                </a:solidFill>
                <a:latin typeface="Microsoft YaHei"/>
              </a:defRPr>
            </a:pPr>
            <a:r>
              <a:t>nical setting.</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抗cd19 car t细胞治疗后长期细胞减少症的基线t细胞库偏斜和效应cd8t细胞动力学</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baseline t-cell repertoire skewing and effector cd8 t-cell dynamics in prolon...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PF1225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B细胞急性淋巴细胞白血病，弥漫性大B细胞淋巴瘤</a:t>
            </a:r>
          </a:p>
          <a:p>
            <a:pPr>
              <a:lnSpc>
                <a:spcPct val="103000"/>
              </a:lnSpc>
              <a:spcAft>
                <a:spcPts val="300"/>
              </a:spcAft>
              <a:defRPr sz="800">
                <a:solidFill>
                  <a:srgbClr val="21242A"/>
                </a:solidFill>
                <a:latin typeface="Microsoft YaHei"/>
              </a:defRPr>
            </a:pPr>
            <a:r>
              <a:t>N=10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前瞻性临床研究结果：baseline t-cell repertoire skewing and effector cd8 t...</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扩增T细胞克隆比例：长期血细胞减少组56%，无血细胞减少组22%，p=0.05||T细胞受体库多样性（Shannon指数）：长...</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人数：10</a:t>
            </a:r>
          </a:p>
          <a:p>
            <a:pPr>
              <a:lnSpc>
                <a:spcPct val="103000"/>
              </a:lnSpc>
              <a:spcAft>
                <a:spcPts val="300"/>
              </a:spcAft>
              <a:defRPr sz="810">
                <a:solidFill>
                  <a:srgbClr val="21242A"/>
                </a:solidFill>
                <a:latin typeface="Microsoft YaHei"/>
              </a:defRPr>
            </a:pPr>
            <a:r>
              <a:t>适应症：B细胞急性淋巴细胞白血病、弥漫性大B细胞淋巴瘤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研究主题：baseline t-cell repertoire skewing and effector cd8 t-cell dynamics in prolonged cytopenias following anti-cd19 car t-c...</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抗cd19 car t细胞治疗后长期细胞减少症的基线t细胞库偏斜和效应cd8t细胞动力学</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baseline t-cell repertoire skewing and effector cd8 t-cell dynamics in prolon...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PF1225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08863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扩增T细胞克隆比例：长期血细胞减少组56%，无血细胞减少组22%，p=0.05||T细胞受体库多样性（Shannon指数）：长期血细胞减少组中位数4.5，无血细胞减少组中位数5.5，p=0.0005||CD8:CD4比值：基线时长期血细</a:t>
            </a:r>
          </a:p>
          <a:p>
            <a:pPr>
              <a:lnSpc>
                <a:spcPct val="103000"/>
              </a:lnSpc>
              <a:spcAft>
                <a:spcPts val="300"/>
              </a:spcAft>
              <a:defRPr sz="819">
                <a:solidFill>
                  <a:srgbClr val="21242A"/>
                </a:solidFill>
                <a:latin typeface="Microsoft YaHei"/>
              </a:defRPr>
            </a:pPr>
            <a:r>
              <a:t>胞减少组数值更高||CD8 TEMRA:CD4 Treg比值：长期血细胞减少组更高且持续30天||CD8 TEMRA表型：CD57+CD28-，符合细胞毒性效应状态</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疾病场景：转化/Richter</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摘要号：PF1225</a:t>
            </a:r>
          </a:p>
          <a:p>
            <a:pPr>
              <a:lnSpc>
                <a:spcPct val="103000"/>
              </a:lnSpc>
              <a:spcAft>
                <a:spcPts val="300"/>
              </a:spcAft>
              <a:defRPr sz="740">
                <a:solidFill>
                  <a:srgbClr val="5E6570"/>
                </a:solidFill>
                <a:latin typeface="Microsoft YaHei"/>
              </a:defRPr>
            </a:pPr>
            <a:r>
              <a:t>会议栏目：25. Gene therapy, cellular immunotherapy and vaccination -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phs-w指数：一种整合营养和血液学标志物的新预后框架，用于预测接受glofitamab治疗的dlbcl患者的预后</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phs w-index: a novel prognostic framework integrating nutritional and hem...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08863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N=101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12个月无进展生存率（PFS）: 41.0% (95% CI 29.3–52.3)</a:t>
            </a:r>
          </a:p>
          <a:p>
            <a:pPr>
              <a:lnSpc>
                <a:spcPct val="103000"/>
              </a:lnSpc>
              <a:spcAft>
                <a:spcPts val="300"/>
              </a:spcAft>
              <a:defRPr sz="800">
                <a:solidFill>
                  <a:srgbClr val="21242A"/>
                </a:solidFill>
                <a:latin typeface="Microsoft YaHei"/>
              </a:defRPr>
            </a:pPr>
            <a:r>
              <a:t>12个月总生存率（OS）: 52.9% (95% CI 40.3–64.0)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人数：101</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登记号：NCT03199066</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phs-w指数：一种整合营养和血液学标志物的新预后框架，用于预测接受glofitamab治疗的dlbcl患者的预后</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phs w-index: a novel prognostic framework integrating nutritional and hem...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08863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12个月无进展生存率（PFS）</a:t>
                      </a:r>
                    </a:p>
                  </a:txBody>
                  <a:tcPr>
                    <a:solidFill>
                      <a:srgbClr val="F6F8FB"/>
                    </a:solidFill>
                  </a:tcPr>
                </a:tc>
                <a:tc>
                  <a:txBody>
                    <a:bodyPr wrap="square" lIns="36576" rIns="36576" tIns="18288" bIns="18288"/>
                    <a:lstStyle/>
                    <a:p>
                      <a:r>
                        <a:rPr sz="720" b="0">
                          <a:solidFill>
                            <a:srgbClr val="21242A"/>
                          </a:solidFill>
                          <a:latin typeface="Microsoft YaHei"/>
                        </a:rPr>
                        <a:t>41.0% (95% CI 29.3–52.3)</a:t>
                      </a:r>
                    </a:p>
                  </a:txBody>
                  <a:tcPr>
                    <a:solidFill>
                      <a:srgbClr val="F6F8FB"/>
                    </a:solidFill>
                  </a:tcPr>
                </a:tc>
              </a:tr>
              <a:tr h="376428">
                <a:tc>
                  <a:txBody>
                    <a:bodyPr wrap="square" lIns="36576" rIns="36576" tIns="18288" bIns="18288"/>
                    <a:lstStyle/>
                    <a:p>
                      <a:r>
                        <a:rPr sz="720" b="1">
                          <a:solidFill>
                            <a:srgbClr val="21242A"/>
                          </a:solidFill>
                          <a:latin typeface="Microsoft YaHei"/>
                        </a:rPr>
                        <a:t>12个月总生存率（OS）</a:t>
                      </a:r>
                    </a:p>
                  </a:txBody>
                  <a:tcPr>
                    <a:solidFill>
                      <a:srgbClr val="FFFFFF"/>
                    </a:solidFill>
                  </a:tcPr>
                </a:tc>
                <a:tc>
                  <a:txBody>
                    <a:bodyPr wrap="square" lIns="36576" rIns="36576" tIns="18288" bIns="18288"/>
                    <a:lstStyle/>
                    <a:p>
                      <a:r>
                        <a:rPr sz="720" b="0">
                          <a:solidFill>
                            <a:srgbClr val="21242A"/>
                          </a:solidFill>
                          <a:latin typeface="Microsoft YaHei"/>
                        </a:rPr>
                        <a:t>52.9% (95% CI 40.3–64.0)</a:t>
                      </a:r>
                    </a:p>
                  </a:txBody>
                  <a:tcPr>
                    <a:solidFill>
                      <a:srgbClr val="FFFFFF"/>
                    </a:solidFill>
                  </a:tcPr>
                </a:tc>
              </a:tr>
              <a:tr h="376428">
                <a:tc>
                  <a:txBody>
                    <a:bodyPr wrap="square" lIns="36576" rIns="36576" tIns="18288" bIns="18288"/>
                    <a:lstStyle/>
                    <a:p>
                      <a:r>
                        <a:rPr sz="720" b="1">
                          <a:solidFill>
                            <a:srgbClr val="21242A"/>
                          </a:solidFill>
                          <a:latin typeface="Microsoft YaHei"/>
                        </a:rPr>
                        <a:t>客观缓解率（ORR）</a:t>
                      </a:r>
                    </a:p>
                  </a:txBody>
                  <a:tcPr>
                    <a:solidFill>
                      <a:srgbClr val="F6F8FB"/>
                    </a:solidFill>
                  </a:tcPr>
                </a:tc>
                <a:tc>
                  <a:txBody>
                    <a:bodyPr wrap="square" lIns="36576" rIns="36576" tIns="18288" bIns="18288"/>
                    <a:lstStyle/>
                    <a:p>
                      <a:r>
                        <a:rPr sz="720" b="0">
                          <a:solidFill>
                            <a:srgbClr val="21242A"/>
                          </a:solidFill>
                          <a:latin typeface="Microsoft YaHei"/>
                        </a:rPr>
                        <a:t>48.1% (n=39)</a:t>
                      </a:r>
                    </a:p>
                  </a:txBody>
                  <a:tcPr>
                    <a:solidFill>
                      <a:srgbClr val="F6F8FB"/>
                    </a:solidFill>
                  </a:tcPr>
                </a:tc>
              </a:tr>
              <a:tr h="376428">
                <a:tc>
                  <a:txBody>
                    <a:bodyPr wrap="square" lIns="36576" rIns="36576" tIns="18288" bIns="18288"/>
                    <a:lstStyle/>
                    <a:p>
                      <a:r>
                        <a:rPr sz="720" b="1">
                          <a:solidFill>
                            <a:srgbClr val="21242A"/>
                          </a:solidFill>
                          <a:latin typeface="Microsoft YaHei"/>
                        </a:rPr>
                        <a:t>完全缓解率（CR）</a:t>
                      </a:r>
                    </a:p>
                  </a:txBody>
                  <a:tcPr>
                    <a:solidFill>
                      <a:srgbClr val="FFFFFF"/>
                    </a:solidFill>
                  </a:tcPr>
                </a:tc>
                <a:tc>
                  <a:txBody>
                    <a:bodyPr wrap="square" lIns="36576" rIns="36576" tIns="18288" bIns="18288"/>
                    <a:lstStyle/>
                    <a:p>
                      <a:r>
                        <a:rPr sz="720" b="0">
                          <a:solidFill>
                            <a:srgbClr val="21242A"/>
                          </a:solidFill>
                          <a:latin typeface="Microsoft YaHei"/>
                        </a:rPr>
                        <a:t>35.8% (n=29)</a:t>
                      </a:r>
                    </a:p>
                  </a:txBody>
                  <a:tcPr>
                    <a:solidFill>
                      <a:srgbClr val="FFFFFF"/>
                    </a:solidFill>
                  </a:tcPr>
                </a:tc>
              </a:tr>
              <a:tr h="376428">
                <a:tc>
                  <a:txBody>
                    <a:bodyPr wrap="square" lIns="36576" rIns="36576" tIns="18288" bIns="18288"/>
                    <a:lstStyle/>
                    <a:p>
                      <a:r>
                        <a:rPr sz="720" b="1">
                          <a:solidFill>
                            <a:srgbClr val="21242A"/>
                          </a:solidFill>
                          <a:latin typeface="Microsoft YaHei"/>
                        </a:rPr>
                        <a:t>PHS w-Index区分能力（乐观校正C-index）</a:t>
                      </a:r>
                    </a:p>
                  </a:txBody>
                  <a:tcPr>
                    <a:solidFill>
                      <a:srgbClr val="F6F8FB"/>
                    </a:solidFill>
                  </a:tcPr>
                </a:tc>
                <a:tc>
                  <a:txBody>
                    <a:bodyPr wrap="square" lIns="36576" rIns="36576" tIns="18288" bIns="18288"/>
                    <a:lstStyle/>
                    <a:p>
                      <a:r>
                        <a:rPr sz="720" b="0">
                          <a:solidFill>
                            <a:srgbClr val="21242A"/>
                          </a:solidFill>
                          <a:latin typeface="Microsoft YaHei"/>
                        </a:rPr>
                        <a:t>PFS 0.659, OS 0.681</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疾病场景：转化/Richter</a:t>
            </a:r>
          </a:p>
          <a:p>
            <a:pPr>
              <a:lnSpc>
                <a:spcPct val="103000"/>
              </a:lnSpc>
              <a:spcAft>
                <a:spcPts val="300"/>
              </a:spcAft>
              <a:defRPr sz="780">
                <a:solidFill>
                  <a:srgbClr val="21242A"/>
                </a:solidFill>
                <a:latin typeface="Microsoft YaHei"/>
              </a:defRPr>
            </a:pPr>
            <a:r>
              <a:t>药物/技术：双抗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摘要号：PS2106</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polatuzumab vedotin联合r-chp治疗未经治疗的弥漫性大b细胞淋巴瘤的真实疗效和安全性：一项英国多中...</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and safety of polatuzumab vedotin with r-chp in previousl...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549140"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N=437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靶点：CD79B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总缓解率（ORR）：93.1%</a:t>
            </a:r>
          </a:p>
          <a:p>
            <a:pPr>
              <a:lnSpc>
                <a:spcPct val="103000"/>
              </a:lnSpc>
              <a:spcAft>
                <a:spcPts val="300"/>
              </a:spcAft>
              <a:defRPr sz="800">
                <a:solidFill>
                  <a:srgbClr val="21242A"/>
                </a:solidFill>
                <a:latin typeface="Microsoft YaHei"/>
              </a:defRPr>
            </a:pPr>
            <a:r>
              <a:t>完全缓解率（CRR）：79.1%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人数：437</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a:t>
            </a:r>
          </a:p>
          <a:p>
            <a:pPr>
              <a:lnSpc>
                <a:spcPct val="103000"/>
              </a:lnSpc>
              <a:spcAft>
                <a:spcPts val="300"/>
              </a:spcAft>
              <a:defRPr sz="810">
                <a:solidFill>
                  <a:srgbClr val="21242A"/>
                </a:solidFill>
                <a:latin typeface="Microsoft YaHei"/>
              </a:defRPr>
            </a:pPr>
            <a:r>
              <a:t>靶点：CD79B</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polatuzumab vedotin联合r-chp治疗未经治疗的弥漫性大b细胞淋巴瘤的真实疗效和安全性：一项英国多中...</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and safety of polatuzumab vedotin with r-chp in previousl...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549140"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EHA原文结果（中文字段未通过数字核对）（1/5）</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The median age was 66 years (range 17–87), with 70.2% of patients aged ≥60 years.</a:t>
            </a:r>
          </a:p>
          <a:p>
            <a:pPr>
              <a:lnSpc>
                <a:spcPct val="103000"/>
              </a:lnSpc>
              <a:spcAft>
                <a:spcPts val="300"/>
              </a:spcAft>
              <a:defRPr sz="819">
                <a:solidFill>
                  <a:srgbClr val="21242A"/>
                </a:solidFill>
                <a:latin typeface="Microsoft YaHei"/>
              </a:defRPr>
            </a:pPr>
            <a:r>
              <a:t>The cohort had high-risk features including: 67.2% had stage IV disease, 65.6% had an IPI score ≥3, 11.5% double/tripl</a:t>
            </a:r>
          </a:p>
          <a:p>
            <a:pPr>
              <a:lnSpc>
                <a:spcPct val="103000"/>
              </a:lnSpc>
              <a:spcAft>
                <a:spcPts val="300"/>
              </a:spcAft>
              <a:defRPr sz="819">
                <a:solidFill>
                  <a:srgbClr val="21242A"/>
                </a:solidFill>
                <a:latin typeface="Microsoft YaHei"/>
              </a:defRPr>
            </a:pPr>
            <a:r>
              <a:t>e-hit biology,15.0% transformed disease and 21.3% were ECOG ≥2.</a:t>
            </a:r>
          </a:p>
          <a:p>
            <a:pPr>
              <a:lnSpc>
                <a:spcPct val="103000"/>
              </a:lnSpc>
              <a:spcAft>
                <a:spcPts val="300"/>
              </a:spcAft>
              <a:defRPr sz="819">
                <a:solidFill>
                  <a:srgbClr val="21242A"/>
                </a:solidFill>
                <a:latin typeface="Microsoft YaHei"/>
              </a:defRPr>
            </a:pPr>
            <a:r>
              <a:t>The median CCI was 4 (IQR 3-5).\n \n Efficacy: The overall response rate (ORR) was 93.1%, with a complete response rat</a:t>
            </a:r>
          </a:p>
          <a:p>
            <a:pPr>
              <a:lnSpc>
                <a:spcPct val="103000"/>
              </a:lnSpc>
              <a:spcAft>
                <a:spcPts val="300"/>
              </a:spcAft>
              <a:defRPr sz="819">
                <a:solidFill>
                  <a:srgbClr val="21242A"/>
                </a:solidFill>
                <a:latin typeface="Microsoft YaHei"/>
              </a:defRPr>
            </a:pPr>
            <a:r>
              <a:t>e (CRR) of 79.1%.</a:t>
            </a:r>
          </a:p>
          <a:p>
            <a:pPr>
              <a:lnSpc>
                <a:spcPct val="103000"/>
              </a:lnSpc>
              <a:spcAft>
                <a:spcPts val="300"/>
              </a:spcAft>
              <a:defRPr sz="819">
                <a:solidFill>
                  <a:srgbClr val="21242A"/>
                </a:solidFill>
                <a:latin typeface="Microsoft YaHei"/>
              </a:defRPr>
            </a:pPr>
            <a:r>
              <a:t>Efficacy was consistent across high-risk subgroups. ORR remained high regardless of COO (GCB 92.9% vs.</a:t>
            </a:r>
          </a:p>
          <a:p>
            <a:pPr>
              <a:lnSpc>
                <a:spcPct val="103000"/>
              </a:lnSpc>
              <a:spcAft>
                <a:spcPts val="300"/>
              </a:spcAft>
              <a:defRPr sz="819">
                <a:solidFill>
                  <a:srgbClr val="21242A"/>
                </a:solidFill>
                <a:latin typeface="Microsoft YaHei"/>
              </a:defRPr>
            </a:pPr>
            <a:r>
              <a:t>non-GCB 92.5%, p&gt;0.99) or patients with transformations of low-grade lymphoma (96.9% vs.</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疾病场景：转化/Richter</a:t>
            </a:r>
          </a:p>
          <a:p>
            <a:pPr>
              <a:lnSpc>
                <a:spcPct val="103000"/>
              </a:lnSpc>
              <a:spcAft>
                <a:spcPts val="300"/>
              </a:spcAft>
              <a:defRPr sz="780">
                <a:solidFill>
                  <a:srgbClr val="21242A"/>
                </a:solidFill>
                <a:latin typeface="Microsoft YaHei"/>
              </a:defRPr>
            </a:pPr>
            <a:r>
              <a:t>药物/技术：ADC</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摘要号：PS2091</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polatuzumab vedotin联合r-chp治疗未经治疗的弥漫性大b细胞淋巴瘤的真实疗效和安全性：一项英国多中...</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and safety of polatuzumab vedotin with r-chp in previousl...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549140"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92.4% de novo, p=0.63).</a:t>
            </a:r>
          </a:p>
          <a:p>
            <a:pPr>
              <a:lnSpc>
                <a:spcPct val="103000"/>
              </a:lnSpc>
              <a:spcAft>
                <a:spcPts val="300"/>
              </a:spcAft>
              <a:defRPr sz="819">
                <a:solidFill>
                  <a:srgbClr val="21242A"/>
                </a:solidFill>
                <a:latin typeface="Microsoft YaHei"/>
              </a:defRPr>
            </a:pPr>
            <a:r>
              <a:t>There was no significant difference in CRR between patients with CCI 0.99) or age \n Compliance: 83.3% of patients com</a:t>
            </a:r>
          </a:p>
          <a:p>
            <a:pPr>
              <a:lnSpc>
                <a:spcPct val="103000"/>
              </a:lnSpc>
              <a:spcAft>
                <a:spcPts val="300"/>
              </a:spcAft>
              <a:defRPr sz="819">
                <a:solidFill>
                  <a:srgbClr val="21242A"/>
                </a:solidFill>
                <a:latin typeface="Microsoft YaHei"/>
              </a:defRPr>
            </a:pPr>
            <a:r>
              <a:t>pleted all 6 cycles.</a:t>
            </a:r>
          </a:p>
          <a:p>
            <a:pPr>
              <a:lnSpc>
                <a:spcPct val="103000"/>
              </a:lnSpc>
              <a:spcAft>
                <a:spcPts val="300"/>
              </a:spcAft>
              <a:defRPr sz="819">
                <a:solidFill>
                  <a:srgbClr val="21242A"/>
                </a:solidFill>
                <a:latin typeface="Microsoft YaHei"/>
              </a:defRPr>
            </a:pPr>
            <a:r>
              <a:t>For those that did not complete all 6 cycles reasons for stopping early included: adverse events (35.7%), death (25.0%</a:t>
            </a:r>
          </a:p>
          <a:p>
            <a:pPr>
              <a:lnSpc>
                <a:spcPct val="103000"/>
              </a:lnSpc>
              <a:spcAft>
                <a:spcPts val="300"/>
              </a:spcAft>
              <a:defRPr sz="819">
                <a:solidFill>
                  <a:srgbClr val="21242A"/>
                </a:solidFill>
                <a:latin typeface="Microsoft YaHei"/>
              </a:defRPr>
            </a:pPr>
            <a:r>
              <a:t>), and progressive disease (23.2%).</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polatuzumab vedotin联合r-chp治疗未经治疗的弥漫性大b细胞淋巴瘤的真实疗效和安全性：一项英国多中...</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and safety of polatuzumab vedotin with r-chp in previousl...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549140"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Cycle 1 dose reductions were significantly more frequent in patients ≥70 years (13.6% vs 5.9%, p=0.011) and those with</a:t>
            </a:r>
          </a:p>
          <a:p>
            <a:pPr>
              <a:lnSpc>
                <a:spcPct val="103000"/>
              </a:lnSpc>
              <a:spcAft>
                <a:spcPts val="300"/>
              </a:spcAft>
              <a:defRPr sz="819">
                <a:solidFill>
                  <a:srgbClr val="21242A"/>
                </a:solidFill>
                <a:latin typeface="Microsoft YaHei"/>
              </a:defRPr>
            </a:pPr>
            <a:r>
              <a:t> CCI ≥5 were significantly less likely to complete 6 cycles (76.2% vs 89.6%, p \n Safety: Grade ≥3 infections occurred</a:t>
            </a:r>
          </a:p>
          <a:p>
            <a:pPr>
              <a:lnSpc>
                <a:spcPct val="103000"/>
              </a:lnSpc>
              <a:spcAft>
                <a:spcPts val="300"/>
              </a:spcAft>
              <a:defRPr sz="819">
                <a:solidFill>
                  <a:srgbClr val="21242A"/>
                </a:solidFill>
                <a:latin typeface="Microsoft YaHei"/>
              </a:defRPr>
            </a:pPr>
            <a:r>
              <a:t> in 35.8% of patients, with significantly higher rates in those patients ≥70 years (42.4% vs 31.9%, p=0.035).</a:t>
            </a:r>
          </a:p>
          <a:p>
            <a:pPr>
              <a:lnSpc>
                <a:spcPct val="103000"/>
              </a:lnSpc>
              <a:spcAft>
                <a:spcPts val="300"/>
              </a:spcAft>
              <a:defRPr sz="819">
                <a:solidFill>
                  <a:srgbClr val="21242A"/>
                </a:solidFill>
                <a:latin typeface="Microsoft YaHei"/>
              </a:defRPr>
            </a:pPr>
            <a:r>
              <a:t>Febrile neutropenia (FN) was reported in 29.6%. Diarrhoea occurred in 48.0% (Grade 3-4: 7.7%).</a:t>
            </a:r>
          </a:p>
          <a:p>
            <a:pPr>
              <a:lnSpc>
                <a:spcPct val="103000"/>
              </a:lnSpc>
              <a:spcAft>
                <a:spcPts val="300"/>
              </a:spcAft>
              <a:defRPr sz="819">
                <a:solidFill>
                  <a:srgbClr val="21242A"/>
                </a:solidFill>
                <a:latin typeface="Microsoft YaHei"/>
              </a:defRPr>
            </a:pPr>
            <a:r>
              <a:t>Peripheral neuropathy (PN) was reported in 32.1% (grade 3: 3.0%).</a:t>
            </a:r>
          </a:p>
          <a:p>
            <a:pPr>
              <a:lnSpc>
                <a:spcPct val="103000"/>
              </a:lnSpc>
              <a:spcAft>
                <a:spcPts val="300"/>
              </a:spcAft>
              <a:defRPr sz="819">
                <a:solidFill>
                  <a:srgbClr val="21242A"/>
                </a:solidFill>
                <a:latin typeface="Microsoft YaHei"/>
              </a:defRPr>
            </a:pPr>
            <a:r>
              <a:t>Opportunistic infections occurred in 10.8%, including PCP (N=8) and shingles (N=5). \n</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polatuzumab vedotin联合r-chp治疗未经治疗的弥漫性大b细胞淋巴瘤的真实疗效和安全性：一项英国多中...</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and safety of polatuzumab vedotin with r-chp in previousl...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549140"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Summary/Conclusion: In this large real-world UK cohort, Pola-R-CHP demonstrated efficacy and deliverability.</a:t>
            </a:r>
          </a:p>
          <a:p>
            <a:pPr>
              <a:lnSpc>
                <a:spcPct val="103000"/>
              </a:lnSpc>
              <a:spcAft>
                <a:spcPts val="300"/>
              </a:spcAft>
              <a:defRPr sz="819">
                <a:solidFill>
                  <a:srgbClr val="21242A"/>
                </a:solidFill>
                <a:latin typeface="Microsoft YaHei"/>
              </a:defRPr>
            </a:pPr>
            <a:r>
              <a:t>The CR rate in this series appears comparable to the trial despite being used in a cohort of patients with high-risk f</a:t>
            </a:r>
          </a:p>
          <a:p>
            <a:pPr>
              <a:lnSpc>
                <a:spcPct val="103000"/>
              </a:lnSpc>
              <a:spcAft>
                <a:spcPts val="300"/>
              </a:spcAft>
              <a:defRPr sz="819">
                <a:solidFill>
                  <a:srgbClr val="21242A"/>
                </a:solidFill>
                <a:latin typeface="Microsoft YaHei"/>
              </a:defRPr>
            </a:pPr>
            <a:r>
              <a:t>eatures and a broader range of indications than were included in the POLARIX trial.</a:t>
            </a:r>
          </a:p>
          <a:p>
            <a:pPr>
              <a:lnSpc>
                <a:spcPct val="103000"/>
              </a:lnSpc>
              <a:spcAft>
                <a:spcPts val="300"/>
              </a:spcAft>
              <a:defRPr sz="819">
                <a:solidFill>
                  <a:srgbClr val="21242A"/>
                </a:solidFill>
                <a:latin typeface="Microsoft YaHei"/>
              </a:defRPr>
            </a:pPr>
            <a:r>
              <a:t>These data support Pola-R-CHP as a first line standard of care in the real-world setting, however the higher rates of </a:t>
            </a:r>
          </a:p>
          <a:p>
            <a:pPr>
              <a:lnSpc>
                <a:spcPct val="103000"/>
              </a:lnSpc>
              <a:spcAft>
                <a:spcPts val="300"/>
              </a:spcAft>
              <a:defRPr sz="819">
                <a:solidFill>
                  <a:srgbClr val="21242A"/>
                </a:solidFill>
                <a:latin typeface="Microsoft YaHei"/>
              </a:defRPr>
            </a:pPr>
            <a:r>
              <a:t>grade ≥3 infections and reduced treatment intensity in patients with advanced age and comorbidities demonstrates a nee</a:t>
            </a:r>
          </a:p>
          <a:p>
            <a:pPr>
              <a:lnSpc>
                <a:spcPct val="103000"/>
              </a:lnSpc>
              <a:spcAft>
                <a:spcPts val="300"/>
              </a:spcAft>
              <a:defRPr sz="819">
                <a:solidFill>
                  <a:srgbClr val="21242A"/>
                </a:solidFill>
                <a:latin typeface="Microsoft YaHei"/>
              </a:defRPr>
            </a:pPr>
            <a:r>
              <a:t>d for vigilant supportive care in this demographic.</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polatuzumab vedotin联合r-chp治疗未经治疗的弥漫性大b细胞淋巴瘤的真实疗效和安全性：一项英国多中...</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and safety of polatuzumab vedotin with r-chp in previousl...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549140"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EHA原文结果（中文字段未通过数字核对）（5/5）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Survival outcomes will be presented. \n References: \n \n Tilly H, et al.</a:t>
            </a:r>
          </a:p>
          <a:p>
            <a:pPr>
              <a:lnSpc>
                <a:spcPct val="103000"/>
              </a:lnSpc>
              <a:spcAft>
                <a:spcPts val="300"/>
              </a:spcAft>
              <a:defRPr sz="819">
                <a:solidFill>
                  <a:srgbClr val="21242A"/>
                </a:solidFill>
                <a:latin typeface="Microsoft YaHei"/>
              </a:defRPr>
            </a:pPr>
            <a:r>
              <a:t>Polatuzumab Vedotin in Previously Untreated Diffuse Large B-Cell Lymphoma. N Engl J Med 2022; 386:351-363.</a:t>
            </a:r>
          </a:p>
          <a:p>
            <a:pPr>
              <a:lnSpc>
                <a:spcPct val="103000"/>
              </a:lnSpc>
              <a:spcAft>
                <a:spcPts val="300"/>
              </a:spcAft>
              <a:defRPr sz="819">
                <a:solidFill>
                  <a:srgbClr val="21242A"/>
                </a:solidFill>
                <a:latin typeface="Microsoft YaHei"/>
              </a:defRPr>
            </a:pPr>
            <a:r>
              <a:t>DOI: 10.1056/NEJMoa2115304 \n \n</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一项前瞻性、多中心的意大利多短期现实研究：对fil-mab的polatuzumab vedotin加r-chp（pol...</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primary analysis of the polatuzumab vedotin plus r-chp (pola-r-chp) cohort of...</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08863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N=177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靶点：CD79B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完成治疗率：89%（155/174）||CR率：74%||PR率：11%||SD/PD率：4%||12个月PFS率：78.2%...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人数：177</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登记号：NCT06008691</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a:t>
            </a:r>
          </a:p>
          <a:p>
            <a:pPr>
              <a:lnSpc>
                <a:spcPct val="103000"/>
              </a:lnSpc>
              <a:spcAft>
                <a:spcPts val="300"/>
              </a:spcAft>
              <a:defRPr sz="810">
                <a:solidFill>
                  <a:srgbClr val="21242A"/>
                </a:solidFill>
                <a:latin typeface="Microsoft YaHei"/>
              </a:defRPr>
            </a:pPr>
            <a:r>
              <a:t>靶点：CD79B</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一项前瞻性、多中心的意大利多短期现实研究：对fil-mab的polatuzumab vedotin加r-chp（pol...</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primary analysis of the polatuzumab vedotin plus r-chp (pola-r-chp) cohort of...</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8359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088636"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完成治疗率：89%（155/174）||CR率：74%||PR率：11%||SD/PD率：4%||12个月PFS率：78.2%（95% CI 68.5–85.3）||12个月OS率：91.2%（95% CI 83.1–95.5）||de</a:t>
            </a:r>
          </a:p>
          <a:p>
            <a:pPr>
              <a:lnSpc>
                <a:spcPct val="103000"/>
              </a:lnSpc>
              <a:spcAft>
                <a:spcPts val="300"/>
              </a:spcAft>
              <a:defRPr sz="819">
                <a:solidFill>
                  <a:srgbClr val="21242A"/>
                </a:solidFill>
                <a:latin typeface="Microsoft YaHei"/>
              </a:defRPr>
            </a:pPr>
            <a:r>
              <a:t> novo DLBCL亚组12个月PFS率为75.1%（95% CI 62.5–83.9）||de novo DLBCL亚组12个月OS率为90.6%（95% CI 79.5–95.8）||加权分析后估计12个月PFS率为87.8%（b</a:t>
            </a:r>
          </a:p>
          <a:p>
            <a:pPr>
              <a:lnSpc>
                <a:spcPct val="103000"/>
              </a:lnSpc>
              <a:spcAft>
                <a:spcPts val="300"/>
              </a:spcAft>
              <a:defRPr sz="819">
                <a:solidFill>
                  <a:srgbClr val="21242A"/>
                </a:solidFill>
                <a:latin typeface="Microsoft YaHei"/>
              </a:defRPr>
            </a:pPr>
            <a:r>
              <a:t>ootstrap 95% CI 78.3–94.4）||治疗相关死亡：1%（2例）||G3-4中性粒细胞减少：15%||G3-4感染：9%</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疾病场景：转化/Richter</a:t>
            </a:r>
          </a:p>
          <a:p>
            <a:pPr>
              <a:lnSpc>
                <a:spcPct val="103000"/>
              </a:lnSpc>
              <a:spcAft>
                <a:spcPts val="300"/>
              </a:spcAft>
              <a:defRPr sz="780">
                <a:solidFill>
                  <a:srgbClr val="21242A"/>
                </a:solidFill>
                <a:latin typeface="Microsoft YaHei"/>
              </a:defRPr>
            </a:pPr>
            <a:r>
              <a:t>药物/技术：ADC</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摘要号：PF987</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难治性血液系统恶性肿瘤患者使用卡莫地布与体外精密筛查药物敏感性筛查的i/ii期研究中期结果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interim results of the phase i/ii study investigating karonudib in patients w...</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PS1649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549140"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多发性骨髓瘤，弥漫性大B细胞淋巴瘤，急性淋巴细胞白血病，急性髓系白血病，骨髓增生异常综合征</a:t>
            </a:r>
          </a:p>
          <a:p>
            <a:pPr>
              <a:lnSpc>
                <a:spcPct val="103000"/>
              </a:lnSpc>
              <a:spcAft>
                <a:spcPts val="300"/>
              </a:spcAft>
              <a:defRPr sz="800">
                <a:solidFill>
                  <a:srgbClr val="21242A"/>
                </a:solidFill>
                <a:latin typeface="Microsoft YaHei"/>
              </a:defRPr>
            </a:pPr>
            <a:r>
              <a:t>N=27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试验药/方案：Karonudib</a:t>
            </a:r>
          </a:p>
          <a:p>
            <a:pPr>
              <a:lnSpc>
                <a:spcPct val="103000"/>
              </a:lnSpc>
              <a:spcAft>
                <a:spcPts val="300"/>
              </a:spcAft>
              <a:defRPr sz="800">
                <a:solidFill>
                  <a:srgbClr val="21242A"/>
                </a:solidFill>
                <a:latin typeface="Microsoft YaHei"/>
              </a:defRPr>
            </a:pPr>
            <a:r>
              <a:t>靶点：NUDT1</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多组/多方案比较：试验组1：Karonudib单药（剂量递增）</a:t>
            </a:r>
          </a:p>
          <a:p>
            <a:pPr>
              <a:lnSpc>
                <a:spcPct val="103000"/>
              </a:lnSpc>
              <a:spcAft>
                <a:spcPts val="300"/>
              </a:spcAft>
              <a:defRPr sz="800">
                <a:solidFill>
                  <a:srgbClr val="21242A"/>
                </a:solidFill>
                <a:latin typeface="Microsoft YaHei"/>
              </a:defRPr>
            </a:pPr>
            <a:r>
              <a:t>试验组2：Karonudib联合Idarubicin</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安全性：最常见治疗相关不良事件（≥25%）包括贫血（50%）、中性粒细胞减少（43%）、腹泻（43%）、恶心（36%）、血小板...</a:t>
            </a:r>
          </a:p>
          <a:p>
            <a:pPr>
              <a:lnSpc>
                <a:spcPct val="103000"/>
              </a:lnSpc>
              <a:spcAft>
                <a:spcPts val="300"/>
              </a:spcAft>
              <a:defRPr sz="800">
                <a:solidFill>
                  <a:srgbClr val="21242A"/>
                </a:solidFill>
                <a:latin typeface="Microsoft YaHei"/>
              </a:defRPr>
            </a:pPr>
            <a:r>
              <a:t>剂量限制性毒性（DLT）：1例5级颅内出血（可能相关）发生于队列2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人数：27</a:t>
            </a:r>
          </a:p>
          <a:p>
            <a:pPr>
              <a:lnSpc>
                <a:spcPct val="103000"/>
              </a:lnSpc>
              <a:spcAft>
                <a:spcPts val="300"/>
              </a:spcAft>
              <a:defRPr sz="810">
                <a:solidFill>
                  <a:srgbClr val="21242A"/>
                </a:solidFill>
                <a:latin typeface="Microsoft YaHei"/>
              </a:defRPr>
            </a:pPr>
            <a:r>
              <a:t>适应症：多发性骨髓瘤、弥漫性大B细胞淋巴瘤、急性淋巴细胞白血病</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登记号：NCT04077307</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试验药/方案：Karonudib</a:t>
            </a:r>
          </a:p>
          <a:p>
            <a:pPr>
              <a:lnSpc>
                <a:spcPct val="103000"/>
              </a:lnSpc>
              <a:spcAft>
                <a:spcPts val="300"/>
              </a:spcAft>
              <a:defRPr sz="810">
                <a:solidFill>
                  <a:srgbClr val="21242A"/>
                </a:solidFill>
                <a:latin typeface="Microsoft YaHei"/>
              </a:defRPr>
            </a:pPr>
            <a:r>
              <a:t>靶点：NUDT1</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难治性血液系统恶性肿瘤患者使用卡莫地布与体外精密筛查药物敏感性筛查的i/ii期研究中期结果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interim results of the phase i/ii study investigating karonudib in patients w...</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PS1649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32964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549140"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89/187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2265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22652">
                <a:tc>
                  <a:txBody>
                    <a:bodyPr wrap="square" lIns="36576" rIns="36576" tIns="18288" bIns="18288"/>
                    <a:lstStyle/>
                    <a:p>
                      <a:r>
                        <a:rPr sz="720" b="1">
                          <a:solidFill>
                            <a:srgbClr val="21242A"/>
                          </a:solidFill>
                          <a:latin typeface="Microsoft YaHei"/>
                        </a:rPr>
                        <a:t>安全性</a:t>
                      </a:r>
                    </a:p>
                  </a:txBody>
                  <a:tcPr>
                    <a:solidFill>
                      <a:srgbClr val="F6F8FB"/>
                    </a:solidFill>
                  </a:tcPr>
                </a:tc>
                <a:tc>
                  <a:txBody>
                    <a:bodyPr wrap="square" lIns="36576" rIns="36576" tIns="18288" bIns="18288"/>
                    <a:lstStyle/>
                    <a:p>
                      <a:r>
                        <a:rPr sz="720" b="0">
                          <a:solidFill>
                            <a:srgbClr val="21242A"/>
                          </a:solidFill>
                          <a:latin typeface="Microsoft YaHei"/>
                        </a:rPr>
                        <a:t>最常见治疗相关不良事件（≥25%）包括贫血（50%）、中性粒细胞减少（43%）、腹泻（43%）、恶心（36%）、血小板减少（29%）</a:t>
                      </a:r>
                    </a:p>
                  </a:txBody>
                  <a:tcPr>
                    <a:solidFill>
                      <a:srgbClr val="F6F8FB"/>
                    </a:solidFill>
                  </a:tcPr>
                </a:tc>
              </a:tr>
              <a:tr h="322652">
                <a:tc>
                  <a:txBody>
                    <a:bodyPr wrap="square" lIns="36576" rIns="36576" tIns="18288" bIns="18288"/>
                    <a:lstStyle/>
                    <a:p>
                      <a:r>
                        <a:rPr sz="720" b="1">
                          <a:solidFill>
                            <a:srgbClr val="21242A"/>
                          </a:solidFill>
                          <a:latin typeface="Microsoft YaHei"/>
                        </a:rPr>
                        <a:t>剂量限制性毒性（DLT）</a:t>
                      </a:r>
                    </a:p>
                  </a:txBody>
                  <a:tcPr>
                    <a:solidFill>
                      <a:srgbClr val="FFFFFF"/>
                    </a:solidFill>
                  </a:tcPr>
                </a:tc>
                <a:tc>
                  <a:txBody>
                    <a:bodyPr wrap="square" lIns="36576" rIns="36576" tIns="18288" bIns="18288"/>
                    <a:lstStyle/>
                    <a:p>
                      <a:r>
                        <a:rPr sz="720" b="0">
                          <a:solidFill>
                            <a:srgbClr val="21242A"/>
                          </a:solidFill>
                          <a:latin typeface="Microsoft YaHei"/>
                        </a:rPr>
                        <a:t>1例5级颅内出血（可能相关）发生于队列2</a:t>
                      </a:r>
                    </a:p>
                  </a:txBody>
                  <a:tcPr>
                    <a:solidFill>
                      <a:srgbClr val="FFFFFF"/>
                    </a:solidFill>
                  </a:tcPr>
                </a:tc>
              </a:tr>
              <a:tr h="322652">
                <a:tc>
                  <a:txBody>
                    <a:bodyPr wrap="square" lIns="36576" rIns="36576" tIns="18288" bIns="18288"/>
                    <a:lstStyle/>
                    <a:p>
                      <a:r>
                        <a:rPr sz="720" b="1">
                          <a:solidFill>
                            <a:srgbClr val="21242A"/>
                          </a:solidFill>
                          <a:latin typeface="Microsoft YaHei"/>
                        </a:rPr>
                        <a:t>疗效-AML（2例可评估）</a:t>
                      </a:r>
                    </a:p>
                  </a:txBody>
                  <a:tcPr>
                    <a:solidFill>
                      <a:srgbClr val="F6F8FB"/>
                    </a:solidFill>
                  </a:tcPr>
                </a:tc>
                <a:tc>
                  <a:txBody>
                    <a:bodyPr wrap="square" lIns="36576" rIns="36576" tIns="18288" bIns="18288"/>
                    <a:lstStyle/>
                    <a:p>
                      <a:r>
                        <a:rPr sz="720" b="0">
                          <a:solidFill>
                            <a:srgbClr val="21242A"/>
                          </a:solidFill>
                          <a:latin typeface="Microsoft YaHei"/>
                        </a:rPr>
                        <a:t>1例部分缓解（133天），1例疾病稳定（141天）</a:t>
                      </a:r>
                    </a:p>
                  </a:txBody>
                  <a:tcPr>
                    <a:solidFill>
                      <a:srgbClr val="F6F8FB"/>
                    </a:solidFill>
                  </a:tcPr>
                </a:tc>
              </a:tr>
              <a:tr h="322652">
                <a:tc>
                  <a:txBody>
                    <a:bodyPr wrap="square" lIns="36576" rIns="36576" tIns="18288" bIns="18288"/>
                    <a:lstStyle/>
                    <a:p>
                      <a:r>
                        <a:rPr sz="720" b="1">
                          <a:solidFill>
                            <a:srgbClr val="21242A"/>
                          </a:solidFill>
                          <a:latin typeface="Microsoft YaHei"/>
                        </a:rPr>
                        <a:t>疗效-MDS（4例可评估）</a:t>
                      </a:r>
                    </a:p>
                  </a:txBody>
                  <a:tcPr>
                    <a:solidFill>
                      <a:srgbClr val="FFFFFF"/>
                    </a:solidFill>
                  </a:tcPr>
                </a:tc>
                <a:tc>
                  <a:txBody>
                    <a:bodyPr wrap="square" lIns="36576" rIns="36576" tIns="18288" bIns="18288"/>
                    <a:lstStyle/>
                    <a:p>
                      <a:r>
                        <a:rPr sz="720" b="0">
                          <a:solidFill>
                            <a:srgbClr val="21242A"/>
                          </a:solidFill>
                          <a:latin typeface="Microsoft YaHei"/>
                        </a:rPr>
                        <a:t>最佳反应为疾病稳定（65天）</a:t>
                      </a:r>
                    </a:p>
                  </a:txBody>
                  <a:tcPr>
                    <a:solidFill>
                      <a:srgbClr val="FFFFFF"/>
                    </a:solidFill>
                  </a:tcPr>
                </a:tc>
              </a:tr>
              <a:tr h="322652">
                <a:tc>
                  <a:txBody>
                    <a:bodyPr wrap="square" lIns="36576" rIns="36576" tIns="18288" bIns="18288"/>
                    <a:lstStyle/>
                    <a:p>
                      <a:r>
                        <a:rPr sz="720" b="1">
                          <a:solidFill>
                            <a:srgbClr val="21242A"/>
                          </a:solidFill>
                          <a:latin typeface="Microsoft YaHei"/>
                        </a:rPr>
                        <a:t>疗效-DLBCL（2例可评估）</a:t>
                      </a:r>
                    </a:p>
                  </a:txBody>
                  <a:tcPr>
                    <a:solidFill>
                      <a:srgbClr val="F6F8FB"/>
                    </a:solidFill>
                  </a:tcPr>
                </a:tc>
                <a:tc>
                  <a:txBody>
                    <a:bodyPr wrap="square" lIns="36576" rIns="36576" tIns="18288" bIns="18288"/>
                    <a:lstStyle/>
                    <a:p>
                      <a:r>
                        <a:rPr sz="720" b="0">
                          <a:solidFill>
                            <a:srgbClr val="21242A"/>
                          </a:solidFill>
                          <a:latin typeface="Microsoft YaHei"/>
                        </a:rPr>
                        <a:t>最佳反应为疾病稳定（167天）</a:t>
                      </a:r>
                    </a:p>
                  </a:txBody>
                  <a:tcPr>
                    <a:solidFill>
                      <a:srgbClr val="F6F8FB"/>
                    </a:solidFill>
                  </a:tcPr>
                </a:tc>
              </a:tr>
              <a:tr h="322656">
                <a:tc>
                  <a:txBody>
                    <a:bodyPr wrap="square" lIns="36576" rIns="36576" tIns="18288" bIns="18288"/>
                    <a:lstStyle/>
                    <a:p>
                      <a:r>
                        <a:rPr sz="720" b="1">
                          <a:solidFill>
                            <a:srgbClr val="21242A"/>
                          </a:solidFill>
                          <a:latin typeface="Microsoft YaHei"/>
                        </a:rPr>
                        <a:t>联合队列（13例）</a:t>
                      </a:r>
                    </a:p>
                  </a:txBody>
                  <a:tcPr>
                    <a:solidFill>
                      <a:srgbClr val="FFFFFF"/>
                    </a:solidFill>
                  </a:tcPr>
                </a:tc>
                <a:tc>
                  <a:txBody>
                    <a:bodyPr wrap="square" lIns="36576" rIns="36576" tIns="18288" bIns="18288"/>
                    <a:lstStyle/>
                    <a:p>
                      <a:r>
                        <a:rPr sz="720" b="0">
                          <a:solidFill>
                            <a:srgbClr val="21242A"/>
                          </a:solidFill>
                          <a:latin typeface="Microsoft YaHei"/>
                        </a:rPr>
                        <a:t>1例疾病稳定超过4个周期，骨髓原始细胞从40%降至17%；另一例在第1周期疾病稳定，原始细胞从17.5%降至12.4%，第2周期进展。</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疾病场景：转化/Richter</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摘要号：PS1649</a:t>
            </a:r>
          </a:p>
          <a:p>
            <a:pPr>
              <a:lnSpc>
                <a:spcPct val="103000"/>
              </a:lnSpc>
              <a:spcAft>
                <a:spcPts val="300"/>
              </a:spcAft>
              <a:defRPr sz="740">
                <a:solidFill>
                  <a:srgbClr val="5E6570"/>
                </a:solidFill>
                <a:latin typeface="Microsoft YaHei"/>
              </a:defRPr>
            </a:pPr>
            <a:r>
              <a:t>会议栏目：04. Acute myeloid leukemia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在靶向治疗时代重新评估自体干细胞移植在原发性中枢神经系统弥漫性大b细胞淋巴瘤中的作用：一项倾向评分匹配的多中心现实研究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re‑evaluating the role of autologous stem cell transplantation in primary cns...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PF992</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3767328"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N=291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分组：ASCT组/非ASCT组</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主要终点：无进展生存期（PFS），ASCT组优于非ASCT组（p=0.023）</a:t>
            </a:r>
          </a:p>
          <a:p>
            <a:pPr>
              <a:lnSpc>
                <a:spcPct val="103000"/>
              </a:lnSpc>
              <a:spcAft>
                <a:spcPts val="300"/>
              </a:spcAft>
              <a:defRPr sz="800">
                <a:solidFill>
                  <a:srgbClr val="21242A"/>
                </a:solidFill>
                <a:latin typeface="Microsoft YaHei"/>
              </a:defRPr>
            </a:pPr>
            <a:r>
              <a:t>次要终点：总生存期（OS），ASCT组有获益趋势但未达统计学意义（p=0.085）。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人数：291</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分组/治疗流程：ASCT组/非ASCT组</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在靶向治疗时代重新评估自体干细胞移植在原发性中枢神经系统弥漫性大b细胞淋巴瘤中的作用：一项倾向评分匹配的多中心现实研究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re‑evaluating the role of autologous stem cell transplantation in primary cns...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PF992</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3767328"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主要终点：无进展生存期（PFS），ASCT组优于非ASCT组（p=0.023）；次要终点：总生存期（OS），ASCT组有获益趋势但未达统计学意义（p=0.085）。</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疾病场景：PCNSL</a:t>
            </a:r>
          </a:p>
          <a:p>
            <a:pPr>
              <a:lnSpc>
                <a:spcPct val="103000"/>
              </a:lnSpc>
              <a:spcAft>
                <a:spcPts val="300"/>
              </a:spcAft>
              <a:defRPr sz="780">
                <a:solidFill>
                  <a:srgbClr val="21242A"/>
                </a:solidFill>
                <a:latin typeface="Microsoft YaHei"/>
              </a:defRPr>
            </a:pPr>
            <a:r>
              <a:t>药物/技术：BTKi</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摘要号：PF992</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通过脑脊液中的分子和免疫生物标志物诊断原发性中枢神经系统淋巴瘤：一项多中心前瞻性队列研究（pricelus）</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diagnosing primary central nervous system lymphoma through molecular and immu...</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3767328"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N=255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前瞻性临床研究结果：diagnosing primary central nervous system lymphoma th...</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单变量分析：6种细胞因子诊断AUC范围0.67-0.96</a:t>
            </a:r>
          </a:p>
          <a:p>
            <a:pPr>
              <a:lnSpc>
                <a:spcPct val="103000"/>
              </a:lnSpc>
              <a:spcAft>
                <a:spcPts val="300"/>
              </a:spcAft>
              <a:defRPr sz="800">
                <a:solidFill>
                  <a:srgbClr val="21242A"/>
                </a:solidFill>
                <a:latin typeface="Microsoft YaHei"/>
              </a:defRPr>
            </a:pPr>
            <a:r>
              <a:t>MYD88-CSF检出率：56%的CNSL病例阳性，特异性99%</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人数：255</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研究主题：diagnosing primary central nervous system lymphoma through molecular and immune biomarkers in cerebrospinal fluid: a mu...</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通过脑脊液中的分子和免疫生物标志物诊断原发性中枢神经系统淋巴瘤：一项多中心前瞻性队列研究（pricelus）</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diagnosing primary central nervous system lymphoma through molecular and immu...</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3767328"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单变量分析</a:t>
                      </a:r>
                    </a:p>
                  </a:txBody>
                  <a:tcPr>
                    <a:solidFill>
                      <a:srgbClr val="F6F8FB"/>
                    </a:solidFill>
                  </a:tcPr>
                </a:tc>
                <a:tc>
                  <a:txBody>
                    <a:bodyPr wrap="square" lIns="36576" rIns="36576" tIns="18288" bIns="18288"/>
                    <a:lstStyle/>
                    <a:p>
                      <a:r>
                        <a:rPr sz="720" b="0">
                          <a:solidFill>
                            <a:srgbClr val="21242A"/>
                          </a:solidFill>
                          <a:latin typeface="Microsoft YaHei"/>
                        </a:rPr>
                        <a:t>6种细胞因子诊断AUC范围0.67-0.96</a:t>
                      </a:r>
                    </a:p>
                  </a:txBody>
                  <a:tcPr>
                    <a:solidFill>
                      <a:srgbClr val="F6F8FB"/>
                    </a:solidFill>
                  </a:tcPr>
                </a:tc>
              </a:tr>
              <a:tr h="282321">
                <a:tc>
                  <a:txBody>
                    <a:bodyPr wrap="square" lIns="36576" rIns="36576" tIns="18288" bIns="18288"/>
                    <a:lstStyle/>
                    <a:p>
                      <a:r>
                        <a:rPr sz="720" b="1">
                          <a:solidFill>
                            <a:srgbClr val="21242A"/>
                          </a:solidFill>
                          <a:latin typeface="Microsoft YaHei"/>
                        </a:rPr>
                        <a:t>MYD88-CSF检出率</a:t>
                      </a:r>
                    </a:p>
                  </a:txBody>
                  <a:tcPr>
                    <a:solidFill>
                      <a:srgbClr val="FFFFFF"/>
                    </a:solidFill>
                  </a:tcPr>
                </a:tc>
                <a:tc>
                  <a:txBody>
                    <a:bodyPr wrap="square" lIns="36576" rIns="36576" tIns="18288" bIns="18288"/>
                    <a:lstStyle/>
                    <a:p>
                      <a:r>
                        <a:rPr sz="720" b="0">
                          <a:solidFill>
                            <a:srgbClr val="21242A"/>
                          </a:solidFill>
                          <a:latin typeface="Microsoft YaHei"/>
                        </a:rPr>
                        <a:t>56%的CNSL病例阳性，特异性99%</a:t>
                      </a:r>
                    </a:p>
                  </a:txBody>
                  <a:tcPr>
                    <a:solidFill>
                      <a:srgbClr val="FFFFFF"/>
                    </a:solidFill>
                  </a:tcPr>
                </a:tc>
              </a:tr>
              <a:tr h="282321">
                <a:tc>
                  <a:txBody>
                    <a:bodyPr wrap="square" lIns="36576" rIns="36576" tIns="18288" bIns="18288"/>
                    <a:lstStyle/>
                    <a:p>
                      <a:r>
                        <a:rPr sz="720" b="1">
                          <a:solidFill>
                            <a:srgbClr val="21242A"/>
                          </a:solidFill>
                          <a:latin typeface="Microsoft YaHei"/>
                        </a:rPr>
                        <a:t>多变量模型</a:t>
                      </a:r>
                    </a:p>
                  </a:txBody>
                  <a:tcPr>
                    <a:solidFill>
                      <a:srgbClr val="F6F8FB"/>
                    </a:solidFill>
                  </a:tcPr>
                </a:tc>
                <a:tc>
                  <a:txBody>
                    <a:bodyPr wrap="square" lIns="36576" rIns="36576" tIns="18288" bIns="18288"/>
                    <a:lstStyle/>
                    <a:p>
                      <a:r>
                        <a:rPr sz="720" b="0">
                          <a:solidFill>
                            <a:srgbClr val="21242A"/>
                          </a:solidFill>
                          <a:latin typeface="Microsoft YaHei"/>
                        </a:rPr>
                        <a:t>MYD88-CSF、IL10、CXCL13独立与CNSL诊断相关</a:t>
                      </a:r>
                    </a:p>
                  </a:txBody>
                  <a:tcPr>
                    <a:solidFill>
                      <a:srgbClr val="F6F8FB"/>
                    </a:solidFill>
                  </a:tcPr>
                </a:tc>
              </a:tr>
              <a:tr h="282321">
                <a:tc>
                  <a:txBody>
                    <a:bodyPr wrap="square" lIns="36576" rIns="36576" tIns="18288" bIns="18288"/>
                    <a:lstStyle/>
                    <a:p>
                      <a:r>
                        <a:rPr sz="720" b="1">
                          <a:solidFill>
                            <a:srgbClr val="21242A"/>
                          </a:solidFill>
                          <a:latin typeface="Microsoft YaHei"/>
                        </a:rPr>
                        <a:t>三者组合</a:t>
                      </a:r>
                    </a:p>
                  </a:txBody>
                  <a:tcPr>
                    <a:solidFill>
                      <a:srgbClr val="FFFFFF"/>
                    </a:solidFill>
                  </a:tcPr>
                </a:tc>
                <a:tc>
                  <a:txBody>
                    <a:bodyPr wrap="square" lIns="36576" rIns="36576" tIns="18288" bIns="18288"/>
                    <a:lstStyle/>
                    <a:p>
                      <a:r>
                        <a:rPr sz="720" b="0">
                          <a:solidFill>
                            <a:srgbClr val="21242A"/>
                          </a:solidFill>
                          <a:latin typeface="Microsoft YaHei"/>
                        </a:rPr>
                        <a:t>特异性100%，敏感性54%</a:t>
                      </a:r>
                    </a:p>
                  </a:txBody>
                  <a:tcPr>
                    <a:solidFill>
                      <a:srgbClr val="FFFFFF"/>
                    </a:solidFill>
                  </a:tcPr>
                </a:tc>
              </a:tr>
              <a:tr h="282321">
                <a:tc>
                  <a:txBody>
                    <a:bodyPr wrap="square" lIns="36576" rIns="36576" tIns="18288" bIns="18288"/>
                    <a:lstStyle/>
                    <a:p>
                      <a:r>
                        <a:rPr sz="720" b="1">
                          <a:solidFill>
                            <a:srgbClr val="21242A"/>
                          </a:solidFill>
                          <a:latin typeface="Microsoft YaHei"/>
                        </a:rPr>
                        <a:t>阴性预测值</a:t>
                      </a:r>
                    </a:p>
                  </a:txBody>
                  <a:tcPr>
                    <a:solidFill>
                      <a:srgbClr val="F6F8FB"/>
                    </a:solidFill>
                  </a:tcPr>
                </a:tc>
                <a:tc>
                  <a:txBody>
                    <a:bodyPr wrap="square" lIns="36576" rIns="36576" tIns="18288" bIns="18288"/>
                    <a:lstStyle/>
                    <a:p>
                      <a:r>
                        <a:rPr sz="720" b="0">
                          <a:solidFill>
                            <a:srgbClr val="21242A"/>
                          </a:solidFill>
                          <a:latin typeface="Microsoft YaHei"/>
                        </a:rPr>
                        <a:t>三项标志物均阴性时阴性预测值为99.4%</a:t>
                      </a:r>
                    </a:p>
                  </a:txBody>
                  <a:tcPr>
                    <a:solidFill>
                      <a:srgbClr val="F6F8FB"/>
                    </a:solidFill>
                  </a:tcPr>
                </a:tc>
              </a:tr>
              <a:tr h="282321">
                <a:tc>
                  <a:txBody>
                    <a:bodyPr wrap="square" lIns="36576" rIns="36576" tIns="18288" bIns="18288"/>
                    <a:lstStyle/>
                    <a:p>
                      <a:r>
                        <a:rPr sz="720" b="1">
                          <a:solidFill>
                            <a:srgbClr val="21242A"/>
                          </a:solidFill>
                          <a:latin typeface="Microsoft YaHei"/>
                        </a:rPr>
                        <a:t>不确定患者</a:t>
                      </a:r>
                    </a:p>
                  </a:txBody>
                  <a:tcPr>
                    <a:solidFill>
                      <a:srgbClr val="FFFFFF"/>
                    </a:solidFill>
                  </a:tcPr>
                </a:tc>
                <a:tc>
                  <a:txBody>
                    <a:bodyPr wrap="square" lIns="36576" rIns="36576" tIns="18288" bIns="18288"/>
                    <a:lstStyle/>
                    <a:p>
                      <a:r>
                        <a:rPr sz="720" b="0">
                          <a:solidFill>
                            <a:srgbClr val="21242A"/>
                          </a:solidFill>
                          <a:latin typeface="Microsoft YaHei"/>
                        </a:rPr>
                        <a:t>56例，其中36%为CNSL</a:t>
                      </a:r>
                    </a:p>
                  </a:txBody>
                  <a:tcPr>
                    <a:solidFill>
                      <a:srgbClr val="FFFFFF"/>
                    </a:solidFill>
                  </a:tcPr>
                </a:tc>
              </a:tr>
              <a:tr h="282321">
                <a:tc>
                  <a:txBody>
                    <a:bodyPr wrap="square" lIns="36576" rIns="36576" tIns="18288" bIns="18288"/>
                    <a:lstStyle/>
                    <a:p>
                      <a:r>
                        <a:rPr sz="720" b="1">
                          <a:solidFill>
                            <a:srgbClr val="21242A"/>
                          </a:solidFill>
                          <a:latin typeface="Microsoft YaHei"/>
                        </a:rPr>
                        <a:t>潜在避免活检比例</a:t>
                      </a:r>
                    </a:p>
                  </a:txBody>
                  <a:tcPr>
                    <a:solidFill>
                      <a:srgbClr val="F6F8FB"/>
                    </a:solidFill>
                  </a:tcPr>
                </a:tc>
                <a:tc>
                  <a:txBody>
                    <a:bodyPr wrap="square" lIns="36576" rIns="36576" tIns="18288" bIns="18288"/>
                    <a:lstStyle/>
                    <a:p>
                      <a:r>
                        <a:rPr sz="720" b="0">
                          <a:solidFill>
                            <a:srgbClr val="21242A"/>
                          </a:solidFill>
                          <a:latin typeface="Microsoft YaHei"/>
                        </a:rPr>
                        <a:t>45%（13/29）的CNSL活检可能因阳性CSF标志物而避免</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疾病场景：PCNSL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摘要号：S257</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中枢神经系统淋巴瘤car-t复发后的治疗模式和临床结果，重点是二次car-t治疗</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post–car-t relapse in cns-involved lymphoma: treatment patterns and clinical...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PF983</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N=77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分组：由于是回顾性研究，未进行前瞻性随机分组，但根据治疗后分为：</a:t>
            </a:r>
          </a:p>
          <a:p>
            <a:pPr>
              <a:lnSpc>
                <a:spcPct val="103000"/>
              </a:lnSpc>
              <a:spcAft>
                <a:spcPts val="300"/>
              </a:spcAft>
              <a:defRPr sz="800">
                <a:solidFill>
                  <a:srgbClr val="21242A"/>
                </a:solidFill>
                <a:latin typeface="Microsoft YaHei"/>
              </a:defRPr>
            </a:pPr>
            <a:r>
              <a:t>组1：第二次CAR-T治疗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对照/比较：由于是回顾性研究，未进行前瞻性随机分组，但根据治疗后分为：</a:t>
            </a:r>
          </a:p>
          <a:p>
            <a:pPr>
              <a:lnSpc>
                <a:spcPct val="103000"/>
              </a:lnSpc>
              <a:spcAft>
                <a:spcPts val="300"/>
              </a:spcAft>
              <a:defRPr sz="800">
                <a:solidFill>
                  <a:srgbClr val="21242A"/>
                </a:solidFill>
                <a:latin typeface="Microsoft YaHei"/>
              </a:defRPr>
            </a:pPr>
            <a:r>
              <a:t>组1：第二次CAR-T治疗</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总缓解率（ORR）：57.1%（16/28）</a:t>
            </a:r>
          </a:p>
          <a:p>
            <a:pPr>
              <a:lnSpc>
                <a:spcPct val="103000"/>
              </a:lnSpc>
              <a:spcAft>
                <a:spcPts val="300"/>
              </a:spcAft>
              <a:defRPr sz="800">
                <a:solidFill>
                  <a:srgbClr val="21242A"/>
                </a:solidFill>
                <a:latin typeface="Microsoft YaHei"/>
              </a:defRPr>
            </a:pPr>
            <a:r>
              <a:t>完全缓解率（CR）：46.4%（13/28）</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人数：77</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分组/治疗流程：由于是回顾性研究、未进行前瞻性随机分组、但根据治疗后分为：</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中枢神经系统淋巴瘤car-t复发后的治疗模式和临床结果，重点是二次car-t治疗</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post–car-t relapse in cns-involved lymphoma: treatment patterns and clinical...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PF983</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总缓解率（ORR）</a:t>
                      </a:r>
                    </a:p>
                  </a:txBody>
                  <a:tcPr>
                    <a:solidFill>
                      <a:srgbClr val="F6F8FB"/>
                    </a:solidFill>
                  </a:tcPr>
                </a:tc>
                <a:tc>
                  <a:txBody>
                    <a:bodyPr wrap="square" lIns="36576" rIns="36576" tIns="18288" bIns="18288"/>
                    <a:lstStyle/>
                    <a:p>
                      <a:r>
                        <a:rPr sz="720" b="0">
                          <a:solidFill>
                            <a:srgbClr val="21242A"/>
                          </a:solidFill>
                          <a:latin typeface="Microsoft YaHei"/>
                        </a:rPr>
                        <a:t>57.1%（16/28）</a:t>
                      </a:r>
                    </a:p>
                  </a:txBody>
                  <a:tcPr>
                    <a:solidFill>
                      <a:srgbClr val="F6F8FB"/>
                    </a:solidFill>
                  </a:tcPr>
                </a:tc>
              </a:tr>
              <a:tr h="282321">
                <a:tc>
                  <a:txBody>
                    <a:bodyPr wrap="square" lIns="36576" rIns="36576" tIns="18288" bIns="18288"/>
                    <a:lstStyle/>
                    <a:p>
                      <a:r>
                        <a:rPr sz="720" b="1">
                          <a:solidFill>
                            <a:srgbClr val="21242A"/>
                          </a:solidFill>
                          <a:latin typeface="Microsoft YaHei"/>
                        </a:rPr>
                        <a:t>完全缓解率（CR）</a:t>
                      </a:r>
                    </a:p>
                  </a:txBody>
                  <a:tcPr>
                    <a:solidFill>
                      <a:srgbClr val="FFFFFF"/>
                    </a:solidFill>
                  </a:tcPr>
                </a:tc>
                <a:tc>
                  <a:txBody>
                    <a:bodyPr wrap="square" lIns="36576" rIns="36576" tIns="18288" bIns="18288"/>
                    <a:lstStyle/>
                    <a:p>
                      <a:r>
                        <a:rPr sz="720" b="0">
                          <a:solidFill>
                            <a:srgbClr val="21242A"/>
                          </a:solidFill>
                          <a:latin typeface="Microsoft YaHei"/>
                        </a:rPr>
                        <a:t>46.4%（13/28）</a:t>
                      </a:r>
                    </a:p>
                  </a:txBody>
                  <a:tcPr>
                    <a:solidFill>
                      <a:srgbClr val="FFFFFF"/>
                    </a:solidFill>
                  </a:tcPr>
                </a:tc>
              </a:tr>
              <a:tr h="282321">
                <a:tc>
                  <a:txBody>
                    <a:bodyPr wrap="square" lIns="36576" rIns="36576" tIns="18288" bIns="18288"/>
                    <a:lstStyle/>
                    <a:p>
                      <a:r>
                        <a:rPr sz="720" b="1">
                          <a:solidFill>
                            <a:srgbClr val="21242A"/>
                          </a:solidFill>
                          <a:latin typeface="Microsoft YaHei"/>
                        </a:rPr>
                        <a:t>第二次CAR-T组中位无进展生存期（PFS）</a:t>
                      </a:r>
                    </a:p>
                  </a:txBody>
                  <a:tcPr>
                    <a:solidFill>
                      <a:srgbClr val="F6F8FB"/>
                    </a:solidFill>
                  </a:tcPr>
                </a:tc>
                <a:tc>
                  <a:txBody>
                    <a:bodyPr wrap="square" lIns="36576" rIns="36576" tIns="18288" bIns="18288"/>
                    <a:lstStyle/>
                    <a:p>
                      <a:r>
                        <a:rPr sz="720" b="0">
                          <a:solidFill>
                            <a:srgbClr val="21242A"/>
                          </a:solidFill>
                          <a:latin typeface="Microsoft YaHei"/>
                        </a:rPr>
                        <a:t>6.28个月</a:t>
                      </a:r>
                    </a:p>
                  </a:txBody>
                  <a:tcPr>
                    <a:solidFill>
                      <a:srgbClr val="F6F8FB"/>
                    </a:solidFill>
                  </a:tcPr>
                </a:tc>
              </a:tr>
              <a:tr h="282321">
                <a:tc>
                  <a:txBody>
                    <a:bodyPr wrap="square" lIns="36576" rIns="36576" tIns="18288" bIns="18288"/>
                    <a:lstStyle/>
                    <a:p>
                      <a:r>
                        <a:rPr sz="720" b="1">
                          <a:solidFill>
                            <a:srgbClr val="21242A"/>
                          </a:solidFill>
                          <a:latin typeface="Microsoft YaHei"/>
                        </a:rPr>
                        <a:t>第二次CAR-T组中位总生存期（OS）</a:t>
                      </a:r>
                    </a:p>
                  </a:txBody>
                  <a:tcPr>
                    <a:solidFill>
                      <a:srgbClr val="FFFFFF"/>
                    </a:solidFill>
                  </a:tcPr>
                </a:tc>
                <a:tc>
                  <a:txBody>
                    <a:bodyPr wrap="square" lIns="36576" rIns="36576" tIns="18288" bIns="18288"/>
                    <a:lstStyle/>
                    <a:p>
                      <a:r>
                        <a:rPr sz="720" b="0">
                          <a:solidFill>
                            <a:srgbClr val="21242A"/>
                          </a:solidFill>
                          <a:latin typeface="Microsoft YaHei"/>
                        </a:rPr>
                        <a:t>15.81个月</a:t>
                      </a:r>
                    </a:p>
                  </a:txBody>
                  <a:tcPr>
                    <a:solidFill>
                      <a:srgbClr val="FFFFFF"/>
                    </a:solidFill>
                  </a:tcPr>
                </a:tc>
              </a:tr>
              <a:tr h="282321">
                <a:tc>
                  <a:txBody>
                    <a:bodyPr wrap="square" lIns="36576" rIns="36576" tIns="18288" bIns="18288"/>
                    <a:lstStyle/>
                    <a:p>
                      <a:r>
                        <a:rPr sz="720" b="1">
                          <a:solidFill>
                            <a:srgbClr val="21242A"/>
                          </a:solidFill>
                          <a:latin typeface="Microsoft YaHei"/>
                        </a:rPr>
                        <a:t>非CAR-T组中位OS</a:t>
                      </a:r>
                    </a:p>
                  </a:txBody>
                  <a:tcPr>
                    <a:solidFill>
                      <a:srgbClr val="F6F8FB"/>
                    </a:solidFill>
                  </a:tcPr>
                </a:tc>
                <a:tc>
                  <a:txBody>
                    <a:bodyPr wrap="square" lIns="36576" rIns="36576" tIns="18288" bIns="18288"/>
                    <a:lstStyle/>
                    <a:p>
                      <a:r>
                        <a:rPr sz="720" b="0">
                          <a:solidFill>
                            <a:srgbClr val="21242A"/>
                          </a:solidFill>
                          <a:latin typeface="Microsoft YaHei"/>
                        </a:rPr>
                        <a:t>8.55个月（p≈0.068）</a:t>
                      </a:r>
                    </a:p>
                  </a:txBody>
                  <a:tcPr>
                    <a:solidFill>
                      <a:srgbClr val="F6F8FB"/>
                    </a:solidFill>
                  </a:tcPr>
                </a:tc>
              </a:tr>
              <a:tr h="282321">
                <a:tc>
                  <a:txBody>
                    <a:bodyPr wrap="square" lIns="36576" rIns="36576" tIns="18288" bIns="18288"/>
                    <a:lstStyle/>
                    <a:p>
                      <a:r>
                        <a:rPr sz="720" b="1">
                          <a:solidFill>
                            <a:srgbClr val="21242A"/>
                          </a:solidFill>
                          <a:latin typeface="Microsoft YaHei"/>
                        </a:rPr>
                        <a:t>细胞因子释放综合征（CRS）</a:t>
                      </a:r>
                    </a:p>
                  </a:txBody>
                  <a:tcPr>
                    <a:solidFill>
                      <a:srgbClr val="FFFFFF"/>
                    </a:solidFill>
                  </a:tcPr>
                </a:tc>
                <a:tc>
                  <a:txBody>
                    <a:bodyPr wrap="square" lIns="36576" rIns="36576" tIns="18288" bIns="18288"/>
                    <a:lstStyle/>
                    <a:p>
                      <a:r>
                        <a:rPr sz="720" b="0">
                          <a:solidFill>
                            <a:srgbClr val="21242A"/>
                          </a:solidFill>
                          <a:latin typeface="Microsoft YaHei"/>
                        </a:rPr>
                        <a:t>发生23例（82.1%），均为1-2级</a:t>
                      </a:r>
                    </a:p>
                  </a:txBody>
                  <a:tcPr>
                    <a:solidFill>
                      <a:srgbClr val="FFFFFF"/>
                    </a:solidFill>
                  </a:tcPr>
                </a:tc>
              </a:tr>
              <a:tr h="282321">
                <a:tc>
                  <a:txBody>
                    <a:bodyPr wrap="square" lIns="36576" rIns="36576" tIns="18288" bIns="18288"/>
                    <a:lstStyle/>
                    <a:p>
                      <a:r>
                        <a:rPr sz="720" b="1">
                          <a:solidFill>
                            <a:srgbClr val="21242A"/>
                          </a:solidFill>
                          <a:latin typeface="Microsoft YaHei"/>
                        </a:rPr>
                        <a:t>免疫效应细胞相关神经毒性综合征（ICANS）</a:t>
                      </a:r>
                    </a:p>
                  </a:txBody>
                  <a:tcPr>
                    <a:solidFill>
                      <a:srgbClr val="F6F8FB"/>
                    </a:solidFill>
                  </a:tcPr>
                </a:tc>
                <a:tc>
                  <a:txBody>
                    <a:bodyPr wrap="square" lIns="36576" rIns="36576" tIns="18288" bIns="18288"/>
                    <a:lstStyle/>
                    <a:p>
                      <a:r>
                        <a:rPr sz="720" b="0">
                          <a:solidFill>
                            <a:srgbClr val="21242A"/>
                          </a:solidFill>
                          <a:latin typeface="Microsoft YaHei"/>
                        </a:rPr>
                        <a:t>发生9例（32.1%），仅1例≥3级</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疾病场景：SCNSL/CNS复发或预防</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摘要号：PF983</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62例原发性纵隔大b细胞淋巴瘤（pmlbcl）患者继发中枢神经系统（cns）受累的国际队列管理和结果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management and outcome of secondary central nervous system (cns) involvement...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PF1040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原发纵隔大B细胞淋巴瘤</a:t>
            </a:r>
          </a:p>
          <a:p>
            <a:pPr>
              <a:lnSpc>
                <a:spcPct val="103000"/>
              </a:lnSpc>
              <a:spcAft>
                <a:spcPts val="300"/>
              </a:spcAft>
              <a:defRPr sz="800">
                <a:solidFill>
                  <a:srgbClr val="21242A"/>
                </a:solidFill>
                <a:latin typeface="Microsoft YaHei"/>
              </a:defRPr>
            </a:pPr>
            <a:r>
              <a:t>N=62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分组：试验组1：大剂量甲氨蝶呤（HD-MTX）为基础化疗后，有效者接受自体干细胞移植（ASCT）和/或全脑放疗（WBRT）</a:t>
            </a:r>
          </a:p>
          <a:p>
            <a:pPr>
              <a:lnSpc>
                <a:spcPct val="103000"/>
              </a:lnSpc>
              <a:spcAft>
                <a:spcPts val="300"/>
              </a:spcAft>
              <a:defRPr sz="800">
                <a:solidFill>
                  <a:srgbClr val="21242A"/>
                </a:solidFill>
                <a:latin typeface="Microsoft YaHei"/>
              </a:defRPr>
            </a:pPr>
            <a:r>
              <a:t>无效者接受脑部放疗或鞘内化疗（ITC）作为桥接，继以CAR-T细胞治疗或ASCT</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多组/多方案比较：试验组1：大剂量甲氨蝶呤（HD-MTX）为基础化疗后，有效者接受自体干细胞移植（ASCT）和/或全脑放疗（W...</a:t>
            </a:r>
          </a:p>
          <a:p>
            <a:pPr>
              <a:lnSpc>
                <a:spcPct val="103000"/>
              </a:lnSpc>
              <a:spcAft>
                <a:spcPts val="300"/>
              </a:spcAft>
              <a:defRPr sz="800">
                <a:solidFill>
                  <a:srgbClr val="21242A"/>
                </a:solidFill>
                <a:latin typeface="Microsoft YaHei"/>
              </a:defRPr>
            </a:pPr>
            <a:r>
              <a:t>无效者接受脑部放疗或鞘内化疗（ITC）作为桥接，继以CAR-T细胞治疗或ASCT</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5年无进展生存率（PFS）为24%（95%CI=6-48），5年总生存率（OS）为51%（95%CI=45-57）||HD-M...</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人数：62</a:t>
            </a:r>
          </a:p>
          <a:p>
            <a:pPr>
              <a:lnSpc>
                <a:spcPct val="103000"/>
              </a:lnSpc>
              <a:spcAft>
                <a:spcPts val="300"/>
              </a:spcAft>
              <a:defRPr sz="810">
                <a:solidFill>
                  <a:srgbClr val="21242A"/>
                </a:solidFill>
                <a:latin typeface="Microsoft YaHei"/>
              </a:defRPr>
            </a:pPr>
            <a:r>
              <a:t>适应症：原发纵隔大B细胞淋巴瘤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登记号：NCT06024694</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分组/治疗流程：试验组1：大剂量甲氨蝶呤（HD-MTX）为基础化疗后、有效者接受自体干细胞移植（ASCT）和/或全脑放疗（WBRT）；无效者接受脑部放疗或鞘内化疗（ITC）作为桥接、继以...</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62例原发性纵隔大b细胞淋巴瘤（pmlbcl）患者继发中枢神经系统（cns）受累的国际队列管理和结果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management and outcome of secondary central nervous system (cns) involvement...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PF1040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5年无进展生存率（PFS）为24%（95%CI=6-48），5年总生存率（OS）为51%（95%CI=45-57）||HD-MTX-based化疗后ASCT/WBRT或桥接治疗组（n=30）5年OS为83%（95%CI=63-92）||</a:t>
            </a:r>
          </a:p>
          <a:p>
            <a:pPr>
              <a:lnSpc>
                <a:spcPct val="103000"/>
              </a:lnSpc>
              <a:spcAft>
                <a:spcPts val="300"/>
              </a:spcAft>
              <a:defRPr sz="819">
                <a:solidFill>
                  <a:srgbClr val="21242A"/>
                </a:solidFill>
                <a:latin typeface="Microsoft YaHei"/>
              </a:defRPr>
            </a:pPr>
            <a:r>
              <a:t>2015-2024年治疗的患者OS优于早期（5年OS 67% vs 38%，p=0.04）</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疾病场景：SCNSL/CNS复发或预防</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摘要号：PF1040</a:t>
            </a:r>
          </a:p>
          <a:p>
            <a:pPr>
              <a:lnSpc>
                <a:spcPct val="103000"/>
              </a:lnSpc>
              <a:spcAft>
                <a:spcPts val="300"/>
              </a:spcAft>
              <a:defRPr sz="740">
                <a:solidFill>
                  <a:srgbClr val="5E6570"/>
                </a:solidFill>
                <a:latin typeface="Microsoft YaHei"/>
              </a:defRPr>
            </a:pPr>
            <a:r>
              <a:t>会议栏目：20. Other aggressive lymphomas</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复发/难治性原发性中枢神经系统淋巴瘤对扎努布替尼反应和耐药性的基因组决定因素：来自prizm+试验的基线生物标志物分析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genomic determinants of response and resistance to zanubrutinib in relapsed/r...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PS2187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N=19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试验药/方案：泽布替尼</a:t>
            </a:r>
          </a:p>
          <a:p>
            <a:pPr>
              <a:lnSpc>
                <a:spcPct val="103000"/>
              </a:lnSpc>
              <a:spcAft>
                <a:spcPts val="300"/>
              </a:spcAft>
              <a:defRPr sz="800">
                <a:solidFill>
                  <a:srgbClr val="21242A"/>
                </a:solidFill>
                <a:latin typeface="Microsoft YaHei"/>
              </a:defRPr>
            </a:pPr>
            <a:r>
              <a:t>靶点：BTK</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客观缓解率（ORR，2周期后）：11/19例（57.9%）达到完全或部分缓解</a:t>
            </a:r>
          </a:p>
          <a:p>
            <a:pPr>
              <a:lnSpc>
                <a:spcPct val="103000"/>
              </a:lnSpc>
              <a:spcAft>
                <a:spcPts val="300"/>
              </a:spcAft>
              <a:defRPr sz="800">
                <a:solidFill>
                  <a:srgbClr val="21242A"/>
                </a:solidFill>
                <a:latin typeface="Microsoft YaHei"/>
              </a:defRPr>
            </a:pPr>
            <a:r>
              <a:t>持久缓解（定义为&gt;12个月无进展）：6/19例（31.6%）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人数：19</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登记号：ISRCTN90634455</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试验药/方案：泽布替尼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复发/难治性原发性中枢神经系统淋巴瘤对扎努布替尼反应和耐药性的基因组决定因素：来自prizm+试验的基线生物标志物分析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genomic determinants of response and resistance to zanubrutinib in relapsed/r...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PS2187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EHA原文结果（中文字段未通过数字核对）（1/3）</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Baseline genomic landscape was consistent with prior PCNSL studies, with recurrent mutations in MYD88 (53%), </a:t>
            </a:r>
          </a:p>
          <a:p>
            <a:pPr>
              <a:lnSpc>
                <a:spcPct val="103000"/>
              </a:lnSpc>
              <a:spcAft>
                <a:spcPts val="300"/>
              </a:spcAft>
              <a:defRPr sz="819">
                <a:solidFill>
                  <a:srgbClr val="21242A"/>
                </a:solidFill>
                <a:latin typeface="Microsoft YaHei"/>
              </a:defRPr>
            </a:pPr>
            <a:r>
              <a:t>CD79B (47%) and CARD11 (47%).</a:t>
            </a:r>
          </a:p>
          <a:p>
            <a:pPr>
              <a:lnSpc>
                <a:spcPct val="103000"/>
              </a:lnSpc>
              <a:spcAft>
                <a:spcPts val="300"/>
              </a:spcAft>
              <a:defRPr sz="819">
                <a:solidFill>
                  <a:srgbClr val="21242A"/>
                </a:solidFill>
                <a:latin typeface="Microsoft YaHei"/>
              </a:defRPr>
            </a:pPr>
            <a:r>
              <a:t>Recurrent copy-number alterations included gains at 3p22.3, 3q29, and 7q21.3 and deletions at 1p13.1, 6p21.32, and 6q2</a:t>
            </a:r>
          </a:p>
          <a:p>
            <a:pPr>
              <a:lnSpc>
                <a:spcPct val="103000"/>
              </a:lnSpc>
              <a:spcAft>
                <a:spcPts val="300"/>
              </a:spcAft>
              <a:defRPr sz="819">
                <a:solidFill>
                  <a:srgbClr val="21242A"/>
                </a:solidFill>
                <a:latin typeface="Microsoft YaHei"/>
              </a:defRPr>
            </a:pPr>
            <a:r>
              <a:t>1, affecting genes such as BTG2 , CD58 , PRDM1 , and HLA class I/II loci.</a:t>
            </a:r>
          </a:p>
          <a:p>
            <a:pPr>
              <a:lnSpc>
                <a:spcPct val="103000"/>
              </a:lnSpc>
              <a:spcAft>
                <a:spcPts val="300"/>
              </a:spcAft>
              <a:defRPr sz="819">
                <a:solidFill>
                  <a:srgbClr val="21242A"/>
                </a:solidFill>
                <a:latin typeface="Microsoft YaHei"/>
              </a:defRPr>
            </a:pPr>
            <a:r>
              <a:t>Whole-genome duplication (WGD) occurred in four tumours and was associated with markedly increased genomic instability</a:t>
            </a:r>
          </a:p>
          <a:p>
            <a:pPr>
              <a:lnSpc>
                <a:spcPct val="103000"/>
              </a:lnSpc>
              <a:spcAft>
                <a:spcPts val="300"/>
              </a:spcAft>
              <a:defRPr sz="819">
                <a:solidFill>
                  <a:srgbClr val="21242A"/>
                </a:solidFill>
                <a:latin typeface="Microsoft YaHei"/>
              </a:defRPr>
            </a:pPr>
            <a:r>
              <a:t>.</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疾病场景：SCNSL/CNS复发或预防</a:t>
            </a:r>
          </a:p>
          <a:p>
            <a:pPr>
              <a:lnSpc>
                <a:spcPct val="103000"/>
              </a:lnSpc>
              <a:spcAft>
                <a:spcPts val="300"/>
              </a:spcAft>
              <a:defRPr sz="780">
                <a:solidFill>
                  <a:srgbClr val="21242A"/>
                </a:solidFill>
                <a:latin typeface="Microsoft YaHei"/>
              </a:defRPr>
            </a:pPr>
            <a:r>
              <a:t>药物/技术：BTKi</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摘要号：PS2187</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复发/难治性原发性中枢神经系统淋巴瘤对扎努布替尼反应和耐药性的基因组决定因素：来自prizm+试验的基线生物标志物分析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genomic determinants of response and resistance to zanubrutinib in relapsed/r...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PS2187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EHA原文结果（中文字段未通过数字核对）（2/3）</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Molecular subtyping assigned 52.6% (10/19) of cases to the DLBclass MYD88/CD79B-driven C5 subtype and 10.5% (2/19) bei</a:t>
            </a:r>
          </a:p>
          <a:p>
            <a:pPr>
              <a:lnSpc>
                <a:spcPct val="103000"/>
              </a:lnSpc>
              <a:spcAft>
                <a:spcPts val="300"/>
              </a:spcAft>
              <a:defRPr sz="819">
                <a:solidFill>
                  <a:srgbClr val="21242A"/>
                </a:solidFill>
                <a:latin typeface="Microsoft YaHei"/>
              </a:defRPr>
            </a:pPr>
            <a:r>
              <a:t>ng C2 tumours enriched for TP53 alterations, genomic instability and disruption of MHC class I genes.</a:t>
            </a:r>
          </a:p>
          <a:p>
            <a:pPr>
              <a:lnSpc>
                <a:spcPct val="103000"/>
              </a:lnSpc>
              <a:spcAft>
                <a:spcPts val="300"/>
              </a:spcAft>
              <a:defRPr sz="819">
                <a:solidFill>
                  <a:srgbClr val="21242A"/>
                </a:solidFill>
                <a:latin typeface="Microsoft YaHei"/>
              </a:defRPr>
            </a:pPr>
            <a:r>
              <a:t>Concordance between DLBclass and LymphGen classifiers was high.</a:t>
            </a:r>
          </a:p>
          <a:p>
            <a:pPr>
              <a:lnSpc>
                <a:spcPct val="103000"/>
              </a:lnSpc>
              <a:spcAft>
                <a:spcPts val="300"/>
              </a:spcAft>
              <a:defRPr sz="819">
                <a:solidFill>
                  <a:srgbClr val="21242A"/>
                </a:solidFill>
                <a:latin typeface="Microsoft YaHei"/>
              </a:defRPr>
            </a:pPr>
            <a:r>
              <a:t>Summary/Conclusion: D isruption of MHC class I - associated genes in diagnostic tumour tissue predicts e POD on BTK i </a:t>
            </a:r>
          </a:p>
          <a:p>
            <a:pPr>
              <a:lnSpc>
                <a:spcPct val="103000"/>
              </a:lnSpc>
              <a:spcAft>
                <a:spcPts val="300"/>
              </a:spcAft>
              <a:defRPr sz="819">
                <a:solidFill>
                  <a:srgbClr val="21242A"/>
                </a:solidFill>
                <a:latin typeface="Microsoft YaHei"/>
              </a:defRPr>
            </a:pPr>
            <a:r>
              <a:t>therapy and appears more prognostic than early MRI response.</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复发/难治性原发性中枢神经系统淋巴瘤对扎努布替尼反应和耐药性的基因组决定因素：来自prizm+试验的基线生物标志物分析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genomic determinants of response and resistance to zanubrutinib in relapsed/r...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PS2187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EHA原文结果（中文字段未通过数字核对）（3/3）</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These findings implicate immune evasion as a potential mechanism of resistance to BTK inhibition in rrPCNSL and suppor</a:t>
            </a:r>
          </a:p>
          <a:p>
            <a:pPr>
              <a:lnSpc>
                <a:spcPct val="103000"/>
              </a:lnSpc>
              <a:spcAft>
                <a:spcPts val="300"/>
              </a:spcAft>
              <a:defRPr sz="819">
                <a:solidFill>
                  <a:srgbClr val="21242A"/>
                </a:solidFill>
                <a:latin typeface="Microsoft YaHei"/>
              </a:defRPr>
            </a:pPr>
            <a:r>
              <a:t>t the value of genomic profiling of diagnostic tissue to aid response prediction .</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替拉鲁替尼在复发或难治性原发性中枢神经系统淋巴瘤中的实际持久临床益处及其安全性：来自《启示》研究的中期分析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durable clinical benefits of tirabrutinib and its safety profile 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PS2151</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N=19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试验药/方案：替拉鲁替尼</a:t>
            </a:r>
          </a:p>
          <a:p>
            <a:pPr>
              <a:lnSpc>
                <a:spcPct val="103000"/>
              </a:lnSpc>
              <a:spcAft>
                <a:spcPts val="300"/>
              </a:spcAft>
              <a:defRPr sz="800">
                <a:solidFill>
                  <a:srgbClr val="21242A"/>
                </a:solidFill>
                <a:latin typeface="Microsoft YaHei"/>
              </a:defRPr>
            </a:pPr>
            <a:r>
              <a:t>靶点：BTK</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客观缓解率(ORR)：63.2% (12/19)</a:t>
            </a:r>
          </a:p>
          <a:p>
            <a:pPr>
              <a:lnSpc>
                <a:spcPct val="103000"/>
              </a:lnSpc>
              <a:spcAft>
                <a:spcPts val="300"/>
              </a:spcAft>
              <a:defRPr sz="800">
                <a:solidFill>
                  <a:srgbClr val="21242A"/>
                </a:solidFill>
                <a:latin typeface="Microsoft YaHei"/>
              </a:defRPr>
            </a:pPr>
            <a:r>
              <a:t>完全缓解(CR)：3例</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人数：19</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登记号：NCT06714370</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试验药/方案：替拉鲁替尼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替拉鲁替尼在复发或难治性原发性中枢神经系统淋巴瘤中的实际持久临床益处及其安全性：来自《启示》研究的中期分析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durable clinical benefits of tirabrutinib and its safety profile 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PS2151</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EHA原文结果（中文字段未通过数字核对）（1/4）</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At the data cutoff (September 2025) for the first interim analysis, 19 patients were enrolled.</a:t>
            </a:r>
          </a:p>
          <a:p>
            <a:pPr>
              <a:lnSpc>
                <a:spcPct val="103000"/>
              </a:lnSpc>
              <a:spcAft>
                <a:spcPts val="300"/>
              </a:spcAft>
              <a:defRPr sz="819">
                <a:solidFill>
                  <a:srgbClr val="21242A"/>
                </a:solidFill>
                <a:latin typeface="Microsoft YaHei"/>
              </a:defRPr>
            </a:pPr>
            <a:r>
              <a:t>With median follow-up of 10.9 months, tirabrutinib provided promising effectiveness with an ORR of 63.2% (12/19 [compl</a:t>
            </a:r>
          </a:p>
          <a:p>
            <a:pPr>
              <a:lnSpc>
                <a:spcPct val="103000"/>
              </a:lnSpc>
              <a:spcAft>
                <a:spcPts val="300"/>
              </a:spcAft>
              <a:defRPr sz="819">
                <a:solidFill>
                  <a:srgbClr val="21242A"/>
                </a:solidFill>
                <a:latin typeface="Microsoft YaHei"/>
              </a:defRPr>
            </a:pPr>
            <a:r>
              <a:t>ete response in 3, unconfirmed CR in 1, partial response in 8 patients]).</a:t>
            </a:r>
          </a:p>
          <a:p>
            <a:pPr>
              <a:lnSpc>
                <a:spcPct val="103000"/>
              </a:lnSpc>
              <a:spcAft>
                <a:spcPts val="300"/>
              </a:spcAft>
              <a:defRPr sz="819">
                <a:solidFill>
                  <a:srgbClr val="21242A"/>
                </a:solidFill>
                <a:latin typeface="Microsoft YaHei"/>
              </a:defRPr>
            </a:pPr>
            <a:r>
              <a:t>The response was characterized by a rapid onset, with a median TTR of 2.2 months.</a:t>
            </a:r>
          </a:p>
          <a:p>
            <a:pPr>
              <a:lnSpc>
                <a:spcPct val="103000"/>
              </a:lnSpc>
              <a:spcAft>
                <a:spcPts val="300"/>
              </a:spcAft>
              <a:defRPr sz="819">
                <a:solidFill>
                  <a:srgbClr val="21242A"/>
                </a:solidFill>
                <a:latin typeface="Microsoft YaHei"/>
              </a:defRPr>
            </a:pPr>
            <a:r>
              <a:t>Notably, treatment responses were resilient: among 12 responders, 10 maintained their response during the follow-up pe</a:t>
            </a:r>
          </a:p>
          <a:p>
            <a:pPr>
              <a:lnSpc>
                <a:spcPct val="103000"/>
              </a:lnSpc>
              <a:spcAft>
                <a:spcPts val="300"/>
              </a:spcAft>
              <a:defRPr sz="819">
                <a:solidFill>
                  <a:srgbClr val="21242A"/>
                </a:solidFill>
                <a:latin typeface="Microsoft YaHei"/>
              </a:defRPr>
            </a:pPr>
            <a:r>
              <a:t>riod, resulting in a cumulative durable response rate of 83.3% (95% CI: 51.6–97.9).</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疾病场景：SCNSL/CNS复发或预防</a:t>
            </a:r>
          </a:p>
          <a:p>
            <a:pPr>
              <a:lnSpc>
                <a:spcPct val="103000"/>
              </a:lnSpc>
              <a:spcAft>
                <a:spcPts val="300"/>
              </a:spcAft>
              <a:defRPr sz="780">
                <a:solidFill>
                  <a:srgbClr val="21242A"/>
                </a:solidFill>
                <a:latin typeface="Microsoft YaHei"/>
              </a:defRPr>
            </a:pPr>
            <a:r>
              <a:t>药物/技术：BTKi</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摘要号：PS2151</a:t>
            </a:r>
          </a:p>
          <a:p>
            <a:pPr>
              <a:lnSpc>
                <a:spcPct val="103000"/>
              </a:lnSpc>
              <a:spcAft>
                <a:spcPts val="300"/>
              </a:spcAft>
              <a:defRPr sz="740">
                <a:solidFill>
                  <a:srgbClr val="5E6570"/>
                </a:solidFill>
                <a:latin typeface="Microsoft YaHei"/>
              </a:defRPr>
            </a:pPr>
            <a:r>
              <a:t>会议栏目：20. Other aggressive lymphomas</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替拉鲁替尼在复发或难治性原发性中枢神经系统淋巴瘤中的实际持久临床益处及其安全性：来自《启示》研究的中期分析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durable clinical benefits of tirabrutinib and its safety profile 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PS2151</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The median DOR has not yet been reached (lower bound 95%CI: 10.1 months).</a:t>
            </a:r>
          </a:p>
          <a:p>
            <a:pPr>
              <a:lnSpc>
                <a:spcPct val="103000"/>
              </a:lnSpc>
              <a:spcAft>
                <a:spcPts val="300"/>
              </a:spcAft>
              <a:defRPr sz="819">
                <a:solidFill>
                  <a:srgbClr val="21242A"/>
                </a:solidFill>
                <a:latin typeface="Microsoft YaHei"/>
              </a:defRPr>
            </a:pPr>
            <a:r>
              <a:t>Swimmer plot revealed unique real-world patterns where 9 patients (47.4%) derived continued clinical benefit from ongo</a:t>
            </a:r>
          </a:p>
          <a:p>
            <a:pPr>
              <a:lnSpc>
                <a:spcPct val="103000"/>
              </a:lnSpc>
              <a:spcAft>
                <a:spcPts val="300"/>
              </a:spcAft>
              <a:defRPr sz="819">
                <a:solidFill>
                  <a:srgbClr val="21242A"/>
                </a:solidFill>
                <a:latin typeface="Microsoft YaHei"/>
              </a:defRPr>
            </a:pPr>
            <a:r>
              <a:t>ing treatment despite initial radiographic assessments of stable disease or initial progression, highlighting that sym</a:t>
            </a:r>
          </a:p>
          <a:p>
            <a:pPr>
              <a:lnSpc>
                <a:spcPct val="103000"/>
              </a:lnSpc>
              <a:spcAft>
                <a:spcPts val="300"/>
              </a:spcAft>
              <a:defRPr sz="819">
                <a:solidFill>
                  <a:srgbClr val="21242A"/>
                </a:solidFill>
                <a:latin typeface="Microsoft YaHei"/>
              </a:defRPr>
            </a:pPr>
            <a:r>
              <a:t>ptomatic stability often guides treatment continuation beyond imaging results.</a:t>
            </a:r>
          </a:p>
          <a:p>
            <a:pPr>
              <a:lnSpc>
                <a:spcPct val="103000"/>
              </a:lnSpc>
              <a:spcAft>
                <a:spcPts val="300"/>
              </a:spcAft>
              <a:defRPr sz="819">
                <a:solidFill>
                  <a:srgbClr val="21242A"/>
                </a:solidFill>
                <a:latin typeface="Microsoft YaHei"/>
              </a:defRPr>
            </a:pPr>
            <a:r>
              <a:t>The safety profile was manageable (treatment-emergent AEs 73.7%); common events were urinary tract infection (21.1%), </a:t>
            </a:r>
          </a:p>
          <a:p>
            <a:pPr>
              <a:lnSpc>
                <a:spcPct val="103000"/>
              </a:lnSpc>
              <a:spcAft>
                <a:spcPts val="300"/>
              </a:spcAft>
              <a:defRPr sz="819">
                <a:solidFill>
                  <a:srgbClr val="21242A"/>
                </a:solidFill>
                <a:latin typeface="Microsoft YaHei"/>
              </a:defRPr>
            </a:pPr>
            <a:r>
              <a:t>white blood cell count decrease (15.8%), and rash (15.8%).</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替拉鲁替尼在复发或难治性原发性中枢神经系统淋巴瘤中的实际持久临床益处及其安全性：来自《启示》研究的中期分析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durable clinical benefits of tirabrutinib and its safety profile 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PS2151</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No new safety signals or significant cardiovascular toxicities were observed.</a:t>
            </a:r>
          </a:p>
          <a:p>
            <a:pPr>
              <a:lnSpc>
                <a:spcPct val="103000"/>
              </a:lnSpc>
              <a:spcAft>
                <a:spcPts val="300"/>
              </a:spcAft>
              <a:defRPr sz="819">
                <a:solidFill>
                  <a:srgbClr val="21242A"/>
                </a:solidFill>
                <a:latin typeface="Microsoft YaHei"/>
              </a:defRPr>
            </a:pPr>
            <a:r>
              <a:t>Treatment-related AEs (TRAEs) occurred in 57.9% of patients with the majority of onsets occurring within the first 3 m</a:t>
            </a:r>
          </a:p>
          <a:p>
            <a:pPr>
              <a:lnSpc>
                <a:spcPct val="103000"/>
              </a:lnSpc>
              <a:spcAft>
                <a:spcPts val="300"/>
              </a:spcAft>
              <a:defRPr sz="819">
                <a:solidFill>
                  <a:srgbClr val="21242A"/>
                </a:solidFill>
                <a:latin typeface="Microsoft YaHei"/>
              </a:defRPr>
            </a:pPr>
            <a:r>
              <a:t>onths.</a:t>
            </a:r>
          </a:p>
          <a:p>
            <a:pPr>
              <a:lnSpc>
                <a:spcPct val="103000"/>
              </a:lnSpc>
              <a:spcAft>
                <a:spcPts val="300"/>
              </a:spcAft>
              <a:defRPr sz="819">
                <a:solidFill>
                  <a:srgbClr val="21242A"/>
                </a:solidFill>
                <a:latin typeface="Microsoft YaHei"/>
              </a:defRPr>
            </a:pPr>
            <a:r>
              <a:t>Treatment-related serious AEs occurred in 2 patients (urinary tract infection in 1 and cerebral haemorrhage in 1 patie</a:t>
            </a:r>
          </a:p>
          <a:p>
            <a:pPr>
              <a:lnSpc>
                <a:spcPct val="103000"/>
              </a:lnSpc>
              <a:spcAft>
                <a:spcPts val="300"/>
              </a:spcAft>
              <a:defRPr sz="819">
                <a:solidFill>
                  <a:srgbClr val="21242A"/>
                </a:solidFill>
                <a:latin typeface="Microsoft YaHei"/>
              </a:defRPr>
            </a:pPr>
            <a:r>
              <a:t>nt).</a:t>
            </a:r>
          </a:p>
          <a:p>
            <a:pPr>
              <a:lnSpc>
                <a:spcPct val="103000"/>
              </a:lnSpc>
              <a:spcAft>
                <a:spcPts val="300"/>
              </a:spcAft>
              <a:defRPr sz="819">
                <a:solidFill>
                  <a:srgbClr val="21242A"/>
                </a:solidFill>
                <a:latin typeface="Microsoft YaHei"/>
              </a:defRPr>
            </a:pPr>
            <a:r>
              <a:t>TRAEs were mostly transient; specifically, skin rashes resolved with a median time of 11.5 days.</a:t>
            </a:r>
          </a:p>
          <a:p>
            <a:pPr>
              <a:lnSpc>
                <a:spcPct val="103000"/>
              </a:lnSpc>
              <a:spcAft>
                <a:spcPts val="300"/>
              </a:spcAft>
              <a:defRPr sz="819">
                <a:solidFill>
                  <a:srgbClr val="21242A"/>
                </a:solidFill>
                <a:latin typeface="Microsoft YaHei"/>
              </a:defRPr>
            </a:pPr>
            <a:r>
              <a:t>Two Grade 5 events were reported but assessed as unrelated to the treatment.</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替拉鲁替尼在复发或难治性原发性中枢神经系统淋巴瘤中的实际持久临床益处及其安全性：来自《启示》研究的中期分析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durable clinical benefits of tirabrutinib and its safety profile 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PS2151</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Summary/Conclusion: Tirabrutinib provides rapid and durable treatment responses over a 10.9-month follow-up period in </a:t>
            </a:r>
          </a:p>
          <a:p>
            <a:pPr>
              <a:lnSpc>
                <a:spcPct val="103000"/>
              </a:lnSpc>
              <a:spcAft>
                <a:spcPts val="300"/>
              </a:spcAft>
              <a:defRPr sz="819">
                <a:solidFill>
                  <a:srgbClr val="21242A"/>
                </a:solidFill>
                <a:latin typeface="Microsoft YaHei"/>
              </a:defRPr>
            </a:pPr>
            <a:r>
              <a:t>r/r PCNSL patients.</a:t>
            </a:r>
          </a:p>
          <a:p>
            <a:pPr>
              <a:lnSpc>
                <a:spcPct val="103000"/>
              </a:lnSpc>
              <a:spcAft>
                <a:spcPts val="300"/>
              </a:spcAft>
              <a:defRPr sz="819">
                <a:solidFill>
                  <a:srgbClr val="21242A"/>
                </a:solidFill>
                <a:latin typeface="Microsoft YaHei"/>
              </a:defRPr>
            </a:pPr>
            <a:r>
              <a:t>These results, along with high cumulative durability and a consistent safety profile, support its role as a key target</a:t>
            </a:r>
          </a:p>
          <a:p>
            <a:pPr>
              <a:lnSpc>
                <a:spcPct val="103000"/>
              </a:lnSpc>
              <a:spcAft>
                <a:spcPts val="300"/>
              </a:spcAft>
              <a:defRPr sz="819">
                <a:solidFill>
                  <a:srgbClr val="21242A"/>
                </a:solidFill>
                <a:latin typeface="Microsoft YaHei"/>
              </a:defRPr>
            </a:pPr>
            <a:r>
              <a:t>ed therapy in real-world clinical practice in Taiwan.</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orelabrutinib联合sintilimab治疗复发/难治性原发性中枢神经系统淋巴瘤（r/r pcnsl）的疗效...</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efficacy and safety of orelabrutinib combined with sintilimab in patients wit...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PS2130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N=28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试验药/方案：信迪利单抗</a:t>
            </a:r>
          </a:p>
          <a:p>
            <a:pPr>
              <a:lnSpc>
                <a:spcPct val="103000"/>
              </a:lnSpc>
              <a:spcAft>
                <a:spcPts val="300"/>
              </a:spcAft>
              <a:defRPr sz="800">
                <a:solidFill>
                  <a:srgbClr val="21242A"/>
                </a:solidFill>
                <a:latin typeface="Microsoft YaHei"/>
              </a:defRPr>
            </a:pPr>
            <a:r>
              <a:t>奥布替尼</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总体缓解率（ORR）：60.7% (17/28)</a:t>
            </a:r>
          </a:p>
          <a:p>
            <a:pPr>
              <a:lnSpc>
                <a:spcPct val="103000"/>
              </a:lnSpc>
              <a:spcAft>
                <a:spcPts val="300"/>
              </a:spcAft>
              <a:defRPr sz="800">
                <a:solidFill>
                  <a:srgbClr val="21242A"/>
                </a:solidFill>
                <a:latin typeface="Microsoft YaHei"/>
              </a:defRPr>
            </a:pPr>
            <a:r>
              <a:t>完全缓解（CR）：28.6%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人数：28</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登记号：NCT04899427</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试验药/方案：信迪利单抗、奥布替尼</a:t>
            </a:r>
          </a:p>
          <a:p>
            <a:pPr>
              <a:lnSpc>
                <a:spcPct val="103000"/>
              </a:lnSpc>
              <a:spcAft>
                <a:spcPts val="300"/>
              </a:spcAft>
              <a:defRPr sz="810">
                <a:solidFill>
                  <a:srgbClr val="21242A"/>
                </a:solidFill>
                <a:latin typeface="Microsoft YaHei"/>
              </a:defRPr>
            </a:pPr>
            <a:r>
              <a:t>靶点：PD-1、BTK</a:t>
            </a:r>
          </a:p>
          <a:p>
            <a:pPr>
              <a:lnSpc>
                <a:spcPct val="103000"/>
              </a:lnSpc>
              <a:spcAft>
                <a:spcPts val="300"/>
              </a:spcAft>
              <a:defRPr sz="810">
                <a:solidFill>
                  <a:srgbClr val="21242A"/>
                </a:solidFill>
                <a:latin typeface="Microsoft YaHei"/>
              </a:defRPr>
            </a:pPr>
            <a:r>
              <a:t>药物/技术类别：单特异性抗体、化药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orelabrutinib联合sintilimab治疗复发/难治性原发性中枢神经系统淋巴瘤（r/r pcnsl）的疗效...</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efficacy and safety of orelabrutinib combined with sintilimab in patients wit...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PS2130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中文结果数据表（原表）（1/3）</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总体缓解率（ORR）</a:t>
                      </a:r>
                    </a:p>
                  </a:txBody>
                  <a:tcPr>
                    <a:solidFill>
                      <a:srgbClr val="F6F8FB"/>
                    </a:solidFill>
                  </a:tcPr>
                </a:tc>
                <a:tc>
                  <a:txBody>
                    <a:bodyPr wrap="square" lIns="36576" rIns="36576" tIns="18288" bIns="18288"/>
                    <a:lstStyle/>
                    <a:p>
                      <a:r>
                        <a:rPr sz="720" b="0">
                          <a:solidFill>
                            <a:srgbClr val="21242A"/>
                          </a:solidFill>
                          <a:latin typeface="Microsoft YaHei"/>
                        </a:rPr>
                        <a:t>60.7% (17/28)</a:t>
                      </a:r>
                    </a:p>
                  </a:txBody>
                  <a:tcPr>
                    <a:solidFill>
                      <a:srgbClr val="F6F8FB"/>
                    </a:solidFill>
                  </a:tcPr>
                </a:tc>
              </a:tr>
              <a:tr h="282321">
                <a:tc>
                  <a:txBody>
                    <a:bodyPr wrap="square" lIns="36576" rIns="36576" tIns="18288" bIns="18288"/>
                    <a:lstStyle/>
                    <a:p>
                      <a:r>
                        <a:rPr sz="720" b="1">
                          <a:solidFill>
                            <a:srgbClr val="21242A"/>
                          </a:solidFill>
                          <a:latin typeface="Microsoft YaHei"/>
                        </a:rPr>
                        <a:t>完全缓解（CR）</a:t>
                      </a:r>
                    </a:p>
                  </a:txBody>
                  <a:tcPr>
                    <a:solidFill>
                      <a:srgbClr val="FFFFFF"/>
                    </a:solidFill>
                  </a:tcPr>
                </a:tc>
                <a:tc>
                  <a:txBody>
                    <a:bodyPr wrap="square" lIns="36576" rIns="36576" tIns="18288" bIns="18288"/>
                    <a:lstStyle/>
                    <a:p>
                      <a:r>
                        <a:rPr sz="720" b="0">
                          <a:solidFill>
                            <a:srgbClr val="21242A"/>
                          </a:solidFill>
                          <a:latin typeface="Microsoft YaHei"/>
                        </a:rPr>
                        <a:t>28.6%</a:t>
                      </a:r>
                    </a:p>
                  </a:txBody>
                  <a:tcPr>
                    <a:solidFill>
                      <a:srgbClr val="FFFFFF"/>
                    </a:solidFill>
                  </a:tcPr>
                </a:tc>
              </a:tr>
              <a:tr h="282321">
                <a:tc>
                  <a:txBody>
                    <a:bodyPr wrap="square" lIns="36576" rIns="36576" tIns="18288" bIns="18288"/>
                    <a:lstStyle/>
                    <a:p>
                      <a:r>
                        <a:rPr sz="720" b="1">
                          <a:solidFill>
                            <a:srgbClr val="21242A"/>
                          </a:solidFill>
                          <a:latin typeface="Microsoft YaHei"/>
                        </a:rPr>
                        <a:t>未确认CR（CRu）</a:t>
                      </a:r>
                    </a:p>
                  </a:txBody>
                  <a:tcPr>
                    <a:solidFill>
                      <a:srgbClr val="F6F8FB"/>
                    </a:solidFill>
                  </a:tcPr>
                </a:tc>
                <a:tc>
                  <a:txBody>
                    <a:bodyPr wrap="square" lIns="36576" rIns="36576" tIns="18288" bIns="18288"/>
                    <a:lstStyle/>
                    <a:p>
                      <a:r>
                        <a:rPr sz="720" b="0">
                          <a:solidFill>
                            <a:srgbClr val="21242A"/>
                          </a:solidFill>
                          <a:latin typeface="Microsoft YaHei"/>
                        </a:rPr>
                        <a:t>7.1%</a:t>
                      </a:r>
                    </a:p>
                  </a:txBody>
                  <a:tcPr>
                    <a:solidFill>
                      <a:srgbClr val="F6F8FB"/>
                    </a:solidFill>
                  </a:tcPr>
                </a:tc>
              </a:tr>
              <a:tr h="282321">
                <a:tc>
                  <a:txBody>
                    <a:bodyPr wrap="square" lIns="36576" rIns="36576" tIns="18288" bIns="18288"/>
                    <a:lstStyle/>
                    <a:p>
                      <a:r>
                        <a:rPr sz="720" b="1">
                          <a:solidFill>
                            <a:srgbClr val="21242A"/>
                          </a:solidFill>
                          <a:latin typeface="Microsoft YaHei"/>
                        </a:rPr>
                        <a:t>部分缓解（PR）</a:t>
                      </a:r>
                    </a:p>
                  </a:txBody>
                  <a:tcPr>
                    <a:solidFill>
                      <a:srgbClr val="FFFFFF"/>
                    </a:solidFill>
                  </a:tcPr>
                </a:tc>
                <a:tc>
                  <a:txBody>
                    <a:bodyPr wrap="square" lIns="36576" rIns="36576" tIns="18288" bIns="18288"/>
                    <a:lstStyle/>
                    <a:p>
                      <a:r>
                        <a:rPr sz="720" b="0">
                          <a:solidFill>
                            <a:srgbClr val="21242A"/>
                          </a:solidFill>
                          <a:latin typeface="Microsoft YaHei"/>
                        </a:rPr>
                        <a:t>25.0%</a:t>
                      </a:r>
                    </a:p>
                  </a:txBody>
                  <a:tcPr>
                    <a:solidFill>
                      <a:srgbClr val="FFFFFF"/>
                    </a:solidFill>
                  </a:tcPr>
                </a:tc>
              </a:tr>
              <a:tr h="282321">
                <a:tc>
                  <a:txBody>
                    <a:bodyPr wrap="square" lIns="36576" rIns="36576" tIns="18288" bIns="18288"/>
                    <a:lstStyle/>
                    <a:p>
                      <a:r>
                        <a:rPr sz="720" b="1">
                          <a:solidFill>
                            <a:srgbClr val="21242A"/>
                          </a:solidFill>
                          <a:latin typeface="Microsoft YaHei"/>
                        </a:rPr>
                        <a:t>疾病控制率（DCR）</a:t>
                      </a:r>
                    </a:p>
                  </a:txBody>
                  <a:tcPr>
                    <a:solidFill>
                      <a:srgbClr val="F6F8FB"/>
                    </a:solidFill>
                  </a:tcPr>
                </a:tc>
                <a:tc>
                  <a:txBody>
                    <a:bodyPr wrap="square" lIns="36576" rIns="36576" tIns="18288" bIns="18288"/>
                    <a:lstStyle/>
                    <a:p>
                      <a:r>
                        <a:rPr sz="720" b="0">
                          <a:solidFill>
                            <a:srgbClr val="21242A"/>
                          </a:solidFill>
                          <a:latin typeface="Microsoft YaHei"/>
                        </a:rPr>
                        <a:t>78.6% (22/28)</a:t>
                      </a:r>
                    </a:p>
                  </a:txBody>
                  <a:tcPr>
                    <a:solidFill>
                      <a:srgbClr val="F6F8FB"/>
                    </a:solidFill>
                  </a:tcPr>
                </a:tc>
              </a:tr>
              <a:tr h="282321">
                <a:tc>
                  <a:txBody>
                    <a:bodyPr wrap="square" lIns="36576" rIns="36576" tIns="18288" bIns="18288"/>
                    <a:lstStyle/>
                    <a:p>
                      <a:r>
                        <a:rPr sz="720" b="1">
                          <a:solidFill>
                            <a:srgbClr val="21242A"/>
                          </a:solidFill>
                          <a:latin typeface="Microsoft YaHei"/>
                        </a:rPr>
                        <a:t>中位无进展生存期（PFS）</a:t>
                      </a:r>
                    </a:p>
                  </a:txBody>
                  <a:tcPr>
                    <a:solidFill>
                      <a:srgbClr val="FFFFFF"/>
                    </a:solidFill>
                  </a:tcPr>
                </a:tc>
                <a:tc>
                  <a:txBody>
                    <a:bodyPr wrap="square" lIns="36576" rIns="36576" tIns="18288" bIns="18288"/>
                    <a:lstStyle/>
                    <a:p>
                      <a:r>
                        <a:rPr sz="720" b="0">
                          <a:solidFill>
                            <a:srgbClr val="21242A"/>
                          </a:solidFill>
                          <a:latin typeface="Microsoft YaHei"/>
                        </a:rPr>
                        <a:t>8.4个月</a:t>
                      </a:r>
                    </a:p>
                  </a:txBody>
                  <a:tcPr>
                    <a:solidFill>
                      <a:srgbClr val="FFFFFF"/>
                    </a:solidFill>
                  </a:tcPr>
                </a:tc>
              </a:tr>
              <a:tr h="282321">
                <a:tc>
                  <a:txBody>
                    <a:bodyPr wrap="square" lIns="36576" rIns="36576" tIns="18288" bIns="18288"/>
                    <a:lstStyle/>
                    <a:p>
                      <a:r>
                        <a:rPr sz="720" b="1">
                          <a:solidFill>
                            <a:srgbClr val="21242A"/>
                          </a:solidFill>
                          <a:latin typeface="Microsoft YaHei"/>
                        </a:rPr>
                        <a:t>1年PFS率</a:t>
                      </a:r>
                    </a:p>
                  </a:txBody>
                  <a:tcPr>
                    <a:solidFill>
                      <a:srgbClr val="F6F8FB"/>
                    </a:solidFill>
                  </a:tcPr>
                </a:tc>
                <a:tc>
                  <a:txBody>
                    <a:bodyPr wrap="square" lIns="36576" rIns="36576" tIns="18288" bIns="18288"/>
                    <a:lstStyle/>
                    <a:p>
                      <a:r>
                        <a:rPr sz="720" b="0">
                          <a:solidFill>
                            <a:srgbClr val="21242A"/>
                          </a:solidFill>
                          <a:latin typeface="Microsoft YaHei"/>
                        </a:rPr>
                        <a:t>49.7% (95% CI: 34.2-72.3%)</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疾病场景：SCNSL/CNS复发或预防</a:t>
            </a:r>
          </a:p>
          <a:p>
            <a:pPr>
              <a:lnSpc>
                <a:spcPct val="103000"/>
              </a:lnSpc>
              <a:spcAft>
                <a:spcPts val="300"/>
              </a:spcAft>
              <a:defRPr sz="780">
                <a:solidFill>
                  <a:srgbClr val="21242A"/>
                </a:solidFill>
                <a:latin typeface="Microsoft YaHei"/>
              </a:defRPr>
            </a:pPr>
            <a:r>
              <a:t>药物/技术：BTKi</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摘要号：PS2130</a:t>
            </a:r>
          </a:p>
          <a:p>
            <a:pPr>
              <a:lnSpc>
                <a:spcPct val="103000"/>
              </a:lnSpc>
              <a:spcAft>
                <a:spcPts val="300"/>
              </a:spcAft>
              <a:defRPr sz="740">
                <a:solidFill>
                  <a:srgbClr val="5E6570"/>
                </a:solidFill>
                <a:latin typeface="Microsoft YaHei"/>
              </a:defRPr>
            </a:pPr>
            <a:r>
              <a:t>会议栏目：20. Other aggressive lymphomas</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orelabrutinib联合sintilimab治疗复发/难治性原发性中枢神经系统淋巴瘤（r/r pcnsl）的疗效...</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efficacy and safety of orelabrutinib combined with sintilimab in patients wit...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PS2130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中文结果数据表（原表）（2/3）</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448056">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448056">
                <a:tc>
                  <a:txBody>
                    <a:bodyPr wrap="square" lIns="36576" rIns="36576" tIns="18288" bIns="18288"/>
                    <a:lstStyle/>
                    <a:p>
                      <a:r>
                        <a:rPr sz="720" b="1">
                          <a:solidFill>
                            <a:srgbClr val="21242A"/>
                          </a:solidFill>
                          <a:latin typeface="Microsoft YaHei"/>
                        </a:rPr>
                        <a:t>2年PFS率</a:t>
                      </a:r>
                    </a:p>
                  </a:txBody>
                  <a:tcPr>
                    <a:solidFill>
                      <a:srgbClr val="F6F8FB"/>
                    </a:solidFill>
                  </a:tcPr>
                </a:tc>
                <a:tc>
                  <a:txBody>
                    <a:bodyPr wrap="square" lIns="36576" rIns="36576" tIns="18288" bIns="18288"/>
                    <a:lstStyle/>
                    <a:p>
                      <a:r>
                        <a:rPr sz="720" b="0">
                          <a:solidFill>
                            <a:srgbClr val="21242A"/>
                          </a:solidFill>
                          <a:latin typeface="Microsoft YaHei"/>
                        </a:rPr>
                        <a:t>40.7% (95% CI: 25.5-64.9%)</a:t>
                      </a:r>
                    </a:p>
                  </a:txBody>
                  <a:tcPr>
                    <a:solidFill>
                      <a:srgbClr val="F6F8FB"/>
                    </a:solidFill>
                  </a:tcPr>
                </a:tc>
              </a:tr>
              <a:tr h="448056">
                <a:tc>
                  <a:txBody>
                    <a:bodyPr wrap="square" lIns="36576" rIns="36576" tIns="18288" bIns="18288"/>
                    <a:lstStyle/>
                    <a:p>
                      <a:r>
                        <a:rPr sz="720" b="1">
                          <a:solidFill>
                            <a:srgbClr val="21242A"/>
                          </a:solidFill>
                          <a:latin typeface="Microsoft YaHei"/>
                        </a:rPr>
                        <a:t>中位总生存期（OS）</a:t>
                      </a:r>
                    </a:p>
                  </a:txBody>
                  <a:tcPr>
                    <a:solidFill>
                      <a:srgbClr val="FFFFFF"/>
                    </a:solidFill>
                  </a:tcPr>
                </a:tc>
                <a:tc>
                  <a:txBody>
                    <a:bodyPr wrap="square" lIns="36576" rIns="36576" tIns="18288" bIns="18288"/>
                    <a:lstStyle/>
                    <a:p>
                      <a:r>
                        <a:rPr sz="720" b="0">
                          <a:solidFill>
                            <a:srgbClr val="21242A"/>
                          </a:solidFill>
                          <a:latin typeface="Microsoft YaHei"/>
                        </a:rPr>
                        <a:t>未达到</a:t>
                      </a:r>
                    </a:p>
                  </a:txBody>
                  <a:tcPr>
                    <a:solidFill>
                      <a:srgbClr val="FFFFFF"/>
                    </a:solidFill>
                  </a:tcPr>
                </a:tc>
              </a:tr>
              <a:tr h="448056">
                <a:tc>
                  <a:txBody>
                    <a:bodyPr wrap="square" lIns="36576" rIns="36576" tIns="18288" bIns="18288"/>
                    <a:lstStyle/>
                    <a:p>
                      <a:r>
                        <a:rPr sz="720" b="1">
                          <a:solidFill>
                            <a:srgbClr val="21242A"/>
                          </a:solidFill>
                          <a:latin typeface="Microsoft YaHei"/>
                        </a:rPr>
                        <a:t>1年OS率</a:t>
                      </a:r>
                    </a:p>
                  </a:txBody>
                  <a:tcPr>
                    <a:solidFill>
                      <a:srgbClr val="F6F8FB"/>
                    </a:solidFill>
                  </a:tcPr>
                </a:tc>
                <a:tc>
                  <a:txBody>
                    <a:bodyPr wrap="square" lIns="36576" rIns="36576" tIns="18288" bIns="18288"/>
                    <a:lstStyle/>
                    <a:p>
                      <a:r>
                        <a:rPr sz="720" b="0">
                          <a:solidFill>
                            <a:srgbClr val="21242A"/>
                          </a:solidFill>
                          <a:latin typeface="Microsoft YaHei"/>
                        </a:rPr>
                        <a:t>77.4% (95% CI: 63.0-95.1%)</a:t>
                      </a:r>
                    </a:p>
                  </a:txBody>
                  <a:tcPr>
                    <a:solidFill>
                      <a:srgbClr val="F6F8FB"/>
                    </a:solidFill>
                  </a:tcPr>
                </a:tc>
              </a:tr>
              <a:tr h="448056">
                <a:tc>
                  <a:txBody>
                    <a:bodyPr wrap="square" lIns="36576" rIns="36576" tIns="18288" bIns="18288"/>
                    <a:lstStyle/>
                    <a:p>
                      <a:r>
                        <a:rPr sz="720" b="1">
                          <a:solidFill>
                            <a:srgbClr val="21242A"/>
                          </a:solidFill>
                          <a:latin typeface="Microsoft YaHei"/>
                        </a:rPr>
                        <a:t>2年OS率</a:t>
                      </a:r>
                    </a:p>
                  </a:txBody>
                  <a:tcPr>
                    <a:solidFill>
                      <a:srgbClr val="FFFFFF"/>
                    </a:solidFill>
                  </a:tcPr>
                </a:tc>
                <a:tc>
                  <a:txBody>
                    <a:bodyPr wrap="square" lIns="36576" rIns="36576" tIns="18288" bIns="18288"/>
                    <a:lstStyle/>
                    <a:p>
                      <a:r>
                        <a:rPr sz="720" b="0">
                          <a:solidFill>
                            <a:srgbClr val="21242A"/>
                          </a:solidFill>
                          <a:latin typeface="Microsoft YaHei"/>
                        </a:rPr>
                        <a:t>73.3% (95% CI: 58.2-92.5%)</a:t>
                      </a:r>
                    </a:p>
                  </a:txBody>
                  <a:tcPr>
                    <a:solidFill>
                      <a:srgbClr val="FFFFFF"/>
                    </a:solidFill>
                  </a:tcPr>
                </a:tc>
              </a:tr>
              <a:tr h="448056">
                <a:tc>
                  <a:txBody>
                    <a:bodyPr wrap="square" lIns="36576" rIns="36576" tIns="18288" bIns="18288"/>
                    <a:lstStyle/>
                    <a:p>
                      <a:r>
                        <a:rPr sz="720" b="1">
                          <a:solidFill>
                            <a:srgbClr val="21242A"/>
                          </a:solidFill>
                          <a:latin typeface="Microsoft YaHei"/>
                        </a:rPr>
                        <a:t>中位缓解持续时间（DOR）</a:t>
                      </a:r>
                    </a:p>
                  </a:txBody>
                  <a:tcPr>
                    <a:solidFill>
                      <a:srgbClr val="F6F8FB"/>
                    </a:solidFill>
                  </a:tcPr>
                </a:tc>
                <a:tc>
                  <a:txBody>
                    <a:bodyPr wrap="square" lIns="36576" rIns="36576" tIns="18288" bIns="18288"/>
                    <a:lstStyle/>
                    <a:p>
                      <a:r>
                        <a:rPr sz="720" b="0">
                          <a:solidFill>
                            <a:srgbClr val="21242A"/>
                          </a:solidFill>
                          <a:latin typeface="Microsoft YaHei"/>
                        </a:rPr>
                        <a:t>49.7个月</a:t>
                      </a:r>
                    </a:p>
                  </a:txBody>
                  <a:tcPr>
                    <a:solidFill>
                      <a:srgbClr val="F6F8FB"/>
                    </a:solidFill>
                  </a:tcPr>
                </a:tc>
              </a:tr>
              <a:tr h="448056">
                <a:tc>
                  <a:txBody>
                    <a:bodyPr wrap="square" lIns="36576" rIns="36576" tIns="18288" bIns="18288"/>
                    <a:lstStyle/>
                    <a:p>
                      <a:r>
                        <a:rPr sz="720" b="1">
                          <a:solidFill>
                            <a:srgbClr val="21242A"/>
                          </a:solidFill>
                          <a:latin typeface="Microsoft YaHei"/>
                        </a:rPr>
                        <a:t>治疗相关不良事件（TEAEs）</a:t>
                      </a:r>
                    </a:p>
                  </a:txBody>
                  <a:tcPr>
                    <a:solidFill>
                      <a:srgbClr val="FFFFFF"/>
                    </a:solidFill>
                  </a:tcPr>
                </a:tc>
                <a:tc>
                  <a:txBody>
                    <a:bodyPr wrap="square" lIns="36576" rIns="36576" tIns="18288" bIns="18288"/>
                    <a:lstStyle/>
                    <a:p>
                      <a:r>
                        <a:rPr sz="720" b="0">
                          <a:solidFill>
                            <a:srgbClr val="21242A"/>
                          </a:solidFill>
                          <a:latin typeface="Microsoft YaHei"/>
                        </a:rPr>
                        <a:t>72.4% (21/29)</a:t>
                      </a:r>
                    </a:p>
                  </a:txBody>
                  <a:tcPr>
                    <a:solidFill>
                      <a:srgbClr val="FFFFFF"/>
                    </a:solidFill>
                  </a:tcPr>
                </a:tc>
              </a:tr>
              <a:tr h="448056">
                <a:tc>
                  <a:txBody>
                    <a:bodyPr wrap="square" lIns="36576" rIns="36576" tIns="18288" bIns="18288"/>
                    <a:lstStyle/>
                    <a:p>
                      <a:r>
                        <a:rPr sz="720" b="1">
                          <a:solidFill>
                            <a:srgbClr val="21242A"/>
                          </a:solidFill>
                          <a:latin typeface="Microsoft YaHei"/>
                        </a:rPr>
                        <a:t>3-4级TEAEs</a:t>
                      </a:r>
                    </a:p>
                  </a:txBody>
                  <a:tcPr>
                    <a:solidFill>
                      <a:srgbClr val="F6F8FB"/>
                    </a:solidFill>
                  </a:tcPr>
                </a:tc>
                <a:tc>
                  <a:txBody>
                    <a:bodyPr wrap="square" lIns="36576" rIns="36576" tIns="18288" bIns="18288"/>
                    <a:lstStyle/>
                    <a:p>
                      <a:r>
                        <a:rPr sz="720" b="0">
                          <a:solidFill>
                            <a:srgbClr val="21242A"/>
                          </a:solidFill>
                          <a:latin typeface="Microsoft YaHei"/>
                        </a:rPr>
                        <a:t>13.8% (4/29)</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orelabrutinib联合sintilimab治疗复发/难治性原发性中枢神经系统淋巴瘤（r/r pcnsl）的疗效...</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efficacy and safety of orelabrutinib combined with sintilimab in patients wit...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PS2130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中文结果数据表（原表）（3/3）</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1194816">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1194816">
                <a:tc>
                  <a:txBody>
                    <a:bodyPr wrap="square" lIns="36576" rIns="36576" tIns="18288" bIns="18288"/>
                    <a:lstStyle/>
                    <a:p>
                      <a:r>
                        <a:rPr sz="720" b="1">
                          <a:solidFill>
                            <a:srgbClr val="21242A"/>
                          </a:solidFill>
                          <a:latin typeface="Microsoft YaHei"/>
                        </a:rPr>
                        <a:t>5级事件</a:t>
                      </a:r>
                    </a:p>
                  </a:txBody>
                  <a:tcPr>
                    <a:solidFill>
                      <a:srgbClr val="F6F8FB"/>
                    </a:solidFill>
                  </a:tcPr>
                </a:tc>
                <a:tc>
                  <a:txBody>
                    <a:bodyPr wrap="square" lIns="36576" rIns="36576" tIns="18288" bIns="18288"/>
                    <a:lstStyle/>
                    <a:p>
                      <a:r>
                        <a:rPr sz="720" b="0">
                          <a:solidFill>
                            <a:srgbClr val="21242A"/>
                          </a:solidFill>
                          <a:latin typeface="Microsoft YaHei"/>
                        </a:rPr>
                        <a:t>无</a:t>
                      </a:r>
                    </a:p>
                  </a:txBody>
                  <a:tcPr>
                    <a:solidFill>
                      <a:srgbClr val="F6F8FB"/>
                    </a:solidFill>
                  </a:tcPr>
                </a:tc>
              </a:tr>
              <a:tr h="1194816">
                <a:tc>
                  <a:txBody>
                    <a:bodyPr wrap="square" lIns="36576" rIns="36576" tIns="18288" bIns="18288"/>
                    <a:lstStyle/>
                    <a:p>
                      <a:r>
                        <a:rPr sz="720" b="1">
                          <a:solidFill>
                            <a:srgbClr val="21242A"/>
                          </a:solidFill>
                          <a:latin typeface="Microsoft YaHei"/>
                        </a:rPr>
                        <a:t>常见不良事件</a:t>
                      </a:r>
                    </a:p>
                  </a:txBody>
                  <a:tcPr>
                    <a:solidFill>
                      <a:srgbClr val="FFFFFF"/>
                    </a:solidFill>
                  </a:tcPr>
                </a:tc>
                <a:tc>
                  <a:txBody>
                    <a:bodyPr wrap="square" lIns="36576" rIns="36576" tIns="18288" bIns="18288"/>
                    <a:lstStyle/>
                    <a:p>
                      <a:r>
                        <a:rPr sz="720" b="0">
                          <a:solidFill>
                            <a:srgbClr val="21242A"/>
                          </a:solidFill>
                          <a:latin typeface="Microsoft YaHei"/>
                        </a:rPr>
                        <a:t>疲乏39.3%、出血35.7%、白细胞减少32.1%、感染35.7%</a:t>
                      </a:r>
                    </a:p>
                  </a:txBody>
                  <a:tcPr>
                    <a:solidFill>
                      <a:srgbClr val="FFFFFF"/>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orelabrutinib治疗复发或难治性原发性或继发性中枢神经系统淋巴瘤：一项多中心、开放标签、ii期研究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orelabrutinib in patients with relapsed or refractory primary or secondary ce...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N=61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试验药/方案：奥布替尼</a:t>
            </a:r>
          </a:p>
          <a:p>
            <a:pPr>
              <a:lnSpc>
                <a:spcPct val="103000"/>
              </a:lnSpc>
              <a:spcAft>
                <a:spcPts val="300"/>
              </a:spcAft>
              <a:defRPr sz="800">
                <a:solidFill>
                  <a:srgbClr val="21242A"/>
                </a:solidFill>
                <a:latin typeface="Microsoft YaHei"/>
              </a:defRPr>
            </a:pPr>
            <a:r>
              <a:t>靶点：BTK</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多组/多方案比较：试验组1：奥布替尼150mg每日一次</a:t>
            </a:r>
          </a:p>
          <a:p>
            <a:pPr>
              <a:lnSpc>
                <a:spcPct val="103000"/>
              </a:lnSpc>
              <a:spcAft>
                <a:spcPts val="300"/>
              </a:spcAft>
              <a:defRPr sz="800">
                <a:solidFill>
                  <a:srgbClr val="21242A"/>
                </a:solidFill>
                <a:latin typeface="Microsoft YaHei"/>
              </a:defRPr>
            </a:pPr>
            <a:r>
              <a:t>试验组2：奥布替尼200mg每日一次</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 150mg组28.2%，200mg组27.3%</a:t>
            </a:r>
          </a:p>
          <a:p>
            <a:pPr>
              <a:lnSpc>
                <a:spcPct val="103000"/>
              </a:lnSpc>
              <a:spcAft>
                <a:spcPts val="300"/>
              </a:spcAft>
              <a:defRPr sz="800">
                <a:solidFill>
                  <a:srgbClr val="21242A"/>
                </a:solidFill>
                <a:latin typeface="Microsoft YaHei"/>
              </a:defRPr>
            </a:pPr>
            <a:r>
              <a:t>疾病控制率(DCR): 150mg组53.8%，200mg组54.5%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人数：61</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登记号：CTR20190854</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试验药/方案：奥布替尼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orelabrutinib治疗复发或难治性原发性或继发性中枢神经系统淋巴瘤：一项多中心、开放标签、ii期研究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orelabrutinib in patients with relapsed or refractory primary or secondary ce...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客观缓解率(ORR)</a:t>
                      </a:r>
                    </a:p>
                  </a:txBody>
                  <a:tcPr>
                    <a:solidFill>
                      <a:srgbClr val="F6F8FB"/>
                    </a:solidFill>
                  </a:tcPr>
                </a:tc>
                <a:tc>
                  <a:txBody>
                    <a:bodyPr wrap="square" lIns="36576" rIns="36576" tIns="18288" bIns="18288"/>
                    <a:lstStyle/>
                    <a:p>
                      <a:r>
                        <a:rPr sz="720" b="0">
                          <a:solidFill>
                            <a:srgbClr val="21242A"/>
                          </a:solidFill>
                          <a:latin typeface="Microsoft YaHei"/>
                        </a:rPr>
                        <a:t>150mg组28.2%，200mg组27.3%</a:t>
                      </a:r>
                    </a:p>
                  </a:txBody>
                  <a:tcPr>
                    <a:solidFill>
                      <a:srgbClr val="F6F8FB"/>
                    </a:solidFill>
                  </a:tcPr>
                </a:tc>
              </a:tr>
              <a:tr h="376428">
                <a:tc>
                  <a:txBody>
                    <a:bodyPr wrap="square" lIns="36576" rIns="36576" tIns="18288" bIns="18288"/>
                    <a:lstStyle/>
                    <a:p>
                      <a:r>
                        <a:rPr sz="720" b="1">
                          <a:solidFill>
                            <a:srgbClr val="21242A"/>
                          </a:solidFill>
                          <a:latin typeface="Microsoft YaHei"/>
                        </a:rPr>
                        <a:t>疾病控制率(DCR)</a:t>
                      </a:r>
                    </a:p>
                  </a:txBody>
                  <a:tcPr>
                    <a:solidFill>
                      <a:srgbClr val="FFFFFF"/>
                    </a:solidFill>
                  </a:tcPr>
                </a:tc>
                <a:tc>
                  <a:txBody>
                    <a:bodyPr wrap="square" lIns="36576" rIns="36576" tIns="18288" bIns="18288"/>
                    <a:lstStyle/>
                    <a:p>
                      <a:r>
                        <a:rPr sz="720" b="0">
                          <a:solidFill>
                            <a:srgbClr val="21242A"/>
                          </a:solidFill>
                          <a:latin typeface="Microsoft YaHei"/>
                        </a:rPr>
                        <a:t>150mg组53.8%，200mg组54.5%</a:t>
                      </a:r>
                    </a:p>
                  </a:txBody>
                  <a:tcPr>
                    <a:solidFill>
                      <a:srgbClr val="FFFFFF"/>
                    </a:solidFill>
                  </a:tcPr>
                </a:tc>
              </a:tr>
              <a:tr h="376428">
                <a:tc>
                  <a:txBody>
                    <a:bodyPr wrap="square" lIns="36576" rIns="36576" tIns="18288" bIns="18288"/>
                    <a:lstStyle/>
                    <a:p>
                      <a:r>
                        <a:rPr sz="720" b="1">
                          <a:solidFill>
                            <a:srgbClr val="21242A"/>
                          </a:solidFill>
                          <a:latin typeface="Microsoft YaHei"/>
                        </a:rPr>
                        <a:t>中位无进展生存期(mPFS)</a:t>
                      </a:r>
                    </a:p>
                  </a:txBody>
                  <a:tcPr>
                    <a:solidFill>
                      <a:srgbClr val="F6F8FB"/>
                    </a:solidFill>
                  </a:tcPr>
                </a:tc>
                <a:tc>
                  <a:txBody>
                    <a:bodyPr wrap="square" lIns="36576" rIns="36576" tIns="18288" bIns="18288"/>
                    <a:lstStyle/>
                    <a:p>
                      <a:r>
                        <a:rPr sz="720" b="0">
                          <a:solidFill>
                            <a:srgbClr val="21242A"/>
                          </a:solidFill>
                          <a:latin typeface="Microsoft YaHei"/>
                        </a:rPr>
                        <a:t>150mg组2.9个月，200mg组2.9个月</a:t>
                      </a:r>
                    </a:p>
                  </a:txBody>
                  <a:tcPr>
                    <a:solidFill>
                      <a:srgbClr val="F6F8FB"/>
                    </a:solidFill>
                  </a:tcPr>
                </a:tc>
              </a:tr>
              <a:tr h="376428">
                <a:tc>
                  <a:txBody>
                    <a:bodyPr wrap="square" lIns="36576" rIns="36576" tIns="18288" bIns="18288"/>
                    <a:lstStyle/>
                    <a:p>
                      <a:r>
                        <a:rPr sz="720" b="1">
                          <a:solidFill>
                            <a:srgbClr val="21242A"/>
                          </a:solidFill>
                          <a:latin typeface="Microsoft YaHei"/>
                        </a:rPr>
                        <a:t>中位总生存期(mOS)</a:t>
                      </a:r>
                    </a:p>
                  </a:txBody>
                  <a:tcPr>
                    <a:solidFill>
                      <a:srgbClr val="FFFFFF"/>
                    </a:solidFill>
                  </a:tcPr>
                </a:tc>
                <a:tc>
                  <a:txBody>
                    <a:bodyPr wrap="square" lIns="36576" rIns="36576" tIns="18288" bIns="18288"/>
                    <a:lstStyle/>
                    <a:p>
                      <a:r>
                        <a:rPr sz="720" b="0">
                          <a:solidFill>
                            <a:srgbClr val="21242A"/>
                          </a:solidFill>
                          <a:latin typeface="Microsoft YaHei"/>
                        </a:rPr>
                        <a:t>150mg组16.9个月，200mg组未达到</a:t>
                      </a:r>
                    </a:p>
                  </a:txBody>
                  <a:tcPr>
                    <a:solidFill>
                      <a:srgbClr val="FFFFFF"/>
                    </a:solidFill>
                  </a:tcPr>
                </a:tc>
              </a:tr>
              <a:tr h="376428">
                <a:tc>
                  <a:txBody>
                    <a:bodyPr wrap="square" lIns="36576" rIns="36576" tIns="18288" bIns="18288"/>
                    <a:lstStyle/>
                    <a:p>
                      <a:r>
                        <a:rPr sz="720" b="1">
                          <a:solidFill>
                            <a:srgbClr val="21242A"/>
                          </a:solidFill>
                          <a:latin typeface="Microsoft YaHei"/>
                        </a:rPr>
                        <a:t>治疗期间不良事件(TEAEs)</a:t>
                      </a:r>
                    </a:p>
                  </a:txBody>
                  <a:tcPr>
                    <a:solidFill>
                      <a:srgbClr val="F6F8FB"/>
                    </a:solidFill>
                  </a:tcPr>
                </a:tc>
                <a:tc>
                  <a:txBody>
                    <a:bodyPr wrap="square" lIns="36576" rIns="36576" tIns="18288" bIns="18288"/>
                    <a:lstStyle/>
                    <a:p>
                      <a:r>
                        <a:rPr sz="720" b="0">
                          <a:solidFill>
                            <a:srgbClr val="21242A"/>
                          </a:solidFill>
                          <a:latin typeface="Microsoft YaHei"/>
                        </a:rPr>
                        <a:t>72.1%患者发生，≥3级TEAEs 24.6%，严重TEAEs 14.8%</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疾病场景：SCNSL/CNS复发或预防</a:t>
            </a:r>
          </a:p>
          <a:p>
            <a:pPr>
              <a:lnSpc>
                <a:spcPct val="103000"/>
              </a:lnSpc>
              <a:spcAft>
                <a:spcPts val="300"/>
              </a:spcAft>
              <a:defRPr sz="780">
                <a:solidFill>
                  <a:srgbClr val="21242A"/>
                </a:solidFill>
                <a:latin typeface="Microsoft YaHei"/>
              </a:defRPr>
            </a:pPr>
            <a:r>
              <a:t>药物/技术：BTKi</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摘要号：PS2090</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奥来拉替尼、利妥昔单抗和噻替帕（ort）联合或不联合大剂量甲氨蝶呤治疗未经治疗的原发性中枢神经系统淋巴瘤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orelabrutinib, rituximab, and thiotepa (ort) in combination with or without h...</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PS2088</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N=39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试验药/方案：塞替派</a:t>
            </a:r>
          </a:p>
          <a:p>
            <a:pPr>
              <a:lnSpc>
                <a:spcPct val="103000"/>
              </a:lnSpc>
              <a:spcAft>
                <a:spcPts val="300"/>
              </a:spcAft>
              <a:defRPr sz="800">
                <a:solidFill>
                  <a:srgbClr val="21242A"/>
                </a:solidFill>
                <a:latin typeface="Microsoft YaHei"/>
              </a:defRPr>
            </a:pPr>
            <a:r>
              <a:t>奥布替尼</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多组/多方案比较：试验组1：奥布替尼，利妥昔单抗，塞替派 (ORT)</a:t>
            </a:r>
          </a:p>
          <a:p>
            <a:pPr>
              <a:lnSpc>
                <a:spcPct val="103000"/>
              </a:lnSpc>
              <a:spcAft>
                <a:spcPts val="300"/>
              </a:spcAft>
              <a:defRPr sz="800">
                <a:solidFill>
                  <a:srgbClr val="21242A"/>
                </a:solidFill>
                <a:latin typeface="Microsoft YaHei"/>
              </a:defRPr>
            </a:pPr>
            <a:r>
              <a:t>试验组2：奥布替尼，利妥昔单抗，塞替派，大剂量甲氨蝶呤 (ORT+HD-MTX)</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客观缓解率(ORR)：总人群83.8%(31/37)，ORT组72.7%(8/11)，ORT+HD-MTX组88.5%(23/...</a:t>
            </a:r>
          </a:p>
          <a:p>
            <a:pPr>
              <a:lnSpc>
                <a:spcPct val="103000"/>
              </a:lnSpc>
              <a:spcAft>
                <a:spcPts val="300"/>
              </a:spcAft>
              <a:defRPr sz="800">
                <a:solidFill>
                  <a:srgbClr val="21242A"/>
                </a:solidFill>
                <a:latin typeface="Microsoft YaHei"/>
              </a:defRPr>
            </a:pPr>
            <a:r>
              <a:t>完全缓解率(CR)：总人群78.4%(29/37)，ORT组63.6%(7/11)，ORT+HD-MTX组84.6%(22/2...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人数：39</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试验药/方案：塞替派、奥布替尼、利妥昔单抗</a:t>
            </a:r>
          </a:p>
          <a:p>
            <a:pPr>
              <a:lnSpc>
                <a:spcPct val="103000"/>
              </a:lnSpc>
              <a:spcAft>
                <a:spcPts val="300"/>
              </a:spcAft>
              <a:defRPr sz="810">
                <a:solidFill>
                  <a:srgbClr val="21242A"/>
                </a:solidFill>
                <a:latin typeface="Microsoft YaHei"/>
              </a:defRPr>
            </a:pPr>
            <a:r>
              <a:t>靶点：DNA、BTK、CD20</a:t>
            </a:r>
          </a:p>
          <a:p>
            <a:pPr>
              <a:lnSpc>
                <a:spcPct val="103000"/>
              </a:lnSpc>
              <a:spcAft>
                <a:spcPts val="300"/>
              </a:spcAft>
              <a:defRPr sz="810">
                <a:solidFill>
                  <a:srgbClr val="21242A"/>
                </a:solidFill>
                <a:latin typeface="Microsoft YaHei"/>
              </a:defRPr>
            </a:pPr>
            <a:r>
              <a:t>药物/技术类别：化药、单特异性抗体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奥来拉替尼、利妥昔单抗和噻替帕（ort）联合或不联合大剂量甲氨蝶呤治疗未经治疗的原发性中枢神经系统淋巴瘤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orelabrutinib, rituximab, and thiotepa (ort) in combination with or without h...</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PS2088</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客观缓解率(ORR)</a:t>
                      </a:r>
                    </a:p>
                  </a:txBody>
                  <a:tcPr>
                    <a:solidFill>
                      <a:srgbClr val="F6F8FB"/>
                    </a:solidFill>
                  </a:tcPr>
                </a:tc>
                <a:tc>
                  <a:txBody>
                    <a:bodyPr wrap="square" lIns="36576" rIns="36576" tIns="18288" bIns="18288"/>
                    <a:lstStyle/>
                    <a:p>
                      <a:r>
                        <a:rPr sz="720" b="0">
                          <a:solidFill>
                            <a:srgbClr val="21242A"/>
                          </a:solidFill>
                          <a:latin typeface="Microsoft YaHei"/>
                        </a:rPr>
                        <a:t>总人群83.8%(31/37)，ORT组72.7%(8/11)，ORT+HD-MTX组88.5%(23/26)</a:t>
                      </a:r>
                    </a:p>
                  </a:txBody>
                  <a:tcPr>
                    <a:solidFill>
                      <a:srgbClr val="F6F8FB"/>
                    </a:solidFill>
                  </a:tcPr>
                </a:tc>
              </a:tr>
              <a:tr h="282321">
                <a:tc>
                  <a:txBody>
                    <a:bodyPr wrap="square" lIns="36576" rIns="36576" tIns="18288" bIns="18288"/>
                    <a:lstStyle/>
                    <a:p>
                      <a:r>
                        <a:rPr sz="720" b="1">
                          <a:solidFill>
                            <a:srgbClr val="21242A"/>
                          </a:solidFill>
                          <a:latin typeface="Microsoft YaHei"/>
                        </a:rPr>
                        <a:t>完全缓解率(CR)</a:t>
                      </a:r>
                    </a:p>
                  </a:txBody>
                  <a:tcPr>
                    <a:solidFill>
                      <a:srgbClr val="FFFFFF"/>
                    </a:solidFill>
                  </a:tcPr>
                </a:tc>
                <a:tc>
                  <a:txBody>
                    <a:bodyPr wrap="square" lIns="36576" rIns="36576" tIns="18288" bIns="18288"/>
                    <a:lstStyle/>
                    <a:p>
                      <a:r>
                        <a:rPr sz="720" b="0">
                          <a:solidFill>
                            <a:srgbClr val="21242A"/>
                          </a:solidFill>
                          <a:latin typeface="Microsoft YaHei"/>
                        </a:rPr>
                        <a:t>总人群78.4%(29/37)，ORT组63.6%(7/11)，ORT+HD-MTX组84.6%(22/26)</a:t>
                      </a:r>
                    </a:p>
                  </a:txBody>
                  <a:tcPr>
                    <a:solidFill>
                      <a:srgbClr val="FFFFFF"/>
                    </a:solidFill>
                  </a:tcPr>
                </a:tc>
              </a:tr>
              <a:tr h="282321">
                <a:tc>
                  <a:txBody>
                    <a:bodyPr wrap="square" lIns="36576" rIns="36576" tIns="18288" bIns="18288"/>
                    <a:lstStyle/>
                    <a:p>
                      <a:r>
                        <a:rPr sz="720" b="1">
                          <a:solidFill>
                            <a:srgbClr val="21242A"/>
                          </a:solidFill>
                          <a:latin typeface="Microsoft YaHei"/>
                        </a:rPr>
                        <a:t>MCD亚组完全缓解率</a:t>
                      </a:r>
                    </a:p>
                  </a:txBody>
                  <a:tcPr>
                    <a:solidFill>
                      <a:srgbClr val="F6F8FB"/>
                    </a:solidFill>
                  </a:tcPr>
                </a:tc>
                <a:tc>
                  <a:txBody>
                    <a:bodyPr wrap="square" lIns="36576" rIns="36576" tIns="18288" bIns="18288"/>
                    <a:lstStyle/>
                    <a:p>
                      <a:r>
                        <a:rPr sz="720" b="0">
                          <a:solidFill>
                            <a:srgbClr val="21242A"/>
                          </a:solidFill>
                          <a:latin typeface="Microsoft YaHei"/>
                        </a:rPr>
                        <a:t>83.3%(15/18)</a:t>
                      </a:r>
                    </a:p>
                  </a:txBody>
                  <a:tcPr>
                    <a:solidFill>
                      <a:srgbClr val="F6F8FB"/>
                    </a:solidFill>
                  </a:tcPr>
                </a:tc>
              </a:tr>
              <a:tr h="282321">
                <a:tc>
                  <a:txBody>
                    <a:bodyPr wrap="square" lIns="36576" rIns="36576" tIns="18288" bIns="18288"/>
                    <a:lstStyle/>
                    <a:p>
                      <a:r>
                        <a:rPr sz="720" b="1">
                          <a:solidFill>
                            <a:srgbClr val="21242A"/>
                          </a:solidFill>
                          <a:latin typeface="Microsoft YaHei"/>
                        </a:rPr>
                        <a:t>中位无进展生存期(PFS)</a:t>
                      </a:r>
                    </a:p>
                  </a:txBody>
                  <a:tcPr>
                    <a:solidFill>
                      <a:srgbClr val="FFFFFF"/>
                    </a:solidFill>
                  </a:tcPr>
                </a:tc>
                <a:tc>
                  <a:txBody>
                    <a:bodyPr wrap="square" lIns="36576" rIns="36576" tIns="18288" bIns="18288"/>
                    <a:lstStyle/>
                    <a:p>
                      <a:r>
                        <a:rPr sz="720" b="0">
                          <a:solidFill>
                            <a:srgbClr val="21242A"/>
                          </a:solidFill>
                          <a:latin typeface="Microsoft YaHei"/>
                        </a:rPr>
                        <a:t>总人群未达到，ORT组18.3个月，ORT+HD-MTX组未达到</a:t>
                      </a:r>
                    </a:p>
                  </a:txBody>
                  <a:tcPr>
                    <a:solidFill>
                      <a:srgbClr val="FFFFFF"/>
                    </a:solidFill>
                  </a:tcPr>
                </a:tc>
              </a:tr>
              <a:tr h="282321">
                <a:tc>
                  <a:txBody>
                    <a:bodyPr wrap="square" lIns="36576" rIns="36576" tIns="18288" bIns="18288"/>
                    <a:lstStyle/>
                    <a:p>
                      <a:r>
                        <a:rPr sz="720" b="1">
                          <a:solidFill>
                            <a:srgbClr val="21242A"/>
                          </a:solidFill>
                          <a:latin typeface="Microsoft YaHei"/>
                        </a:rPr>
                        <a:t>1年无进展生存率</a:t>
                      </a:r>
                    </a:p>
                  </a:txBody>
                  <a:tcPr>
                    <a:solidFill>
                      <a:srgbClr val="F6F8FB"/>
                    </a:solidFill>
                  </a:tcPr>
                </a:tc>
                <a:tc>
                  <a:txBody>
                    <a:bodyPr wrap="square" lIns="36576" rIns="36576" tIns="18288" bIns="18288"/>
                    <a:lstStyle/>
                    <a:p>
                      <a:r>
                        <a:rPr sz="720" b="0">
                          <a:solidFill>
                            <a:srgbClr val="21242A"/>
                          </a:solidFill>
                          <a:latin typeface="Microsoft YaHei"/>
                        </a:rPr>
                        <a:t>总人群85.8%，ORT组81.8%，ORT+HD-MTX组87.4%</a:t>
                      </a:r>
                    </a:p>
                  </a:txBody>
                  <a:tcPr>
                    <a:solidFill>
                      <a:srgbClr val="F6F8FB"/>
                    </a:solidFill>
                  </a:tcPr>
                </a:tc>
              </a:tr>
              <a:tr h="282321">
                <a:tc>
                  <a:txBody>
                    <a:bodyPr wrap="square" lIns="36576" rIns="36576" tIns="18288" bIns="18288"/>
                    <a:lstStyle/>
                    <a:p>
                      <a:r>
                        <a:rPr sz="720" b="1">
                          <a:solidFill>
                            <a:srgbClr val="21242A"/>
                          </a:solidFill>
                          <a:latin typeface="Microsoft YaHei"/>
                        </a:rPr>
                        <a:t>2年无进展生存率</a:t>
                      </a:r>
                    </a:p>
                  </a:txBody>
                  <a:tcPr>
                    <a:solidFill>
                      <a:srgbClr val="FFFFFF"/>
                    </a:solidFill>
                  </a:tcPr>
                </a:tc>
                <a:tc>
                  <a:txBody>
                    <a:bodyPr wrap="square" lIns="36576" rIns="36576" tIns="18288" bIns="18288"/>
                    <a:lstStyle/>
                    <a:p>
                      <a:r>
                        <a:rPr sz="720" b="0">
                          <a:solidFill>
                            <a:srgbClr val="21242A"/>
                          </a:solidFill>
                          <a:latin typeface="Microsoft YaHei"/>
                        </a:rPr>
                        <a:t>总人群73.1%，ORT组43.8%，ORT+HD-MTX组87.4%</a:t>
                      </a:r>
                    </a:p>
                  </a:txBody>
                  <a:tcPr>
                    <a:solidFill>
                      <a:srgbClr val="FFFFFF"/>
                    </a:solidFill>
                  </a:tcPr>
                </a:tc>
              </a:tr>
              <a:tr h="282321">
                <a:tc>
                  <a:txBody>
                    <a:bodyPr wrap="square" lIns="36576" rIns="36576" tIns="18288" bIns="18288"/>
                    <a:lstStyle/>
                    <a:p>
                      <a:r>
                        <a:rPr sz="720" b="1">
                          <a:solidFill>
                            <a:srgbClr val="21242A"/>
                          </a:solidFill>
                          <a:latin typeface="Microsoft YaHei"/>
                        </a:rPr>
                        <a:t>中位总生存期(OS)</a:t>
                      </a:r>
                    </a:p>
                  </a:txBody>
                  <a:tcPr>
                    <a:solidFill>
                      <a:srgbClr val="F6F8FB"/>
                    </a:solidFill>
                  </a:tcPr>
                </a:tc>
                <a:tc>
                  <a:txBody>
                    <a:bodyPr wrap="square" lIns="36576" rIns="36576" tIns="18288" bIns="18288"/>
                    <a:lstStyle/>
                    <a:p>
                      <a:r>
                        <a:rPr sz="720" b="0">
                          <a:solidFill>
                            <a:srgbClr val="21242A"/>
                          </a:solidFill>
                          <a:latin typeface="Microsoft YaHei"/>
                        </a:rPr>
                        <a:t>总人群未达到</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疾病场景：SCNSL/CNS复发或预防</a:t>
            </a:r>
          </a:p>
          <a:p>
            <a:pPr>
              <a:lnSpc>
                <a:spcPct val="103000"/>
              </a:lnSpc>
              <a:spcAft>
                <a:spcPts val="300"/>
              </a:spcAft>
              <a:defRPr sz="780">
                <a:solidFill>
                  <a:srgbClr val="21242A"/>
                </a:solidFill>
                <a:latin typeface="Microsoft YaHei"/>
              </a:defRPr>
            </a:pPr>
            <a:r>
              <a:t>药物/技术：BTKi</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摘要号：PS2088</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奥来拉替尼、利妥昔单抗和噻替帕（ort）联合或不联合大剂量甲氨蝶呤治疗未经治疗的原发性中枢神经系统淋巴瘤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orelabrutinib, rituximab, and thiotepa (ort) in combination with or without h...</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PS2088</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716889">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716889">
                <a:tc>
                  <a:txBody>
                    <a:bodyPr wrap="square" lIns="36576" rIns="36576" tIns="18288" bIns="18288"/>
                    <a:lstStyle/>
                    <a:p>
                      <a:r>
                        <a:rPr sz="720" b="1">
                          <a:solidFill>
                            <a:srgbClr val="21242A"/>
                          </a:solidFill>
                          <a:latin typeface="Microsoft YaHei"/>
                        </a:rPr>
                        <a:t>1年总生存率</a:t>
                      </a:r>
                    </a:p>
                  </a:txBody>
                  <a:tcPr>
                    <a:solidFill>
                      <a:srgbClr val="F6F8FB"/>
                    </a:solidFill>
                  </a:tcPr>
                </a:tc>
                <a:tc>
                  <a:txBody>
                    <a:bodyPr wrap="square" lIns="36576" rIns="36576" tIns="18288" bIns="18288"/>
                    <a:lstStyle/>
                    <a:p>
                      <a:r>
                        <a:rPr sz="720" b="0">
                          <a:solidFill>
                            <a:srgbClr val="21242A"/>
                          </a:solidFill>
                          <a:latin typeface="Microsoft YaHei"/>
                        </a:rPr>
                        <a:t>总人群96.4%</a:t>
                      </a:r>
                    </a:p>
                  </a:txBody>
                  <a:tcPr>
                    <a:solidFill>
                      <a:srgbClr val="F6F8FB"/>
                    </a:solidFill>
                  </a:tcPr>
                </a:tc>
              </a:tr>
              <a:tr h="716889">
                <a:tc>
                  <a:txBody>
                    <a:bodyPr wrap="square" lIns="36576" rIns="36576" tIns="18288" bIns="18288"/>
                    <a:lstStyle/>
                    <a:p>
                      <a:r>
                        <a:rPr sz="720" b="1">
                          <a:solidFill>
                            <a:srgbClr val="21242A"/>
                          </a:solidFill>
                          <a:latin typeface="Microsoft YaHei"/>
                        </a:rPr>
                        <a:t>2年总生存率</a:t>
                      </a:r>
                    </a:p>
                  </a:txBody>
                  <a:tcPr>
                    <a:solidFill>
                      <a:srgbClr val="FFFFFF"/>
                    </a:solidFill>
                  </a:tcPr>
                </a:tc>
                <a:tc>
                  <a:txBody>
                    <a:bodyPr wrap="square" lIns="36576" rIns="36576" tIns="18288" bIns="18288"/>
                    <a:lstStyle/>
                    <a:p>
                      <a:r>
                        <a:rPr sz="720" b="0">
                          <a:solidFill>
                            <a:srgbClr val="21242A"/>
                          </a:solidFill>
                          <a:latin typeface="Microsoft YaHei"/>
                        </a:rPr>
                        <a:t>总人群92.7%</a:t>
                      </a:r>
                    </a:p>
                  </a:txBody>
                  <a:tcPr>
                    <a:solidFill>
                      <a:srgbClr val="FFFFFF"/>
                    </a:solidFill>
                  </a:tcPr>
                </a:tc>
              </a:tr>
              <a:tr h="716889">
                <a:tc>
                  <a:txBody>
                    <a:bodyPr wrap="square" lIns="36576" rIns="36576" tIns="18288" bIns="18288"/>
                    <a:lstStyle/>
                    <a:p>
                      <a:r>
                        <a:rPr sz="720" b="1">
                          <a:solidFill>
                            <a:srgbClr val="21242A"/>
                          </a:solidFill>
                          <a:latin typeface="Microsoft YaHei"/>
                        </a:rPr>
                        <a:t>3-4级不良事件发生率</a:t>
                      </a:r>
                    </a:p>
                  </a:txBody>
                  <a:tcPr>
                    <a:solidFill>
                      <a:srgbClr val="F6F8FB"/>
                    </a:solidFill>
                  </a:tcPr>
                </a:tc>
                <a:tc>
                  <a:txBody>
                    <a:bodyPr wrap="square" lIns="36576" rIns="36576" tIns="18288" bIns="18288"/>
                    <a:lstStyle/>
                    <a:p>
                      <a:r>
                        <a:rPr sz="720" b="0">
                          <a:solidFill>
                            <a:srgbClr val="21242A"/>
                          </a:solidFill>
                          <a:latin typeface="Microsoft YaHei"/>
                        </a:rPr>
                        <a:t>28.2%(11/39)，最常见为白细胞减少和中性粒细胞减少</a:t>
                      </a:r>
                    </a:p>
                  </a:txBody>
                  <a:tcPr>
                    <a:solidFill>
                      <a:srgbClr val="F6F8FB"/>
                    </a:solidFill>
                  </a:tcPr>
                </a:tc>
              </a:tr>
              <a:tr h="716892">
                <a:tc>
                  <a:txBody>
                    <a:bodyPr wrap="square" lIns="36576" rIns="36576" tIns="18288" bIns="18288"/>
                    <a:lstStyle/>
                    <a:p>
                      <a:r>
                        <a:rPr sz="720" b="1">
                          <a:solidFill>
                            <a:srgbClr val="21242A"/>
                          </a:solidFill>
                          <a:latin typeface="Microsoft YaHei"/>
                        </a:rPr>
                        <a:t>PFS组间差异</a:t>
                      </a:r>
                    </a:p>
                  </a:txBody>
                  <a:tcPr>
                    <a:solidFill>
                      <a:srgbClr val="FFFFFF"/>
                    </a:solidFill>
                  </a:tcPr>
                </a:tc>
                <a:tc>
                  <a:txBody>
                    <a:bodyPr wrap="square" lIns="36576" rIns="36576" tIns="18288" bIns="18288"/>
                    <a:lstStyle/>
                    <a:p>
                      <a:r>
                        <a:rPr sz="720" b="0">
                          <a:solidFill>
                            <a:srgbClr val="21242A"/>
                          </a:solidFill>
                          <a:latin typeface="Microsoft YaHei"/>
                        </a:rPr>
                        <a:t>p=0.016</a:t>
                      </a:r>
                    </a:p>
                  </a:txBody>
                  <a:tcPr>
                    <a:solidFill>
                      <a:srgbClr val="FFFFFF"/>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替拉鲁替尼治疗复发或难治性继发性中枢神经系统淋巴瘤的疗效和安全性：ii期crystal/ncch2201研究结果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efficacy and safety of tirabrutinib for relapsed or refractory secondary cent...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PS2084</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B细胞非霍奇金淋巴瘤，中枢神经系统淋巴瘤</a:t>
            </a:r>
          </a:p>
          <a:p>
            <a:pPr>
              <a:lnSpc>
                <a:spcPct val="103000"/>
              </a:lnSpc>
              <a:spcAft>
                <a:spcPts val="300"/>
              </a:spcAft>
              <a:defRPr sz="800">
                <a:solidFill>
                  <a:srgbClr val="21242A"/>
                </a:solidFill>
                <a:latin typeface="Microsoft YaHei"/>
              </a:defRPr>
            </a:pPr>
            <a:r>
              <a:t>N=20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试验药/方案：替拉鲁替尼</a:t>
            </a:r>
          </a:p>
          <a:p>
            <a:pPr>
              <a:lnSpc>
                <a:spcPct val="103000"/>
              </a:lnSpc>
              <a:spcAft>
                <a:spcPts val="300"/>
              </a:spcAft>
              <a:defRPr sz="800">
                <a:solidFill>
                  <a:srgbClr val="21242A"/>
                </a:solidFill>
                <a:latin typeface="Microsoft YaHei"/>
              </a:defRPr>
            </a:pPr>
            <a:r>
              <a:t>靶点：BTK</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 66.7%（95% CI 41.0-86.7）</a:t>
            </a:r>
          </a:p>
          <a:p>
            <a:pPr>
              <a:lnSpc>
                <a:spcPct val="103000"/>
              </a:lnSpc>
              <a:spcAft>
                <a:spcPts val="300"/>
              </a:spcAft>
              <a:defRPr sz="800">
                <a:solidFill>
                  <a:srgbClr val="21242A"/>
                </a:solidFill>
                <a:latin typeface="Microsoft YaHei"/>
              </a:defRPr>
            </a:pPr>
            <a:r>
              <a:t>完全缓解率（CR）: 38.9%</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人数：20</a:t>
            </a:r>
          </a:p>
          <a:p>
            <a:pPr>
              <a:lnSpc>
                <a:spcPct val="103000"/>
              </a:lnSpc>
              <a:spcAft>
                <a:spcPts val="300"/>
              </a:spcAft>
              <a:defRPr sz="810">
                <a:solidFill>
                  <a:srgbClr val="21242A"/>
                </a:solidFill>
                <a:latin typeface="Microsoft YaHei"/>
              </a:defRPr>
            </a:pPr>
            <a:r>
              <a:t>适应症：B细胞非霍奇金淋巴瘤、中枢神经系统淋巴瘤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登记号：JPRN-jRCT2031220529</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试验药/方案：替拉鲁替尼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替拉鲁替尼治疗复发或难治性继发性中枢神经系统淋巴瘤的疗效和安全性：ii期crystal/ncch2201研究结果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efficacy and safety of tirabrutinib for relapsed or refractory secondary cent...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PS2084</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EHA原文结果（中文字段未通过数字核对）（1/2）</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Twenty patients were enrolled between February 2023 and December 2024.</a:t>
            </a:r>
          </a:p>
          <a:p>
            <a:pPr>
              <a:lnSpc>
                <a:spcPct val="103000"/>
              </a:lnSpc>
              <a:spcAft>
                <a:spcPts val="300"/>
              </a:spcAft>
              <a:defRPr sz="819">
                <a:solidFill>
                  <a:srgbClr val="21242A"/>
                </a:solidFill>
                <a:latin typeface="Microsoft YaHei"/>
              </a:defRPr>
            </a:pPr>
            <a:r>
              <a:t>The median age was 75 years (range, 48–81), and all patients had DLBCL, not otherwise specified (DLBCL-NOS) with secon</a:t>
            </a:r>
          </a:p>
          <a:p>
            <a:pPr>
              <a:lnSpc>
                <a:spcPct val="103000"/>
              </a:lnSpc>
              <a:spcAft>
                <a:spcPts val="300"/>
              </a:spcAft>
              <a:defRPr sz="819">
                <a:solidFill>
                  <a:srgbClr val="21242A"/>
                </a:solidFill>
                <a:latin typeface="Microsoft YaHei"/>
              </a:defRPr>
            </a:pPr>
            <a:r>
              <a:t>dary CNS involvement.</a:t>
            </a:r>
          </a:p>
          <a:p>
            <a:pPr>
              <a:lnSpc>
                <a:spcPct val="103000"/>
              </a:lnSpc>
              <a:spcAft>
                <a:spcPts val="300"/>
              </a:spcAft>
              <a:defRPr sz="819">
                <a:solidFill>
                  <a:srgbClr val="21242A"/>
                </a:solidFill>
                <a:latin typeface="Microsoft YaHei"/>
              </a:defRPr>
            </a:pPr>
            <a:r>
              <a:t>Central pathological review classified 9 patients as the germinal center B-cell–like (GCB) subtype, 10 as the non-GCB </a:t>
            </a:r>
          </a:p>
          <a:p>
            <a:pPr>
              <a:lnSpc>
                <a:spcPct val="103000"/>
              </a:lnSpc>
              <a:spcAft>
                <a:spcPts val="300"/>
              </a:spcAft>
              <a:defRPr sz="819">
                <a:solidFill>
                  <a:srgbClr val="21242A"/>
                </a:solidFill>
                <a:latin typeface="Microsoft YaHei"/>
              </a:defRPr>
            </a:pPr>
            <a:r>
              <a:t>subtype, and 1 patient as unclassifiable.</a:t>
            </a:r>
          </a:p>
          <a:p>
            <a:pPr>
              <a:lnSpc>
                <a:spcPct val="103000"/>
              </a:lnSpc>
              <a:spcAft>
                <a:spcPts val="300"/>
              </a:spcAft>
              <a:defRPr sz="819">
                <a:solidFill>
                  <a:srgbClr val="21242A"/>
                </a:solidFill>
                <a:latin typeface="Microsoft YaHei"/>
              </a:defRPr>
            </a:pPr>
            <a:r>
              <a:t>Three patients had cerebrospinal fluid disease, including one without parenchymal lesions.</a:t>
            </a:r>
          </a:p>
          <a:p>
            <a:pPr>
              <a:lnSpc>
                <a:spcPct val="103000"/>
              </a:lnSpc>
              <a:spcAft>
                <a:spcPts val="300"/>
              </a:spcAft>
              <a:defRPr sz="819">
                <a:solidFill>
                  <a:srgbClr val="21242A"/>
                </a:solidFill>
                <a:latin typeface="Microsoft YaHei"/>
              </a:defRPr>
            </a:pPr>
            <a:r>
              <a:t>The median number of prior therapies was 3.5 (range, 1–8). Eighteen patients were evaluable for efficacy by ICR.</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疾病场景：SCNSL/CNS复发或预防</a:t>
            </a:r>
          </a:p>
          <a:p>
            <a:pPr>
              <a:lnSpc>
                <a:spcPct val="103000"/>
              </a:lnSpc>
              <a:spcAft>
                <a:spcPts val="300"/>
              </a:spcAft>
              <a:defRPr sz="780">
                <a:solidFill>
                  <a:srgbClr val="21242A"/>
                </a:solidFill>
                <a:latin typeface="Microsoft YaHei"/>
              </a:defRPr>
            </a:pPr>
            <a:r>
              <a:t>药物/技术：BTKi</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摘要号：PS2084</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替拉鲁替尼治疗复发或难治性继发性中枢神经系统淋巴瘤的疗效和安全性：ii期crystal/ncch2201研究结果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efficacy and safety of tirabrutinib for relapsed or refractory secondary cent...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PS2084</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99/187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EHA原文结果（中文字段未通过数字核对）（2/2）</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The ORR was 66.7% (95% CI, 41.0–86.7; p Summary/Conclusion: Tirabrutinib demonstrated clinically meaningful activity w</a:t>
            </a:r>
          </a:p>
          <a:p>
            <a:pPr>
              <a:lnSpc>
                <a:spcPct val="103000"/>
              </a:lnSpc>
              <a:spcAft>
                <a:spcPts val="300"/>
              </a:spcAft>
              <a:defRPr sz="819">
                <a:solidFill>
                  <a:srgbClr val="21242A"/>
                </a:solidFill>
                <a:latin typeface="Microsoft YaHei"/>
              </a:defRPr>
            </a:pPr>
            <a:r>
              <a:t>ith a manageable safety profile in heavily pretreated patients with R/R SCNSL.</a:t>
            </a:r>
          </a:p>
          <a:p>
            <a:pPr>
              <a:lnSpc>
                <a:spcPct val="103000"/>
              </a:lnSpc>
              <a:spcAft>
                <a:spcPts val="300"/>
              </a:spcAft>
              <a:defRPr sz="819">
                <a:solidFill>
                  <a:srgbClr val="21242A"/>
                </a:solidFill>
                <a:latin typeface="Microsoft YaHei"/>
              </a:defRPr>
            </a:pPr>
            <a:r>
              <a:t>The phase II CRYSTAL/NCCH2201 study supports tirabrutinib as a promising therapeutic option for this disease with extr</a:t>
            </a:r>
          </a:p>
          <a:p>
            <a:pPr>
              <a:lnSpc>
                <a:spcPct val="103000"/>
              </a:lnSpc>
              <a:spcAft>
                <a:spcPts val="300"/>
              </a:spcAft>
              <a:defRPr sz="819">
                <a:solidFill>
                  <a:srgbClr val="21242A"/>
                </a:solidFill>
                <a:latin typeface="Microsoft YaHei"/>
              </a:defRPr>
            </a:pPr>
            <a:r>
              <a:t>emely poor prognosis.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扎努布替尼联合利妥昔单抗、异环磷酰胺、卡铂和依托泊苷治疗复发/难治性弥漫性大b细胞淋巴瘤的i/ii期研究：ii期部分的...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 i/ii study of zanubrutinib in combination with rituximab, ifosfamide,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PF972</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中枢神经系统淋巴瘤，弥漫性大B细胞淋巴瘤</a:t>
            </a:r>
          </a:p>
          <a:p>
            <a:pPr>
              <a:lnSpc>
                <a:spcPct val="103000"/>
              </a:lnSpc>
              <a:spcAft>
                <a:spcPts val="300"/>
              </a:spcAft>
              <a:defRPr sz="800">
                <a:solidFill>
                  <a:srgbClr val="21242A"/>
                </a:solidFill>
                <a:latin typeface="Microsoft YaHei"/>
              </a:defRPr>
            </a:pPr>
            <a:r>
              <a:t>N=52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试验药/方案：泽布替尼</a:t>
            </a:r>
          </a:p>
          <a:p>
            <a:pPr>
              <a:lnSpc>
                <a:spcPct val="103000"/>
              </a:lnSpc>
              <a:spcAft>
                <a:spcPts val="300"/>
              </a:spcAft>
              <a:defRPr sz="800">
                <a:solidFill>
                  <a:srgbClr val="21242A"/>
                </a:solidFill>
                <a:latin typeface="Microsoft YaHei"/>
              </a:defRPr>
            </a:pPr>
            <a:r>
              <a:t>靶点：BTK</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多组/多方案比较：队列A（R/R systemic non-GCB DLBCL）：zanubrutinib 160mg每日联合...</a:t>
            </a:r>
          </a:p>
          <a:p>
            <a:pPr>
              <a:lnSpc>
                <a:spcPct val="103000"/>
              </a:lnSpc>
              <a:spcAft>
                <a:spcPts val="300"/>
              </a:spcAft>
              <a:defRPr sz="800">
                <a:solidFill>
                  <a:srgbClr val="21242A"/>
                </a:solidFill>
                <a:latin typeface="Microsoft YaHei"/>
              </a:defRPr>
            </a:pPr>
            <a:r>
              <a:t>队列B（R/R CNS淋巴瘤）：zanubrutinib 160mg每日联合R-ICE方案（利妥昔单抗、异环磷酰胺、卡铂、依托...</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总人群：ORR 90.9%，CR率72.7%</a:t>
            </a:r>
          </a:p>
          <a:p>
            <a:pPr>
              <a:lnSpc>
                <a:spcPct val="103000"/>
              </a:lnSpc>
              <a:spcAft>
                <a:spcPts val="300"/>
              </a:spcAft>
              <a:defRPr sz="800">
                <a:solidFill>
                  <a:srgbClr val="21242A"/>
                </a:solidFill>
                <a:latin typeface="Microsoft YaHei"/>
              </a:defRPr>
            </a:pPr>
            <a:r>
              <a:t>队列A：ORR 90.3%，CR率74.2%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人数：52</a:t>
            </a:r>
          </a:p>
          <a:p>
            <a:pPr>
              <a:lnSpc>
                <a:spcPct val="103000"/>
              </a:lnSpc>
              <a:spcAft>
                <a:spcPts val="300"/>
              </a:spcAft>
              <a:defRPr sz="810">
                <a:solidFill>
                  <a:srgbClr val="21242A"/>
                </a:solidFill>
                <a:latin typeface="Microsoft YaHei"/>
              </a:defRPr>
            </a:pPr>
            <a:r>
              <a:t>适应症：中枢神经系统淋巴瘤、弥漫性大B细胞淋巴瘤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试验药/方案：泽布替尼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扎努布替尼联合利妥昔单抗、异环磷酰胺、卡铂和依托泊苷治疗复发/难治性弥漫性大b细胞淋巴瘤的i/ii期研究：ii期部分的...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 i/ii study of zanubrutinib in combination with rituximab, ifosfamide,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PF972</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总人群</a:t>
                      </a:r>
                    </a:p>
                  </a:txBody>
                  <a:tcPr>
                    <a:solidFill>
                      <a:srgbClr val="F6F8FB"/>
                    </a:solidFill>
                  </a:tcPr>
                </a:tc>
                <a:tc>
                  <a:txBody>
                    <a:bodyPr wrap="square" lIns="36576" rIns="36576" tIns="18288" bIns="18288"/>
                    <a:lstStyle/>
                    <a:p>
                      <a:r>
                        <a:rPr sz="720" b="0">
                          <a:solidFill>
                            <a:srgbClr val="21242A"/>
                          </a:solidFill>
                          <a:latin typeface="Microsoft YaHei"/>
                        </a:rPr>
                        <a:t>ORR 90.9%，CR率72.7%</a:t>
                      </a:r>
                    </a:p>
                  </a:txBody>
                  <a:tcPr>
                    <a:solidFill>
                      <a:srgbClr val="F6F8FB"/>
                    </a:solidFill>
                  </a:tcPr>
                </a:tc>
              </a:tr>
              <a:tr h="282321">
                <a:tc>
                  <a:txBody>
                    <a:bodyPr wrap="square" lIns="36576" rIns="36576" tIns="18288" bIns="18288"/>
                    <a:lstStyle/>
                    <a:p>
                      <a:r>
                        <a:rPr sz="720" b="1">
                          <a:solidFill>
                            <a:srgbClr val="21242A"/>
                          </a:solidFill>
                          <a:latin typeface="Microsoft YaHei"/>
                        </a:rPr>
                        <a:t>队列A</a:t>
                      </a:r>
                    </a:p>
                  </a:txBody>
                  <a:tcPr>
                    <a:solidFill>
                      <a:srgbClr val="FFFFFF"/>
                    </a:solidFill>
                  </a:tcPr>
                </a:tc>
                <a:tc>
                  <a:txBody>
                    <a:bodyPr wrap="square" lIns="36576" rIns="36576" tIns="18288" bIns="18288"/>
                    <a:lstStyle/>
                    <a:p>
                      <a:r>
                        <a:rPr sz="720" b="0">
                          <a:solidFill>
                            <a:srgbClr val="21242A"/>
                          </a:solidFill>
                          <a:latin typeface="Microsoft YaHei"/>
                        </a:rPr>
                        <a:t>ORR 90.3%，CR率74.2%</a:t>
                      </a:r>
                    </a:p>
                  </a:txBody>
                  <a:tcPr>
                    <a:solidFill>
                      <a:srgbClr val="FFFFFF"/>
                    </a:solidFill>
                  </a:tcPr>
                </a:tc>
              </a:tr>
              <a:tr h="282321">
                <a:tc>
                  <a:txBody>
                    <a:bodyPr wrap="square" lIns="36576" rIns="36576" tIns="18288" bIns="18288"/>
                    <a:lstStyle/>
                    <a:p>
                      <a:r>
                        <a:rPr sz="720" b="1">
                          <a:solidFill>
                            <a:srgbClr val="21242A"/>
                          </a:solidFill>
                          <a:latin typeface="Microsoft YaHei"/>
                        </a:rPr>
                        <a:t>队列B</a:t>
                      </a:r>
                    </a:p>
                  </a:txBody>
                  <a:tcPr>
                    <a:solidFill>
                      <a:srgbClr val="F6F8FB"/>
                    </a:solidFill>
                  </a:tcPr>
                </a:tc>
                <a:tc>
                  <a:txBody>
                    <a:bodyPr wrap="square" lIns="36576" rIns="36576" tIns="18288" bIns="18288"/>
                    <a:lstStyle/>
                    <a:p>
                      <a:r>
                        <a:rPr sz="720" b="0">
                          <a:solidFill>
                            <a:srgbClr val="21242A"/>
                          </a:solidFill>
                          <a:latin typeface="Microsoft YaHei"/>
                        </a:rPr>
                        <a:t>ORR 92.3%，CR率69.2%</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中位随访5.8个月，6个月PFS率76.3%，6个月OS率90.0%</a:t>
                      </a:r>
                    </a:p>
                  </a:txBody>
                  <a:tcPr>
                    <a:solidFill>
                      <a:srgbClr val="FFFFFF"/>
                    </a:solidFill>
                  </a:tcPr>
                </a:tc>
              </a:tr>
              <a:tr h="282321">
                <a:tc>
                  <a:txBody>
                    <a:bodyPr wrap="square" lIns="36576" rIns="36576" tIns="18288" bIns="18288"/>
                    <a:lstStyle/>
                    <a:p>
                      <a:r>
                        <a:rPr sz="720" b="1">
                          <a:solidFill>
                            <a:srgbClr val="21242A"/>
                          </a:solidFill>
                          <a:latin typeface="Microsoft YaHei"/>
                        </a:rPr>
                        <a:t>队列A</a:t>
                      </a:r>
                    </a:p>
                  </a:txBody>
                  <a:tcPr>
                    <a:solidFill>
                      <a:srgbClr val="F6F8FB"/>
                    </a:solidFill>
                  </a:tcPr>
                </a:tc>
                <a:tc>
                  <a:txBody>
                    <a:bodyPr wrap="square" lIns="36576" rIns="36576" tIns="18288" bIns="18288"/>
                    <a:lstStyle/>
                    <a:p>
                      <a:r>
                        <a:rPr sz="720" b="0">
                          <a:solidFill>
                            <a:srgbClr val="21242A"/>
                          </a:solidFill>
                          <a:latin typeface="Microsoft YaHei"/>
                        </a:rPr>
                        <a:t>6个月PFS率83.2%，6个月OS率100.0%</a:t>
                      </a:r>
                    </a:p>
                  </a:txBody>
                  <a:tcPr>
                    <a:solidFill>
                      <a:srgbClr val="F6F8FB"/>
                    </a:solidFill>
                  </a:tcPr>
                </a:tc>
              </a:tr>
              <a:tr h="282321">
                <a:tc>
                  <a:txBody>
                    <a:bodyPr wrap="square" lIns="36576" rIns="36576" tIns="18288" bIns="18288"/>
                    <a:lstStyle/>
                    <a:p>
                      <a:r>
                        <a:rPr sz="720" b="1">
                          <a:solidFill>
                            <a:srgbClr val="21242A"/>
                          </a:solidFill>
                          <a:latin typeface="Microsoft YaHei"/>
                        </a:rPr>
                        <a:t>队列B</a:t>
                      </a:r>
                    </a:p>
                  </a:txBody>
                  <a:tcPr>
                    <a:solidFill>
                      <a:srgbClr val="FFFFFF"/>
                    </a:solidFill>
                  </a:tcPr>
                </a:tc>
                <a:tc>
                  <a:txBody>
                    <a:bodyPr wrap="square" lIns="36576" rIns="36576" tIns="18288" bIns="18288"/>
                    <a:lstStyle/>
                    <a:p>
                      <a:r>
                        <a:rPr sz="720" b="0">
                          <a:solidFill>
                            <a:srgbClr val="21242A"/>
                          </a:solidFill>
                          <a:latin typeface="Microsoft YaHei"/>
                        </a:rPr>
                        <a:t>6个月PFS率62.3%，6个月OS率71.6%</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11例患者（均来自队列A）接受了前期ASCT，截至数据截止无事件</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疾病场景：SCNSL/CNS复发或预防</a:t>
            </a:r>
          </a:p>
          <a:p>
            <a:pPr>
              <a:lnSpc>
                <a:spcPct val="103000"/>
              </a:lnSpc>
              <a:spcAft>
                <a:spcPts val="300"/>
              </a:spcAft>
              <a:defRPr sz="780">
                <a:solidFill>
                  <a:srgbClr val="21242A"/>
                </a:solidFill>
                <a:latin typeface="Microsoft YaHei"/>
              </a:defRPr>
            </a:pPr>
            <a:r>
              <a:t>药物/技术：BTKi</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摘要号：PF972</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扎努布替尼联合利妥昔单抗、异环磷酰胺、卡铂和依托泊苷治疗复发/难治性弥漫性大b细胞淋巴瘤的i/ii期研究：ii期部分的...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 i/ii study of zanubrutinib in combination with rituximab, ifosfamide,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PF972</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89611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896112">
                <a:tc>
                  <a:txBody>
                    <a:bodyPr wrap="square" lIns="36576" rIns="36576" tIns="18288" bIns="18288"/>
                    <a:lstStyle/>
                    <a:p>
                      <a:r>
                        <a:rPr sz="720" b="1">
                          <a:solidFill>
                            <a:srgbClr val="21242A"/>
                          </a:solidFill>
                          <a:latin typeface="Microsoft YaHei"/>
                        </a:rPr>
                        <a:t>最常见≥3级不良事件</a:t>
                      </a:r>
                    </a:p>
                  </a:txBody>
                  <a:tcPr>
                    <a:solidFill>
                      <a:srgbClr val="F6F8FB"/>
                    </a:solidFill>
                  </a:tcPr>
                </a:tc>
                <a:tc>
                  <a:txBody>
                    <a:bodyPr wrap="square" lIns="36576" rIns="36576" tIns="18288" bIns="18288"/>
                    <a:lstStyle/>
                    <a:p>
                      <a:r>
                        <a:rPr sz="720" b="0">
                          <a:solidFill>
                            <a:srgbClr val="21242A"/>
                          </a:solidFill>
                          <a:latin typeface="Microsoft YaHei"/>
                        </a:rPr>
                        <a:t>中性粒细胞减少46.0%，血小板减少46.0%，贫血29.0%</a:t>
                      </a:r>
                    </a:p>
                  </a:txBody>
                  <a:tcPr>
                    <a:solidFill>
                      <a:srgbClr val="F6F8FB"/>
                    </a:solidFill>
                  </a:tcPr>
                </a:tc>
              </a:tr>
              <a:tr h="896112">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发热性中性粒细胞减少5例(10.0%)</a:t>
                      </a:r>
                    </a:p>
                  </a:txBody>
                  <a:tcPr>
                    <a:solidFill>
                      <a:srgbClr val="FFFFFF"/>
                    </a:solidFill>
                  </a:tcPr>
                </a:tc>
              </a:tr>
              <a:tr h="896112">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1例死于治疗相关脓毒症，无患者因AE停止治疗</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medz-r方案作为新诊断的原发性中枢神经系统淋巴瘤诱导治疗的真实疗效和安全性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and safety of the medz-r regimen as induction therapy in...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PF1001</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N=59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试验药/方案：甲氨蝶呤</a:t>
            </a:r>
          </a:p>
          <a:p>
            <a:pPr>
              <a:lnSpc>
                <a:spcPct val="103000"/>
              </a:lnSpc>
              <a:spcAft>
                <a:spcPts val="300"/>
              </a:spcAft>
              <a:defRPr sz="800">
                <a:solidFill>
                  <a:srgbClr val="21242A"/>
                </a:solidFill>
                <a:latin typeface="Microsoft YaHei"/>
              </a:defRPr>
            </a:pPr>
            <a:r>
              <a:t>泽布替尼</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 93.0%</a:t>
            </a:r>
          </a:p>
          <a:p>
            <a:pPr>
              <a:lnSpc>
                <a:spcPct val="103000"/>
              </a:lnSpc>
              <a:spcAft>
                <a:spcPts val="300"/>
              </a:spcAft>
              <a:defRPr sz="800">
                <a:solidFill>
                  <a:srgbClr val="21242A"/>
                </a:solidFill>
                <a:latin typeface="Microsoft YaHei"/>
              </a:defRPr>
            </a:pPr>
            <a:r>
              <a:t>完全缓解率(CR): 91.2%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人数：59</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试验药/方案：甲氨蝶呤、泽布替尼、依托泊苷、聚乙二醇化多柔比星脂质体</a:t>
            </a:r>
          </a:p>
          <a:p>
            <a:pPr>
              <a:lnSpc>
                <a:spcPct val="103000"/>
              </a:lnSpc>
              <a:spcAft>
                <a:spcPts val="300"/>
              </a:spcAft>
              <a:defRPr sz="810">
                <a:solidFill>
                  <a:srgbClr val="21242A"/>
                </a:solidFill>
                <a:latin typeface="Microsoft YaHei"/>
              </a:defRPr>
            </a:pPr>
            <a:r>
              <a:t>靶点：DHFR、BTK、TOP2、CD20</a:t>
            </a:r>
          </a:p>
          <a:p>
            <a:pPr>
              <a:lnSpc>
                <a:spcPct val="103000"/>
              </a:lnSpc>
              <a:spcAft>
                <a:spcPts val="300"/>
              </a:spcAft>
              <a:defRPr sz="810">
                <a:solidFill>
                  <a:srgbClr val="21242A"/>
                </a:solidFill>
                <a:latin typeface="Microsoft YaHei"/>
              </a:defRPr>
            </a:pPr>
            <a:r>
              <a:t>药物/技术类别：化药、单特异性抗体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medz-r方案作为新诊断的原发性中枢神经系统淋巴瘤诱导治疗的真实疗效和安全性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and safety of the medz-r regimen as induction therapy in...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PF1001</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客观缓解率(ORR)</a:t>
                      </a:r>
                    </a:p>
                  </a:txBody>
                  <a:tcPr>
                    <a:solidFill>
                      <a:srgbClr val="F6F8FB"/>
                    </a:solidFill>
                  </a:tcPr>
                </a:tc>
                <a:tc>
                  <a:txBody>
                    <a:bodyPr wrap="square" lIns="36576" rIns="36576" tIns="18288" bIns="18288"/>
                    <a:lstStyle/>
                    <a:p>
                      <a:r>
                        <a:rPr sz="720" b="0">
                          <a:solidFill>
                            <a:srgbClr val="21242A"/>
                          </a:solidFill>
                          <a:latin typeface="Microsoft YaHei"/>
                        </a:rPr>
                        <a:t>93.0%</a:t>
                      </a:r>
                    </a:p>
                  </a:txBody>
                  <a:tcPr>
                    <a:solidFill>
                      <a:srgbClr val="F6F8FB"/>
                    </a:solidFill>
                  </a:tcPr>
                </a:tc>
              </a:tr>
              <a:tr h="282321">
                <a:tc>
                  <a:txBody>
                    <a:bodyPr wrap="square" lIns="36576" rIns="36576" tIns="18288" bIns="18288"/>
                    <a:lstStyle/>
                    <a:p>
                      <a:r>
                        <a:rPr sz="720" b="1">
                          <a:solidFill>
                            <a:srgbClr val="21242A"/>
                          </a:solidFill>
                          <a:latin typeface="Microsoft YaHei"/>
                        </a:rPr>
                        <a:t>完全缓解率(CR)</a:t>
                      </a:r>
                    </a:p>
                  </a:txBody>
                  <a:tcPr>
                    <a:solidFill>
                      <a:srgbClr val="FFFFFF"/>
                    </a:solidFill>
                  </a:tcPr>
                </a:tc>
                <a:tc>
                  <a:txBody>
                    <a:bodyPr wrap="square" lIns="36576" rIns="36576" tIns="18288" bIns="18288"/>
                    <a:lstStyle/>
                    <a:p>
                      <a:r>
                        <a:rPr sz="720" b="0">
                          <a:solidFill>
                            <a:srgbClr val="21242A"/>
                          </a:solidFill>
                          <a:latin typeface="Microsoft YaHei"/>
                        </a:rPr>
                        <a:t>91.2%</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中位随访22.0个月</a:t>
                      </a:r>
                    </a:p>
                  </a:txBody>
                  <a:tcPr>
                    <a:solidFill>
                      <a:srgbClr val="F6F8FB"/>
                    </a:solidFill>
                  </a:tcPr>
                </a:tc>
              </a:tr>
              <a:tr h="282321">
                <a:tc>
                  <a:txBody>
                    <a:bodyPr wrap="square" lIns="36576" rIns="36576" tIns="18288" bIns="18288"/>
                    <a:lstStyle/>
                    <a:p>
                      <a:r>
                        <a:rPr sz="720" b="1">
                          <a:solidFill>
                            <a:srgbClr val="21242A"/>
                          </a:solidFill>
                          <a:latin typeface="Microsoft YaHei"/>
                        </a:rPr>
                        <a:t>1年无进展生存率(PFS)</a:t>
                      </a:r>
                    </a:p>
                  </a:txBody>
                  <a:tcPr>
                    <a:solidFill>
                      <a:srgbClr val="FFFFFF"/>
                    </a:solidFill>
                  </a:tcPr>
                </a:tc>
                <a:tc>
                  <a:txBody>
                    <a:bodyPr wrap="square" lIns="36576" rIns="36576" tIns="18288" bIns="18288"/>
                    <a:lstStyle/>
                    <a:p>
                      <a:r>
                        <a:rPr sz="720" b="0">
                          <a:solidFill>
                            <a:srgbClr val="21242A"/>
                          </a:solidFill>
                          <a:latin typeface="Microsoft YaHei"/>
                        </a:rPr>
                        <a:t>84.7%</a:t>
                      </a:r>
                    </a:p>
                  </a:txBody>
                  <a:tcPr>
                    <a:solidFill>
                      <a:srgbClr val="FFFFFF"/>
                    </a:solidFill>
                  </a:tcPr>
                </a:tc>
              </a:tr>
              <a:tr h="282321">
                <a:tc>
                  <a:txBody>
                    <a:bodyPr wrap="square" lIns="36576" rIns="36576" tIns="18288" bIns="18288"/>
                    <a:lstStyle/>
                    <a:p>
                      <a:r>
                        <a:rPr sz="720" b="1">
                          <a:solidFill>
                            <a:srgbClr val="21242A"/>
                          </a:solidFill>
                          <a:latin typeface="Microsoft YaHei"/>
                        </a:rPr>
                        <a:t>1年总生存率(OS)</a:t>
                      </a:r>
                    </a:p>
                  </a:txBody>
                  <a:tcPr>
                    <a:solidFill>
                      <a:srgbClr val="F6F8FB"/>
                    </a:solidFill>
                  </a:tcPr>
                </a:tc>
                <a:tc>
                  <a:txBody>
                    <a:bodyPr wrap="square" lIns="36576" rIns="36576" tIns="18288" bIns="18288"/>
                    <a:lstStyle/>
                    <a:p>
                      <a:r>
                        <a:rPr sz="720" b="0">
                          <a:solidFill>
                            <a:srgbClr val="21242A"/>
                          </a:solidFill>
                          <a:latin typeface="Microsoft YaHei"/>
                        </a:rPr>
                        <a:t>87.5%</a:t>
                      </a:r>
                    </a:p>
                  </a:txBody>
                  <a:tcPr>
                    <a:solidFill>
                      <a:srgbClr val="F6F8FB"/>
                    </a:solidFill>
                  </a:tcPr>
                </a:tc>
              </a:tr>
              <a:tr h="282321">
                <a:tc>
                  <a:txBody>
                    <a:bodyPr wrap="square" lIns="36576" rIns="36576" tIns="18288" bIns="18288"/>
                    <a:lstStyle/>
                    <a:p>
                      <a:r>
                        <a:rPr sz="720" b="1">
                          <a:solidFill>
                            <a:srgbClr val="21242A"/>
                          </a:solidFill>
                          <a:latin typeface="Microsoft YaHei"/>
                        </a:rPr>
                        <a:t>接受巩固/维持治疗者1年PFS</a:t>
                      </a:r>
                    </a:p>
                  </a:txBody>
                  <a:tcPr>
                    <a:solidFill>
                      <a:srgbClr val="FFFFFF"/>
                    </a:solidFill>
                  </a:tcPr>
                </a:tc>
                <a:tc>
                  <a:txBody>
                    <a:bodyPr wrap="square" lIns="36576" rIns="36576" tIns="18288" bIns="18288"/>
                    <a:lstStyle/>
                    <a:p>
                      <a:r>
                        <a:rPr sz="720" b="0">
                          <a:solidFill>
                            <a:srgbClr val="21242A"/>
                          </a:solidFill>
                          <a:latin typeface="Microsoft YaHei"/>
                        </a:rPr>
                        <a:t>100%</a:t>
                      </a:r>
                    </a:p>
                  </a:txBody>
                  <a:tcPr>
                    <a:solidFill>
                      <a:srgbClr val="FFFFFF"/>
                    </a:solidFill>
                  </a:tcPr>
                </a:tc>
              </a:tr>
              <a:tr h="282321">
                <a:tc>
                  <a:txBody>
                    <a:bodyPr wrap="square" lIns="36576" rIns="36576" tIns="18288" bIns="18288"/>
                    <a:lstStyle/>
                    <a:p>
                      <a:r>
                        <a:rPr sz="720" b="1">
                          <a:solidFill>
                            <a:srgbClr val="21242A"/>
                          </a:solidFill>
                          <a:latin typeface="Microsoft YaHei"/>
                        </a:rPr>
                        <a:t>未接受者</a:t>
                      </a:r>
                    </a:p>
                  </a:txBody>
                  <a:tcPr>
                    <a:solidFill>
                      <a:srgbClr val="F6F8FB"/>
                    </a:solidFill>
                  </a:tcPr>
                </a:tc>
                <a:tc>
                  <a:txBody>
                    <a:bodyPr wrap="square" lIns="36576" rIns="36576" tIns="18288" bIns="18288"/>
                    <a:lstStyle/>
                    <a:p>
                      <a:r>
                        <a:rPr sz="720" b="0">
                          <a:solidFill>
                            <a:srgbClr val="21242A"/>
                          </a:solidFill>
                          <a:latin typeface="Microsoft YaHei"/>
                        </a:rPr>
                        <a:t>80.0% (p=0.0033)</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疾病场景：SCNSL/CNS复发或预防</a:t>
            </a:r>
          </a:p>
          <a:p>
            <a:pPr>
              <a:lnSpc>
                <a:spcPct val="103000"/>
              </a:lnSpc>
              <a:spcAft>
                <a:spcPts val="300"/>
              </a:spcAft>
              <a:defRPr sz="780">
                <a:solidFill>
                  <a:srgbClr val="21242A"/>
                </a:solidFill>
                <a:latin typeface="Microsoft YaHei"/>
              </a:defRPr>
            </a:pPr>
            <a:r>
              <a:t>药物/技术：BTKi</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摘要号：PF1001</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medz-r方案作为新诊断的原发性中枢神经系统淋巴瘤诱导治疗的真实疗效和安全性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and safety of the medz-r regimen as induction therapy in...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PF1001</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512064">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512064">
                <a:tc>
                  <a:txBody>
                    <a:bodyPr wrap="square" lIns="36576" rIns="36576" tIns="18288" bIns="18288"/>
                    <a:lstStyle/>
                    <a:p>
                      <a:r>
                        <a:rPr sz="720" b="1">
                          <a:solidFill>
                            <a:srgbClr val="21242A"/>
                          </a:solidFill>
                          <a:latin typeface="Microsoft YaHei"/>
                        </a:rPr>
                        <a:t>治疗相关不良事件(TRAEs)</a:t>
                      </a:r>
                    </a:p>
                  </a:txBody>
                  <a:tcPr>
                    <a:solidFill>
                      <a:srgbClr val="F6F8FB"/>
                    </a:solidFill>
                  </a:tcPr>
                </a:tc>
                <a:tc>
                  <a:txBody>
                    <a:bodyPr wrap="square" lIns="36576" rIns="36576" tIns="18288" bIns="18288"/>
                    <a:lstStyle/>
                    <a:p>
                      <a:r>
                        <a:rPr sz="720" b="0">
                          <a:solidFill>
                            <a:srgbClr val="21242A"/>
                          </a:solidFill>
                          <a:latin typeface="Microsoft YaHei"/>
                        </a:rPr>
                        <a:t>77.9% (多为1-2级)</a:t>
                      </a:r>
                    </a:p>
                  </a:txBody>
                  <a:tcPr>
                    <a:solidFill>
                      <a:srgbClr val="F6F8FB"/>
                    </a:solidFill>
                  </a:tcPr>
                </a:tc>
              </a:tr>
              <a:tr h="512064">
                <a:tc>
                  <a:txBody>
                    <a:bodyPr wrap="square" lIns="36576" rIns="36576" tIns="18288" bIns="18288"/>
                    <a:lstStyle/>
                    <a:p>
                      <a:r>
                        <a:rPr sz="720" b="1">
                          <a:solidFill>
                            <a:srgbClr val="21242A"/>
                          </a:solidFill>
                          <a:latin typeface="Microsoft YaHei"/>
                        </a:rPr>
                        <a:t>3-4级血液学毒性</a:t>
                      </a:r>
                    </a:p>
                  </a:txBody>
                  <a:tcPr>
                    <a:solidFill>
                      <a:srgbClr val="FFFFFF"/>
                    </a:solidFill>
                  </a:tcPr>
                </a:tc>
                <a:tc>
                  <a:txBody>
                    <a:bodyPr wrap="square" lIns="36576" rIns="36576" tIns="18288" bIns="18288"/>
                    <a:lstStyle/>
                    <a:p>
                      <a:r>
                        <a:rPr sz="720" b="0">
                          <a:solidFill>
                            <a:srgbClr val="21242A"/>
                          </a:solidFill>
                          <a:latin typeface="Microsoft YaHei"/>
                        </a:rPr>
                        <a:t>白细胞减少 23.7%, 血小板减少 15.3%</a:t>
                      </a:r>
                    </a:p>
                  </a:txBody>
                  <a:tcPr>
                    <a:solidFill>
                      <a:srgbClr val="FFFFFF"/>
                    </a:solidFill>
                  </a:tcPr>
                </a:tc>
              </a:tr>
              <a:tr h="512064">
                <a:tc>
                  <a:txBody>
                    <a:bodyPr wrap="square" lIns="36576" rIns="36576" tIns="18288" bIns="18288"/>
                    <a:lstStyle/>
                    <a:p>
                      <a:r>
                        <a:rPr sz="720" b="1">
                          <a:solidFill>
                            <a:srgbClr val="21242A"/>
                          </a:solidFill>
                          <a:latin typeface="Microsoft YaHei"/>
                        </a:rPr>
                        <a:t>肝毒性</a:t>
                      </a:r>
                    </a:p>
                  </a:txBody>
                  <a:tcPr>
                    <a:solidFill>
                      <a:srgbClr val="F6F8FB"/>
                    </a:solidFill>
                  </a:tcPr>
                </a:tc>
                <a:tc>
                  <a:txBody>
                    <a:bodyPr wrap="square" lIns="36576" rIns="36576" tIns="18288" bIns="18288"/>
                    <a:lstStyle/>
                    <a:p>
                      <a:r>
                        <a:rPr sz="720" b="0">
                          <a:solidFill>
                            <a:srgbClr val="21242A"/>
                          </a:solidFill>
                          <a:latin typeface="Microsoft YaHei"/>
                        </a:rPr>
                        <a:t>23.7% (1-2级)</a:t>
                      </a:r>
                    </a:p>
                  </a:txBody>
                  <a:tcPr>
                    <a:solidFill>
                      <a:srgbClr val="F6F8FB"/>
                    </a:solidFill>
                  </a:tcPr>
                </a:tc>
              </a:tr>
              <a:tr h="512064">
                <a:tc>
                  <a:txBody>
                    <a:bodyPr wrap="square" lIns="36576" rIns="36576" tIns="18288" bIns="18288"/>
                    <a:lstStyle/>
                    <a:p>
                      <a:r>
                        <a:rPr sz="720" b="1">
                          <a:solidFill>
                            <a:srgbClr val="21242A"/>
                          </a:solidFill>
                          <a:latin typeface="Microsoft YaHei"/>
                        </a:rPr>
                        <a:t>肾毒性</a:t>
                      </a:r>
                    </a:p>
                  </a:txBody>
                  <a:tcPr>
                    <a:solidFill>
                      <a:srgbClr val="FFFFFF"/>
                    </a:solidFill>
                  </a:tcPr>
                </a:tc>
                <a:tc>
                  <a:txBody>
                    <a:bodyPr wrap="square" lIns="36576" rIns="36576" tIns="18288" bIns="18288"/>
                    <a:lstStyle/>
                    <a:p>
                      <a:r>
                        <a:rPr sz="720" b="0">
                          <a:solidFill>
                            <a:srgbClr val="21242A"/>
                          </a:solidFill>
                          <a:latin typeface="Microsoft YaHei"/>
                        </a:rPr>
                        <a:t>23.7% (1-2级)</a:t>
                      </a:r>
                    </a:p>
                  </a:txBody>
                  <a:tcPr>
                    <a:solidFill>
                      <a:srgbClr val="FFFFFF"/>
                    </a:solidFill>
                  </a:tcPr>
                </a:tc>
              </a:tr>
              <a:tr h="512064">
                <a:tc>
                  <a:txBody>
                    <a:bodyPr wrap="square" lIns="36576" rIns="36576" tIns="18288" bIns="18288"/>
                    <a:lstStyle/>
                    <a:p>
                      <a:r>
                        <a:rPr sz="720" b="1">
                          <a:solidFill>
                            <a:srgbClr val="21242A"/>
                          </a:solidFill>
                          <a:latin typeface="Microsoft YaHei"/>
                        </a:rPr>
                        <a:t>3-4级感染</a:t>
                      </a:r>
                    </a:p>
                  </a:txBody>
                  <a:tcPr>
                    <a:solidFill>
                      <a:srgbClr val="F6F8FB"/>
                    </a:solidFill>
                  </a:tcPr>
                </a:tc>
                <a:tc>
                  <a:txBody>
                    <a:bodyPr wrap="square" lIns="36576" rIns="36576" tIns="18288" bIns="18288"/>
                    <a:lstStyle/>
                    <a:p>
                      <a:r>
                        <a:rPr sz="720" b="0">
                          <a:solidFill>
                            <a:srgbClr val="21242A"/>
                          </a:solidFill>
                          <a:latin typeface="Microsoft YaHei"/>
                        </a:rPr>
                        <a:t>5.1%</a:t>
                      </a:r>
                    </a:p>
                  </a:txBody>
                  <a:tcPr>
                    <a:solidFill>
                      <a:srgbClr val="F6F8FB"/>
                    </a:solidFill>
                  </a:tcPr>
                </a:tc>
              </a:tr>
              <a:tr h="512064">
                <a:tc>
                  <a:txBody>
                    <a:bodyPr wrap="square" lIns="36576" rIns="36576" tIns="18288" bIns="18288"/>
                    <a:lstStyle/>
                    <a:p>
                      <a:r>
                        <a:rPr sz="720" b="1">
                          <a:solidFill>
                            <a:srgbClr val="21242A"/>
                          </a:solidFill>
                          <a:latin typeface="Microsoft YaHei"/>
                        </a:rPr>
                        <a:t>出血事件</a:t>
                      </a:r>
                    </a:p>
                  </a:txBody>
                  <a:tcPr>
                    <a:solidFill>
                      <a:srgbClr val="FFFFFF"/>
                    </a:solidFill>
                  </a:tcPr>
                </a:tc>
                <a:tc>
                  <a:txBody>
                    <a:bodyPr wrap="square" lIns="36576" rIns="36576" tIns="18288" bIns="18288"/>
                    <a:lstStyle/>
                    <a:p>
                      <a:r>
                        <a:rPr sz="720" b="0">
                          <a:solidFill>
                            <a:srgbClr val="21242A"/>
                          </a:solidFill>
                          <a:latin typeface="Microsoft YaHei"/>
                        </a:rPr>
                        <a:t>3.4% (轻度)</a:t>
                      </a:r>
                    </a:p>
                  </a:txBody>
                  <a:tcPr>
                    <a:solidFill>
                      <a:srgbClr val="FFFFFF"/>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大剂量化疗联合替莫唑胺治疗原发性中枢神经系统淋巴瘤患者12年总生存率的最新进展</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12 years update on overall survival in patients with primary central nervous...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PS2157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N=40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试验药/方案：替莫唑胺</a:t>
            </a:r>
          </a:p>
          <a:p>
            <a:pPr>
              <a:lnSpc>
                <a:spcPct val="103000"/>
              </a:lnSpc>
              <a:spcAft>
                <a:spcPts val="300"/>
              </a:spcAft>
              <a:defRPr sz="800">
                <a:solidFill>
                  <a:srgbClr val="21242A"/>
                </a:solidFill>
                <a:latin typeface="Microsoft YaHei"/>
              </a:defRPr>
            </a:pPr>
            <a:r>
              <a:t>阿糖胞苷</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完全缓解率：85%（34/40）</a:t>
            </a:r>
          </a:p>
          <a:p>
            <a:pPr>
              <a:lnSpc>
                <a:spcPct val="103000"/>
              </a:lnSpc>
              <a:spcAft>
                <a:spcPts val="300"/>
              </a:spcAft>
              <a:defRPr sz="800">
                <a:solidFill>
                  <a:srgbClr val="21242A"/>
                </a:solidFill>
                <a:latin typeface="Microsoft YaHei"/>
              </a:defRPr>
            </a:pPr>
            <a:r>
              <a:t>部分缓解率：15%（6/40）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人数：40</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试验药/方案：替莫唑胺、阿糖胞苷、甲氨蝶呤</a:t>
            </a:r>
          </a:p>
          <a:p>
            <a:pPr>
              <a:lnSpc>
                <a:spcPct val="103000"/>
              </a:lnSpc>
              <a:spcAft>
                <a:spcPts val="300"/>
              </a:spcAft>
              <a:defRPr sz="810">
                <a:solidFill>
                  <a:srgbClr val="21242A"/>
                </a:solidFill>
                <a:latin typeface="Microsoft YaHei"/>
              </a:defRPr>
            </a:pPr>
            <a:r>
              <a:t>靶点：DNA、DNA Pol、DHFR</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大剂量化疗联合替莫唑胺治疗原发性中枢神经系统淋巴瘤患者12年总生存率的最新进展</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12 years update on overall survival in patients with primary central nervous...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PS2157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完全缓解率</a:t>
                      </a:r>
                    </a:p>
                  </a:txBody>
                  <a:tcPr>
                    <a:solidFill>
                      <a:srgbClr val="F6F8FB"/>
                    </a:solidFill>
                  </a:tcPr>
                </a:tc>
                <a:tc>
                  <a:txBody>
                    <a:bodyPr wrap="square" lIns="36576" rIns="36576" tIns="18288" bIns="18288"/>
                    <a:lstStyle/>
                    <a:p>
                      <a:r>
                        <a:rPr sz="720" b="0">
                          <a:solidFill>
                            <a:srgbClr val="21242A"/>
                          </a:solidFill>
                          <a:latin typeface="Microsoft YaHei"/>
                        </a:rPr>
                        <a:t>85%（34/40）</a:t>
                      </a:r>
                    </a:p>
                  </a:txBody>
                  <a:tcPr>
                    <a:solidFill>
                      <a:srgbClr val="F6F8FB"/>
                    </a:solidFill>
                  </a:tcPr>
                </a:tc>
              </a:tr>
              <a:tr h="282321">
                <a:tc>
                  <a:txBody>
                    <a:bodyPr wrap="square" lIns="36576" rIns="36576" tIns="18288" bIns="18288"/>
                    <a:lstStyle/>
                    <a:p>
                      <a:r>
                        <a:rPr sz="720" b="1">
                          <a:solidFill>
                            <a:srgbClr val="21242A"/>
                          </a:solidFill>
                          <a:latin typeface="Microsoft YaHei"/>
                        </a:rPr>
                        <a:t>部分缓解率</a:t>
                      </a:r>
                    </a:p>
                  </a:txBody>
                  <a:tcPr>
                    <a:solidFill>
                      <a:srgbClr val="FFFFFF"/>
                    </a:solidFill>
                  </a:tcPr>
                </a:tc>
                <a:tc>
                  <a:txBody>
                    <a:bodyPr wrap="square" lIns="36576" rIns="36576" tIns="18288" bIns="18288"/>
                    <a:lstStyle/>
                    <a:p>
                      <a:r>
                        <a:rPr sz="720" b="0">
                          <a:solidFill>
                            <a:srgbClr val="21242A"/>
                          </a:solidFill>
                          <a:latin typeface="Microsoft YaHei"/>
                        </a:rPr>
                        <a:t>15%（6/40）</a:t>
                      </a:r>
                    </a:p>
                  </a:txBody>
                  <a:tcPr>
                    <a:solidFill>
                      <a:srgbClr val="FFFFFF"/>
                    </a:solidFill>
                  </a:tcPr>
                </a:tc>
              </a:tr>
              <a:tr h="282321">
                <a:tc>
                  <a:txBody>
                    <a:bodyPr wrap="square" lIns="36576" rIns="36576" tIns="18288" bIns="18288"/>
                    <a:lstStyle/>
                    <a:p>
                      <a:r>
                        <a:rPr sz="720" b="1">
                          <a:solidFill>
                            <a:srgbClr val="21242A"/>
                          </a:solidFill>
                          <a:latin typeface="Microsoft YaHei"/>
                        </a:rPr>
                        <a:t>疾病进展率</a:t>
                      </a:r>
                    </a:p>
                  </a:txBody>
                  <a:tcPr>
                    <a:solidFill>
                      <a:srgbClr val="F6F8FB"/>
                    </a:solidFill>
                  </a:tcPr>
                </a:tc>
                <a:tc>
                  <a:txBody>
                    <a:bodyPr wrap="square" lIns="36576" rIns="36576" tIns="18288" bIns="18288"/>
                    <a:lstStyle/>
                    <a:p>
                      <a:r>
                        <a:rPr sz="720" b="0">
                          <a:solidFill>
                            <a:srgbClr val="21242A"/>
                          </a:solidFill>
                          <a:latin typeface="Microsoft YaHei"/>
                        </a:rPr>
                        <a:t>20%（8/40）</a:t>
                      </a:r>
                    </a:p>
                  </a:txBody>
                  <a:tcPr>
                    <a:solidFill>
                      <a:srgbClr val="F6F8FB"/>
                    </a:solidFill>
                  </a:tcPr>
                </a:tc>
              </a:tr>
              <a:tr h="282321">
                <a:tc>
                  <a:txBody>
                    <a:bodyPr wrap="square" lIns="36576" rIns="36576" tIns="18288" bIns="18288"/>
                    <a:lstStyle/>
                    <a:p>
                      <a:r>
                        <a:rPr sz="720" b="1">
                          <a:solidFill>
                            <a:srgbClr val="21242A"/>
                          </a:solidFill>
                          <a:latin typeface="Microsoft YaHei"/>
                        </a:rPr>
                        <a:t>5年总生存率</a:t>
                      </a:r>
                    </a:p>
                  </a:txBody>
                  <a:tcPr>
                    <a:solidFill>
                      <a:srgbClr val="FFFFFF"/>
                    </a:solidFill>
                  </a:tcPr>
                </a:tc>
                <a:tc>
                  <a:txBody>
                    <a:bodyPr wrap="square" lIns="36576" rIns="36576" tIns="18288" bIns="18288"/>
                    <a:lstStyle/>
                    <a:p>
                      <a:r>
                        <a:rPr sz="720" b="0">
                          <a:solidFill>
                            <a:srgbClr val="21242A"/>
                          </a:solidFill>
                          <a:latin typeface="Microsoft YaHei"/>
                        </a:rPr>
                        <a:t>77%</a:t>
                      </a:r>
                    </a:p>
                  </a:txBody>
                  <a:tcPr>
                    <a:solidFill>
                      <a:srgbClr val="FFFFFF"/>
                    </a:solidFill>
                  </a:tcPr>
                </a:tc>
              </a:tr>
              <a:tr h="282321">
                <a:tc>
                  <a:txBody>
                    <a:bodyPr wrap="square" lIns="36576" rIns="36576" tIns="18288" bIns="18288"/>
                    <a:lstStyle/>
                    <a:p>
                      <a:r>
                        <a:rPr sz="720" b="1">
                          <a:solidFill>
                            <a:srgbClr val="21242A"/>
                          </a:solidFill>
                          <a:latin typeface="Microsoft YaHei"/>
                        </a:rPr>
                        <a:t>12年总生存率</a:t>
                      </a:r>
                    </a:p>
                  </a:txBody>
                  <a:tcPr>
                    <a:solidFill>
                      <a:srgbClr val="F6F8FB"/>
                    </a:solidFill>
                  </a:tcPr>
                </a:tc>
                <a:tc>
                  <a:txBody>
                    <a:bodyPr wrap="square" lIns="36576" rIns="36576" tIns="18288" bIns="18288"/>
                    <a:lstStyle/>
                    <a:p>
                      <a:r>
                        <a:rPr sz="720" b="0">
                          <a:solidFill>
                            <a:srgbClr val="21242A"/>
                          </a:solidFill>
                          <a:latin typeface="Microsoft YaHei"/>
                        </a:rPr>
                        <a:t>62.5%（95% CI: 57.8-66.3）</a:t>
                      </a:r>
                    </a:p>
                  </a:txBody>
                  <a:tcPr>
                    <a:solidFill>
                      <a:srgbClr val="F6F8FB"/>
                    </a:solidFill>
                  </a:tcPr>
                </a:tc>
              </a:tr>
              <a:tr h="282321">
                <a:tc>
                  <a:txBody>
                    <a:bodyPr wrap="square" lIns="36576" rIns="36576" tIns="18288" bIns="18288"/>
                    <a:lstStyle/>
                    <a:p>
                      <a:r>
                        <a:rPr sz="720" b="1">
                          <a:solidFill>
                            <a:srgbClr val="21242A"/>
                          </a:solidFill>
                          <a:latin typeface="Microsoft YaHei"/>
                        </a:rPr>
                        <a:t>II级肾毒性</a:t>
                      </a:r>
                    </a:p>
                  </a:txBody>
                  <a:tcPr>
                    <a:solidFill>
                      <a:srgbClr val="FFFFFF"/>
                    </a:solidFill>
                  </a:tcPr>
                </a:tc>
                <a:tc>
                  <a:txBody>
                    <a:bodyPr wrap="square" lIns="36576" rIns="36576" tIns="18288" bIns="18288"/>
                    <a:lstStyle/>
                    <a:p>
                      <a:r>
                        <a:rPr sz="720" b="0">
                          <a:solidFill>
                            <a:srgbClr val="21242A"/>
                          </a:solidFill>
                          <a:latin typeface="Microsoft YaHei"/>
                        </a:rPr>
                        <a:t>2例</a:t>
                      </a:r>
                    </a:p>
                  </a:txBody>
                  <a:tcPr>
                    <a:solidFill>
                      <a:srgbClr val="FFFFFF"/>
                    </a:solidFill>
                  </a:tcPr>
                </a:tc>
              </a:tr>
              <a:tr h="282321">
                <a:tc>
                  <a:txBody>
                    <a:bodyPr wrap="square" lIns="36576" rIns="36576" tIns="18288" bIns="18288"/>
                    <a:lstStyle/>
                    <a:p>
                      <a:r>
                        <a:rPr sz="720" b="1">
                          <a:solidFill>
                            <a:srgbClr val="21242A"/>
                          </a:solidFill>
                          <a:latin typeface="Microsoft YaHei"/>
                        </a:rPr>
                        <a:t>III/IV级血液学毒性</a:t>
                      </a:r>
                    </a:p>
                  </a:txBody>
                  <a:tcPr>
                    <a:solidFill>
                      <a:srgbClr val="F6F8FB"/>
                    </a:solidFill>
                  </a:tcPr>
                </a:tc>
                <a:tc>
                  <a:txBody>
                    <a:bodyPr wrap="square" lIns="36576" rIns="36576" tIns="18288" bIns="18288"/>
                    <a:lstStyle/>
                    <a:p>
                      <a:r>
                        <a:rPr sz="720" b="0">
                          <a:solidFill>
                            <a:srgbClr val="21242A"/>
                          </a:solidFill>
                          <a:latin typeface="Microsoft YaHei"/>
                        </a:rPr>
                        <a:t>5例</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疾病场景：SCNSL/CNS复发或预防</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摘要号：PS2157</a:t>
            </a:r>
          </a:p>
          <a:p>
            <a:pPr>
              <a:lnSpc>
                <a:spcPct val="103000"/>
              </a:lnSpc>
              <a:spcAft>
                <a:spcPts val="300"/>
              </a:spcAft>
              <a:defRPr sz="740">
                <a:solidFill>
                  <a:srgbClr val="5E6570"/>
                </a:solidFill>
                <a:latin typeface="Microsoft YaHei"/>
              </a:defRPr>
            </a:pPr>
            <a:r>
              <a:t>会议栏目：20. Other aggressive lymphomas</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大剂量化疗联合替莫唑胺治疗原发性中枢神经系统淋巴瘤患者12年总生存率的最新进展</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12 years update on overall survival in patients with primary central nervous...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PS2157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1792224">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1792224">
                <a:tc>
                  <a:txBody>
                    <a:bodyPr wrap="square" lIns="36576" rIns="36576" tIns="18288" bIns="18288"/>
                    <a:lstStyle/>
                    <a:p>
                      <a:r>
                        <a:rPr sz="720" b="1">
                          <a:solidFill>
                            <a:srgbClr val="21242A"/>
                          </a:solidFill>
                          <a:latin typeface="Microsoft YaHei"/>
                        </a:rPr>
                        <a:t>死亡人数</a:t>
                      </a:r>
                    </a:p>
                  </a:txBody>
                  <a:tcPr>
                    <a:solidFill>
                      <a:srgbClr val="F6F8FB"/>
                    </a:solidFill>
                  </a:tcPr>
                </a:tc>
                <a:tc>
                  <a:txBody>
                    <a:bodyPr wrap="square" lIns="36576" rIns="36576" tIns="18288" bIns="18288"/>
                    <a:lstStyle/>
                    <a:p>
                      <a:r>
                        <a:rPr sz="720" b="0">
                          <a:solidFill>
                            <a:srgbClr val="21242A"/>
                          </a:solidFill>
                          <a:latin typeface="Microsoft YaHei"/>
                        </a:rPr>
                        <a:t>5例（其中1例死于COVID-19，4例死于复发后治疗）</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利妥昔单抗甲氨蝶呤诱导治疗原发性中枢神经系统淋巴瘤后来那度胺维持的ii期研究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 ii study of lenalidomide maintenance after rituximab-methotrexate-based...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PS2104</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N=30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试验药/方案：来那度胺</a:t>
            </a:r>
          </a:p>
          <a:p>
            <a:pPr>
              <a:lnSpc>
                <a:spcPct val="103000"/>
              </a:lnSpc>
              <a:spcAft>
                <a:spcPts val="300"/>
              </a:spcAft>
              <a:defRPr sz="800">
                <a:solidFill>
                  <a:srgbClr val="21242A"/>
                </a:solidFill>
                <a:latin typeface="Microsoft YaHei"/>
              </a:defRPr>
            </a:pPr>
            <a:r>
              <a:t>靶点：IKZF3，IKZF1，CSNK1A1，CRBN</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2年无进展生存率：58.8%</a:t>
            </a:r>
          </a:p>
          <a:p>
            <a:pPr>
              <a:lnSpc>
                <a:spcPct val="103000"/>
              </a:lnSpc>
              <a:spcAft>
                <a:spcPts val="300"/>
              </a:spcAft>
              <a:defRPr sz="800">
                <a:solidFill>
                  <a:srgbClr val="21242A"/>
                </a:solidFill>
                <a:latin typeface="Microsoft YaHei"/>
              </a:defRPr>
            </a:pPr>
            <a:r>
              <a:t>2年总生存率：83.9%</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人数：30</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登记号：NCT05260619</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试验药/方案：来那度胺</a:t>
            </a:r>
          </a:p>
          <a:p>
            <a:pPr>
              <a:lnSpc>
                <a:spcPct val="103000"/>
              </a:lnSpc>
              <a:spcAft>
                <a:spcPts val="300"/>
              </a:spcAft>
              <a:defRPr sz="810">
                <a:solidFill>
                  <a:srgbClr val="21242A"/>
                </a:solidFill>
                <a:latin typeface="Microsoft YaHei"/>
              </a:defRPr>
            </a:pPr>
            <a:r>
              <a:t>靶点：IKZF3、IKZF1、CSNK1A1、CRBN</a:t>
            </a:r>
          </a:p>
          <a:p>
            <a:pPr>
              <a:lnSpc>
                <a:spcPct val="103000"/>
              </a:lnSpc>
              <a:spcAft>
                <a:spcPts val="300"/>
              </a:spcAft>
              <a:defRPr sz="810">
                <a:solidFill>
                  <a:srgbClr val="21242A"/>
                </a:solidFill>
                <a:latin typeface="Microsoft YaHei"/>
              </a:defRPr>
            </a:pPr>
            <a:r>
              <a:t>药物/技术类别：分子胶降解剂</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利妥昔单抗甲氨蝶呤诱导治疗原发性中枢神经系统淋巴瘤后来那度胺维持的ii期研究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phase ii study of lenalidomide maintenance after rituximab-methotrexate-based...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PS2104</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2265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22652">
                <a:tc>
                  <a:txBody>
                    <a:bodyPr wrap="square" lIns="36576" rIns="36576" tIns="18288" bIns="18288"/>
                    <a:lstStyle/>
                    <a:p>
                      <a:r>
                        <a:rPr sz="720" b="1">
                          <a:solidFill>
                            <a:srgbClr val="21242A"/>
                          </a:solidFill>
                          <a:latin typeface="Microsoft YaHei"/>
                        </a:rPr>
                        <a:t>2年无进展生存率</a:t>
                      </a:r>
                    </a:p>
                  </a:txBody>
                  <a:tcPr>
                    <a:solidFill>
                      <a:srgbClr val="F6F8FB"/>
                    </a:solidFill>
                  </a:tcPr>
                </a:tc>
                <a:tc>
                  <a:txBody>
                    <a:bodyPr wrap="square" lIns="36576" rIns="36576" tIns="18288" bIns="18288"/>
                    <a:lstStyle/>
                    <a:p>
                      <a:r>
                        <a:rPr sz="720" b="0">
                          <a:solidFill>
                            <a:srgbClr val="21242A"/>
                          </a:solidFill>
                          <a:latin typeface="Microsoft YaHei"/>
                        </a:rPr>
                        <a:t>58.8%</a:t>
                      </a:r>
                    </a:p>
                  </a:txBody>
                  <a:tcPr>
                    <a:solidFill>
                      <a:srgbClr val="F6F8FB"/>
                    </a:solidFill>
                  </a:tcPr>
                </a:tc>
              </a:tr>
              <a:tr h="322652">
                <a:tc>
                  <a:txBody>
                    <a:bodyPr wrap="square" lIns="36576" rIns="36576" tIns="18288" bIns="18288"/>
                    <a:lstStyle/>
                    <a:p>
                      <a:r>
                        <a:rPr sz="720" b="1">
                          <a:solidFill>
                            <a:srgbClr val="21242A"/>
                          </a:solidFill>
                          <a:latin typeface="Microsoft YaHei"/>
                        </a:rPr>
                        <a:t>2年总生存率</a:t>
                      </a:r>
                    </a:p>
                  </a:txBody>
                  <a:tcPr>
                    <a:solidFill>
                      <a:srgbClr val="FFFFFF"/>
                    </a:solidFill>
                  </a:tcPr>
                </a:tc>
                <a:tc>
                  <a:txBody>
                    <a:bodyPr wrap="square" lIns="36576" rIns="36576" tIns="18288" bIns="18288"/>
                    <a:lstStyle/>
                    <a:p>
                      <a:r>
                        <a:rPr sz="720" b="0">
                          <a:solidFill>
                            <a:srgbClr val="21242A"/>
                          </a:solidFill>
                          <a:latin typeface="Microsoft YaHei"/>
                        </a:rPr>
                        <a:t>83.9%</a:t>
                      </a:r>
                    </a:p>
                  </a:txBody>
                  <a:tcPr>
                    <a:solidFill>
                      <a:srgbClr val="FFFFFF"/>
                    </a:solidFill>
                  </a:tcPr>
                </a:tc>
              </a:tr>
              <a:tr h="322652">
                <a:tc>
                  <a:txBody>
                    <a:bodyPr wrap="square" lIns="36576" rIns="36576" tIns="18288" bIns="18288"/>
                    <a:lstStyle/>
                    <a:p>
                      <a:r>
                        <a:rPr sz="720" b="1">
                          <a:solidFill>
                            <a:srgbClr val="21242A"/>
                          </a:solidFill>
                          <a:latin typeface="Microsoft YaHei"/>
                        </a:rPr>
                        <a:t>3-4级中性粒细胞减少症发生率</a:t>
                      </a:r>
                    </a:p>
                  </a:txBody>
                  <a:tcPr>
                    <a:solidFill>
                      <a:srgbClr val="F6F8FB"/>
                    </a:solidFill>
                  </a:tcPr>
                </a:tc>
                <a:tc>
                  <a:txBody>
                    <a:bodyPr wrap="square" lIns="36576" rIns="36576" tIns="18288" bIns="18288"/>
                    <a:lstStyle/>
                    <a:p>
                      <a:r>
                        <a:rPr sz="720" b="0">
                          <a:solidFill>
                            <a:srgbClr val="21242A"/>
                          </a:solidFill>
                          <a:latin typeface="Microsoft YaHei"/>
                        </a:rPr>
                        <a:t>56%</a:t>
                      </a:r>
                    </a:p>
                  </a:txBody>
                  <a:tcPr>
                    <a:solidFill>
                      <a:srgbClr val="F6F8FB"/>
                    </a:solidFill>
                  </a:tcPr>
                </a:tc>
              </a:tr>
              <a:tr h="322652">
                <a:tc>
                  <a:txBody>
                    <a:bodyPr wrap="square" lIns="36576" rIns="36576" tIns="18288" bIns="18288"/>
                    <a:lstStyle/>
                    <a:p>
                      <a:r>
                        <a:rPr sz="720" b="1">
                          <a:solidFill>
                            <a:srgbClr val="21242A"/>
                          </a:solidFill>
                          <a:latin typeface="Microsoft YaHei"/>
                        </a:rPr>
                        <a:t>因毒性停药率</a:t>
                      </a:r>
                    </a:p>
                  </a:txBody>
                  <a:tcPr>
                    <a:solidFill>
                      <a:srgbClr val="FFFFFF"/>
                    </a:solidFill>
                  </a:tcPr>
                </a:tc>
                <a:tc>
                  <a:txBody>
                    <a:bodyPr wrap="square" lIns="36576" rIns="36576" tIns="18288" bIns="18288"/>
                    <a:lstStyle/>
                    <a:p>
                      <a:r>
                        <a:rPr sz="720" b="0">
                          <a:solidFill>
                            <a:srgbClr val="21242A"/>
                          </a:solidFill>
                          <a:latin typeface="Microsoft YaHei"/>
                        </a:rPr>
                        <a:t>13%</a:t>
                      </a:r>
                    </a:p>
                  </a:txBody>
                  <a:tcPr>
                    <a:solidFill>
                      <a:srgbClr val="FFFFFF"/>
                    </a:solidFill>
                  </a:tcPr>
                </a:tc>
              </a:tr>
              <a:tr h="322652">
                <a:tc>
                  <a:txBody>
                    <a:bodyPr wrap="square" lIns="36576" rIns="36576" tIns="18288" bIns="18288"/>
                    <a:lstStyle/>
                    <a:p>
                      <a:r>
                        <a:rPr sz="720" b="1">
                          <a:solidFill>
                            <a:srgbClr val="21242A"/>
                          </a:solidFill>
                          <a:latin typeface="Microsoft YaHei"/>
                        </a:rPr>
                        <a:t>5级肺炎发生率</a:t>
                      </a:r>
                    </a:p>
                  </a:txBody>
                  <a:tcPr>
                    <a:solidFill>
                      <a:srgbClr val="F6F8FB"/>
                    </a:solidFill>
                  </a:tcPr>
                </a:tc>
                <a:tc>
                  <a:txBody>
                    <a:bodyPr wrap="square" lIns="36576" rIns="36576" tIns="18288" bIns="18288"/>
                    <a:lstStyle/>
                    <a:p>
                      <a:r>
                        <a:rPr sz="720" b="0">
                          <a:solidFill>
                            <a:srgbClr val="21242A"/>
                          </a:solidFill>
                          <a:latin typeface="Microsoft YaHei"/>
                        </a:rPr>
                        <a:t>1例</a:t>
                      </a:r>
                    </a:p>
                  </a:txBody>
                  <a:tcPr>
                    <a:solidFill>
                      <a:srgbClr val="F6F8FB"/>
                    </a:solidFill>
                  </a:tcPr>
                </a:tc>
              </a:tr>
              <a:tr h="322656">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无血栓事件</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疾病场景：SCNSL/CNS复发或预防</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摘要号：PS2104</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优化试验：一项研究者发起的随机iii期研究，旨在优化新诊断的原发性中枢神经系统淋巴瘤的基质诱导（试验正在进行中）</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optimate-trial: an investigator-initiated randomized phase iii study to 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PF965</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CNS穿透/放疗/MTX策略</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N=298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分组：试验组1：Arm A（4周期MATRix）</a:t>
            </a:r>
          </a:p>
          <a:p>
            <a:pPr>
              <a:lnSpc>
                <a:spcPct val="103000"/>
              </a:lnSpc>
              <a:spcAft>
                <a:spcPts val="300"/>
              </a:spcAft>
              <a:defRPr sz="800">
                <a:solidFill>
                  <a:srgbClr val="21242A"/>
                </a:solidFill>
                <a:latin typeface="Microsoft YaHei"/>
              </a:defRPr>
            </a:pPr>
            <a:r>
              <a:t>试验组2：Arm B（R-MTX预处理后接2周期MATRix）</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多组/多方案比较：试验组1：Arm A（4周期MATRix）</a:t>
            </a:r>
          </a:p>
          <a:p>
            <a:pPr>
              <a:lnSpc>
                <a:spcPct val="103000"/>
              </a:lnSpc>
              <a:spcAft>
                <a:spcPts val="300"/>
              </a:spcAft>
              <a:defRPr sz="800">
                <a:solidFill>
                  <a:srgbClr val="21242A"/>
                </a:solidFill>
                <a:latin typeface="Microsoft YaHei"/>
              </a:defRPr>
            </a:pPr>
            <a:r>
              <a:t>试验组2：Arm B（R-MTX预处理后接2周期MATRix）</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安全性分析人群共298例（Arm A：147例，Arm B：151例）</a:t>
            </a:r>
          </a:p>
          <a:p>
            <a:pPr>
              <a:lnSpc>
                <a:spcPct val="103000"/>
              </a:lnSpc>
              <a:spcAft>
                <a:spcPts val="300"/>
              </a:spcAft>
              <a:defRPr sz="800">
                <a:solidFill>
                  <a:srgbClr val="21242A"/>
                </a:solidFill>
                <a:latin typeface="Microsoft YaHei"/>
              </a:defRPr>
            </a:pPr>
            <a:r>
              <a:t>至少发生1次3-5级不良事件：Arm A 90.5%，Arm B 86.8%</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研究类型：前瞻性临床研究结果</a:t>
            </a:r>
          </a:p>
          <a:p>
            <a:pPr>
              <a:lnSpc>
                <a:spcPct val="103000"/>
              </a:lnSpc>
              <a:spcAft>
                <a:spcPts val="300"/>
              </a:spcAft>
              <a:defRPr sz="810">
                <a:solidFill>
                  <a:srgbClr val="21242A"/>
                </a:solidFill>
                <a:latin typeface="Microsoft YaHei"/>
              </a:defRPr>
            </a:pPr>
            <a:r>
              <a:t>人数：298</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登记号：NCT04931368</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分组/治疗流程：试验组1：Arm A（4周期MATRix）、试验组2：Arm B（R-MTX预处理后接2周期MATRix）</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优化试验：一项研究者发起的随机iii期研究，旨在优化新诊断的原发性中枢神经系统淋巴瘤的基质诱导（试验正在进行中）</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optimate-trial: an investigator-initiated randomized phase iii study to 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PF965</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22910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CNS穿透/放疗/MTX策略</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安全性分析人群共298例（Arm A</a:t>
                      </a:r>
                    </a:p>
                  </a:txBody>
                  <a:tcPr>
                    <a:solidFill>
                      <a:srgbClr val="F6F8FB"/>
                    </a:solidFill>
                  </a:tcPr>
                </a:tc>
                <a:tc>
                  <a:txBody>
                    <a:bodyPr wrap="square" lIns="36576" rIns="36576" tIns="18288" bIns="18288"/>
                    <a:lstStyle/>
                    <a:p>
                      <a:r>
                        <a:rPr sz="720" b="0">
                          <a:solidFill>
                            <a:srgbClr val="21242A"/>
                          </a:solidFill>
                          <a:latin typeface="Microsoft YaHei"/>
                        </a:rPr>
                        <a:t>147例，Arm B：151例）</a:t>
                      </a:r>
                    </a:p>
                  </a:txBody>
                  <a:tcPr>
                    <a:solidFill>
                      <a:srgbClr val="F6F8FB"/>
                    </a:solidFill>
                  </a:tcPr>
                </a:tc>
              </a:tr>
              <a:tr h="376428">
                <a:tc>
                  <a:txBody>
                    <a:bodyPr wrap="square" lIns="36576" rIns="36576" tIns="18288" bIns="18288"/>
                    <a:lstStyle/>
                    <a:p>
                      <a:r>
                        <a:rPr sz="720" b="1">
                          <a:solidFill>
                            <a:srgbClr val="21242A"/>
                          </a:solidFill>
                          <a:latin typeface="Microsoft YaHei"/>
                        </a:rPr>
                        <a:t>至少发生1次3-5级不良事件</a:t>
                      </a:r>
                    </a:p>
                  </a:txBody>
                  <a:tcPr>
                    <a:solidFill>
                      <a:srgbClr val="FFFFFF"/>
                    </a:solidFill>
                  </a:tcPr>
                </a:tc>
                <a:tc>
                  <a:txBody>
                    <a:bodyPr wrap="square" lIns="36576" rIns="36576" tIns="18288" bIns="18288"/>
                    <a:lstStyle/>
                    <a:p>
                      <a:r>
                        <a:rPr sz="720" b="0">
                          <a:solidFill>
                            <a:srgbClr val="21242A"/>
                          </a:solidFill>
                          <a:latin typeface="Microsoft YaHei"/>
                        </a:rPr>
                        <a:t>Arm A 90.5%，Arm B 86.8%</a:t>
                      </a:r>
                    </a:p>
                  </a:txBody>
                  <a:tcPr>
                    <a:solidFill>
                      <a:srgbClr val="FFFFFF"/>
                    </a:solidFill>
                  </a:tcPr>
                </a:tc>
              </a:tr>
              <a:tr h="376428">
                <a:tc>
                  <a:txBody>
                    <a:bodyPr wrap="square" lIns="36576" rIns="36576" tIns="18288" bIns="18288"/>
                    <a:lstStyle/>
                    <a:p>
                      <a:r>
                        <a:rPr sz="720" b="1">
                          <a:solidFill>
                            <a:srgbClr val="21242A"/>
                          </a:solidFill>
                          <a:latin typeface="Microsoft YaHei"/>
                        </a:rPr>
                        <a:t>诱导期间3-5级不良事件</a:t>
                      </a:r>
                    </a:p>
                  </a:txBody>
                  <a:tcPr>
                    <a:solidFill>
                      <a:srgbClr val="F6F8FB"/>
                    </a:solidFill>
                  </a:tcPr>
                </a:tc>
                <a:tc>
                  <a:txBody>
                    <a:bodyPr wrap="square" lIns="36576" rIns="36576" tIns="18288" bIns="18288"/>
                    <a:lstStyle/>
                    <a:p>
                      <a:r>
                        <a:rPr sz="720" b="0">
                          <a:solidFill>
                            <a:srgbClr val="21242A"/>
                          </a:solidFill>
                          <a:latin typeface="Microsoft YaHei"/>
                        </a:rPr>
                        <a:t>Arm A 89.8%（132/147），Arm B 83.4%（126/151）</a:t>
                      </a:r>
                    </a:p>
                  </a:txBody>
                  <a:tcPr>
                    <a:solidFill>
                      <a:srgbClr val="F6F8FB"/>
                    </a:solidFill>
                  </a:tcPr>
                </a:tc>
              </a:tr>
              <a:tr h="376428">
                <a:tc>
                  <a:txBody>
                    <a:bodyPr wrap="square" lIns="36576" rIns="36576" tIns="18288" bIns="18288"/>
                    <a:lstStyle/>
                    <a:p>
                      <a:r>
                        <a:rPr sz="720" b="1">
                          <a:solidFill>
                            <a:srgbClr val="21242A"/>
                          </a:solidFill>
                          <a:latin typeface="Microsoft YaHei"/>
                        </a:rPr>
                        <a:t>巩固期间/后3-5级不良事件</a:t>
                      </a:r>
                    </a:p>
                  </a:txBody>
                  <a:tcPr>
                    <a:solidFill>
                      <a:srgbClr val="FFFFFF"/>
                    </a:solidFill>
                  </a:tcPr>
                </a:tc>
                <a:tc>
                  <a:txBody>
                    <a:bodyPr wrap="square" lIns="36576" rIns="36576" tIns="18288" bIns="18288"/>
                    <a:lstStyle/>
                    <a:p>
                      <a:r>
                        <a:rPr sz="720" b="0">
                          <a:solidFill>
                            <a:srgbClr val="21242A"/>
                          </a:solidFill>
                          <a:latin typeface="Microsoft YaHei"/>
                        </a:rPr>
                        <a:t>Arm A 72.6%（61/84），Arm B 73.0%（84/115）</a:t>
                      </a:r>
                    </a:p>
                  </a:txBody>
                  <a:tcPr>
                    <a:solidFill>
                      <a:srgbClr val="FFFFFF"/>
                    </a:solidFill>
                  </a:tcPr>
                </a:tc>
              </a:tr>
              <a:tr h="376428">
                <a:tc>
                  <a:txBody>
                    <a:bodyPr wrap="square" lIns="36576" rIns="36576" tIns="18288" bIns="18288"/>
                    <a:lstStyle/>
                    <a:p>
                      <a:r>
                        <a:rPr sz="720" b="1">
                          <a:solidFill>
                            <a:srgbClr val="21242A"/>
                          </a:solidFill>
                          <a:latin typeface="Microsoft YaHei"/>
                        </a:rPr>
                        <a:t>致死性不良事件（5级）</a:t>
                      </a:r>
                    </a:p>
                  </a:txBody>
                  <a:tcPr>
                    <a:solidFill>
                      <a:srgbClr val="F6F8FB"/>
                    </a:solidFill>
                  </a:tcPr>
                </a:tc>
                <a:tc>
                  <a:txBody>
                    <a:bodyPr wrap="square" lIns="36576" rIns="36576" tIns="18288" bIns="18288"/>
                    <a:lstStyle/>
                    <a:p>
                      <a:r>
                        <a:rPr sz="720" b="0">
                          <a:solidFill>
                            <a:srgbClr val="21242A"/>
                          </a:solidFill>
                          <a:latin typeface="Microsoft YaHei"/>
                        </a:rPr>
                        <a:t>诱导期共9例（Arm A 7例，Arm B 2例），巩固期/后共7例（均为Arm B）</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疾病场景：SCNSL/CNS复发或预防</a:t>
            </a:r>
          </a:p>
          <a:p>
            <a:pPr>
              <a:lnSpc>
                <a:spcPct val="103000"/>
              </a:lnSpc>
              <a:spcAft>
                <a:spcPts val="300"/>
              </a:spcAft>
              <a:defRPr sz="780">
                <a:solidFill>
                  <a:srgbClr val="21242A"/>
                </a:solidFill>
                <a:latin typeface="Microsoft YaHei"/>
              </a:defRPr>
            </a:pPr>
            <a:r>
              <a:t>药物/技术：CNS穿透/放疗/MTX策略</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摘要号：PF965</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大剂量甲氨蝶呤和阿糖胞苷联合或不联合玻璃体内注射甲氨蝶呤治疗31例hiv阴性原发性玻璃体视网膜淋巴瘤患者</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high doses of methotrexate and cytarabine with or without intravitreal methot...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PS2094</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眼内/玻璃体视网膜淋巴瘤</a:t>
            </a:r>
          </a:p>
        </p:txBody>
      </p:sp>
      <p:sp>
        <p:nvSpPr>
          <p:cNvPr id="10" name="TextBox 9"/>
          <p:cNvSpPr txBox="1"/>
          <p:nvPr/>
        </p:nvSpPr>
        <p:spPr>
          <a:xfrm>
            <a:off x="422910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原发性玻璃体视网膜淋巴瘤</a:t>
            </a:r>
          </a:p>
          <a:p>
            <a:pPr>
              <a:lnSpc>
                <a:spcPct val="103000"/>
              </a:lnSpc>
              <a:spcAft>
                <a:spcPts val="300"/>
              </a:spcAft>
              <a:defRPr sz="800">
                <a:solidFill>
                  <a:srgbClr val="21242A"/>
                </a:solidFill>
                <a:latin typeface="Microsoft YaHei"/>
              </a:defRPr>
            </a:pPr>
            <a:r>
              <a:t>N=31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试验药/方案：阿糖胞苷</a:t>
            </a:r>
          </a:p>
          <a:p>
            <a:pPr>
              <a:lnSpc>
                <a:spcPct val="103000"/>
              </a:lnSpc>
              <a:spcAft>
                <a:spcPts val="300"/>
              </a:spcAft>
              <a:defRPr sz="800">
                <a:solidFill>
                  <a:srgbClr val="21242A"/>
                </a:solidFill>
                <a:latin typeface="Microsoft YaHei"/>
              </a:defRPr>
            </a:pPr>
            <a:r>
              <a:t>甲氨蝶呤</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最佳客观缓解率(ORR): 97% (30/31, 95% CI 78-99)</a:t>
            </a:r>
          </a:p>
          <a:p>
            <a:pPr>
              <a:lnSpc>
                <a:spcPct val="103000"/>
              </a:lnSpc>
              <a:spcAft>
                <a:spcPts val="300"/>
              </a:spcAft>
              <a:defRPr sz="800">
                <a:solidFill>
                  <a:srgbClr val="21242A"/>
                </a:solidFill>
                <a:latin typeface="Microsoft YaHei"/>
              </a:defRPr>
            </a:pPr>
            <a:r>
              <a:t>完全缓解(CR): 90% (28/31)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人数：31</a:t>
            </a:r>
          </a:p>
          <a:p>
            <a:pPr>
              <a:lnSpc>
                <a:spcPct val="103000"/>
              </a:lnSpc>
              <a:spcAft>
                <a:spcPts val="300"/>
              </a:spcAft>
              <a:defRPr sz="810">
                <a:solidFill>
                  <a:srgbClr val="21242A"/>
                </a:solidFill>
                <a:latin typeface="Microsoft YaHei"/>
              </a:defRPr>
            </a:pPr>
            <a:r>
              <a:t>适应症：原发性玻璃体视网膜淋巴瘤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试验药/方案：阿糖胞苷、甲氨蝶呤</a:t>
            </a:r>
          </a:p>
          <a:p>
            <a:pPr>
              <a:lnSpc>
                <a:spcPct val="103000"/>
              </a:lnSpc>
              <a:spcAft>
                <a:spcPts val="300"/>
              </a:spcAft>
              <a:defRPr sz="810">
                <a:solidFill>
                  <a:srgbClr val="21242A"/>
                </a:solidFill>
                <a:latin typeface="Microsoft YaHei"/>
              </a:defRPr>
            </a:pPr>
            <a:r>
              <a:t>靶点：DNA Pol、DHFR</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大剂量甲氨蝶呤和阿糖胞苷联合或不联合玻璃体内注射甲氨蝶呤治疗31例hiv阴性原发性玻璃体视网膜淋巴瘤患者</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high doses of methotrexate and cytarabine with or without intravitreal methot...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PS2094</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前瞻性临床试验</a:t>
            </a:r>
          </a:p>
        </p:txBody>
      </p:sp>
      <p:sp>
        <p:nvSpPr>
          <p:cNvPr id="9" name="TextBox 8"/>
          <p:cNvSpPr txBox="1"/>
          <p:nvPr/>
        </p:nvSpPr>
        <p:spPr>
          <a:xfrm>
            <a:off x="2903220"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眼内/玻璃体视网膜淋巴瘤</a:t>
            </a:r>
          </a:p>
        </p:txBody>
      </p:sp>
      <p:sp>
        <p:nvSpPr>
          <p:cNvPr id="10" name="TextBox 9"/>
          <p:cNvSpPr txBox="1"/>
          <p:nvPr/>
        </p:nvSpPr>
        <p:spPr>
          <a:xfrm>
            <a:off x="422910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105/187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最佳客观缓解率(ORR)</a:t>
                      </a:r>
                    </a:p>
                  </a:txBody>
                  <a:tcPr>
                    <a:solidFill>
                      <a:srgbClr val="F6F8FB"/>
                    </a:solidFill>
                  </a:tcPr>
                </a:tc>
                <a:tc>
                  <a:txBody>
                    <a:bodyPr wrap="square" lIns="36576" rIns="36576" tIns="18288" bIns="18288"/>
                    <a:lstStyle/>
                    <a:p>
                      <a:r>
                        <a:rPr sz="720" b="0">
                          <a:solidFill>
                            <a:srgbClr val="21242A"/>
                          </a:solidFill>
                          <a:latin typeface="Microsoft YaHei"/>
                        </a:rPr>
                        <a:t>97% (30/31, 95% CI 78-99)</a:t>
                      </a:r>
                    </a:p>
                  </a:txBody>
                  <a:tcPr>
                    <a:solidFill>
                      <a:srgbClr val="F6F8FB"/>
                    </a:solidFill>
                  </a:tcPr>
                </a:tc>
              </a:tr>
              <a:tr h="282321">
                <a:tc>
                  <a:txBody>
                    <a:bodyPr wrap="square" lIns="36576" rIns="36576" tIns="18288" bIns="18288"/>
                    <a:lstStyle/>
                    <a:p>
                      <a:r>
                        <a:rPr sz="720" b="1">
                          <a:solidFill>
                            <a:srgbClr val="21242A"/>
                          </a:solidFill>
                          <a:latin typeface="Microsoft YaHei"/>
                        </a:rPr>
                        <a:t>完全缓解(CR)</a:t>
                      </a:r>
                    </a:p>
                  </a:txBody>
                  <a:tcPr>
                    <a:solidFill>
                      <a:srgbClr val="FFFFFF"/>
                    </a:solidFill>
                  </a:tcPr>
                </a:tc>
                <a:tc>
                  <a:txBody>
                    <a:bodyPr wrap="square" lIns="36576" rIns="36576" tIns="18288" bIns="18288"/>
                    <a:lstStyle/>
                    <a:p>
                      <a:r>
                        <a:rPr sz="720" b="0">
                          <a:solidFill>
                            <a:srgbClr val="21242A"/>
                          </a:solidFill>
                          <a:latin typeface="Microsoft YaHei"/>
                        </a:rPr>
                        <a:t>90% (28/31)</a:t>
                      </a:r>
                    </a:p>
                  </a:txBody>
                  <a:tcPr>
                    <a:solidFill>
                      <a:srgbClr val="FFFFFF"/>
                    </a:solidFill>
                  </a:tcPr>
                </a:tc>
              </a:tr>
              <a:tr h="282321">
                <a:tc>
                  <a:txBody>
                    <a:bodyPr wrap="square" lIns="36576" rIns="36576" tIns="18288" bIns="18288"/>
                    <a:lstStyle/>
                    <a:p>
                      <a:r>
                        <a:rPr sz="720" b="1">
                          <a:solidFill>
                            <a:srgbClr val="21242A"/>
                          </a:solidFill>
                          <a:latin typeface="Microsoft YaHei"/>
                        </a:rPr>
                        <a:t>中位随访时间</a:t>
                      </a:r>
                    </a:p>
                  </a:txBody>
                  <a:tcPr>
                    <a:solidFill>
                      <a:srgbClr val="F6F8FB"/>
                    </a:solidFill>
                  </a:tcPr>
                </a:tc>
                <a:tc>
                  <a:txBody>
                    <a:bodyPr wrap="square" lIns="36576" rIns="36576" tIns="18288" bIns="18288"/>
                    <a:lstStyle/>
                    <a:p>
                      <a:r>
                        <a:rPr sz="720" b="0">
                          <a:solidFill>
                            <a:srgbClr val="21242A"/>
                          </a:solidFill>
                          <a:latin typeface="Microsoft YaHei"/>
                        </a:rPr>
                        <a:t>30个月（范围5-112）</a:t>
                      </a:r>
                    </a:p>
                  </a:txBody>
                  <a:tcPr>
                    <a:solidFill>
                      <a:srgbClr val="F6F8FB"/>
                    </a:solidFill>
                  </a:tcPr>
                </a:tc>
              </a:tr>
              <a:tr h="282321">
                <a:tc>
                  <a:txBody>
                    <a:bodyPr wrap="square" lIns="36576" rIns="36576" tIns="18288" bIns="18288"/>
                    <a:lstStyle/>
                    <a:p>
                      <a:r>
                        <a:rPr sz="720" b="1">
                          <a:solidFill>
                            <a:srgbClr val="21242A"/>
                          </a:solidFill>
                          <a:latin typeface="Microsoft YaHei"/>
                        </a:rPr>
                        <a:t>2年无进展生存率(PFS)</a:t>
                      </a:r>
                    </a:p>
                  </a:txBody>
                  <a:tcPr>
                    <a:solidFill>
                      <a:srgbClr val="FFFFFF"/>
                    </a:solidFill>
                  </a:tcPr>
                </a:tc>
                <a:tc>
                  <a:txBody>
                    <a:bodyPr wrap="square" lIns="36576" rIns="36576" tIns="18288" bIns="18288"/>
                    <a:lstStyle/>
                    <a:p>
                      <a:r>
                        <a:rPr sz="720" b="0">
                          <a:solidFill>
                            <a:srgbClr val="21242A"/>
                          </a:solidFill>
                          <a:latin typeface="Microsoft YaHei"/>
                        </a:rPr>
                        <a:t>49% (95% CI 28.2-66.6)</a:t>
                      </a:r>
                    </a:p>
                  </a:txBody>
                  <a:tcPr>
                    <a:solidFill>
                      <a:srgbClr val="FFFFFF"/>
                    </a:solidFill>
                  </a:tcPr>
                </a:tc>
              </a:tr>
              <a:tr h="282321">
                <a:tc>
                  <a:txBody>
                    <a:bodyPr wrap="square" lIns="36576" rIns="36576" tIns="18288" bIns="18288"/>
                    <a:lstStyle/>
                    <a:p>
                      <a:r>
                        <a:rPr sz="720" b="1">
                          <a:solidFill>
                            <a:srgbClr val="21242A"/>
                          </a:solidFill>
                          <a:latin typeface="Microsoft YaHei"/>
                        </a:rPr>
                        <a:t>2年总生存率(OS)</a:t>
                      </a:r>
                    </a:p>
                  </a:txBody>
                  <a:tcPr>
                    <a:solidFill>
                      <a:srgbClr val="F6F8FB"/>
                    </a:solidFill>
                  </a:tcPr>
                </a:tc>
                <a:tc>
                  <a:txBody>
                    <a:bodyPr wrap="square" lIns="36576" rIns="36576" tIns="18288" bIns="18288"/>
                    <a:lstStyle/>
                    <a:p>
                      <a:r>
                        <a:rPr sz="720" b="0">
                          <a:solidFill>
                            <a:srgbClr val="21242A"/>
                          </a:solidFill>
                          <a:latin typeface="Microsoft YaHei"/>
                        </a:rPr>
                        <a:t>85% (95% CI 64.4-94.0)</a:t>
                      </a:r>
                    </a:p>
                  </a:txBody>
                  <a:tcPr>
                    <a:solidFill>
                      <a:srgbClr val="F6F8FB"/>
                    </a:solidFill>
                  </a:tcPr>
                </a:tc>
              </a:tr>
              <a:tr h="282321">
                <a:tc>
                  <a:txBody>
                    <a:bodyPr wrap="square" lIns="36576" rIns="36576" tIns="18288" bIns="18288"/>
                    <a:lstStyle/>
                    <a:p>
                      <a:r>
                        <a:rPr sz="720" b="1">
                          <a:solidFill>
                            <a:srgbClr val="21242A"/>
                          </a:solidFill>
                          <a:latin typeface="Microsoft YaHei"/>
                        </a:rPr>
                        <a:t>复发率</a:t>
                      </a:r>
                    </a:p>
                  </a:txBody>
                  <a:tcPr>
                    <a:solidFill>
                      <a:srgbClr val="FFFFFF"/>
                    </a:solidFill>
                  </a:tcPr>
                </a:tc>
                <a:tc>
                  <a:txBody>
                    <a:bodyPr wrap="square" lIns="36576" rIns="36576" tIns="18288" bIns="18288"/>
                    <a:lstStyle/>
                    <a:p>
                      <a:r>
                        <a:rPr sz="720" b="0">
                          <a:solidFill>
                            <a:srgbClr val="21242A"/>
                          </a:solidFill>
                          <a:latin typeface="Microsoft YaHei"/>
                        </a:rPr>
                        <a:t>48% (15/31)，其中仅眼部复发13%，仅脑部复发40%，两者均有47%</a:t>
                      </a:r>
                    </a:p>
                  </a:txBody>
                  <a:tcPr>
                    <a:solidFill>
                      <a:srgbClr val="FFFFFF"/>
                    </a:solidFill>
                  </a:tcPr>
                </a:tc>
              </a:tr>
              <a:tr h="282321">
                <a:tc>
                  <a:txBody>
                    <a:bodyPr wrap="square" lIns="36576" rIns="36576" tIns="18288" bIns="18288"/>
                    <a:lstStyle/>
                    <a:p>
                      <a:r>
                        <a:rPr sz="720" b="1">
                          <a:solidFill>
                            <a:srgbClr val="21242A"/>
                          </a:solidFill>
                          <a:latin typeface="Microsoft YaHei"/>
                        </a:rPr>
                        <a:t>死亡</a:t>
                      </a:r>
                    </a:p>
                  </a:txBody>
                  <a:tcPr>
                    <a:solidFill>
                      <a:srgbClr val="F6F8FB"/>
                    </a:solidFill>
                  </a:tcPr>
                </a:tc>
                <a:tc>
                  <a:txBody>
                    <a:bodyPr wrap="square" lIns="36576" rIns="36576" tIns="18288" bIns="18288"/>
                    <a:lstStyle/>
                    <a:p>
                      <a:r>
                        <a:rPr sz="720" b="0">
                          <a:solidFill>
                            <a:srgbClr val="21242A"/>
                          </a:solidFill>
                          <a:latin typeface="Microsoft YaHei"/>
                        </a:rPr>
                        <a:t>9例(28%)，其中6例死于淋巴瘤</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研究类型：前瞻性临床试验</a:t>
            </a:r>
          </a:p>
          <a:p>
            <a:pPr>
              <a:lnSpc>
                <a:spcPct val="103000"/>
              </a:lnSpc>
              <a:spcAft>
                <a:spcPts val="300"/>
              </a:spcAft>
              <a:defRPr sz="780">
                <a:solidFill>
                  <a:srgbClr val="21242A"/>
                </a:solidFill>
                <a:latin typeface="Microsoft YaHei"/>
              </a:defRPr>
            </a:pPr>
            <a:r>
              <a:t>疾病场景：眼内/玻璃体视网膜淋巴瘤</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摘要号：PS2094</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384048"/>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章节</a:t>
            </a:r>
          </a:p>
        </p:txBody>
      </p:sp>
      <p:sp>
        <p:nvSpPr>
          <p:cNvPr id="3" name="TextBox 2"/>
          <p:cNvSpPr txBox="1"/>
          <p:nvPr/>
        </p:nvSpPr>
        <p:spPr>
          <a:xfrm>
            <a:off x="1600200" y="274320"/>
            <a:ext cx="9326880" cy="502920"/>
          </a:xfrm>
          <a:prstGeom prst="rect">
            <a:avLst/>
          </a:prstGeom>
          <a:noFill/>
        </p:spPr>
        <p:txBody>
          <a:bodyPr wrap="square" lIns="73152" rIns="73152" tIns="36576" bIns="36576" anchor="t">
            <a:normAutofit/>
          </a:bodyPr>
          <a:lstStyle/>
          <a:p>
            <a:pPr algn="l"/>
            <a:r>
              <a:rPr sz="2200" b="1">
                <a:solidFill>
                  <a:srgbClr val="21242A"/>
                </a:solidFill>
                <a:latin typeface="Microsoft YaHei"/>
              </a:rPr>
              <a:t>回顾性/真实世界研究</a:t>
            </a:r>
          </a:p>
        </p:txBody>
      </p:sp>
      <p:sp>
        <p:nvSpPr>
          <p:cNvPr id="4" name="TextBox 3"/>
          <p:cNvSpPr txBox="1"/>
          <p:nvPr/>
        </p:nvSpPr>
        <p:spPr>
          <a:xfrm>
            <a:off x="1627632" y="859536"/>
            <a:ext cx="9144000" cy="228600"/>
          </a:xfrm>
          <a:prstGeom prst="rect">
            <a:avLst/>
          </a:prstGeom>
          <a:noFill/>
        </p:spPr>
        <p:txBody>
          <a:bodyPr wrap="square" lIns="73152" rIns="73152" tIns="36576" bIns="36576" anchor="t">
            <a:normAutofit/>
          </a:bodyPr>
          <a:lstStyle/>
          <a:p>
            <a:pPr algn="l"/>
            <a:r>
              <a:rPr sz="919" b="0">
                <a:solidFill>
                  <a:srgbClr val="5E6570"/>
                </a:solidFill>
                <a:latin typeface="Microsoft YaHei"/>
              </a:rPr>
              <a:t>81项研究；以下按疾病场景和药物/技术继续细分。</a:t>
            </a:r>
          </a:p>
        </p:txBody>
      </p:sp>
      <p:sp>
        <p:nvSpPr>
          <p:cNvPr id="5" name="TextBox 4"/>
          <p:cNvSpPr txBox="1"/>
          <p:nvPr/>
        </p:nvSpPr>
        <p:spPr>
          <a:xfrm>
            <a:off x="640080" y="148132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疾病场景</a:t>
            </a:r>
          </a:p>
        </p:txBody>
      </p:sp>
      <p:sp>
        <p:nvSpPr>
          <p:cNvPr id="6" name="TextBox 5"/>
          <p:cNvSpPr txBox="1"/>
          <p:nvPr/>
        </p:nvSpPr>
        <p:spPr>
          <a:xfrm>
            <a:off x="768096" y="182880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LBCL/HGBL：58项</a:t>
            </a:r>
          </a:p>
        </p:txBody>
      </p:sp>
      <p:sp>
        <p:nvSpPr>
          <p:cNvPr id="7" name="Rectangle 6"/>
          <p:cNvSpPr/>
          <p:nvPr/>
        </p:nvSpPr>
        <p:spPr>
          <a:xfrm>
            <a:off x="4297680" y="1874519"/>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297680" y="1874519"/>
            <a:ext cx="2011680"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14884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转化/Richter：9项</a:t>
            </a:r>
          </a:p>
        </p:txBody>
      </p:sp>
      <p:sp>
        <p:nvSpPr>
          <p:cNvPr id="10" name="Rectangle 9"/>
          <p:cNvSpPr/>
          <p:nvPr/>
        </p:nvSpPr>
        <p:spPr>
          <a:xfrm>
            <a:off x="4297680" y="2194560"/>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97680" y="2194560"/>
            <a:ext cx="312157"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246888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PMBCL/特殊亚型：5项</a:t>
            </a:r>
          </a:p>
        </p:txBody>
      </p:sp>
      <p:sp>
        <p:nvSpPr>
          <p:cNvPr id="13" name="Rectangle 12"/>
          <p:cNvSpPr/>
          <p:nvPr/>
        </p:nvSpPr>
        <p:spPr>
          <a:xfrm>
            <a:off x="4297680" y="2514600"/>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514600"/>
            <a:ext cx="173420"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278892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SCNSL/CNS复发或预防：5项</a:t>
            </a:r>
          </a:p>
        </p:txBody>
      </p:sp>
      <p:sp>
        <p:nvSpPr>
          <p:cNvPr id="16" name="Rectangle 15"/>
          <p:cNvSpPr/>
          <p:nvPr/>
        </p:nvSpPr>
        <p:spPr>
          <a:xfrm>
            <a:off x="4297680" y="2834640"/>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2834640"/>
            <a:ext cx="173420"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310896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PCNSL：3项</a:t>
            </a:r>
          </a:p>
        </p:txBody>
      </p:sp>
      <p:sp>
        <p:nvSpPr>
          <p:cNvPr id="19" name="Rectangle 18"/>
          <p:cNvSpPr/>
          <p:nvPr/>
        </p:nvSpPr>
        <p:spPr>
          <a:xfrm>
            <a:off x="4297680" y="3154680"/>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80" y="3154680"/>
            <a:ext cx="104052"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342900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眼内/玻璃体视网膜淋巴瘤：1项</a:t>
            </a:r>
          </a:p>
        </p:txBody>
      </p:sp>
      <p:sp>
        <p:nvSpPr>
          <p:cNvPr id="22" name="Rectangle 21"/>
          <p:cNvSpPr/>
          <p:nvPr/>
        </p:nvSpPr>
        <p:spPr>
          <a:xfrm>
            <a:off x="4297680" y="3474720"/>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0" y="3474720"/>
            <a:ext cx="34684"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0" y="1481328"/>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药物/技术</a:t>
            </a:r>
          </a:p>
        </p:txBody>
      </p:sp>
      <p:sp>
        <p:nvSpPr>
          <p:cNvPr id="25" name="TextBox 24"/>
          <p:cNvSpPr txBox="1"/>
          <p:nvPr/>
        </p:nvSpPr>
        <p:spPr>
          <a:xfrm>
            <a:off x="6720840" y="182880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CAR-T/细胞治疗：40项</a:t>
            </a:r>
          </a:p>
        </p:txBody>
      </p:sp>
      <p:sp>
        <p:nvSpPr>
          <p:cNvPr id="26" name="Rectangle 25"/>
          <p:cNvSpPr/>
          <p:nvPr/>
        </p:nvSpPr>
        <p:spPr>
          <a:xfrm>
            <a:off x="9893808" y="1874519"/>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893808" y="1874519"/>
            <a:ext cx="1508760"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20840" y="214884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其他/未明确药物：20项</a:t>
            </a:r>
          </a:p>
        </p:txBody>
      </p:sp>
      <p:sp>
        <p:nvSpPr>
          <p:cNvPr id="29" name="Rectangle 28"/>
          <p:cNvSpPr/>
          <p:nvPr/>
        </p:nvSpPr>
        <p:spPr>
          <a:xfrm>
            <a:off x="9893808" y="2194560"/>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893808" y="2194560"/>
            <a:ext cx="754380"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0840" y="246888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化疗/免疫化疗：10项</a:t>
            </a:r>
          </a:p>
        </p:txBody>
      </p:sp>
      <p:sp>
        <p:nvSpPr>
          <p:cNvPr id="32" name="Rectangle 31"/>
          <p:cNvSpPr/>
          <p:nvPr/>
        </p:nvSpPr>
        <p:spPr>
          <a:xfrm>
            <a:off x="9893808" y="2514600"/>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893808" y="2514600"/>
            <a:ext cx="377190"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20840" y="278892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ADC：5项</a:t>
            </a:r>
          </a:p>
        </p:txBody>
      </p:sp>
      <p:sp>
        <p:nvSpPr>
          <p:cNvPr id="35" name="Rectangle 34"/>
          <p:cNvSpPr/>
          <p:nvPr/>
        </p:nvSpPr>
        <p:spPr>
          <a:xfrm>
            <a:off x="9893808" y="2834640"/>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893808" y="2834640"/>
            <a:ext cx="188595"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20840" y="310896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双抗：2项</a:t>
            </a:r>
          </a:p>
        </p:txBody>
      </p:sp>
      <p:sp>
        <p:nvSpPr>
          <p:cNvPr id="38" name="Rectangle 37"/>
          <p:cNvSpPr/>
          <p:nvPr/>
        </p:nvSpPr>
        <p:spPr>
          <a:xfrm>
            <a:off x="9893808" y="3154680"/>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93808" y="3154680"/>
            <a:ext cx="75438"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720840" y="342900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BTKi：2项</a:t>
            </a:r>
          </a:p>
        </p:txBody>
      </p:sp>
      <p:sp>
        <p:nvSpPr>
          <p:cNvPr id="41" name="Rectangle 40"/>
          <p:cNvSpPr/>
          <p:nvPr/>
        </p:nvSpPr>
        <p:spPr>
          <a:xfrm>
            <a:off x="9893808" y="3474720"/>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893808" y="3474720"/>
            <a:ext cx="75438"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4919472"/>
            <a:ext cx="10744200" cy="74980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2" y="5065776"/>
            <a:ext cx="10332720" cy="384048"/>
          </a:xfrm>
          <a:prstGeom prst="rect">
            <a:avLst/>
          </a:prstGeom>
          <a:noFill/>
        </p:spPr>
        <p:txBody>
          <a:bodyPr wrap="square" rIns="73152" bIns="36576">
            <a:normAutofit/>
          </a:bodyPr>
          <a:lstStyle/>
          <a:p>
            <a:pPr>
              <a:lnSpc>
                <a:spcPct val="103000"/>
              </a:lnSpc>
              <a:spcAft>
                <a:spcPts val="300"/>
              </a:spcAft>
              <a:defRPr sz="800">
                <a:solidFill>
                  <a:srgbClr val="5E6570"/>
                </a:solidFill>
                <a:latin typeface="Microsoft YaHei"/>
              </a:defRPr>
            </a:pPr>
            <a:r>
              <a:t>章节内每项研究保留两页：研究设计/PICO、中文结果/来源核对。</a:t>
            </a:r>
          </a:p>
          <a:p>
            <a:pPr>
              <a:lnSpc>
                <a:spcPct val="103000"/>
              </a:lnSpc>
              <a:spcAft>
                <a:spcPts val="300"/>
              </a:spcAft>
              <a:defRPr sz="800">
                <a:solidFill>
                  <a:srgbClr val="5E6570"/>
                </a:solidFill>
                <a:latin typeface="Microsoft YaHei"/>
              </a:defRPr>
            </a:pPr>
            <a:r>
              <a:t>中文结果来自原表字段；右下角可跳转 EHA 原文进一步复核。</a:t>
            </a:r>
          </a:p>
        </p:txBody>
      </p:sp>
      <p:sp>
        <p:nvSpPr>
          <p:cNvPr id="45" name="Rounded Rectangle 44">
            <a:hlinkClick action="ppaction://hlinksldjump" r:id="rId2"/>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综合多组分分析确定了与大b细胞淋巴瘤car-t治疗后不同结果相关的基因组亚型</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integrated multi-omic profiling identifies genomic subtypes associated with 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S283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N=112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Lisocabtagene maraleucel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BN2亚型 vs 其他亚型：PFS 16% (95% CI 6-46, p=0.017)，PFS6显著更低(p=0.009)，...</a:t>
            </a:r>
          </a:p>
          <a:p>
            <a:pPr>
              <a:lnSpc>
                <a:spcPct val="103000"/>
              </a:lnSpc>
              <a:spcAft>
                <a:spcPts val="300"/>
              </a:spcAft>
              <a:defRPr sz="800">
                <a:solidFill>
                  <a:srgbClr val="21242A"/>
                </a:solidFill>
                <a:latin typeface="Microsoft YaHei"/>
              </a:defRPr>
            </a:pPr>
            <a:r>
              <a:t>多变量Cox回归：BN2与较差的PFS和PFS6独立相关(均p&lt;0.05)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人数：112</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试验药/方案：阿基仑赛、Lisocabtagene maraleucel、Tisagenlecleucel</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综合多组分分析确定了与大b细胞淋巴瘤car-t治疗后不同结果相关的基因组亚型</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integrated multi-omic profiling identifies genomic subtypes associated with 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S283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EHA原文结果（中文字段未通过数字核对）（1/4）</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Among 112 patients with available molecular data, median follow-up was 66 months (IQR 46-73).</a:t>
            </a:r>
          </a:p>
          <a:p>
            <a:pPr>
              <a:lnSpc>
                <a:spcPct val="103000"/>
              </a:lnSpc>
              <a:spcAft>
                <a:spcPts val="300"/>
              </a:spcAft>
              <a:defRPr sz="819">
                <a:solidFill>
                  <a:srgbClr val="21242A"/>
                </a:solidFill>
                <a:latin typeface="Microsoft YaHei"/>
              </a:defRPr>
            </a:pPr>
            <a:r>
              <a:t>CAR-T products included axicabtagene ciloleucel (49%), tisagenlecleucel (38%), and lisocabtagene maraleucel (13%).</a:t>
            </a:r>
          </a:p>
          <a:p>
            <a:pPr>
              <a:lnSpc>
                <a:spcPct val="103000"/>
              </a:lnSpc>
              <a:spcAft>
                <a:spcPts val="300"/>
              </a:spcAft>
              <a:defRPr sz="819">
                <a:solidFill>
                  <a:srgbClr val="21242A"/>
                </a:solidFill>
                <a:latin typeface="Microsoft YaHei"/>
              </a:defRPr>
            </a:pPr>
            <a:r>
              <a:t>Fifty-four percent of tumors were germinal center B-cell type, 46% activated B-cell type, and 17% were DHIT-positive.</a:t>
            </a:r>
          </a:p>
          <a:p>
            <a:pPr>
              <a:lnSpc>
                <a:spcPct val="103000"/>
              </a:lnSpc>
              <a:spcAft>
                <a:spcPts val="300"/>
              </a:spcAft>
              <a:defRPr sz="819">
                <a:solidFill>
                  <a:srgbClr val="21242A"/>
                </a:solidFill>
                <a:latin typeface="Microsoft YaHei"/>
              </a:defRPr>
            </a:pPr>
            <a:r>
              <a:t>\n WES data were available in 99 patients.</a:t>
            </a:r>
          </a:p>
          <a:p>
            <a:pPr>
              <a:lnSpc>
                <a:spcPct val="103000"/>
              </a:lnSpc>
              <a:spcAft>
                <a:spcPts val="300"/>
              </a:spcAft>
              <a:defRPr sz="819">
                <a:solidFill>
                  <a:srgbClr val="21242A"/>
                </a:solidFill>
                <a:latin typeface="Microsoft YaHei"/>
              </a:defRPr>
            </a:pPr>
            <a:r>
              <a:t>BostonGene’s Lymphly classifier assigned genomic subtypes to a larger proportion of evaluable cases compared with Lymp</a:t>
            </a:r>
          </a:p>
          <a:p>
            <a:pPr>
              <a:lnSpc>
                <a:spcPct val="103000"/>
              </a:lnSpc>
              <a:spcAft>
                <a:spcPts val="300"/>
              </a:spcAft>
              <a:defRPr sz="819">
                <a:solidFill>
                  <a:srgbClr val="21242A"/>
                </a:solidFill>
                <a:latin typeface="Microsoft YaHei"/>
              </a:defRPr>
            </a:pPr>
            <a:r>
              <a:t>hGen and demonstrated improved outcome discrimination ( Fig.</a:t>
            </a:r>
          </a:p>
          <a:p>
            <a:pPr>
              <a:lnSpc>
                <a:spcPct val="103000"/>
              </a:lnSpc>
              <a:spcAft>
                <a:spcPts val="300"/>
              </a:spcAft>
              <a:defRPr sz="819">
                <a:solidFill>
                  <a:srgbClr val="21242A"/>
                </a:solidFill>
                <a:latin typeface="Microsoft YaHei"/>
              </a:defRPr>
            </a:pPr>
            <a:r>
              <a:t>1A ).</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摘要号：S283</a:t>
            </a:r>
          </a:p>
          <a:p>
            <a:pPr>
              <a:lnSpc>
                <a:spcPct val="103000"/>
              </a:lnSpc>
              <a:spcAft>
                <a:spcPts val="300"/>
              </a:spcAft>
              <a:defRPr sz="740">
                <a:solidFill>
                  <a:srgbClr val="5E6570"/>
                </a:solidFill>
                <a:latin typeface="Microsoft YaHei"/>
              </a:defRPr>
            </a:pPr>
            <a:r>
              <a:t>会议栏目：25. Gene therapy, cellular immunotherapy and vaccination -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综合多组分分析确定了与大b细胞淋巴瘤car-t治疗后不同结果相关的基因组亚型</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integrated multi-omic profiling identifies genomic subtypes associated with 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S283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Inferior outcomes were primarily driven by the BN2 subtype, which was associated with worse PFS (16%, 95% CI 6-46, p=0</a:t>
            </a:r>
          </a:p>
          <a:p>
            <a:pPr>
              <a:lnSpc>
                <a:spcPct val="103000"/>
              </a:lnSpc>
              <a:spcAft>
                <a:spcPts val="300"/>
              </a:spcAft>
              <a:defRPr sz="819">
                <a:solidFill>
                  <a:srgbClr val="21242A"/>
                </a:solidFill>
                <a:latin typeface="Microsoft YaHei"/>
              </a:defRPr>
            </a:pPr>
            <a:r>
              <a:t>.017), lower PFS6 (p=0.009), and reduced CR rates (p=0.041) compared with other evaluable subgroups ( Fig.</a:t>
            </a:r>
          </a:p>
          <a:p>
            <a:pPr>
              <a:lnSpc>
                <a:spcPct val="103000"/>
              </a:lnSpc>
              <a:spcAft>
                <a:spcPts val="300"/>
              </a:spcAft>
              <a:defRPr sz="819">
                <a:solidFill>
                  <a:srgbClr val="21242A"/>
                </a:solidFill>
                <a:latin typeface="Microsoft YaHei"/>
              </a:defRPr>
            </a:pPr>
            <a:r>
              <a:t>1B ).</a:t>
            </a:r>
          </a:p>
          <a:p>
            <a:pPr>
              <a:lnSpc>
                <a:spcPct val="103000"/>
              </a:lnSpc>
              <a:spcAft>
                <a:spcPts val="300"/>
              </a:spcAft>
              <a:defRPr sz="819">
                <a:solidFill>
                  <a:srgbClr val="21242A"/>
                </a:solidFill>
                <a:latin typeface="Microsoft YaHei"/>
              </a:defRPr>
            </a:pPr>
            <a:r>
              <a:t>In multivariable Cox models adjusting for relevant clinical covariates, BN2 remained independently associated with inf</a:t>
            </a:r>
          </a:p>
          <a:p>
            <a:pPr>
              <a:lnSpc>
                <a:spcPct val="103000"/>
              </a:lnSpc>
              <a:spcAft>
                <a:spcPts val="300"/>
              </a:spcAft>
              <a:defRPr sz="819">
                <a:solidFill>
                  <a:srgbClr val="21242A"/>
                </a:solidFill>
                <a:latin typeface="Microsoft YaHei"/>
              </a:defRPr>
            </a:pPr>
            <a:r>
              <a:t>erior PFS and PFS6 (both p \n RNA-seq data were available for 55 patients.</a:t>
            </a:r>
          </a:p>
          <a:p>
            <a:pPr>
              <a:lnSpc>
                <a:spcPct val="103000"/>
              </a:lnSpc>
              <a:spcAft>
                <a:spcPts val="300"/>
              </a:spcAft>
              <a:defRPr sz="819">
                <a:solidFill>
                  <a:srgbClr val="21242A"/>
                </a:solidFill>
                <a:latin typeface="Microsoft YaHei"/>
              </a:defRPr>
            </a:pPr>
            <a:r>
              <a:t>RNA-defined TME subtypes and DHIT status were not significantly associated with PFS in univariable analyses.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综合多组分分析确定了与大b细胞淋巴瘤car-t治疗后不同结果相关的基因组亚型</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integrated multi-omic profiling identifies genomic subtypes associated with 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S283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The inflammatory TME subtype demonstrated numerically inferior outcomes, with a 1-year PFS of 19% (95% CI 7-52) compar</a:t>
            </a:r>
          </a:p>
          <a:p>
            <a:pPr>
              <a:lnSpc>
                <a:spcPct val="103000"/>
              </a:lnSpc>
              <a:spcAft>
                <a:spcPts val="300"/>
              </a:spcAft>
              <a:defRPr sz="819">
                <a:solidFill>
                  <a:srgbClr val="21242A"/>
                </a:solidFill>
                <a:latin typeface="Microsoft YaHei"/>
              </a:defRPr>
            </a:pPr>
            <a:r>
              <a:t>ed with 36% and 41% in the mesenchymal and depleted subtypes, respectively, whereas DHIT-positive cases showed numeric</a:t>
            </a:r>
          </a:p>
          <a:p>
            <a:pPr>
              <a:lnSpc>
                <a:spcPct val="103000"/>
              </a:lnSpc>
              <a:spcAft>
                <a:spcPts val="300"/>
              </a:spcAft>
              <a:defRPr sz="819">
                <a:solidFill>
                  <a:srgbClr val="21242A"/>
                </a:solidFill>
                <a:latin typeface="Microsoft YaHei"/>
              </a:defRPr>
            </a:pPr>
            <a:r>
              <a:t>ally favorable 1-year PFS (46% vs 31%) ( Fig.</a:t>
            </a:r>
          </a:p>
          <a:p>
            <a:pPr>
              <a:lnSpc>
                <a:spcPct val="103000"/>
              </a:lnSpc>
              <a:spcAft>
                <a:spcPts val="300"/>
              </a:spcAft>
              <a:defRPr sz="819">
                <a:solidFill>
                  <a:srgbClr val="21242A"/>
                </a:solidFill>
                <a:latin typeface="Microsoft YaHei"/>
              </a:defRPr>
            </a:pPr>
            <a:r>
              <a:t>1C ).</a:t>
            </a:r>
          </a:p>
          <a:p>
            <a:pPr>
              <a:lnSpc>
                <a:spcPct val="103000"/>
              </a:lnSpc>
              <a:spcAft>
                <a:spcPts val="300"/>
              </a:spcAft>
              <a:defRPr sz="819">
                <a:solidFill>
                  <a:srgbClr val="21242A"/>
                </a:solidFill>
                <a:latin typeface="Microsoft YaHei"/>
              </a:defRPr>
            </a:pPr>
            <a:r>
              <a:t>Within the GCB subgroup, the Dzsig showed similar PFS between DZsig-positive and DZsig-negative cases ( Fig 1D ); form</a:t>
            </a:r>
          </a:p>
          <a:p>
            <a:pPr>
              <a:lnSpc>
                <a:spcPct val="103000"/>
              </a:lnSpc>
              <a:spcAft>
                <a:spcPts val="300"/>
              </a:spcAft>
              <a:defRPr sz="819">
                <a:solidFill>
                  <a:srgbClr val="21242A"/>
                </a:solidFill>
                <a:latin typeface="Microsoft YaHei"/>
              </a:defRPr>
            </a:pPr>
            <a:r>
              <a:t>al statistical testing was not performed due to limited sample size.</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综合多组分分析确定了与大b细胞淋巴瘤car-t治疗后不同结果相关的基因组亚型</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integrated multi-omic profiling identifies genomic subtypes associated with 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S283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Summary/Conclusion: Multi-omic profiling identifies biologically defined high-risk subgroups after CAR-T therapy, high</a:t>
            </a:r>
          </a:p>
          <a:p>
            <a:pPr>
              <a:lnSpc>
                <a:spcPct val="103000"/>
              </a:lnSpc>
              <a:spcAft>
                <a:spcPts val="300"/>
              </a:spcAft>
              <a:defRPr sz="819">
                <a:solidFill>
                  <a:srgbClr val="21242A"/>
                </a:solidFill>
                <a:latin typeface="Microsoft YaHei"/>
              </a:defRPr>
            </a:pPr>
            <a:r>
              <a:t>lighting BN2 as a genomically driven resistance phenotype.</a:t>
            </a:r>
          </a:p>
          <a:p>
            <a:pPr>
              <a:lnSpc>
                <a:spcPct val="103000"/>
              </a:lnSpc>
              <a:spcAft>
                <a:spcPts val="300"/>
              </a:spcAft>
              <a:defRPr sz="819">
                <a:solidFill>
                  <a:srgbClr val="21242A"/>
                </a:solidFill>
                <a:latin typeface="Microsoft YaHei"/>
              </a:defRPr>
            </a:pPr>
            <a:r>
              <a:t>Genomic classification may refine patient selection and enable mechanism-based therapeutic strategies in LBCL.</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cd19car t细胞治疗复发/难治性高级别b细胞淋巴瘤（hgbl）后的良好现实结果：ebmt-lwp分析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favorable real-world outcomes after cd19 car t cell treatment in relapsed/ref...</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N=5298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试验药/方案：CD19靶向CAR-T(国立台湾大学医学院附设医院)</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对照/比较：试验组1：HGBL-MYC/BCL2患者，CD19 CAR T细胞治疗</a:t>
            </a:r>
          </a:p>
          <a:p>
            <a:pPr>
              <a:lnSpc>
                <a:spcPct val="103000"/>
              </a:lnSpc>
              <a:spcAft>
                <a:spcPts val="300"/>
              </a:spcAft>
              <a:defRPr sz="800">
                <a:solidFill>
                  <a:srgbClr val="21242A"/>
                </a:solidFill>
                <a:latin typeface="Microsoft YaHei"/>
              </a:defRPr>
            </a:pPr>
            <a:r>
              <a:t>试验组2：HGBL-NOS患者，CD19 CAR T细胞治疗</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1年无进展生存率（PFS）：HGBL-MYC/BCL2组58%，HGBL-NOS组52%，DLBCL-NOS组48% (P=0...</a:t>
            </a:r>
          </a:p>
          <a:p>
            <a:pPr>
              <a:lnSpc>
                <a:spcPct val="103000"/>
              </a:lnSpc>
              <a:spcAft>
                <a:spcPts val="300"/>
              </a:spcAft>
              <a:defRPr sz="800">
                <a:solidFill>
                  <a:srgbClr val="21242A"/>
                </a:solidFill>
                <a:latin typeface="Microsoft YaHei"/>
              </a:defRPr>
            </a:pPr>
            <a:r>
              <a:t>1年总生存率（OS）：HGBL-MYC/BCL2组73%，HGBL-NOS组67%，DLBCL-NOS组62% (P=0.01)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人数：5298</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试验药/方案：CD19靶向CAR-T(国立台湾大学医学院附设医院)</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cd19car t细胞治疗复发/难治性高级别b细胞淋巴瘤（hgbl）后的良好现实结果：ebmt-lwp分析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favorable real-world outcomes after cd19 car t cell treatment in relapsed/ref...</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EHA原文结果（中文字段未通过数字核对）（1/2）</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In total 5298 pts were included: 5066 DLBCL-NOS, 177 HGBL-MYC/BCL2, and 55 HGBL-NOS.</a:t>
            </a:r>
          </a:p>
          <a:p>
            <a:pPr>
              <a:lnSpc>
                <a:spcPct val="103000"/>
              </a:lnSpc>
              <a:spcAft>
                <a:spcPts val="300"/>
              </a:spcAft>
              <a:defRPr sz="819">
                <a:solidFill>
                  <a:srgbClr val="21242A"/>
                </a:solidFill>
                <a:latin typeface="Microsoft YaHei"/>
              </a:defRPr>
            </a:pPr>
            <a:r>
              <a:t>Median age was 62.6 years (y) and did not differ between groups (p=0.51).</a:t>
            </a:r>
          </a:p>
          <a:p>
            <a:pPr>
              <a:lnSpc>
                <a:spcPct val="103000"/>
              </a:lnSpc>
              <a:spcAft>
                <a:spcPts val="300"/>
              </a:spcAft>
              <a:defRPr sz="819">
                <a:solidFill>
                  <a:srgbClr val="21242A"/>
                </a:solidFill>
                <a:latin typeface="Microsoft YaHei"/>
              </a:defRPr>
            </a:pPr>
            <a:r>
              <a:t>Median time from diagnosis to CAR T was shorter in both HGBL cohorts (10.4 months (mo) for MYC/BCL2; 10.9 mo for NOS) </a:t>
            </a:r>
          </a:p>
          <a:p>
            <a:pPr>
              <a:lnSpc>
                <a:spcPct val="103000"/>
              </a:lnSpc>
              <a:spcAft>
                <a:spcPts val="300"/>
              </a:spcAft>
              <a:defRPr sz="819">
                <a:solidFill>
                  <a:srgbClr val="21242A"/>
                </a:solidFill>
                <a:latin typeface="Microsoft YaHei"/>
              </a:defRPr>
            </a:pPr>
            <a:r>
              <a:t>compared with DLBCL-NOS (15.3 mo; p Summary/Conclusion: In this large EBMT RW cohort, pts with HGBL-NOS and HGBL-MYC/B</a:t>
            </a:r>
          </a:p>
          <a:p>
            <a:pPr>
              <a:lnSpc>
                <a:spcPct val="103000"/>
              </a:lnSpc>
              <a:spcAft>
                <a:spcPts val="300"/>
              </a:spcAft>
              <a:defRPr sz="819">
                <a:solidFill>
                  <a:srgbClr val="21242A"/>
                </a:solidFill>
                <a:latin typeface="Microsoft YaHei"/>
              </a:defRPr>
            </a:pPr>
            <a:r>
              <a:t>CL2 achieved promising PFS, despite a high-risk clinical profile at infusion.</a:t>
            </a:r>
          </a:p>
          <a:p>
            <a:pPr>
              <a:lnSpc>
                <a:spcPct val="103000"/>
              </a:lnSpc>
              <a:spcAft>
                <a:spcPts val="300"/>
              </a:spcAft>
              <a:defRPr sz="819">
                <a:solidFill>
                  <a:srgbClr val="21242A"/>
                </a:solidFill>
                <a:latin typeface="Microsoft YaHei"/>
              </a:defRPr>
            </a:pPr>
            <a:r>
              <a:t>The results indicate that CD19 CAR T cell therapy may mitigate the adverse biology of HGBL in the R/R setting.</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摘要号：S243</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cd19car t细胞治疗复发/难治性高级别b细胞淋巴瘤（hgbl）后的良好现实结果：ebmt-lwp分析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favorable real-world outcomes after cd19 car t cell treatment in relapsed/ref...</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EHA原文结果（中文字段未通过数字核对）（2/2）</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Despite its limitations, including the retrospective design, absence of central pathology review, and potential under-</a:t>
            </a:r>
          </a:p>
          <a:p>
            <a:pPr>
              <a:lnSpc>
                <a:spcPct val="103000"/>
              </a:lnSpc>
              <a:spcAft>
                <a:spcPts val="300"/>
              </a:spcAft>
              <a:defRPr sz="819">
                <a:solidFill>
                  <a:srgbClr val="21242A"/>
                </a:solidFill>
                <a:latin typeface="Microsoft YaHei"/>
              </a:defRPr>
            </a:pPr>
            <a:r>
              <a:t>reporting of MYC/BCL2-rearranged cases, these findings provide contemporary, entity-specific benchmarks and support CD</a:t>
            </a:r>
          </a:p>
          <a:p>
            <a:pPr>
              <a:lnSpc>
                <a:spcPct val="103000"/>
              </a:lnSpc>
              <a:spcAft>
                <a:spcPts val="300"/>
              </a:spcAft>
              <a:defRPr sz="819">
                <a:solidFill>
                  <a:srgbClr val="21242A"/>
                </a:solidFill>
                <a:latin typeface="Microsoft YaHei"/>
              </a:defRPr>
            </a:pPr>
            <a:r>
              <a:t>19 CAR T as a very relevant therapeutic option for R/R HGBL, informing treatment sequencing and future study design.</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大b细胞淋巴瘤常规治疗与cd3xcd20双特异性抗体桥接t细胞治疗的综合分析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comprehensive analysis of bridging to car t-cell therapy in large b-cell lymp...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N=112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艾可瑞妥单抗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多组/多方案比较：试验组1：双特异性抗体桥接（Epcoritamab或Glofitamab），后续CAR-T细胞治疗</a:t>
            </a:r>
          </a:p>
          <a:p>
            <a:pPr>
              <a:lnSpc>
                <a:spcPct val="103000"/>
              </a:lnSpc>
              <a:spcAft>
                <a:spcPts val="300"/>
              </a:spcAft>
              <a:defRPr sz="800">
                <a:solidFill>
                  <a:srgbClr val="21242A"/>
                </a:solidFill>
                <a:latin typeface="Microsoft YaHei"/>
              </a:defRPr>
            </a:pPr>
            <a:r>
              <a:t>试验组2：常规化疗/无桥接，后续CAR-T细胞治疗</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严重血细胞减少症（III-IV级）发生率：BisCAR组3.0%，ConCAR组17.8%（p=0.0082）</a:t>
            </a:r>
          </a:p>
          <a:p>
            <a:pPr>
              <a:lnSpc>
                <a:spcPct val="103000"/>
              </a:lnSpc>
              <a:spcAft>
                <a:spcPts val="300"/>
              </a:spcAft>
              <a:defRPr sz="800">
                <a:solidFill>
                  <a:srgbClr val="21242A"/>
                </a:solidFill>
                <a:latin typeface="Microsoft YaHei"/>
              </a:defRPr>
            </a:pPr>
            <a:r>
              <a:t>细胞因子释放综合征（CRS）发生率：BisCAR组71.5%，ConCAR组73%（p=1.0）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人数：112</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试验药/方案：格菲妥单抗、艾可瑞妥单抗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大b细胞淋巴瘤常规治疗与cd3xcd20双特异性抗体桥接t细胞治疗的综合分析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comprehensive analysis of bridging to car t-cell therapy in large b-cell lymp...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严重血细胞减少症（III-IV级）发生率</a:t>
                      </a:r>
                    </a:p>
                  </a:txBody>
                  <a:tcPr>
                    <a:solidFill>
                      <a:srgbClr val="F6F8FB"/>
                    </a:solidFill>
                  </a:tcPr>
                </a:tc>
                <a:tc>
                  <a:txBody>
                    <a:bodyPr wrap="square" lIns="36576" rIns="36576" tIns="18288" bIns="18288"/>
                    <a:lstStyle/>
                    <a:p>
                      <a:r>
                        <a:rPr sz="720" b="0">
                          <a:solidFill>
                            <a:srgbClr val="21242A"/>
                          </a:solidFill>
                          <a:latin typeface="Microsoft YaHei"/>
                        </a:rPr>
                        <a:t>BisCAR组3.0%，ConCAR组17.8%（p=0.0082）</a:t>
                      </a:r>
                    </a:p>
                  </a:txBody>
                  <a:tcPr>
                    <a:solidFill>
                      <a:srgbClr val="F6F8FB"/>
                    </a:solidFill>
                  </a:tcPr>
                </a:tc>
              </a:tr>
              <a:tr h="282321">
                <a:tc>
                  <a:txBody>
                    <a:bodyPr wrap="square" lIns="36576" rIns="36576" tIns="18288" bIns="18288"/>
                    <a:lstStyle/>
                    <a:p>
                      <a:r>
                        <a:rPr sz="720" b="1">
                          <a:solidFill>
                            <a:srgbClr val="21242A"/>
                          </a:solidFill>
                          <a:latin typeface="Microsoft YaHei"/>
                        </a:rPr>
                        <a:t>细胞因子释放综合征（CRS）发生率</a:t>
                      </a:r>
                    </a:p>
                  </a:txBody>
                  <a:tcPr>
                    <a:solidFill>
                      <a:srgbClr val="FFFFFF"/>
                    </a:solidFill>
                  </a:tcPr>
                </a:tc>
                <a:tc>
                  <a:txBody>
                    <a:bodyPr wrap="square" lIns="36576" rIns="36576" tIns="18288" bIns="18288"/>
                    <a:lstStyle/>
                    <a:p>
                      <a:r>
                        <a:rPr sz="720" b="0">
                          <a:solidFill>
                            <a:srgbClr val="21242A"/>
                          </a:solidFill>
                          <a:latin typeface="Microsoft YaHei"/>
                        </a:rPr>
                        <a:t>BisCAR组71.5%，ConCAR组73%（p=1.0）</a:t>
                      </a:r>
                    </a:p>
                  </a:txBody>
                  <a:tcPr>
                    <a:solidFill>
                      <a:srgbClr val="FFFFFF"/>
                    </a:solidFill>
                  </a:tcPr>
                </a:tc>
              </a:tr>
              <a:tr h="282321">
                <a:tc>
                  <a:txBody>
                    <a:bodyPr wrap="square" lIns="36576" rIns="36576" tIns="18288" bIns="18288"/>
                    <a:lstStyle/>
                    <a:p>
                      <a:r>
                        <a:rPr sz="720" b="1">
                          <a:solidFill>
                            <a:srgbClr val="21242A"/>
                          </a:solidFill>
                          <a:latin typeface="Microsoft YaHei"/>
                        </a:rPr>
                        <a:t>免疫效应细胞相关神经毒性综合征（ICANS）发生率</a:t>
                      </a:r>
                    </a:p>
                  </a:txBody>
                  <a:tcPr>
                    <a:solidFill>
                      <a:srgbClr val="F6F8FB"/>
                    </a:solidFill>
                  </a:tcPr>
                </a:tc>
                <a:tc>
                  <a:txBody>
                    <a:bodyPr wrap="square" lIns="36576" rIns="36576" tIns="18288" bIns="18288"/>
                    <a:lstStyle/>
                    <a:p>
                      <a:r>
                        <a:rPr sz="720" b="0">
                          <a:solidFill>
                            <a:srgbClr val="21242A"/>
                          </a:solidFill>
                          <a:latin typeface="Microsoft YaHei"/>
                        </a:rPr>
                        <a:t>BisCAR组26.9%，ConCAR组28.9%（p=0.832）</a:t>
                      </a:r>
                    </a:p>
                  </a:txBody>
                  <a:tcPr>
                    <a:solidFill>
                      <a:srgbClr val="F6F8FB"/>
                    </a:solidFill>
                  </a:tcPr>
                </a:tc>
              </a:tr>
              <a:tr h="282321">
                <a:tc>
                  <a:txBody>
                    <a:bodyPr wrap="square" lIns="36576" rIns="36576" tIns="18288" bIns="18288"/>
                    <a:lstStyle/>
                    <a:p>
                      <a:r>
                        <a:rPr sz="720" b="1">
                          <a:solidFill>
                            <a:srgbClr val="21242A"/>
                          </a:solidFill>
                          <a:latin typeface="Microsoft YaHei"/>
                        </a:rPr>
                        <a:t>治疗相关死亡率</a:t>
                      </a:r>
                    </a:p>
                  </a:txBody>
                  <a:tcPr>
                    <a:solidFill>
                      <a:srgbClr val="FFFFFF"/>
                    </a:solidFill>
                  </a:tcPr>
                </a:tc>
                <a:tc>
                  <a:txBody>
                    <a:bodyPr wrap="square" lIns="36576" rIns="36576" tIns="18288" bIns="18288"/>
                    <a:lstStyle/>
                    <a:p>
                      <a:r>
                        <a:rPr sz="720" b="0">
                          <a:solidFill>
                            <a:srgbClr val="21242A"/>
                          </a:solidFill>
                          <a:latin typeface="Microsoft YaHei"/>
                        </a:rPr>
                        <a:t>BisCAR组3.0%，ConCAR组8.9%</a:t>
                      </a:r>
                    </a:p>
                  </a:txBody>
                  <a:tcPr>
                    <a:solidFill>
                      <a:srgbClr val="FFFFFF"/>
                    </a:solidFill>
                  </a:tcPr>
                </a:tc>
              </a:tr>
              <a:tr h="282321">
                <a:tc>
                  <a:txBody>
                    <a:bodyPr wrap="square" lIns="36576" rIns="36576" tIns="18288" bIns="18288"/>
                    <a:lstStyle/>
                    <a:p>
                      <a:r>
                        <a:rPr sz="720" b="1">
                          <a:solidFill>
                            <a:srgbClr val="21242A"/>
                          </a:solidFill>
                          <a:latin typeface="Microsoft YaHei"/>
                        </a:rPr>
                        <a:t>桥接后总缓解率（ORR）</a:t>
                      </a:r>
                    </a:p>
                  </a:txBody>
                  <a:tcPr>
                    <a:solidFill>
                      <a:srgbClr val="F6F8FB"/>
                    </a:solidFill>
                  </a:tcPr>
                </a:tc>
                <a:tc>
                  <a:txBody>
                    <a:bodyPr wrap="square" lIns="36576" rIns="36576" tIns="18288" bIns="18288"/>
                    <a:lstStyle/>
                    <a:p>
                      <a:r>
                        <a:rPr sz="720" b="0">
                          <a:solidFill>
                            <a:srgbClr val="21242A"/>
                          </a:solidFill>
                          <a:latin typeface="Microsoft YaHei"/>
                        </a:rPr>
                        <a:t>BisCAR组70.1%，ConCAR组61.1%</a:t>
                      </a:r>
                    </a:p>
                  </a:txBody>
                  <a:tcPr>
                    <a:solidFill>
                      <a:srgbClr val="F6F8FB"/>
                    </a:solidFill>
                  </a:tcPr>
                </a:tc>
              </a:tr>
              <a:tr h="282321">
                <a:tc>
                  <a:txBody>
                    <a:bodyPr wrap="square" lIns="36576" rIns="36576" tIns="18288" bIns="18288"/>
                    <a:lstStyle/>
                    <a:p>
                      <a:r>
                        <a:rPr sz="720" b="1">
                          <a:solidFill>
                            <a:srgbClr val="21242A"/>
                          </a:solidFill>
                          <a:latin typeface="Microsoft YaHei"/>
                        </a:rPr>
                        <a:t>CAR-T输注后1个月总缓解率</a:t>
                      </a:r>
                    </a:p>
                  </a:txBody>
                  <a:tcPr>
                    <a:solidFill>
                      <a:srgbClr val="FFFFFF"/>
                    </a:solidFill>
                  </a:tcPr>
                </a:tc>
                <a:tc>
                  <a:txBody>
                    <a:bodyPr wrap="square" lIns="36576" rIns="36576" tIns="18288" bIns="18288"/>
                    <a:lstStyle/>
                    <a:p>
                      <a:r>
                        <a:rPr sz="720" b="0">
                          <a:solidFill>
                            <a:srgbClr val="21242A"/>
                          </a:solidFill>
                          <a:latin typeface="Microsoft YaHei"/>
                        </a:rPr>
                        <a:t>BisCAR组80.6%，ConCAR组72.1%</a:t>
                      </a:r>
                    </a:p>
                  </a:txBody>
                  <a:tcPr>
                    <a:solidFill>
                      <a:srgbClr val="FFFFFF"/>
                    </a:solidFill>
                  </a:tcPr>
                </a:tc>
              </a:tr>
              <a:tr h="282321">
                <a:tc>
                  <a:txBody>
                    <a:bodyPr wrap="square" lIns="36576" rIns="36576" tIns="18288" bIns="18288"/>
                    <a:lstStyle/>
                    <a:p>
                      <a:r>
                        <a:rPr sz="720" b="1">
                          <a:solidFill>
                            <a:srgbClr val="21242A"/>
                          </a:solidFill>
                          <a:latin typeface="Microsoft YaHei"/>
                        </a:rPr>
                        <a:t>CD25 CAR-T细胞平均荧光强度（MFI）</a:t>
                      </a:r>
                    </a:p>
                  </a:txBody>
                  <a:tcPr>
                    <a:solidFill>
                      <a:srgbClr val="F6F8FB"/>
                    </a:solidFill>
                  </a:tcPr>
                </a:tc>
                <a:tc>
                  <a:txBody>
                    <a:bodyPr wrap="square" lIns="36576" rIns="36576" tIns="18288" bIns="18288"/>
                    <a:lstStyle/>
                    <a:p>
                      <a:r>
                        <a:rPr sz="720" b="0">
                          <a:solidFill>
                            <a:srgbClr val="21242A"/>
                          </a:solidFill>
                          <a:latin typeface="Microsoft YaHei"/>
                        </a:rPr>
                        <a:t>BisCAR组高于ConCAR组（p=0.023）</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摘要号：S241</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glofitamab和epcoritamab治疗英国大b细胞淋巴瘤的真实经验：324名患者队列中缓解持续时间和影响反应...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 world experience of glofitamab and epcoritamab for large b cell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N=324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格菲妥单抗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多组/多方案比较：试验组1：glofitamab</a:t>
            </a:r>
          </a:p>
          <a:p>
            <a:pPr>
              <a:lnSpc>
                <a:spcPct val="103000"/>
              </a:lnSpc>
              <a:spcAft>
                <a:spcPts val="300"/>
              </a:spcAft>
              <a:defRPr sz="800">
                <a:solidFill>
                  <a:srgbClr val="21242A"/>
                </a:solidFill>
                <a:latin typeface="Microsoft YaHei"/>
              </a:defRPr>
            </a:pPr>
            <a:r>
              <a:t>试验组2：epcoritamab</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总客观缓解率（ORR）：43%</a:t>
            </a:r>
          </a:p>
          <a:p>
            <a:pPr>
              <a:lnSpc>
                <a:spcPct val="103000"/>
              </a:lnSpc>
              <a:spcAft>
                <a:spcPts val="300"/>
              </a:spcAft>
              <a:defRPr sz="800">
                <a:solidFill>
                  <a:srgbClr val="21242A"/>
                </a:solidFill>
                <a:latin typeface="Microsoft YaHei"/>
              </a:defRPr>
            </a:pPr>
            <a:r>
              <a:t>总完全缓解率（CRR）：24%</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人数：324</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glofitamab和epcoritamab治疗英国大b细胞淋巴瘤的真实经验：324名患者队列中缓解持续时间和影响反应...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 world experience of glofitamab and epcoritamab for large b cell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109/187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2265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22652">
                <a:tc>
                  <a:txBody>
                    <a:bodyPr wrap="square" lIns="36576" rIns="36576" tIns="18288" bIns="18288"/>
                    <a:lstStyle/>
                    <a:p>
                      <a:r>
                        <a:rPr sz="720" b="1">
                          <a:solidFill>
                            <a:srgbClr val="21242A"/>
                          </a:solidFill>
                          <a:latin typeface="Microsoft YaHei"/>
                        </a:rPr>
                        <a:t>总客观缓解率（ORR）</a:t>
                      </a:r>
                    </a:p>
                  </a:txBody>
                  <a:tcPr>
                    <a:solidFill>
                      <a:srgbClr val="F6F8FB"/>
                    </a:solidFill>
                  </a:tcPr>
                </a:tc>
                <a:tc>
                  <a:txBody>
                    <a:bodyPr wrap="square" lIns="36576" rIns="36576" tIns="18288" bIns="18288"/>
                    <a:lstStyle/>
                    <a:p>
                      <a:r>
                        <a:rPr sz="720" b="0">
                          <a:solidFill>
                            <a:srgbClr val="21242A"/>
                          </a:solidFill>
                          <a:latin typeface="Microsoft YaHei"/>
                        </a:rPr>
                        <a:t>43%</a:t>
                      </a:r>
                    </a:p>
                  </a:txBody>
                  <a:tcPr>
                    <a:solidFill>
                      <a:srgbClr val="F6F8FB"/>
                    </a:solidFill>
                  </a:tcPr>
                </a:tc>
              </a:tr>
              <a:tr h="322652">
                <a:tc>
                  <a:txBody>
                    <a:bodyPr wrap="square" lIns="36576" rIns="36576" tIns="18288" bIns="18288"/>
                    <a:lstStyle/>
                    <a:p>
                      <a:r>
                        <a:rPr sz="720" b="1">
                          <a:solidFill>
                            <a:srgbClr val="21242A"/>
                          </a:solidFill>
                          <a:latin typeface="Microsoft YaHei"/>
                        </a:rPr>
                        <a:t>总完全缓解率（CRR）</a:t>
                      </a:r>
                    </a:p>
                  </a:txBody>
                  <a:tcPr>
                    <a:solidFill>
                      <a:srgbClr val="FFFFFF"/>
                    </a:solidFill>
                  </a:tcPr>
                </a:tc>
                <a:tc>
                  <a:txBody>
                    <a:bodyPr wrap="square" lIns="36576" rIns="36576" tIns="18288" bIns="18288"/>
                    <a:lstStyle/>
                    <a:p>
                      <a:r>
                        <a:rPr sz="720" b="0">
                          <a:solidFill>
                            <a:srgbClr val="21242A"/>
                          </a:solidFill>
                          <a:latin typeface="Microsoft YaHei"/>
                        </a:rPr>
                        <a:t>24%</a:t>
                      </a:r>
                    </a:p>
                  </a:txBody>
                  <a:tcPr>
                    <a:solidFill>
                      <a:srgbClr val="FFFFFF"/>
                    </a:solidFill>
                  </a:tcPr>
                </a:tc>
              </a:tr>
              <a:tr h="322652">
                <a:tc>
                  <a:txBody>
                    <a:bodyPr wrap="square" lIns="36576" rIns="36576" tIns="18288" bIns="18288"/>
                    <a:lstStyle/>
                    <a:p>
                      <a:r>
                        <a:rPr sz="720" b="1">
                          <a:solidFill>
                            <a:srgbClr val="21242A"/>
                          </a:solidFill>
                          <a:latin typeface="Microsoft YaHei"/>
                        </a:rPr>
                        <a:t>符合试验入组标准患者的完全缓解率</a:t>
                      </a:r>
                    </a:p>
                  </a:txBody>
                  <a:tcPr>
                    <a:solidFill>
                      <a:srgbClr val="F6F8FB"/>
                    </a:solidFill>
                  </a:tcPr>
                </a:tc>
                <a:tc>
                  <a:txBody>
                    <a:bodyPr wrap="square" lIns="36576" rIns="36576" tIns="18288" bIns="18288"/>
                    <a:lstStyle/>
                    <a:p>
                      <a:r>
                        <a:rPr sz="720" b="0">
                          <a:solidFill>
                            <a:srgbClr val="21242A"/>
                          </a:solidFill>
                          <a:latin typeface="Microsoft YaHei"/>
                        </a:rPr>
                        <a:t>43%</a:t>
                      </a:r>
                    </a:p>
                  </a:txBody>
                  <a:tcPr>
                    <a:solidFill>
                      <a:srgbClr val="F6F8FB"/>
                    </a:solidFill>
                  </a:tcPr>
                </a:tc>
              </a:tr>
              <a:tr h="322652">
                <a:tc>
                  <a:txBody>
                    <a:bodyPr wrap="square" lIns="36576" rIns="36576" tIns="18288" bIns="18288"/>
                    <a:lstStyle/>
                    <a:p>
                      <a:r>
                        <a:rPr sz="720" b="1">
                          <a:solidFill>
                            <a:srgbClr val="21242A"/>
                          </a:solidFill>
                          <a:latin typeface="Microsoft YaHei"/>
                        </a:rPr>
                        <a:t>中位无进展生存期（PFS）</a:t>
                      </a:r>
                    </a:p>
                  </a:txBody>
                  <a:tcPr>
                    <a:solidFill>
                      <a:srgbClr val="FFFFFF"/>
                    </a:solidFill>
                  </a:tcPr>
                </a:tc>
                <a:tc>
                  <a:txBody>
                    <a:bodyPr wrap="square" lIns="36576" rIns="36576" tIns="18288" bIns="18288"/>
                    <a:lstStyle/>
                    <a:p>
                      <a:r>
                        <a:rPr sz="720" b="0">
                          <a:solidFill>
                            <a:srgbClr val="21242A"/>
                          </a:solidFill>
                          <a:latin typeface="Microsoft YaHei"/>
                        </a:rPr>
                        <a:t>3.1个月（95% CI 2.5-4.2）</a:t>
                      </a:r>
                    </a:p>
                  </a:txBody>
                  <a:tcPr>
                    <a:solidFill>
                      <a:srgbClr val="FFFFFF"/>
                    </a:solidFill>
                  </a:tcPr>
                </a:tc>
              </a:tr>
              <a:tr h="322652">
                <a:tc>
                  <a:txBody>
                    <a:bodyPr wrap="square" lIns="36576" rIns="36576" tIns="18288" bIns="18288"/>
                    <a:lstStyle/>
                    <a:p>
                      <a:r>
                        <a:rPr sz="720" b="1">
                          <a:solidFill>
                            <a:srgbClr val="21242A"/>
                          </a:solidFill>
                          <a:latin typeface="Microsoft YaHei"/>
                        </a:rPr>
                        <a:t>中位总生存期（OS）</a:t>
                      </a:r>
                    </a:p>
                  </a:txBody>
                  <a:tcPr>
                    <a:solidFill>
                      <a:srgbClr val="F6F8FB"/>
                    </a:solidFill>
                  </a:tcPr>
                </a:tc>
                <a:tc>
                  <a:txBody>
                    <a:bodyPr wrap="square" lIns="36576" rIns="36576" tIns="18288" bIns="18288"/>
                    <a:lstStyle/>
                    <a:p>
                      <a:r>
                        <a:rPr sz="720" b="0">
                          <a:solidFill>
                            <a:srgbClr val="21242A"/>
                          </a:solidFill>
                          <a:latin typeface="Microsoft YaHei"/>
                        </a:rPr>
                        <a:t>6.9个月（95% CI 4.9-10.8）</a:t>
                      </a:r>
                    </a:p>
                  </a:txBody>
                  <a:tcPr>
                    <a:solidFill>
                      <a:srgbClr val="F6F8FB"/>
                    </a:solidFill>
                  </a:tcPr>
                </a:tc>
              </a:tr>
              <a:tr h="322656">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完全缓解患者中位DoCR随访12个月，1年DoCR为88%（95% CI 76-94）</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摘要号：S240</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b细胞恶性肿瘤从car-t评估到白细胞分离的时间：与输注速率和结果的关系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time from car-t evaluation to leukapheresis in b-cell malignancies: associati...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PS2349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B细胞肿瘤，大B细胞淋巴瘤</a:t>
            </a:r>
          </a:p>
          <a:p>
            <a:pPr>
              <a:lnSpc>
                <a:spcPct val="103000"/>
              </a:lnSpc>
              <a:spcAft>
                <a:spcPts val="300"/>
              </a:spcAft>
              <a:defRPr sz="800">
                <a:solidFill>
                  <a:srgbClr val="21242A"/>
                </a:solidFill>
                <a:latin typeface="Microsoft YaHei"/>
              </a:defRPr>
            </a:pPr>
            <a:r>
              <a:t>N=409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Lisocabtagene maraleucel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白细胞分离率：axi-cel 90.1%（256/284），brexu-cel 92%（46/50），liso-cel 90....</a:t>
            </a:r>
          </a:p>
          <a:p>
            <a:pPr>
              <a:lnSpc>
                <a:spcPct val="103000"/>
              </a:lnSpc>
              <a:spcAft>
                <a:spcPts val="300"/>
              </a:spcAft>
              <a:defRPr sz="800">
                <a:solidFill>
                  <a:srgbClr val="21242A"/>
                </a:solidFill>
                <a:latin typeface="Microsoft YaHei"/>
              </a:defRPr>
            </a:pPr>
            <a:r>
              <a:t>总体约10%未进入白细胞分离</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人数：409</a:t>
            </a:r>
          </a:p>
          <a:p>
            <a:pPr>
              <a:lnSpc>
                <a:spcPct val="103000"/>
              </a:lnSpc>
              <a:spcAft>
                <a:spcPts val="300"/>
              </a:spcAft>
              <a:defRPr sz="810">
                <a:solidFill>
                  <a:srgbClr val="21242A"/>
                </a:solidFill>
                <a:latin typeface="Microsoft YaHei"/>
              </a:defRPr>
            </a:pPr>
            <a:r>
              <a:t>适应症：B细胞肿瘤、大B细胞淋巴瘤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试验药/方案：阿基仑赛、Lisocabtagene maraleucel、Tisagenlecleucel、布瑞基奥仑赛</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b细胞恶性肿瘤从car-t评估到白细胞分离的时间：与输注速率和结果的关系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time from car-t evaluation to leukapheresis in b-cell malignancies: associati...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PS2349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白细胞分离率</a:t>
                      </a:r>
                    </a:p>
                  </a:txBody>
                  <a:tcPr>
                    <a:solidFill>
                      <a:srgbClr val="F6F8FB"/>
                    </a:solidFill>
                  </a:tcPr>
                </a:tc>
                <a:tc>
                  <a:txBody>
                    <a:bodyPr wrap="square" lIns="36576" rIns="36576" tIns="18288" bIns="18288"/>
                    <a:lstStyle/>
                    <a:p>
                      <a:r>
                        <a:rPr sz="720" b="0">
                          <a:solidFill>
                            <a:srgbClr val="21242A"/>
                          </a:solidFill>
                          <a:latin typeface="Microsoft YaHei"/>
                        </a:rPr>
                        <a:t>axi-cel 90.1%（256/284），brexu-cel 92%（46/50），liso-cel 90.2%（55/61），tisa-cel 100%（14/14）</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总体约10%未进入白细胞分离</a:t>
                      </a:r>
                    </a:p>
                  </a:txBody>
                  <a:tcPr>
                    <a:solidFill>
                      <a:srgbClr val="FFFFFF"/>
                    </a:solidFill>
                  </a:tcPr>
                </a:tc>
              </a:tr>
              <a:tr h="282321">
                <a:tc>
                  <a:txBody>
                    <a:bodyPr wrap="square" lIns="36576" rIns="36576" tIns="18288" bIns="18288"/>
                    <a:lstStyle/>
                    <a:p>
                      <a:r>
                        <a:rPr sz="720" b="1">
                          <a:solidFill>
                            <a:srgbClr val="21242A"/>
                          </a:solidFill>
                          <a:latin typeface="Microsoft YaHei"/>
                        </a:rPr>
                        <a:t>白细胞分离中位时间</a:t>
                      </a:r>
                    </a:p>
                  </a:txBody>
                  <a:tcPr>
                    <a:solidFill>
                      <a:srgbClr val="F6F8FB"/>
                    </a:solidFill>
                  </a:tcPr>
                </a:tc>
                <a:tc>
                  <a:txBody>
                    <a:bodyPr wrap="square" lIns="36576" rIns="36576" tIns="18288" bIns="18288"/>
                    <a:lstStyle/>
                    <a:p>
                      <a:r>
                        <a:rPr sz="720" b="0">
                          <a:solidFill>
                            <a:srgbClr val="21242A"/>
                          </a:solidFill>
                          <a:latin typeface="Microsoft YaHei"/>
                        </a:rPr>
                        <a:t>10天（IQR 8）</a:t>
                      </a:r>
                    </a:p>
                  </a:txBody>
                  <a:tcPr>
                    <a:solidFill>
                      <a:srgbClr val="F6F8FB"/>
                    </a:solidFill>
                  </a:tcPr>
                </a:tc>
              </a:tr>
              <a:tr h="282321">
                <a:tc>
                  <a:txBody>
                    <a:bodyPr wrap="square" lIns="36576" rIns="36576" tIns="18288" bIns="18288"/>
                    <a:lstStyle/>
                    <a:p>
                      <a:r>
                        <a:rPr sz="720" b="1">
                          <a:solidFill>
                            <a:srgbClr val="21242A"/>
                          </a:solidFill>
                          <a:latin typeface="Microsoft YaHei"/>
                        </a:rPr>
                        <a:t>输注率</a:t>
                      </a:r>
                    </a:p>
                  </a:txBody>
                  <a:tcPr>
                    <a:solidFill>
                      <a:srgbClr val="FFFFFF"/>
                    </a:solidFill>
                  </a:tcPr>
                </a:tc>
                <a:tc>
                  <a:txBody>
                    <a:bodyPr wrap="square" lIns="36576" rIns="36576" tIns="18288" bIns="18288"/>
                    <a:lstStyle/>
                    <a:p>
                      <a:r>
                        <a:rPr sz="720" b="0">
                          <a:solidFill>
                            <a:srgbClr val="21242A"/>
                          </a:solidFill>
                          <a:latin typeface="Microsoft YaHei"/>
                        </a:rPr>
                        <a:t>2周内白细胞分离者91.5%（p=0.02），3周内白细胞分离者90.7%（p=0.01）</a:t>
                      </a:r>
                    </a:p>
                  </a:txBody>
                  <a:tcPr>
                    <a:solidFill>
                      <a:srgbClr val="FFFFFF"/>
                    </a:solidFill>
                  </a:tcPr>
                </a:tc>
              </a:tr>
              <a:tr h="282321">
                <a:tc>
                  <a:txBody>
                    <a:bodyPr wrap="square" lIns="36576" rIns="36576" tIns="18288" bIns="18288"/>
                    <a:lstStyle/>
                    <a:p>
                      <a:r>
                        <a:rPr sz="720" b="1">
                          <a:solidFill>
                            <a:srgbClr val="21242A"/>
                          </a:solidFill>
                          <a:latin typeface="Microsoft YaHei"/>
                        </a:rPr>
                        <a:t>大B细胞淋巴瘤患者中，接受输注者的完全缓解率（2周截止）</a:t>
                      </a:r>
                    </a:p>
                  </a:txBody>
                  <a:tcPr>
                    <a:solidFill>
                      <a:srgbClr val="F6F8FB"/>
                    </a:solidFill>
                  </a:tcPr>
                </a:tc>
                <a:tc>
                  <a:txBody>
                    <a:bodyPr wrap="square" lIns="36576" rIns="36576" tIns="18288" bIns="18288"/>
                    <a:lstStyle/>
                    <a:p>
                      <a:r>
                        <a:rPr sz="720" b="0">
                          <a:solidFill>
                            <a:srgbClr val="21242A"/>
                          </a:solidFill>
                          <a:latin typeface="Microsoft YaHei"/>
                        </a:rPr>
                        <a:t>66.7% vs 68.8%（p=0.53）</a:t>
                      </a:r>
                    </a:p>
                  </a:txBody>
                  <a:tcPr>
                    <a:solidFill>
                      <a:srgbClr val="F6F8FB"/>
                    </a:solidFill>
                  </a:tcPr>
                </a:tc>
              </a:tr>
              <a:tr h="282321">
                <a:tc>
                  <a:txBody>
                    <a:bodyPr wrap="square" lIns="36576" rIns="36576" tIns="18288" bIns="18288"/>
                    <a:lstStyle/>
                    <a:p>
                      <a:r>
                        <a:rPr sz="720" b="1">
                          <a:solidFill>
                            <a:srgbClr val="21242A"/>
                          </a:solidFill>
                          <a:latin typeface="Microsoft YaHei"/>
                        </a:rPr>
                        <a:t>中位无进展生存期</a:t>
                      </a:r>
                    </a:p>
                  </a:txBody>
                  <a:tcPr>
                    <a:solidFill>
                      <a:srgbClr val="FFFFFF"/>
                    </a:solidFill>
                  </a:tcPr>
                </a:tc>
                <a:tc>
                  <a:txBody>
                    <a:bodyPr wrap="square" lIns="36576" rIns="36576" tIns="18288" bIns="18288"/>
                    <a:lstStyle/>
                    <a:p>
                      <a:r>
                        <a:rPr sz="720" b="0">
                          <a:solidFill>
                            <a:srgbClr val="21242A"/>
                          </a:solidFill>
                          <a:latin typeface="Microsoft YaHei"/>
                        </a:rPr>
                        <a:t>13.0 vs 13.6个月（p=0.94）</a:t>
                      </a:r>
                    </a:p>
                  </a:txBody>
                  <a:tcPr>
                    <a:solidFill>
                      <a:srgbClr val="FFFFFF"/>
                    </a:solidFill>
                  </a:tcPr>
                </a:tc>
              </a:tr>
              <a:tr h="282321">
                <a:tc>
                  <a:txBody>
                    <a:bodyPr wrap="square" lIns="36576" rIns="36576" tIns="18288" bIns="18288"/>
                    <a:lstStyle/>
                    <a:p>
                      <a:r>
                        <a:rPr sz="720" b="1">
                          <a:solidFill>
                            <a:srgbClr val="21242A"/>
                          </a:solidFill>
                          <a:latin typeface="Microsoft YaHei"/>
                        </a:rPr>
                        <a:t>中位总生存期</a:t>
                      </a:r>
                    </a:p>
                  </a:txBody>
                  <a:tcPr>
                    <a:solidFill>
                      <a:srgbClr val="F6F8FB"/>
                    </a:solidFill>
                  </a:tcPr>
                </a:tc>
                <a:tc>
                  <a:txBody>
                    <a:bodyPr wrap="square" lIns="36576" rIns="36576" tIns="18288" bIns="18288"/>
                    <a:lstStyle/>
                    <a:p>
                      <a:r>
                        <a:rPr sz="720" b="0">
                          <a:solidFill>
                            <a:srgbClr val="21242A"/>
                          </a:solidFill>
                          <a:latin typeface="Microsoft YaHei"/>
                        </a:rPr>
                        <a:t>29.4 vs 25.5个月（p=0.69）</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摘要号：PS2349</a:t>
            </a:r>
          </a:p>
          <a:p>
            <a:pPr>
              <a:lnSpc>
                <a:spcPct val="103000"/>
              </a:lnSpc>
              <a:spcAft>
                <a:spcPts val="300"/>
              </a:spcAft>
              <a:defRPr sz="740">
                <a:solidFill>
                  <a:srgbClr val="5E6570"/>
                </a:solidFill>
                <a:latin typeface="Microsoft YaHei"/>
              </a:defRPr>
            </a:pPr>
            <a:r>
              <a:t>会议栏目：26. Gene therapy, cellular immunotherapy and vaccination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b细胞恶性肿瘤从car-t评估到白细胞分离的时间：与输注速率和结果的关系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time from car-t evaluation to leukapheresis in b-cell malignancies: associati...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PS2349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89611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896112">
                <a:tc>
                  <a:txBody>
                    <a:bodyPr wrap="square" lIns="36576" rIns="36576" tIns="18288" bIns="18288"/>
                    <a:lstStyle/>
                    <a:p>
                      <a:r>
                        <a:rPr sz="720" b="1">
                          <a:solidFill>
                            <a:srgbClr val="21242A"/>
                          </a:solidFill>
                          <a:latin typeface="Microsoft YaHei"/>
                        </a:rPr>
                        <a:t>大B细胞淋巴瘤患者中，接受输注者的完全缓解率（3周截止）</a:t>
                      </a:r>
                    </a:p>
                  </a:txBody>
                  <a:tcPr>
                    <a:solidFill>
                      <a:srgbClr val="F6F8FB"/>
                    </a:solidFill>
                  </a:tcPr>
                </a:tc>
                <a:tc>
                  <a:txBody>
                    <a:bodyPr wrap="square" lIns="36576" rIns="36576" tIns="18288" bIns="18288"/>
                    <a:lstStyle/>
                    <a:p>
                      <a:r>
                        <a:rPr sz="720" b="0">
                          <a:solidFill>
                            <a:srgbClr val="21242A"/>
                          </a:solidFill>
                          <a:latin typeface="Microsoft YaHei"/>
                        </a:rPr>
                        <a:t>68.5% vs 63.6%（p=0.31）</a:t>
                      </a:r>
                    </a:p>
                  </a:txBody>
                  <a:tcPr>
                    <a:solidFill>
                      <a:srgbClr val="F6F8FB"/>
                    </a:solidFill>
                  </a:tcPr>
                </a:tc>
              </a:tr>
              <a:tr h="896112">
                <a:tc>
                  <a:txBody>
                    <a:bodyPr wrap="square" lIns="36576" rIns="36576" tIns="18288" bIns="18288"/>
                    <a:lstStyle/>
                    <a:p>
                      <a:r>
                        <a:rPr sz="720" b="1">
                          <a:solidFill>
                            <a:srgbClr val="21242A"/>
                          </a:solidFill>
                          <a:latin typeface="Microsoft YaHei"/>
                        </a:rPr>
                        <a:t>中位无进展生存期</a:t>
                      </a:r>
                    </a:p>
                  </a:txBody>
                  <a:tcPr>
                    <a:solidFill>
                      <a:srgbClr val="FFFFFF"/>
                    </a:solidFill>
                  </a:tcPr>
                </a:tc>
                <a:tc>
                  <a:txBody>
                    <a:bodyPr wrap="square" lIns="36576" rIns="36576" tIns="18288" bIns="18288"/>
                    <a:lstStyle/>
                    <a:p>
                      <a:r>
                        <a:rPr sz="720" b="0">
                          <a:solidFill>
                            <a:srgbClr val="21242A"/>
                          </a:solidFill>
                          <a:latin typeface="Microsoft YaHei"/>
                        </a:rPr>
                        <a:t>15.1 vs 13.6个月（p=0.78）</a:t>
                      </a:r>
                    </a:p>
                  </a:txBody>
                  <a:tcPr>
                    <a:solidFill>
                      <a:srgbClr val="FFFFFF"/>
                    </a:solidFill>
                  </a:tcPr>
                </a:tc>
              </a:tr>
              <a:tr h="896112">
                <a:tc>
                  <a:txBody>
                    <a:bodyPr wrap="square" lIns="36576" rIns="36576" tIns="18288" bIns="18288"/>
                    <a:lstStyle/>
                    <a:p>
                      <a:r>
                        <a:rPr sz="720" b="1">
                          <a:solidFill>
                            <a:srgbClr val="21242A"/>
                          </a:solidFill>
                          <a:latin typeface="Microsoft YaHei"/>
                        </a:rPr>
                        <a:t>中位总生存期</a:t>
                      </a:r>
                    </a:p>
                  </a:txBody>
                  <a:tcPr>
                    <a:solidFill>
                      <a:srgbClr val="F6F8FB"/>
                    </a:solidFill>
                  </a:tcPr>
                </a:tc>
                <a:tc>
                  <a:txBody>
                    <a:bodyPr wrap="square" lIns="36576" rIns="36576" tIns="18288" bIns="18288"/>
                    <a:lstStyle/>
                    <a:p>
                      <a:r>
                        <a:rPr sz="720" b="0">
                          <a:solidFill>
                            <a:srgbClr val="21242A"/>
                          </a:solidFill>
                          <a:latin typeface="Microsoft YaHei"/>
                        </a:rPr>
                        <a:t>29.0 vs 16.0个月（p=0.47）</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起始材料和car t产物的配对单细胞分析确定了与dlbcl临床反应相关的cd8+temra衰老程序</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paired single-cell analysis of starting material and car t product identifies...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PS2338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7581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9331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分组：GEP组(良好扩增和预后)：CD19/22 CAR T</a:t>
            </a:r>
          </a:p>
          <a:p>
            <a:pPr>
              <a:lnSpc>
                <a:spcPct val="103000"/>
              </a:lnSpc>
              <a:spcAft>
                <a:spcPts val="300"/>
              </a:spcAft>
              <a:defRPr sz="800">
                <a:solidFill>
                  <a:srgbClr val="21242A"/>
                </a:solidFill>
                <a:latin typeface="Microsoft YaHei"/>
              </a:defRPr>
            </a:pPr>
            <a:r>
              <a:t>PEP组(不良扩增和预后)：CD19/22 CAR T</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多组/多方案比较：GEP组(良好扩增和预后)：CD19/22 CAR T</a:t>
            </a:r>
          </a:p>
          <a:p>
            <a:pPr>
              <a:lnSpc>
                <a:spcPct val="103000"/>
              </a:lnSpc>
              <a:spcAft>
                <a:spcPts val="300"/>
              </a:spcAft>
              <a:defRPr sz="800">
                <a:solidFill>
                  <a:srgbClr val="21242A"/>
                </a:solidFill>
                <a:latin typeface="Microsoft YaHei"/>
              </a:defRPr>
            </a:pPr>
            <a:r>
              <a:t>PEP组(不良扩增和预后)：CD19/22 CAR T</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6个月时完全缓解(CR)患者数：23例</a:t>
            </a:r>
          </a:p>
          <a:p>
            <a:pPr>
              <a:lnSpc>
                <a:spcPct val="103000"/>
              </a:lnSpc>
              <a:spcAft>
                <a:spcPts val="300"/>
              </a:spcAft>
              <a:defRPr sz="800">
                <a:solidFill>
                  <a:srgbClr val="21242A"/>
                </a:solidFill>
                <a:latin typeface="Microsoft YaHei"/>
              </a:defRPr>
            </a:pPr>
            <a:r>
              <a:t>6个月时部分缓解(PR)患者数：8例</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人数：47</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分组/治疗流程：GEP组(良好扩增和预后)：CD19/22 CAR T、PEP组(不良扩增和预后)：CD19/22 CAR T</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起始材料和car t产物的配对单细胞分析确定了与dlbcl临床反应相关的cd8+temra衰老程序</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paired single-cell analysis of starting material and car t product identifies...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PS2338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7581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9331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451713">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451713">
                <a:tc>
                  <a:txBody>
                    <a:bodyPr wrap="square" lIns="36576" rIns="36576" tIns="18288" bIns="18288"/>
                    <a:lstStyle/>
                    <a:p>
                      <a:r>
                        <a:rPr sz="720" b="1">
                          <a:solidFill>
                            <a:srgbClr val="21242A"/>
                          </a:solidFill>
                          <a:latin typeface="Microsoft YaHei"/>
                        </a:rPr>
                        <a:t>6个月时完全缓解(CR)患者数</a:t>
                      </a:r>
                    </a:p>
                  </a:txBody>
                  <a:tcPr>
                    <a:solidFill>
                      <a:srgbClr val="F6F8FB"/>
                    </a:solidFill>
                  </a:tcPr>
                </a:tc>
                <a:tc>
                  <a:txBody>
                    <a:bodyPr wrap="square" lIns="36576" rIns="36576" tIns="18288" bIns="18288"/>
                    <a:lstStyle/>
                    <a:p>
                      <a:r>
                        <a:rPr sz="720" b="0">
                          <a:solidFill>
                            <a:srgbClr val="21242A"/>
                          </a:solidFill>
                          <a:latin typeface="Microsoft YaHei"/>
                        </a:rPr>
                        <a:t>23例</a:t>
                      </a:r>
                    </a:p>
                  </a:txBody>
                  <a:tcPr>
                    <a:solidFill>
                      <a:srgbClr val="F6F8FB"/>
                    </a:solidFill>
                  </a:tcPr>
                </a:tc>
              </a:tr>
              <a:tr h="451713">
                <a:tc>
                  <a:txBody>
                    <a:bodyPr wrap="square" lIns="36576" rIns="36576" tIns="18288" bIns="18288"/>
                    <a:lstStyle/>
                    <a:p>
                      <a:r>
                        <a:rPr sz="720" b="1">
                          <a:solidFill>
                            <a:srgbClr val="21242A"/>
                          </a:solidFill>
                          <a:latin typeface="Microsoft YaHei"/>
                        </a:rPr>
                        <a:t>6个月时部分缓解(PR)患者数</a:t>
                      </a:r>
                    </a:p>
                  </a:txBody>
                  <a:tcPr>
                    <a:solidFill>
                      <a:srgbClr val="FFFFFF"/>
                    </a:solidFill>
                  </a:tcPr>
                </a:tc>
                <a:tc>
                  <a:txBody>
                    <a:bodyPr wrap="square" lIns="36576" rIns="36576" tIns="18288" bIns="18288"/>
                    <a:lstStyle/>
                    <a:p>
                      <a:r>
                        <a:rPr sz="720" b="0">
                          <a:solidFill>
                            <a:srgbClr val="21242A"/>
                          </a:solidFill>
                          <a:latin typeface="Microsoft YaHei"/>
                        </a:rPr>
                        <a:t>8例</a:t>
                      </a:r>
                    </a:p>
                  </a:txBody>
                  <a:tcPr>
                    <a:solidFill>
                      <a:srgbClr val="FFFFFF"/>
                    </a:solidFill>
                  </a:tcPr>
                </a:tc>
              </a:tr>
              <a:tr h="451713">
                <a:tc>
                  <a:txBody>
                    <a:bodyPr wrap="square" lIns="36576" rIns="36576" tIns="18288" bIns="18288"/>
                    <a:lstStyle/>
                    <a:p>
                      <a:r>
                        <a:rPr sz="720" b="1">
                          <a:solidFill>
                            <a:srgbClr val="21242A"/>
                          </a:solidFill>
                          <a:latin typeface="Microsoft YaHei"/>
                        </a:rPr>
                        <a:t>6个月时疾病进展(PD)患者数</a:t>
                      </a:r>
                    </a:p>
                  </a:txBody>
                  <a:tcPr>
                    <a:solidFill>
                      <a:srgbClr val="F6F8FB"/>
                    </a:solidFill>
                  </a:tcPr>
                </a:tc>
                <a:tc>
                  <a:txBody>
                    <a:bodyPr wrap="square" lIns="36576" rIns="36576" tIns="18288" bIns="18288"/>
                    <a:lstStyle/>
                    <a:p>
                      <a:r>
                        <a:rPr sz="720" b="0">
                          <a:solidFill>
                            <a:srgbClr val="21242A"/>
                          </a:solidFill>
                          <a:latin typeface="Microsoft YaHei"/>
                        </a:rPr>
                        <a:t>16例</a:t>
                      </a:r>
                    </a:p>
                  </a:txBody>
                  <a:tcPr>
                    <a:solidFill>
                      <a:srgbClr val="F6F8FB"/>
                    </a:solidFill>
                  </a:tcPr>
                </a:tc>
              </a:tr>
              <a:tr h="451716">
                <a:tc>
                  <a:txBody>
                    <a:bodyPr wrap="square" lIns="36576" rIns="36576" tIns="18288" bIns="18288"/>
                    <a:lstStyle/>
                    <a:p>
                      <a:r>
                        <a:rPr sz="720" b="1">
                          <a:solidFill>
                            <a:srgbClr val="21242A"/>
                          </a:solidFill>
                          <a:latin typeface="Microsoft YaHei"/>
                        </a:rPr>
                        <a:t>CD8+ TEMRA衰老程序与反应相关</a:t>
                      </a:r>
                    </a:p>
                  </a:txBody>
                  <a:tcPr>
                    <a:solidFill>
                      <a:srgbClr val="FFFFFF"/>
                    </a:solidFill>
                  </a:tcPr>
                </a:tc>
                <a:tc>
                  <a:txBody>
                    <a:bodyPr wrap="square" lIns="36576" rIns="36576" tIns="18288" bIns="18288"/>
                    <a:lstStyle/>
                    <a:p>
                      <a:r>
                        <a:rPr sz="720" b="0">
                          <a:solidFill>
                            <a:srgbClr val="21242A"/>
                          </a:solidFill>
                          <a:latin typeface="Microsoft YaHei"/>
                        </a:rPr>
                        <a:t>PEP组CD8+ TEMRA富集衰老程序，GEP组CD8+ T细胞富集增殖程序</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摘要号：PS2338</a:t>
            </a:r>
          </a:p>
          <a:p>
            <a:pPr>
              <a:lnSpc>
                <a:spcPct val="103000"/>
              </a:lnSpc>
              <a:spcAft>
                <a:spcPts val="300"/>
              </a:spcAft>
              <a:defRPr sz="740">
                <a:solidFill>
                  <a:srgbClr val="5E6570"/>
                </a:solidFill>
                <a:latin typeface="Microsoft YaHei"/>
              </a:defRPr>
            </a:pPr>
            <a:r>
              <a:t>会议栏目：26. Gene therapy, cellular immunotherapy and vaccination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car-t细胞治疗前后ctdna的纵向动态及其对大b细胞淋巴瘤治疗效果的影响。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longitudinal ctdna dynamics around car-t cell therapy and their impact on tre...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PS2168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7581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9331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N=127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回顾性临床研究结果：longitudinal ctdna dynamics around car-t cell therapy...</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中位无进展生存期（PFS）：10.1个月（95% CI 8.5–NR）</a:t>
            </a:r>
          </a:p>
          <a:p>
            <a:pPr>
              <a:lnSpc>
                <a:spcPct val="103000"/>
              </a:lnSpc>
              <a:spcAft>
                <a:spcPts val="300"/>
              </a:spcAft>
              <a:defRPr sz="800">
                <a:solidFill>
                  <a:srgbClr val="21242A"/>
                </a:solidFill>
                <a:latin typeface="Microsoft YaHei"/>
              </a:defRPr>
            </a:pPr>
            <a:r>
              <a:t>早期复发（3个月内）发生率：41.7%（53/127）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人数：127</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研究主题：longitudinal ctdna dynamics around car-t cell therapy and their impact on treatment efficacy in large b-cell lymphoma.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car-t细胞治疗前后ctdna的纵向动态及其对大b细胞淋巴瘤治疗效果的影响。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longitudinal ctdna dynamics around car-t cell therapy and their impact on tre...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PS2168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8503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转化/标志物</a:t>
            </a:r>
          </a:p>
        </p:txBody>
      </p:sp>
      <p:sp>
        <p:nvSpPr>
          <p:cNvPr id="8" name="TextBox 7"/>
          <p:cNvSpPr txBox="1"/>
          <p:nvPr/>
        </p:nvSpPr>
        <p:spPr>
          <a:xfrm>
            <a:off x="25054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7581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9331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中位无进展生存期（PFS）</a:t>
                      </a:r>
                    </a:p>
                  </a:txBody>
                  <a:tcPr>
                    <a:solidFill>
                      <a:srgbClr val="F6F8FB"/>
                    </a:solidFill>
                  </a:tcPr>
                </a:tc>
                <a:tc>
                  <a:txBody>
                    <a:bodyPr wrap="square" lIns="36576" rIns="36576" tIns="18288" bIns="18288"/>
                    <a:lstStyle/>
                    <a:p>
                      <a:r>
                        <a:rPr sz="720" b="0">
                          <a:solidFill>
                            <a:srgbClr val="21242A"/>
                          </a:solidFill>
                          <a:latin typeface="Microsoft YaHei"/>
                        </a:rPr>
                        <a:t>10.1个月（95% CI 8.5–NR）</a:t>
                      </a:r>
                    </a:p>
                  </a:txBody>
                  <a:tcPr>
                    <a:solidFill>
                      <a:srgbClr val="F6F8FB"/>
                    </a:solidFill>
                  </a:tcPr>
                </a:tc>
              </a:tr>
              <a:tr h="376428">
                <a:tc>
                  <a:txBody>
                    <a:bodyPr wrap="square" lIns="36576" rIns="36576" tIns="18288" bIns="18288"/>
                    <a:lstStyle/>
                    <a:p>
                      <a:r>
                        <a:rPr sz="720" b="1">
                          <a:solidFill>
                            <a:srgbClr val="21242A"/>
                          </a:solidFill>
                          <a:latin typeface="Microsoft YaHei"/>
                        </a:rPr>
                        <a:t>早期复发（3个月内）发生率</a:t>
                      </a:r>
                    </a:p>
                  </a:txBody>
                  <a:tcPr>
                    <a:solidFill>
                      <a:srgbClr val="FFFFFF"/>
                    </a:solidFill>
                  </a:tcPr>
                </a:tc>
                <a:tc>
                  <a:txBody>
                    <a:bodyPr wrap="square" lIns="36576" rIns="36576" tIns="18288" bIns="18288"/>
                    <a:lstStyle/>
                    <a:p>
                      <a:r>
                        <a:rPr sz="720" b="0">
                          <a:solidFill>
                            <a:srgbClr val="21242A"/>
                          </a:solidFill>
                          <a:latin typeface="Microsoft YaHei"/>
                        </a:rPr>
                        <a:t>41.7%（53/127）</a:t>
                      </a:r>
                    </a:p>
                  </a:txBody>
                  <a:tcPr>
                    <a:solidFill>
                      <a:srgbClr val="FFFFFF"/>
                    </a:solidFill>
                  </a:tcPr>
                </a:tc>
              </a:tr>
              <a:tr h="376428">
                <a:tc>
                  <a:txBody>
                    <a:bodyPr wrap="square" lIns="36576" rIns="36576" tIns="18288" bIns="18288"/>
                    <a:lstStyle/>
                    <a:p>
                      <a:r>
                        <a:rPr sz="720" b="1">
                          <a:solidFill>
                            <a:srgbClr val="21242A"/>
                          </a:solidFill>
                          <a:latin typeface="Microsoft YaHei"/>
                        </a:rPr>
                        <a:t>早期复发相关因素</a:t>
                      </a:r>
                    </a:p>
                  </a:txBody>
                  <a:tcPr>
                    <a:solidFill>
                      <a:srgbClr val="F6F8FB"/>
                    </a:solidFill>
                  </a:tcPr>
                </a:tc>
                <a:tc>
                  <a:txBody>
                    <a:bodyPr wrap="square" lIns="36576" rIns="36576" tIns="18288" bIns="18288"/>
                    <a:lstStyle/>
                    <a:p>
                      <a:r>
                        <a:rPr sz="720" b="0">
                          <a:solidFill>
                            <a:srgbClr val="21242A"/>
                          </a:solidFill>
                          <a:latin typeface="Microsoft YaHei"/>
                        </a:rPr>
                        <a:t>LDH、铁蛋白、CRP升高，BTG1、IGLL5、HIST1H1C/HIST1H1E、FOXO1、CD58变异，≥2个TP53变异</a:t>
                      </a:r>
                    </a:p>
                  </a:txBody>
                  <a:tcPr>
                    <a:solidFill>
                      <a:srgbClr val="F6F8FB"/>
                    </a:solidFill>
                  </a:tcPr>
                </a:tc>
              </a:tr>
              <a:tr h="376428">
                <a:tc>
                  <a:txBody>
                    <a:bodyPr wrap="square" lIns="36576" rIns="36576" tIns="18288" bIns="18288"/>
                    <a:lstStyle/>
                    <a:p>
                      <a:r>
                        <a:rPr sz="720" b="1">
                          <a:solidFill>
                            <a:srgbClr val="21242A"/>
                          </a:solidFill>
                          <a:latin typeface="Microsoft YaHei"/>
                        </a:rPr>
                        <a:t>ctDNA VAF</a:t>
                      </a:r>
                    </a:p>
                  </a:txBody>
                  <a:tcPr>
                    <a:solidFill>
                      <a:srgbClr val="FFFFFF"/>
                    </a:solidFill>
                  </a:tcPr>
                </a:tc>
                <a:tc>
                  <a:txBody>
                    <a:bodyPr wrap="square" lIns="36576" rIns="36576" tIns="18288" bIns="18288"/>
                    <a:lstStyle/>
                    <a:p>
                      <a:r>
                        <a:rPr sz="720" b="0">
                          <a:solidFill>
                            <a:srgbClr val="21242A"/>
                          </a:solidFill>
                          <a:latin typeface="Microsoft YaHei"/>
                        </a:rPr>
                        <a:t>PA组&gt;8%、PI组&gt;2%与早期复发相关</a:t>
                      </a:r>
                    </a:p>
                  </a:txBody>
                  <a:tcPr>
                    <a:solidFill>
                      <a:srgbClr val="FFFFFF"/>
                    </a:solidFill>
                  </a:tcPr>
                </a:tc>
              </a:tr>
              <a:tr h="37642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PI新变异和PA-to-PI克隆VAF变化与PFS缩短相关</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摘要号：PS2168</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抗生素暴露和左氧氟沙星预防对大b细胞淋巴瘤术后预后的影响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effects of antibiotic-exposure and levofloxacin-prophylaxis on outcomes after...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N=124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Tisagenlecleucel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多组/多方案比较：根据治疗前30天内抗生素暴露分组：抗生素暴露组（AB-exposed pre-CART，n=77）</a:t>
            </a:r>
          </a:p>
          <a:p>
            <a:pPr>
              <a:lnSpc>
                <a:spcPct val="103000"/>
              </a:lnSpc>
              <a:spcAft>
                <a:spcPts val="300"/>
              </a:spcAft>
              <a:defRPr sz="800">
                <a:solidFill>
                  <a:srgbClr val="21242A"/>
                </a:solidFill>
                <a:latin typeface="Microsoft YaHei"/>
              </a:defRPr>
            </a:pPr>
            <a:r>
              <a:t>抗生素未暴露组（AB-naïve pre-CART，n=47）</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中位无进展生存期（mPFS）为12.0个月</a:t>
            </a:r>
          </a:p>
          <a:p>
            <a:pPr>
              <a:lnSpc>
                <a:spcPct val="103000"/>
              </a:lnSpc>
              <a:spcAft>
                <a:spcPts val="300"/>
              </a:spcAft>
              <a:defRPr sz="800">
                <a:solidFill>
                  <a:srgbClr val="21242A"/>
                </a:solidFill>
                <a:latin typeface="Microsoft YaHei"/>
              </a:defRPr>
            </a:pPr>
            <a:r>
              <a:t>中位总生存期（mOS）未达到</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人数：124</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试验药/方案：阿基仑赛、Tisagenlecleucel</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抗生素暴露和左氧氟沙星预防对大b细胞淋巴瘤术后预后的影响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effects of antibiotic-exposure and levofloxacin-prophylaxis on outcomes after...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2265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22652">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中位无进展生存期（mPFS）为12.0个月</a:t>
                      </a:r>
                    </a:p>
                  </a:txBody>
                  <a:tcPr>
                    <a:solidFill>
                      <a:srgbClr val="F6F8FB"/>
                    </a:solidFill>
                  </a:tcPr>
                </a:tc>
              </a:tr>
              <a:tr h="322652">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中位总生存期（mOS）未达到</a:t>
                      </a:r>
                    </a:p>
                  </a:txBody>
                  <a:tcPr>
                    <a:solidFill>
                      <a:srgbClr val="FFFFFF"/>
                    </a:solidFill>
                  </a:tcPr>
                </a:tc>
              </a:tr>
              <a:tr h="322652">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抗生素暴露组中位OS为35.0个月，抗生素未暴露组未达到（p=0.003）</a:t>
                      </a:r>
                    </a:p>
                  </a:txBody>
                  <a:tcPr>
                    <a:solidFill>
                      <a:srgbClr val="F6F8FB"/>
                    </a:solidFill>
                  </a:tcPr>
                </a:tc>
              </a:tr>
              <a:tr h="322652">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抗生素暴露组神经毒性（NT）发生率为50.0%，抗生素未暴露组为20.4%（p=0.010）</a:t>
                      </a:r>
                    </a:p>
                  </a:txBody>
                  <a:tcPr>
                    <a:solidFill>
                      <a:srgbClr val="FFFFFF"/>
                    </a:solidFill>
                  </a:tcPr>
                </a:tc>
              </a:tr>
              <a:tr h="322652">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左氧氟沙星预防对生存和毒性无显著影响</a:t>
                      </a:r>
                    </a:p>
                  </a:txBody>
                  <a:tcPr>
                    <a:solidFill>
                      <a:srgbClr val="F6F8FB"/>
                    </a:solidFill>
                  </a:tcPr>
                </a:tc>
              </a:tr>
              <a:tr h="322656">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感染率在左氧氟沙星预防组和无预防组相似</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摘要号：PS2119</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接受axicabtagene ciloleucel治疗弥漫性大b细胞淋巴瘤患者持续性crs的早期西妥昔单抗抢救：一项现...</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early siltuximab rescue for persistent crs in patients with diffuse large b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N=87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试验药/方案：司妥昔单抗</a:t>
            </a:r>
          </a:p>
          <a:p>
            <a:pPr>
              <a:lnSpc>
                <a:spcPct val="103000"/>
              </a:lnSpc>
              <a:spcAft>
                <a:spcPts val="300"/>
              </a:spcAft>
              <a:defRPr sz="800">
                <a:solidFill>
                  <a:srgbClr val="21242A"/>
                </a:solidFill>
                <a:latin typeface="Microsoft YaHei"/>
              </a:defRPr>
            </a:pPr>
            <a:r>
              <a:t>靶点：IL6</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对照/比较：司妥昔单抗组：司妥昔单抗联合地塞米松（在持续性CRS时给予至多2剂11mg/kg司妥昔单抗）||对照组：后续剂量托...</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CRS等级：司妥昔单抗组1级84.6%，2级15.4%，3级0%，4级0%</a:t>
            </a:r>
          </a:p>
          <a:p>
            <a:pPr>
              <a:lnSpc>
                <a:spcPct val="103000"/>
              </a:lnSpc>
              <a:spcAft>
                <a:spcPts val="300"/>
              </a:spcAft>
              <a:defRPr sz="800">
                <a:solidFill>
                  <a:srgbClr val="21242A"/>
                </a:solidFill>
                <a:latin typeface="Microsoft YaHei"/>
              </a:defRPr>
            </a:pPr>
            <a:r>
              <a:t>对照组1级59.0%，2级31.1%，3级8.2%，4级1.6%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人数：87</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试验药/方案：司妥昔单抗</a:t>
            </a:r>
          </a:p>
          <a:p>
            <a:pPr>
              <a:lnSpc>
                <a:spcPct val="103000"/>
              </a:lnSpc>
              <a:spcAft>
                <a:spcPts val="300"/>
              </a:spcAft>
              <a:defRPr sz="810">
                <a:solidFill>
                  <a:srgbClr val="21242A"/>
                </a:solidFill>
                <a:latin typeface="Microsoft YaHei"/>
              </a:defRPr>
            </a:pPr>
            <a:r>
              <a:t>靶点：IL6</a:t>
            </a:r>
          </a:p>
          <a:p>
            <a:pPr>
              <a:lnSpc>
                <a:spcPct val="103000"/>
              </a:lnSpc>
              <a:spcAft>
                <a:spcPts val="300"/>
              </a:spcAft>
              <a:defRPr sz="810">
                <a:solidFill>
                  <a:srgbClr val="21242A"/>
                </a:solidFill>
                <a:latin typeface="Microsoft YaHei"/>
              </a:defRPr>
            </a:pPr>
            <a:r>
              <a:t>药物/技术类别：单特异性抗体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接受axicabtagene ciloleucel治疗弥漫性大b细胞淋巴瘤患者持续性crs的早期西妥昔单抗抢救：一项现...</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early siltuximab rescue for persistent crs in patients with diffuse large b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CRS等级：司妥昔单抗组1级84.6%，2级15.4%，3级0%，4级0%；对照组1级59.0%，2级31.1%，3级8.2%，4级1.6%；≥2级CRS发生率：司妥昔单抗组15.4%，对照组41.0%（p=0.026）||ICANS发</a:t>
            </a:r>
          </a:p>
          <a:p>
            <a:pPr>
              <a:lnSpc>
                <a:spcPct val="103000"/>
              </a:lnSpc>
              <a:spcAft>
                <a:spcPts val="300"/>
              </a:spcAft>
              <a:defRPr sz="819">
                <a:solidFill>
                  <a:srgbClr val="21242A"/>
                </a:solidFill>
                <a:latin typeface="Microsoft YaHei"/>
              </a:defRPr>
            </a:pPr>
            <a:r>
              <a:t>生率：司妥昔单抗组26.9%，对照组45.9%（p=0.151）||严重ICANS（≥2级）：司妥昔单抗组3.8%，对照组27.9%（OR=9.66，p=0.010）||住院时间中位数：司妥昔单抗组14天（IQR 13-15），对照组1</a:t>
            </a:r>
          </a:p>
          <a:p>
            <a:pPr>
              <a:lnSpc>
                <a:spcPct val="103000"/>
              </a:lnSpc>
              <a:spcAft>
                <a:spcPts val="300"/>
              </a:spcAft>
              <a:defRPr sz="819">
                <a:solidFill>
                  <a:srgbClr val="21242A"/>
                </a:solidFill>
                <a:latin typeface="Microsoft YaHei"/>
              </a:defRPr>
            </a:pPr>
            <a:r>
              <a:t>8天（IQR 15-25）（p=0.0002）||ICU入住率：司妥昔单抗组3.8%，对照组27.9%（p=0.010）||CMV再激活：司妥昔单抗组32.0%，对照组45.9%（p=0.336）||细胞减少症：司妥昔单抗组57.7%，</a:t>
            </a:r>
          </a:p>
          <a:p>
            <a:pPr>
              <a:lnSpc>
                <a:spcPct val="103000"/>
              </a:lnSpc>
              <a:spcAft>
                <a:spcPts val="300"/>
              </a:spcAft>
              <a:defRPr sz="819">
                <a:solidFill>
                  <a:srgbClr val="21242A"/>
                </a:solidFill>
                <a:latin typeface="Microsoft YaHei"/>
              </a:defRPr>
            </a:pPr>
            <a:r>
              <a:t>对照组45.9%（p=0.355）||3级感染：司妥昔单抗组7.7%，对照组18.0%（p=0.328）</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摘要号：PS2114</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复发/难治性大b细胞淋巴瘤的发病率和预后以及基于人群的新型t细胞封端疗法的实施</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incidence and outcome of relapsed/refractory large b-cell lymphoma and implem...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N=2259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回顾性临床研究结果：incidence and outcome of relapsed/refractory large 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2年总生存率：78%（95% CI 76-80）</a:t>
            </a:r>
          </a:p>
          <a:p>
            <a:pPr>
              <a:lnSpc>
                <a:spcPct val="103000"/>
              </a:lnSpc>
              <a:spcAft>
                <a:spcPts val="300"/>
              </a:spcAft>
              <a:defRPr sz="800">
                <a:solidFill>
                  <a:srgbClr val="21242A"/>
                </a:solidFill>
                <a:latin typeface="Microsoft YaHei"/>
              </a:defRPr>
            </a:pPr>
            <a:r>
              <a:t>2年无进展生存率：69%（95% CI 67-71）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人数：2259</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研究主题：incidence and outcome of relapsed/refractory large b-cell lymphoma and implementation of novel t-cell-engaging therapie...</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复发/难治性大b细胞淋巴瘤的发病率和预后以及基于人群的新型t细胞封端疗法的实施</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incidence and outcome of relapsed/refractory large b-cell lymphoma and implem...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2265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22652">
                <a:tc>
                  <a:txBody>
                    <a:bodyPr wrap="square" lIns="36576" rIns="36576" tIns="18288" bIns="18288"/>
                    <a:lstStyle/>
                    <a:p>
                      <a:r>
                        <a:rPr sz="720" b="1">
                          <a:solidFill>
                            <a:srgbClr val="21242A"/>
                          </a:solidFill>
                          <a:latin typeface="Microsoft YaHei"/>
                        </a:rPr>
                        <a:t>2年总生存率</a:t>
                      </a:r>
                    </a:p>
                  </a:txBody>
                  <a:tcPr>
                    <a:solidFill>
                      <a:srgbClr val="F6F8FB"/>
                    </a:solidFill>
                  </a:tcPr>
                </a:tc>
                <a:tc>
                  <a:txBody>
                    <a:bodyPr wrap="square" lIns="36576" rIns="36576" tIns="18288" bIns="18288"/>
                    <a:lstStyle/>
                    <a:p>
                      <a:r>
                        <a:rPr sz="720" b="0">
                          <a:solidFill>
                            <a:srgbClr val="21242A"/>
                          </a:solidFill>
                          <a:latin typeface="Microsoft YaHei"/>
                        </a:rPr>
                        <a:t>78%（95% CI 76-80）</a:t>
                      </a:r>
                    </a:p>
                  </a:txBody>
                  <a:tcPr>
                    <a:solidFill>
                      <a:srgbClr val="F6F8FB"/>
                    </a:solidFill>
                  </a:tcPr>
                </a:tc>
              </a:tr>
              <a:tr h="322652">
                <a:tc>
                  <a:txBody>
                    <a:bodyPr wrap="square" lIns="36576" rIns="36576" tIns="18288" bIns="18288"/>
                    <a:lstStyle/>
                    <a:p>
                      <a:r>
                        <a:rPr sz="720" b="1">
                          <a:solidFill>
                            <a:srgbClr val="21242A"/>
                          </a:solidFill>
                          <a:latin typeface="Microsoft YaHei"/>
                        </a:rPr>
                        <a:t>2年无进展生存率</a:t>
                      </a:r>
                    </a:p>
                  </a:txBody>
                  <a:tcPr>
                    <a:solidFill>
                      <a:srgbClr val="FFFFFF"/>
                    </a:solidFill>
                  </a:tcPr>
                </a:tc>
                <a:tc>
                  <a:txBody>
                    <a:bodyPr wrap="square" lIns="36576" rIns="36576" tIns="18288" bIns="18288"/>
                    <a:lstStyle/>
                    <a:p>
                      <a:r>
                        <a:rPr sz="720" b="0">
                          <a:solidFill>
                            <a:srgbClr val="21242A"/>
                          </a:solidFill>
                          <a:latin typeface="Microsoft YaHei"/>
                        </a:rPr>
                        <a:t>69%（95% CI 67-71）</a:t>
                      </a:r>
                    </a:p>
                  </a:txBody>
                  <a:tcPr>
                    <a:solidFill>
                      <a:srgbClr val="FFFFFF"/>
                    </a:solidFill>
                  </a:tcPr>
                </a:tc>
              </a:tr>
              <a:tr h="322652">
                <a:tc>
                  <a:txBody>
                    <a:bodyPr wrap="square" lIns="36576" rIns="36576" tIns="18288" bIns="18288"/>
                    <a:lstStyle/>
                    <a:p>
                      <a:r>
                        <a:rPr sz="720" b="1">
                          <a:solidFill>
                            <a:srgbClr val="21242A"/>
                          </a:solidFill>
                          <a:latin typeface="Microsoft YaHei"/>
                        </a:rPr>
                        <a:t>复发/难治疾病5年累积发病率</a:t>
                      </a:r>
                    </a:p>
                  </a:txBody>
                  <a:tcPr>
                    <a:solidFill>
                      <a:srgbClr val="F6F8FB"/>
                    </a:solidFill>
                  </a:tcPr>
                </a:tc>
                <a:tc>
                  <a:txBody>
                    <a:bodyPr wrap="square" lIns="36576" rIns="36576" tIns="18288" bIns="18288"/>
                    <a:lstStyle/>
                    <a:p>
                      <a:r>
                        <a:rPr sz="720" b="0">
                          <a:solidFill>
                            <a:srgbClr val="21242A"/>
                          </a:solidFill>
                          <a:latin typeface="Microsoft YaHei"/>
                        </a:rPr>
                        <a:t>23%（95% CI 21-25）</a:t>
                      </a:r>
                    </a:p>
                  </a:txBody>
                  <a:tcPr>
                    <a:solidFill>
                      <a:srgbClr val="F6F8FB"/>
                    </a:solidFill>
                  </a:tcPr>
                </a:tc>
              </a:tr>
              <a:tr h="322652">
                <a:tc>
                  <a:txBody>
                    <a:bodyPr wrap="square" lIns="36576" rIns="36576" tIns="18288" bIns="18288"/>
                    <a:lstStyle/>
                    <a:p>
                      <a:r>
                        <a:rPr sz="720" b="1">
                          <a:solidFill>
                            <a:srgbClr val="21242A"/>
                          </a:solidFill>
                          <a:latin typeface="Microsoft YaHei"/>
                        </a:rPr>
                        <a:t>复发/难治患者2年总生存率</a:t>
                      </a:r>
                    </a:p>
                  </a:txBody>
                  <a:tcPr>
                    <a:solidFill>
                      <a:srgbClr val="FFFFFF"/>
                    </a:solidFill>
                  </a:tcPr>
                </a:tc>
                <a:tc>
                  <a:txBody>
                    <a:bodyPr wrap="square" lIns="36576" rIns="36576" tIns="18288" bIns="18288"/>
                    <a:lstStyle/>
                    <a:p>
                      <a:r>
                        <a:rPr sz="720" b="0">
                          <a:solidFill>
                            <a:srgbClr val="21242A"/>
                          </a:solidFill>
                          <a:latin typeface="Microsoft YaHei"/>
                        </a:rPr>
                        <a:t>38%（95% CI 34-43）</a:t>
                      </a:r>
                    </a:p>
                  </a:txBody>
                  <a:tcPr>
                    <a:solidFill>
                      <a:srgbClr val="FFFFFF"/>
                    </a:solidFill>
                  </a:tcPr>
                </a:tc>
              </a:tr>
              <a:tr h="322652">
                <a:tc>
                  <a:txBody>
                    <a:bodyPr wrap="square" lIns="36576" rIns="36576" tIns="18288" bIns="18288"/>
                    <a:lstStyle/>
                    <a:p>
                      <a:r>
                        <a:rPr sz="720" b="1">
                          <a:solidFill>
                            <a:srgbClr val="21242A"/>
                          </a:solidFill>
                          <a:latin typeface="Microsoft YaHei"/>
                        </a:rPr>
                        <a:t>复发/难治患者2年无进展生存率</a:t>
                      </a:r>
                    </a:p>
                  </a:txBody>
                  <a:tcPr>
                    <a:solidFill>
                      <a:srgbClr val="F6F8FB"/>
                    </a:solidFill>
                  </a:tcPr>
                </a:tc>
                <a:tc>
                  <a:txBody>
                    <a:bodyPr wrap="square" lIns="36576" rIns="36576" tIns="18288" bIns="18288"/>
                    <a:lstStyle/>
                    <a:p>
                      <a:r>
                        <a:rPr sz="720" b="0">
                          <a:solidFill>
                            <a:srgbClr val="21242A"/>
                          </a:solidFill>
                          <a:latin typeface="Microsoft YaHei"/>
                        </a:rPr>
                        <a:t>26%（95% CI 22-30）</a:t>
                      </a:r>
                    </a:p>
                  </a:txBody>
                  <a:tcPr>
                    <a:solidFill>
                      <a:srgbClr val="F6F8FB"/>
                    </a:solidFill>
                  </a:tcPr>
                </a:tc>
              </a:tr>
              <a:tr h="322656">
                <a:tc>
                  <a:txBody>
                    <a:bodyPr wrap="square" lIns="36576" rIns="36576" tIns="18288" bIns="18288"/>
                    <a:lstStyle/>
                    <a:p>
                      <a:r>
                        <a:rPr sz="720" b="1">
                          <a:solidFill>
                            <a:srgbClr val="21242A"/>
                          </a:solidFill>
                          <a:latin typeface="Microsoft YaHei"/>
                        </a:rPr>
                        <a:t>复发/难治患者中接受T细胞衔接疗法比例</a:t>
                      </a:r>
                    </a:p>
                  </a:txBody>
                  <a:tcPr>
                    <a:solidFill>
                      <a:srgbClr val="FFFFFF"/>
                    </a:solidFill>
                  </a:tcPr>
                </a:tc>
                <a:tc>
                  <a:txBody>
                    <a:bodyPr wrap="square" lIns="36576" rIns="36576" tIns="18288" bIns="18288"/>
                    <a:lstStyle/>
                    <a:p>
                      <a:r>
                        <a:rPr sz="720" b="0">
                          <a:solidFill>
                            <a:srgbClr val="21242A"/>
                          </a:solidFill>
                          <a:latin typeface="Microsoft YaHei"/>
                        </a:rPr>
                        <a:t>15%</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摘要号：PS2101</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早期复发/原发性难治性大b细胞淋巴瘤患者二线axicabtagene ciloleucel的疗效及与自体干细胞移植的比较</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outcomes of second-line axicabtagene ciloleucel and comparison to autologous...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N=194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对照/比较：试验组1：axicabtagene ciloleucel</a:t>
            </a:r>
          </a:p>
          <a:p>
            <a:pPr>
              <a:lnSpc>
                <a:spcPct val="103000"/>
              </a:lnSpc>
              <a:spcAft>
                <a:spcPts val="300"/>
              </a:spcAft>
              <a:defRPr sz="800">
                <a:solidFill>
                  <a:srgbClr val="21242A"/>
                </a:solidFill>
                <a:latin typeface="Microsoft YaHei"/>
              </a:defRPr>
            </a:pPr>
            <a:r>
              <a:t>对照组1：大剂量化疗联合自体干细胞移植（HDCT/ASCT）</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客观缓解率（ORR）：81%</a:t>
            </a:r>
          </a:p>
          <a:p>
            <a:pPr>
              <a:lnSpc>
                <a:spcPct val="103000"/>
              </a:lnSpc>
              <a:spcAft>
                <a:spcPts val="300"/>
              </a:spcAft>
              <a:defRPr sz="800">
                <a:solidFill>
                  <a:srgbClr val="21242A"/>
                </a:solidFill>
                <a:latin typeface="Microsoft YaHei"/>
              </a:defRPr>
            </a:pPr>
            <a:r>
              <a:t>完全缓解率（CR）：52%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人数：194</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治疗线数：二线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早期复发/原发性难治性大b细胞淋巴瘤患者二线axicabtagene ciloleucel的疗效及与自体干细胞移植的比较</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outcomes of second-line axicabtagene ciloleucel and comparison to autologous...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客观缓解率（ORR）</a:t>
                      </a:r>
                    </a:p>
                  </a:txBody>
                  <a:tcPr>
                    <a:solidFill>
                      <a:srgbClr val="F6F8FB"/>
                    </a:solidFill>
                  </a:tcPr>
                </a:tc>
                <a:tc>
                  <a:txBody>
                    <a:bodyPr wrap="square" lIns="36576" rIns="36576" tIns="18288" bIns="18288"/>
                    <a:lstStyle/>
                    <a:p>
                      <a:r>
                        <a:rPr sz="720" b="0">
                          <a:solidFill>
                            <a:srgbClr val="21242A"/>
                          </a:solidFill>
                          <a:latin typeface="Microsoft YaHei"/>
                        </a:rPr>
                        <a:t>81%</a:t>
                      </a:r>
                    </a:p>
                  </a:txBody>
                  <a:tcPr>
                    <a:solidFill>
                      <a:srgbClr val="F6F8FB"/>
                    </a:solidFill>
                  </a:tcPr>
                </a:tc>
              </a:tr>
              <a:tr h="282321">
                <a:tc>
                  <a:txBody>
                    <a:bodyPr wrap="square" lIns="36576" rIns="36576" tIns="18288" bIns="18288"/>
                    <a:lstStyle/>
                    <a:p>
                      <a:r>
                        <a:rPr sz="720" b="1">
                          <a:solidFill>
                            <a:srgbClr val="21242A"/>
                          </a:solidFill>
                          <a:latin typeface="Microsoft YaHei"/>
                        </a:rPr>
                        <a:t>完全缓解率（CR）</a:t>
                      </a:r>
                    </a:p>
                  </a:txBody>
                  <a:tcPr>
                    <a:solidFill>
                      <a:srgbClr val="FFFFFF"/>
                    </a:solidFill>
                  </a:tcPr>
                </a:tc>
                <a:tc>
                  <a:txBody>
                    <a:bodyPr wrap="square" lIns="36576" rIns="36576" tIns="18288" bIns="18288"/>
                    <a:lstStyle/>
                    <a:p>
                      <a:r>
                        <a:rPr sz="720" b="0">
                          <a:solidFill>
                            <a:srgbClr val="21242A"/>
                          </a:solidFill>
                          <a:latin typeface="Microsoft YaHei"/>
                        </a:rPr>
                        <a:t>52%</a:t>
                      </a:r>
                    </a:p>
                  </a:txBody>
                  <a:tcPr>
                    <a:solidFill>
                      <a:srgbClr val="FFFFFF"/>
                    </a:solidFill>
                  </a:tcPr>
                </a:tc>
              </a:tr>
              <a:tr h="282321">
                <a:tc>
                  <a:txBody>
                    <a:bodyPr wrap="square" lIns="36576" rIns="36576" tIns="18288" bIns="18288"/>
                    <a:lstStyle/>
                    <a:p>
                      <a:r>
                        <a:rPr sz="720" b="1">
                          <a:solidFill>
                            <a:srgbClr val="21242A"/>
                          </a:solidFill>
                          <a:latin typeface="Microsoft YaHei"/>
                        </a:rPr>
                        <a:t>2年无进展生存率（PFS）</a:t>
                      </a:r>
                    </a:p>
                  </a:txBody>
                  <a:tcPr>
                    <a:solidFill>
                      <a:srgbClr val="F6F8FB"/>
                    </a:solidFill>
                  </a:tcPr>
                </a:tc>
                <a:tc>
                  <a:txBody>
                    <a:bodyPr wrap="square" lIns="36576" rIns="36576" tIns="18288" bIns="18288"/>
                    <a:lstStyle/>
                    <a:p>
                      <a:r>
                        <a:rPr sz="720" b="0">
                          <a:solidFill>
                            <a:srgbClr val="21242A"/>
                          </a:solidFill>
                          <a:latin typeface="Microsoft YaHei"/>
                        </a:rPr>
                        <a:t>51%</a:t>
                      </a:r>
                    </a:p>
                  </a:txBody>
                  <a:tcPr>
                    <a:solidFill>
                      <a:srgbClr val="F6F8FB"/>
                    </a:solidFill>
                  </a:tcPr>
                </a:tc>
              </a:tr>
              <a:tr h="282321">
                <a:tc>
                  <a:txBody>
                    <a:bodyPr wrap="square" lIns="36576" rIns="36576" tIns="18288" bIns="18288"/>
                    <a:lstStyle/>
                    <a:p>
                      <a:r>
                        <a:rPr sz="720" b="1">
                          <a:solidFill>
                            <a:srgbClr val="21242A"/>
                          </a:solidFill>
                          <a:latin typeface="Microsoft YaHei"/>
                        </a:rPr>
                        <a:t>2年总生存率（OS）</a:t>
                      </a:r>
                    </a:p>
                  </a:txBody>
                  <a:tcPr>
                    <a:solidFill>
                      <a:srgbClr val="FFFFFF"/>
                    </a:solidFill>
                  </a:tcPr>
                </a:tc>
                <a:tc>
                  <a:txBody>
                    <a:bodyPr wrap="square" lIns="36576" rIns="36576" tIns="18288" bIns="18288"/>
                    <a:lstStyle/>
                    <a:p>
                      <a:r>
                        <a:rPr sz="720" b="0">
                          <a:solidFill>
                            <a:srgbClr val="21242A"/>
                          </a:solidFill>
                          <a:latin typeface="Microsoft YaHei"/>
                        </a:rPr>
                        <a:t>60%</a:t>
                      </a:r>
                    </a:p>
                  </a:txBody>
                  <a:tcPr>
                    <a:solidFill>
                      <a:srgbClr val="FFFFFF"/>
                    </a:solidFill>
                  </a:tcPr>
                </a:tc>
              </a:tr>
              <a:tr h="282321">
                <a:tc>
                  <a:txBody>
                    <a:bodyPr wrap="square" lIns="36576" rIns="36576" tIns="18288" bIns="18288"/>
                    <a:lstStyle/>
                    <a:p>
                      <a:r>
                        <a:rPr sz="720" b="1">
                          <a:solidFill>
                            <a:srgbClr val="21242A"/>
                          </a:solidFill>
                          <a:latin typeface="Microsoft YaHei"/>
                        </a:rPr>
                        <a:t>≥3级神经毒性发生率</a:t>
                      </a:r>
                    </a:p>
                  </a:txBody>
                  <a:tcPr>
                    <a:solidFill>
                      <a:srgbClr val="F6F8FB"/>
                    </a:solidFill>
                  </a:tcPr>
                </a:tc>
                <a:tc>
                  <a:txBody>
                    <a:bodyPr wrap="square" lIns="36576" rIns="36576" tIns="18288" bIns="18288"/>
                    <a:lstStyle/>
                    <a:p>
                      <a:r>
                        <a:rPr sz="720" b="0">
                          <a:solidFill>
                            <a:srgbClr val="21242A"/>
                          </a:solidFill>
                          <a:latin typeface="Microsoft YaHei"/>
                        </a:rPr>
                        <a:t>19%</a:t>
                      </a:r>
                    </a:p>
                  </a:txBody>
                  <a:tcPr>
                    <a:solidFill>
                      <a:srgbClr val="F6F8FB"/>
                    </a:solidFill>
                  </a:tcPr>
                </a:tc>
              </a:tr>
              <a:tr h="282321">
                <a:tc>
                  <a:txBody>
                    <a:bodyPr wrap="square" lIns="36576" rIns="36576" tIns="18288" bIns="18288"/>
                    <a:lstStyle/>
                    <a:p>
                      <a:r>
                        <a:rPr sz="720" b="1">
                          <a:solidFill>
                            <a:srgbClr val="21242A"/>
                          </a:solidFill>
                          <a:latin typeface="Microsoft YaHei"/>
                        </a:rPr>
                        <a:t>≥3级细胞因子释放综合征（CRS）发生率</a:t>
                      </a:r>
                    </a:p>
                  </a:txBody>
                  <a:tcPr>
                    <a:solidFill>
                      <a:srgbClr val="FFFFFF"/>
                    </a:solidFill>
                  </a:tcPr>
                </a:tc>
                <a:tc>
                  <a:txBody>
                    <a:bodyPr wrap="square" lIns="36576" rIns="36576" tIns="18288" bIns="18288"/>
                    <a:lstStyle/>
                    <a:p>
                      <a:r>
                        <a:rPr sz="720" b="0">
                          <a:solidFill>
                            <a:srgbClr val="21242A"/>
                          </a:solidFill>
                          <a:latin typeface="Microsoft YaHei"/>
                        </a:rPr>
                        <a:t>16%</a:t>
                      </a:r>
                    </a:p>
                  </a:txBody>
                  <a:tcPr>
                    <a:solidFill>
                      <a:srgbClr val="FFFFFF"/>
                    </a:solidFill>
                  </a:tcPr>
                </a:tc>
              </a:tr>
              <a:tr h="282321">
                <a:tc>
                  <a:txBody>
                    <a:bodyPr wrap="square" lIns="36576" rIns="36576" tIns="18288" bIns="18288"/>
                    <a:lstStyle/>
                    <a:p>
                      <a:r>
                        <a:rPr sz="720" b="1">
                          <a:solidFill>
                            <a:srgbClr val="21242A"/>
                          </a:solidFill>
                          <a:latin typeface="Microsoft YaHei"/>
                        </a:rPr>
                        <a:t>匹配后1年总生存率（OS）</a:t>
                      </a:r>
                    </a:p>
                  </a:txBody>
                  <a:tcPr>
                    <a:solidFill>
                      <a:srgbClr val="F6F8FB"/>
                    </a:solidFill>
                  </a:tcPr>
                </a:tc>
                <a:tc>
                  <a:txBody>
                    <a:bodyPr wrap="square" lIns="36576" rIns="36576" tIns="18288" bIns="18288"/>
                    <a:lstStyle/>
                    <a:p>
                      <a:r>
                        <a:rPr sz="720" b="0">
                          <a:solidFill>
                            <a:srgbClr val="21242A"/>
                          </a:solidFill>
                          <a:latin typeface="Microsoft YaHei"/>
                        </a:rPr>
                        <a:t>Axi-Cel组76% vs HDCT/ASCT组72%（p=0.94）</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摘要号：PS2100</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早期复发/原发性难治性大b细胞淋巴瘤患者二线axicabtagene ciloleucel的疗效及与自体干细胞移植的比较</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outcomes of second-line axicabtagene ciloleucel and comparison to autologous...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PS2100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1792224">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1792224">
                <a:tc>
                  <a:txBody>
                    <a:bodyPr wrap="square" lIns="36576" rIns="36576" tIns="18288" bIns="18288"/>
                    <a:lstStyle/>
                    <a:p>
                      <a:r>
                        <a:rPr sz="720" b="1">
                          <a:solidFill>
                            <a:srgbClr val="21242A"/>
                          </a:solidFill>
                          <a:latin typeface="Microsoft YaHei"/>
                        </a:rPr>
                        <a:t>匹配后1年无进展生存率（PFS）</a:t>
                      </a:r>
                    </a:p>
                  </a:txBody>
                  <a:tcPr>
                    <a:solidFill>
                      <a:srgbClr val="F6F8FB"/>
                    </a:solidFill>
                  </a:tcPr>
                </a:tc>
                <a:tc>
                  <a:txBody>
                    <a:bodyPr wrap="square" lIns="36576" rIns="36576" tIns="18288" bIns="18288"/>
                    <a:lstStyle/>
                    <a:p>
                      <a:r>
                        <a:rPr sz="720" b="0">
                          <a:solidFill>
                            <a:srgbClr val="21242A"/>
                          </a:solidFill>
                          <a:latin typeface="Microsoft YaHei"/>
                        </a:rPr>
                        <a:t>Axi-Cel组57% vs HDCT/ASCT组43%（p=0.093）</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法国axi-cel或liso-cel治疗二线大b细胞淋巴瘤（lbcl）患者的住院时间、医疗资源利用率（hcru）和再住...</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length of stay, healthcare resource utilization (hcru) and rehospitalization...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N=443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Lisocabtagene maraleucel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多组/多方案比较：试验组1：axicabtagene ciloleucel</a:t>
            </a:r>
          </a:p>
          <a:p>
            <a:pPr>
              <a:lnSpc>
                <a:spcPct val="103000"/>
              </a:lnSpc>
              <a:spcAft>
                <a:spcPts val="300"/>
              </a:spcAft>
              <a:defRPr sz="800">
                <a:solidFill>
                  <a:srgbClr val="21242A"/>
                </a:solidFill>
                <a:latin typeface="Microsoft YaHei"/>
              </a:defRPr>
            </a:pPr>
            <a:r>
              <a:t>试验组2：lisocabtagene maraleucel</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平均住院时间：axi-cel组23.1天，liso-cel组16.0天</a:t>
            </a:r>
          </a:p>
          <a:p>
            <a:pPr>
              <a:lnSpc>
                <a:spcPct val="103000"/>
              </a:lnSpc>
              <a:spcAft>
                <a:spcPts val="300"/>
              </a:spcAft>
              <a:defRPr sz="800">
                <a:solidFill>
                  <a:srgbClr val="21242A"/>
                </a:solidFill>
                <a:latin typeface="Microsoft YaHei"/>
              </a:defRPr>
            </a:pPr>
            <a:r>
              <a:t>术后住院时间：axi-cel组17.3天，liso-cel组10.9天</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人数：443</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治疗线数：二线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试验药/方案：阿基仑赛、Lisocabtagene maraleucel</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法国axi-cel或liso-cel治疗二线大b细胞淋巴瘤（lbcl）患者的住院时间、医疗资源利用率（hcru）和再住...</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length of stay, healthcare resource utilization (hcru) and rehospitalization...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2265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22652">
                <a:tc>
                  <a:txBody>
                    <a:bodyPr wrap="square" lIns="36576" rIns="36576" tIns="18288" bIns="18288"/>
                    <a:lstStyle/>
                    <a:p>
                      <a:r>
                        <a:rPr sz="720" b="1">
                          <a:solidFill>
                            <a:srgbClr val="21242A"/>
                          </a:solidFill>
                          <a:latin typeface="Microsoft YaHei"/>
                        </a:rPr>
                        <a:t>平均住院时间</a:t>
                      </a:r>
                    </a:p>
                  </a:txBody>
                  <a:tcPr>
                    <a:solidFill>
                      <a:srgbClr val="F6F8FB"/>
                    </a:solidFill>
                  </a:tcPr>
                </a:tc>
                <a:tc>
                  <a:txBody>
                    <a:bodyPr wrap="square" lIns="36576" rIns="36576" tIns="18288" bIns="18288"/>
                    <a:lstStyle/>
                    <a:p>
                      <a:r>
                        <a:rPr sz="720" b="0">
                          <a:solidFill>
                            <a:srgbClr val="21242A"/>
                          </a:solidFill>
                          <a:latin typeface="Microsoft YaHei"/>
                        </a:rPr>
                        <a:t>axi-cel组23.1天，liso-cel组16.0天</a:t>
                      </a:r>
                    </a:p>
                  </a:txBody>
                  <a:tcPr>
                    <a:solidFill>
                      <a:srgbClr val="F6F8FB"/>
                    </a:solidFill>
                  </a:tcPr>
                </a:tc>
              </a:tr>
              <a:tr h="322652">
                <a:tc>
                  <a:txBody>
                    <a:bodyPr wrap="square" lIns="36576" rIns="36576" tIns="18288" bIns="18288"/>
                    <a:lstStyle/>
                    <a:p>
                      <a:r>
                        <a:rPr sz="720" b="1">
                          <a:solidFill>
                            <a:srgbClr val="21242A"/>
                          </a:solidFill>
                          <a:latin typeface="Microsoft YaHei"/>
                        </a:rPr>
                        <a:t>术后住院时间</a:t>
                      </a:r>
                    </a:p>
                  </a:txBody>
                  <a:tcPr>
                    <a:solidFill>
                      <a:srgbClr val="FFFFFF"/>
                    </a:solidFill>
                  </a:tcPr>
                </a:tc>
                <a:tc>
                  <a:txBody>
                    <a:bodyPr wrap="square" lIns="36576" rIns="36576" tIns="18288" bIns="18288"/>
                    <a:lstStyle/>
                    <a:p>
                      <a:r>
                        <a:rPr sz="720" b="0">
                          <a:solidFill>
                            <a:srgbClr val="21242A"/>
                          </a:solidFill>
                          <a:latin typeface="Microsoft YaHei"/>
                        </a:rPr>
                        <a:t>axi-cel组17.3天，liso-cel组10.9天</a:t>
                      </a:r>
                    </a:p>
                  </a:txBody>
                  <a:tcPr>
                    <a:solidFill>
                      <a:srgbClr val="FFFFFF"/>
                    </a:solidFill>
                  </a:tcPr>
                </a:tc>
              </a:tr>
              <a:tr h="322652">
                <a:tc>
                  <a:txBody>
                    <a:bodyPr wrap="square" lIns="36576" rIns="36576" tIns="18288" bIns="18288"/>
                    <a:lstStyle/>
                    <a:p>
                      <a:r>
                        <a:rPr sz="720" b="1">
                          <a:solidFill>
                            <a:srgbClr val="21242A"/>
                          </a:solidFill>
                          <a:latin typeface="Microsoft YaHei"/>
                        </a:rPr>
                        <a:t>ICU入住率</a:t>
                      </a:r>
                    </a:p>
                  </a:txBody>
                  <a:tcPr>
                    <a:solidFill>
                      <a:srgbClr val="F6F8FB"/>
                    </a:solidFill>
                  </a:tcPr>
                </a:tc>
                <a:tc>
                  <a:txBody>
                    <a:bodyPr wrap="square" lIns="36576" rIns="36576" tIns="18288" bIns="18288"/>
                    <a:lstStyle/>
                    <a:p>
                      <a:r>
                        <a:rPr sz="720" b="0">
                          <a:solidFill>
                            <a:srgbClr val="21242A"/>
                          </a:solidFill>
                          <a:latin typeface="Microsoft YaHei"/>
                        </a:rPr>
                        <a:t>axi-cel组15%，liso-cel组2%</a:t>
                      </a:r>
                    </a:p>
                  </a:txBody>
                  <a:tcPr>
                    <a:solidFill>
                      <a:srgbClr val="F6F8FB"/>
                    </a:solidFill>
                  </a:tcPr>
                </a:tc>
              </a:tr>
              <a:tr h="322652">
                <a:tc>
                  <a:txBody>
                    <a:bodyPr wrap="square" lIns="36576" rIns="36576" tIns="18288" bIns="18288"/>
                    <a:lstStyle/>
                    <a:p>
                      <a:r>
                        <a:rPr sz="720" b="1">
                          <a:solidFill>
                            <a:srgbClr val="21242A"/>
                          </a:solidFill>
                          <a:latin typeface="Microsoft YaHei"/>
                        </a:rPr>
                        <a:t>高成本药物使用率</a:t>
                      </a:r>
                    </a:p>
                  </a:txBody>
                  <a:tcPr>
                    <a:solidFill>
                      <a:srgbClr val="FFFFFF"/>
                    </a:solidFill>
                  </a:tcPr>
                </a:tc>
                <a:tc>
                  <a:txBody>
                    <a:bodyPr wrap="square" lIns="36576" rIns="36576" tIns="18288" bIns="18288"/>
                    <a:lstStyle/>
                    <a:p>
                      <a:r>
                        <a:rPr sz="720" b="0">
                          <a:solidFill>
                            <a:srgbClr val="21242A"/>
                          </a:solidFill>
                          <a:latin typeface="Microsoft YaHei"/>
                        </a:rPr>
                        <a:t>axi-cel组55%，liso-cel组12%</a:t>
                      </a:r>
                    </a:p>
                  </a:txBody>
                  <a:tcPr>
                    <a:solidFill>
                      <a:srgbClr val="FFFFFF"/>
                    </a:solidFill>
                  </a:tcPr>
                </a:tc>
              </a:tr>
              <a:tr h="322652">
                <a:tc>
                  <a:txBody>
                    <a:bodyPr wrap="square" lIns="36576" rIns="36576" tIns="18288" bIns="18288"/>
                    <a:lstStyle/>
                    <a:p>
                      <a:r>
                        <a:rPr sz="720" b="1">
                          <a:solidFill>
                            <a:srgbClr val="21242A"/>
                          </a:solidFill>
                          <a:latin typeface="Microsoft YaHei"/>
                        </a:rPr>
                        <a:t>直接出院回家比例</a:t>
                      </a:r>
                    </a:p>
                  </a:txBody>
                  <a:tcPr>
                    <a:solidFill>
                      <a:srgbClr val="F6F8FB"/>
                    </a:solidFill>
                  </a:tcPr>
                </a:tc>
                <a:tc>
                  <a:txBody>
                    <a:bodyPr wrap="square" lIns="36576" rIns="36576" tIns="18288" bIns="18288"/>
                    <a:lstStyle/>
                    <a:p>
                      <a:r>
                        <a:rPr sz="720" b="0">
                          <a:solidFill>
                            <a:srgbClr val="21242A"/>
                          </a:solidFill>
                          <a:latin typeface="Microsoft YaHei"/>
                        </a:rPr>
                        <a:t>axi-cel组72%，liso-cel组81%</a:t>
                      </a:r>
                    </a:p>
                  </a:txBody>
                  <a:tcPr>
                    <a:solidFill>
                      <a:srgbClr val="F6F8FB"/>
                    </a:solidFill>
                  </a:tcPr>
                </a:tc>
              </a:tr>
              <a:tr h="322656">
                <a:tc>
                  <a:txBody>
                    <a:bodyPr wrap="square" lIns="36576" rIns="36576" tIns="18288" bIns="18288"/>
                    <a:lstStyle/>
                    <a:p>
                      <a:r>
                        <a:rPr sz="720" b="1">
                          <a:solidFill>
                            <a:srgbClr val="21242A"/>
                          </a:solidFill>
                          <a:latin typeface="Microsoft YaHei"/>
                        </a:rPr>
                        <a:t>3个月再住院率</a:t>
                      </a:r>
                    </a:p>
                  </a:txBody>
                  <a:tcPr>
                    <a:solidFill>
                      <a:srgbClr val="FFFFFF"/>
                    </a:solidFill>
                  </a:tcPr>
                </a:tc>
                <a:tc>
                  <a:txBody>
                    <a:bodyPr wrap="square" lIns="36576" rIns="36576" tIns="18288" bIns="18288"/>
                    <a:lstStyle/>
                    <a:p>
                      <a:r>
                        <a:rPr sz="720" b="0">
                          <a:solidFill>
                            <a:srgbClr val="21242A"/>
                          </a:solidFill>
                          <a:latin typeface="Microsoft YaHei"/>
                        </a:rPr>
                        <a:t>axi-cel组77%，liso-cel组54%</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摘要号：PS2099</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epcoritamab在复发/难治性弥漫性大b细胞淋巴瘤（r/r dlbcl）中的应用：来自现实世界epcortama...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epcoritamab in relapsed/refractory diffuse large b-cell lymphoma (r/r dlbcl):...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N=132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中位随访时间5.8个月。</a:t>
            </a:r>
          </a:p>
          <a:p>
            <a:pPr>
              <a:lnSpc>
                <a:spcPct val="103000"/>
              </a:lnSpc>
              <a:spcAft>
                <a:spcPts val="300"/>
              </a:spcAft>
              <a:defRPr sz="800">
                <a:solidFill>
                  <a:srgbClr val="21242A"/>
                </a:solidFill>
                <a:latin typeface="Microsoft YaHei"/>
              </a:defRPr>
            </a:pPr>
            <a:r>
              <a:t>总缓解率（ORR）：所有患者37.9%（50/132），接受≥2周期患者67.1%（49/73），可评估患者54.3%（50/...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人数：132</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epcoritamab在复发/难治性弥漫性大b细胞淋巴瘤（r/r dlbcl）中的应用：来自现实世界epcortama...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epcoritamab in relapsed/refractory diffuse large b-cell lymphoma (r/r dlbcl):...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EHA原文结果（中文字段未通过数字核对）（1/4）</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This analysis included 132 R/R DLBCL pts from 7 centers. Median age was 68.6 years.</a:t>
            </a:r>
          </a:p>
          <a:p>
            <a:pPr>
              <a:lnSpc>
                <a:spcPct val="103000"/>
              </a:lnSpc>
              <a:spcAft>
                <a:spcPts val="300"/>
              </a:spcAft>
              <a:defRPr sz="819">
                <a:solidFill>
                  <a:srgbClr val="21242A"/>
                </a:solidFill>
                <a:latin typeface="Microsoft YaHei"/>
              </a:defRPr>
            </a:pPr>
            <a:r>
              <a:t>Median number of prior lines of therapy (LOT) was 3 (interquartile range: 2-4) and 65.9% received prior CAR T.</a:t>
            </a:r>
          </a:p>
          <a:p>
            <a:pPr>
              <a:lnSpc>
                <a:spcPct val="103000"/>
              </a:lnSpc>
              <a:spcAft>
                <a:spcPts val="300"/>
              </a:spcAft>
              <a:defRPr sz="819">
                <a:solidFill>
                  <a:srgbClr val="21242A"/>
                </a:solidFill>
                <a:latin typeface="Microsoft YaHei"/>
              </a:defRPr>
            </a:pPr>
            <a:r>
              <a:t>Median time from end of last LOT to Epcor initiation was 39 days.</a:t>
            </a:r>
          </a:p>
          <a:p>
            <a:pPr>
              <a:lnSpc>
                <a:spcPct val="103000"/>
              </a:lnSpc>
              <a:spcAft>
                <a:spcPts val="300"/>
              </a:spcAft>
              <a:defRPr sz="819">
                <a:solidFill>
                  <a:srgbClr val="21242A"/>
                </a:solidFill>
                <a:latin typeface="Microsoft YaHei"/>
              </a:defRPr>
            </a:pPr>
            <a:r>
              <a:t>32.0% had lactate dehydrogenase (LDH) ≥2x upper limit of normal (ULN), 22.7% had double/triple-hit, 57.9% had primary </a:t>
            </a:r>
          </a:p>
          <a:p>
            <a:pPr>
              <a:lnSpc>
                <a:spcPct val="103000"/>
              </a:lnSpc>
              <a:spcAft>
                <a:spcPts val="300"/>
              </a:spcAft>
              <a:defRPr sz="819">
                <a:solidFill>
                  <a:srgbClr val="21242A"/>
                </a:solidFill>
                <a:latin typeface="Microsoft YaHei"/>
              </a:defRPr>
            </a:pPr>
            <a:r>
              <a:t>refractory disease, and 71.8% were refractory to their last LOT.</a:t>
            </a:r>
          </a:p>
          <a:p>
            <a:pPr>
              <a:lnSpc>
                <a:spcPct val="103000"/>
              </a:lnSpc>
              <a:spcAft>
                <a:spcPts val="300"/>
              </a:spcAft>
              <a:defRPr sz="819">
                <a:solidFill>
                  <a:srgbClr val="21242A"/>
                </a:solidFill>
                <a:latin typeface="Microsoft YaHei"/>
              </a:defRPr>
            </a:pPr>
            <a:r>
              <a:t>34.1% received first Epcor dose inpatient.</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摘要号：PS2086</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epcoritamab在复发/难治性弥漫性大b细胞淋巴瘤（r/r dlbcl）中的应用：来自现实世界epcortama...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epcoritamab in relapsed/refractory diffuse large b-cell lymphoma (r/r dlbcl):...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\n Pts who received &gt; 2 cycles (N=73) including descriptively shorter time from last prior LOT to Epcor initiation (me</a:t>
            </a:r>
          </a:p>
          <a:p>
            <a:pPr>
              <a:lnSpc>
                <a:spcPct val="103000"/>
              </a:lnSpc>
              <a:spcAft>
                <a:spcPts val="300"/>
              </a:spcAft>
              <a:defRPr sz="819">
                <a:solidFill>
                  <a:srgbClr val="21242A"/>
                </a:solidFill>
                <a:latin typeface="Microsoft YaHei"/>
              </a:defRPr>
            </a:pPr>
            <a:r>
              <a:t>dian 25 vs.</a:t>
            </a:r>
          </a:p>
          <a:p>
            <a:pPr>
              <a:lnSpc>
                <a:spcPct val="103000"/>
              </a:lnSpc>
              <a:spcAft>
                <a:spcPts val="300"/>
              </a:spcAft>
              <a:defRPr sz="819">
                <a:solidFill>
                  <a:srgbClr val="21242A"/>
                </a:solidFill>
                <a:latin typeface="Microsoft YaHei"/>
              </a:defRPr>
            </a:pPr>
            <a:r>
              <a:t>48 days), and higher proportions with ECOG PS ≥2 (40.7% vs 16.4%), primary refractory disease (64.2% vs 52.9%), LDH ≥2</a:t>
            </a:r>
          </a:p>
          <a:p>
            <a:pPr>
              <a:lnSpc>
                <a:spcPct val="103000"/>
              </a:lnSpc>
              <a:spcAft>
                <a:spcPts val="300"/>
              </a:spcAft>
              <a:defRPr sz="819">
                <a:solidFill>
                  <a:srgbClr val="21242A"/>
                </a:solidFill>
                <a:latin typeface="Microsoft YaHei"/>
              </a:defRPr>
            </a:pPr>
            <a:r>
              <a:t>x ULN (48.3% vs 18.6%), and double/triple-hit (30.5% vs 16.4%).</a:t>
            </a:r>
          </a:p>
          <a:p>
            <a:pPr>
              <a:lnSpc>
                <a:spcPct val="103000"/>
              </a:lnSpc>
              <a:spcAft>
                <a:spcPts val="300"/>
              </a:spcAft>
              <a:defRPr sz="819">
                <a:solidFill>
                  <a:srgbClr val="21242A"/>
                </a:solidFill>
                <a:latin typeface="Microsoft YaHei"/>
              </a:defRPr>
            </a:pPr>
            <a:r>
              <a:t>\n Median follow-up among all patients was 5.8 months. ORR and CRR for each cohort are presented in Table 1 .</a:t>
            </a:r>
          </a:p>
          <a:p>
            <a:pPr>
              <a:lnSpc>
                <a:spcPct val="103000"/>
              </a:lnSpc>
              <a:spcAft>
                <a:spcPts val="300"/>
              </a:spcAft>
              <a:defRPr sz="819">
                <a:solidFill>
                  <a:srgbClr val="21242A"/>
                </a:solidFill>
                <a:latin typeface="Microsoft YaHei"/>
              </a:defRPr>
            </a:pPr>
            <a:r>
              <a:t>\n Table 1.</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epcoritamab在复发/难治性弥漫性大b细胞淋巴瘤（r/r dlbcl）中的应用：来自现实世界epcortama...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epcoritamab in relapsed/refractory diffuse large b-cell lymphoma (r/r dlbcl):...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ORR and CRR among pts treated with Epcor \n \n \n \n \n \n ORR, n (%) \n \n \n CR R , n (%) \n \n \n \n \n Real-world </a:t>
            </a:r>
          </a:p>
          <a:p>
            <a:pPr>
              <a:lnSpc>
                <a:spcPct val="103000"/>
              </a:lnSpc>
              <a:spcAft>
                <a:spcPts val="300"/>
              </a:spcAft>
              <a:defRPr sz="819">
                <a:solidFill>
                  <a:srgbClr val="21242A"/>
                </a:solidFill>
                <a:latin typeface="Microsoft YaHei"/>
              </a:defRPr>
            </a:pPr>
            <a:r>
              <a:t>pts \n \n \n \n \n \n \n \n \n \n \n All pts (n=132) \n \n \n 50 (37.9) \n \n \n 30 (22.7) \n \n \n \n \n Pts who rece</a:t>
            </a:r>
          </a:p>
          <a:p>
            <a:pPr>
              <a:lnSpc>
                <a:spcPct val="103000"/>
              </a:lnSpc>
              <a:spcAft>
                <a:spcPts val="300"/>
              </a:spcAft>
              <a:defRPr sz="819">
                <a:solidFill>
                  <a:srgbClr val="21242A"/>
                </a:solidFill>
                <a:latin typeface="Microsoft YaHei"/>
              </a:defRPr>
            </a:pPr>
            <a:r>
              <a:t>ived ≥2 cycles (n=73) \n \n \n 49 (67.1) \n \n \n 30 (41.1) \n \n \n \n \n Response-evaluable pts \n \n \n \n \n \n \n</a:t>
            </a:r>
          </a:p>
          <a:p>
            <a:pPr>
              <a:lnSpc>
                <a:spcPct val="103000"/>
              </a:lnSpc>
              <a:spcAft>
                <a:spcPts val="300"/>
              </a:spcAft>
              <a:defRPr sz="819">
                <a:solidFill>
                  <a:srgbClr val="21242A"/>
                </a:solidFill>
                <a:latin typeface="Microsoft YaHei"/>
              </a:defRPr>
            </a:pPr>
            <a:r>
              <a:t> All pts (n=92) \n \n \n 50 (54.3) \n \n \n 30 (32.6) \n \n \n \n \n Pts who received ≥2 cycles (n=67) \n \n \n 49 (73</a:t>
            </a:r>
          </a:p>
          <a:p>
            <a:pPr>
              <a:lnSpc>
                <a:spcPct val="103000"/>
              </a:lnSpc>
              <a:spcAft>
                <a:spcPts val="300"/>
              </a:spcAft>
              <a:defRPr sz="819">
                <a:solidFill>
                  <a:srgbClr val="21242A"/>
                </a:solidFill>
                <a:latin typeface="Microsoft YaHei"/>
              </a:defRPr>
            </a:pPr>
            <a:r>
              <a:t>.1) \n \n \n 30 (44.8) \n \n \n \n</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epcoritamab在复发/难治性弥漫性大b细胞淋巴瘤（r/r dlbcl）中的应用：来自现实世界epcortama...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epcoritamab in relapsed/refractory diffuse large b-cell lymphoma (r/r dlbcl):...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Summary/Conclusion: Real-world pts with R/R DLBCL treated with Epcor in 3L+ were characterized by a high prevalence of</a:t>
            </a:r>
          </a:p>
          <a:p>
            <a:pPr>
              <a:lnSpc>
                <a:spcPct val="103000"/>
              </a:lnSpc>
              <a:spcAft>
                <a:spcPts val="300"/>
              </a:spcAft>
              <a:defRPr sz="819">
                <a:solidFill>
                  <a:srgbClr val="21242A"/>
                </a:solidFill>
                <a:latin typeface="Microsoft YaHei"/>
              </a:defRPr>
            </a:pPr>
            <a:r>
              <a:t> disease characteristics associated with poor prognosis.</a:t>
            </a:r>
          </a:p>
          <a:p>
            <a:pPr>
              <a:lnSpc>
                <a:spcPct val="103000"/>
              </a:lnSpc>
              <a:spcAft>
                <a:spcPts val="300"/>
              </a:spcAft>
              <a:defRPr sz="819">
                <a:solidFill>
                  <a:srgbClr val="21242A"/>
                </a:solidFill>
                <a:latin typeface="Microsoft YaHei"/>
              </a:defRPr>
            </a:pPr>
            <a:r>
              <a:t>Pts with</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tp53突变对大b细胞淋巴瘤cd19嵌合抗原受体t细胞治疗的影响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tp53 mutation on cd19-chimeric antigen receptor t-cell therapy in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N=139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回顾性临床研究结果：impact of tp53 mutation on cd19-chimeric antigen rece...</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TP53突变发生率：55/139（39.6%），包含48个独特突变位点，错义突变占92.7%。</a:t>
            </a:r>
          </a:p>
          <a:p>
            <a:pPr>
              <a:lnSpc>
                <a:spcPct val="103000"/>
              </a:lnSpc>
              <a:spcAft>
                <a:spcPts val="300"/>
              </a:spcAft>
              <a:defRPr sz="800">
                <a:solidFill>
                  <a:srgbClr val="21242A"/>
                </a:solidFill>
                <a:latin typeface="Microsoft YaHei"/>
              </a:defRPr>
            </a:pPr>
            <a:r>
              <a:t>在4-1BB CAR-T产品中，TP53突变患者vs野生型患者的中位PFS为6.3个月 vs 未达到（p=0.024）。</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人数：139</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研究主题：impact of tp53 mutation on cd19-chimeric antigen receptor t-cell therapy in large b-cell lymphoma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tp53突变对大b细胞淋巴瘤cd19嵌合抗原受体t细胞治疗的影响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tp53 mutation on cd19-chimeric antigen receptor t-cell therapy in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119/187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2265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22652">
                <a:tc>
                  <a:txBody>
                    <a:bodyPr wrap="square" lIns="36576" rIns="36576" tIns="18288" bIns="18288"/>
                    <a:lstStyle/>
                    <a:p>
                      <a:r>
                        <a:rPr sz="720" b="1">
                          <a:solidFill>
                            <a:srgbClr val="21242A"/>
                          </a:solidFill>
                          <a:latin typeface="Microsoft YaHei"/>
                        </a:rPr>
                        <a:t>TP53突变发生率</a:t>
                      </a:r>
                    </a:p>
                  </a:txBody>
                  <a:tcPr>
                    <a:solidFill>
                      <a:srgbClr val="F6F8FB"/>
                    </a:solidFill>
                  </a:tcPr>
                </a:tc>
                <a:tc>
                  <a:txBody>
                    <a:bodyPr wrap="square" lIns="36576" rIns="36576" tIns="18288" bIns="18288"/>
                    <a:lstStyle/>
                    <a:p>
                      <a:r>
                        <a:rPr sz="720" b="0">
                          <a:solidFill>
                            <a:srgbClr val="21242A"/>
                          </a:solidFill>
                          <a:latin typeface="Microsoft YaHei"/>
                        </a:rPr>
                        <a:t>55/139（39.6%），包含48个独特突变位点，错义突变占92.7%。</a:t>
                      </a:r>
                    </a:p>
                  </a:txBody>
                  <a:tcPr>
                    <a:solidFill>
                      <a:srgbClr val="F6F8FB"/>
                    </a:solidFill>
                  </a:tcPr>
                </a:tc>
              </a:tr>
              <a:tr h="322652">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在4-1BB CAR-T产品中，TP53突变患者vs野生型患者的中位PFS为6.3个月 vs 未达到（p=0.024）。</a:t>
                      </a:r>
                    </a:p>
                  </a:txBody>
                  <a:tcPr>
                    <a:solidFill>
                      <a:srgbClr val="FFFFFF"/>
                    </a:solidFill>
                  </a:tcPr>
                </a:tc>
              </a:tr>
              <a:tr h="322652">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在CD28 CAR-T产品中，TP53突变与野生型患者的PFS无显著差异。</a:t>
                      </a:r>
                    </a:p>
                  </a:txBody>
                  <a:tcPr>
                    <a:solidFill>
                      <a:srgbClr val="F6F8FB"/>
                    </a:solidFill>
                  </a:tcPr>
                </a:tc>
              </a:tr>
              <a:tr h="322652">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TP53野生型患者的CAR-T细胞最大扩增（Cmax）显著高于突变型患者。</a:t>
                      </a:r>
                    </a:p>
                  </a:txBody>
                  <a:tcPr>
                    <a:solidFill>
                      <a:srgbClr val="FFFFFF"/>
                    </a:solidFill>
                  </a:tcPr>
                </a:tc>
              </a:tr>
              <a:tr h="322652">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TP53突变患者的γδT细胞在白细胞分离前显著减少。</a:t>
                      </a:r>
                    </a:p>
                  </a:txBody>
                  <a:tcPr>
                    <a:solidFill>
                      <a:srgbClr val="F6F8FB"/>
                    </a:solidFill>
                  </a:tcPr>
                </a:tc>
              </a:tr>
              <a:tr h="322656">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单细胞RNA测序显示TP53突变患者肿瘤组织中T细胞功能受损（激活、效应、迁移、黏附能力降低）。</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摘要号：PS2071</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弥漫性大b细胞淋巴瘤的真实总体生存率比较：car t细胞疗法与双特异性抗体</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comparative real‑world overall survival in diffuse large b‑cell lymphoma: car...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N=561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格菲妥单抗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多组/多方案比较：试验组1：双特异性抗体组（epcoritamab，glofitamab）</a:t>
            </a:r>
          </a:p>
          <a:p>
            <a:pPr>
              <a:lnSpc>
                <a:spcPct val="103000"/>
              </a:lnSpc>
              <a:spcAft>
                <a:spcPts val="300"/>
              </a:spcAft>
              <a:defRPr sz="800">
                <a:solidFill>
                  <a:srgbClr val="21242A"/>
                </a:solidFill>
                <a:latin typeface="Microsoft YaHei"/>
              </a:defRPr>
            </a:pPr>
            <a:r>
              <a:t>试验组2：CAR T细胞治疗组（tisacel，axicel，lisocel）</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2年总生存率：双特异性抗体组47.5% vs CAR T细胞治疗组67.3%</a:t>
            </a:r>
          </a:p>
          <a:p>
            <a:pPr>
              <a:lnSpc>
                <a:spcPct val="103000"/>
              </a:lnSpc>
              <a:spcAft>
                <a:spcPts val="300"/>
              </a:spcAft>
              <a:defRPr sz="800">
                <a:solidFill>
                  <a:srgbClr val="21242A"/>
                </a:solidFill>
                <a:latin typeface="Microsoft YaHei"/>
              </a:defRPr>
            </a:pPr>
            <a:r>
              <a:t>死亡风险比（RR）：1.468（95%CI 1.116-1.932）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人数：561</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试验药/方案：阿基仑赛、格菲妥单抗、艾可瑞妥单抗</a:t>
            </a:r>
          </a:p>
          <a:p>
            <a:pPr>
              <a:lnSpc>
                <a:spcPct val="103000"/>
              </a:lnSpc>
              <a:spcAft>
                <a:spcPts val="300"/>
              </a:spcAft>
              <a:defRPr sz="810">
                <a:solidFill>
                  <a:srgbClr val="21242A"/>
                </a:solidFill>
                <a:latin typeface="Microsoft YaHei"/>
              </a:defRPr>
            </a:pPr>
            <a:r>
              <a:t>靶点：CD19、CD20、CD3</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弥漫性大b细胞淋巴瘤的真实总体生存率比较：car t细胞疗法与双特异性抗体</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comparative real‑world overall survival in diffuse large b‑cell lymphoma: car...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EHA原文结果（中文字段未通过数字核对）（1/3）</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A total of 561 patients with DLBCL were enrolled, including 123 treated with BsAbs and 438 treated with CAR T</a:t>
            </a:r>
          </a:p>
          <a:p>
            <a:pPr>
              <a:lnSpc>
                <a:spcPct val="103000"/>
              </a:lnSpc>
              <a:spcAft>
                <a:spcPts val="300"/>
              </a:spcAft>
              <a:defRPr sz="819">
                <a:solidFill>
                  <a:srgbClr val="21242A"/>
                </a:solidFill>
                <a:latin typeface="Microsoft YaHei"/>
              </a:defRPr>
            </a:pPr>
            <a:r>
              <a:t>-cell therapies.</a:t>
            </a:r>
          </a:p>
          <a:p>
            <a:pPr>
              <a:lnSpc>
                <a:spcPct val="103000"/>
              </a:lnSpc>
              <a:spcAft>
                <a:spcPts val="300"/>
              </a:spcAft>
              <a:defRPr sz="819">
                <a:solidFill>
                  <a:srgbClr val="21242A"/>
                </a:solidFill>
                <a:latin typeface="Microsoft YaHei"/>
              </a:defRPr>
            </a:pPr>
            <a:r>
              <a:t>The mean age at the index event (initiation of BsAbs for Cohort 1; initiation of CAR T-cell therapy for Cohort 2) was </a:t>
            </a:r>
          </a:p>
          <a:p>
            <a:pPr>
              <a:lnSpc>
                <a:spcPct val="103000"/>
              </a:lnSpc>
              <a:spcAft>
                <a:spcPts val="300"/>
              </a:spcAft>
              <a:defRPr sz="819">
                <a:solidFill>
                  <a:srgbClr val="21242A"/>
                </a:solidFill>
                <a:latin typeface="Microsoft YaHei"/>
              </a:defRPr>
            </a:pPr>
            <a:r>
              <a:t>47.2±9.2 for Cohort 1 and 44.5±11.3 for Cohort 2 (p=0.015).</a:t>
            </a:r>
          </a:p>
          <a:p>
            <a:pPr>
              <a:lnSpc>
                <a:spcPct val="103000"/>
              </a:lnSpc>
              <a:spcAft>
                <a:spcPts val="300"/>
              </a:spcAft>
              <a:defRPr sz="819">
                <a:solidFill>
                  <a:srgbClr val="21242A"/>
                </a:solidFill>
                <a:latin typeface="Microsoft YaHei"/>
              </a:defRPr>
            </a:pPr>
            <a:r>
              <a:t>There were 63% and 66% male patients, respectively (p=0.664).</a:t>
            </a:r>
          </a:p>
          <a:p>
            <a:pPr>
              <a:lnSpc>
                <a:spcPct val="103000"/>
              </a:lnSpc>
              <a:spcAft>
                <a:spcPts val="300"/>
              </a:spcAft>
              <a:defRPr sz="819">
                <a:solidFill>
                  <a:srgbClr val="21242A"/>
                </a:solidFill>
                <a:latin typeface="Microsoft YaHei"/>
              </a:defRPr>
            </a:pPr>
            <a:r>
              <a:t>Over a 2-year follow-up period from the index event, Cohort 1 had a significantly higher risk of death compared to Coh</a:t>
            </a:r>
          </a:p>
          <a:p>
            <a:pPr>
              <a:lnSpc>
                <a:spcPct val="103000"/>
              </a:lnSpc>
              <a:spcAft>
                <a:spcPts val="300"/>
              </a:spcAft>
              <a:defRPr sz="819">
                <a:solidFill>
                  <a:srgbClr val="21242A"/>
                </a:solidFill>
                <a:latin typeface="Microsoft YaHei"/>
              </a:defRPr>
            </a:pPr>
            <a:r>
              <a:t>ort 2 (RR 1.468, 95%CI 1.116-1.932).</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摘要号：PF995</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弥漫性大b细胞淋巴瘤的真实总体生存率比较：car t细胞疗法与双特异性抗体</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comparative real‑world overall survival in diffuse large b‑cell lymphoma: car...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EHA原文结果（中文字段未通过数字核对）（2/3）</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Cohort 1 had a significantly shorter two-year OS probability and a higher risk of death at two years (47.5% vs.</a:t>
            </a:r>
          </a:p>
          <a:p>
            <a:pPr>
              <a:lnSpc>
                <a:spcPct val="103000"/>
              </a:lnSpc>
              <a:spcAft>
                <a:spcPts val="300"/>
              </a:spcAft>
              <a:defRPr sz="819">
                <a:solidFill>
                  <a:srgbClr val="21242A"/>
                </a:solidFill>
                <a:latin typeface="Microsoft YaHei"/>
              </a:defRPr>
            </a:pPr>
            <a:r>
              <a:t>67.3% survival probability at 2 years from the index event, log-rank test, χ2=20.034, p Summary/Conclusion: In this re</a:t>
            </a:r>
          </a:p>
          <a:p>
            <a:pPr>
              <a:lnSpc>
                <a:spcPct val="103000"/>
              </a:lnSpc>
              <a:spcAft>
                <a:spcPts val="300"/>
              </a:spcAft>
              <a:defRPr sz="819">
                <a:solidFill>
                  <a:srgbClr val="21242A"/>
                </a:solidFill>
                <a:latin typeface="Microsoft YaHei"/>
              </a:defRPr>
            </a:pPr>
            <a:r>
              <a:t>al-world analysis of DLBCL patients ≤60 years old, treatment with BsAbs was linked to worse OS and higher death risk c</a:t>
            </a:r>
          </a:p>
          <a:p>
            <a:pPr>
              <a:lnSpc>
                <a:spcPct val="103000"/>
              </a:lnSpc>
              <a:spcAft>
                <a:spcPts val="300"/>
              </a:spcAft>
              <a:defRPr sz="819">
                <a:solidFill>
                  <a:srgbClr val="21242A"/>
                </a:solidFill>
                <a:latin typeface="Microsoft YaHei"/>
              </a:defRPr>
            </a:pPr>
            <a:r>
              <a:t>ompared to CAR T-cell therapies.</a:t>
            </a:r>
          </a:p>
          <a:p>
            <a:pPr>
              <a:lnSpc>
                <a:spcPct val="103000"/>
              </a:lnSpc>
              <a:spcAft>
                <a:spcPts val="300"/>
              </a:spcAft>
              <a:defRPr sz="819">
                <a:solidFill>
                  <a:srgbClr val="21242A"/>
                </a:solidFill>
                <a:latin typeface="Microsoft YaHei"/>
              </a:defRPr>
            </a:pPr>
            <a:r>
              <a:t>These findings remained consistent before and after PSM, highlighting the robustness of the results.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弥漫性大b细胞淋巴瘤的真实总体生存率比较：car t细胞疗法与双特异性抗体</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comparative real‑world overall survival in diffuse large b‑cell lymphoma: car...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EHA原文结果（中文字段未通过数字核对）（3/3）</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While CAR T-cell therapies showed better survival over 2 years, the data's aggregate nature limits detailed clinical i</a:t>
            </a:r>
          </a:p>
          <a:p>
            <a:pPr>
              <a:lnSpc>
                <a:spcPct val="103000"/>
              </a:lnSpc>
              <a:spcAft>
                <a:spcPts val="300"/>
              </a:spcAft>
              <a:defRPr sz="819">
                <a:solidFill>
                  <a:srgbClr val="21242A"/>
                </a:solidFill>
                <a:latin typeface="Microsoft YaHei"/>
              </a:defRPr>
            </a:pPr>
            <a:r>
              <a:t>nterpretation, including disease and treatment factors affecting outcomes.</a:t>
            </a:r>
          </a:p>
          <a:p>
            <a:pPr>
              <a:lnSpc>
                <a:spcPct val="103000"/>
              </a:lnSpc>
              <a:spcAft>
                <a:spcPts val="300"/>
              </a:spcAft>
              <a:defRPr sz="819">
                <a:solidFill>
                  <a:srgbClr val="21242A"/>
                </a:solidFill>
                <a:latin typeface="Microsoft YaHei"/>
              </a:defRPr>
            </a:pPr>
            <a:r>
              <a:t>Still, the results support using CAR T-cell therapies over BsAbs for eligible younger patients with R/R DLBCL and emph</a:t>
            </a:r>
          </a:p>
          <a:p>
            <a:pPr>
              <a:lnSpc>
                <a:spcPct val="103000"/>
              </a:lnSpc>
              <a:spcAft>
                <a:spcPts val="300"/>
              </a:spcAft>
              <a:defRPr sz="819">
                <a:solidFill>
                  <a:srgbClr val="21242A"/>
                </a:solidFill>
                <a:latin typeface="Microsoft YaHei"/>
              </a:defRPr>
            </a:pPr>
            <a:r>
              <a:t>asize the need for more research with patient-level data to improve comparative assessments.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波兰淋巴瘤研究组（plrg）的倾向评分匹配分析：复发/难治性dlbcl中polatuzumab br与tafasita...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polatuzumab-br vs tafasitamab-lenalidomide in relapsed/refractory dlbcl: a pr...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N=206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苯达莫司汀</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多组/多方案比较：试验组1：polatuzumab vedotin，bendamustine，rituximab（Pola-B...</a:t>
            </a:r>
          </a:p>
          <a:p>
            <a:pPr>
              <a:lnSpc>
                <a:spcPct val="103000"/>
              </a:lnSpc>
              <a:spcAft>
                <a:spcPts val="300"/>
              </a:spcAft>
              <a:defRPr sz="800">
                <a:solidFill>
                  <a:srgbClr val="21242A"/>
                </a:solidFill>
                <a:latin typeface="Microsoft YaHei"/>
              </a:defRPr>
            </a:pPr>
            <a:r>
              <a:t>试验组2：tafasitamab，lenalidomide（Tafa-Len）</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总缓解率（ORR）：Pola-BR组显著高于Tafa-Len组</a:t>
            </a:r>
          </a:p>
          <a:p>
            <a:pPr>
              <a:lnSpc>
                <a:spcPct val="103000"/>
              </a:lnSpc>
              <a:spcAft>
                <a:spcPts val="300"/>
              </a:spcAft>
              <a:defRPr sz="800">
                <a:solidFill>
                  <a:srgbClr val="21242A"/>
                </a:solidFill>
                <a:latin typeface="Microsoft YaHei"/>
              </a:defRPr>
            </a:pPr>
            <a:r>
              <a:t>完全缓解率（CR）：Pola-BR组更高</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人数：206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试验药/方案：维泊妥珠单抗、苯达莫司汀、利妥昔单抗、来那度胺</a:t>
            </a:r>
          </a:p>
          <a:p>
            <a:pPr>
              <a:lnSpc>
                <a:spcPct val="103000"/>
              </a:lnSpc>
              <a:spcAft>
                <a:spcPts val="300"/>
              </a:spcAft>
              <a:defRPr sz="810">
                <a:solidFill>
                  <a:srgbClr val="21242A"/>
                </a:solidFill>
                <a:latin typeface="Microsoft YaHei"/>
              </a:defRPr>
            </a:pPr>
            <a:r>
              <a:t>靶点：CD79B、DNA、CD20、IKZF3</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波兰淋巴瘤研究组（plrg）的倾向评分匹配分析：复发/难治性dlbcl中polatuzumab br与tafasita...</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polatuzumab-br vs tafasitamab-lenalidomide in relapsed/refractory dlbcl: a pr...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总缓解率（ORR）</a:t>
                      </a:r>
                    </a:p>
                  </a:txBody>
                  <a:tcPr>
                    <a:solidFill>
                      <a:srgbClr val="F6F8FB"/>
                    </a:solidFill>
                  </a:tcPr>
                </a:tc>
                <a:tc>
                  <a:txBody>
                    <a:bodyPr wrap="square" lIns="36576" rIns="36576" tIns="18288" bIns="18288"/>
                    <a:lstStyle/>
                    <a:p>
                      <a:r>
                        <a:rPr sz="720" b="0">
                          <a:solidFill>
                            <a:srgbClr val="21242A"/>
                          </a:solidFill>
                          <a:latin typeface="Microsoft YaHei"/>
                        </a:rPr>
                        <a:t>Pola-BR组显著高于Tafa-Len组</a:t>
                      </a:r>
                    </a:p>
                  </a:txBody>
                  <a:tcPr>
                    <a:solidFill>
                      <a:srgbClr val="F6F8FB"/>
                    </a:solidFill>
                  </a:tcPr>
                </a:tc>
              </a:tr>
              <a:tr h="376428">
                <a:tc>
                  <a:txBody>
                    <a:bodyPr wrap="square" lIns="36576" rIns="36576" tIns="18288" bIns="18288"/>
                    <a:lstStyle/>
                    <a:p>
                      <a:r>
                        <a:rPr sz="720" b="1">
                          <a:solidFill>
                            <a:srgbClr val="21242A"/>
                          </a:solidFill>
                          <a:latin typeface="Microsoft YaHei"/>
                        </a:rPr>
                        <a:t>完全缓解率（CR）</a:t>
                      </a:r>
                    </a:p>
                  </a:txBody>
                  <a:tcPr>
                    <a:solidFill>
                      <a:srgbClr val="FFFFFF"/>
                    </a:solidFill>
                  </a:tcPr>
                </a:tc>
                <a:tc>
                  <a:txBody>
                    <a:bodyPr wrap="square" lIns="36576" rIns="36576" tIns="18288" bIns="18288"/>
                    <a:lstStyle/>
                    <a:p>
                      <a:r>
                        <a:rPr sz="720" b="0">
                          <a:solidFill>
                            <a:srgbClr val="21242A"/>
                          </a:solidFill>
                          <a:latin typeface="Microsoft YaHei"/>
                        </a:rPr>
                        <a:t>Pola-BR组更高</a:t>
                      </a:r>
                    </a:p>
                  </a:txBody>
                  <a:tcPr>
                    <a:solidFill>
                      <a:srgbClr val="FFFFFF"/>
                    </a:solidFill>
                  </a:tcPr>
                </a:tc>
              </a:tr>
              <a:tr h="376428">
                <a:tc>
                  <a:txBody>
                    <a:bodyPr wrap="square" lIns="36576" rIns="36576" tIns="18288" bIns="18288"/>
                    <a:lstStyle/>
                    <a:p>
                      <a:r>
                        <a:rPr sz="720" b="1">
                          <a:solidFill>
                            <a:srgbClr val="21242A"/>
                          </a:solidFill>
                          <a:latin typeface="Microsoft YaHei"/>
                        </a:rPr>
                        <a:t>部分缓解率（PR）</a:t>
                      </a:r>
                    </a:p>
                  </a:txBody>
                  <a:tcPr>
                    <a:solidFill>
                      <a:srgbClr val="F6F8FB"/>
                    </a:solidFill>
                  </a:tcPr>
                </a:tc>
                <a:tc>
                  <a:txBody>
                    <a:bodyPr wrap="square" lIns="36576" rIns="36576" tIns="18288" bIns="18288"/>
                    <a:lstStyle/>
                    <a:p>
                      <a:r>
                        <a:rPr sz="720" b="0">
                          <a:solidFill>
                            <a:srgbClr val="21242A"/>
                          </a:solidFill>
                          <a:latin typeface="Microsoft YaHei"/>
                        </a:rPr>
                        <a:t>Pola-BR组更高</a:t>
                      </a:r>
                    </a:p>
                  </a:txBody>
                  <a:tcPr>
                    <a:solidFill>
                      <a:srgbClr val="F6F8FB"/>
                    </a:solidFill>
                  </a:tcPr>
                </a:tc>
              </a:tr>
              <a:tr h="376428">
                <a:tc>
                  <a:txBody>
                    <a:bodyPr wrap="square" lIns="36576" rIns="36576" tIns="18288" bIns="18288"/>
                    <a:lstStyle/>
                    <a:p>
                      <a:r>
                        <a:rPr sz="720" b="1">
                          <a:solidFill>
                            <a:srgbClr val="21242A"/>
                          </a:solidFill>
                          <a:latin typeface="Microsoft YaHei"/>
                        </a:rPr>
                        <a:t>中位无进展生存期（PFS）</a:t>
                      </a:r>
                    </a:p>
                  </a:txBody>
                  <a:tcPr>
                    <a:solidFill>
                      <a:srgbClr val="FFFFFF"/>
                    </a:solidFill>
                  </a:tcPr>
                </a:tc>
                <a:tc>
                  <a:txBody>
                    <a:bodyPr wrap="square" lIns="36576" rIns="36576" tIns="18288" bIns="18288"/>
                    <a:lstStyle/>
                    <a:p>
                      <a:r>
                        <a:rPr sz="720" b="0">
                          <a:solidFill>
                            <a:srgbClr val="21242A"/>
                          </a:solidFill>
                          <a:latin typeface="Microsoft YaHei"/>
                        </a:rPr>
                        <a:t>Pola-BR组优于Tafa-Len组</a:t>
                      </a:r>
                    </a:p>
                  </a:txBody>
                  <a:tcPr>
                    <a:solidFill>
                      <a:srgbClr val="FFFFFF"/>
                    </a:solidFill>
                  </a:tcPr>
                </a:tc>
              </a:tr>
              <a:tr h="376428">
                <a:tc>
                  <a:txBody>
                    <a:bodyPr wrap="square" lIns="36576" rIns="36576" tIns="18288" bIns="18288"/>
                    <a:lstStyle/>
                    <a:p>
                      <a:r>
                        <a:rPr sz="720" b="1">
                          <a:solidFill>
                            <a:srgbClr val="21242A"/>
                          </a:solidFill>
                          <a:latin typeface="Microsoft YaHei"/>
                        </a:rPr>
                        <a:t>1年总生存率（OS）</a:t>
                      </a:r>
                    </a:p>
                  </a:txBody>
                  <a:tcPr>
                    <a:solidFill>
                      <a:srgbClr val="F6F8FB"/>
                    </a:solidFill>
                  </a:tcPr>
                </a:tc>
                <a:tc>
                  <a:txBody>
                    <a:bodyPr wrap="square" lIns="36576" rIns="36576" tIns="18288" bIns="18288"/>
                    <a:lstStyle/>
                    <a:p>
                      <a:r>
                        <a:rPr sz="720" b="0">
                          <a:solidFill>
                            <a:srgbClr val="21242A"/>
                          </a:solidFill>
                          <a:latin typeface="Microsoft YaHei"/>
                        </a:rPr>
                        <a:t>Pola-BR组50% vs Tafa-Len组44%（p=0.20）</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摘要号：PF994</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lisocabtagene maraleucel和双特异性在三系或晚期大b细胞淋巴瘤（lbcl）中的有效性、安全性和医...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comparative study of the effectiveness, safety, and health care 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N=273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试验药/方案：Lisocabtagene maraleucel</a:t>
            </a:r>
          </a:p>
          <a:p>
            <a:pPr>
              <a:lnSpc>
                <a:spcPct val="103000"/>
              </a:lnSpc>
              <a:spcAft>
                <a:spcPts val="300"/>
              </a:spcAft>
              <a:defRPr sz="800">
                <a:solidFill>
                  <a:srgbClr val="21242A"/>
                </a:solidFill>
                <a:latin typeface="Microsoft YaHei"/>
              </a:defRPr>
            </a:pPr>
            <a:r>
              <a:t>格菲妥单抗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多组/多方案比较：试验组1：lisocabtagene maraleucel</a:t>
            </a:r>
          </a:p>
          <a:p>
            <a:pPr>
              <a:lnSpc>
                <a:spcPct val="103000"/>
              </a:lnSpc>
              <a:spcAft>
                <a:spcPts val="300"/>
              </a:spcAft>
              <a:defRPr sz="800">
                <a:solidFill>
                  <a:srgbClr val="21242A"/>
                </a:solidFill>
                <a:latin typeface="Microsoft YaHei"/>
              </a:defRPr>
            </a:pPr>
            <a:r>
              <a:t>试验组2：双特异性抗体（epcoritamab, glofitamab）</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总生存期（OS）：调整后HR 0.62（P=0.023）</a:t>
            </a:r>
          </a:p>
          <a:p>
            <a:pPr>
              <a:lnSpc>
                <a:spcPct val="103000"/>
              </a:lnSpc>
              <a:spcAft>
                <a:spcPts val="300"/>
              </a:spcAft>
              <a:defRPr sz="800">
                <a:solidFill>
                  <a:srgbClr val="21242A"/>
                </a:solidFill>
                <a:latin typeface="Microsoft YaHei"/>
              </a:defRPr>
            </a:pPr>
            <a:r>
              <a:t>liso-cel组中位OS未达到，BsAb组11个月</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人数：273</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治疗线数：三线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试验药/方案：Lisocabtagene maraleucel、格菲妥单抗、艾可瑞妥单抗</a:t>
            </a:r>
          </a:p>
          <a:p>
            <a:pPr>
              <a:lnSpc>
                <a:spcPct val="103000"/>
              </a:lnSpc>
              <a:spcAft>
                <a:spcPts val="300"/>
              </a:spcAft>
              <a:defRPr sz="810">
                <a:solidFill>
                  <a:srgbClr val="21242A"/>
                </a:solidFill>
                <a:latin typeface="Microsoft YaHei"/>
              </a:defRPr>
            </a:pPr>
            <a:r>
              <a:t>靶点：CD19、CD20、CD3</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lisocabtagene maraleucel和双特异性在三系或晚期大b细胞淋巴瘤（lbcl）中的有效性、安全性和医...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comparative study of the effectiveness, safety, and health care 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EHA原文结果（中文字段未通过数字核对）（1/6）</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A total of 273 patients were included, with 161 receiving liso-cel and 112 receiving BsAb (median [IQR] age a</a:t>
            </a:r>
          </a:p>
          <a:p>
            <a:pPr>
              <a:lnSpc>
                <a:spcPct val="103000"/>
              </a:lnSpc>
              <a:spcAft>
                <a:spcPts val="300"/>
              </a:spcAft>
              <a:defRPr sz="819">
                <a:solidFill>
                  <a:srgbClr val="21242A"/>
                </a:solidFill>
                <a:latin typeface="Microsoft YaHei"/>
              </a:defRPr>
            </a:pPr>
            <a:r>
              <a:t>t index, 72 y [62–77] vs 75 y [65–81]; DLBCL, not otherwise specified, 87% vs 76%; high-grade B-cell lymphoma, 2% vs 8</a:t>
            </a:r>
          </a:p>
          <a:p>
            <a:pPr>
              <a:lnSpc>
                <a:spcPct val="103000"/>
              </a:lnSpc>
              <a:spcAft>
                <a:spcPts val="300"/>
              </a:spcAft>
              <a:defRPr sz="819">
                <a:solidFill>
                  <a:srgbClr val="21242A"/>
                </a:solidFill>
                <a:latin typeface="Microsoft YaHei"/>
              </a:defRPr>
            </a:pPr>
            <a:r>
              <a:t>%; elevated LDH, 28% vs 54%; bulky disease, 66% vs 66%; 3L, 70% vs 54%; and median follow-up time of 12.4 mo vs 9.1 mo</a:t>
            </a:r>
          </a:p>
          <a:p>
            <a:pPr>
              <a:lnSpc>
                <a:spcPct val="103000"/>
              </a:lnSpc>
              <a:spcAft>
                <a:spcPts val="300"/>
              </a:spcAft>
              <a:defRPr sz="819">
                <a:solidFill>
                  <a:srgbClr val="21242A"/>
                </a:solidFill>
                <a:latin typeface="Microsoft YaHei"/>
              </a:defRPr>
            </a:pPr>
            <a:r>
              <a:t>).</a:t>
            </a:r>
          </a:p>
          <a:p>
            <a:pPr>
              <a:lnSpc>
                <a:spcPct val="103000"/>
              </a:lnSpc>
              <a:spcAft>
                <a:spcPts val="300"/>
              </a:spcAft>
              <a:defRPr sz="819">
                <a:solidFill>
                  <a:srgbClr val="21242A"/>
                </a:solidFill>
                <a:latin typeface="Microsoft YaHei"/>
              </a:defRPr>
            </a:pPr>
            <a:r>
              <a:t>In both unadjusted and adjusted analyses, liso-cel was associated with a statistically significant improvement in OS (</a:t>
            </a:r>
          </a:p>
          <a:p>
            <a:pPr>
              <a:lnSpc>
                <a:spcPct val="103000"/>
              </a:lnSpc>
              <a:spcAft>
                <a:spcPts val="300"/>
              </a:spcAft>
              <a:defRPr sz="819">
                <a:solidFill>
                  <a:srgbClr val="21242A"/>
                </a:solidFill>
                <a:latin typeface="Microsoft YaHei"/>
              </a:defRPr>
            </a:pPr>
            <a:r>
              <a:t>adjusted HR, 0.62; P =0.023) and PFS (adjusted HR, 0.53; P P =0.004) and CRR (61% vs 28%; P Table 1 ).</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摘要号：PF985</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lisocabtagene maraleucel和双特异性在三系或晚期大b细胞淋巴瘤（lbcl）中的有效性、安全性和医...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comparative study of the effectiveness, safety, and health care 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EHA原文结果（中文字段未通过数字核对）（2/6）</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\n In a sensitivity analysis of 3L-only patients (liso-cel, n=113; BsAb, n=60), liso-cel had a statistically significa</a:t>
            </a:r>
          </a:p>
          <a:p>
            <a:pPr>
              <a:lnSpc>
                <a:spcPct val="103000"/>
              </a:lnSpc>
              <a:spcAft>
                <a:spcPts val="300"/>
              </a:spcAft>
              <a:defRPr sz="819">
                <a:solidFill>
                  <a:srgbClr val="21242A"/>
                </a:solidFill>
                <a:latin typeface="Microsoft YaHei"/>
              </a:defRPr>
            </a:pPr>
            <a:r>
              <a:t>nt benefit for OS (HR, 0.35; P P with higher ORR (83% vs 64%) and CRR (65% vs 27%) vs BsAb.</a:t>
            </a:r>
          </a:p>
          <a:p>
            <a:pPr>
              <a:lnSpc>
                <a:spcPct val="103000"/>
              </a:lnSpc>
              <a:spcAft>
                <a:spcPts val="300"/>
              </a:spcAft>
              <a:defRPr sz="819">
                <a:solidFill>
                  <a:srgbClr val="21242A"/>
                </a:solidFill>
                <a:latin typeface="Microsoft YaHei"/>
              </a:defRPr>
            </a:pPr>
            <a:r>
              <a:t>\n Any-grade cytokine release syndrome (CRS) and immune effector cell–associated neurotoxicity syndrome (ICANS) incide</a:t>
            </a:r>
          </a:p>
          <a:p>
            <a:pPr>
              <a:lnSpc>
                <a:spcPct val="103000"/>
              </a:lnSpc>
              <a:spcAft>
                <a:spcPts val="300"/>
              </a:spcAft>
              <a:defRPr sz="819">
                <a:solidFill>
                  <a:srgbClr val="21242A"/>
                </a:solidFill>
                <a:latin typeface="Microsoft YaHei"/>
              </a:defRPr>
            </a:pPr>
            <a:r>
              <a:t>nce was higher with liso-cel, mostly due to grade 1–2 events ( Table 2 ).</a:t>
            </a:r>
          </a:p>
          <a:p>
            <a:pPr>
              <a:lnSpc>
                <a:spcPct val="103000"/>
              </a:lnSpc>
              <a:spcAft>
                <a:spcPts val="300"/>
              </a:spcAft>
              <a:defRPr sz="819">
                <a:solidFill>
                  <a:srgbClr val="21242A"/>
                </a:solidFill>
                <a:latin typeface="Microsoft YaHei"/>
              </a:defRPr>
            </a:pPr>
            <a:r>
              <a:t>There was no grade ≥3 CRS with liso-cel and low rates of grade ≥3 ICANS overall.</a:t>
            </a:r>
          </a:p>
          <a:p>
            <a:pPr>
              <a:lnSpc>
                <a:spcPct val="103000"/>
              </a:lnSpc>
              <a:spcAft>
                <a:spcPts val="300"/>
              </a:spcAft>
              <a:defRPr sz="819">
                <a:solidFill>
                  <a:srgbClr val="21242A"/>
                </a:solidFill>
                <a:latin typeface="Microsoft YaHei"/>
              </a:defRPr>
            </a:pPr>
            <a:r>
              <a:t>Rates of prolonged cytopenia (liso-cel, 32%; BsAb, 29%) and infections (liso-cel, 8%; BsAb, 14%) were comparable betwe</a:t>
            </a:r>
          </a:p>
          <a:p>
            <a:pPr>
              <a:lnSpc>
                <a:spcPct val="103000"/>
              </a:lnSpc>
              <a:spcAft>
                <a:spcPts val="300"/>
              </a:spcAft>
              <a:defRPr sz="819">
                <a:solidFill>
                  <a:srgbClr val="21242A"/>
                </a:solidFill>
                <a:latin typeface="Microsoft YaHei"/>
              </a:defRPr>
            </a:pPr>
            <a:r>
              <a:t>en cohorts.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lisocabtagene maraleucel和双特异性在三系或晚期大b细胞淋巴瘤（lbcl）中的有效性、安全性和医...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comparative study of the effectiveness, safety, and health care 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EHA原文结果（中文字段未通过数字核对）（3/6）</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There were lower hospitalization and ICU admission rates with liso-cel vs BsAb across most time periods ( Figure 1 ).</a:t>
            </a:r>
          </a:p>
          <a:p>
            <a:pPr>
              <a:lnSpc>
                <a:spcPct val="103000"/>
              </a:lnSpc>
              <a:spcAft>
                <a:spcPts val="300"/>
              </a:spcAft>
              <a:defRPr sz="819">
                <a:solidFill>
                  <a:srgbClr val="21242A"/>
                </a:solidFill>
                <a:latin typeface="Microsoft YaHei"/>
              </a:defRPr>
            </a:pPr>
            <a:r>
              <a:t>Summary/Conclusion: In this retrospective, RW analysis, liso-cel demonstrated significantly better efficacy and simila</a:t>
            </a:r>
          </a:p>
          <a:p>
            <a:pPr>
              <a:lnSpc>
                <a:spcPct val="103000"/>
              </a:lnSpc>
              <a:spcAft>
                <a:spcPts val="300"/>
              </a:spcAft>
              <a:defRPr sz="819">
                <a:solidFill>
                  <a:srgbClr val="21242A"/>
                </a:solidFill>
                <a:latin typeface="Microsoft YaHei"/>
              </a:defRPr>
            </a:pPr>
            <a:r>
              <a:t>r HCRU and safety vs BsAb as a 3L+ therapy for LBCL; further data are needed to compare these treatments in earlier li</a:t>
            </a:r>
          </a:p>
          <a:p>
            <a:pPr>
              <a:lnSpc>
                <a:spcPct val="103000"/>
              </a:lnSpc>
              <a:spcAft>
                <a:spcPts val="300"/>
              </a:spcAft>
              <a:defRPr sz="819">
                <a:solidFill>
                  <a:srgbClr val="21242A"/>
                </a:solidFill>
                <a:latin typeface="Microsoft YaHei"/>
              </a:defRPr>
            </a:pPr>
            <a:r>
              <a:t>nes of therapy.</a:t>
            </a:r>
          </a:p>
          <a:p>
            <a:pPr>
              <a:lnSpc>
                <a:spcPct val="103000"/>
              </a:lnSpc>
              <a:spcAft>
                <a:spcPts val="300"/>
              </a:spcAft>
              <a:defRPr sz="819">
                <a:solidFill>
                  <a:srgbClr val="21242A"/>
                </a:solidFill>
                <a:latin typeface="Microsoft YaHei"/>
              </a:defRPr>
            </a:pPr>
            <a:r>
              <a:t>Table 1.</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lisocabtagene maraleucel和双特异性在三系或晚期大b细胞淋巴瘤（lbcl）中的有效性、安全性和医...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comparative study of the effectiveness, safety, and health care 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EHA原文结果（中文字段未通过数字核对）（4/6）</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Efficacy outcomes \n \n \n \n Outcome \n Liso-cel (n=161) \n BsAb (n=112) \n P value \n \n \n OS, (95% CI) \n \n \n Un</a:t>
            </a:r>
          </a:p>
          <a:p>
            <a:pPr>
              <a:lnSpc>
                <a:spcPct val="103000"/>
              </a:lnSpc>
              <a:spcAft>
                <a:spcPts val="300"/>
              </a:spcAft>
              <a:defRPr sz="819">
                <a:solidFill>
                  <a:srgbClr val="21242A"/>
                </a:solidFill>
                <a:latin typeface="Microsoft YaHei"/>
              </a:defRPr>
            </a:pPr>
            <a:r>
              <a:t>adjusted median, mo \n NE (20–NE) \n 11 (8–NE) \n \n \n \n Unadjusted HR \n 0.50 (0.33–0.75) \n \n \n \n Adjusted HR a</a:t>
            </a:r>
          </a:p>
          <a:p>
            <a:pPr>
              <a:lnSpc>
                <a:spcPct val="103000"/>
              </a:lnSpc>
              <a:spcAft>
                <a:spcPts val="300"/>
              </a:spcAft>
              <a:defRPr sz="819">
                <a:solidFill>
                  <a:srgbClr val="21242A"/>
                </a:solidFill>
                <a:latin typeface="Microsoft YaHei"/>
              </a:defRPr>
            </a:pPr>
            <a:r>
              <a:t> \n n=154 \n n=105 \n 0.023 \n \n \n 0.62 (0.41–0.94) \n \n \n PFS, (95% CI) \n \n \n Unadjusted median, mo \n 12 (10–</a:t>
            </a:r>
          </a:p>
          <a:p>
            <a:pPr>
              <a:lnSpc>
                <a:spcPct val="103000"/>
              </a:lnSpc>
              <a:spcAft>
                <a:spcPts val="300"/>
              </a:spcAft>
              <a:defRPr sz="819">
                <a:solidFill>
                  <a:srgbClr val="21242A"/>
                </a:solidFill>
                <a:latin typeface="Microsoft YaHei"/>
              </a:defRPr>
            </a:pPr>
            <a:r>
              <a:t>22) \n 5 (3–7) \n \n \n \n Unadjusted HR \n 0.48 (0.34–0.67) \n \n \n \n Adjusted HR a \n n=154 \n n=105 \n \n \n \n 0</a:t>
            </a:r>
          </a:p>
          <a:p>
            <a:pPr>
              <a:lnSpc>
                <a:spcPct val="103000"/>
              </a:lnSpc>
              <a:spcAft>
                <a:spcPts val="300"/>
              </a:spcAft>
              <a:defRPr sz="819">
                <a:solidFill>
                  <a:srgbClr val="21242A"/>
                </a:solidFill>
                <a:latin typeface="Microsoft YaHei"/>
              </a:defRPr>
            </a:pPr>
            <a:r>
              <a:t>.53 (0.37–0.74) \n \n \n ORR, % (95% CI) b \n \n \n Unadjusted \n n=138 80 (73–87) \n n=87 66 (55–75) \n 0.012 \n \n \</a:t>
            </a:r>
          </a:p>
          <a:p>
            <a:pPr>
              <a:lnSpc>
                <a:spcPct val="103000"/>
              </a:lnSpc>
              <a:spcAft>
                <a:spcPts val="300"/>
              </a:spcAft>
              <a:defRPr sz="819">
                <a:solidFill>
                  <a:srgbClr val="21242A"/>
                </a:solidFill>
                <a:latin typeface="Microsoft YaHei"/>
              </a:defRPr>
            </a:pPr>
            <a:r>
              <a:t>n Adjusted a \n n=133 81 (74–8</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lisocabtagene maraleucel和双特异性在三系或晚期大b细胞淋巴瘤（lbcl）中的有效性、安全性和医...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comparative study of the effectiveness, safety, and health care 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EHA原文结果（中文字段未通过数字核对）（5/6）</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7.5) \n n=81 64 (52–74) \n 0.004 \n \n \n CRR, % (95% CI) b \n \n \n Unadjusted \n n=138 60 (51.5–68) \n n=87 28 (18.5</a:t>
            </a:r>
          </a:p>
          <a:p>
            <a:pPr>
              <a:lnSpc>
                <a:spcPct val="103000"/>
              </a:lnSpc>
              <a:spcAft>
                <a:spcPts val="300"/>
              </a:spcAft>
              <a:defRPr sz="819">
                <a:solidFill>
                  <a:srgbClr val="21242A"/>
                </a:solidFill>
                <a:latin typeface="Microsoft YaHei"/>
              </a:defRPr>
            </a:pPr>
            <a:r>
              <a:t>–38) \n \n \n \n Adjusted a \n n=133 61 (52.5–70) \n n=81 28 (19–39) \n \n \n \n \n a Patients with rare histologies r</a:t>
            </a:r>
          </a:p>
          <a:p>
            <a:pPr>
              <a:lnSpc>
                <a:spcPct val="103000"/>
              </a:lnSpc>
              <a:spcAft>
                <a:spcPts val="300"/>
              </a:spcAft>
              <a:defRPr sz="819">
                <a:solidFill>
                  <a:srgbClr val="21242A"/>
                </a:solidFill>
                <a:latin typeface="Microsoft YaHei"/>
              </a:defRPr>
            </a:pPr>
            <a:r>
              <a:t>emoved after adjustment; b Excluding patients with ORR/CRR not documented.</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lisocabtagene maraleucel和双特异性在三系或晚期大b细胞淋巴瘤（lbcl）中的有效性、安全性和医...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comparative study of the effectiveness, safety, and health care 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EHA原文结果（中文字段未通过数字核对）（6/6）</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\n NE, nonevaluable. \n Table 2.</a:t>
            </a:r>
          </a:p>
          <a:p>
            <a:pPr>
              <a:lnSpc>
                <a:spcPct val="103000"/>
              </a:lnSpc>
              <a:spcAft>
                <a:spcPts val="300"/>
              </a:spcAft>
              <a:defRPr sz="819">
                <a:solidFill>
                  <a:srgbClr val="21242A"/>
                </a:solidFill>
                <a:latin typeface="Microsoft YaHei"/>
              </a:defRPr>
            </a:pPr>
            <a:r>
              <a:t>Adjusted safety outcomes \n \n \n \n Outcome \n Liso-cel (n=154) \n \n BsAb (n=105) \n \n P value \n \n \n CRS, n (%) </a:t>
            </a:r>
          </a:p>
          <a:p>
            <a:pPr>
              <a:lnSpc>
                <a:spcPct val="103000"/>
              </a:lnSpc>
              <a:spcAft>
                <a:spcPts val="300"/>
              </a:spcAft>
              <a:defRPr sz="819">
                <a:solidFill>
                  <a:srgbClr val="21242A"/>
                </a:solidFill>
                <a:latin typeface="Microsoft YaHei"/>
              </a:defRPr>
            </a:pPr>
            <a:r>
              <a:t>\n \n \n Yes \n 61 (40) \n 27 (26) \n 0.02 \n \n \n Grade \n 60 (39) \n 20 (19) \n \n \n \n Grade ≥3 \n 0 \n 3 (3) \n </a:t>
            </a:r>
          </a:p>
          <a:p>
            <a:pPr>
              <a:lnSpc>
                <a:spcPct val="103000"/>
              </a:lnSpc>
              <a:spcAft>
                <a:spcPts val="300"/>
              </a:spcAft>
              <a:defRPr sz="819">
                <a:solidFill>
                  <a:srgbClr val="21242A"/>
                </a:solidFill>
                <a:latin typeface="Microsoft YaHei"/>
              </a:defRPr>
            </a:pPr>
            <a:r>
              <a:t>\n \n Unknown \n 1 (1) \n 4 (4) \n \n \n ICANS, n (%) \n \n \n Yes \n 31 (20) \n 7 (7) \n 0.003 \n \n \n Grade \n 22 (</a:t>
            </a:r>
          </a:p>
          <a:p>
            <a:pPr>
              <a:lnSpc>
                <a:spcPct val="103000"/>
              </a:lnSpc>
              <a:spcAft>
                <a:spcPts val="300"/>
              </a:spcAft>
              <a:defRPr sz="819">
                <a:solidFill>
                  <a:srgbClr val="21242A"/>
                </a:solidFill>
                <a:latin typeface="Microsoft YaHei"/>
              </a:defRPr>
            </a:pPr>
            <a:r>
              <a:t>14) \n 3 (3) \n 0.555 \n \n \n Grade ≥3 \n 8 (5) \n 3 (3) \n \n \n Unknown \n 1 (1) \n 1 (1) \n \n \n</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axicabtagene ciloleucel与非ar-t方法在大b细胞淋巴瘤患者二线治疗中的实际结果：一项西班牙多中...</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outcomes of axicabtagene ciloleucel versus non-car-t approaches in...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N=841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对照/比较：试验组：axicabtagene ciloleucel</a:t>
            </a:r>
          </a:p>
          <a:p>
            <a:pPr>
              <a:lnSpc>
                <a:spcPct val="103000"/>
              </a:lnSpc>
              <a:spcAft>
                <a:spcPts val="300"/>
              </a:spcAft>
              <a:defRPr sz="800">
                <a:solidFill>
                  <a:srgbClr val="21242A"/>
                </a:solidFill>
                <a:latin typeface="Microsoft YaHei"/>
              </a:defRPr>
            </a:pPr>
            <a:r>
              <a:t>对照组1：化疗免疫治疗（适合移植）</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12个月OS率：66.3% (95% CI 59.0-74.4) || 中位PFS：12.7个月 (95% CI 10.4-N...</a:t>
            </a:r>
          </a:p>
          <a:p>
            <a:pPr>
              <a:lnSpc>
                <a:spcPct val="103000"/>
              </a:lnSpc>
              <a:spcAft>
                <a:spcPts val="300"/>
              </a:spcAft>
              <a:defRPr sz="800">
                <a:solidFill>
                  <a:srgbClr val="21242A"/>
                </a:solidFill>
                <a:latin typeface="Microsoft YaHei"/>
              </a:defRPr>
            </a:pPr>
            <a:r>
              <a:t>3-4级：4%） || 免疫效应细胞相关神经毒性综合征发生率：47%（2-4级：26%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人数：841</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治疗线数：二线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axicabtagene ciloleucel与非ar-t方法在大b细胞淋巴瘤患者二线治疗中的实际结果：一项西班牙多中...</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outcomes of axicabtagene ciloleucel versus non-car-t approaches in...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56464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564642">
                <a:tc>
                  <a:txBody>
                    <a:bodyPr wrap="square" lIns="36576" rIns="36576" tIns="18288" bIns="18288"/>
                    <a:lstStyle/>
                    <a:p>
                      <a:r>
                        <a:rPr sz="720" b="1">
                          <a:solidFill>
                            <a:srgbClr val="21242A"/>
                          </a:solidFill>
                          <a:latin typeface="Microsoft YaHei"/>
                        </a:rPr>
                        <a:t>12个月OS率</a:t>
                      </a:r>
                    </a:p>
                  </a:txBody>
                  <a:tcPr>
                    <a:solidFill>
                      <a:srgbClr val="F6F8FB"/>
                    </a:solidFill>
                  </a:tcPr>
                </a:tc>
                <a:tc>
                  <a:txBody>
                    <a:bodyPr wrap="square" lIns="36576" rIns="36576" tIns="18288" bIns="18288"/>
                    <a:lstStyle/>
                    <a:p>
                      <a:r>
                        <a:rPr sz="720" b="0">
                          <a:solidFill>
                            <a:srgbClr val="21242A"/>
                          </a:solidFill>
                          <a:latin typeface="Microsoft YaHei"/>
                        </a:rPr>
                        <a:t>66.3% (95% CI 59.0-74.4) || 中位PFS：12.7个月 (95% CI 10.4-NR) || 12个月PFS率：53.8% (95% CI 47.0-61.7) || 总体缓解率：81.3% || 完全缓解率：...</a:t>
                      </a:r>
                    </a:p>
                  </a:txBody>
                  <a:tcPr>
                    <a:solidFill>
                      <a:srgbClr val="F6F8FB"/>
                    </a:solidFill>
                  </a:tcPr>
                </a:tc>
              </a:tr>
              <a:tr h="564642">
                <a:tc>
                  <a:txBody>
                    <a:bodyPr wrap="square" lIns="36576" rIns="36576" tIns="18288" bIns="18288"/>
                    <a:lstStyle/>
                    <a:p>
                      <a:r>
                        <a:rPr sz="720" b="1">
                          <a:solidFill>
                            <a:srgbClr val="21242A"/>
                          </a:solidFill>
                          <a:latin typeface="Microsoft YaHei"/>
                        </a:rPr>
                        <a:t>3-4级</a:t>
                      </a:r>
                    </a:p>
                  </a:txBody>
                  <a:tcPr>
                    <a:solidFill>
                      <a:srgbClr val="FFFFFF"/>
                    </a:solidFill>
                  </a:tcPr>
                </a:tc>
                <a:tc>
                  <a:txBody>
                    <a:bodyPr wrap="square" lIns="36576" rIns="36576" tIns="18288" bIns="18288"/>
                    <a:lstStyle/>
                    <a:p>
                      <a:r>
                        <a:rPr sz="720" b="0">
                          <a:solidFill>
                            <a:srgbClr val="21242A"/>
                          </a:solidFill>
                          <a:latin typeface="Microsoft YaHei"/>
                        </a:rPr>
                        <a:t>4%） || 免疫效应细胞相关神经毒性综合征发生率：47%（2-4级：26%</a:t>
                      </a:r>
                    </a:p>
                  </a:txBody>
                  <a:tcPr>
                    <a:solidFill>
                      <a:srgbClr val="FFFFFF"/>
                    </a:solidFill>
                  </a:tcPr>
                </a:tc>
              </a:tr>
              <a:tr h="564642">
                <a:tc>
                  <a:txBody>
                    <a:bodyPr wrap="square" lIns="36576" rIns="36576" tIns="18288" bIns="18288"/>
                    <a:lstStyle/>
                    <a:p>
                      <a:r>
                        <a:rPr sz="720" b="1">
                          <a:solidFill>
                            <a:srgbClr val="21242A"/>
                          </a:solidFill>
                          <a:latin typeface="Microsoft YaHei"/>
                        </a:rPr>
                        <a:t>3-4级</a:t>
                      </a:r>
                    </a:p>
                  </a:txBody>
                  <a:tcPr>
                    <a:solidFill>
                      <a:srgbClr val="F6F8FB"/>
                    </a:solidFill>
                  </a:tcPr>
                </a:tc>
                <a:tc>
                  <a:txBody>
                    <a:bodyPr wrap="square" lIns="36576" rIns="36576" tIns="18288" bIns="18288"/>
                    <a:lstStyle/>
                    <a:p>
                      <a:r>
                        <a:rPr sz="720" b="0">
                          <a:solidFill>
                            <a:srgbClr val="21242A"/>
                          </a:solidFill>
                          <a:latin typeface="Microsoft YaHei"/>
                        </a:rPr>
                        <a:t>12.5%） || 移植适合患者中位PFS：axi-cel组未达到 vs CIT组4.60个月 (HR 2.06) || 移植不适合患者中位PFS：axi-cel组未达到 vs CIT组2.50个月 (HR 2.84)</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摘要号：PF976</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相同的人工智能，不同的医生：专业知识决定对淋巴瘤治疗建议的反应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same ai, different doctors: expertise determines response to treatment recomm...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PF1431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N=50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研究设计描述：same ai, different doctors: expertise determines respons...</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LLM可接受性：83% (95% CI: 74.5-89.1%)</a:t>
            </a:r>
          </a:p>
          <a:p>
            <a:pPr>
              <a:lnSpc>
                <a:spcPct val="103000"/>
              </a:lnSpc>
              <a:spcAft>
                <a:spcPts val="300"/>
              </a:spcAft>
              <a:defRPr sz="800">
                <a:solidFill>
                  <a:srgbClr val="21242A"/>
                </a:solidFill>
                <a:latin typeface="Microsoft YaHei"/>
              </a:defRPr>
            </a:pPr>
            <a:r>
              <a:t>LS拒绝而GH接受的建议：8个（16%），GH拒绝而LS接受的建议：1个（2%）（McNemar p=0.039）</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研究类型：研究设计描述</a:t>
            </a:r>
          </a:p>
          <a:p>
            <a:pPr>
              <a:lnSpc>
                <a:spcPct val="103000"/>
              </a:lnSpc>
              <a:spcAft>
                <a:spcPts val="300"/>
              </a:spcAft>
              <a:defRPr sz="810">
                <a:solidFill>
                  <a:srgbClr val="21242A"/>
                </a:solidFill>
                <a:latin typeface="Microsoft YaHei"/>
              </a:defRPr>
            </a:pPr>
            <a:r>
              <a:t>人数：50</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研究主题：same ai, different doctors: expertise determines response to treatment recommendations in lymphoma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相同的人工智能，不同的医生：专业知识决定对淋巴瘤治疗建议的反应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same ai, different doctors: expertise determines response to treatment recomm...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PF1431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The LLM achieved 83% acceptability (95% CI: 74.5-89.1%).</a:t>
            </a:r>
          </a:p>
          <a:p>
            <a:pPr>
              <a:lnSpc>
                <a:spcPct val="103000"/>
              </a:lnSpc>
              <a:spcAft>
                <a:spcPts val="300"/>
              </a:spcAft>
              <a:defRPr sz="819">
                <a:solidFill>
                  <a:srgbClr val="21242A"/>
                </a:solidFill>
                <a:latin typeface="Microsoft YaHei"/>
              </a:defRPr>
            </a:pPr>
            <a:r>
              <a:t>Concordance analysis revealed asymmetry: LS rejected 8 recommendations (16%) that GH accepted versus 1 (2%) reverse (M</a:t>
            </a:r>
          </a:p>
          <a:p>
            <a:pPr>
              <a:lnSpc>
                <a:spcPct val="103000"/>
              </a:lnSpc>
              <a:spcAft>
                <a:spcPts val="300"/>
              </a:spcAft>
              <a:defRPr sz="819">
                <a:solidFill>
                  <a:srgbClr val="21242A"/>
                </a:solidFill>
                <a:latin typeface="Microsoft YaHei"/>
              </a:defRPr>
            </a:pPr>
            <a:r>
              <a:t>cNemar p=0.039).</a:t>
            </a:r>
          </a:p>
          <a:p>
            <a:pPr>
              <a:lnSpc>
                <a:spcPct val="103000"/>
              </a:lnSpc>
              <a:spcAft>
                <a:spcPts val="300"/>
              </a:spcAft>
              <a:defRPr sz="819">
                <a:solidFill>
                  <a:srgbClr val="21242A"/>
                </a:solidFill>
                <a:latin typeface="Microsoft YaHei"/>
              </a:defRPr>
            </a:pPr>
            <a:r>
              <a:t>Behavioral influence differed markedly: GH modified recommendations significantly more than LS (32% vs 6%, p=0.002), a</a:t>
            </a:r>
          </a:p>
          <a:p>
            <a:pPr>
              <a:lnSpc>
                <a:spcPct val="103000"/>
              </a:lnSpc>
              <a:spcAft>
                <a:spcPts val="300"/>
              </a:spcAft>
              <a:defRPr sz="819">
                <a:solidFill>
                  <a:srgbClr val="21242A"/>
                </a:solidFill>
                <a:latin typeface="Microsoft YaHei"/>
              </a:defRPr>
            </a:pPr>
            <a:r>
              <a:t> 5-fold difference.</a:t>
            </a:r>
          </a:p>
          <a:p>
            <a:pPr>
              <a:lnSpc>
                <a:spcPct val="103000"/>
              </a:lnSpc>
              <a:spcAft>
                <a:spcPts val="300"/>
              </a:spcAft>
              <a:defRPr sz="819">
                <a:solidFill>
                  <a:srgbClr val="21242A"/>
                </a:solidFill>
                <a:latin typeface="Microsoft YaHei"/>
              </a:defRPr>
            </a:pPr>
            <a:r>
              <a:t>Summary/Conclusion: RAG-enhanced LLMs achieved 83% acceptability in R/R DLBCL recommendations, comparable to their per</a:t>
            </a:r>
          </a:p>
          <a:p>
            <a:pPr>
              <a:lnSpc>
                <a:spcPct val="103000"/>
              </a:lnSpc>
              <a:spcAft>
                <a:spcPts val="300"/>
              </a:spcAft>
              <a:defRPr sz="819">
                <a:solidFill>
                  <a:srgbClr val="21242A"/>
                </a:solidFill>
                <a:latin typeface="Microsoft YaHei"/>
              </a:defRPr>
            </a:pPr>
            <a:r>
              <a:t>formance on health benchmarks.</a:t>
            </a:r>
          </a:p>
          <a:p>
            <a:pPr>
              <a:lnSpc>
                <a:spcPct val="103000"/>
              </a:lnSpc>
              <a:spcAft>
                <a:spcPts val="300"/>
              </a:spcAft>
              <a:defRPr sz="819">
                <a:solidFill>
                  <a:srgbClr val="21242A"/>
                </a:solidFill>
                <a:latin typeface="Microsoft YaHei"/>
              </a:defRPr>
            </a:pPr>
            <a:r>
              <a:t>However, important limitations challenge clinical deployment readiness.</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摘要号：PF1431</a:t>
            </a:r>
          </a:p>
          <a:p>
            <a:pPr>
              <a:lnSpc>
                <a:spcPct val="103000"/>
              </a:lnSpc>
              <a:spcAft>
                <a:spcPts val="300"/>
              </a:spcAft>
              <a:defRPr sz="740">
                <a:solidFill>
                  <a:srgbClr val="5E6570"/>
                </a:solidFill>
                <a:latin typeface="Microsoft YaHei"/>
              </a:defRPr>
            </a:pPr>
            <a:r>
              <a:t>会议栏目：38. Novel technologies, techniques and digital analytical tools in hematology</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根据英国社会经济剥夺、距离和种族，大b细胞淋巴瘤患者使用2号线axicabtagene ciloleucel的途径和结果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access and outcomes for 2nd line axicabtagene ciloleucel in patients with lar...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PF1408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N=204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患者分布：低剥夺组58人（28.9%），中剥夺组102人（50.7%），高剥夺组41人（20.4%）。</a:t>
            </a:r>
          </a:p>
          <a:p>
            <a:pPr>
              <a:lnSpc>
                <a:spcPct val="103000"/>
              </a:lnSpc>
              <a:spcAft>
                <a:spcPts val="300"/>
              </a:spcAft>
              <a:defRPr sz="800">
                <a:solidFill>
                  <a:srgbClr val="21242A"/>
                </a:solidFill>
                <a:latin typeface="Microsoft YaHei"/>
              </a:defRPr>
            </a:pPr>
            <a:r>
              <a:t>种族分布：白人166人（89.2%），亚裔15人（8.1%），黑人5人（2.7%），18人未知。</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人数：204</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根据英国社会经济剥夺、距离和种族，大b细胞淋巴瘤患者使用2号线axicabtagene ciloleucel的途径和结果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access and outcomes for 2nd line axicabtagene ciloleucel in patients with lar...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PF1408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EHA原文结果（中文字段未通过数字核对）（1/6）</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The distribution by deprivation was: 58 Low (28.9%), 102 Medium (50.7%), and 41 High (20.4%).</a:t>
            </a:r>
          </a:p>
          <a:p>
            <a:pPr>
              <a:lnSpc>
                <a:spcPct val="103000"/>
              </a:lnSpc>
              <a:spcAft>
                <a:spcPts val="300"/>
              </a:spcAft>
              <a:defRPr sz="819">
                <a:solidFill>
                  <a:srgbClr val="21242A"/>
                </a:solidFill>
                <a:latin typeface="Microsoft YaHei"/>
              </a:defRPr>
            </a:pPr>
            <a:r>
              <a:t>The distribution by ethnicity was: 166 White (89.2%), 15 Asian (8.1%), 5 Black (2.7%) (18 Unknown).</a:t>
            </a:r>
          </a:p>
          <a:p>
            <a:pPr>
              <a:lnSpc>
                <a:spcPct val="103000"/>
              </a:lnSpc>
              <a:spcAft>
                <a:spcPts val="300"/>
              </a:spcAft>
              <a:defRPr sz="819">
                <a:solidFill>
                  <a:srgbClr val="21242A"/>
                </a:solidFill>
                <a:latin typeface="Microsoft YaHei"/>
              </a:defRPr>
            </a:pPr>
            <a:r>
              <a:t>There was a trend to greater proportion of ethnic minority patients from more deprived areas (Low 7.3%, Medium 10.6%, </a:t>
            </a:r>
          </a:p>
          <a:p>
            <a:pPr>
              <a:lnSpc>
                <a:spcPct val="103000"/>
              </a:lnSpc>
              <a:spcAft>
                <a:spcPts val="300"/>
              </a:spcAft>
              <a:defRPr sz="819">
                <a:solidFill>
                  <a:srgbClr val="21242A"/>
                </a:solidFill>
                <a:latin typeface="Microsoft YaHei"/>
              </a:defRPr>
            </a:pPr>
            <a:r>
              <a:t>High 17.5%, p=0.14).</a:t>
            </a:r>
          </a:p>
          <a:p>
            <a:pPr>
              <a:lnSpc>
                <a:spcPct val="103000"/>
              </a:lnSpc>
              <a:spcAft>
                <a:spcPts val="300"/>
              </a:spcAft>
              <a:defRPr sz="819">
                <a:solidFill>
                  <a:srgbClr val="21242A"/>
                </a:solidFill>
                <a:latin typeface="Microsoft YaHei"/>
              </a:defRPr>
            </a:pPr>
            <a:r>
              <a:t>Patients from the most deprived areas travelled less for CAR-T (median distance by IMD: Low 42.6km, Medium 43.1km, Hig</a:t>
            </a:r>
          </a:p>
          <a:p>
            <a:pPr>
              <a:lnSpc>
                <a:spcPct val="103000"/>
              </a:lnSpc>
              <a:spcAft>
                <a:spcPts val="300"/>
              </a:spcAft>
              <a:defRPr sz="819">
                <a:solidFill>
                  <a:srgbClr val="21242A"/>
                </a:solidFill>
                <a:latin typeface="Microsoft YaHei"/>
              </a:defRPr>
            </a:pPr>
            <a:r>
              <a:t>h 29.6km, p=0.026), likely reflecting the inner-city location of most centres.</a:t>
            </a:r>
          </a:p>
          <a:p>
            <a:pPr>
              <a:lnSpc>
                <a:spcPct val="103000"/>
              </a:lnSpc>
              <a:spcAft>
                <a:spcPts val="300"/>
              </a:spcAft>
              <a:defRPr sz="819">
                <a:solidFill>
                  <a:srgbClr val="21242A"/>
                </a:solidFill>
                <a:latin typeface="Microsoft YaHei"/>
              </a:defRPr>
            </a:pPr>
            <a:r>
              <a:t>8% of patients travelled &gt;100km.</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摘要号：PF1408</a:t>
            </a:r>
          </a:p>
          <a:p>
            <a:pPr>
              <a:lnSpc>
                <a:spcPct val="103000"/>
              </a:lnSpc>
              <a:spcAft>
                <a:spcPts val="300"/>
              </a:spcAft>
              <a:defRPr sz="740">
                <a:solidFill>
                  <a:srgbClr val="5E6570"/>
                </a:solidFill>
                <a:latin typeface="Microsoft YaHei"/>
              </a:defRPr>
            </a:pPr>
            <a:r>
              <a:t>会议栏目：37. Health economics</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根据英国社会经济剥夺、距离和种族，大b细胞淋巴瘤患者使用2号线axicabtagene ciloleucel的途径和结果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access and outcomes for 2nd line axicabtagene ciloleucel in patients with lar...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PF1408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EHA原文结果（中文字段未通过数字核对）（2/6）</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\n There were no significant differences in baseline characteristics (including age, stage, LDH, bulk, IPI) according </a:t>
            </a:r>
          </a:p>
          <a:p>
            <a:pPr>
              <a:lnSpc>
                <a:spcPct val="103000"/>
              </a:lnSpc>
              <a:spcAft>
                <a:spcPts val="300"/>
              </a:spcAft>
              <a:defRPr sz="819">
                <a:solidFill>
                  <a:srgbClr val="21242A"/>
                </a:solidFill>
                <a:latin typeface="Microsoft YaHei"/>
              </a:defRPr>
            </a:pPr>
            <a:r>
              <a:t>to deprivation.</a:t>
            </a:r>
          </a:p>
          <a:p>
            <a:pPr>
              <a:lnSpc>
                <a:spcPct val="103000"/>
              </a:lnSpc>
              <a:spcAft>
                <a:spcPts val="300"/>
              </a:spcAft>
              <a:defRPr sz="819">
                <a:solidFill>
                  <a:srgbClr val="21242A"/>
                </a:solidFill>
                <a:latin typeface="Microsoft YaHei"/>
              </a:defRPr>
            </a:pPr>
            <a:r>
              <a:t>94.7% of patients received bridging therapy, with no significant differences by deprivation.</a:t>
            </a:r>
          </a:p>
          <a:p>
            <a:pPr>
              <a:lnSpc>
                <a:spcPct val="103000"/>
              </a:lnSpc>
              <a:spcAft>
                <a:spcPts val="300"/>
              </a:spcAft>
              <a:defRPr sz="819">
                <a:solidFill>
                  <a:srgbClr val="21242A"/>
                </a:solidFill>
                <a:latin typeface="Microsoft YaHei"/>
              </a:defRPr>
            </a:pPr>
            <a:r>
              <a:t>Importantly, there were no differences in vein-to-vein time, or drop-out rate by deprivation (92.0% infused for whole </a:t>
            </a:r>
          </a:p>
          <a:p>
            <a:pPr>
              <a:lnSpc>
                <a:spcPct val="103000"/>
              </a:lnSpc>
              <a:spcAft>
                <a:spcPts val="300"/>
              </a:spcAft>
              <a:defRPr sz="819">
                <a:solidFill>
                  <a:srgbClr val="21242A"/>
                </a:solidFill>
                <a:latin typeface="Microsoft YaHei"/>
              </a:defRPr>
            </a:pPr>
            <a:r>
              <a:t>cohort).</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根据英国社会经济剥夺、距离和种族，大b细胞淋巴瘤患者使用2号线axicabtagene ciloleucel的途径和结果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access and outcomes for 2nd line axicabtagene ciloleucel in patients with lar...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PF1408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EHA原文结果（中文字段未通过数字核对）（3/6）</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\n In the low deprivation group, there was a trend to superior response to bridging (overall response rate by IMD: Low</a:t>
            </a:r>
          </a:p>
          <a:p>
            <a:pPr>
              <a:lnSpc>
                <a:spcPct val="103000"/>
              </a:lnSpc>
              <a:spcAft>
                <a:spcPts val="300"/>
              </a:spcAft>
              <a:defRPr sz="819">
                <a:solidFill>
                  <a:srgbClr val="21242A"/>
                </a:solidFill>
                <a:latin typeface="Microsoft YaHei"/>
              </a:defRPr>
            </a:pPr>
            <a:r>
              <a:t> 68.0%, Medium 43.1%, High 44.1%, p=0.099), and more grade 3+ CRS events (% by IMD: Low 9.4%, Medium 3.2%, High 0%, p=</a:t>
            </a:r>
          </a:p>
          <a:p>
            <a:pPr>
              <a:lnSpc>
                <a:spcPct val="103000"/>
              </a:lnSpc>
              <a:spcAft>
                <a:spcPts val="300"/>
              </a:spcAft>
              <a:defRPr sz="819">
                <a:solidFill>
                  <a:srgbClr val="21242A"/>
                </a:solidFill>
                <a:latin typeface="Microsoft YaHei"/>
              </a:defRPr>
            </a:pPr>
            <a:r>
              <a:t>0.024); but no significant difference in grade 3+ ICANS, tocilizumab/steroid use or ICU admission.</a:t>
            </a:r>
          </a:p>
          <a:p>
            <a:pPr>
              <a:lnSpc>
                <a:spcPct val="103000"/>
              </a:lnSpc>
              <a:spcAft>
                <a:spcPts val="300"/>
              </a:spcAft>
              <a:defRPr sz="819">
                <a:solidFill>
                  <a:srgbClr val="21242A"/>
                </a:solidFill>
                <a:latin typeface="Microsoft YaHei"/>
              </a:defRPr>
            </a:pPr>
            <a:r>
              <a:t>There were no significant differences in complete metabolic response rate, PFS/OS, or non-relapse mortality by depriva</a:t>
            </a:r>
          </a:p>
          <a:p>
            <a:pPr>
              <a:lnSpc>
                <a:spcPct val="103000"/>
              </a:lnSpc>
              <a:spcAft>
                <a:spcPts val="300"/>
              </a:spcAft>
              <a:defRPr sz="819">
                <a:solidFill>
                  <a:srgbClr val="21242A"/>
                </a:solidFill>
                <a:latin typeface="Microsoft YaHei"/>
              </a:defRPr>
            </a:pPr>
            <a:r>
              <a:t>tion.</a:t>
            </a:r>
          </a:p>
          <a:p>
            <a:pPr>
              <a:lnSpc>
                <a:spcPct val="103000"/>
              </a:lnSpc>
              <a:spcAft>
                <a:spcPts val="300"/>
              </a:spcAft>
              <a:defRPr sz="819">
                <a:solidFill>
                  <a:srgbClr val="21242A"/>
                </a:solidFill>
                <a:latin typeface="Microsoft YaHei"/>
              </a:defRPr>
            </a:pPr>
            <a:r>
              <a:t>There were no significant differences in toxicity / efficacy outcomes in ethnic minority patients, or for patients tra</a:t>
            </a:r>
          </a:p>
          <a:p>
            <a:pPr>
              <a:lnSpc>
                <a:spcPct val="103000"/>
              </a:lnSpc>
              <a:spcAft>
                <a:spcPts val="300"/>
              </a:spcAft>
              <a:defRPr sz="819">
                <a:solidFill>
                  <a:srgbClr val="21242A"/>
                </a:solidFill>
                <a:latin typeface="Microsoft YaHei"/>
              </a:defRPr>
            </a:pPr>
            <a:r>
              <a:t>velling &gt;100km.</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根据英国社会经济剥夺、距离和种族，大b细胞淋巴瘤患者使用2号线axicabtagene ciloleucel的途径和结果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access and outcomes for 2nd line axicabtagene ciloleucel in patients with lar...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PF1408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EHA原文结果（中文字段未通过数字核对）（4/6）</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There were no reported COVID-19 deaths in this cohort, highlighting the evolution in COVID-19 risk.</a:t>
            </a:r>
          </a:p>
          <a:p>
            <a:pPr>
              <a:lnSpc>
                <a:spcPct val="103000"/>
              </a:lnSpc>
              <a:spcAft>
                <a:spcPts val="300"/>
              </a:spcAft>
              <a:defRPr sz="819">
                <a:solidFill>
                  <a:srgbClr val="21242A"/>
                </a:solidFill>
                <a:latin typeface="Microsoft YaHei"/>
              </a:defRPr>
            </a:pPr>
            <a:r>
              <a:t>\n \n Summary/Conclusion: Our data suggest similar outcomes for patients receiving 2L axi-cel irrespective of socio-ec</a:t>
            </a:r>
          </a:p>
          <a:p>
            <a:pPr>
              <a:lnSpc>
                <a:spcPct val="103000"/>
              </a:lnSpc>
              <a:spcAft>
                <a:spcPts val="300"/>
              </a:spcAft>
              <a:defRPr sz="819">
                <a:solidFill>
                  <a:srgbClr val="21242A"/>
                </a:solidFill>
                <a:latin typeface="Microsoft YaHei"/>
              </a:defRPr>
            </a:pPr>
            <a:r>
              <a:t>onomic deprivation, ethnicity or distance to centre in a diverse UK cohort, contrasting with findings at 3L.</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根据英国社会经济剥夺、距离和种族，大b细胞淋巴瘤患者使用2号线axicabtagene ciloleucel的途径和结果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access and outcomes for 2nd line axicabtagene ciloleucel in patients with lar...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PF1408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EHA原文结果（中文字段未通过数字核对）（5/6）</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Moving CAR-T to earlier treatment line, more pro-active bridging strategies, and the decline in the COVID-19 pandemic,</a:t>
            </a:r>
          </a:p>
          <a:p>
            <a:pPr>
              <a:lnSpc>
                <a:spcPct val="103000"/>
              </a:lnSpc>
              <a:spcAft>
                <a:spcPts val="300"/>
              </a:spcAft>
              <a:defRPr sz="819">
                <a:solidFill>
                  <a:srgbClr val="21242A"/>
                </a:solidFill>
                <a:latin typeface="Microsoft YaHei"/>
              </a:defRPr>
            </a:pPr>
            <a:r>
              <a:t> may have helped mitigate competing risks felt by more deprived patients; although deprivation, ethnicity and distance</a:t>
            </a:r>
          </a:p>
          <a:p>
            <a:pPr>
              <a:lnSpc>
                <a:spcPct val="103000"/>
              </a:lnSpc>
              <a:spcAft>
                <a:spcPts val="300"/>
              </a:spcAft>
              <a:defRPr sz="819">
                <a:solidFill>
                  <a:srgbClr val="21242A"/>
                </a:solidFill>
                <a:latin typeface="Microsoft YaHei"/>
              </a:defRPr>
            </a:pPr>
            <a:r>
              <a:t> may impact on patient experience and outcomes in ways not captured here.</a:t>
            </a:r>
          </a:p>
          <a:p>
            <a:pPr>
              <a:lnSpc>
                <a:spcPct val="103000"/>
              </a:lnSpc>
              <a:spcAft>
                <a:spcPts val="300"/>
              </a:spcAft>
              <a:defRPr sz="819">
                <a:solidFill>
                  <a:srgbClr val="21242A"/>
                </a:solidFill>
                <a:latin typeface="Microsoft YaHei"/>
              </a:defRPr>
            </a:pPr>
            <a:r>
              <a:t>Furthermore, the effect of these factors on rate of referral for CAR-T was not examined and warrants separate analysis</a:t>
            </a:r>
          </a:p>
          <a:p>
            <a:pPr>
              <a:lnSpc>
                <a:spcPct val="103000"/>
              </a:lnSpc>
              <a:spcAft>
                <a:spcPts val="300"/>
              </a:spcAft>
              <a:defRPr sz="819">
                <a:solidFill>
                  <a:srgbClr val="21242A"/>
                </a:solidFill>
                <a:latin typeface="Microsoft YaHei"/>
              </a:defRPr>
            </a:pPr>
            <a:r>
              <a:t>.</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根据英国社会经济剥夺、距离和种族，大b细胞淋巴瘤患者使用2号线axicabtagene ciloleucel的途径和结果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access and outcomes for 2nd line axicabtagene ciloleucel in patients with lar...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PF1408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EHA原文结果（中文字段未通过数字核对）（6/6）</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We saw fewer patients travelling &gt;100km - attributable to an increase in the number of UK CAR-T centres - but for thos</a:t>
            </a:r>
          </a:p>
          <a:p>
            <a:pPr>
              <a:lnSpc>
                <a:spcPct val="103000"/>
              </a:lnSpc>
              <a:spcAft>
                <a:spcPts val="300"/>
              </a:spcAft>
              <a:defRPr sz="819">
                <a:solidFill>
                  <a:srgbClr val="21242A"/>
                </a:solidFill>
                <a:latin typeface="Microsoft YaHei"/>
              </a:defRPr>
            </a:pPr>
            <a:r>
              <a:t>e still facing this barrier, outcomes were equivalent, underlining that they should still be offered CAR-T and the nec</a:t>
            </a:r>
          </a:p>
          <a:p>
            <a:pPr>
              <a:lnSpc>
                <a:spcPct val="103000"/>
              </a:lnSpc>
              <a:spcAft>
                <a:spcPts val="300"/>
              </a:spcAft>
              <a:defRPr sz="819">
                <a:solidFill>
                  <a:srgbClr val="21242A"/>
                </a:solidFill>
                <a:latin typeface="Microsoft YaHei"/>
              </a:defRPr>
            </a:pPr>
            <a:r>
              <a:t>essary support to travel.</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在r/r lbcl中，通过hbv-dna引导监测乙型肝炎病毒再激活，可以在不进行常规抗病毒预防的情况下进行安全管理</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hbv-dna–guided monitoring for hepatitis b virus reactivation enables safe man...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PF1317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N=25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回顾性临床研究结果：hbv-dna–guided monitoring for hepatitis b virus react...</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HBV-DNA再激活发生率：2/25（8%）</a:t>
            </a:r>
          </a:p>
          <a:p>
            <a:pPr>
              <a:lnSpc>
                <a:spcPct val="103000"/>
              </a:lnSpc>
              <a:spcAft>
                <a:spcPts val="300"/>
              </a:spcAft>
              <a:defRPr sz="800">
                <a:solidFill>
                  <a:srgbClr val="21242A"/>
                </a:solidFill>
                <a:latin typeface="Microsoft YaHei"/>
              </a:defRPr>
            </a:pPr>
            <a:r>
              <a:t>2例再激活患者均成功使用核苷类似物治疗，HBV-DNA水平迅速下降</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人数：25</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研究主题：hbv-dna–guided monitoring for hepatitis b virus reactivation enables safe management without routine antiviral prophyla...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在r/r lbcl中，通过hbv-dna引导监测乙型肝炎病毒再激活，可以在不进行常规抗病毒预防的情况下进行安全管理</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hbv-dna–guided monitoring for hepatitis b virus reactivation enables safe man...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PF1317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HBV-DNA再激活发生率：2/25（8%）；2例再激活患者均成功使用核苷类似物治疗，HBV-DNA水平迅速下降；无乙肝相关性肝炎发生；23例患者随访期间HBV-DNA持续阴性；中位随访时间16.9个月（范围1.3-62.4），其中17</a:t>
            </a:r>
          </a:p>
          <a:p>
            <a:pPr>
              <a:lnSpc>
                <a:spcPct val="103000"/>
              </a:lnSpc>
              <a:spcAft>
                <a:spcPts val="300"/>
              </a:spcAft>
              <a:defRPr sz="819">
                <a:solidFill>
                  <a:srgbClr val="21242A"/>
                </a:solidFill>
                <a:latin typeface="Microsoft YaHei"/>
              </a:defRPr>
            </a:pPr>
            <a:r>
              <a:t>例随访超过1年。</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摘要号：PF1317</a:t>
            </a:r>
          </a:p>
          <a:p>
            <a:pPr>
              <a:lnSpc>
                <a:spcPct val="103000"/>
              </a:lnSpc>
              <a:spcAft>
                <a:spcPts val="300"/>
              </a:spcAft>
              <a:defRPr sz="740">
                <a:solidFill>
                  <a:srgbClr val="5E6570"/>
                </a:solidFill>
                <a:latin typeface="Microsoft YaHei"/>
              </a:defRPr>
            </a:pPr>
            <a:r>
              <a:t>会议栏目：31. Infections in hematology (incl. supportive care/therapy)</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car-t健康指数（car fit）：整合共病和虚弱评估，指导边缘生理储备患者的风险适应分娩。</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car-t fitness index (car-fit): integrating comorbidity and frailty assessment...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PF1253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N=80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Tisagenlecleucel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中位无进展生存期（PFS）：fit组未达到（60个月，95% CI 33.7-NR），borderline-fit组12.2个...</a:t>
            </a:r>
          </a:p>
          <a:p>
            <a:pPr>
              <a:lnSpc>
                <a:spcPct val="103000"/>
              </a:lnSpc>
              <a:spcAft>
                <a:spcPts val="300"/>
              </a:spcAft>
              <a:defRPr sz="800">
                <a:solidFill>
                  <a:srgbClr val="21242A"/>
                </a:solidFill>
                <a:latin typeface="Microsoft YaHei"/>
              </a:defRPr>
            </a:pPr>
            <a:r>
              <a:t>36个月总生存率：fit组85.2%（95% CI 70.6-100%），borderline-fit组66.7%（95% C...</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人数：80</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试验药/方案：阿基仑赛、Tisagenlecleucel</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car-t健康指数（car fit）：整合共病和虚弱评估，指导边缘生理储备患者的风险适应分娩。</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car-t fitness index (car-fit): integrating comorbidity and frailty assessment...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PF1253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EHA原文结果（中文字段未通过数字核对）（1/5）</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The median age was 60 years. The majority of patients had ECOG 0–1 and Karnofsky scores of 90–100. (Table 1).</a:t>
            </a:r>
          </a:p>
          <a:p>
            <a:pPr>
              <a:lnSpc>
                <a:spcPct val="103000"/>
              </a:lnSpc>
              <a:spcAft>
                <a:spcPts val="300"/>
              </a:spcAft>
              <a:defRPr sz="819">
                <a:solidFill>
                  <a:srgbClr val="21242A"/>
                </a:solidFill>
                <a:latin typeface="Microsoft YaHei"/>
              </a:defRPr>
            </a:pPr>
            <a:r>
              <a:t>Using novel prognostic indices, a subset of patients had higher comorbidity burden: 30% (n=24) had CIRS ≥7, 8.8% (n=7)</a:t>
            </a:r>
          </a:p>
          <a:p>
            <a:pPr>
              <a:lnSpc>
                <a:spcPct val="103000"/>
              </a:lnSpc>
              <a:spcAft>
                <a:spcPts val="300"/>
              </a:spcAft>
              <a:defRPr sz="819">
                <a:solidFill>
                  <a:srgbClr val="21242A"/>
                </a:solidFill>
                <a:latin typeface="Microsoft YaHei"/>
              </a:defRPr>
            </a:pPr>
            <a:r>
              <a:t> had presence of Severe4, and 5% (n=4) had CTCI &gt;3.</a:t>
            </a:r>
          </a:p>
          <a:p>
            <a:pPr>
              <a:lnSpc>
                <a:spcPct val="103000"/>
              </a:lnSpc>
              <a:spcAft>
                <a:spcPts val="300"/>
              </a:spcAft>
              <a:defRPr sz="819">
                <a:solidFill>
                  <a:srgbClr val="21242A"/>
                </a:solidFill>
                <a:latin typeface="Microsoft YaHei"/>
              </a:defRPr>
            </a:pPr>
            <a:r>
              <a:t>\n We propose a clinical algorithm to guide clinicians in using comorbidity assessments in daily practice. (Figure 1).</a:t>
            </a:r>
          </a:p>
          <a:p>
            <a:pPr>
              <a:lnSpc>
                <a:spcPct val="103000"/>
              </a:lnSpc>
              <a:spcAft>
                <a:spcPts val="300"/>
              </a:spcAft>
              <a:defRPr sz="819">
                <a:solidFill>
                  <a:srgbClr val="21242A"/>
                </a:solidFill>
                <a:latin typeface="Microsoft YaHei"/>
              </a:defRPr>
            </a:pPr>
            <a:r>
              <a:t>With the suggested classification framework, 51.2% (N=41) of patients were fit, 28.8% (N=23) were borderline-fit and 2</a:t>
            </a:r>
          </a:p>
          <a:p>
            <a:pPr>
              <a:lnSpc>
                <a:spcPct val="103000"/>
              </a:lnSpc>
              <a:spcAft>
                <a:spcPts val="300"/>
              </a:spcAft>
              <a:defRPr sz="819">
                <a:solidFill>
                  <a:srgbClr val="21242A"/>
                </a:solidFill>
                <a:latin typeface="Microsoft YaHei"/>
              </a:defRPr>
            </a:pPr>
            <a:r>
              <a:t>0% (N=16) were unfit.</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摘要号：PF1253</a:t>
            </a:r>
          </a:p>
          <a:p>
            <a:pPr>
              <a:lnSpc>
                <a:spcPct val="103000"/>
              </a:lnSpc>
              <a:spcAft>
                <a:spcPts val="300"/>
              </a:spcAft>
              <a:defRPr sz="740">
                <a:solidFill>
                  <a:srgbClr val="5E6570"/>
                </a:solidFill>
                <a:latin typeface="Microsoft YaHei"/>
              </a:defRPr>
            </a:pPr>
            <a:r>
              <a:t>会议栏目：26. Gene therapy, cellular immunotherapy and vaccination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car-t健康指数（car fit）：整合共病和虚弱评估，指导边缘生理储备患者的风险适应分娩。</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car-t fitness index (car-fit): integrating comorbidity and frailty assessment...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PF1253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There was a significant difference in median PFS among the fit, borderline and unfit groups (not reached at 60 months,</a:t>
            </a:r>
          </a:p>
          <a:p>
            <a:pPr>
              <a:lnSpc>
                <a:spcPct val="103000"/>
              </a:lnSpc>
              <a:spcAft>
                <a:spcPts val="300"/>
              </a:spcAft>
              <a:defRPr sz="819">
                <a:solidFill>
                  <a:srgbClr val="21242A"/>
                </a:solidFill>
                <a:latin typeface="Microsoft YaHei"/>
              </a:defRPr>
            </a:pPr>
            <a:r>
              <a:t> 95% CI 33.7-NR; 12.2 months, 95% CI 6.03-NR; 8.7 months, 95% CI 6.27-NR), log-rank p = 0.027.</a:t>
            </a:r>
          </a:p>
          <a:p>
            <a:pPr>
              <a:lnSpc>
                <a:spcPct val="103000"/>
              </a:lnSpc>
              <a:spcAft>
                <a:spcPts val="300"/>
              </a:spcAft>
              <a:defRPr sz="819">
                <a:solidFill>
                  <a:srgbClr val="21242A"/>
                </a:solidFill>
                <a:latin typeface="Microsoft YaHei"/>
              </a:defRPr>
            </a:pPr>
            <a:r>
              <a:t>A corresponding difference in OS at 36 months was also noted, fit (85.2%, 95% CI 70.6-100%), borderline-fit (66.7%, 95</a:t>
            </a:r>
          </a:p>
          <a:p>
            <a:pPr>
              <a:lnSpc>
                <a:spcPct val="103000"/>
              </a:lnSpc>
              <a:spcAft>
                <a:spcPts val="300"/>
              </a:spcAft>
              <a:defRPr sz="819">
                <a:solidFill>
                  <a:srgbClr val="21242A"/>
                </a:solidFill>
                <a:latin typeface="Microsoft YaHei"/>
              </a:defRPr>
            </a:pPr>
            <a:r>
              <a:t>% CI 47.3-94.1%) and unfit (did not reach 36 months), p \n Table 1.</a:t>
            </a:r>
          </a:p>
          <a:p>
            <a:pPr>
              <a:lnSpc>
                <a:spcPct val="103000"/>
              </a:lnSpc>
              <a:spcAft>
                <a:spcPts val="300"/>
              </a:spcAft>
              <a:defRPr sz="819">
                <a:solidFill>
                  <a:srgbClr val="21242A"/>
                </a:solidFill>
                <a:latin typeface="Microsoft YaHei"/>
              </a:defRPr>
            </a:pPr>
            <a:r>
              <a:t>Demographics, CAR-T cell product, adverse events.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car-t健康指数（car fit）：整合共病和虚弱评估，指导边缘生理储备患者的风险适应分娩。</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car-t fitness index (car-fit): integrating comorbidity and frailty assessment...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PF1253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\n \n \n \n \n Variable \n \n \n Overall (N = 80) \n \n \n \n \n Age, median (IQR) \n \n \n 60 (51-70) \n \n \n \n \n </a:t>
            </a:r>
          </a:p>
          <a:p>
            <a:pPr>
              <a:lnSpc>
                <a:spcPct val="103000"/>
              </a:lnSpc>
              <a:spcAft>
                <a:spcPts val="300"/>
              </a:spcAft>
              <a:defRPr sz="819">
                <a:solidFill>
                  <a:srgbClr val="21242A"/>
                </a:solidFill>
                <a:latin typeface="Microsoft YaHei"/>
              </a:defRPr>
            </a:pPr>
            <a:r>
              <a:t>Gender, n (%) \n \n \n \n \n \n \n \n Male \n \n \n 43 (53.8) \n \n \n \n \n Female \n \n \n 37 (46.2) \n \n \n \n \n </a:t>
            </a:r>
          </a:p>
          <a:p>
            <a:pPr>
              <a:lnSpc>
                <a:spcPct val="103000"/>
              </a:lnSpc>
              <a:spcAft>
                <a:spcPts val="300"/>
              </a:spcAft>
              <a:defRPr sz="819">
                <a:solidFill>
                  <a:srgbClr val="21242A"/>
                </a:solidFill>
                <a:latin typeface="Microsoft YaHei"/>
              </a:defRPr>
            </a:pPr>
            <a:r>
              <a:t>ECOG 0-1, n (%) \n \n \n 71 (88.7) \n \n \n \n \n Karnofsky, median (IQR) \n \n \n 90 (80-100) \n \n \n \n \n CAR-T pr</a:t>
            </a:r>
          </a:p>
          <a:p>
            <a:pPr>
              <a:lnSpc>
                <a:spcPct val="103000"/>
              </a:lnSpc>
              <a:spcAft>
                <a:spcPts val="300"/>
              </a:spcAft>
              <a:defRPr sz="819">
                <a:solidFill>
                  <a:srgbClr val="21242A"/>
                </a:solidFill>
                <a:latin typeface="Microsoft YaHei"/>
              </a:defRPr>
            </a:pPr>
            <a:r>
              <a:t>oduct \n \n \n \n \n \n \n \n Tisagenlecleucel \n \n \n 34 (42.5) \n \n \n \n \n Axicabtagene ciloleucel \n \n \n 36 (</a:t>
            </a:r>
          </a:p>
          <a:p>
            <a:pPr>
              <a:lnSpc>
                <a:spcPct val="103000"/>
              </a:lnSpc>
              <a:spcAft>
                <a:spcPts val="300"/>
              </a:spcAft>
              <a:defRPr sz="819">
                <a:solidFill>
                  <a:srgbClr val="21242A"/>
                </a:solidFill>
                <a:latin typeface="Microsoft YaHei"/>
              </a:defRPr>
            </a:pPr>
            <a:r>
              <a:t>45.0) \n \n \n \n \n Academic \n \n \n 10 (12.5) \n \n \n \n \n Adverse events \n \n \n \n \n \n \n \n CRS Grade ≥ 3, </a:t>
            </a:r>
          </a:p>
          <a:p>
            <a:pPr>
              <a:lnSpc>
                <a:spcPct val="103000"/>
              </a:lnSpc>
              <a:spcAft>
                <a:spcPts val="300"/>
              </a:spcAft>
              <a:defRPr sz="819">
                <a:solidFill>
                  <a:srgbClr val="21242A"/>
                </a:solidFill>
                <a:latin typeface="Microsoft YaHei"/>
              </a:defRPr>
            </a:pPr>
            <a:r>
              <a:t>n (%) \n \n \n 5 (6.2) \n \n \</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car-t健康指数（car fit）：整合共病和虚弱评估，指导边缘生理储备患者的风险适应分娩。</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car-t fitness index (car-fit): integrating comorbidity and frailty assessment...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PF1253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n \n \n ICANS Grade ≥ 3, n (%) \n \n \n 8 (10.0) \n \n \n \n \n T-ICAHT Grade ≥ 3, n (%) \n \n \n 20 (25.0) \n \n \n \</a:t>
            </a:r>
          </a:p>
          <a:p>
            <a:pPr>
              <a:lnSpc>
                <a:spcPct val="103000"/>
              </a:lnSpc>
              <a:spcAft>
                <a:spcPts val="300"/>
              </a:spcAft>
              <a:defRPr sz="819">
                <a:solidFill>
                  <a:srgbClr val="21242A"/>
                </a:solidFill>
                <a:latin typeface="Microsoft YaHei"/>
              </a:defRPr>
            </a:pPr>
            <a:r>
              <a:t>n \n N-ICAHT Grade ≥ 3, n (%) \n \n \n 44 (55.0) \n \n \n \n \n</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car-t健康指数（car fit）：整合共病和虚弱评估，指导边缘生理储备患者的风险适应分娩。</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car-t fitness index (car-fit): integrating comorbidity and frailty assessment...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PF1253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EHA原文结果（中文字段未通过数字核对）（5/5）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Summary/Conclusion: Combining CIRS, Severe4, and CTCI improves outcome stratification compared with any individual sco</a:t>
            </a:r>
          </a:p>
          <a:p>
            <a:pPr>
              <a:lnSpc>
                <a:spcPct val="103000"/>
              </a:lnSpc>
              <a:spcAft>
                <a:spcPts val="300"/>
              </a:spcAft>
              <a:defRPr sz="819">
                <a:solidFill>
                  <a:srgbClr val="21242A"/>
                </a:solidFill>
                <a:latin typeface="Microsoft YaHei"/>
              </a:defRPr>
            </a:pPr>
            <a:r>
              <a:t>re alone.</a:t>
            </a:r>
          </a:p>
          <a:p>
            <a:pPr>
              <a:lnSpc>
                <a:spcPct val="103000"/>
              </a:lnSpc>
              <a:spcAft>
                <a:spcPts val="300"/>
              </a:spcAft>
              <a:defRPr sz="819">
                <a:solidFill>
                  <a:srgbClr val="21242A"/>
                </a:solidFill>
                <a:latin typeface="Microsoft YaHei"/>
              </a:defRPr>
            </a:pPr>
            <a:r>
              <a:t>When integrated with frailty assessment, this approach can refine patient selection to allow safer access to potential</a:t>
            </a:r>
          </a:p>
          <a:p>
            <a:pPr>
              <a:lnSpc>
                <a:spcPct val="103000"/>
              </a:lnSpc>
              <a:spcAft>
                <a:spcPts val="300"/>
              </a:spcAft>
              <a:defRPr sz="819">
                <a:solidFill>
                  <a:srgbClr val="21242A"/>
                </a:solidFill>
                <a:latin typeface="Microsoft YaHei"/>
              </a:defRPr>
            </a:pPr>
            <a:r>
              <a:t>ly eligible candidates.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治疗前脑磁共振白质变化提示小血管疾病预测嵌合抗原受体t细胞治疗后免疫效应细胞相关神经毒性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pre-treatment white matter changes on brain mri suggesting small vessel disea...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PF1249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N=93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试验药/方案：CAR-T(达博生物)</a:t>
            </a:r>
          </a:p>
          <a:p>
            <a:pPr>
              <a:lnSpc>
                <a:spcPct val="103000"/>
              </a:lnSpc>
              <a:spcAft>
                <a:spcPts val="300"/>
              </a:spcAft>
              <a:defRPr sz="800">
                <a:solidFill>
                  <a:srgbClr val="21242A"/>
                </a:solidFill>
                <a:latin typeface="Microsoft YaHei"/>
              </a:defRPr>
            </a:pPr>
            <a:r>
              <a:t>类别：CAR-T，经基因修饰</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ICANS累积发生率：低Fazekas组11%，中Fazekas组20%，高Fazekas组44%（p=0.03）||多因素分...</a:t>
            </a:r>
          </a:p>
          <a:p>
            <a:pPr>
              <a:lnSpc>
                <a:spcPct val="103000"/>
              </a:lnSpc>
              <a:spcAft>
                <a:spcPts val="300"/>
              </a:spcAft>
              <a:defRPr sz="800">
                <a:solidFill>
                  <a:srgbClr val="21242A"/>
                </a:solidFill>
                <a:latin typeface="Microsoft YaHei"/>
              </a:defRPr>
            </a:pPr>
            <a:r>
              <a:t>≥2级CRS p=0.87）||无进展生存期和总生存期：各组无差异（p=0.82和p=0.70）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人数：93</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试验药/方案：CAR-T(达博生物)</a:t>
            </a:r>
          </a:p>
          <a:p>
            <a:pPr>
              <a:lnSpc>
                <a:spcPct val="103000"/>
              </a:lnSpc>
              <a:spcAft>
                <a:spcPts val="300"/>
              </a:spcAft>
              <a:defRPr sz="810">
                <a:solidFill>
                  <a:srgbClr val="21242A"/>
                </a:solidFill>
                <a:latin typeface="Microsoft YaHei"/>
              </a:defRPr>
            </a:pPr>
            <a:r>
              <a:t>药物/技术类别：CAR-T、经基因修饰</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治疗前脑磁共振白质变化提示小血管疾病预测嵌合抗原受体t细胞治疗后免疫效应细胞相关神经毒性</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pre-treatment white matter changes on brain mri suggesting small vessel disea...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PF1249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ICANS累积发生率：低Fazekas组11%，中Fazekas组20%，高Fazekas组44%（p=0.03）||多因素分析：Fazekas评分与ICANS独立相关（HR 1.51, 95% CI 1.09-2.10）||延长神经症</a:t>
            </a:r>
          </a:p>
          <a:p>
            <a:pPr>
              <a:lnSpc>
                <a:spcPct val="103000"/>
              </a:lnSpc>
              <a:spcAft>
                <a:spcPts val="300"/>
              </a:spcAft>
              <a:defRPr sz="819">
                <a:solidFill>
                  <a:srgbClr val="21242A"/>
                </a:solidFill>
                <a:latin typeface="Microsoft YaHei"/>
              </a:defRPr>
            </a:pPr>
            <a:r>
              <a:t>状（≥28天）发生率：低组1.6%（1/64），中组0%（0/20），高组22%（2/9）（p=0.046）||细胞因子释放综合征（CRS）发生率：各组无差异（p=0.32；≥2级CRS p=0.87）||无进展生存期和总生存期：各组无</a:t>
            </a:r>
          </a:p>
          <a:p>
            <a:pPr>
              <a:lnSpc>
                <a:spcPct val="103000"/>
              </a:lnSpc>
              <a:spcAft>
                <a:spcPts val="300"/>
              </a:spcAft>
              <a:defRPr sz="819">
                <a:solidFill>
                  <a:srgbClr val="21242A"/>
                </a:solidFill>
                <a:latin typeface="Microsoft YaHei"/>
              </a:defRPr>
            </a:pPr>
            <a:r>
              <a:t>差异（p=0.82和p=0.70）</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摘要号：PF1249</a:t>
            </a:r>
          </a:p>
          <a:p>
            <a:pPr>
              <a:lnSpc>
                <a:spcPct val="103000"/>
              </a:lnSpc>
              <a:spcAft>
                <a:spcPts val="300"/>
              </a:spcAft>
              <a:defRPr sz="740">
                <a:solidFill>
                  <a:srgbClr val="5E6570"/>
                </a:solidFill>
                <a:latin typeface="Microsoft YaHei"/>
              </a:defRPr>
            </a:pPr>
            <a:r>
              <a:t>会议栏目：26. Gene therapy, cellular immunotherapy and vaccination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car-t细胞治疗双表达tp53阳性复发/难治性弥漫性大b细胞淋巴瘤的疗效：一项多中心现实研究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efficacy of car-t cell therapy in double-expressor tp53-positive relapsed/ref...</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N=53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试验药/方案：CAR-T(达博生物)</a:t>
            </a:r>
          </a:p>
          <a:p>
            <a:pPr>
              <a:lnSpc>
                <a:spcPct val="103000"/>
              </a:lnSpc>
              <a:spcAft>
                <a:spcPts val="300"/>
              </a:spcAft>
              <a:defRPr sz="800">
                <a:solidFill>
                  <a:srgbClr val="21242A"/>
                </a:solidFill>
                <a:latin typeface="Microsoft YaHei"/>
              </a:defRPr>
            </a:pPr>
            <a:r>
              <a:t>类别：CAR-T，经基因修饰</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中位OS：270天（95% CI 108.15-431.85）</a:t>
            </a:r>
          </a:p>
          <a:p>
            <a:pPr>
              <a:lnSpc>
                <a:spcPct val="103000"/>
              </a:lnSpc>
              <a:spcAft>
                <a:spcPts val="300"/>
              </a:spcAft>
              <a:defRPr sz="800">
                <a:solidFill>
                  <a:srgbClr val="21242A"/>
                </a:solidFill>
                <a:latin typeface="Microsoft YaHei"/>
              </a:defRPr>
            </a:pPr>
            <a:r>
              <a:t>中位PFS：108天（95% CI 62.23-146.77）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人数：53</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试验药/方案：CAR-T(达博生物)</a:t>
            </a:r>
          </a:p>
          <a:p>
            <a:pPr>
              <a:lnSpc>
                <a:spcPct val="103000"/>
              </a:lnSpc>
              <a:spcAft>
                <a:spcPts val="300"/>
              </a:spcAft>
              <a:defRPr sz="810">
                <a:solidFill>
                  <a:srgbClr val="21242A"/>
                </a:solidFill>
                <a:latin typeface="Microsoft YaHei"/>
              </a:defRPr>
            </a:pPr>
            <a:r>
              <a:t>药物/技术类别：CAR-T、经基因修饰</a:t>
            </a:r>
          </a:p>
          <a:p>
            <a:pPr>
              <a:lnSpc>
                <a:spcPct val="103000"/>
              </a:lnSpc>
              <a:spcAft>
                <a:spcPts val="300"/>
              </a:spcAft>
              <a:defRPr sz="810">
                <a:solidFill>
                  <a:srgbClr val="21242A"/>
                </a:solidFill>
                <a:latin typeface="Microsoft YaHei"/>
              </a:defRPr>
            </a:pPr>
            <a:r>
              <a:t>分组/治疗流程：单组：CAR-T细胞治疗（包括自体造血干细胞移植联合CD19 CAR-T的2例患者）</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car-t细胞治疗双表达tp53阳性复发/难治性弥漫性大b细胞淋巴瘤的疗效：一项多中心现实研究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efficacy of car-t cell therapy in double-expressor tp53-positive relapsed/ref...</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129/187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中位OS</a:t>
                      </a:r>
                    </a:p>
                  </a:txBody>
                  <a:tcPr>
                    <a:solidFill>
                      <a:srgbClr val="F6F8FB"/>
                    </a:solidFill>
                  </a:tcPr>
                </a:tc>
                <a:tc>
                  <a:txBody>
                    <a:bodyPr wrap="square" lIns="36576" rIns="36576" tIns="18288" bIns="18288"/>
                    <a:lstStyle/>
                    <a:p>
                      <a:r>
                        <a:rPr sz="720" b="0">
                          <a:solidFill>
                            <a:srgbClr val="21242A"/>
                          </a:solidFill>
                          <a:latin typeface="Microsoft YaHei"/>
                        </a:rPr>
                        <a:t>270天（95% CI 108.15-431.85）</a:t>
                      </a:r>
                    </a:p>
                  </a:txBody>
                  <a:tcPr>
                    <a:solidFill>
                      <a:srgbClr val="F6F8FB"/>
                    </a:solidFill>
                  </a:tcPr>
                </a:tc>
              </a:tr>
              <a:tr h="376428">
                <a:tc>
                  <a:txBody>
                    <a:bodyPr wrap="square" lIns="36576" rIns="36576" tIns="18288" bIns="18288"/>
                    <a:lstStyle/>
                    <a:p>
                      <a:r>
                        <a:rPr sz="720" b="1">
                          <a:solidFill>
                            <a:srgbClr val="21242A"/>
                          </a:solidFill>
                          <a:latin typeface="Microsoft YaHei"/>
                        </a:rPr>
                        <a:t>中位PFS</a:t>
                      </a:r>
                    </a:p>
                  </a:txBody>
                  <a:tcPr>
                    <a:solidFill>
                      <a:srgbClr val="FFFFFF"/>
                    </a:solidFill>
                  </a:tcPr>
                </a:tc>
                <a:tc>
                  <a:txBody>
                    <a:bodyPr wrap="square" lIns="36576" rIns="36576" tIns="18288" bIns="18288"/>
                    <a:lstStyle/>
                    <a:p>
                      <a:r>
                        <a:rPr sz="720" b="0">
                          <a:solidFill>
                            <a:srgbClr val="21242A"/>
                          </a:solidFill>
                          <a:latin typeface="Microsoft YaHei"/>
                        </a:rPr>
                        <a:t>108天（95% CI 62.23-146.77）</a:t>
                      </a:r>
                    </a:p>
                  </a:txBody>
                  <a:tcPr>
                    <a:solidFill>
                      <a:srgbClr val="FFFFFF"/>
                    </a:solidFill>
                  </a:tcPr>
                </a:tc>
              </a:tr>
              <a:tr h="376428">
                <a:tc>
                  <a:txBody>
                    <a:bodyPr wrap="square" lIns="36576" rIns="36576" tIns="18288" bIns="18288"/>
                    <a:lstStyle/>
                    <a:p>
                      <a:r>
                        <a:rPr sz="720" b="1">
                          <a:solidFill>
                            <a:srgbClr val="21242A"/>
                          </a:solidFill>
                          <a:latin typeface="Microsoft YaHei"/>
                        </a:rPr>
                        <a:t>1个月ORR</a:t>
                      </a:r>
                    </a:p>
                  </a:txBody>
                  <a:tcPr>
                    <a:solidFill>
                      <a:srgbClr val="F6F8FB"/>
                    </a:solidFill>
                  </a:tcPr>
                </a:tc>
                <a:tc>
                  <a:txBody>
                    <a:bodyPr wrap="square" lIns="36576" rIns="36576" tIns="18288" bIns="18288"/>
                    <a:lstStyle/>
                    <a:p>
                      <a:r>
                        <a:rPr sz="720" b="0">
                          <a:solidFill>
                            <a:srgbClr val="21242A"/>
                          </a:solidFill>
                          <a:latin typeface="Microsoft YaHei"/>
                        </a:rPr>
                        <a:t>70.21%（CR 29.79%，PR 40.42%）</a:t>
                      </a:r>
                    </a:p>
                  </a:txBody>
                  <a:tcPr>
                    <a:solidFill>
                      <a:srgbClr val="F6F8FB"/>
                    </a:solidFill>
                  </a:tcPr>
                </a:tc>
              </a:tr>
              <a:tr h="376428">
                <a:tc>
                  <a:txBody>
                    <a:bodyPr wrap="square" lIns="36576" rIns="36576" tIns="18288" bIns="18288"/>
                    <a:lstStyle/>
                    <a:p>
                      <a:r>
                        <a:rPr sz="720" b="1">
                          <a:solidFill>
                            <a:srgbClr val="21242A"/>
                          </a:solidFill>
                          <a:latin typeface="Microsoft YaHei"/>
                        </a:rPr>
                        <a:t>3个月ORR</a:t>
                      </a:r>
                    </a:p>
                  </a:txBody>
                  <a:tcPr>
                    <a:solidFill>
                      <a:srgbClr val="FFFFFF"/>
                    </a:solidFill>
                  </a:tcPr>
                </a:tc>
                <a:tc>
                  <a:txBody>
                    <a:bodyPr wrap="square" lIns="36576" rIns="36576" tIns="18288" bIns="18288"/>
                    <a:lstStyle/>
                    <a:p>
                      <a:r>
                        <a:rPr sz="720" b="0">
                          <a:solidFill>
                            <a:srgbClr val="21242A"/>
                          </a:solidFill>
                          <a:latin typeface="Microsoft YaHei"/>
                        </a:rPr>
                        <a:t>53.33%（CR 31.11%，PR 22.22%）</a:t>
                      </a:r>
                    </a:p>
                  </a:txBody>
                  <a:tcPr>
                    <a:solidFill>
                      <a:srgbClr val="FFFFFF"/>
                    </a:solidFill>
                  </a:tcPr>
                </a:tc>
              </a:tr>
              <a:tr h="376428">
                <a:tc>
                  <a:txBody>
                    <a:bodyPr wrap="square" lIns="36576" rIns="36576" tIns="18288" bIns="18288"/>
                    <a:lstStyle/>
                    <a:p>
                      <a:r>
                        <a:rPr sz="720" b="1">
                          <a:solidFill>
                            <a:srgbClr val="21242A"/>
                          </a:solidFill>
                          <a:latin typeface="Microsoft YaHei"/>
                        </a:rPr>
                        <a:t>死亡率</a:t>
                      </a:r>
                    </a:p>
                  </a:txBody>
                  <a:tcPr>
                    <a:solidFill>
                      <a:srgbClr val="F6F8FB"/>
                    </a:solidFill>
                  </a:tcPr>
                </a:tc>
                <a:tc>
                  <a:txBody>
                    <a:bodyPr wrap="square" lIns="36576" rIns="36576" tIns="18288" bIns="18288"/>
                    <a:lstStyle/>
                    <a:p>
                      <a:r>
                        <a:rPr sz="720" b="0">
                          <a:solidFill>
                            <a:srgbClr val="21242A"/>
                          </a:solidFill>
                          <a:latin typeface="Microsoft YaHei"/>
                        </a:rPr>
                        <a:t>50.94%</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摘要号：PF1028</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阿昔布他烯-西洛卢塞一线治疗dlbcl的早期毒性：2l与≥3l治疗的现实比较</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early toxicity of axicabtagene ciloleucel by line of therapy in dlbcl: a real...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N=413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多组/多方案比较：2L组：axicabtagene ciloleucel</a:t>
            </a:r>
          </a:p>
          <a:p>
            <a:pPr>
              <a:lnSpc>
                <a:spcPct val="103000"/>
              </a:lnSpc>
              <a:spcAft>
                <a:spcPts val="300"/>
              </a:spcAft>
              <a:defRPr sz="800">
                <a:solidFill>
                  <a:srgbClr val="21242A"/>
                </a:solidFill>
                <a:latin typeface="Microsoft YaHei"/>
              </a:defRPr>
            </a:pPr>
            <a:r>
              <a:t>≥3L组：axicabtagene ciloleucel</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CRS任何级别发生率：2L组95%，≥3L组92%</a:t>
            </a:r>
          </a:p>
          <a:p>
            <a:pPr>
              <a:lnSpc>
                <a:spcPct val="103000"/>
              </a:lnSpc>
              <a:spcAft>
                <a:spcPts val="300"/>
              </a:spcAft>
              <a:defRPr sz="800">
                <a:solidFill>
                  <a:srgbClr val="21242A"/>
                </a:solidFill>
                <a:latin typeface="Microsoft YaHei"/>
              </a:defRPr>
            </a:pPr>
            <a:r>
              <a:t>CRS≥3级发生率：2L组4%，≥3L组8%（p=0.002）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人数：413</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阿昔布他烯-西洛卢塞一线治疗dlbcl的早期毒性：2l与≥3l治疗的现实比较</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early toxicity of axicabtagene ciloleucel by line of therapy in dlbcl: a real...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EHA原文结果（中文字段未通过数字核对）（1/3）</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A total of N=413 patients were included (2L n=184, ≥3L n=229).</a:t>
            </a:r>
          </a:p>
          <a:p>
            <a:pPr>
              <a:lnSpc>
                <a:spcPct val="103000"/>
              </a:lnSpc>
              <a:spcAft>
                <a:spcPts val="300"/>
              </a:spcAft>
              <a:defRPr sz="819">
                <a:solidFill>
                  <a:srgbClr val="21242A"/>
                </a:solidFill>
                <a:latin typeface="Microsoft YaHei"/>
              </a:defRPr>
            </a:pPr>
            <a:r>
              <a:t>Baseline characteristics are summarized in Table 1.</a:t>
            </a:r>
          </a:p>
          <a:p>
            <a:pPr>
              <a:lnSpc>
                <a:spcPct val="103000"/>
              </a:lnSpc>
              <a:spcAft>
                <a:spcPts val="300"/>
              </a:spcAft>
              <a:defRPr sz="819">
                <a:solidFill>
                  <a:srgbClr val="21242A"/>
                </a:solidFill>
                <a:latin typeface="Microsoft YaHei"/>
              </a:defRPr>
            </a:pPr>
            <a:r>
              <a:t>Briefly, the 2L cohort showed a better ECOG performance status at infusion, lower R-IPI, lower prior ASCT exposure, lo</a:t>
            </a:r>
          </a:p>
          <a:p>
            <a:pPr>
              <a:lnSpc>
                <a:spcPct val="103000"/>
              </a:lnSpc>
              <a:spcAft>
                <a:spcPts val="300"/>
              </a:spcAft>
              <a:defRPr sz="819">
                <a:solidFill>
                  <a:srgbClr val="21242A"/>
                </a:solidFill>
                <a:latin typeface="Microsoft YaHei"/>
              </a:defRPr>
            </a:pPr>
            <a:r>
              <a:t>wer rates of bulky disease and elevated LDH, and more frequent use of bridging therapy.</a:t>
            </a:r>
          </a:p>
          <a:p>
            <a:pPr>
              <a:lnSpc>
                <a:spcPct val="103000"/>
              </a:lnSpc>
              <a:spcAft>
                <a:spcPts val="300"/>
              </a:spcAft>
              <a:defRPr sz="819">
                <a:solidFill>
                  <a:srgbClr val="21242A"/>
                </a:solidFill>
                <a:latin typeface="Microsoft YaHei"/>
              </a:defRPr>
            </a:pPr>
            <a:r>
              <a:t>No differences were observed in the median time from apheresis to infusion between groups.</a:t>
            </a:r>
          </a:p>
          <a:p>
            <a:pPr>
              <a:lnSpc>
                <a:spcPct val="103000"/>
              </a:lnSpc>
              <a:spcAft>
                <a:spcPts val="300"/>
              </a:spcAft>
              <a:defRPr sz="819">
                <a:solidFill>
                  <a:srgbClr val="21242A"/>
                </a:solidFill>
                <a:latin typeface="Microsoft YaHei"/>
              </a:defRPr>
            </a:pPr>
            <a:r>
              <a:t>Comparing 2L vs ≥3L, any-grade CRS occurred in 95% vs 92%, with grade ≥3 CRS in 4% vs 8% (p=0.002).</a:t>
            </a:r>
          </a:p>
          <a:p>
            <a:pPr>
              <a:lnSpc>
                <a:spcPct val="103000"/>
              </a:lnSpc>
              <a:spcAft>
                <a:spcPts val="300"/>
              </a:spcAft>
              <a:defRPr sz="819">
                <a:solidFill>
                  <a:srgbClr val="21242A"/>
                </a:solidFill>
                <a:latin typeface="Microsoft YaHei"/>
              </a:defRPr>
            </a:pPr>
            <a:r>
              <a:t>Median time-to-onset was 2 days in both groups and median duration 4 vs 5 days (p=0.02).</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摘要号：PF1026</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阿昔布他烯-西洛卢塞一线治疗dlbcl的早期毒性：2l与≥3l治疗的现实比较</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early toxicity of axicabtagene ciloleucel by line of therapy in dlbcl: a real...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EHA原文结果（中文字段未通过数字核对）（2/3）</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Tocilizumab was administered in 61% vs 62% patients (median doses 1.5 vs 2, p=0.03), and corticosteroids were administ</a:t>
            </a:r>
          </a:p>
          <a:p>
            <a:pPr>
              <a:lnSpc>
                <a:spcPct val="103000"/>
              </a:lnSpc>
              <a:spcAft>
                <a:spcPts val="300"/>
              </a:spcAft>
              <a:defRPr sz="819">
                <a:solidFill>
                  <a:srgbClr val="21242A"/>
                </a:solidFill>
                <a:latin typeface="Microsoft YaHei"/>
              </a:defRPr>
            </a:pPr>
            <a:r>
              <a:t>ered in 48% vs 32% (p ICU admission related to toxicity occurred in 21% vs 24%.</a:t>
            </a:r>
          </a:p>
          <a:p>
            <a:pPr>
              <a:lnSpc>
                <a:spcPct val="103000"/>
              </a:lnSpc>
              <a:spcAft>
                <a:spcPts val="300"/>
              </a:spcAft>
              <a:defRPr sz="819">
                <a:solidFill>
                  <a:srgbClr val="21242A"/>
                </a:solidFill>
                <a:latin typeface="Microsoft YaHei"/>
              </a:defRPr>
            </a:pPr>
            <a:r>
              <a:t>No differences were observed in non-relapse mortality (NRM).</a:t>
            </a:r>
          </a:p>
          <a:p>
            <a:pPr>
              <a:lnSpc>
                <a:spcPct val="103000"/>
              </a:lnSpc>
              <a:spcAft>
                <a:spcPts val="300"/>
              </a:spcAft>
              <a:defRPr sz="819">
                <a:solidFill>
                  <a:srgbClr val="21242A"/>
                </a:solidFill>
                <a:latin typeface="Microsoft YaHei"/>
              </a:defRPr>
            </a:pPr>
            <a:r>
              <a:t>Summary/Conclusion: In this real-world DLBCL axi-cel cohort, second line of therapy was associated with lower rates of</a:t>
            </a:r>
          </a:p>
          <a:p>
            <a:pPr>
              <a:lnSpc>
                <a:spcPct val="103000"/>
              </a:lnSpc>
              <a:spcAft>
                <a:spcPts val="300"/>
              </a:spcAft>
              <a:defRPr sz="819">
                <a:solidFill>
                  <a:srgbClr val="21242A"/>
                </a:solidFill>
                <a:latin typeface="Microsoft YaHei"/>
              </a:defRPr>
            </a:pPr>
            <a:r>
              <a:t> grade ≥3 early toxicities (CRS and ICANS) as compared to ≥3L.</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阿昔布他烯-西洛卢塞一线治疗dlbcl的早期毒性：2l与≥3l治疗的现实比较</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early toxicity of axicabtagene ciloleucel by line of therapy in dlbcl: a real...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EHA原文结果（中文字段未通过数字核对）（3/3）</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Despite this reduced incidence of high-grade toxicity, corticosteroid use for CRS was more frequent in the 2L cohort, </a:t>
            </a:r>
          </a:p>
          <a:p>
            <a:pPr>
              <a:lnSpc>
                <a:spcPct val="103000"/>
              </a:lnSpc>
              <a:spcAft>
                <a:spcPts val="300"/>
              </a:spcAft>
              <a:defRPr sz="819">
                <a:solidFill>
                  <a:srgbClr val="21242A"/>
                </a:solidFill>
                <a:latin typeface="Microsoft YaHei"/>
              </a:defRPr>
            </a:pPr>
            <a:r>
              <a:t>likely reflecting a temporal shift toward earlier and more proactive toxicity management in the more recent treatment </a:t>
            </a:r>
          </a:p>
          <a:p>
            <a:pPr>
              <a:lnSpc>
                <a:spcPct val="103000"/>
              </a:lnSpc>
              <a:spcAft>
                <a:spcPts val="300"/>
              </a:spcAft>
              <a:defRPr sz="819">
                <a:solidFill>
                  <a:srgbClr val="21242A"/>
                </a:solidFill>
                <a:latin typeface="Microsoft YaHei"/>
              </a:defRPr>
            </a:pPr>
            <a:r>
              <a:t>period.</a:t>
            </a:r>
          </a:p>
          <a:p>
            <a:pPr>
              <a:lnSpc>
                <a:spcPct val="103000"/>
              </a:lnSpc>
              <a:spcAft>
                <a:spcPts val="300"/>
              </a:spcAft>
              <a:defRPr sz="819">
                <a:solidFill>
                  <a:srgbClr val="21242A"/>
                </a:solidFill>
                <a:latin typeface="Microsoft YaHei"/>
              </a:defRPr>
            </a:pPr>
            <a:r>
              <a:t>Further analysis are needed to discard an impact of disease characteristics on these findings.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关于大b细胞淋巴瘤中真实世界汽车t细胞合格性的国际专家共识：一项e-delphi研究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international expert consensus on real-world car t-cell eligibility in large...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专家共识：international expert consensus on real-world car t-cell 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对一线治疗后2-4周期内进行中期PET评估应答，共识率82.6%</a:t>
            </a:r>
          </a:p>
          <a:p>
            <a:pPr>
              <a:lnSpc>
                <a:spcPct val="103000"/>
              </a:lnSpc>
              <a:spcAft>
                <a:spcPts val="300"/>
              </a:spcAft>
              <a:defRPr sz="800">
                <a:solidFill>
                  <a:srgbClr val="21242A"/>
                </a:solidFill>
                <a:latin typeface="Microsoft YaHei"/>
              </a:defRPr>
            </a:pPr>
            <a:r>
              <a:t>疾病稳定患者应转诊，共识率87.0%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研究类型：专家共识</a:t>
            </a:r>
          </a:p>
          <a:p>
            <a:pPr>
              <a:lnSpc>
                <a:spcPct val="103000"/>
              </a:lnSpc>
              <a:spcAft>
                <a:spcPts val="300"/>
              </a:spcAft>
              <a:defRPr sz="810">
                <a:solidFill>
                  <a:srgbClr val="21242A"/>
                </a:solidFill>
                <a:latin typeface="Microsoft YaHei"/>
              </a:defRPr>
            </a:pPr>
            <a:r>
              <a:t>人数：23</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研究主题：international expert consensus on real-world car t-cell eligibility in large b-cell lymphomas: an e-delphi study</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关于大b细胞淋巴瘤中真实世界汽车t细胞合格性的国际专家共识：一项e-delphi研究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international expert consensus on real-world car t-cell eligibility in large...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对一线治疗后2-4周期内进行中期PET评估应答，共识率82.6%</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疾病稳定患者应转诊，共识率87.0%</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疾病进展患者应转诊，共识率100%</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年龄不能作为绝对禁忌证，共识率100%</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ECOG PS 0-2自动转诊，共识率91.3%</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肌酐清除率&gt;30 mL/min自动转诊，共识率82.6%</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心功能为核心标准，共识率78.2%</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摘要号：PF1023</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复发难治性大b细胞淋巴瘤二线car-t细胞治疗后的免疫缺陷和感染风险</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immune deficiency and infection risk following second line car-t cells therap...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N=57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Lisocabtagene maraleucel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多组/多方案比较：试验组1：axi-cel</a:t>
            </a:r>
          </a:p>
          <a:p>
            <a:pPr>
              <a:lnSpc>
                <a:spcPct val="103000"/>
              </a:lnSpc>
              <a:spcAft>
                <a:spcPts val="300"/>
              </a:spcAft>
              <a:defRPr sz="800">
                <a:solidFill>
                  <a:srgbClr val="21242A"/>
                </a:solidFill>
                <a:latin typeface="Microsoft YaHei"/>
              </a:defRPr>
            </a:pPr>
            <a:r>
              <a:t>试验组2：liso-cel</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第3个月时，低丙种球蛋白血症发生率11%，无严重低丙种球蛋白血症</a:t>
            </a:r>
          </a:p>
          <a:p>
            <a:pPr>
              <a:lnSpc>
                <a:spcPct val="103000"/>
              </a:lnSpc>
              <a:spcAft>
                <a:spcPts val="300"/>
              </a:spcAft>
              <a:defRPr sz="800">
                <a:solidFill>
                  <a:srgbClr val="21242A"/>
                </a:solidFill>
                <a:latin typeface="Microsoft YaHei"/>
              </a:defRPr>
            </a:pPr>
            <a:r>
              <a:t>所有患者均出现B细胞再生障碍</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人数：57</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治疗线数：二线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试验药/方案：阿基仑赛、Lisocabtagene maraleucel</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复发难治性大b细胞淋巴瘤二线car-t细胞治疗后的免疫缺陷和感染风险</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immune deficiency and infection risk following second line car-t cells therap...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第3个月时，低丙种球蛋白血症发生率11%，无严重低丙种球蛋白血症；所有患者均出现B细胞再生障碍；51%患者CD4+ T细胞计数&lt;200/mL；16%患者未恢复任何免疫重建标准，45%恢复1项标准，39%恢复2项标准。</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第6个月和第12个月时，分别有9%和26%的患者恢复全部3项标准。</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21%患者接受了免疫球蛋白补充。</a:t>
                      </a:r>
                    </a:p>
                  </a:txBody>
                  <a:tcPr>
                    <a:solidFill>
                      <a:srgbClr val="F6F8FB"/>
                    </a:solidFill>
                  </a:tcPr>
                </a:tc>
              </a:tr>
              <a:tr h="282321">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第3个月时，56%患者至少发生过一次感染；25%患者发生过至少一次严重感染（≥3级）。</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第3个月后共发生49次感染，其中53%为细菌、45%为病毒、2%为真菌感染。</a:t>
                      </a:r>
                    </a:p>
                  </a:txBody>
                  <a:tcPr>
                    <a:solidFill>
                      <a:srgbClr val="F6F8FB"/>
                    </a:solidFill>
                  </a:tcPr>
                </a:tc>
              </a:tr>
              <a:tr h="282321">
                <a:tc>
                  <a:txBody>
                    <a:bodyPr wrap="square" lIns="36576" rIns="36576" tIns="18288" bIns="18288"/>
                    <a:lstStyle/>
                    <a:p>
                      <a:r>
                        <a:rPr sz="720" b="1">
                          <a:solidFill>
                            <a:srgbClr val="21242A"/>
                          </a:solidFill>
                          <a:latin typeface="Microsoft YaHei"/>
                        </a:rPr>
                        <a:t>第3个月后感染累积计数在不同免疫重建标准组间无显著差异（MCC at M12</a:t>
                      </a:r>
                    </a:p>
                  </a:txBody>
                  <a:tcPr>
                    <a:solidFill>
                      <a:srgbClr val="FFFFFF"/>
                    </a:solidFill>
                  </a:tcPr>
                </a:tc>
                <a:tc>
                  <a:txBody>
                    <a:bodyPr wrap="square" lIns="36576" rIns="36576" tIns="18288" bIns="18288"/>
                    <a:lstStyle/>
                    <a:p>
                      <a:r>
                        <a:rPr sz="720" b="0">
                          <a:solidFill>
                            <a:srgbClr val="21242A"/>
                          </a:solidFill>
                          <a:latin typeface="Microsoft YaHei"/>
                        </a:rPr>
                        <a:t>0,55 vs 0,96 vs 1,2）。</a:t>
                      </a:r>
                    </a:p>
                  </a:txBody>
                  <a:tcPr>
                    <a:solidFill>
                      <a:srgbClr val="FFFFFF"/>
                    </a:solidFill>
                  </a:tcPr>
                </a:tc>
              </a:tr>
              <a:tr h="282321">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CAR-T治疗后1年PFS为54%，OS为77%。以第3个月为起点，不同免疫重建标准组1年PFS分别为83%、56%、87%；OS分别为88%、63%、90%。</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摘要号：PF1019</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在复发/难治性大b细胞淋巴瘤中，接受滞留治疗与整个car t治疗途径的不良结果有关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receipt of holding therapy is associated with inferior outcomes across the ca...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N=219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回顾性临床研究结果：receipt of holding therapy is associated with inferio...</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意向治疗人群总生存期：HT组中位OS 5.7个月 vs 无HT组26.6个月，调整后HR=2.03（95%CI 1.29-3....</a:t>
            </a:r>
          </a:p>
          <a:p>
            <a:pPr>
              <a:lnSpc>
                <a:spcPct val="103000"/>
              </a:lnSpc>
              <a:spcAft>
                <a:spcPts val="300"/>
              </a:spcAft>
              <a:defRPr sz="800">
                <a:solidFill>
                  <a:srgbClr val="21242A"/>
                </a:solidFill>
                <a:latin typeface="Microsoft YaHei"/>
              </a:defRPr>
            </a:pPr>
            <a:r>
              <a:t>输注后总生存期：HT组中位OS 12.3个月 vs 无HT组未达到，调整后HR=2.12（95%CI 1.11-4.04，p=...</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人数：219</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研究主题：receipt of holding therapy is associated with inferior outcomes across the car t treatment pathway in relapsed/refracto...</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在复发/难治性大b细胞淋巴瘤中，接受滞留治疗与整个car t治疗途径的不良结果有关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receipt of holding therapy is associated with inferior outcomes across the ca...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56464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564642">
                <a:tc>
                  <a:txBody>
                    <a:bodyPr wrap="square" lIns="36576" rIns="36576" tIns="18288" bIns="18288"/>
                    <a:lstStyle/>
                    <a:p>
                      <a:r>
                        <a:rPr sz="720" b="1">
                          <a:solidFill>
                            <a:srgbClr val="21242A"/>
                          </a:solidFill>
                          <a:latin typeface="Microsoft YaHei"/>
                        </a:rPr>
                        <a:t>意向治疗人群总生存期</a:t>
                      </a:r>
                    </a:p>
                  </a:txBody>
                  <a:tcPr>
                    <a:solidFill>
                      <a:srgbClr val="F6F8FB"/>
                    </a:solidFill>
                  </a:tcPr>
                </a:tc>
                <a:tc>
                  <a:txBody>
                    <a:bodyPr wrap="square" lIns="36576" rIns="36576" tIns="18288" bIns="18288"/>
                    <a:lstStyle/>
                    <a:p>
                      <a:r>
                        <a:rPr sz="720" b="0">
                          <a:solidFill>
                            <a:srgbClr val="21242A"/>
                          </a:solidFill>
                          <a:latin typeface="Microsoft YaHei"/>
                        </a:rPr>
                        <a:t>HT组中位OS 5.7个月 vs 无HT组26.6个月，调整后HR=2.03（95%CI 1.29-3.17，p=0.002）</a:t>
                      </a:r>
                    </a:p>
                  </a:txBody>
                  <a:tcPr>
                    <a:solidFill>
                      <a:srgbClr val="F6F8FB"/>
                    </a:solidFill>
                  </a:tcPr>
                </a:tc>
              </a:tr>
              <a:tr h="564642">
                <a:tc>
                  <a:txBody>
                    <a:bodyPr wrap="square" lIns="36576" rIns="36576" tIns="18288" bIns="18288"/>
                    <a:lstStyle/>
                    <a:p>
                      <a:r>
                        <a:rPr sz="720" b="1">
                          <a:solidFill>
                            <a:srgbClr val="21242A"/>
                          </a:solidFill>
                          <a:latin typeface="Microsoft YaHei"/>
                        </a:rPr>
                        <a:t>输注后总生存期</a:t>
                      </a:r>
                    </a:p>
                  </a:txBody>
                  <a:tcPr>
                    <a:solidFill>
                      <a:srgbClr val="FFFFFF"/>
                    </a:solidFill>
                  </a:tcPr>
                </a:tc>
                <a:tc>
                  <a:txBody>
                    <a:bodyPr wrap="square" lIns="36576" rIns="36576" tIns="18288" bIns="18288"/>
                    <a:lstStyle/>
                    <a:p>
                      <a:r>
                        <a:rPr sz="720" b="0">
                          <a:solidFill>
                            <a:srgbClr val="21242A"/>
                          </a:solidFill>
                          <a:latin typeface="Microsoft YaHei"/>
                        </a:rPr>
                        <a:t>HT组中位OS 12.3个月 vs 无HT组未达到，调整后HR=2.12（95%CI 1.11-4.04，p=0.023）</a:t>
                      </a:r>
                    </a:p>
                  </a:txBody>
                  <a:tcPr>
                    <a:solidFill>
                      <a:srgbClr val="FFFFFF"/>
                    </a:solidFill>
                  </a:tcPr>
                </a:tc>
              </a:tr>
              <a:tr h="564642">
                <a:tc>
                  <a:txBody>
                    <a:bodyPr wrap="square" lIns="36576" rIns="36576" tIns="18288" bIns="18288"/>
                    <a:lstStyle/>
                    <a:p>
                      <a:r>
                        <a:rPr sz="720" b="1">
                          <a:solidFill>
                            <a:srgbClr val="21242A"/>
                          </a:solidFill>
                          <a:latin typeface="Microsoft YaHei"/>
                        </a:rPr>
                        <a:t>接受BT与未接受BT的输注后OS</a:t>
                      </a:r>
                    </a:p>
                  </a:txBody>
                  <a:tcPr>
                    <a:solidFill>
                      <a:srgbClr val="F6F8FB"/>
                    </a:solidFill>
                  </a:tcPr>
                </a:tc>
                <a:tc>
                  <a:txBody>
                    <a:bodyPr wrap="square" lIns="36576" rIns="36576" tIns="18288" bIns="18288"/>
                    <a:lstStyle/>
                    <a:p>
                      <a:r>
                        <a:rPr sz="720" b="0">
                          <a:solidFill>
                            <a:srgbClr val="21242A"/>
                          </a:solidFill>
                          <a:latin typeface="Microsoft YaHei"/>
                        </a:rPr>
                        <a:t>中位OS 47.9个月 vs 37个月，调整后HR=1.05（95%CI 0.54-2.05，p=0.88）</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摘要号：PF1015</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新诊断的高危大b细胞淋巴瘤患者的现实世界（rw）治疗模式和生存结果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(rw) treatment patterns and survival outcomes in patients (pts) wi...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N=666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回顾性临床研究结果：real-world (rw) treatment patterns and survival outco...</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总人群（2011-2025年，666例）：</a:t>
            </a:r>
          </a:p>
          <a:p>
            <a:pPr>
              <a:lnSpc>
                <a:spcPct val="103000"/>
              </a:lnSpc>
              <a:spcAft>
                <a:spcPts val="300"/>
              </a:spcAft>
              <a:defRPr sz="800">
                <a:solidFill>
                  <a:srgbClr val="21242A"/>
                </a:solidFill>
                <a:latin typeface="Microsoft YaHei"/>
              </a:defRPr>
            </a:pPr>
            <a:r>
              <a:t>- 中位OS（从一线治疗开始）：35个月（95% CI 29-47）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人数：666</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研究主题：real-world (rw) treatment patterns and survival outcomes in patients (pts) with newly diagnosed high-risk (hr) large b-...</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新诊断的高危大b细胞淋巴瘤患者的现实世界（rw）治疗模式和生存结果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(rw) treatment patterns and survival outcomes in patients (pts) wi...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总人群（2011-2025年，666例）</a:t>
                      </a:r>
                    </a:p>
                  </a:txBody>
                  <a:tcPr>
                    <a:solidFill>
                      <a:srgbClr val="F6F8FB"/>
                    </a:solidFill>
                  </a:tcPr>
                </a:tc>
                <a:tc>
                  <a:txBody>
                    <a:bodyPr wrap="square" lIns="36576" rIns="36576" tIns="18288" bIns="18288"/>
                    <a:lstStyle/>
                    <a:p>
                      <a:r>
                        <a:rPr sz="720" b="0">
                          <a:solidFill>
                            <a:srgbClr val="21242A"/>
                          </a:solidFill>
                          <a:latin typeface="Microsoft YaHei"/>
                        </a:rPr>
                        <a:t/>
                      </a:r>
                    </a:p>
                  </a:txBody>
                  <a:tcPr>
                    <a:solidFill>
                      <a:srgbClr val="F6F8FB"/>
                    </a:solidFill>
                  </a:tcPr>
                </a:tc>
              </a:tr>
              <a:tr h="282321">
                <a:tc>
                  <a:txBody>
                    <a:bodyPr wrap="square" lIns="36576" rIns="36576" tIns="18288" bIns="18288"/>
                    <a:lstStyle/>
                    <a:p>
                      <a:r>
                        <a:rPr sz="720" b="1">
                          <a:solidFill>
                            <a:srgbClr val="21242A"/>
                          </a:solidFill>
                          <a:latin typeface="Microsoft YaHei"/>
                        </a:rPr>
                        <a:t>- 中位OS（从一线治疗开始）</a:t>
                      </a:r>
                    </a:p>
                  </a:txBody>
                  <a:tcPr>
                    <a:solidFill>
                      <a:srgbClr val="FFFFFF"/>
                    </a:solidFill>
                  </a:tcPr>
                </a:tc>
                <a:tc>
                  <a:txBody>
                    <a:bodyPr wrap="square" lIns="36576" rIns="36576" tIns="18288" bIns="18288"/>
                    <a:lstStyle/>
                    <a:p>
                      <a:r>
                        <a:rPr sz="720" b="0">
                          <a:solidFill>
                            <a:srgbClr val="21242A"/>
                          </a:solidFill>
                          <a:latin typeface="Microsoft YaHei"/>
                        </a:rPr>
                        <a:t>35个月（95% CI 29-47）</a:t>
                      </a:r>
                    </a:p>
                  </a:txBody>
                  <a:tcPr>
                    <a:solidFill>
                      <a:srgbClr val="FFFFFF"/>
                    </a:solidFill>
                  </a:tcPr>
                </a:tc>
              </a:tr>
              <a:tr h="282321">
                <a:tc>
                  <a:txBody>
                    <a:bodyPr wrap="square" lIns="36576" rIns="36576" tIns="18288" bIns="18288"/>
                    <a:lstStyle/>
                    <a:p>
                      <a:r>
                        <a:rPr sz="720" b="1">
                          <a:solidFill>
                            <a:srgbClr val="21242A"/>
                          </a:solidFill>
                          <a:latin typeface="Microsoft YaHei"/>
                        </a:rPr>
                        <a:t>- 2年OS率</a:t>
                      </a:r>
                    </a:p>
                  </a:txBody>
                  <a:tcPr>
                    <a:solidFill>
                      <a:srgbClr val="F6F8FB"/>
                    </a:solidFill>
                  </a:tcPr>
                </a:tc>
                <a:tc>
                  <a:txBody>
                    <a:bodyPr wrap="square" lIns="36576" rIns="36576" tIns="18288" bIns="18288"/>
                    <a:lstStyle/>
                    <a:p>
                      <a:r>
                        <a:rPr sz="720" b="0">
                          <a:solidFill>
                            <a:srgbClr val="21242A"/>
                          </a:solidFill>
                          <a:latin typeface="Microsoft YaHei"/>
                        </a:rPr>
                        <a:t>57%</a:t>
                      </a:r>
                    </a:p>
                  </a:txBody>
                  <a:tcPr>
                    <a:solidFill>
                      <a:srgbClr val="F6F8FB"/>
                    </a:solidFill>
                  </a:tcPr>
                </a:tc>
              </a:tr>
              <a:tr h="282321">
                <a:tc>
                  <a:txBody>
                    <a:bodyPr wrap="square" lIns="36576" rIns="36576" tIns="18288" bIns="18288"/>
                    <a:lstStyle/>
                    <a:p>
                      <a:r>
                        <a:rPr sz="720" b="1">
                          <a:solidFill>
                            <a:srgbClr val="21242A"/>
                          </a:solidFill>
                          <a:latin typeface="Microsoft YaHei"/>
                        </a:rPr>
                        <a:t>- 中位rwTTNT</a:t>
                      </a:r>
                    </a:p>
                  </a:txBody>
                  <a:tcPr>
                    <a:solidFill>
                      <a:srgbClr val="FFFFFF"/>
                    </a:solidFill>
                  </a:tcPr>
                </a:tc>
                <a:tc>
                  <a:txBody>
                    <a:bodyPr wrap="square" lIns="36576" rIns="36576" tIns="18288" bIns="18288"/>
                    <a:lstStyle/>
                    <a:p>
                      <a:r>
                        <a:rPr sz="720" b="0">
                          <a:solidFill>
                            <a:srgbClr val="21242A"/>
                          </a:solidFill>
                          <a:latin typeface="Microsoft YaHei"/>
                        </a:rPr>
                        <a:t>11个月</a:t>
                      </a:r>
                    </a:p>
                  </a:txBody>
                  <a:tcPr>
                    <a:solidFill>
                      <a:srgbClr val="FFFFFF"/>
                    </a:solidFill>
                  </a:tcPr>
                </a:tc>
              </a:tr>
              <a:tr h="282321">
                <a:tc>
                  <a:txBody>
                    <a:bodyPr wrap="square" lIns="36576" rIns="36576" tIns="18288" bIns="18288"/>
                    <a:lstStyle/>
                    <a:p>
                      <a:r>
                        <a:rPr sz="720" b="1">
                          <a:solidFill>
                            <a:srgbClr val="21242A"/>
                          </a:solidFill>
                          <a:latin typeface="Microsoft YaHei"/>
                        </a:rPr>
                        <a:t>- 接受二线治疗比例</a:t>
                      </a:r>
                    </a:p>
                  </a:txBody>
                  <a:tcPr>
                    <a:solidFill>
                      <a:srgbClr val="F6F8FB"/>
                    </a:solidFill>
                  </a:tcPr>
                </a:tc>
                <a:tc>
                  <a:txBody>
                    <a:bodyPr wrap="square" lIns="36576" rIns="36576" tIns="18288" bIns="18288"/>
                    <a:lstStyle/>
                    <a:p>
                      <a:r>
                        <a:rPr sz="720" b="0">
                          <a:solidFill>
                            <a:srgbClr val="21242A"/>
                          </a:solidFill>
                          <a:latin typeface="Microsoft YaHei"/>
                        </a:rPr>
                        <a:t>38%</a:t>
                      </a:r>
                    </a:p>
                  </a:txBody>
                  <a:tcPr>
                    <a:solidFill>
                      <a:srgbClr val="F6F8FB"/>
                    </a:solidFill>
                  </a:tcPr>
                </a:tc>
              </a:tr>
              <a:tr h="282321">
                <a:tc>
                  <a:txBody>
                    <a:bodyPr wrap="square" lIns="36576" rIns="36576" tIns="18288" bIns="18288"/>
                    <a:lstStyle/>
                    <a:p>
                      <a:r>
                        <a:rPr sz="720" b="1">
                          <a:solidFill>
                            <a:srgbClr val="21242A"/>
                          </a:solidFill>
                          <a:latin typeface="Microsoft YaHei"/>
                        </a:rPr>
                        <a:t>- 未接受二线治疗仍存活</a:t>
                      </a:r>
                    </a:p>
                  </a:txBody>
                  <a:tcPr>
                    <a:solidFill>
                      <a:srgbClr val="FFFFFF"/>
                    </a:solidFill>
                  </a:tcPr>
                </a:tc>
                <a:tc>
                  <a:txBody>
                    <a:bodyPr wrap="square" lIns="36576" rIns="36576" tIns="18288" bIns="18288"/>
                    <a:lstStyle/>
                    <a:p>
                      <a:r>
                        <a:rPr sz="720" b="0">
                          <a:solidFill>
                            <a:srgbClr val="21242A"/>
                          </a:solidFill>
                          <a:latin typeface="Microsoft YaHei"/>
                        </a:rPr>
                        <a:t>27%</a:t>
                      </a:r>
                    </a:p>
                  </a:txBody>
                  <a:tcPr>
                    <a:solidFill>
                      <a:srgbClr val="FFFFFF"/>
                    </a:solidFill>
                  </a:tcPr>
                </a:tc>
              </a:tr>
              <a:tr h="282321">
                <a:tc>
                  <a:txBody>
                    <a:bodyPr wrap="square" lIns="36576" rIns="36576" tIns="18288" bIns="18288"/>
                    <a:lstStyle/>
                    <a:p>
                      <a:r>
                        <a:rPr sz="720" b="1">
                          <a:solidFill>
                            <a:srgbClr val="21242A"/>
                          </a:solidFill>
                          <a:latin typeface="Microsoft YaHei"/>
                        </a:rPr>
                        <a:t>- 死亡前未接受二线治疗</a:t>
                      </a:r>
                    </a:p>
                  </a:txBody>
                  <a:tcPr>
                    <a:solidFill>
                      <a:srgbClr val="F6F8FB"/>
                    </a:solidFill>
                  </a:tcPr>
                </a:tc>
                <a:tc>
                  <a:txBody>
                    <a:bodyPr wrap="square" lIns="36576" rIns="36576" tIns="18288" bIns="18288"/>
                    <a:lstStyle/>
                    <a:p>
                      <a:r>
                        <a:rPr sz="720" b="0">
                          <a:solidFill>
                            <a:srgbClr val="21242A"/>
                          </a:solidFill>
                          <a:latin typeface="Microsoft YaHei"/>
                        </a:rPr>
                        <a:t>35%</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摘要号：PF1014</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新诊断的高危大b细胞淋巴瘤患者的现实世界（rw）治疗模式和生存结果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(rw) treatment patterns and survival outcomes in patients (pts) wi...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512064">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512064">
                <a:tc>
                  <a:txBody>
                    <a:bodyPr wrap="square" lIns="36576" rIns="36576" tIns="18288" bIns="18288"/>
                    <a:lstStyle/>
                    <a:p>
                      <a:r>
                        <a:rPr sz="720" b="1">
                          <a:solidFill>
                            <a:srgbClr val="21242A"/>
                          </a:solidFill>
                          <a:latin typeface="Microsoft YaHei"/>
                        </a:rPr>
                        <a:t>近期队列（2019-2025年，337例）</a:t>
                      </a:r>
                    </a:p>
                  </a:txBody>
                  <a:tcPr>
                    <a:solidFill>
                      <a:srgbClr val="F6F8FB"/>
                    </a:solidFill>
                  </a:tcPr>
                </a:tc>
                <a:tc>
                  <a:txBody>
                    <a:bodyPr wrap="square" lIns="36576" rIns="36576" tIns="18288" bIns="18288"/>
                    <a:lstStyle/>
                    <a:p>
                      <a:r>
                        <a:rPr sz="720" b="0">
                          <a:solidFill>
                            <a:srgbClr val="21242A"/>
                          </a:solidFill>
                          <a:latin typeface="Microsoft YaHei"/>
                        </a:rPr>
                        <a:t/>
                      </a:r>
                    </a:p>
                  </a:txBody>
                  <a:tcPr>
                    <a:solidFill>
                      <a:srgbClr val="F6F8FB"/>
                    </a:solidFill>
                  </a:tcPr>
                </a:tc>
              </a:tr>
              <a:tr h="512064">
                <a:tc>
                  <a:txBody>
                    <a:bodyPr wrap="square" lIns="36576" rIns="36576" tIns="18288" bIns="18288"/>
                    <a:lstStyle/>
                    <a:p>
                      <a:r>
                        <a:rPr sz="720" b="1">
                          <a:solidFill>
                            <a:srgbClr val="21242A"/>
                          </a:solidFill>
                          <a:latin typeface="Microsoft YaHei"/>
                        </a:rPr>
                        <a:t>- 中位OS</a:t>
                      </a:r>
                    </a:p>
                  </a:txBody>
                  <a:tcPr>
                    <a:solidFill>
                      <a:srgbClr val="FFFFFF"/>
                    </a:solidFill>
                  </a:tcPr>
                </a:tc>
                <a:tc>
                  <a:txBody>
                    <a:bodyPr wrap="square" lIns="36576" rIns="36576" tIns="18288" bIns="18288"/>
                    <a:lstStyle/>
                    <a:p>
                      <a:r>
                        <a:rPr sz="720" b="0">
                          <a:solidFill>
                            <a:srgbClr val="21242A"/>
                          </a:solidFill>
                          <a:latin typeface="Microsoft YaHei"/>
                        </a:rPr>
                        <a:t>39个月（95% CI 26-56）</a:t>
                      </a:r>
                    </a:p>
                  </a:txBody>
                  <a:tcPr>
                    <a:solidFill>
                      <a:srgbClr val="FFFFFF"/>
                    </a:solidFill>
                  </a:tcPr>
                </a:tc>
              </a:tr>
              <a:tr h="512064">
                <a:tc>
                  <a:txBody>
                    <a:bodyPr wrap="square" lIns="36576" rIns="36576" tIns="18288" bIns="18288"/>
                    <a:lstStyle/>
                    <a:p>
                      <a:r>
                        <a:rPr sz="720" b="1">
                          <a:solidFill>
                            <a:srgbClr val="21242A"/>
                          </a:solidFill>
                          <a:latin typeface="Microsoft YaHei"/>
                        </a:rPr>
                        <a:t>- 2年OS率</a:t>
                      </a:r>
                    </a:p>
                  </a:txBody>
                  <a:tcPr>
                    <a:solidFill>
                      <a:srgbClr val="F6F8FB"/>
                    </a:solidFill>
                  </a:tcPr>
                </a:tc>
                <a:tc>
                  <a:txBody>
                    <a:bodyPr wrap="square" lIns="36576" rIns="36576" tIns="18288" bIns="18288"/>
                    <a:lstStyle/>
                    <a:p>
                      <a:r>
                        <a:rPr sz="720" b="0">
                          <a:solidFill>
                            <a:srgbClr val="21242A"/>
                          </a:solidFill>
                          <a:latin typeface="Microsoft YaHei"/>
                        </a:rPr>
                        <a:t>58%</a:t>
                      </a:r>
                    </a:p>
                  </a:txBody>
                  <a:tcPr>
                    <a:solidFill>
                      <a:srgbClr val="F6F8FB"/>
                    </a:solidFill>
                  </a:tcPr>
                </a:tc>
              </a:tr>
              <a:tr h="512064">
                <a:tc>
                  <a:txBody>
                    <a:bodyPr wrap="square" lIns="36576" rIns="36576" tIns="18288" bIns="18288"/>
                    <a:lstStyle/>
                    <a:p>
                      <a:r>
                        <a:rPr sz="720" b="1">
                          <a:solidFill>
                            <a:srgbClr val="21242A"/>
                          </a:solidFill>
                          <a:latin typeface="Microsoft YaHei"/>
                        </a:rPr>
                        <a:t>- 接受二线治疗比例</a:t>
                      </a:r>
                    </a:p>
                  </a:txBody>
                  <a:tcPr>
                    <a:solidFill>
                      <a:srgbClr val="FFFFFF"/>
                    </a:solidFill>
                  </a:tcPr>
                </a:tc>
                <a:tc>
                  <a:txBody>
                    <a:bodyPr wrap="square" lIns="36576" rIns="36576" tIns="18288" bIns="18288"/>
                    <a:lstStyle/>
                    <a:p>
                      <a:r>
                        <a:rPr sz="720" b="0">
                          <a:solidFill>
                            <a:srgbClr val="21242A"/>
                          </a:solidFill>
                          <a:latin typeface="Microsoft YaHei"/>
                        </a:rPr>
                        <a:t>32%</a:t>
                      </a:r>
                    </a:p>
                  </a:txBody>
                  <a:tcPr>
                    <a:solidFill>
                      <a:srgbClr val="FFFFFF"/>
                    </a:solidFill>
                  </a:tcPr>
                </a:tc>
              </a:tr>
              <a:tr h="512064">
                <a:tc>
                  <a:txBody>
                    <a:bodyPr wrap="square" lIns="36576" rIns="36576" tIns="18288" bIns="18288"/>
                    <a:lstStyle/>
                    <a:p>
                      <a:r>
                        <a:rPr sz="720" b="1">
                          <a:solidFill>
                            <a:srgbClr val="21242A"/>
                          </a:solidFill>
                          <a:latin typeface="Microsoft YaHei"/>
                        </a:rPr>
                        <a:t>- 未接受二线治疗仍存活</a:t>
                      </a:r>
                    </a:p>
                  </a:txBody>
                  <a:tcPr>
                    <a:solidFill>
                      <a:srgbClr val="F6F8FB"/>
                    </a:solidFill>
                  </a:tcPr>
                </a:tc>
                <a:tc>
                  <a:txBody>
                    <a:bodyPr wrap="square" lIns="36576" rIns="36576" tIns="18288" bIns="18288"/>
                    <a:lstStyle/>
                    <a:p>
                      <a:r>
                        <a:rPr sz="720" b="0">
                          <a:solidFill>
                            <a:srgbClr val="21242A"/>
                          </a:solidFill>
                          <a:latin typeface="Microsoft YaHei"/>
                        </a:rPr>
                        <a:t>36%</a:t>
                      </a:r>
                    </a:p>
                  </a:txBody>
                  <a:tcPr>
                    <a:solidFill>
                      <a:srgbClr val="F6F8FB"/>
                    </a:solidFill>
                  </a:tcPr>
                </a:tc>
              </a:tr>
              <a:tr h="512064">
                <a:tc>
                  <a:txBody>
                    <a:bodyPr wrap="square" lIns="36576" rIns="36576" tIns="18288" bIns="18288"/>
                    <a:lstStyle/>
                    <a:p>
                      <a:r>
                        <a:rPr sz="720" b="1">
                          <a:solidFill>
                            <a:srgbClr val="21242A"/>
                          </a:solidFill>
                          <a:latin typeface="Microsoft YaHei"/>
                        </a:rPr>
                        <a:t>- 死亡前未接受二线治疗</a:t>
                      </a:r>
                    </a:p>
                  </a:txBody>
                  <a:tcPr>
                    <a:solidFill>
                      <a:srgbClr val="FFFFFF"/>
                    </a:solidFill>
                  </a:tcPr>
                </a:tc>
                <a:tc>
                  <a:txBody>
                    <a:bodyPr wrap="square" lIns="36576" rIns="36576" tIns="18288" bIns="18288"/>
                    <a:lstStyle/>
                    <a:p>
                      <a:r>
                        <a:rPr sz="720" b="0">
                          <a:solidFill>
                            <a:srgbClr val="21242A"/>
                          </a:solidFill>
                          <a:latin typeface="Microsoft YaHei"/>
                        </a:rPr>
                        <a:t>32%</a:t>
                      </a:r>
                    </a:p>
                  </a:txBody>
                  <a:tcPr>
                    <a:solidFill>
                      <a:srgbClr val="FFFFFF"/>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t细胞亚群的空间分布揭示了与弥漫性大b细胞淋巴瘤生存相关的不同免疫微环境模式</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spatial profiling of t cell subsets reveals distinct immune microenvironment...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PF1066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N=365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回顾性临床研究结果：spatial profiling of t cell subsets reveals distinct...</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多重免疫荧光显示T细胞浸润在不同患者间存在巨大变异</a:t>
            </a:r>
          </a:p>
          <a:p>
            <a:pPr>
              <a:lnSpc>
                <a:spcPct val="103000"/>
              </a:lnSpc>
              <a:spcAft>
                <a:spcPts val="300"/>
              </a:spcAft>
              <a:defRPr sz="800">
                <a:solidFill>
                  <a:srgbClr val="21242A"/>
                </a:solidFill>
                <a:latin typeface="Microsoft YaHei"/>
              </a:defRPr>
            </a:pPr>
            <a:r>
              <a:t>无监督聚类识别出六种TIME亚型，各自与不同的总生存期相关</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人数：365</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研究主题：spatial profiling of t cell subsets reveals distinct immune microenvironment patterns associated with survival in diffu...</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t细胞亚群的空间分布揭示了与弥漫性大b细胞淋巴瘤生存相关的不同免疫微环境模式</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spatial profiling of t cell subsets reveals distinct immune microenvironment...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PF1066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2265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22652">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1. 多重免疫荧光显示T细胞浸润在不同患者间存在巨大变异</a:t>
                      </a:r>
                    </a:p>
                  </a:txBody>
                  <a:tcPr>
                    <a:solidFill>
                      <a:srgbClr val="F6F8FB"/>
                    </a:solidFill>
                  </a:tcPr>
                </a:tc>
              </a:tr>
              <a:tr h="322652">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2. 无监督聚类识别出六种TIME亚型，各自与不同的总生存期相关</a:t>
                      </a:r>
                    </a:p>
                  </a:txBody>
                  <a:tcPr>
                    <a:solidFill>
                      <a:srgbClr val="FFFFFF"/>
                    </a:solidFill>
                  </a:tcPr>
                </a:tc>
              </a:tr>
              <a:tr h="322652">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3. B细胞丰富、免疫贫乏的肿瘤预后较差；B细胞贫乏、CD8+T细胞丰富的肿瘤预后更优</a:t>
                      </a:r>
                    </a:p>
                  </a:txBody>
                  <a:tcPr>
                    <a:solidFill>
                      <a:srgbClr val="F6F8FB"/>
                    </a:solidFill>
                  </a:tcPr>
                </a:tc>
              </a:tr>
              <a:tr h="322652">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4. 差异基因表达分析发现B细胞丰富、免疫贫乏的TIME中BRCA1、NASP、MYBL2、HELLS、BIRC5、HMGA1上调</a:t>
                      </a:r>
                    </a:p>
                  </a:txBody>
                  <a:tcPr>
                    <a:solidFill>
                      <a:srgbClr val="FFFFFF"/>
                    </a:solidFill>
                  </a:tcPr>
                </a:tc>
              </a:tr>
              <a:tr h="322652">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5. 空间分析显示，预后较差的TIME中PD1+T细胞与肿瘤细胞之间的吸引显著更多</a:t>
                      </a:r>
                    </a:p>
                  </a:txBody>
                  <a:tcPr>
                    <a:solidFill>
                      <a:srgbClr val="F6F8FB"/>
                    </a:solidFill>
                  </a:tcPr>
                </a:tc>
              </a:tr>
              <a:tr h="322656">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6. 邻域分析识别出五种反复出现的细胞邻域结构</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药物/技术：双抗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摘要号：PF1066</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基于polatuzuma vedotin的弥漫性大b细胞淋巴瘤一线治疗的真实疗效和基因组景观：重点关注tp53突变和治...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and genomic landscape of polatuzuma vedotin-based first-l...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N=236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分组：试验组1：Pola-R-CHP（polatuzuma vedotin，利妥昔单抗，环磷酰胺，多柔比星，泼尼松）</a:t>
            </a:r>
          </a:p>
          <a:p>
            <a:pPr>
              <a:lnSpc>
                <a:spcPct val="103000"/>
              </a:lnSpc>
              <a:spcAft>
                <a:spcPts val="300"/>
              </a:spcAft>
              <a:defRPr sz="800">
                <a:solidFill>
                  <a:srgbClr val="21242A"/>
                </a:solidFill>
                <a:latin typeface="Microsoft YaHei"/>
              </a:defRPr>
            </a:pPr>
            <a:r>
              <a:t>对照组：R-CHOP（利妥昔单抗，环磷酰胺，多柔比星，长春新碱，泼尼松）</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对照/比较：试验组1：Pola-R-CHP（polatuzuma vedotin，利妥昔单抗，环磷酰胺，多柔比星，泼尼松）</a:t>
            </a:r>
          </a:p>
          <a:p>
            <a:pPr>
              <a:lnSpc>
                <a:spcPct val="103000"/>
              </a:lnSpc>
              <a:spcAft>
                <a:spcPts val="300"/>
              </a:spcAft>
              <a:defRPr sz="800">
                <a:solidFill>
                  <a:srgbClr val="21242A"/>
                </a:solidFill>
                <a:latin typeface="Microsoft YaHei"/>
              </a:defRPr>
            </a:pPr>
            <a:r>
              <a:t>对照组：R-CHOP（利妥昔单抗，环磷酰胺，多柔比星，长春新碱，泼尼松）</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完全缓解率：Pola-R-CHP组81.6% vs R-CHOP组66.3%，加权OR=2.26，95%CI 1.16-4.3...</a:t>
            </a:r>
          </a:p>
          <a:p>
            <a:pPr>
              <a:lnSpc>
                <a:spcPct val="103000"/>
              </a:lnSpc>
              <a:spcAft>
                <a:spcPts val="300"/>
              </a:spcAft>
              <a:defRPr sz="800">
                <a:solidFill>
                  <a:srgbClr val="21242A"/>
                </a:solidFill>
                <a:latin typeface="Microsoft YaHei"/>
              </a:defRPr>
            </a:pPr>
            <a:r>
              <a:t>无进展生存期：加权HR=0.41，95%CI 0.21-0.80，P=0.009</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人数：236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分组/治疗流程：试验组1：Pola-R-CHP（polatuzuma vedotin、利妥昔单抗、环磷酰胺</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基于polatuzuma vedotin的弥漫性大b细胞淋巴瘤一线治疗的真实疗效和基因组景观：重点关注tp53突变和治...</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efficacy and genomic landscape of polatuzuma vedotin-based first-l...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451713">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451713">
                <a:tc>
                  <a:txBody>
                    <a:bodyPr wrap="square" lIns="36576" rIns="36576" tIns="18288" bIns="18288"/>
                    <a:lstStyle/>
                    <a:p>
                      <a:r>
                        <a:rPr sz="720" b="1">
                          <a:solidFill>
                            <a:srgbClr val="21242A"/>
                          </a:solidFill>
                          <a:latin typeface="Microsoft YaHei"/>
                        </a:rPr>
                        <a:t>完全缓解率</a:t>
                      </a:r>
                    </a:p>
                  </a:txBody>
                  <a:tcPr>
                    <a:solidFill>
                      <a:srgbClr val="F6F8FB"/>
                    </a:solidFill>
                  </a:tcPr>
                </a:tc>
                <a:tc>
                  <a:txBody>
                    <a:bodyPr wrap="square" lIns="36576" rIns="36576" tIns="18288" bIns="18288"/>
                    <a:lstStyle/>
                    <a:p>
                      <a:r>
                        <a:rPr sz="720" b="0">
                          <a:solidFill>
                            <a:srgbClr val="21242A"/>
                          </a:solidFill>
                          <a:latin typeface="Microsoft YaHei"/>
                        </a:rPr>
                        <a:t>Pola-R-CHP组81.6% vs R-CHOP组66.3%，加权OR=2.26，95%CI 1.16-4.39，P=0.017</a:t>
                      </a:r>
                    </a:p>
                  </a:txBody>
                  <a:tcPr>
                    <a:solidFill>
                      <a:srgbClr val="F6F8FB"/>
                    </a:solidFill>
                  </a:tcPr>
                </a:tc>
              </a:tr>
              <a:tr h="451713">
                <a:tc>
                  <a:txBody>
                    <a:bodyPr wrap="square" lIns="36576" rIns="36576" tIns="18288" bIns="18288"/>
                    <a:lstStyle/>
                    <a:p>
                      <a:r>
                        <a:rPr sz="720" b="1">
                          <a:solidFill>
                            <a:srgbClr val="21242A"/>
                          </a:solidFill>
                          <a:latin typeface="Microsoft YaHei"/>
                        </a:rPr>
                        <a:t>无进展生存期</a:t>
                      </a:r>
                    </a:p>
                  </a:txBody>
                  <a:tcPr>
                    <a:solidFill>
                      <a:srgbClr val="FFFFFF"/>
                    </a:solidFill>
                  </a:tcPr>
                </a:tc>
                <a:tc>
                  <a:txBody>
                    <a:bodyPr wrap="square" lIns="36576" rIns="36576" tIns="18288" bIns="18288"/>
                    <a:lstStyle/>
                    <a:p>
                      <a:r>
                        <a:rPr sz="720" b="0">
                          <a:solidFill>
                            <a:srgbClr val="21242A"/>
                          </a:solidFill>
                          <a:latin typeface="Microsoft YaHei"/>
                        </a:rPr>
                        <a:t>加权HR=0.41，95%CI 0.21-0.80，P=0.009</a:t>
                      </a:r>
                    </a:p>
                  </a:txBody>
                  <a:tcPr>
                    <a:solidFill>
                      <a:srgbClr val="FFFFFF"/>
                    </a:solidFill>
                  </a:tcPr>
                </a:tc>
              </a:tr>
              <a:tr h="451713">
                <a:tc>
                  <a:txBody>
                    <a:bodyPr wrap="square" lIns="36576" rIns="36576" tIns="18288" bIns="18288"/>
                    <a:lstStyle/>
                    <a:p>
                      <a:r>
                        <a:rPr sz="720" b="1">
                          <a:solidFill>
                            <a:srgbClr val="21242A"/>
                          </a:solidFill>
                          <a:latin typeface="Microsoft YaHei"/>
                        </a:rPr>
                        <a:t>估计1年PFS</a:t>
                      </a:r>
                    </a:p>
                  </a:txBody>
                  <a:tcPr>
                    <a:solidFill>
                      <a:srgbClr val="F6F8FB"/>
                    </a:solidFill>
                  </a:tcPr>
                </a:tc>
                <a:tc>
                  <a:txBody>
                    <a:bodyPr wrap="square" lIns="36576" rIns="36576" tIns="18288" bIns="18288"/>
                    <a:lstStyle/>
                    <a:p>
                      <a:r>
                        <a:rPr sz="720" b="0">
                          <a:solidFill>
                            <a:srgbClr val="21242A"/>
                          </a:solidFill>
                          <a:latin typeface="Microsoft YaHei"/>
                        </a:rPr>
                        <a:t>91.4% vs 74.2%</a:t>
                      </a:r>
                    </a:p>
                  </a:txBody>
                  <a:tcPr>
                    <a:solidFill>
                      <a:srgbClr val="F6F8FB"/>
                    </a:solidFill>
                  </a:tcPr>
                </a:tc>
              </a:tr>
              <a:tr h="451716">
                <a:tc>
                  <a:txBody>
                    <a:bodyPr wrap="square" lIns="36576" rIns="36576" tIns="18288" bIns="18288"/>
                    <a:lstStyle/>
                    <a:p>
                      <a:r>
                        <a:rPr sz="720" b="1">
                          <a:solidFill>
                            <a:srgbClr val="21242A"/>
                          </a:solidFill>
                          <a:latin typeface="Microsoft YaHei"/>
                        </a:rPr>
                        <a:t>2年PFS</a:t>
                      </a:r>
                    </a:p>
                  </a:txBody>
                  <a:tcPr>
                    <a:solidFill>
                      <a:srgbClr val="FFFFFF"/>
                    </a:solidFill>
                  </a:tcPr>
                </a:tc>
                <a:tc>
                  <a:txBody>
                    <a:bodyPr wrap="square" lIns="36576" rIns="36576" tIns="18288" bIns="18288"/>
                    <a:lstStyle/>
                    <a:p>
                      <a:r>
                        <a:rPr sz="720" b="0">
                          <a:solidFill>
                            <a:srgbClr val="21242A"/>
                          </a:solidFill>
                          <a:latin typeface="Microsoft YaHei"/>
                        </a:rPr>
                        <a:t>84.6% vs 63.6%</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药物/技术：ADC</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摘要号：PS2097</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综合分子和代谢特征分析确定了复发/难治性大b细胞淋巴瘤患者使用龙考昔单抗治疗结果的决定因素</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integrated molecular and metabolic profiling identifies determinants of outco...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PF1096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试验药/方案：泰朗妥昔单抗</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总缓解率(ORR)：53.7%（完全缓解17.1%，部分缓解36.6%）</a:t>
            </a:r>
          </a:p>
          <a:p>
            <a:pPr>
              <a:lnSpc>
                <a:spcPct val="103000"/>
              </a:lnSpc>
              <a:spcAft>
                <a:spcPts val="300"/>
              </a:spcAft>
              <a:defRPr sz="800">
                <a:solidFill>
                  <a:srgbClr val="21242A"/>
                </a:solidFill>
                <a:latin typeface="Microsoft YaHei"/>
              </a:defRPr>
            </a:pPr>
            <a:r>
              <a:t>中位无进展生存期(mPFS)：3.6个月</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人数：41</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治疗线数：三线、末线</a:t>
            </a:r>
          </a:p>
          <a:p>
            <a:pPr>
              <a:lnSpc>
                <a:spcPct val="103000"/>
              </a:lnSpc>
              <a:spcAft>
                <a:spcPts val="300"/>
              </a:spcAft>
              <a:defRPr sz="810">
                <a:solidFill>
                  <a:srgbClr val="21242A"/>
                </a:solidFill>
                <a:latin typeface="Microsoft YaHei"/>
              </a:defRPr>
            </a:pPr>
            <a:r>
              <a:t>登记号：NCT03589469</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试验药/方案：泰朗妥昔单抗</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药物/技术类别：缬氨酸-丙氨酸 VA、PBD二聚体：SG3199、抗体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综合分子和代谢特征分析确定了复发/难治性大b细胞淋巴瘤患者使用龙考昔单抗治疗结果的决定因素</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integrated molecular and metabolic profiling identifies determinants of outco...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PF1096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总缓解率(ORR)</a:t>
                      </a:r>
                    </a:p>
                  </a:txBody>
                  <a:tcPr>
                    <a:solidFill>
                      <a:srgbClr val="F6F8FB"/>
                    </a:solidFill>
                  </a:tcPr>
                </a:tc>
                <a:tc>
                  <a:txBody>
                    <a:bodyPr wrap="square" lIns="36576" rIns="36576" tIns="18288" bIns="18288"/>
                    <a:lstStyle/>
                    <a:p>
                      <a:r>
                        <a:rPr sz="720" b="0">
                          <a:solidFill>
                            <a:srgbClr val="21242A"/>
                          </a:solidFill>
                          <a:latin typeface="Microsoft YaHei"/>
                        </a:rPr>
                        <a:t>53.7%（完全缓解17.1%，部分缓解36.6%）</a:t>
                      </a:r>
                    </a:p>
                  </a:txBody>
                  <a:tcPr>
                    <a:solidFill>
                      <a:srgbClr val="F6F8FB"/>
                    </a:solidFill>
                  </a:tcPr>
                </a:tc>
              </a:tr>
              <a:tr h="376428">
                <a:tc>
                  <a:txBody>
                    <a:bodyPr wrap="square" lIns="36576" rIns="36576" tIns="18288" bIns="18288"/>
                    <a:lstStyle/>
                    <a:p>
                      <a:r>
                        <a:rPr sz="720" b="1">
                          <a:solidFill>
                            <a:srgbClr val="21242A"/>
                          </a:solidFill>
                          <a:latin typeface="Microsoft YaHei"/>
                        </a:rPr>
                        <a:t>中位无进展生存期(mPFS)</a:t>
                      </a:r>
                    </a:p>
                  </a:txBody>
                  <a:tcPr>
                    <a:solidFill>
                      <a:srgbClr val="FFFFFF"/>
                    </a:solidFill>
                  </a:tcPr>
                </a:tc>
                <a:tc>
                  <a:txBody>
                    <a:bodyPr wrap="square" lIns="36576" rIns="36576" tIns="18288" bIns="18288"/>
                    <a:lstStyle/>
                    <a:p>
                      <a:r>
                        <a:rPr sz="720" b="0">
                          <a:solidFill>
                            <a:srgbClr val="21242A"/>
                          </a:solidFill>
                          <a:latin typeface="Microsoft YaHei"/>
                        </a:rPr>
                        <a:t>3.6个月</a:t>
                      </a:r>
                    </a:p>
                  </a:txBody>
                  <a:tcPr>
                    <a:solidFill>
                      <a:srgbClr val="FFFFFF"/>
                    </a:solidFill>
                  </a:tcPr>
                </a:tc>
              </a:tr>
              <a:tr h="37642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基线ctDNA≥245 hGE/mL与较低PFS相关（中位PFS 2.7 vs 7.8个月）</a:t>
                      </a:r>
                    </a:p>
                  </a:txBody>
                  <a:tcPr>
                    <a:solidFill>
                      <a:srgbClr val="F6F8FB"/>
                    </a:solidFill>
                  </a:tcPr>
                </a:tc>
              </a:tr>
              <a:tr h="376428">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基线TMTV&gt;135 mL与较短PFS相关（中位PFS 2.6 vs 7.8个月）</a:t>
                      </a:r>
                    </a:p>
                  </a:txBody>
                  <a:tcPr>
                    <a:solidFill>
                      <a:srgbClr val="FFFFFF"/>
                    </a:solidFill>
                  </a:tcPr>
                </a:tc>
              </a:tr>
              <a:tr h="37642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第3周期ctDNA阴性患者PFS更优（8.6 vs 3.7个月）</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药物/技术：ADC</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摘要号：PF1096</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pola-r-chp与r-epoch在dlbcl结外受累一线治疗中的比较</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pola-r-chp vs r-epoch for frontline therapy in dlbcl with extranodal involvem...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N=83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靶点：CD79B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多组/多方案比较：组1：Pola-R-CHP</a:t>
            </a:r>
          </a:p>
          <a:p>
            <a:pPr>
              <a:lnSpc>
                <a:spcPct val="103000"/>
              </a:lnSpc>
              <a:spcAft>
                <a:spcPts val="300"/>
              </a:spcAft>
              <a:defRPr sz="800">
                <a:solidFill>
                  <a:srgbClr val="21242A"/>
                </a:solidFill>
                <a:latin typeface="Microsoft YaHei"/>
              </a:defRPr>
            </a:pPr>
            <a:r>
              <a:t>组2：R-EPOCH</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4周期ORR（未匹配）：Pola-R-CHP组95% vs R-EPOCH组69%，P=0.019</a:t>
            </a:r>
          </a:p>
          <a:p>
            <a:pPr>
              <a:lnSpc>
                <a:spcPct val="103000"/>
              </a:lnSpc>
              <a:spcAft>
                <a:spcPts val="300"/>
              </a:spcAft>
              <a:defRPr sz="800">
                <a:solidFill>
                  <a:srgbClr val="21242A"/>
                </a:solidFill>
                <a:latin typeface="Microsoft YaHei"/>
              </a:defRPr>
            </a:pPr>
            <a:r>
              <a:t>4周期ORR（匹配后）：Pola-R-CHP组96% vs R-EPOCH组70%，P=0.006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人数：83</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a:t>
            </a:r>
          </a:p>
          <a:p>
            <a:pPr>
              <a:lnSpc>
                <a:spcPct val="103000"/>
              </a:lnSpc>
              <a:spcAft>
                <a:spcPts val="300"/>
              </a:spcAft>
              <a:defRPr sz="810">
                <a:solidFill>
                  <a:srgbClr val="21242A"/>
                </a:solidFill>
                <a:latin typeface="Microsoft YaHei"/>
              </a:defRPr>
            </a:pPr>
            <a:r>
              <a:t>靶点：CD79B</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pola-r-chp与r-epoch在dlbcl结外受累一线治疗中的比较</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pola-r-chp vs r-epoch for frontline therapy in dlbcl with extranodal involvem...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4周期ORR（未匹配）</a:t>
                      </a:r>
                    </a:p>
                  </a:txBody>
                  <a:tcPr>
                    <a:solidFill>
                      <a:srgbClr val="F6F8FB"/>
                    </a:solidFill>
                  </a:tcPr>
                </a:tc>
                <a:tc>
                  <a:txBody>
                    <a:bodyPr wrap="square" lIns="36576" rIns="36576" tIns="18288" bIns="18288"/>
                    <a:lstStyle/>
                    <a:p>
                      <a:r>
                        <a:rPr sz="720" b="0">
                          <a:solidFill>
                            <a:srgbClr val="21242A"/>
                          </a:solidFill>
                          <a:latin typeface="Microsoft YaHei"/>
                        </a:rPr>
                        <a:t>Pola-R-CHP组95% vs R-EPOCH组69%，P=0.019</a:t>
                      </a:r>
                    </a:p>
                  </a:txBody>
                  <a:tcPr>
                    <a:solidFill>
                      <a:srgbClr val="F6F8FB"/>
                    </a:solidFill>
                  </a:tcPr>
                </a:tc>
              </a:tr>
              <a:tr h="282321">
                <a:tc>
                  <a:txBody>
                    <a:bodyPr wrap="square" lIns="36576" rIns="36576" tIns="18288" bIns="18288"/>
                    <a:lstStyle/>
                    <a:p>
                      <a:r>
                        <a:rPr sz="720" b="1">
                          <a:solidFill>
                            <a:srgbClr val="21242A"/>
                          </a:solidFill>
                          <a:latin typeface="Microsoft YaHei"/>
                        </a:rPr>
                        <a:t>4周期ORR（匹配后）</a:t>
                      </a:r>
                    </a:p>
                  </a:txBody>
                  <a:tcPr>
                    <a:solidFill>
                      <a:srgbClr val="FFFFFF"/>
                    </a:solidFill>
                  </a:tcPr>
                </a:tc>
                <a:tc>
                  <a:txBody>
                    <a:bodyPr wrap="square" lIns="36576" rIns="36576" tIns="18288" bIns="18288"/>
                    <a:lstStyle/>
                    <a:p>
                      <a:r>
                        <a:rPr sz="720" b="0">
                          <a:solidFill>
                            <a:srgbClr val="21242A"/>
                          </a:solidFill>
                          <a:latin typeface="Microsoft YaHei"/>
                        </a:rPr>
                        <a:t>Pola-R-CHP组96% vs R-EPOCH组70%，P=0.006</a:t>
                      </a:r>
                    </a:p>
                  </a:txBody>
                  <a:tcPr>
                    <a:solidFill>
                      <a:srgbClr val="FFFFFF"/>
                    </a:solidFill>
                  </a:tcPr>
                </a:tc>
              </a:tr>
              <a:tr h="282321">
                <a:tc>
                  <a:txBody>
                    <a:bodyPr wrap="square" lIns="36576" rIns="36576" tIns="18288" bIns="18288"/>
                    <a:lstStyle/>
                    <a:p>
                      <a:r>
                        <a:rPr sz="720" b="1">
                          <a:solidFill>
                            <a:srgbClr val="21242A"/>
                          </a:solidFill>
                          <a:latin typeface="Microsoft YaHei"/>
                        </a:rPr>
                        <a:t>6周期ORR（未匹配）</a:t>
                      </a:r>
                    </a:p>
                  </a:txBody>
                  <a:tcPr>
                    <a:solidFill>
                      <a:srgbClr val="F6F8FB"/>
                    </a:solidFill>
                  </a:tcPr>
                </a:tc>
                <a:tc>
                  <a:txBody>
                    <a:bodyPr wrap="square" lIns="36576" rIns="36576" tIns="18288" bIns="18288"/>
                    <a:lstStyle/>
                    <a:p>
                      <a:r>
                        <a:rPr sz="720" b="0">
                          <a:solidFill>
                            <a:srgbClr val="21242A"/>
                          </a:solidFill>
                          <a:latin typeface="Microsoft YaHei"/>
                        </a:rPr>
                        <a:t>Pola-R-CHP组90% vs R-EPOCH组63%，P=0.030</a:t>
                      </a:r>
                    </a:p>
                  </a:txBody>
                  <a:tcPr>
                    <a:solidFill>
                      <a:srgbClr val="F6F8FB"/>
                    </a:solidFill>
                  </a:tcPr>
                </a:tc>
              </a:tr>
              <a:tr h="282321">
                <a:tc>
                  <a:txBody>
                    <a:bodyPr wrap="square" lIns="36576" rIns="36576" tIns="18288" bIns="18288"/>
                    <a:lstStyle/>
                    <a:p>
                      <a:r>
                        <a:rPr sz="720" b="1">
                          <a:solidFill>
                            <a:srgbClr val="21242A"/>
                          </a:solidFill>
                          <a:latin typeface="Microsoft YaHei"/>
                        </a:rPr>
                        <a:t>6周期ORR（匹配后）</a:t>
                      </a:r>
                    </a:p>
                  </a:txBody>
                  <a:tcPr>
                    <a:solidFill>
                      <a:srgbClr val="FFFFFF"/>
                    </a:solidFill>
                  </a:tcPr>
                </a:tc>
                <a:tc>
                  <a:txBody>
                    <a:bodyPr wrap="square" lIns="36576" rIns="36576" tIns="18288" bIns="18288"/>
                    <a:lstStyle/>
                    <a:p>
                      <a:r>
                        <a:rPr sz="720" b="0">
                          <a:solidFill>
                            <a:srgbClr val="21242A"/>
                          </a:solidFill>
                          <a:latin typeface="Microsoft YaHei"/>
                        </a:rPr>
                        <a:t>Pola-R-CHP组88% vs R-EPOCH组61%，P=0.014</a:t>
                      </a:r>
                    </a:p>
                  </a:txBody>
                  <a:tcPr>
                    <a:solidFill>
                      <a:srgbClr val="FFFFFF"/>
                    </a:solidFill>
                  </a:tcPr>
                </a:tc>
              </a:tr>
              <a:tr h="282321">
                <a:tc>
                  <a:txBody>
                    <a:bodyPr wrap="square" lIns="36576" rIns="36576" tIns="18288" bIns="18288"/>
                    <a:lstStyle/>
                    <a:p>
                      <a:r>
                        <a:rPr sz="720" b="1">
                          <a:solidFill>
                            <a:srgbClr val="21242A"/>
                          </a:solidFill>
                          <a:latin typeface="Microsoft YaHei"/>
                        </a:rPr>
                        <a:t>4周期CR（未匹配）</a:t>
                      </a:r>
                    </a:p>
                  </a:txBody>
                  <a:tcPr>
                    <a:solidFill>
                      <a:srgbClr val="F6F8FB"/>
                    </a:solidFill>
                  </a:tcPr>
                </a:tc>
                <a:tc>
                  <a:txBody>
                    <a:bodyPr wrap="square" lIns="36576" rIns="36576" tIns="18288" bIns="18288"/>
                    <a:lstStyle/>
                    <a:p>
                      <a:r>
                        <a:rPr sz="720" b="0">
                          <a:solidFill>
                            <a:srgbClr val="21242A"/>
                          </a:solidFill>
                          <a:latin typeface="Microsoft YaHei"/>
                        </a:rPr>
                        <a:t>Pola-R-CHP组50% vs R-EPOCH组47%，P=0.82</a:t>
                      </a:r>
                    </a:p>
                  </a:txBody>
                  <a:tcPr>
                    <a:solidFill>
                      <a:srgbClr val="F6F8FB"/>
                    </a:solidFill>
                  </a:tcPr>
                </a:tc>
              </a:tr>
              <a:tr h="282321">
                <a:tc>
                  <a:txBody>
                    <a:bodyPr wrap="square" lIns="36576" rIns="36576" tIns="18288" bIns="18288"/>
                    <a:lstStyle/>
                    <a:p>
                      <a:r>
                        <a:rPr sz="720" b="1">
                          <a:solidFill>
                            <a:srgbClr val="21242A"/>
                          </a:solidFill>
                          <a:latin typeface="Microsoft YaHei"/>
                        </a:rPr>
                        <a:t>6周期CR（未匹配）</a:t>
                      </a:r>
                    </a:p>
                  </a:txBody>
                  <a:tcPr>
                    <a:solidFill>
                      <a:srgbClr val="FFFFFF"/>
                    </a:solidFill>
                  </a:tcPr>
                </a:tc>
                <a:tc>
                  <a:txBody>
                    <a:bodyPr wrap="square" lIns="36576" rIns="36576" tIns="18288" bIns="18288"/>
                    <a:lstStyle/>
                    <a:p>
                      <a:r>
                        <a:rPr sz="720" b="0">
                          <a:solidFill>
                            <a:srgbClr val="21242A"/>
                          </a:solidFill>
                          <a:latin typeface="Microsoft YaHei"/>
                        </a:rPr>
                        <a:t>Pola-R-CHP组70% vs R-EPOCH组47%，P=0.10</a:t>
                      </a:r>
                    </a:p>
                  </a:txBody>
                  <a:tcPr>
                    <a:solidFill>
                      <a:srgbClr val="FFFFFF"/>
                    </a:solidFill>
                  </a:tcPr>
                </a:tc>
              </a:tr>
              <a:tr h="282321">
                <a:tc>
                  <a:txBody>
                    <a:bodyPr wrap="square" lIns="36576" rIns="36576" tIns="18288" bIns="18288"/>
                    <a:lstStyle/>
                    <a:p>
                      <a:r>
                        <a:rPr sz="720" b="1">
                          <a:solidFill>
                            <a:srgbClr val="21242A"/>
                          </a:solidFill>
                          <a:latin typeface="Microsoft YaHei"/>
                        </a:rPr>
                        <a:t>中位PFS</a:t>
                      </a:r>
                    </a:p>
                  </a:txBody>
                  <a:tcPr>
                    <a:solidFill>
                      <a:srgbClr val="F6F8FB"/>
                    </a:solidFill>
                  </a:tcPr>
                </a:tc>
                <a:tc>
                  <a:txBody>
                    <a:bodyPr wrap="square" lIns="36576" rIns="36576" tIns="18288" bIns="18288"/>
                    <a:lstStyle/>
                    <a:p>
                      <a:r>
                        <a:rPr sz="720" b="0">
                          <a:solidFill>
                            <a:srgbClr val="21242A"/>
                          </a:solidFill>
                          <a:latin typeface="Microsoft YaHei"/>
                        </a:rPr>
                        <a:t>未匹配时Pola-R-CHP组显著长于R-EPOCH组</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药物/技术：ADC</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摘要号：PF1017</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pola-r-chp与r-epoch在dlbcl结外受累一线治疗中的比较</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pola-r-chp vs r-epoch for frontline therapy in dlbcl with extranodal involvem...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512064">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512064">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匹配后两组无显著差异</a:t>
                      </a:r>
                    </a:p>
                  </a:txBody>
                  <a:tcPr>
                    <a:solidFill>
                      <a:srgbClr val="F6F8FB"/>
                    </a:solidFill>
                  </a:tcPr>
                </a:tc>
              </a:tr>
              <a:tr h="512064">
                <a:tc>
                  <a:txBody>
                    <a:bodyPr wrap="square" lIns="36576" rIns="36576" tIns="18288" bIns="18288"/>
                    <a:lstStyle/>
                    <a:p>
                      <a:r>
                        <a:rPr sz="720" b="1">
                          <a:solidFill>
                            <a:srgbClr val="21242A"/>
                          </a:solidFill>
                          <a:latin typeface="Microsoft YaHei"/>
                        </a:rPr>
                        <a:t>中位OS</a:t>
                      </a:r>
                    </a:p>
                  </a:txBody>
                  <a:tcPr>
                    <a:solidFill>
                      <a:srgbClr val="FFFFFF"/>
                    </a:solidFill>
                  </a:tcPr>
                </a:tc>
                <a:tc>
                  <a:txBody>
                    <a:bodyPr wrap="square" lIns="36576" rIns="36576" tIns="18288" bIns="18288"/>
                    <a:lstStyle/>
                    <a:p>
                      <a:r>
                        <a:rPr sz="720" b="0">
                          <a:solidFill>
                            <a:srgbClr val="21242A"/>
                          </a:solidFill>
                          <a:latin typeface="Microsoft YaHei"/>
                        </a:rPr>
                        <a:t>匹配后两组无显著差异</a:t>
                      </a:r>
                    </a:p>
                  </a:txBody>
                  <a:tcPr>
                    <a:solidFill>
                      <a:srgbClr val="FFFFFF"/>
                    </a:solidFill>
                  </a:tcPr>
                </a:tc>
              </a:tr>
              <a:tr h="512064">
                <a:tc>
                  <a:txBody>
                    <a:bodyPr wrap="square" lIns="36576" rIns="36576" tIns="18288" bIns="18288"/>
                    <a:lstStyle/>
                    <a:p>
                      <a:r>
                        <a:rPr sz="720" b="1">
                          <a:solidFill>
                            <a:srgbClr val="21242A"/>
                          </a:solidFill>
                          <a:latin typeface="Microsoft YaHei"/>
                        </a:rPr>
                        <a:t>3级及以上中性粒细胞减少（未匹配）</a:t>
                      </a:r>
                    </a:p>
                  </a:txBody>
                  <a:tcPr>
                    <a:solidFill>
                      <a:srgbClr val="F6F8FB"/>
                    </a:solidFill>
                  </a:tcPr>
                </a:tc>
                <a:tc>
                  <a:txBody>
                    <a:bodyPr wrap="square" lIns="36576" rIns="36576" tIns="18288" bIns="18288"/>
                    <a:lstStyle/>
                    <a:p>
                      <a:r>
                        <a:rPr sz="720" b="0">
                          <a:solidFill>
                            <a:srgbClr val="21242A"/>
                          </a:solidFill>
                          <a:latin typeface="Microsoft YaHei"/>
                        </a:rPr>
                        <a:t>Pola-R-CHP组18.5% vs R-EPOCH组50%，P=0.006</a:t>
                      </a:r>
                    </a:p>
                  </a:txBody>
                  <a:tcPr>
                    <a:solidFill>
                      <a:srgbClr val="F6F8FB"/>
                    </a:solidFill>
                  </a:tcPr>
                </a:tc>
              </a:tr>
              <a:tr h="512064">
                <a:tc>
                  <a:txBody>
                    <a:bodyPr wrap="square" lIns="36576" rIns="36576" tIns="18288" bIns="18288"/>
                    <a:lstStyle/>
                    <a:p>
                      <a:r>
                        <a:rPr sz="720" b="1">
                          <a:solidFill>
                            <a:srgbClr val="21242A"/>
                          </a:solidFill>
                          <a:latin typeface="Microsoft YaHei"/>
                        </a:rPr>
                        <a:t>3级及以上血小板减少（未匹配）</a:t>
                      </a:r>
                    </a:p>
                  </a:txBody>
                  <a:tcPr>
                    <a:solidFill>
                      <a:srgbClr val="FFFFFF"/>
                    </a:solidFill>
                  </a:tcPr>
                </a:tc>
                <a:tc>
                  <a:txBody>
                    <a:bodyPr wrap="square" lIns="36576" rIns="36576" tIns="18288" bIns="18288"/>
                    <a:lstStyle/>
                    <a:p>
                      <a:r>
                        <a:rPr sz="720" b="0">
                          <a:solidFill>
                            <a:srgbClr val="21242A"/>
                          </a:solidFill>
                          <a:latin typeface="Microsoft YaHei"/>
                        </a:rPr>
                        <a:t>Pola-R-CHP组0% vs R-EPOCH组32.1%，P=0.007</a:t>
                      </a:r>
                    </a:p>
                  </a:txBody>
                  <a:tcPr>
                    <a:solidFill>
                      <a:srgbClr val="FFFFFF"/>
                    </a:solidFill>
                  </a:tcPr>
                </a:tc>
              </a:tr>
              <a:tr h="512064">
                <a:tc>
                  <a:txBody>
                    <a:bodyPr wrap="square" lIns="36576" rIns="36576" tIns="18288" bIns="18288"/>
                    <a:lstStyle/>
                    <a:p>
                      <a:r>
                        <a:rPr sz="720" b="1">
                          <a:solidFill>
                            <a:srgbClr val="21242A"/>
                          </a:solidFill>
                          <a:latin typeface="Microsoft YaHei"/>
                        </a:rPr>
                        <a:t>3级及以上贫血（未匹配）</a:t>
                      </a:r>
                    </a:p>
                  </a:txBody>
                  <a:tcPr>
                    <a:solidFill>
                      <a:srgbClr val="F6F8FB"/>
                    </a:solidFill>
                  </a:tcPr>
                </a:tc>
                <a:tc>
                  <a:txBody>
                    <a:bodyPr wrap="square" lIns="36576" rIns="36576" tIns="18288" bIns="18288"/>
                    <a:lstStyle/>
                    <a:p>
                      <a:r>
                        <a:rPr sz="720" b="0">
                          <a:solidFill>
                            <a:srgbClr val="21242A"/>
                          </a:solidFill>
                          <a:latin typeface="Microsoft YaHei"/>
                        </a:rPr>
                        <a:t>Pola-R-CHP组7.4% vs R-EPOCH组30.4%，P=0.020</a:t>
                      </a:r>
                    </a:p>
                  </a:txBody>
                  <a:tcPr>
                    <a:solidFill>
                      <a:srgbClr val="F6F8FB"/>
                    </a:solidFill>
                  </a:tcPr>
                </a:tc>
              </a:tr>
              <a:tr h="512064">
                <a:tc>
                  <a:txBody>
                    <a:bodyPr wrap="square" lIns="36576" rIns="36576" tIns="18288" bIns="18288"/>
                    <a:lstStyle/>
                    <a:p>
                      <a:r>
                        <a:rPr sz="720" b="1">
                          <a:solidFill>
                            <a:srgbClr val="21242A"/>
                          </a:solidFill>
                          <a:latin typeface="Microsoft YaHei"/>
                        </a:rPr>
                        <a:t>严重感染（未匹配）</a:t>
                      </a:r>
                    </a:p>
                  </a:txBody>
                  <a:tcPr>
                    <a:solidFill>
                      <a:srgbClr val="FFFFFF"/>
                    </a:solidFill>
                  </a:tcPr>
                </a:tc>
                <a:tc>
                  <a:txBody>
                    <a:bodyPr wrap="square" lIns="36576" rIns="36576" tIns="18288" bIns="18288"/>
                    <a:lstStyle/>
                    <a:p>
                      <a:r>
                        <a:rPr sz="720" b="0">
                          <a:solidFill>
                            <a:srgbClr val="21242A"/>
                          </a:solidFill>
                          <a:latin typeface="Microsoft YaHei"/>
                        </a:rPr>
                        <a:t>Pola-R-CHP组11.1% vs R-EPOCH组28.6%，P=0.076</a:t>
                      </a:r>
                    </a:p>
                  </a:txBody>
                  <a:tcPr>
                    <a:solidFill>
                      <a:srgbClr val="FFFFFF"/>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结外代谢肿瘤体积确定受益于pola-r-chp的大型b细胞淋巴瘤亚群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extranodal metabolic tumor volume identifies large b‑cell lymphoma subgroups...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N=625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靶点：CD79B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对照/比较：试验组：Pola-R-CHP（polatuzumab vedotin，利妥昔单抗，环磷酰胺，多柔比星，泼尼松）</a:t>
            </a:r>
          </a:p>
          <a:p>
            <a:pPr>
              <a:lnSpc>
                <a:spcPct val="103000"/>
              </a:lnSpc>
              <a:spcAft>
                <a:spcPts val="300"/>
              </a:spcAft>
              <a:defRPr sz="800">
                <a:solidFill>
                  <a:srgbClr val="21242A"/>
                </a:solidFill>
                <a:latin typeface="Microsoft YaHei"/>
              </a:defRPr>
            </a:pPr>
            <a:r>
              <a:t>对照组：R-CHOP（利妥昔单抗，环磷酰胺，多柔比星，泼尼松）</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3年无进展生存率（PFS）：两组整体相似，未报告具体数值。</a:t>
            </a:r>
          </a:p>
          <a:p>
            <a:pPr>
              <a:lnSpc>
                <a:spcPct val="103000"/>
              </a:lnSpc>
              <a:spcAft>
                <a:spcPts val="300"/>
              </a:spcAft>
              <a:defRPr sz="800">
                <a:solidFill>
                  <a:srgbClr val="21242A"/>
                </a:solidFill>
                <a:latin typeface="Microsoft YaHei"/>
              </a:defRPr>
            </a:pPr>
            <a:r>
              <a:t>在低TMTV（&lt;350 mL）且高EN/TMTV亚组中，Pola-R-CHP组3年PFS为96.3%，R-CHOP组为74.0...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人数：625</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a:t>
            </a:r>
          </a:p>
          <a:p>
            <a:pPr>
              <a:lnSpc>
                <a:spcPct val="103000"/>
              </a:lnSpc>
              <a:spcAft>
                <a:spcPts val="300"/>
              </a:spcAft>
              <a:defRPr sz="810">
                <a:solidFill>
                  <a:srgbClr val="21242A"/>
                </a:solidFill>
                <a:latin typeface="Microsoft YaHei"/>
              </a:defRPr>
            </a:pPr>
            <a:r>
              <a:t>靶点：CD79B</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结外代谢肿瘤体积确定受益于pola-r-chp的大型b细胞淋巴瘤亚群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extranodal metabolic tumor volume identifies large b‑cell lymphoma subgroups...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139/187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1. 3年无进展生存率（PFS）</a:t>
                      </a:r>
                    </a:p>
                  </a:txBody>
                  <a:tcPr>
                    <a:solidFill>
                      <a:srgbClr val="F6F8FB"/>
                    </a:solidFill>
                  </a:tcPr>
                </a:tc>
                <a:tc>
                  <a:txBody>
                    <a:bodyPr wrap="square" lIns="36576" rIns="36576" tIns="18288" bIns="18288"/>
                    <a:lstStyle/>
                    <a:p>
                      <a:r>
                        <a:rPr sz="720" b="0">
                          <a:solidFill>
                            <a:srgbClr val="21242A"/>
                          </a:solidFill>
                          <a:latin typeface="Microsoft YaHei"/>
                        </a:rPr>
                        <a:t>两组整体相似，未报告具体数值。</a:t>
                      </a:r>
                    </a:p>
                  </a:txBody>
                  <a:tcPr>
                    <a:solidFill>
                      <a:srgbClr val="F6F8FB"/>
                    </a:solidFill>
                  </a:tcPr>
                </a:tc>
              </a:tr>
              <a:tr h="376428">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2. 在低TMTV（&lt;350 mL）且高EN/TMTV亚组中，Pola-R-CHP组3年PFS为96.3%，R-CHOP组为74.0%。</a:t>
                      </a:r>
                    </a:p>
                  </a:txBody>
                  <a:tcPr>
                    <a:solidFill>
                      <a:srgbClr val="FFFFFF"/>
                    </a:solidFill>
                  </a:tcPr>
                </a:tc>
              </a:tr>
              <a:tr h="37642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3. 在低TMTV且高EN/TMTV亚组中，Pola-R-CHP组3年总生存率（OS）为100%，R-CHOP组为80.2%。</a:t>
                      </a:r>
                    </a:p>
                  </a:txBody>
                  <a:tcPr>
                    <a:solidFill>
                      <a:srgbClr val="F6F8FB"/>
                    </a:solidFill>
                  </a:tcPr>
                </a:tc>
              </a:tr>
              <a:tr h="376428">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4. 高TMTV（≥350 mL）与较差生存相关（HR 2.72 [95% CI 2.02–3.67]）。</a:t>
                      </a:r>
                    </a:p>
                  </a:txBody>
                  <a:tcPr>
                    <a:solidFill>
                      <a:srgbClr val="FFFFFF"/>
                    </a:solidFill>
                  </a:tcPr>
                </a:tc>
              </a:tr>
              <a:tr h="376428">
                <a:tc>
                  <a:txBody>
                    <a:bodyPr wrap="square" lIns="36576" rIns="36576" tIns="18288" bIns="18288"/>
                    <a:lstStyle/>
                    <a:p>
                      <a:r>
                        <a:rPr sz="720" b="1">
                          <a:solidFill>
                            <a:srgbClr val="21242A"/>
                          </a:solidFill>
                          <a:latin typeface="Microsoft YaHei"/>
                        </a:rPr>
                        <a:t>5. 治疗交互作用</a:t>
                      </a:r>
                    </a:p>
                  </a:txBody>
                  <a:tcPr>
                    <a:solidFill>
                      <a:srgbClr val="F6F8FB"/>
                    </a:solidFill>
                  </a:tcPr>
                </a:tc>
                <a:tc>
                  <a:txBody>
                    <a:bodyPr wrap="square" lIns="36576" rIns="36576" tIns="18288" bIns="18288"/>
                    <a:lstStyle/>
                    <a:p>
                      <a:r>
                        <a:rPr sz="720" b="0">
                          <a:solidFill>
                            <a:srgbClr val="21242A"/>
                          </a:solidFill>
                          <a:latin typeface="Microsoft YaHei"/>
                        </a:rPr>
                        <a:t>Pola-R-CHP仅在低TMTV且高EN/TMTV亚组中显著改善PFS（HR 0.11 [95% CI 0.02–0.81]）。</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药物/技术：ADC</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摘要号：PF1012</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噬血细胞淋巴组织细胞增生症作为弥漫性大b细胞淋巴瘤发病的早期死亡和生存率低的危险因素</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risk factors for early death and poor survival in hemophagocytic lymphohistio...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N=130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回顾性临床研究结果：risk factors for early death and poor survival in hem...</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早期死亡（≤30天）率：19.2%</a:t>
            </a:r>
          </a:p>
          <a:p>
            <a:pPr>
              <a:lnSpc>
                <a:spcPct val="103000"/>
              </a:lnSpc>
              <a:spcAft>
                <a:spcPts val="300"/>
              </a:spcAft>
              <a:defRPr sz="800">
                <a:solidFill>
                  <a:srgbClr val="21242A"/>
                </a:solidFill>
                <a:latin typeface="Microsoft YaHei"/>
              </a:defRPr>
            </a:pPr>
            <a:r>
              <a:t>独立早期死亡预测因子：年龄&gt;75岁（OR=25.0，P&lt;0.001）、铁蛋白&gt;5000 μg/L（OR=25.9，P=0.00...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人数：130</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研究主题：risk factors for early death and poor survival in hemophagocytic lymphohistiocytosis as an onset of diffuse large b-cel...</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噬血细胞淋巴组织细胞增生症作为弥漫性大b细胞淋巴瘤发病的早期死亡和生存率低的危险因素</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risk factors for early death and poor survival in hemophagocytic lymphohistio...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EHA原文结果（中文字段未通过数字核对）（1/3）</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The median age was 67 years; 92.3% were in stage III–IV and 86.2% had bone marrow involvement.</a:t>
            </a:r>
          </a:p>
          <a:p>
            <a:pPr>
              <a:lnSpc>
                <a:spcPct val="103000"/>
              </a:lnSpc>
              <a:spcAft>
                <a:spcPts val="300"/>
              </a:spcAft>
              <a:defRPr sz="819">
                <a:solidFill>
                  <a:srgbClr val="21242A"/>
                </a:solidFill>
                <a:latin typeface="Microsoft YaHei"/>
              </a:defRPr>
            </a:pPr>
            <a:r>
              <a:t>The ED rate was 19.2%.</a:t>
            </a:r>
          </a:p>
          <a:p>
            <a:pPr>
              <a:lnSpc>
                <a:spcPct val="103000"/>
              </a:lnSpc>
              <a:spcAft>
                <a:spcPts val="300"/>
              </a:spcAft>
              <a:defRPr sz="819">
                <a:solidFill>
                  <a:srgbClr val="21242A"/>
                </a:solidFill>
                <a:latin typeface="Microsoft YaHei"/>
              </a:defRPr>
            </a:pPr>
            <a:r>
              <a:t>Multivariable analysis identified age &gt;75 years (OR=25.0, P 5000 μg/L (OR=25.9, P=0.008), and PCT &gt;0.5 ng/mL (OR=5.52,</a:t>
            </a:r>
          </a:p>
          <a:p>
            <a:pPr>
              <a:lnSpc>
                <a:spcPct val="103000"/>
              </a:lnSpc>
              <a:spcAft>
                <a:spcPts val="300"/>
              </a:spcAft>
              <a:defRPr sz="819">
                <a:solidFill>
                  <a:srgbClr val="21242A"/>
                </a:solidFill>
                <a:latin typeface="Microsoft YaHei"/>
              </a:defRPr>
            </a:pPr>
            <a:r>
              <a:t> P=0.007) as independent ED predictors.</a:t>
            </a:r>
          </a:p>
          <a:p>
            <a:pPr>
              <a:lnSpc>
                <a:spcPct val="103000"/>
              </a:lnSpc>
              <a:spcAft>
                <a:spcPts val="300"/>
              </a:spcAft>
              <a:defRPr sz="819">
                <a:solidFill>
                  <a:srgbClr val="21242A"/>
                </a:solidFill>
                <a:latin typeface="Microsoft YaHei"/>
              </a:defRPr>
            </a:pPr>
            <a:r>
              <a:t>The ED-SSM (0–5 points) achieved an AUC of 0.848.</a:t>
            </a:r>
          </a:p>
          <a:p>
            <a:pPr>
              <a:lnSpc>
                <a:spcPct val="103000"/>
              </a:lnSpc>
              <a:spcAft>
                <a:spcPts val="300"/>
              </a:spcAft>
              <a:defRPr sz="819">
                <a:solidFill>
                  <a:srgbClr val="21242A"/>
                </a:solidFill>
                <a:latin typeface="Microsoft YaHei"/>
              </a:defRPr>
            </a:pPr>
            <a:r>
              <a:t>Traditional IPI failed to provide effective risk stratification, as 95.4% of patients clustered in the high-risk categ</a:t>
            </a:r>
          </a:p>
          <a:p>
            <a:pPr>
              <a:lnSpc>
                <a:spcPct val="103000"/>
              </a:lnSpc>
              <a:spcAft>
                <a:spcPts val="300"/>
              </a:spcAft>
              <a:defRPr sz="819">
                <a:solidFill>
                  <a:srgbClr val="21242A"/>
                </a:solidFill>
                <a:latin typeface="Microsoft YaHei"/>
              </a:defRPr>
            </a:pPr>
            <a:r>
              <a:t>ory.</a:t>
            </a:r>
          </a:p>
          <a:p>
            <a:pPr>
              <a:lnSpc>
                <a:spcPct val="103000"/>
              </a:lnSpc>
              <a:spcAft>
                <a:spcPts val="300"/>
              </a:spcAft>
              <a:defRPr sz="819">
                <a:solidFill>
                  <a:srgbClr val="21242A"/>
                </a:solidFill>
                <a:latin typeface="Microsoft YaHei"/>
              </a:defRPr>
            </a:pPr>
            <a:r>
              <a:t>In contrast, the OS-PSS (incorporating age, platelets, ferritin, and PCT) demonstrated superior discriminative power (</a:t>
            </a:r>
          </a:p>
          <a:p>
            <a:pPr>
              <a:lnSpc>
                <a:spcPct val="103000"/>
              </a:lnSpc>
              <a:spcAft>
                <a:spcPts val="300"/>
              </a:spcAft>
              <a:defRPr sz="819">
                <a:solidFill>
                  <a:srgbClr val="21242A"/>
                </a:solidFill>
                <a:latin typeface="Microsoft YaHei"/>
              </a:defRPr>
            </a:pPr>
            <a:r>
              <a:t>C-index 0.746).</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药物/技术：BTKi</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摘要号：PF999</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噬血细胞淋巴组织细胞增生症作为弥漫性大b细胞淋巴瘤发病的早期死亡和生存率低的危险因素</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risk factors for early death and poor survival in hemophagocytic lymphohistio...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EHA原文结果（中文字段未通过数字核对）（2/3）</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After IPTW adjustment, standard-intensity chemoimmunotherapy significantly reduced the risk of death compared to no tr</a:t>
            </a:r>
          </a:p>
          <a:p>
            <a:pPr>
              <a:lnSpc>
                <a:spcPct val="103000"/>
              </a:lnSpc>
              <a:spcAft>
                <a:spcPts val="300"/>
              </a:spcAft>
              <a:defRPr sz="819">
                <a:solidFill>
                  <a:srgbClr val="21242A"/>
                </a:solidFill>
                <a:latin typeface="Microsoft YaHei"/>
              </a:defRPr>
            </a:pPr>
            <a:r>
              <a:t>eatment (HR=0.012, 95% CI: 0.005–0.032, P 65 or ECOG &gt;2), standard intensity remained the key driver of survival (HR=0</a:t>
            </a:r>
          </a:p>
          <a:p>
            <a:pPr>
              <a:lnSpc>
                <a:spcPct val="103000"/>
              </a:lnSpc>
              <a:spcAft>
                <a:spcPts val="300"/>
              </a:spcAft>
              <a:defRPr sz="819">
                <a:solidFill>
                  <a:srgbClr val="21242A"/>
                </a:solidFill>
                <a:latin typeface="Microsoft YaHei"/>
              </a:defRPr>
            </a:pPr>
            <a:r>
              <a:t>.017, P Summary/Conclusion: HLH-onset DLBCL is characterized by high early mortality and unique molecular features.</a:t>
            </a:r>
          </a:p>
          <a:p>
            <a:pPr>
              <a:lnSpc>
                <a:spcPct val="103000"/>
              </a:lnSpc>
              <a:spcAft>
                <a:spcPts val="300"/>
              </a:spcAft>
              <a:defRPr sz="819">
                <a:solidFill>
                  <a:srgbClr val="21242A"/>
                </a:solidFill>
                <a:latin typeface="Microsoft YaHei"/>
              </a:defRPr>
            </a:pPr>
            <a:r>
              <a:t>Our ED-SSM and OS-PSS models enable precise bedside risk stratification.</a:t>
            </a:r>
          </a:p>
          <a:p>
            <a:pPr>
              <a:lnSpc>
                <a:spcPct val="103000"/>
              </a:lnSpc>
              <a:spcAft>
                <a:spcPts val="300"/>
              </a:spcAft>
              <a:defRPr sz="819">
                <a:solidFill>
                  <a:srgbClr val="21242A"/>
                </a:solidFill>
                <a:latin typeface="Microsoft YaHei"/>
              </a:defRPr>
            </a:pPr>
            <a:r>
              <a:t>Crucially, concurrent standard-intensity lymphoma-directed therapy is essential for improving survival, even in fragil</a:t>
            </a:r>
          </a:p>
          <a:p>
            <a:pPr>
              <a:lnSpc>
                <a:spcPct val="103000"/>
              </a:lnSpc>
              <a:spcAft>
                <a:spcPts val="300"/>
              </a:spcAft>
              <a:defRPr sz="819">
                <a:solidFill>
                  <a:srgbClr val="21242A"/>
                </a:solidFill>
                <a:latin typeface="Microsoft YaHei"/>
              </a:defRPr>
            </a:pPr>
            <a:r>
              <a:t>e patients.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噬血细胞淋巴组织细胞增生症作为弥漫性大b细胞淋巴瘤发病的早期死亡和生存率低的危险因素</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risk factors for early death and poor survival in hemophagocytic lymphohistio...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PF999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EHA原文结果（中文字段未通过数字核对）（3/3）</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The enrichment of the MCD subtype suggests that integrating targeted agents, such as BTK inhibitors, warrants further </a:t>
            </a:r>
          </a:p>
          <a:p>
            <a:pPr>
              <a:lnSpc>
                <a:spcPct val="103000"/>
              </a:lnSpc>
              <a:spcAft>
                <a:spcPts val="300"/>
              </a:spcAft>
              <a:defRPr sz="819">
                <a:solidFill>
                  <a:srgbClr val="21242A"/>
                </a:solidFill>
                <a:latin typeface="Microsoft YaHei"/>
              </a:defRPr>
            </a:pPr>
            <a:r>
              <a:t>investigation.</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空间组织的巨噬细胞表型定义了侵袭性b-nhl的治疗反应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spatially organized macrophage phenotypes define treatment response in aggres...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PS2164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B细胞非霍奇金淋巴瘤，弥漫性大B细胞淋巴瘤</a:t>
            </a:r>
          </a:p>
          <a:p>
            <a:pPr>
              <a:lnSpc>
                <a:spcPct val="103000"/>
              </a:lnSpc>
              <a:spcAft>
                <a:spcPts val="300"/>
              </a:spcAft>
              <a:defRPr sz="800">
                <a:solidFill>
                  <a:srgbClr val="21242A"/>
                </a:solidFill>
                <a:latin typeface="Microsoft YaHei"/>
              </a:defRPr>
            </a:pPr>
            <a:r>
              <a:t>N=156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回顾性临床研究结果：spatially organized macrophage phenotypes define trea...</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细胞毒性T细胞频率较高与更长PFS相关</a:t>
            </a:r>
          </a:p>
          <a:p>
            <a:pPr>
              <a:lnSpc>
                <a:spcPct val="103000"/>
              </a:lnSpc>
              <a:spcAft>
                <a:spcPts val="300"/>
              </a:spcAft>
              <a:defRPr sz="800">
                <a:solidFill>
                  <a:srgbClr val="21242A"/>
                </a:solidFill>
                <a:latin typeface="Microsoft YaHei"/>
              </a:defRPr>
            </a:pPr>
            <a:r>
              <a:t>耗竭细胞毒性T细胞比例增加与更短PFS趋势相关</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人数：156</a:t>
            </a:r>
          </a:p>
          <a:p>
            <a:pPr>
              <a:lnSpc>
                <a:spcPct val="103000"/>
              </a:lnSpc>
              <a:spcAft>
                <a:spcPts val="300"/>
              </a:spcAft>
              <a:defRPr sz="810">
                <a:solidFill>
                  <a:srgbClr val="21242A"/>
                </a:solidFill>
                <a:latin typeface="Microsoft YaHei"/>
              </a:defRPr>
            </a:pPr>
            <a:r>
              <a:t>适应症：B细胞非霍奇金淋巴瘤、弥漫性大B细胞淋巴瘤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研究主题：spatially organized macrophage phenotypes define treatment response in aggressive b-nhl</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空间组织的巨噬细胞表型定义了侵袭性b-nhl的治疗反应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spatially organized macrophage phenotypes define treatment response in aggres...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PS2164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1. 细胞毒性T细胞频率较高与更长PFS相关；2. 耗竭细胞毒性T细胞比例增加与更短PFS趋势相关；3. 巨噬细胞水平升高与更长PFS相关（p=0.009）；4.</a:t>
            </a:r>
          </a:p>
          <a:p>
            <a:pPr>
              <a:lnSpc>
                <a:spcPct val="103000"/>
              </a:lnSpc>
              <a:spcAft>
                <a:spcPts val="300"/>
              </a:spcAft>
              <a:defRPr sz="819">
                <a:solidFill>
                  <a:srgbClr val="21242A"/>
                </a:solidFill>
                <a:latin typeface="Microsoft YaHei"/>
              </a:defRPr>
            </a:pPr>
            <a:r>
              <a:t>巨噬细胞空间邻近性在巨噬细胞高频率组中与更长PFS相关（p=0.04）；5. 耗竭T细胞与增殖B细胞的邻近性与较差预后相关（p=0.00006）</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摘要号：PS2164</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长春新碱剂量调整或替代对r-chop治疗dlbcl患者临床结局的影响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vincristine dose modifications or substitution on clinical outcomes...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N=294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试验药/方案：长春新碱</a:t>
            </a:r>
          </a:p>
          <a:p>
            <a:pPr>
              <a:lnSpc>
                <a:spcPct val="103000"/>
              </a:lnSpc>
              <a:spcAft>
                <a:spcPts val="300"/>
              </a:spcAft>
              <a:defRPr sz="800">
                <a:solidFill>
                  <a:srgbClr val="21242A"/>
                </a:solidFill>
                <a:latin typeface="Microsoft YaHei"/>
              </a:defRPr>
            </a:pPr>
            <a:r>
              <a:t>靶点：Tubulin</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多组/多方案比较：试验组1：标准R-CHOP组（rituximab, cyclophosphamide, doxorubici...</a:t>
            </a:r>
          </a:p>
          <a:p>
            <a:pPr>
              <a:lnSpc>
                <a:spcPct val="103000"/>
              </a:lnSpc>
              <a:spcAft>
                <a:spcPts val="300"/>
              </a:spcAft>
              <a:defRPr sz="800">
                <a:solidFill>
                  <a:srgbClr val="21242A"/>
                </a:solidFill>
                <a:latin typeface="Microsoft YaHei"/>
              </a:defRPr>
            </a:pPr>
            <a:r>
              <a:t>试验组2：改良治疗组（长春新碱剂量减少或省略或长春碱替代，其他药物保持不变）</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2年OS：标准组80%（75%,86%），改良组83%（76%,92%），p=0.90</a:t>
            </a:r>
          </a:p>
          <a:p>
            <a:pPr>
              <a:lnSpc>
                <a:spcPct val="103000"/>
              </a:lnSpc>
              <a:spcAft>
                <a:spcPts val="300"/>
              </a:spcAft>
              <a:defRPr sz="800">
                <a:solidFill>
                  <a:srgbClr val="21242A"/>
                </a:solidFill>
                <a:latin typeface="Microsoft YaHei"/>
              </a:defRPr>
            </a:pPr>
            <a:r>
              <a:t>2年DFS：标准组77%（72%,83%），改良组78%（69%,88%），p=0.79</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人数：294</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试验药/方案：长春新碱</a:t>
            </a:r>
          </a:p>
          <a:p>
            <a:pPr>
              <a:lnSpc>
                <a:spcPct val="103000"/>
              </a:lnSpc>
              <a:spcAft>
                <a:spcPts val="300"/>
              </a:spcAft>
              <a:defRPr sz="810">
                <a:solidFill>
                  <a:srgbClr val="21242A"/>
                </a:solidFill>
                <a:latin typeface="Microsoft YaHei"/>
              </a:defRPr>
            </a:pPr>
            <a:r>
              <a:t>靶点：Tubulin</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长春新碱剂量调整或替代对r-chop治疗dlbcl患者临床结局的影响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vincristine dose modifications or substitution on clinical outcomes...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EHA原文结果（中文字段未通过数字核对）（1/4）</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A total of 294 patients were included.</a:t>
            </a:r>
          </a:p>
          <a:p>
            <a:pPr>
              <a:lnSpc>
                <a:spcPct val="103000"/>
              </a:lnSpc>
              <a:spcAft>
                <a:spcPts val="300"/>
              </a:spcAft>
              <a:defRPr sz="819">
                <a:solidFill>
                  <a:srgbClr val="21242A"/>
                </a:solidFill>
                <a:latin typeface="Microsoft YaHei"/>
              </a:defRPr>
            </a:pPr>
            <a:r>
              <a:t>Among these, 210 patients (71%) with a median age of 68 years (range 19-84) continued full-dose vincristine throughout</a:t>
            </a:r>
          </a:p>
          <a:p>
            <a:pPr>
              <a:lnSpc>
                <a:spcPct val="103000"/>
              </a:lnSpc>
              <a:spcAft>
                <a:spcPts val="300"/>
              </a:spcAft>
              <a:defRPr sz="819">
                <a:solidFill>
                  <a:srgbClr val="21242A"/>
                </a:solidFill>
                <a:latin typeface="Microsoft YaHei"/>
              </a:defRPr>
            </a:pPr>
            <a:r>
              <a:t> the R-CHOP-therapy, while 84 patients (29%) with a median age of 67 years (range 19-84) transitioned to modified trea</a:t>
            </a:r>
          </a:p>
          <a:p>
            <a:pPr>
              <a:lnSpc>
                <a:spcPct val="103000"/>
              </a:lnSpc>
              <a:spcAft>
                <a:spcPts val="300"/>
              </a:spcAft>
              <a:defRPr sz="819">
                <a:solidFill>
                  <a:srgbClr val="21242A"/>
                </a:solidFill>
                <a:latin typeface="Microsoft YaHei"/>
              </a:defRPr>
            </a:pPr>
            <a:r>
              <a:t>tment.</a:t>
            </a:r>
          </a:p>
          <a:p>
            <a:pPr>
              <a:lnSpc>
                <a:spcPct val="103000"/>
              </a:lnSpc>
              <a:spcAft>
                <a:spcPts val="300"/>
              </a:spcAft>
              <a:defRPr sz="819">
                <a:solidFill>
                  <a:srgbClr val="21242A"/>
                </a:solidFill>
                <a:latin typeface="Microsoft YaHei"/>
              </a:defRPr>
            </a:pPr>
            <a:r>
              <a:t>Baseline demographics and disease characteristics were largely comparable between groups.</a:t>
            </a:r>
          </a:p>
          <a:p>
            <a:pPr>
              <a:lnSpc>
                <a:spcPct val="103000"/>
              </a:lnSpc>
              <a:spcAft>
                <a:spcPts val="300"/>
              </a:spcAft>
              <a:defRPr sz="819">
                <a:solidFill>
                  <a:srgbClr val="21242A"/>
                </a:solidFill>
                <a:latin typeface="Microsoft YaHei"/>
              </a:defRPr>
            </a:pPr>
            <a:r>
              <a:t>In both groups, the majority were male (58%) and had performance status 0-1 (88%).</a:t>
            </a:r>
          </a:p>
          <a:p>
            <a:pPr>
              <a:lnSpc>
                <a:spcPct val="103000"/>
              </a:lnSpc>
              <a:spcAft>
                <a:spcPts val="300"/>
              </a:spcAft>
              <a:defRPr sz="819">
                <a:solidFill>
                  <a:srgbClr val="21242A"/>
                </a:solidFill>
                <a:latin typeface="Microsoft YaHei"/>
              </a:defRPr>
            </a:pPr>
            <a:r>
              <a:t>Extra nodal disease was present in 60% and 62% of cases, respectively, and low-intermediate risk disease (IPI 0-2) in </a:t>
            </a:r>
          </a:p>
          <a:p>
            <a:pPr>
              <a:lnSpc>
                <a:spcPct val="103000"/>
              </a:lnSpc>
              <a:spcAft>
                <a:spcPts val="300"/>
              </a:spcAft>
              <a:defRPr sz="819">
                <a:solidFill>
                  <a:srgbClr val="21242A"/>
                </a:solidFill>
                <a:latin typeface="Microsoft YaHei"/>
              </a:defRPr>
            </a:pPr>
            <a:r>
              <a:t>56% and 54%.</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摘要号：PS2118</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长春新碱剂量调整或替代对r-chop治疗dlbcl患者临床结局的影响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vincristine dose modifications or substitution on clinical outcomes...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In the modified cohort, 14 (17%) underwent vincristine dose reduction, 10 (12%) had vincristine omitted, 38 (45%) rece</a:t>
            </a:r>
          </a:p>
          <a:p>
            <a:pPr>
              <a:lnSpc>
                <a:spcPct val="103000"/>
              </a:lnSpc>
              <a:spcAft>
                <a:spcPts val="300"/>
              </a:spcAft>
              <a:defRPr sz="819">
                <a:solidFill>
                  <a:srgbClr val="21242A"/>
                </a:solidFill>
                <a:latin typeface="Microsoft YaHei"/>
              </a:defRPr>
            </a:pPr>
            <a:r>
              <a:t>ived vinblastine substitution, and 22 (26%) experienced both reduction and substitution.</a:t>
            </a:r>
          </a:p>
          <a:p>
            <a:pPr>
              <a:lnSpc>
                <a:spcPct val="103000"/>
              </a:lnSpc>
              <a:spcAft>
                <a:spcPts val="300"/>
              </a:spcAft>
              <a:defRPr sz="819">
                <a:solidFill>
                  <a:srgbClr val="21242A"/>
                </a:solidFill>
                <a:latin typeface="Microsoft YaHei"/>
              </a:defRPr>
            </a:pPr>
            <a:r>
              <a:t>\n The landmark analysis showed no statistically significant difference in adjusted OS (p=0.90) or DFS (p=0.79).</a:t>
            </a:r>
          </a:p>
          <a:p>
            <a:pPr>
              <a:lnSpc>
                <a:spcPct val="103000"/>
              </a:lnSpc>
              <a:spcAft>
                <a:spcPts val="300"/>
              </a:spcAft>
              <a:defRPr sz="819">
                <a:solidFill>
                  <a:srgbClr val="21242A"/>
                </a:solidFill>
                <a:latin typeface="Microsoft YaHei"/>
              </a:defRPr>
            </a:pPr>
            <a:r>
              <a:t>The two years OS estimates were 80% (75%, 86%) and 83% (76%, 92%) between patients remaining on R‑CHOP and those who r</a:t>
            </a:r>
          </a:p>
          <a:p>
            <a:pPr>
              <a:lnSpc>
                <a:spcPct val="103000"/>
              </a:lnSpc>
              <a:spcAft>
                <a:spcPts val="300"/>
              </a:spcAft>
              <a:defRPr sz="819">
                <a:solidFill>
                  <a:srgbClr val="21242A"/>
                </a:solidFill>
                <a:latin typeface="Microsoft YaHei"/>
              </a:defRPr>
            </a:pPr>
            <a:r>
              <a:t>eceived modified vincristine treatment, respectively (Figure 1).</a:t>
            </a:r>
          </a:p>
          <a:p>
            <a:pPr>
              <a:lnSpc>
                <a:spcPct val="103000"/>
              </a:lnSpc>
              <a:spcAft>
                <a:spcPts val="300"/>
              </a:spcAft>
              <a:defRPr sz="819">
                <a:solidFill>
                  <a:srgbClr val="21242A"/>
                </a:solidFill>
                <a:latin typeface="Microsoft YaHei"/>
              </a:defRPr>
            </a:pPr>
            <a:r>
              <a:t>The corresponding two years DFS estimates were 77% (72%, 83%) and 78% (69, 88%).</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长春新碱剂量调整或替代对r-chop治疗dlbcl患者临床结局的影响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vincristine dose modifications or substitution on clinical outcomes...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The five years OS estimates were 72% (65%,79%) and 72% (62%,84%) and the five years DFS estimates were 68% (61%,75%) a</a:t>
            </a:r>
          </a:p>
          <a:p>
            <a:pPr>
              <a:lnSpc>
                <a:spcPct val="103000"/>
              </a:lnSpc>
              <a:spcAft>
                <a:spcPts val="300"/>
              </a:spcAft>
              <a:defRPr sz="819">
                <a:solidFill>
                  <a:srgbClr val="21242A"/>
                </a:solidFill>
                <a:latin typeface="Microsoft YaHei"/>
              </a:defRPr>
            </a:pPr>
            <a:r>
              <a:t>nd 67% (56%,79%).</a:t>
            </a:r>
          </a:p>
          <a:p>
            <a:pPr>
              <a:lnSpc>
                <a:spcPct val="103000"/>
              </a:lnSpc>
              <a:spcAft>
                <a:spcPts val="300"/>
              </a:spcAft>
              <a:defRPr sz="819">
                <a:solidFill>
                  <a:srgbClr val="21242A"/>
                </a:solidFill>
                <a:latin typeface="Microsoft YaHei"/>
              </a:defRPr>
            </a:pPr>
            <a:r>
              <a:t>Both curves demonstrated a gradual decline over 10 years without clear separation between treatment strategies.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长春新碱剂量调整或替代对r-chop治疗dlbcl患者临床结局的影响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vincristine dose modifications or substitution on clinical outcomes...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Summary/Conclusion: In this population‑based cohort of patients with de novo DLBCL, modification of vincristine during</a:t>
            </a:r>
          </a:p>
          <a:p>
            <a:pPr>
              <a:lnSpc>
                <a:spcPct val="103000"/>
              </a:lnSpc>
              <a:spcAft>
                <a:spcPts val="300"/>
              </a:spcAft>
              <a:defRPr sz="819">
                <a:solidFill>
                  <a:srgbClr val="21242A"/>
                </a:solidFill>
                <a:latin typeface="Microsoft YaHei"/>
              </a:defRPr>
            </a:pPr>
            <a:r>
              <a:t> R‑CHOP therapy either through dose reduction, omission, or substitution with vinblastine, no significant differences </a:t>
            </a:r>
          </a:p>
          <a:p>
            <a:pPr>
              <a:lnSpc>
                <a:spcPct val="103000"/>
              </a:lnSpc>
              <a:spcAft>
                <a:spcPts val="300"/>
              </a:spcAft>
              <a:defRPr sz="819">
                <a:solidFill>
                  <a:srgbClr val="21242A"/>
                </a:solidFill>
                <a:latin typeface="Microsoft YaHei"/>
              </a:defRPr>
            </a:pPr>
            <a:r>
              <a:t>in overall survival or disease‑free survival compared with continued standard full-dose vincristine throughout the R‑C</a:t>
            </a:r>
          </a:p>
          <a:p>
            <a:pPr>
              <a:lnSpc>
                <a:spcPct val="103000"/>
              </a:lnSpc>
              <a:spcAft>
                <a:spcPts val="300"/>
              </a:spcAft>
              <a:defRPr sz="819">
                <a:solidFill>
                  <a:srgbClr val="21242A"/>
                </a:solidFill>
                <a:latin typeface="Microsoft YaHei"/>
              </a:defRPr>
            </a:pPr>
            <a:r>
              <a:t>HOP-therapy were found.</a:t>
            </a:r>
          </a:p>
          <a:p>
            <a:pPr>
              <a:lnSpc>
                <a:spcPct val="103000"/>
              </a:lnSpc>
              <a:spcAft>
                <a:spcPts val="300"/>
              </a:spcAft>
              <a:defRPr sz="819">
                <a:solidFill>
                  <a:srgbClr val="21242A"/>
                </a:solidFill>
                <a:latin typeface="Microsoft YaHei"/>
              </a:defRPr>
            </a:pPr>
            <a:r>
              <a:t>These findings suggest that adjustments of vincristine doses can be implemented without compromising long‑term clinica</a:t>
            </a:r>
          </a:p>
          <a:p>
            <a:pPr>
              <a:lnSpc>
                <a:spcPct val="103000"/>
              </a:lnSpc>
              <a:spcAft>
                <a:spcPts val="300"/>
              </a:spcAft>
              <a:defRPr sz="819">
                <a:solidFill>
                  <a:srgbClr val="21242A"/>
                </a:solidFill>
                <a:latin typeface="Microsoft YaHei"/>
              </a:defRPr>
            </a:pPr>
            <a:r>
              <a:t>l outcomes.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美国社区肿瘤学环境中新诊断的弥漫性大b细胞淋巴瘤（dlbcl）患者的一线治疗模式和结果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treatment patterns and outcomes of first-line (1l) treatments in 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N=4291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分组：R-CHOP组：R-CHOP</a:t>
            </a:r>
          </a:p>
          <a:p>
            <a:pPr>
              <a:lnSpc>
                <a:spcPct val="103000"/>
              </a:lnSpc>
              <a:spcAft>
                <a:spcPts val="300"/>
              </a:spcAft>
              <a:defRPr sz="800">
                <a:solidFill>
                  <a:srgbClr val="21242A"/>
                </a:solidFill>
                <a:latin typeface="Microsoft YaHei"/>
              </a:defRPr>
            </a:pPr>
            <a:r>
              <a:t>Pola-R-CHP组：Pola-R-CHP</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多组/多方案比较：R-CHOP组：R-CHOP</a:t>
            </a:r>
          </a:p>
          <a:p>
            <a:pPr>
              <a:lnSpc>
                <a:spcPct val="103000"/>
              </a:lnSpc>
              <a:spcAft>
                <a:spcPts val="300"/>
              </a:spcAft>
              <a:defRPr sz="800">
                <a:solidFill>
                  <a:srgbClr val="21242A"/>
                </a:solidFill>
                <a:latin typeface="Microsoft YaHei"/>
              </a:defRPr>
            </a:pPr>
            <a:r>
              <a:t>Pola-R-CHP组：Pola-R-CHP</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中位随访时间：37.6个月（总体），42.0个月（R-CHOP），17.8个月（Pola-R-CHP），36.1个月（Othe...</a:t>
            </a:r>
          </a:p>
          <a:p>
            <a:pPr>
              <a:lnSpc>
                <a:spcPct val="103000"/>
              </a:lnSpc>
              <a:spcAft>
                <a:spcPts val="300"/>
              </a:spcAft>
              <a:defRPr sz="800">
                <a:solidFill>
                  <a:srgbClr val="21242A"/>
                </a:solidFill>
                <a:latin typeface="Microsoft YaHei"/>
              </a:defRPr>
            </a:pPr>
            <a:r>
              <a:t>中位TTNTD：63.5个月（总体，95% CI: 59.4, NR），68.5个月（R-CHOP，95% CI: 63.5,...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人数：4291</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分组/治疗流程：R-CHOP组：R-CHOP、Pola-R-CHP组：Pola-R-CHP、Other组：其他方案（包含R-mini-CHOP和其他化疗）</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美国社区肿瘤学环境中新诊断的弥漫性大b细胞淋巴瘤（dlbcl）患者的一线治疗模式和结果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treatment patterns and outcomes of first-line (1l) treatments in 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中位随访时间</a:t>
                      </a:r>
                    </a:p>
                  </a:txBody>
                  <a:tcPr>
                    <a:solidFill>
                      <a:srgbClr val="F6F8FB"/>
                    </a:solidFill>
                  </a:tcPr>
                </a:tc>
                <a:tc>
                  <a:txBody>
                    <a:bodyPr wrap="square" lIns="36576" rIns="36576" tIns="18288" bIns="18288"/>
                    <a:lstStyle/>
                    <a:p>
                      <a:r>
                        <a:rPr sz="720" b="0">
                          <a:solidFill>
                            <a:srgbClr val="21242A"/>
                          </a:solidFill>
                          <a:latin typeface="Microsoft YaHei"/>
                        </a:rPr>
                        <a:t>37.6个月（总体），42.0个月（R-CHOP），17.8个月（Pola-R-CHP），36.1个月（Other）</a:t>
                      </a:r>
                    </a:p>
                  </a:txBody>
                  <a:tcPr>
                    <a:solidFill>
                      <a:srgbClr val="F6F8FB"/>
                    </a:solidFill>
                  </a:tcPr>
                </a:tc>
              </a:tr>
              <a:tr h="282321">
                <a:tc>
                  <a:txBody>
                    <a:bodyPr wrap="square" lIns="36576" rIns="36576" tIns="18288" bIns="18288"/>
                    <a:lstStyle/>
                    <a:p>
                      <a:r>
                        <a:rPr sz="720" b="1">
                          <a:solidFill>
                            <a:srgbClr val="21242A"/>
                          </a:solidFill>
                          <a:latin typeface="Microsoft YaHei"/>
                        </a:rPr>
                        <a:t>中位TTNTD</a:t>
                      </a:r>
                    </a:p>
                  </a:txBody>
                  <a:tcPr>
                    <a:solidFill>
                      <a:srgbClr val="FFFFFF"/>
                    </a:solidFill>
                  </a:tcPr>
                </a:tc>
                <a:tc>
                  <a:txBody>
                    <a:bodyPr wrap="square" lIns="36576" rIns="36576" tIns="18288" bIns="18288"/>
                    <a:lstStyle/>
                    <a:p>
                      <a:r>
                        <a:rPr sz="720" b="0">
                          <a:solidFill>
                            <a:srgbClr val="21242A"/>
                          </a:solidFill>
                          <a:latin typeface="Microsoft YaHei"/>
                        </a:rPr>
                        <a:t>63.5个月（总体，95% CI: 59.4, NR），68.5个月（R-CHOP，95% CI: 63.5, NR），NR（Pola-R-CHP，95% CI: 34.2, NR），17.9个月（Other，95% CI: 13.5,...</a:t>
                      </a:r>
                    </a:p>
                  </a:txBody>
                  <a:tcPr>
                    <a:solidFill>
                      <a:srgbClr val="FFFFFF"/>
                    </a:solidFill>
                  </a:tcPr>
                </a:tc>
              </a:tr>
              <a:tr h="282321">
                <a:tc>
                  <a:txBody>
                    <a:bodyPr wrap="square" lIns="36576" rIns="36576" tIns="18288" bIns="18288"/>
                    <a:lstStyle/>
                    <a:p>
                      <a:r>
                        <a:rPr sz="720" b="1">
                          <a:solidFill>
                            <a:srgbClr val="21242A"/>
                          </a:solidFill>
                          <a:latin typeface="Microsoft YaHei"/>
                        </a:rPr>
                        <a:t>2年TTNTD率</a:t>
                      </a:r>
                    </a:p>
                  </a:txBody>
                  <a:tcPr>
                    <a:solidFill>
                      <a:srgbClr val="F6F8FB"/>
                    </a:solidFill>
                  </a:tcPr>
                </a:tc>
                <a:tc>
                  <a:txBody>
                    <a:bodyPr wrap="square" lIns="36576" rIns="36576" tIns="18288" bIns="18288"/>
                    <a:lstStyle/>
                    <a:p>
                      <a:r>
                        <a:rPr sz="720" b="0">
                          <a:solidFill>
                            <a:srgbClr val="21242A"/>
                          </a:solidFill>
                          <a:latin typeface="Microsoft YaHei"/>
                        </a:rPr>
                        <a:t>66.8%（总体，95% CI: 65.2%, 68.3%），70.6%（R-CHOP，95% CI: 68.8%, 72.3%），73.6%（Pola-R-CHP，95% CI: 68.4%, 78.1%），47.3%（Other，95...</a:t>
                      </a:r>
                    </a:p>
                  </a:txBody>
                  <a:tcPr>
                    <a:solidFill>
                      <a:srgbClr val="F6F8FB"/>
                    </a:solidFill>
                  </a:tcPr>
                </a:tc>
              </a:tr>
              <a:tr h="282321">
                <a:tc>
                  <a:txBody>
                    <a:bodyPr wrap="square" lIns="36576" rIns="36576" tIns="18288" bIns="18288"/>
                    <a:lstStyle/>
                    <a:p>
                      <a:r>
                        <a:rPr sz="720" b="1">
                          <a:solidFill>
                            <a:srgbClr val="21242A"/>
                          </a:solidFill>
                          <a:latin typeface="Microsoft YaHei"/>
                        </a:rPr>
                        <a:t>2L治疗比例</a:t>
                      </a:r>
                    </a:p>
                  </a:txBody>
                  <a:tcPr>
                    <a:solidFill>
                      <a:srgbClr val="FFFFFF"/>
                    </a:solidFill>
                  </a:tcPr>
                </a:tc>
                <a:tc>
                  <a:txBody>
                    <a:bodyPr wrap="square" lIns="36576" rIns="36576" tIns="18288" bIns="18288"/>
                    <a:lstStyle/>
                    <a:p>
                      <a:r>
                        <a:rPr sz="720" b="0">
                          <a:solidFill>
                            <a:srgbClr val="21242A"/>
                          </a:solidFill>
                          <a:latin typeface="Microsoft YaHei"/>
                        </a:rPr>
                        <a:t>13.1%（总体），12.8%（R-CHOP），9.5%（Pola-R-CHP），16.2%（Other）</a:t>
                      </a:r>
                    </a:p>
                  </a:txBody>
                  <a:tcPr>
                    <a:solidFill>
                      <a:srgbClr val="FFFFFF"/>
                    </a:solidFill>
                  </a:tcPr>
                </a:tc>
              </a:tr>
              <a:tr h="282321">
                <a:tc>
                  <a:txBody>
                    <a:bodyPr wrap="square" lIns="36576" rIns="36576" tIns="18288" bIns="18288"/>
                    <a:lstStyle/>
                    <a:p>
                      <a:r>
                        <a:rPr sz="720" b="1">
                          <a:solidFill>
                            <a:srgbClr val="21242A"/>
                          </a:solidFill>
                          <a:latin typeface="Microsoft YaHei"/>
                        </a:rPr>
                        <a:t>2L患者中复发/难治比例</a:t>
                      </a:r>
                    </a:p>
                  </a:txBody>
                  <a:tcPr>
                    <a:solidFill>
                      <a:srgbClr val="F6F8FB"/>
                    </a:solidFill>
                  </a:tcPr>
                </a:tc>
                <a:tc>
                  <a:txBody>
                    <a:bodyPr wrap="square" lIns="36576" rIns="36576" tIns="18288" bIns="18288"/>
                    <a:lstStyle/>
                    <a:p>
                      <a:r>
                        <a:rPr sz="720" b="0">
                          <a:solidFill>
                            <a:srgbClr val="21242A"/>
                          </a:solidFill>
                          <a:latin typeface="Microsoft YaHei"/>
                        </a:rPr>
                        <a:t>复发28.9%、难治71.1%（总体）</a:t>
                      </a:r>
                    </a:p>
                  </a:txBody>
                  <a:tcPr>
                    <a:solidFill>
                      <a:srgbClr val="F6F8FB"/>
                    </a:solidFill>
                  </a:tcPr>
                </a:tc>
              </a:tr>
              <a:tr h="282321">
                <a:tc>
                  <a:txBody>
                    <a:bodyPr wrap="square" lIns="36576" rIns="36576" tIns="18288" bIns="18288"/>
                    <a:lstStyle/>
                    <a:p>
                      <a:r>
                        <a:rPr sz="720" b="1">
                          <a:solidFill>
                            <a:srgbClr val="21242A"/>
                          </a:solidFill>
                          <a:latin typeface="Microsoft YaHei"/>
                        </a:rPr>
                        <a:t>R-CHOP</a:t>
                      </a:r>
                    </a:p>
                  </a:txBody>
                  <a:tcPr>
                    <a:solidFill>
                      <a:srgbClr val="FFFFFF"/>
                    </a:solidFill>
                  </a:tcPr>
                </a:tc>
                <a:tc>
                  <a:txBody>
                    <a:bodyPr wrap="square" lIns="36576" rIns="36576" tIns="18288" bIns="18288"/>
                    <a:lstStyle/>
                    <a:p>
                      <a:r>
                        <a:rPr sz="720" b="0">
                          <a:solidFill>
                            <a:srgbClr val="21242A"/>
                          </a:solidFill>
                          <a:latin typeface="Microsoft YaHei"/>
                        </a:rPr>
                        <a:t>复发30.1%、难治69.9%</a:t>
                      </a:r>
                    </a:p>
                  </a:txBody>
                  <a:tcPr>
                    <a:solidFill>
                      <a:srgbClr val="FFFFFF"/>
                    </a:solidFill>
                  </a:tcPr>
                </a:tc>
              </a:tr>
              <a:tr h="282321">
                <a:tc>
                  <a:txBody>
                    <a:bodyPr wrap="square" lIns="36576" rIns="36576" tIns="18288" bIns="18288"/>
                    <a:lstStyle/>
                    <a:p>
                      <a:r>
                        <a:rPr sz="720" b="1">
                          <a:solidFill>
                            <a:srgbClr val="21242A"/>
                          </a:solidFill>
                          <a:latin typeface="Microsoft YaHei"/>
                        </a:rPr>
                        <a:t>Pola-R-CHP</a:t>
                      </a:r>
                    </a:p>
                  </a:txBody>
                  <a:tcPr>
                    <a:solidFill>
                      <a:srgbClr val="F6F8FB"/>
                    </a:solidFill>
                  </a:tcPr>
                </a:tc>
                <a:tc>
                  <a:txBody>
                    <a:bodyPr wrap="square" lIns="36576" rIns="36576" tIns="18288" bIns="18288"/>
                    <a:lstStyle/>
                    <a:p>
                      <a:r>
                        <a:rPr sz="720" b="0">
                          <a:solidFill>
                            <a:srgbClr val="21242A"/>
                          </a:solidFill>
                          <a:latin typeface="Microsoft YaHei"/>
                        </a:rPr>
                        <a:t>复发7.7%、难治92.3%</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摘要号：PS2095</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美国社区肿瘤学环境中新诊断的弥漫性大b细胞淋巴瘤（dlbcl）患者的一线治疗模式和结果</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treatment patterns and outcomes of first-line (1l) treatments in 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1792224">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1792224">
                <a:tc>
                  <a:txBody>
                    <a:bodyPr wrap="square" lIns="36576" rIns="36576" tIns="18288" bIns="18288"/>
                    <a:lstStyle/>
                    <a:p>
                      <a:r>
                        <a:rPr sz="720" b="1">
                          <a:solidFill>
                            <a:srgbClr val="21242A"/>
                          </a:solidFill>
                          <a:latin typeface="Microsoft YaHei"/>
                        </a:rPr>
                        <a:t>Other</a:t>
                      </a:r>
                    </a:p>
                  </a:txBody>
                  <a:tcPr>
                    <a:solidFill>
                      <a:srgbClr val="F6F8FB"/>
                    </a:solidFill>
                  </a:tcPr>
                </a:tc>
                <a:tc>
                  <a:txBody>
                    <a:bodyPr wrap="square" lIns="36576" rIns="36576" tIns="18288" bIns="18288"/>
                    <a:lstStyle/>
                    <a:p>
                      <a:r>
                        <a:rPr sz="720" b="0">
                          <a:solidFill>
                            <a:srgbClr val="21242A"/>
                          </a:solidFill>
                          <a:latin typeface="Microsoft YaHei"/>
                        </a:rPr>
                        <a:t>复发31.7%、难治68.3%</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zfp36l1的低表达预示着不良预后，并与dlbcl中的线粒体翻译程序有关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low expression of zfp36l1 predicts poor outcomes and associates with mitochon...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N=600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回顾性临床研究结果：low expression of zfp36l1 predicts poor outcomes and...</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ZFP36L1低表达组与高表达组相比，总生存期（OS）和无进展生存期（PFS）更差（均p&lt;0.05）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人数：600</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研究主题：low expression of zfp36l1 predicts poor outcomes and associates with mitochondrial translation programs in dlbcl</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zfp36l1的低表达预示着不良预后，并与dlbcl中的线粒体翻译程序有关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low expression of zfp36l1 predicts poor outcomes and associates with mitochon...</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Low ZFP36L1 expression was associated with inferior OS and PFS (both p Summary/Conclusion: ZFP36L1 downregula</a:t>
            </a:r>
          </a:p>
          <a:p>
            <a:pPr>
              <a:lnSpc>
                <a:spcPct val="103000"/>
              </a:lnSpc>
              <a:spcAft>
                <a:spcPts val="300"/>
              </a:spcAft>
              <a:defRPr sz="819">
                <a:solidFill>
                  <a:srgbClr val="21242A"/>
                </a:solidFill>
                <a:latin typeface="Microsoft YaHei"/>
              </a:defRPr>
            </a:pPr>
            <a:r>
              <a:t>tion identifies a high-risk DLBCL subset and is linked to enhanced mitochondrial translation programs and an immunosup</a:t>
            </a:r>
          </a:p>
          <a:p>
            <a:pPr>
              <a:lnSpc>
                <a:spcPct val="103000"/>
              </a:lnSpc>
              <a:spcAft>
                <a:spcPts val="300"/>
              </a:spcAft>
              <a:defRPr sz="819">
                <a:solidFill>
                  <a:srgbClr val="21242A"/>
                </a:solidFill>
                <a:latin typeface="Microsoft YaHei"/>
              </a:defRPr>
            </a:pPr>
            <a:r>
              <a:t>pressive microenvironment.</a:t>
            </a:r>
          </a:p>
          <a:p>
            <a:pPr>
              <a:lnSpc>
                <a:spcPct val="103000"/>
              </a:lnSpc>
              <a:spcAft>
                <a:spcPts val="300"/>
              </a:spcAft>
              <a:defRPr sz="819">
                <a:solidFill>
                  <a:srgbClr val="21242A"/>
                </a:solidFill>
                <a:latin typeface="Microsoft YaHei"/>
              </a:defRPr>
            </a:pPr>
            <a:r>
              <a:t>ZFP36L1 may serve as a prognostic biomarker and inform risk stratification, providing a rationale for therapeutic targ</a:t>
            </a:r>
          </a:p>
          <a:p>
            <a:pPr>
              <a:lnSpc>
                <a:spcPct val="103000"/>
              </a:lnSpc>
              <a:spcAft>
                <a:spcPts val="300"/>
              </a:spcAft>
              <a:defRPr sz="819">
                <a:solidFill>
                  <a:srgbClr val="21242A"/>
                </a:solidFill>
                <a:latin typeface="Microsoft YaHei"/>
              </a:defRPr>
            </a:pPr>
            <a:r>
              <a:t>eting in DLBCL patients.</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摘要号：PF980</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基于治疗组学数据预测弥漫性大b细胞淋巴瘤患者的早期预后</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early outcome prediction of diffuse large b-cell lymphoma patients using on-t...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PF1063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N=115</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回顾性临床研究结果：early outcome prediction of diffuse large b-cell lymp...</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The combination of ctDNA copy numbers and EV-derived mRNA expre...</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人数：115</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研究主题：early outcome prediction of diffuse large b-cell lymphoma patients using on-treatment omics data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基于治疗组学数据预测弥漫性大b细胞淋巴瘤患者的早期预后</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early outcome prediction of diffuse large b-cell lymphoma patients using on-t...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PF1063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The combination of ctDNA copy numbers and EV-derived mRNA expression after 1 cycle of therapy was able to identify hig</a:t>
            </a:r>
          </a:p>
          <a:p>
            <a:pPr>
              <a:lnSpc>
                <a:spcPct val="103000"/>
              </a:lnSpc>
              <a:spcAft>
                <a:spcPts val="300"/>
              </a:spcAft>
              <a:defRPr sz="819">
                <a:solidFill>
                  <a:srgbClr val="21242A"/>
                </a:solidFill>
                <a:latin typeface="Microsoft YaHei"/>
              </a:defRPr>
            </a:pPr>
            <a:r>
              <a:t>h-risk patients with a predictive value of 100%.</a:t>
            </a:r>
          </a:p>
          <a:p>
            <a:pPr>
              <a:lnSpc>
                <a:spcPct val="103000"/>
              </a:lnSpc>
              <a:spcAft>
                <a:spcPts val="300"/>
              </a:spcAft>
              <a:defRPr sz="819">
                <a:solidFill>
                  <a:srgbClr val="21242A"/>
                </a:solidFill>
                <a:latin typeface="Microsoft YaHei"/>
              </a:defRPr>
            </a:pPr>
            <a:r>
              <a:t>Combined information on both dying and living cells might reflect tumor and immune response on treatment and is indepe</a:t>
            </a:r>
          </a:p>
          <a:p>
            <a:pPr>
              <a:lnSpc>
                <a:spcPct val="103000"/>
              </a:lnSpc>
              <a:spcAft>
                <a:spcPts val="300"/>
              </a:spcAft>
              <a:defRPr sz="819">
                <a:solidFill>
                  <a:srgbClr val="21242A"/>
                </a:solidFill>
                <a:latin typeface="Microsoft YaHei"/>
              </a:defRPr>
            </a:pPr>
            <a:r>
              <a:t>ndent of baseline patient and tumor characteristics, holding promise for clinical implementation in the future.</a:t>
            </a:r>
          </a:p>
          <a:p>
            <a:pPr>
              <a:lnSpc>
                <a:spcPct val="103000"/>
              </a:lnSpc>
              <a:spcAft>
                <a:spcPts val="300"/>
              </a:spcAft>
              <a:defRPr sz="819">
                <a:solidFill>
                  <a:srgbClr val="21242A"/>
                </a:solidFill>
                <a:latin typeface="Microsoft YaHei"/>
              </a:defRPr>
            </a:pPr>
            <a:r>
              <a:t>For further validation…</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摘要号：PF1063</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巩固性放疗与有限期胃弥漫性大b细胞淋巴瘤完全缓解的生存率：一项来自中国的多中心研究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outcomes of consolidative radiotherapy and survival in limited-stage primary...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N=202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分组：试验组1：化疗（R-CHOP样方案）后巩固性放疗</a:t>
            </a:r>
          </a:p>
          <a:p>
            <a:pPr>
              <a:lnSpc>
                <a:spcPct val="103000"/>
              </a:lnSpc>
              <a:spcAft>
                <a:spcPts val="300"/>
              </a:spcAft>
              <a:defRPr sz="800">
                <a:solidFill>
                  <a:srgbClr val="21242A"/>
                </a:solidFill>
                <a:latin typeface="Microsoft YaHei"/>
              </a:defRPr>
            </a:pPr>
            <a:r>
              <a:t>试验组2：仅化疗（R-CHOP样方案）</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多组/多方案比较：试验组1：化疗（R-CHOP样方案）后巩固性放疗</a:t>
            </a:r>
          </a:p>
          <a:p>
            <a:pPr>
              <a:lnSpc>
                <a:spcPct val="103000"/>
              </a:lnSpc>
              <a:spcAft>
                <a:spcPts val="300"/>
              </a:spcAft>
              <a:defRPr sz="800">
                <a:solidFill>
                  <a:srgbClr val="21242A"/>
                </a:solidFill>
                <a:latin typeface="Microsoft YaHei"/>
              </a:defRPr>
            </a:pPr>
            <a:r>
              <a:t>试验组2：仅化疗（R-CHOP样方案）</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5年总生存率（OS）：CT+RT组98.5%，CT-alone组86.4%（P=0.06）</a:t>
            </a:r>
          </a:p>
          <a:p>
            <a:pPr>
              <a:lnSpc>
                <a:spcPct val="103000"/>
              </a:lnSpc>
              <a:spcAft>
                <a:spcPts val="300"/>
              </a:spcAft>
              <a:defRPr sz="800">
                <a:solidFill>
                  <a:srgbClr val="21242A"/>
                </a:solidFill>
                <a:latin typeface="Microsoft YaHei"/>
              </a:defRPr>
            </a:pPr>
            <a:r>
              <a:t>5年无进展生存率（PFS）：CT+RT组92.2%，CT-alone组83.5%（P=0.04）</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人数：202</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分组/治疗流程：试验组1：化疗（R-CHOP样方案）后巩固性放疗、试验组2：仅化疗（R-CHOP样方案）</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巩固性放疗与有限期胃弥漫性大b细胞淋巴瘤完全缓解的生存率：一项来自中国的多中心研究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outcomes of consolidative radiotherapy and survival in limited-stage primary...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EHA原文结果（中文字段未通过数字核对）（1/4）</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A total of 202 patients were included, with a median age of 55 years (range from 18 to 81).</a:t>
            </a:r>
          </a:p>
          <a:p>
            <a:pPr>
              <a:lnSpc>
                <a:spcPct val="103000"/>
              </a:lnSpc>
              <a:spcAft>
                <a:spcPts val="300"/>
              </a:spcAft>
              <a:defRPr sz="819">
                <a:solidFill>
                  <a:srgbClr val="21242A"/>
                </a:solidFill>
                <a:latin typeface="Microsoft YaHei"/>
              </a:defRPr>
            </a:pPr>
            <a:r>
              <a:t>96 (47.5%) patients received consolidative RT after chemotherapy , while 106 (52.5%) received CT alone.</a:t>
            </a:r>
          </a:p>
          <a:p>
            <a:pPr>
              <a:lnSpc>
                <a:spcPct val="103000"/>
              </a:lnSpc>
              <a:spcAft>
                <a:spcPts val="300"/>
              </a:spcAft>
              <a:defRPr sz="819">
                <a:solidFill>
                  <a:srgbClr val="21242A"/>
                </a:solidFill>
                <a:latin typeface="Microsoft YaHei"/>
              </a:defRPr>
            </a:pPr>
            <a:r>
              <a:t>R-CHOP-like regimens were used in 83.2% of cases, with 48% and 48% completing baseline and post-treatment PET/CT asses</a:t>
            </a:r>
          </a:p>
          <a:p>
            <a:pPr>
              <a:lnSpc>
                <a:spcPct val="103000"/>
              </a:lnSpc>
              <a:spcAft>
                <a:spcPts val="300"/>
              </a:spcAft>
              <a:defRPr sz="819">
                <a:solidFill>
                  <a:srgbClr val="21242A"/>
                </a:solidFill>
                <a:latin typeface="Microsoft YaHei"/>
              </a:defRPr>
            </a:pPr>
            <a:r>
              <a:t>sments, respectively.</a:t>
            </a:r>
          </a:p>
          <a:p>
            <a:pPr>
              <a:lnSpc>
                <a:spcPct val="103000"/>
              </a:lnSpc>
              <a:spcAft>
                <a:spcPts val="300"/>
              </a:spcAft>
              <a:defRPr sz="819">
                <a:solidFill>
                  <a:srgbClr val="21242A"/>
                </a:solidFill>
                <a:latin typeface="Microsoft YaHei"/>
              </a:defRPr>
            </a:pPr>
            <a:r>
              <a:t>With a median follow-up of 80.8 months, the 5-year OS, PFS, and LRC rates were 98.5% , 92.2% and 97.6% in the CT+RT gr</a:t>
            </a:r>
          </a:p>
          <a:p>
            <a:pPr>
              <a:lnSpc>
                <a:spcPct val="103000"/>
              </a:lnSpc>
              <a:spcAft>
                <a:spcPts val="300"/>
              </a:spcAft>
              <a:defRPr sz="819">
                <a:solidFill>
                  <a:srgbClr val="21242A"/>
                </a:solidFill>
                <a:latin typeface="Microsoft YaHei"/>
              </a:defRPr>
            </a:pPr>
            <a:r>
              <a:t>oup , compared to 86.4% (P=0.06), 83.5(P=0.04)and 95.8% (P=0.5) for the CT-alone group, respectively.</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摘要号：PF1021</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巩固性放疗与有限期胃弥漫性大b细胞淋巴瘤完全缓解的生存率：一项来自中国的多中心研究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outcomes of consolidative radiotherapy and survival in limited-stage primary...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Although a statistical difference in PFS was observed, consolidative RT did not significantly improve OS or LRC, consi</a:t>
            </a:r>
          </a:p>
          <a:p>
            <a:pPr>
              <a:lnSpc>
                <a:spcPct val="103000"/>
              </a:lnSpc>
              <a:spcAft>
                <a:spcPts val="300"/>
              </a:spcAft>
              <a:defRPr sz="819">
                <a:solidFill>
                  <a:srgbClr val="21242A"/>
                </a:solidFill>
                <a:latin typeface="Microsoft YaHei"/>
              </a:defRPr>
            </a:pPr>
            <a:r>
              <a:t>stent with the exceptionally low local recurrence rate (only 6 cases) across the entire cohort.</a:t>
            </a:r>
          </a:p>
          <a:p>
            <a:pPr>
              <a:lnSpc>
                <a:spcPct val="103000"/>
              </a:lnSpc>
              <a:spcAft>
                <a:spcPts val="300"/>
              </a:spcAft>
              <a:defRPr sz="819">
                <a:solidFill>
                  <a:srgbClr val="21242A"/>
                </a:solidFill>
                <a:latin typeface="Microsoft YaHei"/>
              </a:defRPr>
            </a:pPr>
            <a:r>
              <a:t>A total of 14 deaths were recorded during follow-up.</a:t>
            </a:r>
          </a:p>
          <a:p>
            <a:pPr>
              <a:lnSpc>
                <a:spcPct val="103000"/>
              </a:lnSpc>
              <a:spcAft>
                <a:spcPts val="300"/>
              </a:spcAft>
              <a:defRPr sz="819">
                <a:solidFill>
                  <a:srgbClr val="21242A"/>
                </a:solidFill>
                <a:latin typeface="Microsoft YaHei"/>
              </a:defRPr>
            </a:pPr>
            <a:r>
              <a:t>Notably, only 3 patients (21.4%) died of lymphoma-specific causes, 11 patients (78.6%) died of non-lymphoma-related ca</a:t>
            </a:r>
          </a:p>
          <a:p>
            <a:pPr>
              <a:lnSpc>
                <a:spcPct val="103000"/>
              </a:lnSpc>
              <a:spcAft>
                <a:spcPts val="300"/>
              </a:spcAft>
              <a:defRPr sz="819">
                <a:solidFill>
                  <a:srgbClr val="21242A"/>
                </a:solidFill>
                <a:latin typeface="Microsoft YaHei"/>
              </a:defRPr>
            </a:pPr>
            <a:r>
              <a:t>uses, including second primary malignancies (n=3), hepatic disease (n=1), and other unknown causes (n=7).</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巩固性放疗与有限期胃弥漫性大b细胞淋巴瘤完全缓解的生存率：一项来自中国的多中心研究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outcomes of consolidative radiotherapy and survival in limited-stage primary...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Survival outcomes were favorable and equivalent to the age- and sex-matched general population in both groups, with SM</a:t>
            </a:r>
          </a:p>
          <a:p>
            <a:pPr>
              <a:lnSpc>
                <a:spcPct val="103000"/>
              </a:lnSpc>
              <a:spcAft>
                <a:spcPts val="300"/>
              </a:spcAft>
              <a:defRPr sz="819">
                <a:solidFill>
                  <a:srgbClr val="21242A"/>
                </a:solidFill>
                <a:latin typeface="Microsoft YaHei"/>
              </a:defRPr>
            </a:pPr>
            <a:r>
              <a:t>R of 0.64 (95% CI: 0.17–1.64; P = 0.54) for the CT+RT group and 1.41 (95% CI: 0.68–2.60; P = 0.25) for the CT-alone gr</a:t>
            </a:r>
          </a:p>
          <a:p>
            <a:pPr>
              <a:lnSpc>
                <a:spcPct val="103000"/>
              </a:lnSpc>
              <a:spcAft>
                <a:spcPts val="300"/>
              </a:spcAft>
              <a:defRPr sz="819">
                <a:solidFill>
                  <a:srgbClr val="21242A"/>
                </a:solidFill>
                <a:latin typeface="Microsoft YaHei"/>
              </a:defRPr>
            </a:pPr>
            <a:r>
              <a:t>oup, indicating that patients achieved life expectancy comparable to the general population.</a:t>
            </a:r>
          </a:p>
          <a:p>
            <a:pPr>
              <a:lnSpc>
                <a:spcPct val="103000"/>
              </a:lnSpc>
              <a:spcAft>
                <a:spcPts val="300"/>
              </a:spcAft>
              <a:defRPr sz="819">
                <a:solidFill>
                  <a:srgbClr val="21242A"/>
                </a:solidFill>
                <a:latin typeface="Microsoft YaHei"/>
              </a:defRPr>
            </a:pPr>
            <a:r>
              <a:t>Competing risk analysis revealed that NLM was a prominent contributor to late mortality events, whereas the cumulative</a:t>
            </a:r>
          </a:p>
          <a:p>
            <a:pPr>
              <a:lnSpc>
                <a:spcPct val="103000"/>
              </a:lnSpc>
              <a:spcAft>
                <a:spcPts val="300"/>
              </a:spcAft>
              <a:defRPr sz="819">
                <a:solidFill>
                  <a:srgbClr val="21242A"/>
                </a:solidFill>
                <a:latin typeface="Microsoft YaHei"/>
              </a:defRPr>
            </a:pPr>
            <a:r>
              <a:t> incidence of LSM remained low and comparable between the CT-alone and CT+RT groups (2.3% vs 1.6%, p = 0.53).</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巩固性放疗与有限期胃弥漫性大b细胞淋巴瘤完全缓解的生存率：一项来自中国的多中心研究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outcomes of consolidative radiotherapy and survival in limited-stage primary...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Summary/Conclusion: For limited-stage PG-DLBCL achieving CR after first-line chemotherapy, consolidative RT provides l</a:t>
            </a:r>
          </a:p>
          <a:p>
            <a:pPr>
              <a:lnSpc>
                <a:spcPct val="103000"/>
              </a:lnSpc>
              <a:spcAft>
                <a:spcPts val="300"/>
              </a:spcAft>
              <a:defRPr sz="819">
                <a:solidFill>
                  <a:srgbClr val="21242A"/>
                </a:solidFill>
                <a:latin typeface="Microsoft YaHei"/>
              </a:defRPr>
            </a:pPr>
            <a:r>
              <a:t>imited survival benefit due to exceptional local control and survival normalization.</a:t>
            </a:r>
          </a:p>
          <a:p>
            <a:pPr>
              <a:lnSpc>
                <a:spcPct val="103000"/>
              </a:lnSpc>
              <a:spcAft>
                <a:spcPts val="300"/>
              </a:spcAft>
              <a:defRPr sz="819">
                <a:solidFill>
                  <a:srgbClr val="21242A"/>
                </a:solidFill>
                <a:latin typeface="Microsoft YaHei"/>
              </a:defRPr>
            </a:pPr>
            <a:r>
              <a:t>Competing risk analysis identifies NLM as the primary late mortality driver.</a:t>
            </a:r>
          </a:p>
          <a:p>
            <a:pPr>
              <a:lnSpc>
                <a:spcPct val="103000"/>
              </a:lnSpc>
              <a:spcAft>
                <a:spcPts val="300"/>
              </a:spcAft>
              <a:defRPr sz="819">
                <a:solidFill>
                  <a:srgbClr val="21242A"/>
                </a:solidFill>
                <a:latin typeface="Microsoft YaHei"/>
              </a:defRPr>
            </a:pPr>
            <a:r>
              <a:t>While RT may not be mandatory for all, it may serve as a strategic enabler for chemotherapy de-escalation.</a:t>
            </a:r>
          </a:p>
          <a:p>
            <a:pPr>
              <a:lnSpc>
                <a:spcPct val="103000"/>
              </a:lnSpc>
              <a:spcAft>
                <a:spcPts val="300"/>
              </a:spcAft>
              <a:defRPr sz="819">
                <a:solidFill>
                  <a:srgbClr val="21242A"/>
                </a:solidFill>
                <a:latin typeface="Microsoft YaHei"/>
              </a:defRPr>
            </a:pPr>
            <a:r>
              <a:t>The next step is to further investigate whether RT can serve as a key enabler for chemotherapy de-escalation.</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在弥漫性大b细胞淋巴瘤患者的标准一线免疫化疗中添加大剂量甲氨蝶呤与急性但非慢性肾脏疾病有关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addition of high-dose methotrexate to standard first-line immunochemotherapy...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N=1537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分组：试验组1：HD-MTX组：大剂量甲氨蝶呤，R-CHOP（免疫化疗）</a:t>
            </a:r>
          </a:p>
          <a:p>
            <a:pPr>
              <a:lnSpc>
                <a:spcPct val="103000"/>
              </a:lnSpc>
              <a:spcAft>
                <a:spcPts val="300"/>
              </a:spcAft>
              <a:defRPr sz="800">
                <a:solidFill>
                  <a:srgbClr val="21242A"/>
                </a:solidFill>
                <a:latin typeface="Microsoft YaHei"/>
              </a:defRPr>
            </a:pPr>
            <a:r>
              <a:t>试验组2：无HD-MTX组：R-CHOP（免疫化疗）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多组/多方案比较：试验组1：HD-MTX组：大剂量甲氨蝶呤，R-CHOP（免疫化疗）</a:t>
            </a:r>
          </a:p>
          <a:p>
            <a:pPr>
              <a:lnSpc>
                <a:spcPct val="103000"/>
              </a:lnSpc>
              <a:spcAft>
                <a:spcPts val="300"/>
              </a:spcAft>
              <a:defRPr sz="800">
                <a:solidFill>
                  <a:srgbClr val="21242A"/>
                </a:solidFill>
                <a:latin typeface="Microsoft YaHei"/>
              </a:defRPr>
            </a:pPr>
            <a:r>
              <a:t>试验组2：无HD-MTX组：R-CHOP（免疫化疗）</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IPTW调整后5年CKD（stage≥G3a）累积发病率：HD-MTX组5.3%（95%CI:3.2-7.5） vs 无HD-...</a:t>
            </a:r>
          </a:p>
          <a:p>
            <a:pPr>
              <a:lnSpc>
                <a:spcPct val="103000"/>
              </a:lnSpc>
              <a:spcAft>
                <a:spcPts val="300"/>
              </a:spcAft>
              <a:defRPr sz="800">
                <a:solidFill>
                  <a:srgbClr val="21242A"/>
                </a:solidFill>
                <a:latin typeface="Microsoft YaHei"/>
              </a:defRPr>
            </a:pPr>
            <a:r>
              <a:t>5年CKD stage G5累积发病率无显著差异</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人数：1537</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分组/治疗流程：试验组1：HD-MTX组：大剂量甲氨蝶呤、R-CHOP（免疫化疗）、试验组2：无HD-MTX组：R-CHOP（免疫化疗）</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在弥漫性大b细胞淋巴瘤患者的标准一线免疫化疗中添加大剂量甲氨蝶呤与急性但非慢性肾脏疾病有关</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addition of high-dose methotrexate to standard first-line immunochemotherapy...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451713">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451713">
                <a:tc>
                  <a:txBody>
                    <a:bodyPr wrap="square" lIns="36576" rIns="36576" tIns="18288" bIns="18288"/>
                    <a:lstStyle/>
                    <a:p>
                      <a:r>
                        <a:rPr sz="720" b="1">
                          <a:solidFill>
                            <a:srgbClr val="21242A"/>
                          </a:solidFill>
                          <a:latin typeface="Microsoft YaHei"/>
                        </a:rPr>
                        <a:t>IPTW调整后5年CKD（stage≥G3a）累积发病率</a:t>
                      </a:r>
                    </a:p>
                  </a:txBody>
                  <a:tcPr>
                    <a:solidFill>
                      <a:srgbClr val="F6F8FB"/>
                    </a:solidFill>
                  </a:tcPr>
                </a:tc>
                <a:tc>
                  <a:txBody>
                    <a:bodyPr wrap="square" lIns="36576" rIns="36576" tIns="18288" bIns="18288"/>
                    <a:lstStyle/>
                    <a:p>
                      <a:r>
                        <a:rPr sz="720" b="0">
                          <a:solidFill>
                            <a:srgbClr val="21242A"/>
                          </a:solidFill>
                          <a:latin typeface="Microsoft YaHei"/>
                        </a:rPr>
                        <a:t>HD-MTX组5.3%（95%CI:3.2-7.5） vs 无HD-MTX组6.5%（95%CI:5.0-8.2），RR=0.81（95%CI:0.5-1.3）</a:t>
                      </a:r>
                    </a:p>
                  </a:txBody>
                  <a:tcPr>
                    <a:solidFill>
                      <a:srgbClr val="F6F8FB"/>
                    </a:solidFill>
                  </a:tcPr>
                </a:tc>
              </a:tr>
              <a:tr h="451713">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5年CKD stage G5累积发病率无显著差异</a:t>
                      </a:r>
                    </a:p>
                  </a:txBody>
                  <a:tcPr>
                    <a:solidFill>
                      <a:srgbClr val="FFFFFF"/>
                    </a:solidFill>
                  </a:tcPr>
                </a:tc>
              </a:tr>
              <a:tr h="451713">
                <a:tc>
                  <a:txBody>
                    <a:bodyPr wrap="square" lIns="36576" rIns="36576" tIns="18288" bIns="18288"/>
                    <a:lstStyle/>
                    <a:p>
                      <a:r>
                        <a:rPr sz="720" b="1">
                          <a:solidFill>
                            <a:srgbClr val="21242A"/>
                          </a:solidFill>
                          <a:latin typeface="Microsoft YaHei"/>
                        </a:rPr>
                        <a:t>1年任何阶段AKI累积发病率</a:t>
                      </a:r>
                    </a:p>
                  </a:txBody>
                  <a:tcPr>
                    <a:solidFill>
                      <a:srgbClr val="F6F8FB"/>
                    </a:solidFill>
                  </a:tcPr>
                </a:tc>
                <a:tc>
                  <a:txBody>
                    <a:bodyPr wrap="square" lIns="36576" rIns="36576" tIns="18288" bIns="18288"/>
                    <a:lstStyle/>
                    <a:p>
                      <a:r>
                        <a:rPr sz="720" b="0">
                          <a:solidFill>
                            <a:srgbClr val="21242A"/>
                          </a:solidFill>
                          <a:latin typeface="Microsoft YaHei"/>
                        </a:rPr>
                        <a:t>HD-MTX组显著高于无HD-MTX组（具体数值未完全给出）</a:t>
                      </a:r>
                    </a:p>
                  </a:txBody>
                  <a:tcPr>
                    <a:solidFill>
                      <a:srgbClr val="F6F8FB"/>
                    </a:solidFill>
                  </a:tcPr>
                </a:tc>
              </a:tr>
              <a:tr h="451716">
                <a:tc>
                  <a:txBody>
                    <a:bodyPr wrap="square" lIns="36576" rIns="36576" tIns="18288" bIns="18288"/>
                    <a:lstStyle/>
                    <a:p>
                      <a:r>
                        <a:rPr sz="720" b="1">
                          <a:solidFill>
                            <a:srgbClr val="21242A"/>
                          </a:solidFill>
                          <a:latin typeface="Microsoft YaHei"/>
                        </a:rPr>
                        <a:t>5年OS</a:t>
                      </a:r>
                    </a:p>
                  </a:txBody>
                  <a:tcPr>
                    <a:solidFill>
                      <a:srgbClr val="FFFFFF"/>
                    </a:solidFill>
                  </a:tcPr>
                </a:tc>
                <a:tc>
                  <a:txBody>
                    <a:bodyPr wrap="square" lIns="36576" rIns="36576" tIns="18288" bIns="18288"/>
                    <a:lstStyle/>
                    <a:p>
                      <a:r>
                        <a:rPr sz="720" b="0">
                          <a:solidFill>
                            <a:srgbClr val="21242A"/>
                          </a:solidFill>
                          <a:latin typeface="Microsoft YaHei"/>
                        </a:rPr>
                        <a:t>HD-MTX组91%（95%CI:88-94） vs 无HD-MTX组93%（95%CI:91-94）</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摘要号：PF1008</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治疗机会消除了种族差异，但无法克服结构性贫困：可治愈淋巴瘤生存公平性的全国分析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treatment access eliminates racial disparities but cannot overcome structural...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N=91246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分组：试验组1：R-CHOP（利妥昔单抗，环磷酰胺，多柔比星，长春新碱，泼尼松）</a:t>
            </a:r>
          </a:p>
          <a:p>
            <a:pPr>
              <a:lnSpc>
                <a:spcPct val="103000"/>
              </a:lnSpc>
              <a:spcAft>
                <a:spcPts val="300"/>
              </a:spcAft>
              <a:defRPr sz="800">
                <a:solidFill>
                  <a:srgbClr val="21242A"/>
                </a:solidFill>
                <a:latin typeface="Microsoft YaHei"/>
              </a:defRPr>
            </a:pPr>
            <a:r>
              <a:t>对照组：未接受R-CHOP（其他治疗）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对照/比较：试验组1：R-CHOP（利妥昔单抗，环磷酰胺，多柔比星，长春新碱，泼尼松）||对照组：未接受R-CHOP（其他治疗）</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接受R-CHOP的患者与未接受者相比，生存期减少4.5个月，每1000人生命年损失373年</a:t>
            </a:r>
          </a:p>
          <a:p>
            <a:pPr>
              <a:lnSpc>
                <a:spcPct val="103000"/>
              </a:lnSpc>
              <a:spcAft>
                <a:spcPts val="300"/>
              </a:spcAft>
              <a:defRPr sz="800">
                <a:solidFill>
                  <a:srgbClr val="21242A"/>
                </a:solidFill>
                <a:latin typeface="Microsoft YaHei"/>
              </a:defRPr>
            </a:pPr>
            <a:r>
              <a:t>未保险患者比私人保险患者损失3.6个月（303 LYL/1000），Medicaid患者损失3.7个月（307 LYL/100...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人数：91246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分组/治疗流程：试验组1：R-CHOP（利妥昔单抗、环磷酰胺、多柔比星</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治疗机会消除了种族差异，但无法克服结构性贫困：可治愈淋巴瘤生存公平性的全国分析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treatment access eliminates racial disparities but cannot overcome structural...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接受R-CHOP的患者与未接受者相比，生存期减少4.5个月，每1000人生命年损失373年；未保险患者比私人保险患者损失3.6个月（303 LYL/1000），Medicaid患者损失3.7个月（307 LYL/1000）；高剥夺患者比</a:t>
            </a:r>
          </a:p>
          <a:p>
            <a:pPr>
              <a:lnSpc>
                <a:spcPct val="103000"/>
              </a:lnSpc>
              <a:spcAft>
                <a:spcPts val="300"/>
              </a:spcAft>
              <a:defRPr sz="819">
                <a:solidFill>
                  <a:srgbClr val="21242A"/>
                </a:solidFill>
                <a:latin typeface="Microsoft YaHei"/>
              </a:defRPr>
            </a:pPr>
            <a:r>
              <a:t>无剥夺患者损失7.2个月（532 LYL/1000）；种族生存差异可通过平等R-CHOP交付完全消除。</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摘要号：PF1006</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dlbcl一线治疗后pet-ct评估deauville 5分量表的预后价值：一项回顾性研究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prognostic value of deauville 5-point scale assessed on pet-ct following firs...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CNS穿透/放疗/MTX策略</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N=504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回顾性临床研究结果：prognostic value of deauville 5-point scale assessed...</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2年总生存率：DS1-3组为91.1%</a:t>
            </a:r>
          </a:p>
          <a:p>
            <a:pPr>
              <a:lnSpc>
                <a:spcPct val="103000"/>
              </a:lnSpc>
              <a:spcAft>
                <a:spcPts val="300"/>
              </a:spcAft>
              <a:defRPr sz="800">
                <a:solidFill>
                  <a:srgbClr val="21242A"/>
                </a:solidFill>
                <a:latin typeface="Microsoft YaHei"/>
              </a:defRPr>
            </a:pPr>
            <a:r>
              <a:t>DS4组为83.7%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人数：504</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研究主题：prognostic value of deauville 5-point scale assessed on pet-ct following first-line treatment in dlbcl: a retrospective...</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dlbcl一线治疗后pet-ct评估deauville 5分量表的预后价值：一项回顾性研究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prognostic value of deauville 5-point scale assessed on pet-ct following firs...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CNS穿透/放疗/MTX策略</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EHA原文结果（中文字段未通过数字核对）（1/2）</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504 patients were included.</a:t>
            </a:r>
          </a:p>
          <a:p>
            <a:pPr>
              <a:lnSpc>
                <a:spcPct val="103000"/>
              </a:lnSpc>
              <a:spcAft>
                <a:spcPts val="300"/>
              </a:spcAft>
              <a:defRPr sz="819">
                <a:solidFill>
                  <a:srgbClr val="21242A"/>
                </a:solidFill>
                <a:latin typeface="Microsoft YaHei"/>
              </a:defRPr>
            </a:pPr>
            <a:r>
              <a:t>The median age at diagnosis was 64 years (range 19 – 91), with a slight male predominance (53.4%).</a:t>
            </a:r>
          </a:p>
          <a:p>
            <a:pPr>
              <a:lnSpc>
                <a:spcPct val="103000"/>
              </a:lnSpc>
              <a:spcAft>
                <a:spcPts val="300"/>
              </a:spcAft>
              <a:defRPr sz="819">
                <a:solidFill>
                  <a:srgbClr val="21242A"/>
                </a:solidFill>
                <a:latin typeface="Microsoft YaHei"/>
              </a:defRPr>
            </a:pPr>
            <a:r>
              <a:t>A majority of patients had disease stage of III or IV (74.1%), IPI score of 3 to 5 (59.4%), elevated LDH level (72.8%)</a:t>
            </a:r>
          </a:p>
          <a:p>
            <a:pPr>
              <a:lnSpc>
                <a:spcPct val="103000"/>
              </a:lnSpc>
              <a:spcAft>
                <a:spcPts val="300"/>
              </a:spcAft>
              <a:defRPr sz="819">
                <a:solidFill>
                  <a:srgbClr val="21242A"/>
                </a:solidFill>
                <a:latin typeface="Microsoft YaHei"/>
              </a:defRPr>
            </a:pPr>
            <a:r>
              <a:t>, and WHO performance status score of 0 or 1 (69.3%).</a:t>
            </a:r>
          </a:p>
          <a:p>
            <a:pPr>
              <a:lnSpc>
                <a:spcPct val="103000"/>
              </a:lnSpc>
              <a:spcAft>
                <a:spcPts val="300"/>
              </a:spcAft>
              <a:defRPr sz="819">
                <a:solidFill>
                  <a:srgbClr val="21242A"/>
                </a:solidFill>
                <a:latin typeface="Microsoft YaHei"/>
              </a:defRPr>
            </a:pPr>
            <a:r>
              <a:t>More than a quarter of the patients (28.4%) had two or more sites of extranodal involvement.</a:t>
            </a:r>
          </a:p>
          <a:p>
            <a:pPr>
              <a:lnSpc>
                <a:spcPct val="103000"/>
              </a:lnSpc>
              <a:spcAft>
                <a:spcPts val="300"/>
              </a:spcAft>
              <a:defRPr sz="819">
                <a:solidFill>
                  <a:srgbClr val="21242A"/>
                </a:solidFill>
                <a:latin typeface="Microsoft YaHei"/>
              </a:defRPr>
            </a:pPr>
            <a:r>
              <a:t>After the first-line therapy, 415 (82.3%) patients had DS score \n Overall, 114 (22.6%) patients had at least one rela</a:t>
            </a:r>
          </a:p>
          <a:p>
            <a:pPr>
              <a:lnSpc>
                <a:spcPct val="103000"/>
              </a:lnSpc>
              <a:spcAft>
                <a:spcPts val="300"/>
              </a:spcAft>
              <a:defRPr sz="819">
                <a:solidFill>
                  <a:srgbClr val="21242A"/>
                </a:solidFill>
                <a:latin typeface="Microsoft YaHei"/>
              </a:defRPr>
            </a:pPr>
            <a:r>
              <a:t>pse, and 82 (16.3%) of the patients died of DLBCL.</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药物/技术：CNS穿透/放疗/MTX策略</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摘要号：PS2116</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dlbcl一线治疗后pet-ct评估deauville 5分量表的预后价值：一项回顾性研究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prognostic value of deauville 5-point scale assessed on pet-ct following firs...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PS2116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04588"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CNS穿透/放疗/MTX策略</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149/187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EHA原文结果（中文字段未通过数字核对）（2/2）</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After a median follow-up of 71 months, the 2-year OS rate was 91.1% for the DS \n The multivariate analysis showed tha</a:t>
            </a:r>
          </a:p>
          <a:p>
            <a:pPr>
              <a:lnSpc>
                <a:spcPct val="103000"/>
              </a:lnSpc>
              <a:spcAft>
                <a:spcPts val="300"/>
              </a:spcAft>
              <a:defRPr sz="819">
                <a:solidFill>
                  <a:srgbClr val="21242A"/>
                </a:solidFill>
                <a:latin typeface="Microsoft YaHei"/>
              </a:defRPr>
            </a:pPr>
            <a:r>
              <a:t>t DS4 and DS5 were significant risk factors when compared to DS \n Summary/Conclusion: DLBCL patients with DS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综合临床和遗传评分可改善暗区特征阳性（dzsigpos）弥漫性大b细胞淋巴瘤的预后：暗区预后指数（dzpi）</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integrated clinical and genetic scoring refines prognosis in dark zone signat...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N=259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回顾性临床研究结果：integrated clinical and genetic scoring refines progn...</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DZPI风险类别（低风险：评分0-1</a:t>
            </a:r>
          </a:p>
          <a:p>
            <a:pPr>
              <a:lnSpc>
                <a:spcPct val="103000"/>
              </a:lnSpc>
              <a:spcAft>
                <a:spcPts val="300"/>
              </a:spcAft>
              <a:defRPr sz="800">
                <a:solidFill>
                  <a:srgbClr val="21242A"/>
                </a:solidFill>
                <a:latin typeface="Microsoft YaHei"/>
              </a:defRPr>
            </a:pPr>
            <a:r>
              <a:t>高风险：评分2-4）的总体生存期（OS）存在显著差异（Fig.1K），并在BCC队列和本中心队列中得到验证（Fig.1L）。</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人数：259</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研究主题：integrated clinical and genetic scoring refines prognosis in dark zone signature-positive (dzsigpos) diffuse large b-ce...</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综合临床和遗传评分可改善暗区特征阳性（dzsigpos）弥漫性大b细胞淋巴瘤的预后：暗区预后指数（dzpi）</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integrated clinical and genetic scoring refines prognosis in dark zone signat...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DZPI风险类别（低风险：评分0-1；高风险：评分2-4）的总体生存期（OS）存在显著差异（Fig.1K），并在BCC队列和本中心队列中得到验证（Fig.1L）。高风险类别中BCL2和IL4R突变频率显著更高（Fig.1M）。转录组分析</a:t>
            </a:r>
          </a:p>
          <a:p>
            <a:pPr>
              <a:lnSpc>
                <a:spcPct val="103000"/>
              </a:lnSpc>
              <a:spcAft>
                <a:spcPts val="300"/>
              </a:spcAft>
              <a:defRPr sz="819">
                <a:solidFill>
                  <a:srgbClr val="21242A"/>
                </a:solidFill>
                <a:latin typeface="Microsoft YaHei"/>
              </a:defRPr>
            </a:pPr>
            <a:r>
              <a:t>显示高风险类别中肿瘤和代谢通路上调，免疫相关通路下调（Fig.1N）。免疫细胞浸润分析显示高风险类别中多种免疫细胞亚群富集评分降低（Fig.1O）。高风险类别与冷免疫簇相关（Fig.1Q），且DZPI高风险且冷免疫簇的患者预后最差（Fi</a:t>
            </a:r>
          </a:p>
          <a:p>
            <a:pPr>
              <a:lnSpc>
                <a:spcPct val="103000"/>
              </a:lnSpc>
              <a:spcAft>
                <a:spcPts val="300"/>
              </a:spcAft>
              <a:defRPr sz="819">
                <a:solidFill>
                  <a:srgbClr val="21242A"/>
                </a:solidFill>
                <a:latin typeface="Microsoft YaHei"/>
              </a:defRPr>
            </a:pPr>
            <a:r>
              <a:t>g.1R–S）。</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摘要号：S258</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循环肿瘤dna在临床诊断之前很久就揭示了淋巴瘤相关突变</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circulating tumor dna reveals lymphoma-associated mutations long before clini...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弥漫性大B细胞淋巴瘤，经典型霍奇金淋巴瘤</a:t>
            </a:r>
          </a:p>
          <a:p>
            <a:pPr>
              <a:lnSpc>
                <a:spcPct val="103000"/>
              </a:lnSpc>
              <a:spcAft>
                <a:spcPts val="300"/>
              </a:spcAft>
              <a:defRPr sz="800">
                <a:solidFill>
                  <a:srgbClr val="21242A"/>
                </a:solidFill>
                <a:latin typeface="Microsoft YaHei"/>
              </a:defRPr>
            </a:pPr>
            <a:r>
              <a:t>N=46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回顾性临床研究结果：circulating tumor dna reveals lymphoma-associated mut...</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ctDNA检出率：31/46 (67%) 的病例在诊断前血浆中检出ctDNA</a:t>
            </a:r>
          </a:p>
          <a:p>
            <a:pPr>
              <a:lnSpc>
                <a:spcPct val="103000"/>
              </a:lnSpc>
              <a:spcAft>
                <a:spcPts val="300"/>
              </a:spcAft>
              <a:defRPr sz="800">
                <a:solidFill>
                  <a:srgbClr val="21242A"/>
                </a:solidFill>
                <a:latin typeface="Microsoft YaHei"/>
              </a:defRPr>
            </a:pPr>
            <a:r>
              <a:t>DLBCL: 13/33 (39%) 通过肿瘤信息指导的SNV检出ctDNA</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人数：46</a:t>
            </a:r>
          </a:p>
          <a:p>
            <a:pPr>
              <a:lnSpc>
                <a:spcPct val="103000"/>
              </a:lnSpc>
              <a:spcAft>
                <a:spcPts val="300"/>
              </a:spcAft>
              <a:defRPr sz="810">
                <a:solidFill>
                  <a:srgbClr val="21242A"/>
                </a:solidFill>
                <a:latin typeface="Microsoft YaHei"/>
              </a:defRPr>
            </a:pPr>
            <a:r>
              <a:t>适应症：弥漫性大B细胞淋巴瘤、经典型霍奇金淋巴瘤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研究主题：circulating tumor dna reveals lymphoma-associated mutations long before clinical diagnosis</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循环肿瘤dna在临床诊断之前很久就揭示了淋巴瘤相关突变</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circulating tumor dna reveals lymphoma-associated mutations long before clini...</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ctDNA检出率</a:t>
                      </a:r>
                    </a:p>
                  </a:txBody>
                  <a:tcPr>
                    <a:solidFill>
                      <a:srgbClr val="F6F8FB"/>
                    </a:solidFill>
                  </a:tcPr>
                </a:tc>
                <a:tc>
                  <a:txBody>
                    <a:bodyPr wrap="square" lIns="36576" rIns="36576" tIns="18288" bIns="18288"/>
                    <a:lstStyle/>
                    <a:p>
                      <a:r>
                        <a:rPr sz="720" b="0">
                          <a:solidFill>
                            <a:srgbClr val="21242A"/>
                          </a:solidFill>
                          <a:latin typeface="Microsoft YaHei"/>
                        </a:rPr>
                        <a:t>31/46 (67%) 的病例在诊断前血浆中检出ctDNA</a:t>
                      </a:r>
                    </a:p>
                  </a:txBody>
                  <a:tcPr>
                    <a:solidFill>
                      <a:srgbClr val="F6F8FB"/>
                    </a:solidFill>
                  </a:tcPr>
                </a:tc>
              </a:tr>
              <a:tr h="376428">
                <a:tc>
                  <a:txBody>
                    <a:bodyPr wrap="square" lIns="36576" rIns="36576" tIns="18288" bIns="18288"/>
                    <a:lstStyle/>
                    <a:p>
                      <a:r>
                        <a:rPr sz="720" b="1">
                          <a:solidFill>
                            <a:srgbClr val="21242A"/>
                          </a:solidFill>
                          <a:latin typeface="Microsoft YaHei"/>
                        </a:rPr>
                        <a:t>DLBCL</a:t>
                      </a:r>
                    </a:p>
                  </a:txBody>
                  <a:tcPr>
                    <a:solidFill>
                      <a:srgbClr val="FFFFFF"/>
                    </a:solidFill>
                  </a:tcPr>
                </a:tc>
                <a:tc>
                  <a:txBody>
                    <a:bodyPr wrap="square" lIns="36576" rIns="36576" tIns="18288" bIns="18288"/>
                    <a:lstStyle/>
                    <a:p>
                      <a:r>
                        <a:rPr sz="720" b="0">
                          <a:solidFill>
                            <a:srgbClr val="21242A"/>
                          </a:solidFill>
                          <a:latin typeface="Microsoft YaHei"/>
                        </a:rPr>
                        <a:t>13/33 (39%) 通过肿瘤信息指导的SNV检出ctDNA；20/33 (61%) 通过MNV检出ctDNA</a:t>
                      </a:r>
                    </a:p>
                  </a:txBody>
                  <a:tcPr>
                    <a:solidFill>
                      <a:srgbClr val="FFFFFF"/>
                    </a:solidFill>
                  </a:tcPr>
                </a:tc>
              </a:tr>
              <a:tr h="376428">
                <a:tc>
                  <a:txBody>
                    <a:bodyPr wrap="square" lIns="36576" rIns="36576" tIns="18288" bIns="18288"/>
                    <a:lstStyle/>
                    <a:p>
                      <a:r>
                        <a:rPr sz="720" b="1">
                          <a:solidFill>
                            <a:srgbClr val="21242A"/>
                          </a:solidFill>
                          <a:latin typeface="Microsoft YaHei"/>
                        </a:rPr>
                        <a:t>cHL</a:t>
                      </a:r>
                    </a:p>
                  </a:txBody>
                  <a:tcPr>
                    <a:solidFill>
                      <a:srgbClr val="F6F8FB"/>
                    </a:solidFill>
                  </a:tcPr>
                </a:tc>
                <a:tc>
                  <a:txBody>
                    <a:bodyPr wrap="square" lIns="36576" rIns="36576" tIns="18288" bIns="18288"/>
                    <a:lstStyle/>
                    <a:p>
                      <a:r>
                        <a:rPr sz="720" b="0">
                          <a:solidFill>
                            <a:srgbClr val="21242A"/>
                          </a:solidFill>
                          <a:latin typeface="Microsoft YaHei"/>
                        </a:rPr>
                        <a:t>9/13 (69%) 通过MNV检出ctDNA</a:t>
                      </a:r>
                    </a:p>
                  </a:txBody>
                  <a:tcPr>
                    <a:solidFill>
                      <a:srgbClr val="F6F8FB"/>
                    </a:solidFill>
                  </a:tcPr>
                </a:tc>
              </a:tr>
              <a:tr h="376428">
                <a:tc>
                  <a:txBody>
                    <a:bodyPr wrap="square" lIns="36576" rIns="36576" tIns="18288" bIns="18288"/>
                    <a:lstStyle/>
                    <a:p>
                      <a:r>
                        <a:rPr sz="720" b="1">
                          <a:solidFill>
                            <a:srgbClr val="21242A"/>
                          </a:solidFill>
                          <a:latin typeface="Microsoft YaHei"/>
                        </a:rPr>
                        <a:t>最早检出时间</a:t>
                      </a:r>
                    </a:p>
                  </a:txBody>
                  <a:tcPr>
                    <a:solidFill>
                      <a:srgbClr val="FFFFFF"/>
                    </a:solidFill>
                  </a:tcPr>
                </a:tc>
                <a:tc>
                  <a:txBody>
                    <a:bodyPr wrap="square" lIns="36576" rIns="36576" tIns="18288" bIns="18288"/>
                    <a:lstStyle/>
                    <a:p>
                      <a:r>
                        <a:rPr sz="720" b="0">
                          <a:solidFill>
                            <a:srgbClr val="21242A"/>
                          </a:solidFill>
                          <a:latin typeface="Microsoft YaHei"/>
                        </a:rPr>
                        <a:t>DLBCL诊断前106个月，cHL诊断前55个月；</a:t>
                      </a:r>
                    </a:p>
                  </a:txBody>
                  <a:tcPr>
                    <a:solidFill>
                      <a:srgbClr val="FFFFFF"/>
                    </a:solidFill>
                  </a:tcPr>
                </a:tc>
              </a:tr>
              <a:tr h="37642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cHL中ctDNA水平与sTARC强相关（r=0.86）</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摘要号：S256</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预测全身弥漫性大b细胞淋巴瘤和原发性中枢神经系统淋巴瘤自体造血细胞移植后复发的因素：一项芬兰多中心研究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factors predicting relapse after autologous hematopoietic cell transplantatio...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PS2247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23500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602736"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77740"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中枢神经系统淋巴瘤，弥漫性大B细胞淋巴瘤</a:t>
            </a:r>
          </a:p>
          <a:p>
            <a:pPr>
              <a:lnSpc>
                <a:spcPct val="103000"/>
              </a:lnSpc>
              <a:spcAft>
                <a:spcPts val="300"/>
              </a:spcAft>
              <a:defRPr sz="800">
                <a:solidFill>
                  <a:srgbClr val="21242A"/>
                </a:solidFill>
                <a:latin typeface="Microsoft YaHei"/>
              </a:defRPr>
            </a:pPr>
            <a:r>
              <a:t>N=159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回顾性临床研究结果：factors predicting relapse after autologous hematopoi...</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DLBCL患者：LDH升高与复发风险HR=3.75 (95% CI 1.46-9.59, p=0.006)</a:t>
            </a:r>
          </a:p>
          <a:p>
            <a:pPr>
              <a:lnSpc>
                <a:spcPct val="103000"/>
              </a:lnSpc>
              <a:spcAft>
                <a:spcPts val="300"/>
              </a:spcAft>
              <a:defRPr sz="800">
                <a:solidFill>
                  <a:srgbClr val="21242A"/>
                </a:solidFill>
                <a:latin typeface="Microsoft YaHei"/>
              </a:defRPr>
            </a:pPr>
            <a:r>
              <a:t>DLBCL患者：≥2个结外病灶与复发风险HR=2.89 (95% CI 1.21-6.91, p=0.017)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人数：159</a:t>
            </a:r>
          </a:p>
          <a:p>
            <a:pPr>
              <a:lnSpc>
                <a:spcPct val="103000"/>
              </a:lnSpc>
              <a:spcAft>
                <a:spcPts val="300"/>
              </a:spcAft>
              <a:defRPr sz="810">
                <a:solidFill>
                  <a:srgbClr val="21242A"/>
                </a:solidFill>
                <a:latin typeface="Microsoft YaHei"/>
              </a:defRPr>
            </a:pPr>
            <a:r>
              <a:t>适应症：中枢神经系统淋巴瘤、弥漫性大B细胞淋巴瘤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研究主题：factors predicting relapse after autologous hematopoietic cell transplantation in systemic diffuse large b-cell lymphom...</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预测全身弥漫性大b细胞淋巴瘤和原发性中枢神经系统淋巴瘤自体造血细胞移植后复发的因素：一项芬兰多中心研究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factors predicting relapse after autologous hematopoietic cell transplantatio...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PS2247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23500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602736"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777740"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2265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22652">
                <a:tc>
                  <a:txBody>
                    <a:bodyPr wrap="square" lIns="36576" rIns="36576" tIns="18288" bIns="18288"/>
                    <a:lstStyle/>
                    <a:p>
                      <a:r>
                        <a:rPr sz="720" b="1">
                          <a:solidFill>
                            <a:srgbClr val="21242A"/>
                          </a:solidFill>
                          <a:latin typeface="Microsoft YaHei"/>
                        </a:rPr>
                        <a:t>DLBCL患者</a:t>
                      </a:r>
                    </a:p>
                  </a:txBody>
                  <a:tcPr>
                    <a:solidFill>
                      <a:srgbClr val="F6F8FB"/>
                    </a:solidFill>
                  </a:tcPr>
                </a:tc>
                <a:tc>
                  <a:txBody>
                    <a:bodyPr wrap="square" lIns="36576" rIns="36576" tIns="18288" bIns="18288"/>
                    <a:lstStyle/>
                    <a:p>
                      <a:r>
                        <a:rPr sz="720" b="0">
                          <a:solidFill>
                            <a:srgbClr val="21242A"/>
                          </a:solidFill>
                          <a:latin typeface="Microsoft YaHei"/>
                        </a:rPr>
                        <a:t>LDH升高与复发风险HR=3.75 (95% CI 1.46-9.59, p=0.006)</a:t>
                      </a:r>
                    </a:p>
                  </a:txBody>
                  <a:tcPr>
                    <a:solidFill>
                      <a:srgbClr val="F6F8FB"/>
                    </a:solidFill>
                  </a:tcPr>
                </a:tc>
              </a:tr>
              <a:tr h="322652">
                <a:tc>
                  <a:txBody>
                    <a:bodyPr wrap="square" lIns="36576" rIns="36576" tIns="18288" bIns="18288"/>
                    <a:lstStyle/>
                    <a:p>
                      <a:r>
                        <a:rPr sz="720" b="1">
                          <a:solidFill>
                            <a:srgbClr val="21242A"/>
                          </a:solidFill>
                          <a:latin typeface="Microsoft YaHei"/>
                        </a:rPr>
                        <a:t>DLBCL患者</a:t>
                      </a:r>
                    </a:p>
                  </a:txBody>
                  <a:tcPr>
                    <a:solidFill>
                      <a:srgbClr val="FFFFFF"/>
                    </a:solidFill>
                  </a:tcPr>
                </a:tc>
                <a:tc>
                  <a:txBody>
                    <a:bodyPr wrap="square" lIns="36576" rIns="36576" tIns="18288" bIns="18288"/>
                    <a:lstStyle/>
                    <a:p>
                      <a:r>
                        <a:rPr sz="720" b="0">
                          <a:solidFill>
                            <a:srgbClr val="21242A"/>
                          </a:solidFill>
                          <a:latin typeface="Microsoft YaHei"/>
                        </a:rPr>
                        <a:t>≥2个结外病灶与复发风险HR=2.89 (95% CI 1.21-6.91, p=0.017)</a:t>
                      </a:r>
                    </a:p>
                  </a:txBody>
                  <a:tcPr>
                    <a:solidFill>
                      <a:srgbClr val="FFFFFF"/>
                    </a:solidFill>
                  </a:tcPr>
                </a:tc>
              </a:tr>
              <a:tr h="322652">
                <a:tc>
                  <a:txBody>
                    <a:bodyPr wrap="square" lIns="36576" rIns="36576" tIns="18288" bIns="18288"/>
                    <a:lstStyle/>
                    <a:p>
                      <a:r>
                        <a:rPr sz="720" b="1">
                          <a:solidFill>
                            <a:srgbClr val="21242A"/>
                          </a:solidFill>
                          <a:latin typeface="Microsoft YaHei"/>
                        </a:rPr>
                        <a:t>DLBCL患者</a:t>
                      </a:r>
                    </a:p>
                  </a:txBody>
                  <a:tcPr>
                    <a:solidFill>
                      <a:srgbClr val="F6F8FB"/>
                    </a:solidFill>
                  </a:tcPr>
                </a:tc>
                <a:tc>
                  <a:txBody>
                    <a:bodyPr wrap="square" lIns="36576" rIns="36576" tIns="18288" bIns="18288"/>
                    <a:lstStyle/>
                    <a:p>
                      <a:r>
                        <a:rPr sz="720" b="0">
                          <a:solidFill>
                            <a:srgbClr val="21242A"/>
                          </a:solidFill>
                          <a:latin typeface="Microsoft YaHei"/>
                        </a:rPr>
                        <a:t>AHCT前PR与复发风险HR=1.97 (95% CI 1.02-3.80, p=0.042)</a:t>
                      </a:r>
                    </a:p>
                  </a:txBody>
                  <a:tcPr>
                    <a:solidFill>
                      <a:srgbClr val="F6F8FB"/>
                    </a:solidFill>
                  </a:tcPr>
                </a:tc>
              </a:tr>
              <a:tr h="322652">
                <a:tc>
                  <a:txBody>
                    <a:bodyPr wrap="square" lIns="36576" rIns="36576" tIns="18288" bIns="18288"/>
                    <a:lstStyle/>
                    <a:p>
                      <a:r>
                        <a:rPr sz="720" b="1">
                          <a:solidFill>
                            <a:srgbClr val="21242A"/>
                          </a:solidFill>
                          <a:latin typeface="Microsoft YaHei"/>
                        </a:rPr>
                        <a:t>PCNSL患者</a:t>
                      </a:r>
                    </a:p>
                  </a:txBody>
                  <a:tcPr>
                    <a:solidFill>
                      <a:srgbClr val="FFFFFF"/>
                    </a:solidFill>
                  </a:tcPr>
                </a:tc>
                <a:tc>
                  <a:txBody>
                    <a:bodyPr wrap="square" lIns="36576" rIns="36576" tIns="18288" bIns="18288"/>
                    <a:lstStyle/>
                    <a:p>
                      <a:r>
                        <a:rPr sz="720" b="0">
                          <a:solidFill>
                            <a:srgbClr val="21242A"/>
                          </a:solidFill>
                          <a:latin typeface="Microsoft YaHei"/>
                        </a:rPr>
                        <a:t>动员前PR vs CR的复发风险HR=15.06 (95% CI 1.08-210.62, p=0.044)</a:t>
                      </a:r>
                    </a:p>
                  </a:txBody>
                  <a:tcPr>
                    <a:solidFill>
                      <a:srgbClr val="FFFFFF"/>
                    </a:solidFill>
                  </a:tcPr>
                </a:tc>
              </a:tr>
              <a:tr h="322652">
                <a:tc>
                  <a:txBody>
                    <a:bodyPr wrap="square" lIns="36576" rIns="36576" tIns="18288" bIns="18288"/>
                    <a:lstStyle/>
                    <a:p>
                      <a:r>
                        <a:rPr sz="720" b="1">
                          <a:solidFill>
                            <a:srgbClr val="21242A"/>
                          </a:solidFill>
                          <a:latin typeface="Microsoft YaHei"/>
                        </a:rPr>
                        <a:t>基于以上三个因素的风险评分</a:t>
                      </a:r>
                    </a:p>
                  </a:txBody>
                  <a:tcPr>
                    <a:solidFill>
                      <a:srgbClr val="F6F8FB"/>
                    </a:solidFill>
                  </a:tcPr>
                </a:tc>
                <a:tc>
                  <a:txBody>
                    <a:bodyPr wrap="square" lIns="36576" rIns="36576" tIns="18288" bIns="18288"/>
                    <a:lstStyle/>
                    <a:p>
                      <a:r>
                        <a:rPr sz="720" b="0">
                          <a:solidFill>
                            <a:srgbClr val="21242A"/>
                          </a:solidFill>
                          <a:latin typeface="Microsoft YaHei"/>
                        </a:rPr>
                        <a:t>低危组5年RFS 84.9%，中危组64.4%，高危组47.5% (p=0.006)</a:t>
                      </a:r>
                    </a:p>
                  </a:txBody>
                  <a:tcPr>
                    <a:solidFill>
                      <a:srgbClr val="F6F8FB"/>
                    </a:solidFill>
                  </a:tcPr>
                </a:tc>
              </a:tr>
              <a:tr h="322656">
                <a:tc>
                  <a:txBody>
                    <a:bodyPr wrap="square" lIns="36576" rIns="36576" tIns="18288" bIns="18288"/>
                    <a:lstStyle/>
                    <a:p>
                      <a:r>
                        <a:rPr sz="720" b="1">
                          <a:solidFill>
                            <a:srgbClr val="21242A"/>
                          </a:solidFill>
                          <a:latin typeface="Microsoft YaHei"/>
                        </a:rPr>
                        <a:t>早期复发患者中</a:t>
                      </a:r>
                    </a:p>
                  </a:txBody>
                  <a:tcPr>
                    <a:solidFill>
                      <a:srgbClr val="FFFFFF"/>
                    </a:solidFill>
                  </a:tcPr>
                </a:tc>
                <a:tc>
                  <a:txBody>
                    <a:bodyPr wrap="square" lIns="36576" rIns="36576" tIns="18288" bIns="18288"/>
                    <a:lstStyle/>
                    <a:p>
                      <a:r>
                        <a:rPr sz="720" b="0">
                          <a:solidFill>
                            <a:srgbClr val="21242A"/>
                          </a:solidFill>
                          <a:latin typeface="Microsoft YaHei"/>
                        </a:rPr>
                        <a:t>低危组5年RFS 89.7%，中危组71.4%，高危组48.5% (p=0.007)</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摘要号：PS2247</a:t>
            </a:r>
          </a:p>
          <a:p>
            <a:pPr>
              <a:lnSpc>
                <a:spcPct val="103000"/>
              </a:lnSpc>
              <a:spcAft>
                <a:spcPts val="300"/>
              </a:spcAft>
              <a:defRPr sz="740">
                <a:solidFill>
                  <a:srgbClr val="5E6570"/>
                </a:solidFill>
                <a:latin typeface="Microsoft YaHei"/>
              </a:defRPr>
            </a:pPr>
            <a:r>
              <a:t>会议栏目：23. Stem cell transplantation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弥漫性大b细胞淋巴瘤肠道生态失调模式的系统评价和荟萃分析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microbiome-lymphoma axis: a systematic review and meta-analysis of gut dy...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PS2206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N=4087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回顾性临床研究结果：the microbiome-lymphoma axis: a systematic review and...</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This first comprehensive synthesis identifies a reproducible sp...</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人数：4087</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研究主题：the microbiome-lymphoma axis: a systematic review and meta-analysis of gut dysbiosis pattern in diffuse large b-cell ly...</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弥漫性大b细胞淋巴瘤肠道生态失调模式的系统评价和荟萃分析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microbiome-lymphoma axis: a systematic review and meta-analysis of gut dy...</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PS2206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This first comprehensive synthesis identifies a reproducible species-level microbial signature in DLBCL characterized </a:t>
            </a:r>
          </a:p>
          <a:p>
            <a:pPr>
              <a:lnSpc>
                <a:spcPct val="103000"/>
              </a:lnSpc>
              <a:spcAft>
                <a:spcPts val="300"/>
              </a:spcAft>
              <a:defRPr sz="819">
                <a:solidFill>
                  <a:srgbClr val="21242A"/>
                </a:solidFill>
                <a:latin typeface="Microsoft YaHei"/>
              </a:defRPr>
            </a:pPr>
            <a:r>
              <a:t>by loss of beneficial taxa and enrichment of pro-tumorigenic microbes.</a:t>
            </a:r>
          </a:p>
          <a:p>
            <a:pPr>
              <a:lnSpc>
                <a:spcPct val="103000"/>
              </a:lnSpc>
              <a:spcAft>
                <a:spcPts val="300"/>
              </a:spcAft>
              <a:defRPr sz="819">
                <a:solidFill>
                  <a:srgbClr val="21242A"/>
                </a:solidFill>
                <a:latin typeface="Microsoft YaHei"/>
              </a:defRPr>
            </a:pPr>
            <a:r>
              <a:t>These alterations may promote lymphomagenesis through inflammatory, metabolic, and immune-modulatory mechanisms.</a:t>
            </a:r>
          </a:p>
          <a:p>
            <a:pPr>
              <a:lnSpc>
                <a:spcPct val="103000"/>
              </a:lnSpc>
              <a:spcAft>
                <a:spcPts val="300"/>
              </a:spcAft>
              <a:defRPr sz="819">
                <a:solidFill>
                  <a:srgbClr val="21242A"/>
                </a:solidFill>
                <a:latin typeface="Microsoft YaHei"/>
              </a:defRPr>
            </a:pPr>
            <a:r>
              <a:t>Our findings highlight the gut microbiota as a latent biomarker source and therapeutic target, supporting microbiota-…</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摘要号：PS2206</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将tp53缺失和非整倍性与不同的弥漫性大b细胞淋巴瘤亚型叠加，可以细化肿瘤分类并增强风险分层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overlaying tp53 loss and aneuploidy with distinct diffuse large b-cell lympho...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PS2188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N=1123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回顾性临床研究结果：overlaying tp53 loss and aneuploidy with distinct dif...</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TP53+肿瘤的非整倍体评分显著高于TP53-肿瘤（p&lt;0.001）</a:t>
            </a:r>
          </a:p>
          <a:p>
            <a:pPr>
              <a:lnSpc>
                <a:spcPct val="103000"/>
              </a:lnSpc>
              <a:spcAft>
                <a:spcPts val="300"/>
              </a:spcAft>
              <a:defRPr sz="800">
                <a:solidFill>
                  <a:srgbClr val="21242A"/>
                </a:solidFill>
                <a:latin typeface="Microsoft YaHei"/>
              </a:defRPr>
            </a:pPr>
            <a:r>
              <a:t>TP53+/A+状态覆盖了大多数A53/C2亚型病例</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人数：1123</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研究主题：overlaying tp53 loss and aneuploidy with distinct diffuse large b-cell lymphoma subtypes refines tumor classification 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将tp53缺失和非整倍性与不同的弥漫性大b细胞淋巴瘤亚型叠加，可以细化肿瘤分类并增强风险分层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overlaying tp53 loss and aneuploidy with distinct diffuse large b-cell lympho...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PS2188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EHA原文结果（中文字段未通过数字核对）（1/3）</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TP53+ tumors had significantly higher aneuploidy scores than TP53− tumors (p /− and A+ /− statuses captured m</a:t>
            </a:r>
          </a:p>
          <a:p>
            <a:pPr>
              <a:lnSpc>
                <a:spcPct val="103000"/>
              </a:lnSpc>
              <a:spcAft>
                <a:spcPts val="300"/>
              </a:spcAft>
              <a:defRPr sz="819">
                <a:solidFill>
                  <a:srgbClr val="21242A"/>
                </a:solidFill>
                <a:latin typeface="Microsoft YaHei"/>
              </a:defRPr>
            </a:pPr>
            <a:r>
              <a:t>ost of the A53/C2 cases analyzed, demonstrating the ability of these two Lymphly statuses to delineate the sample comp</a:t>
            </a:r>
          </a:p>
          <a:p>
            <a:pPr>
              <a:lnSpc>
                <a:spcPct val="103000"/>
              </a:lnSpc>
              <a:spcAft>
                <a:spcPts val="300"/>
              </a:spcAft>
              <a:defRPr sz="819">
                <a:solidFill>
                  <a:srgbClr val="21242A"/>
                </a:solidFill>
                <a:latin typeface="Microsoft YaHei"/>
              </a:defRPr>
            </a:pPr>
            <a:r>
              <a:t>osition and underlying biology of the A53 and C2 subtypes.</a:t>
            </a:r>
          </a:p>
          <a:p>
            <a:pPr>
              <a:lnSpc>
                <a:spcPct val="103000"/>
              </a:lnSpc>
              <a:spcAft>
                <a:spcPts val="300"/>
              </a:spcAft>
              <a:defRPr sz="819">
                <a:solidFill>
                  <a:srgbClr val="21242A"/>
                </a:solidFill>
                <a:latin typeface="Microsoft YaHei"/>
              </a:defRPr>
            </a:pPr>
            <a:r>
              <a:t>\n Biologically, A+ tumors were enriched for the germinal center B-cell–like cell-of-origin (GCB COO), exhibited reduc</a:t>
            </a:r>
          </a:p>
          <a:p>
            <a:pPr>
              <a:lnSpc>
                <a:spcPct val="103000"/>
              </a:lnSpc>
              <a:spcAft>
                <a:spcPts val="300"/>
              </a:spcAft>
              <a:defRPr sz="819">
                <a:solidFill>
                  <a:srgbClr val="21242A"/>
                </a:solidFill>
                <a:latin typeface="Microsoft YaHei"/>
              </a:defRPr>
            </a:pPr>
            <a:r>
              <a:t>ed B-cell content, and showed altered DNA replication and repair programs.</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摘要号：PS2188</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将tp53缺失和非整倍性与不同的弥漫性大b细胞淋巴瘤亚型叠加，可以细化肿瘤分类并增强风险分层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overlaying tp53 loss and aneuploidy with distinct diffuse large b-cell lympho...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PS2188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EHA原文结果（中文字段未通过数字核对）（2/3）</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Clinically, TP53+ was associated with primary refractoriness and inferior survival, whereas A+ was associated with imp</a:t>
            </a:r>
          </a:p>
          <a:p>
            <a:pPr>
              <a:lnSpc>
                <a:spcPct val="103000"/>
              </a:lnSpc>
              <a:spcAft>
                <a:spcPts val="300"/>
              </a:spcAft>
              <a:defRPr sz="819">
                <a:solidFill>
                  <a:srgbClr val="21242A"/>
                </a:solidFill>
                <a:latin typeface="Microsoft YaHei"/>
              </a:defRPr>
            </a:pPr>
            <a:r>
              <a:t>roved prognosis, particularly among TP53+ tumors.</a:t>
            </a:r>
          </a:p>
          <a:p>
            <a:pPr>
              <a:lnSpc>
                <a:spcPct val="103000"/>
              </a:lnSpc>
              <a:spcAft>
                <a:spcPts val="300"/>
              </a:spcAft>
              <a:defRPr sz="819">
                <a:solidFill>
                  <a:srgbClr val="21242A"/>
                </a:solidFill>
                <a:latin typeface="Microsoft YaHei"/>
              </a:defRPr>
            </a:pPr>
            <a:r>
              <a:t>Summary/Conclusion: TP53 loss and high aneuploidy represent independent and clinically meaningful genomic dimensions i</a:t>
            </a:r>
          </a:p>
          <a:p>
            <a:pPr>
              <a:lnSpc>
                <a:spcPct val="103000"/>
              </a:lnSpc>
              <a:spcAft>
                <a:spcPts val="300"/>
              </a:spcAft>
              <a:defRPr sz="819">
                <a:solidFill>
                  <a:srgbClr val="21242A"/>
                </a:solidFill>
                <a:latin typeface="Microsoft YaHei"/>
              </a:defRPr>
            </a:pPr>
            <a:r>
              <a:t>n DLBCL, in addition to Lymphly subtypes.</a:t>
            </a:r>
          </a:p>
          <a:p>
            <a:pPr>
              <a:lnSpc>
                <a:spcPct val="103000"/>
              </a:lnSpc>
              <a:spcAft>
                <a:spcPts val="300"/>
              </a:spcAft>
              <a:defRPr sz="819">
                <a:solidFill>
                  <a:srgbClr val="21242A"/>
                </a:solidFill>
                <a:latin typeface="Microsoft YaHei"/>
              </a:defRPr>
            </a:pPr>
            <a:r>
              <a:t>Their integration into Lymphly refines the existing A53/C2 classification and improves risk stratification based on bi</a:t>
            </a:r>
          </a:p>
          <a:p>
            <a:pPr>
              <a:lnSpc>
                <a:spcPct val="103000"/>
              </a:lnSpc>
              <a:spcAft>
                <a:spcPts val="300"/>
              </a:spcAft>
              <a:defRPr sz="819">
                <a:solidFill>
                  <a:srgbClr val="21242A"/>
                </a:solidFill>
                <a:latin typeface="Microsoft YaHei"/>
              </a:defRPr>
            </a:pPr>
            <a:r>
              <a:t>ologically grounded, actionable insights.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将tp53缺失和非整倍性与不同的弥漫性大b细胞淋巴瘤亚型叠加，可以细化肿瘤分类并增强风险分层</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overlaying tp53 loss and aneuploidy with distinct diffuse large b-cell lympho...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PS2188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EHA原文结果（中文字段未通过数字核对）（3/3）</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Our findings provide a robust framework for patient stratification based on genomic features, offering potential benef</a:t>
            </a:r>
          </a:p>
          <a:p>
            <a:pPr>
              <a:lnSpc>
                <a:spcPct val="103000"/>
              </a:lnSpc>
              <a:spcAft>
                <a:spcPts val="300"/>
              </a:spcAft>
              <a:defRPr sz="819">
                <a:solidFill>
                  <a:srgbClr val="21242A"/>
                </a:solidFill>
                <a:latin typeface="Microsoft YaHei"/>
              </a:defRPr>
            </a:pPr>
            <a:r>
              <a:t>its for trial design, patient selection, and treatment decision-making.</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美国学术项目与社区项目治疗的老年dlbcl患者的10年生存率差异分析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differences in outcomes for elderly patients with dlbcl treated at american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PS2142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N=103671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分组：学术癌症项目组（ACP）</a:t>
            </a:r>
          </a:p>
          <a:p>
            <a:pPr>
              <a:lnSpc>
                <a:spcPct val="103000"/>
              </a:lnSpc>
              <a:spcAft>
                <a:spcPts val="300"/>
              </a:spcAft>
              <a:defRPr sz="800">
                <a:solidFill>
                  <a:srgbClr val="21242A"/>
                </a:solidFill>
                <a:latin typeface="Microsoft YaHei"/>
              </a:defRPr>
            </a:pPr>
            <a:r>
              <a:t>社区癌症项目组（CCP）</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多组/多方案比较：学术癌症项目组（ACP）</a:t>
            </a:r>
          </a:p>
          <a:p>
            <a:pPr>
              <a:lnSpc>
                <a:spcPct val="103000"/>
              </a:lnSpc>
              <a:spcAft>
                <a:spcPts val="300"/>
              </a:spcAft>
              <a:defRPr sz="800">
                <a:solidFill>
                  <a:srgbClr val="21242A"/>
                </a:solidFill>
                <a:latin typeface="Microsoft YaHei"/>
              </a:defRPr>
            </a:pPr>
            <a:r>
              <a:t>社区癌症项目组（CCP）</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中位总生存期（OS）：ACP组1.79年 vs CCP组1.50年</a:t>
            </a:r>
          </a:p>
          <a:p>
            <a:pPr>
              <a:lnSpc>
                <a:spcPct val="103000"/>
              </a:lnSpc>
              <a:spcAft>
                <a:spcPts val="300"/>
              </a:spcAft>
              <a:defRPr sz="800">
                <a:solidFill>
                  <a:srgbClr val="21242A"/>
                </a:solidFill>
                <a:latin typeface="Microsoft YaHei"/>
              </a:defRPr>
            </a:pPr>
            <a:r>
              <a:t>2年OS率：ACP组49% [CI: 0.48,0.49] vs CCP组46% [CI: 0.459,0.468]</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人数：103671</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分组/治疗流程：学术癌症项目组（ACP）、社区癌症项目组（CCP）</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美国学术项目与社区项目治疗的老年dlbcl患者的10年生存率差异分析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differences in outcomes for elderly patients with dlbcl treated at american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PS2142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EHA原文结果（中文字段未通过数字核对）（1/4）</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Patients in ACP and CCP were mostly females with a median age of 81 years.</a:t>
            </a:r>
          </a:p>
          <a:p>
            <a:pPr>
              <a:lnSpc>
                <a:spcPct val="103000"/>
              </a:lnSpc>
              <a:spcAft>
                <a:spcPts val="300"/>
              </a:spcAft>
              <a:defRPr sz="819">
                <a:solidFill>
                  <a:srgbClr val="21242A"/>
                </a:solidFill>
                <a:latin typeface="Microsoft YaHei"/>
              </a:defRPr>
            </a:pPr>
            <a:r>
              <a:t>For both cohorts the majority were non-Hispanics and Whites; however, for ACP it was noted a higher rate of Hispanics </a:t>
            </a:r>
          </a:p>
          <a:p>
            <a:pPr>
              <a:lnSpc>
                <a:spcPct val="103000"/>
              </a:lnSpc>
              <a:spcAft>
                <a:spcPts val="300"/>
              </a:spcAft>
              <a:defRPr sz="819">
                <a:solidFill>
                  <a:srgbClr val="21242A"/>
                </a:solidFill>
                <a:latin typeface="Microsoft YaHei"/>
              </a:defRPr>
            </a:pPr>
            <a:r>
              <a:t>(6% vs 5%) and Blacks (5% vs 3%) compared to CCP.</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摘要号：PS2142</a:t>
            </a:r>
          </a:p>
          <a:p>
            <a:pPr>
              <a:lnSpc>
                <a:spcPct val="103000"/>
              </a:lnSpc>
              <a:spcAft>
                <a:spcPts val="300"/>
              </a:spcAft>
              <a:defRPr sz="740">
                <a:solidFill>
                  <a:srgbClr val="5E6570"/>
                </a:solidFill>
                <a:latin typeface="Microsoft YaHei"/>
              </a:defRPr>
            </a:pPr>
            <a:r>
              <a:t>会议栏目：20. Other aggressive lymphomas</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美国学术项目与社区项目治疗的老年dlbcl患者的10年生存率差异分析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differences in outcomes for elderly patients with dlbcl treated at american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PS2142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Most of the patients in both groups were from the Metropolitan area, but the median distance in miles for ACP was 9.0 </a:t>
            </a:r>
          </a:p>
          <a:p>
            <a:pPr>
              <a:lnSpc>
                <a:spcPct val="103000"/>
              </a:lnSpc>
              <a:spcAft>
                <a:spcPts val="300"/>
              </a:spcAft>
              <a:defRPr sz="819">
                <a:solidFill>
                  <a:srgbClr val="21242A"/>
                </a:solidFill>
                <a:latin typeface="Microsoft YaHei"/>
              </a:defRPr>
            </a:pPr>
            <a:r>
              <a:t>vs 7.4 in CCP.Treatment rates were higher for ACP vs community settings (63% vs 59%, p Better OS was noted in elderly </a:t>
            </a:r>
          </a:p>
          <a:p>
            <a:pPr>
              <a:lnSpc>
                <a:spcPct val="103000"/>
              </a:lnSpc>
              <a:spcAft>
                <a:spcPts val="300"/>
              </a:spcAft>
              <a:defRPr sz="819">
                <a:solidFill>
                  <a:srgbClr val="21242A"/>
                </a:solidFill>
                <a:latin typeface="Microsoft YaHei"/>
              </a:defRPr>
            </a:pPr>
            <a:r>
              <a:t>patients treated at ACP, p The median OS for ACP was of 1.79 years vs 1.50 years at CCP, which was consistent with a l</a:t>
            </a:r>
          </a:p>
          <a:p>
            <a:pPr>
              <a:lnSpc>
                <a:spcPct val="103000"/>
              </a:lnSpc>
              <a:spcAft>
                <a:spcPts val="300"/>
              </a:spcAft>
              <a:defRPr sz="819">
                <a:solidFill>
                  <a:srgbClr val="21242A"/>
                </a:solidFill>
                <a:latin typeface="Microsoft YaHei"/>
              </a:defRPr>
            </a:pPr>
            <a:r>
              <a:t>onger median follow up time of 17.7 months vs 14.1, p 2-year OS rates of 49% at ACP [CI: 0.48,0.49] vs 46% at CCP [CI:</a:t>
            </a:r>
          </a:p>
          <a:p>
            <a:pPr>
              <a:lnSpc>
                <a:spcPct val="103000"/>
              </a:lnSpc>
              <a:spcAft>
                <a:spcPts val="300"/>
              </a:spcAft>
              <a:defRPr sz="819">
                <a:solidFill>
                  <a:srgbClr val="21242A"/>
                </a:solidFill>
                <a:latin typeface="Microsoft YaHei"/>
              </a:defRPr>
            </a:pPr>
            <a:r>
              <a:t> 0.459,0.468] , 5-year OS of 34% [CI: 0.336,0.346] vs 32% [CI: 0.317,0.327] , and 10-year OS of 16% [CI: 0.154,0.164] </a:t>
            </a:r>
          </a:p>
          <a:p>
            <a:pPr>
              <a:lnSpc>
                <a:spcPct val="103000"/>
              </a:lnSpc>
              <a:spcAft>
                <a:spcPts val="300"/>
              </a:spcAft>
              <a:defRPr sz="819">
                <a:solidFill>
                  <a:srgbClr val="21242A"/>
                </a:solidFill>
                <a:latin typeface="Microsoft YaHei"/>
              </a:defRPr>
            </a:pPr>
            <a:r>
              <a:t>vs 15% [CI: 0.142,0.151] , res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美国学术项目与社区项目治疗的老年dlbcl患者的10年生存率差异分析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differences in outcomes for elderly patients with dlbcl treated at american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PS2142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pectively.</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美国学术项目与社区项目治疗的老年dlbcl患者的10年生存率差异分析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differences in outcomes for elderly patients with dlbcl treated at american 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PS2142</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Summary/Conclusion: Among patients aged ≥75 years with DLBCL, OS differed by treatment facility type, with a statistic</a:t>
            </a:r>
          </a:p>
          <a:p>
            <a:pPr>
              <a:lnSpc>
                <a:spcPct val="103000"/>
              </a:lnSpc>
              <a:spcAft>
                <a:spcPts val="300"/>
              </a:spcAft>
              <a:defRPr sz="819">
                <a:solidFill>
                  <a:srgbClr val="21242A"/>
                </a:solidFill>
                <a:latin typeface="Microsoft YaHei"/>
              </a:defRPr>
            </a:pPr>
            <a:r>
              <a:t>ally significant but modest survival advantage observed among patients treated at ACP compared with CCP (log-rank p</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早期弥漫性大b细胞淋巴瘤的结外浸润和位点特异性生存：一项基于人群的研究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extranodal involvement and site-specific survival in early-stage diffuse larg...</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N=3804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回顾性临床研究结果：extranodal involvement and site-specific survival in...</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总生存期（OS）：结外疾病组5年OS为69%，结内疾病组为71%，p=0.072，无显著差异</a:t>
            </a:r>
          </a:p>
          <a:p>
            <a:pPr>
              <a:lnSpc>
                <a:spcPct val="103000"/>
              </a:lnSpc>
              <a:spcAft>
                <a:spcPts val="300"/>
              </a:spcAft>
              <a:defRPr sz="800">
                <a:solidFill>
                  <a:srgbClr val="21242A"/>
                </a:solidFill>
                <a:latin typeface="Microsoft YaHei"/>
              </a:defRPr>
            </a:pPr>
            <a:r>
              <a:t>调整后风险比（HR）=1.08，95%CI 0.96-1.2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人数：3804</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研究主题：extranodal involvement and site-specific survival in early-stage diffuse large b-cell lymphoma: a population-based study</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早期弥漫性大b细胞淋巴瘤的结外浸润和位点特异性生存：一项基于人群的研究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extranodal involvement and site-specific survival in early-stage diffuse larg...</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56464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564642">
                <a:tc>
                  <a:txBody>
                    <a:bodyPr wrap="square" lIns="36576" rIns="36576" tIns="18288" bIns="18288"/>
                    <a:lstStyle/>
                    <a:p>
                      <a:r>
                        <a:rPr sz="720" b="1">
                          <a:solidFill>
                            <a:srgbClr val="21242A"/>
                          </a:solidFill>
                          <a:latin typeface="Microsoft YaHei"/>
                        </a:rPr>
                        <a:t>总生存期（OS）</a:t>
                      </a:r>
                    </a:p>
                  </a:txBody>
                  <a:tcPr>
                    <a:solidFill>
                      <a:srgbClr val="F6F8FB"/>
                    </a:solidFill>
                  </a:tcPr>
                </a:tc>
                <a:tc>
                  <a:txBody>
                    <a:bodyPr wrap="square" lIns="36576" rIns="36576" tIns="18288" bIns="18288"/>
                    <a:lstStyle/>
                    <a:p>
                      <a:r>
                        <a:rPr sz="720" b="0">
                          <a:solidFill>
                            <a:srgbClr val="21242A"/>
                          </a:solidFill>
                          <a:latin typeface="Microsoft YaHei"/>
                        </a:rPr>
                        <a:t>结外疾病组5年OS为69%，结内疾病组为71%，p=0.072，无显著差异</a:t>
                      </a:r>
                    </a:p>
                  </a:txBody>
                  <a:tcPr>
                    <a:solidFill>
                      <a:srgbClr val="F6F8FB"/>
                    </a:solidFill>
                  </a:tcPr>
                </a:tc>
              </a:tr>
              <a:tr h="564642">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调整后风险比（HR）=1.08，95%CI 0.96-1.2</a:t>
                      </a:r>
                    </a:p>
                  </a:txBody>
                  <a:tcPr>
                    <a:solidFill>
                      <a:srgbClr val="FFFFFF"/>
                    </a:solidFill>
                  </a:tcPr>
                </a:tc>
              </a:tr>
              <a:tr h="564642">
                <a:tc>
                  <a:txBody>
                    <a:bodyPr wrap="square" lIns="36576" rIns="36576" tIns="18288" bIns="18288"/>
                    <a:lstStyle/>
                    <a:p>
                      <a:r>
                        <a:rPr sz="720" b="1">
                          <a:solidFill>
                            <a:srgbClr val="21242A"/>
                          </a:solidFill>
                          <a:latin typeface="Microsoft YaHei"/>
                        </a:rPr>
                        <a:t>不同结外部位OS差异</a:t>
                      </a:r>
                    </a:p>
                  </a:txBody>
                  <a:tcPr>
                    <a:solidFill>
                      <a:srgbClr val="F6F8FB"/>
                    </a:solidFill>
                  </a:tcPr>
                </a:tc>
                <a:tc>
                  <a:txBody>
                    <a:bodyPr wrap="square" lIns="36576" rIns="36576" tIns="18288" bIns="18288"/>
                    <a:lstStyle/>
                    <a:p>
                      <a:r>
                        <a:rPr sz="720" b="0">
                          <a:solidFill>
                            <a:srgbClr val="21242A"/>
                          </a:solidFill>
                          <a:latin typeface="Microsoft YaHei"/>
                        </a:rPr>
                        <a:t>皮肤5年OS最差（55%），骨5年OS最好（77%）</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摘要号：PS2073</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弥漫性大b细胞淋巴瘤的完全客观3变量预后评分：两个独立队列共776名患者的开发和外部验证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fully objective 3‑variable prognostic score for diffuse large b‑cell lympho...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N=776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回顾性临床研究结果：a fully objective 3‑variable prognostic score for dif...</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开发并外部验证了一个基于年龄&gt;75岁、白蛋白&lt;3.5g/dL和LDH&gt;正常上限的三变量预后评分。</a:t>
            </a:r>
          </a:p>
          <a:p>
            <a:pPr>
              <a:lnSpc>
                <a:spcPct val="103000"/>
              </a:lnSpc>
              <a:spcAft>
                <a:spcPts val="300"/>
              </a:spcAft>
              <a:defRPr sz="800">
                <a:solidFill>
                  <a:srgbClr val="21242A"/>
                </a:solidFill>
                <a:latin typeface="Microsoft YaHei"/>
              </a:defRPr>
            </a:pPr>
            <a:r>
              <a:t>该评分将患者分为低危、中危、高危组，在两个独立队列（训练集402例，验证集374例）中均展现出稳健的风险分层能力。</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人数：776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研究主题：a fully objective 3‑variable prognostic score for diffuse large b‑cell lymphoma: development and external validation in...</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弥漫性大b细胞淋巴瘤的完全客观3变量预后评分：两个独立队列共776名患者的开发和外部验证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fully objective 3‑variable prognostic score for diffuse large b‑cell lympho...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PF989</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开发并外部验证了一个基于年龄&gt;75岁、白蛋白&lt;3.5g/dL和LDH&gt;正常上限的三变量预后评分。该评分将患者分为低危、中危、高危组，在两个独立队列（训练集402例，验证集374例）中均展现出稳健的风险分层能力。</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摘要号：PF989</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原发性乳腺弥漫性大b细胞淋巴瘤的临床、遗传和免疫微环境特征：与淋巴结和免疫特权位点dlbcl的比较研究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clinical, genetic, and immune microenvironmental landscapes of primary breast...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N=703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回顾性临床研究结果：clinical, genetic, and immune microenvironmental land...</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中位年龄57岁</a:t>
            </a:r>
          </a:p>
          <a:p>
            <a:pPr>
              <a:lnSpc>
                <a:spcPct val="103000"/>
              </a:lnSpc>
              <a:spcAft>
                <a:spcPts val="300"/>
              </a:spcAft>
              <a:defRPr sz="800">
                <a:solidFill>
                  <a:srgbClr val="21242A"/>
                </a:solidFill>
                <a:latin typeface="Microsoft YaHei"/>
              </a:defRPr>
            </a:pPr>
            <a:r>
              <a:t>非GCB表型53.0%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人数：703</a:t>
            </a:r>
          </a:p>
          <a:p>
            <a:pPr>
              <a:lnSpc>
                <a:spcPct val="103000"/>
              </a:lnSpc>
              <a:spcAft>
                <a:spcPts val="300"/>
              </a:spcAft>
              <a:defRPr sz="810">
                <a:solidFill>
                  <a:srgbClr val="21242A"/>
                </a:solidFill>
                <a:latin typeface="Microsoft YaHei"/>
              </a:defRPr>
            </a:pPr>
            <a:r>
              <a:t>适应症：未提取</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研究主题：clinical, genetic, and immune microenvironmental landscapes of primary breast diffuse large b-cell lymphoma: a comparat...</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原发性乳腺弥漫性大b细胞淋巴瘤的临床、遗传和免疫微环境特征：与淋巴结和免疫特权位点dlbcl的比较研究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clinical, genetic, and immune microenvironmental landscapes of primary breast...</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S247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中位年龄57岁；非GCB表型53.0%；GCB表型26.1%；双侧乳腺受累4.4%；Ki-67&gt;80% 63.4%；PB-DLBCL中PIM1突变63%、SPEN突变46%、NOTCH2突变35%、CD79B突变33%、CREBBP突变33%、DNMT3A突变27%、MYD88突变24%</a:t>
                      </a:r>
                    </a:p>
                  </a:txBody>
                  <a:tcPr>
                    <a:solidFill>
                      <a:srgbClr val="F6F8FB"/>
                    </a:solidFill>
                  </a:tcPr>
                </a:tc>
              </a:tr>
              <a:tr h="376428">
                <a:tc>
                  <a:txBody>
                    <a:bodyPr wrap="square" lIns="36576" rIns="36576" tIns="18288" bIns="18288"/>
                    <a:lstStyle/>
                    <a:p>
                      <a:r>
                        <a:rPr sz="720" b="1">
                          <a:solidFill>
                            <a:srgbClr val="21242A"/>
                          </a:solidFill>
                          <a:latin typeface="Microsoft YaHei"/>
                        </a:rPr>
                        <a:t>TP53突变率</a:t>
                      </a:r>
                    </a:p>
                  </a:txBody>
                  <a:tcPr>
                    <a:solidFill>
                      <a:srgbClr val="FFFFFF"/>
                    </a:solidFill>
                  </a:tcPr>
                </a:tc>
                <a:tc>
                  <a:txBody>
                    <a:bodyPr wrap="square" lIns="36576" rIns="36576" tIns="18288" bIns="18288"/>
                    <a:lstStyle/>
                    <a:p>
                      <a:r>
                        <a:rPr sz="720" b="0">
                          <a:solidFill>
                            <a:srgbClr val="21242A"/>
                          </a:solidFill>
                          <a:latin typeface="Microsoft YaHei"/>
                        </a:rPr>
                        <a:t>nodal 29%、PB 14%、IP 9%</a:t>
                      </a:r>
                    </a:p>
                  </a:txBody>
                  <a:tcPr>
                    <a:solidFill>
                      <a:srgbClr val="FFFFFF"/>
                    </a:solidFill>
                  </a:tcPr>
                </a:tc>
              </a:tr>
              <a:tr h="376428">
                <a:tc>
                  <a:txBody>
                    <a:bodyPr wrap="square" lIns="36576" rIns="36576" tIns="18288" bIns="18288"/>
                    <a:lstStyle/>
                    <a:p>
                      <a:r>
                        <a:rPr sz="720" b="1">
                          <a:solidFill>
                            <a:srgbClr val="21242A"/>
                          </a:solidFill>
                          <a:latin typeface="Microsoft YaHei"/>
                        </a:rPr>
                        <a:t>PIM1突变率</a:t>
                      </a:r>
                    </a:p>
                  </a:txBody>
                  <a:tcPr>
                    <a:solidFill>
                      <a:srgbClr val="F6F8FB"/>
                    </a:solidFill>
                  </a:tcPr>
                </a:tc>
                <a:tc>
                  <a:txBody>
                    <a:bodyPr wrap="square" lIns="36576" rIns="36576" tIns="18288" bIns="18288"/>
                    <a:lstStyle/>
                    <a:p>
                      <a:r>
                        <a:rPr sz="720" b="0">
                          <a:solidFill>
                            <a:srgbClr val="21242A"/>
                          </a:solidFill>
                          <a:latin typeface="Microsoft YaHei"/>
                        </a:rPr>
                        <a:t>nodal 34%、PB 59%、IP 73%</a:t>
                      </a:r>
                    </a:p>
                  </a:txBody>
                  <a:tcPr>
                    <a:solidFill>
                      <a:srgbClr val="F6F8FB"/>
                    </a:solidFill>
                  </a:tcPr>
                </a:tc>
              </a:tr>
              <a:tr h="376428">
                <a:tc>
                  <a:txBody>
                    <a:bodyPr wrap="square" lIns="36576" rIns="36576" tIns="18288" bIns="18288"/>
                    <a:lstStyle/>
                    <a:p>
                      <a:r>
                        <a:rPr sz="720" b="1">
                          <a:solidFill>
                            <a:srgbClr val="21242A"/>
                          </a:solidFill>
                          <a:latin typeface="Microsoft YaHei"/>
                        </a:rPr>
                        <a:t>LymphGen亚型</a:t>
                      </a:r>
                    </a:p>
                  </a:txBody>
                  <a:tcPr>
                    <a:solidFill>
                      <a:srgbClr val="FFFFFF"/>
                    </a:solidFill>
                  </a:tcPr>
                </a:tc>
                <a:tc>
                  <a:txBody>
                    <a:bodyPr wrap="square" lIns="36576" rIns="36576" tIns="18288" bIns="18288"/>
                    <a:lstStyle/>
                    <a:p>
                      <a:r>
                        <a:rPr sz="720" b="0">
                          <a:solidFill>
                            <a:srgbClr val="21242A"/>
                          </a:solidFill>
                          <a:latin typeface="Microsoft YaHei"/>
                        </a:rPr>
                        <a:t>PB-DLBCL中MCD 48.6%、EZB 34.3%；IP-DLBCL中MCD 79.2%；nodal DLBCL中BN2、EZB、MCD、ST2分布均衡；PTPRK、MAP2K1、DNMT3A突变与PB-DLBCL较短PFS相关</a:t>
                      </a:r>
                    </a:p>
                  </a:txBody>
                  <a:tcPr>
                    <a:solidFill>
                      <a:srgbClr val="FFFFFF"/>
                    </a:solidFill>
                  </a:tcPr>
                </a:tc>
              </a:tr>
              <a:tr h="376428">
                <a:tc>
                  <a:txBody>
                    <a:bodyPr wrap="square" lIns="36576" rIns="36576" tIns="18288" bIns="18288"/>
                    <a:lstStyle/>
                    <a:p>
                      <a:r>
                        <a:rPr sz="720" b="1">
                          <a:solidFill>
                            <a:srgbClr val="21242A"/>
                          </a:solidFill>
                          <a:latin typeface="Microsoft YaHei"/>
                        </a:rPr>
                        <a:t>LME分类</a:t>
                      </a:r>
                    </a:p>
                  </a:txBody>
                  <a:tcPr>
                    <a:solidFill>
                      <a:srgbClr val="F6F8FB"/>
                    </a:solidFill>
                  </a:tcPr>
                </a:tc>
                <a:tc>
                  <a:txBody>
                    <a:bodyPr wrap="square" lIns="36576" rIns="36576" tIns="18288" bIns="18288"/>
                    <a:lstStyle/>
                    <a:p>
                      <a:r>
                        <a:rPr sz="720" b="0">
                          <a:solidFill>
                            <a:srgbClr val="21242A"/>
                          </a:solidFill>
                          <a:latin typeface="Microsoft YaHei"/>
                        </a:rPr>
                        <a:t>PB-DLBCL中depleted亚型更常见（34.5% vs 29.2%），germinal center-like亚型较少（5.2% vs 12.5%）</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摘要号：S247</a:t>
            </a:r>
          </a:p>
          <a:p>
            <a:pPr>
              <a:lnSpc>
                <a:spcPct val="103000"/>
              </a:lnSpc>
              <a:spcAft>
                <a:spcPts val="300"/>
              </a:spcAft>
              <a:defRPr sz="740">
                <a:solidFill>
                  <a:srgbClr val="5E6570"/>
                </a:solidFill>
                <a:latin typeface="Microsoft YaHei"/>
              </a:defRPr>
            </a:pPr>
            <a:r>
              <a:t>会议栏目：20. Other aggressive lymphomas</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克隆复杂性定义了弥漫性大b细胞淋巴瘤的独特肿瘤内在生物学和预后</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clonal complexity defines distinct tumor-intrinsic biology and prognosis in 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PF1104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N=74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回顾性临床研究结果：clonal complexity defines distinct tumor-intrinsic bi...</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5年无事件生存率：Poly-CC肿瘤患者41.5%，Mono-CC肿瘤患者71.1%（Log-rank p=0.079）</a:t>
            </a:r>
          </a:p>
          <a:p>
            <a:pPr>
              <a:lnSpc>
                <a:spcPct val="103000"/>
              </a:lnSpc>
              <a:spcAft>
                <a:spcPts val="300"/>
              </a:spcAft>
              <a:defRPr sz="800">
                <a:solidFill>
                  <a:srgbClr val="21242A"/>
                </a:solidFill>
                <a:latin typeface="Microsoft YaHei"/>
              </a:defRPr>
            </a:pPr>
            <a:r>
              <a:t>ABC亚型中5年无事件生存率：Poly-CC肿瘤31.5%，Mono-CC肿瘤83.3%（p=0.0450）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人数：74</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研究主题：clonal complexity defines distinct tumor-intrinsic biology and prognosis in diffuse large b-cell lymphoma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克隆复杂性定义了弥漫性大b细胞淋巴瘤的独特肿瘤内在生物学和预后</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clonal complexity defines distinct tumor-intrinsic biology and prognosis in 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PF1104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159/187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5年无事件生存率</a:t>
                      </a:r>
                    </a:p>
                  </a:txBody>
                  <a:tcPr>
                    <a:solidFill>
                      <a:srgbClr val="F6F8FB"/>
                    </a:solidFill>
                  </a:tcPr>
                </a:tc>
                <a:tc>
                  <a:txBody>
                    <a:bodyPr wrap="square" lIns="36576" rIns="36576" tIns="18288" bIns="18288"/>
                    <a:lstStyle/>
                    <a:p>
                      <a:r>
                        <a:rPr sz="720" b="0">
                          <a:solidFill>
                            <a:srgbClr val="21242A"/>
                          </a:solidFill>
                          <a:latin typeface="Microsoft YaHei"/>
                        </a:rPr>
                        <a:t>Poly-CC肿瘤患者41.5%，Mono-CC肿瘤患者71.1%（Log-rank p=0.079）</a:t>
                      </a:r>
                    </a:p>
                  </a:txBody>
                  <a:tcPr>
                    <a:solidFill>
                      <a:srgbClr val="F6F8FB"/>
                    </a:solidFill>
                  </a:tcPr>
                </a:tc>
              </a:tr>
              <a:tr h="376428">
                <a:tc>
                  <a:txBody>
                    <a:bodyPr wrap="square" lIns="36576" rIns="36576" tIns="18288" bIns="18288"/>
                    <a:lstStyle/>
                    <a:p>
                      <a:r>
                        <a:rPr sz="720" b="1">
                          <a:solidFill>
                            <a:srgbClr val="21242A"/>
                          </a:solidFill>
                          <a:latin typeface="Microsoft YaHei"/>
                        </a:rPr>
                        <a:t>ABC亚型中5年无事件生存率</a:t>
                      </a:r>
                    </a:p>
                  </a:txBody>
                  <a:tcPr>
                    <a:solidFill>
                      <a:srgbClr val="FFFFFF"/>
                    </a:solidFill>
                  </a:tcPr>
                </a:tc>
                <a:tc>
                  <a:txBody>
                    <a:bodyPr wrap="square" lIns="36576" rIns="36576" tIns="18288" bIns="18288"/>
                    <a:lstStyle/>
                    <a:p>
                      <a:r>
                        <a:rPr sz="720" b="0">
                          <a:solidFill>
                            <a:srgbClr val="21242A"/>
                          </a:solidFill>
                          <a:latin typeface="Microsoft YaHei"/>
                        </a:rPr>
                        <a:t>Poly-CC肿瘤31.5%，Mono-CC肿瘤83.3%（p=0.0450）</a:t>
                      </a:r>
                    </a:p>
                  </a:txBody>
                  <a:tcPr>
                    <a:solidFill>
                      <a:srgbClr val="FFFFFF"/>
                    </a:solidFill>
                  </a:tcPr>
                </a:tc>
              </a:tr>
              <a:tr h="376428">
                <a:tc>
                  <a:txBody>
                    <a:bodyPr wrap="square" lIns="36576" rIns="36576" tIns="18288" bIns="18288"/>
                    <a:lstStyle/>
                    <a:p>
                      <a:r>
                        <a:rPr sz="720" b="1">
                          <a:solidFill>
                            <a:srgbClr val="21242A"/>
                          </a:solidFill>
                          <a:latin typeface="Microsoft YaHei"/>
                        </a:rPr>
                        <a:t>GCB亚型中5年无事件生存率</a:t>
                      </a:r>
                    </a:p>
                  </a:txBody>
                  <a:tcPr>
                    <a:solidFill>
                      <a:srgbClr val="F6F8FB"/>
                    </a:solidFill>
                  </a:tcPr>
                </a:tc>
                <a:tc>
                  <a:txBody>
                    <a:bodyPr wrap="square" lIns="36576" rIns="36576" tIns="18288" bIns="18288"/>
                    <a:lstStyle/>
                    <a:p>
                      <a:r>
                        <a:rPr sz="720" b="0">
                          <a:solidFill>
                            <a:srgbClr val="21242A"/>
                          </a:solidFill>
                          <a:latin typeface="Microsoft YaHei"/>
                        </a:rPr>
                        <a:t>Poly-CC肿瘤50.0%，Mono-CC肿瘤55.5%（p=0.66）</a:t>
                      </a:r>
                    </a:p>
                  </a:txBody>
                  <a:tcPr>
                    <a:solidFill>
                      <a:srgbClr val="F6F8FB"/>
                    </a:solidFill>
                  </a:tcPr>
                </a:tc>
              </a:tr>
              <a:tr h="376428">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Poly-CC肿瘤Ki-67阳性率显著高于Mono-CC肿瘤（p=0.00227）</a:t>
                      </a:r>
                    </a:p>
                  </a:txBody>
                  <a:tcPr>
                    <a:solidFill>
                      <a:srgbClr val="FFFFFF"/>
                    </a:solidFill>
                  </a:tcPr>
                </a:tc>
              </a:tr>
              <a:tr h="37642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Poly-ABC肿瘤中致病性突变数量显著高于Mono-ABC肿瘤（p=0.0147）</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摘要号：PF1104</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儿童和成人大b细胞淋巴瘤irf4重排的基因组结构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genomic architecture of irf4 rearrangements in children and adult large b-cel...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PF1074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大B细胞淋巴瘤，弥漫性大B细胞淋巴瘤</a:t>
            </a:r>
          </a:p>
          <a:p>
            <a:pPr>
              <a:lnSpc>
                <a:spcPct val="103000"/>
              </a:lnSpc>
              <a:spcAft>
                <a:spcPts val="300"/>
              </a:spcAft>
              <a:defRPr sz="800">
                <a:solidFill>
                  <a:srgbClr val="21242A"/>
                </a:solidFill>
                <a:latin typeface="Microsoft YaHei"/>
              </a:defRPr>
            </a:pPr>
            <a:r>
              <a:t>N=42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回顾性临床研究结果：genomic architecture of irf4 rearrangements in childr...</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IRF4重排检测率：FISH检出38/42例</a:t>
            </a:r>
          </a:p>
          <a:p>
            <a:pPr>
              <a:lnSpc>
                <a:spcPct val="103000"/>
              </a:lnSpc>
              <a:spcAft>
                <a:spcPts val="300"/>
              </a:spcAft>
              <a:defRPr sz="800">
                <a:solidFill>
                  <a:srgbClr val="21242A"/>
                </a:solidFill>
                <a:latin typeface="Microsoft YaHei"/>
              </a:defRPr>
            </a:pPr>
            <a:r>
              <a:t>SV-NGS检出85%的病例</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人数：42</a:t>
            </a:r>
          </a:p>
          <a:p>
            <a:pPr>
              <a:lnSpc>
                <a:spcPct val="103000"/>
              </a:lnSpc>
              <a:spcAft>
                <a:spcPts val="300"/>
              </a:spcAft>
              <a:defRPr sz="810">
                <a:solidFill>
                  <a:srgbClr val="21242A"/>
                </a:solidFill>
                <a:latin typeface="Microsoft YaHei"/>
              </a:defRPr>
            </a:pPr>
            <a:r>
              <a:t>适应症：大B细胞淋巴瘤、弥漫性大B细胞淋巴瘤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研究主题：genomic architecture of irf4 rearrangements in children and adult large b-cell lymphomas</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儿童和成人大b细胞淋巴瘤irf4重排的基因组结构</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genomic architecture of irf4 rearrangements in children and adult large b-cel...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PF1074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IRF4重排检测率</a:t>
                      </a:r>
                    </a:p>
                  </a:txBody>
                  <a:tcPr>
                    <a:solidFill>
                      <a:srgbClr val="F6F8FB"/>
                    </a:solidFill>
                  </a:tcPr>
                </a:tc>
                <a:tc>
                  <a:txBody>
                    <a:bodyPr wrap="square" lIns="36576" rIns="36576" tIns="18288" bIns="18288"/>
                    <a:lstStyle/>
                    <a:p>
                      <a:r>
                        <a:rPr sz="720" b="0">
                          <a:solidFill>
                            <a:srgbClr val="21242A"/>
                          </a:solidFill>
                          <a:latin typeface="Microsoft YaHei"/>
                        </a:rPr>
                        <a:t>FISH检出38/42例；SV-NGS检出85%的病例</a:t>
                      </a:r>
                    </a:p>
                  </a:txBody>
                  <a:tcPr>
                    <a:solidFill>
                      <a:srgbClr val="F6F8FB"/>
                    </a:solidFill>
                  </a:tcPr>
                </a:tc>
              </a:tr>
              <a:tr h="376428">
                <a:tc>
                  <a:txBody>
                    <a:bodyPr wrap="square" lIns="36576" rIns="36576" tIns="18288" bIns="18288"/>
                    <a:lstStyle/>
                    <a:p>
                      <a:r>
                        <a:rPr sz="720" b="1">
                          <a:solidFill>
                            <a:srgbClr val="21242A"/>
                          </a:solidFill>
                          <a:latin typeface="Microsoft YaHei"/>
                        </a:rPr>
                        <a:t>IRF4</a:t>
                      </a:r>
                    </a:p>
                  </a:txBody>
                  <a:tcPr>
                    <a:solidFill>
                      <a:srgbClr val="FFFFFF"/>
                    </a:solidFill>
                  </a:tcPr>
                </a:tc>
                <a:tc>
                  <a:txBody>
                    <a:bodyPr wrap="square" lIns="36576" rIns="36576" tIns="18288" bIns="18288"/>
                    <a:lstStyle/>
                    <a:p>
                      <a:r>
                        <a:rPr sz="720" b="0">
                          <a:solidFill>
                            <a:srgbClr val="21242A"/>
                          </a:solidFill>
                          <a:latin typeface="Microsoft YaHei"/>
                        </a:rPr>
                        <a:t>:IGH易位在CAYA LBCL-IRF4中占81%；成人DLBCL中IRF4断裂点位置不同</a:t>
                      </a:r>
                    </a:p>
                  </a:txBody>
                  <a:tcPr>
                    <a:solidFill>
                      <a:srgbClr val="FFFFFF"/>
                    </a:solidFill>
                  </a:tcPr>
                </a:tc>
              </a:tr>
              <a:tr h="376428">
                <a:tc>
                  <a:txBody>
                    <a:bodyPr wrap="square" lIns="36576" rIns="36576" tIns="18288" bIns="18288"/>
                    <a:lstStyle/>
                    <a:p>
                      <a:r>
                        <a:rPr sz="720" b="1">
                          <a:solidFill>
                            <a:srgbClr val="21242A"/>
                          </a:solidFill>
                          <a:latin typeface="Microsoft YaHei"/>
                        </a:rPr>
                        <a:t>新发现IRF4</a:t>
                      </a:r>
                    </a:p>
                  </a:txBody>
                  <a:tcPr>
                    <a:solidFill>
                      <a:srgbClr val="F6F8FB"/>
                    </a:solidFill>
                  </a:tcPr>
                </a:tc>
                <a:tc>
                  <a:txBody>
                    <a:bodyPr wrap="square" lIns="36576" rIns="36576" tIns="18288" bIns="18288"/>
                    <a:lstStyle/>
                    <a:p>
                      <a:r>
                        <a:rPr sz="720" b="0">
                          <a:solidFill>
                            <a:srgbClr val="21242A"/>
                          </a:solidFill>
                          <a:latin typeface="Microsoft YaHei"/>
                        </a:rPr>
                        <a:t>:MIR142和IRF4::BATF易位</a:t>
                      </a:r>
                    </a:p>
                  </a:txBody>
                  <a:tcPr>
                    <a:solidFill>
                      <a:srgbClr val="F6F8FB"/>
                    </a:solidFill>
                  </a:tcPr>
                </a:tc>
              </a:tr>
              <a:tr h="376428">
                <a:tc>
                  <a:txBody>
                    <a:bodyPr wrap="square" lIns="36576" rIns="36576" tIns="18288" bIns="18288"/>
                    <a:lstStyle/>
                    <a:p>
                      <a:r>
                        <a:rPr sz="720" b="1">
                          <a:solidFill>
                            <a:srgbClr val="21242A"/>
                          </a:solidFill>
                          <a:latin typeface="Microsoft YaHei"/>
                        </a:rPr>
                        <a:t>突变谱</a:t>
                      </a:r>
                    </a:p>
                  </a:txBody>
                  <a:tcPr>
                    <a:solidFill>
                      <a:srgbClr val="FFFFFF"/>
                    </a:solidFill>
                  </a:tcPr>
                </a:tc>
                <a:tc>
                  <a:txBody>
                    <a:bodyPr wrap="square" lIns="36576" rIns="36576" tIns="18288" bIns="18288"/>
                    <a:lstStyle/>
                    <a:p>
                      <a:r>
                        <a:rPr sz="720" b="0">
                          <a:solidFill>
                            <a:srgbClr val="21242A"/>
                          </a:solidFill>
                          <a:latin typeface="Microsoft YaHei"/>
                        </a:rPr>
                        <a:t>BCR/NF-κB通路基因突变频繁，成人组有KMT2D、DTX1、MYD88-L265P突变；儿童组无LymphGen分类，成人组有EZB或MCD亚型</a:t>
                      </a:r>
                    </a:p>
                  </a:txBody>
                  <a:tcPr>
                    <a:solidFill>
                      <a:srgbClr val="FFFFFF"/>
                    </a:solidFill>
                  </a:tcPr>
                </a:tc>
              </a:tr>
              <a:tr h="376428">
                <a:tc>
                  <a:txBody>
                    <a:bodyPr wrap="square" lIns="36576" rIns="36576" tIns="18288" bIns="18288"/>
                    <a:lstStyle/>
                    <a:p>
                      <a:r>
                        <a:rPr sz="720" b="1">
                          <a:solidFill>
                            <a:srgbClr val="21242A"/>
                          </a:solidFill>
                          <a:latin typeface="Microsoft YaHei"/>
                        </a:rPr>
                        <a:t>预后</a:t>
                      </a:r>
                    </a:p>
                  </a:txBody>
                  <a:tcPr>
                    <a:solidFill>
                      <a:srgbClr val="F6F8FB"/>
                    </a:solidFill>
                  </a:tcPr>
                </a:tc>
                <a:tc>
                  <a:txBody>
                    <a:bodyPr wrap="square" lIns="36576" rIns="36576" tIns="18288" bIns="18288"/>
                    <a:lstStyle/>
                    <a:p>
                      <a:r>
                        <a:rPr sz="720" b="0">
                          <a:solidFill>
                            <a:srgbClr val="21242A"/>
                          </a:solidFill>
                          <a:latin typeface="Microsoft YaHei"/>
                        </a:rPr>
                        <a:t>年龄&gt;40岁患者EFS显著较差。</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摘要号：PF1074</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染色体8q拷贝数增加预测伴有myc和bcl2重排的高级别弥漫性大b细胞淋巴瘤的早期复发</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chromosome 8q copy number gain predicts early relapse in high-grade diffuse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PF1071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N=736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回顾性临床研究结果：chromosome 8q copy number gain predicts early relapse...</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HGBL-DH中染色体8q增益频率47%（38/76），DLBCL-NOS中23%（125/546）</a:t>
            </a:r>
          </a:p>
          <a:p>
            <a:pPr>
              <a:lnSpc>
                <a:spcPct val="103000"/>
              </a:lnSpc>
              <a:spcAft>
                <a:spcPts val="300"/>
              </a:spcAft>
              <a:defRPr sz="800">
                <a:solidFill>
                  <a:srgbClr val="21242A"/>
                </a:solidFill>
                <a:latin typeface="Microsoft YaHei"/>
              </a:defRPr>
            </a:pPr>
            <a:r>
              <a:t>HGBL-DH中染色体8q增益与MYC::non-IGH重排相关</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人数：736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研究主题：chromosome 8q copy number gain predicts early relapse in high-grade diffuse large b-cell lymphoma with myc and bcl2 rea...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染色体8q拷贝数增加预测伴有myc和bcl2重排的高级别弥漫性大b细胞淋巴瘤的早期复发</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chromosome 8q copy number gain predicts early relapse in high-grade diffuse 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PF1071</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451713">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451713">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HGBL-DH中染色体8q增益频率47%（38/76），DLBCL-NOS中23%（125/546）</a:t>
                      </a:r>
                    </a:p>
                  </a:txBody>
                  <a:tcPr>
                    <a:solidFill>
                      <a:srgbClr val="F6F8FB"/>
                    </a:solidFill>
                  </a:tcPr>
                </a:tc>
              </a:tr>
              <a:tr h="451713">
                <a:tc>
                  <a:txBody>
                    <a:bodyPr wrap="square" lIns="36576" rIns="36576" tIns="18288" bIns="18288"/>
                    <a:lstStyle/>
                    <a:p>
                      <a:r>
                        <a:rPr sz="720" b="1">
                          <a:solidFill>
                            <a:srgbClr val="21242A"/>
                          </a:solidFill>
                          <a:latin typeface="Microsoft YaHei"/>
                        </a:rPr>
                        <a:t>HGBL-DH中染色体8q增益与MYC</a:t>
                      </a:r>
                    </a:p>
                  </a:txBody>
                  <a:tcPr>
                    <a:solidFill>
                      <a:srgbClr val="FFFFFF"/>
                    </a:solidFill>
                  </a:tcPr>
                </a:tc>
                <a:tc>
                  <a:txBody>
                    <a:bodyPr wrap="square" lIns="36576" rIns="36576" tIns="18288" bIns="18288"/>
                    <a:lstStyle/>
                    <a:p>
                      <a:r>
                        <a:rPr sz="720" b="0">
                          <a:solidFill>
                            <a:srgbClr val="21242A"/>
                          </a:solidFill>
                          <a:latin typeface="Microsoft YaHei"/>
                        </a:rPr>
                        <a:t>:non-IGH重排相关</a:t>
                      </a:r>
                    </a:p>
                  </a:txBody>
                  <a:tcPr>
                    <a:solidFill>
                      <a:srgbClr val="FFFFFF"/>
                    </a:solidFill>
                  </a:tcPr>
                </a:tc>
              </a:tr>
              <a:tr h="451713">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8q增益且断裂点在MYC外的患者（构型III）与较差的1年PFS相关</a:t>
                      </a:r>
                    </a:p>
                  </a:txBody>
                  <a:tcPr>
                    <a:solidFill>
                      <a:srgbClr val="F6F8FB"/>
                    </a:solidFill>
                  </a:tcPr>
                </a:tc>
              </a:tr>
              <a:tr h="451716">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无8q增益的HGBL-DH患者预后与DLBCL-NOS患者相当</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摘要号：PF1071</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myc：bcl6融合在myc/bcl6双重打击淋巴瘤患者中的临床意义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clinical significance of myc::bcl6 fusion in myc/bcl6 double hit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N=36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回顾性临床研究结果：the clinical significance of myc::bcl6 fusion in myc/...</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总生存期（OS）：有MYC::BCL6融合组与无融合组无显著差异（所有患者p=0.35，仅初发患者p=0.57）</a:t>
            </a:r>
          </a:p>
          <a:p>
            <a:pPr>
              <a:lnSpc>
                <a:spcPct val="103000"/>
              </a:lnSpc>
              <a:spcAft>
                <a:spcPts val="300"/>
              </a:spcAft>
              <a:defRPr sz="800">
                <a:solidFill>
                  <a:srgbClr val="21242A"/>
                </a:solidFill>
                <a:latin typeface="Microsoft YaHei"/>
              </a:defRPr>
            </a:pPr>
            <a:r>
              <a:t>完全缓解率（CR）：有融合组40% vs 无融合组35%，p=1.0，无显著差异</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人数：36</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研究主题：the clinical significance of myc::bcl6 fusion in myc/bcl6 double hit lymphoma patients</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myc：bcl6融合在myc/bcl6双重打击淋巴瘤患者中的临床意义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clinical significance of myc::bcl6 fusion in myc/bcl6 double hit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总生存期（OS）：有MYC::BCL6融合组与无融合组无显著差异（所有患者p=0.35，仅初发患者p=0.57）|||完全缓解率（CR）：有融合组40% vs 无融合组35%，p=1.0，无显著差异</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摘要号：PF1016</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丹麦人群淋巴瘤感染相关死亡率的时间趋势研究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temporal trends in infection-related proportional mortality in lymphoma: a da...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S310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外周T细胞淋巴瘤，弥漫性大B细胞淋巴瘤，淋巴瘤，滤泡性淋巴瘤，霍奇金淋巴瘤</a:t>
            </a:r>
          </a:p>
          <a:p>
            <a:pPr>
              <a:lnSpc>
                <a:spcPct val="103000"/>
              </a:lnSpc>
              <a:spcAft>
                <a:spcPts val="300"/>
              </a:spcAft>
              <a:defRPr sz="800">
                <a:solidFill>
                  <a:srgbClr val="21242A"/>
                </a:solidFill>
                <a:latin typeface="Microsoft YaHei"/>
              </a:defRPr>
            </a:pPr>
            <a:r>
              <a:t>N=15849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回顾性临床研究结果：temporal trends in infection-related proportional mor...</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总体感染相关比例死亡率（2001-2005）：25.6% (95% CI: 22.9-28.6)</a:t>
            </a:r>
          </a:p>
          <a:p>
            <a:pPr>
              <a:lnSpc>
                <a:spcPct val="103000"/>
              </a:lnSpc>
              <a:spcAft>
                <a:spcPts val="300"/>
              </a:spcAft>
              <a:defRPr sz="800">
                <a:solidFill>
                  <a:srgbClr val="21242A"/>
                </a:solidFill>
                <a:latin typeface="Microsoft YaHei"/>
              </a:defRPr>
            </a:pPr>
            <a:r>
              <a:t>总体感染相关比例死亡率（2006-2010）：33.8% (95% CI: 30.8-37)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人数：15849</a:t>
            </a:r>
          </a:p>
          <a:p>
            <a:pPr>
              <a:lnSpc>
                <a:spcPct val="103000"/>
              </a:lnSpc>
              <a:spcAft>
                <a:spcPts val="300"/>
              </a:spcAft>
              <a:defRPr sz="810">
                <a:solidFill>
                  <a:srgbClr val="21242A"/>
                </a:solidFill>
                <a:latin typeface="Microsoft YaHei"/>
              </a:defRPr>
            </a:pPr>
            <a:r>
              <a:t>适应症：外周T细胞淋巴瘤、弥漫性大B细胞淋巴瘤、淋巴瘤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研究主题：temporal trends in infection-related proportional mortality in lymphoma: a danish population-based study</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丹麦人群淋巴瘤感染相关死亡率的时间趋势研究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temporal trends in infection-related proportional mortality in lymphoma: a da...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S310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总体感染相关比例死亡率（2001-2005）</a:t>
                      </a:r>
                    </a:p>
                  </a:txBody>
                  <a:tcPr>
                    <a:solidFill>
                      <a:srgbClr val="F6F8FB"/>
                    </a:solidFill>
                  </a:tcPr>
                </a:tc>
                <a:tc>
                  <a:txBody>
                    <a:bodyPr wrap="square" lIns="36576" rIns="36576" tIns="18288" bIns="18288"/>
                    <a:lstStyle/>
                    <a:p>
                      <a:r>
                        <a:rPr sz="720" b="0">
                          <a:solidFill>
                            <a:srgbClr val="21242A"/>
                          </a:solidFill>
                          <a:latin typeface="Microsoft YaHei"/>
                        </a:rPr>
                        <a:t>25.6% (95% CI: 22.9-28.6)</a:t>
                      </a:r>
                    </a:p>
                  </a:txBody>
                  <a:tcPr>
                    <a:solidFill>
                      <a:srgbClr val="F6F8FB"/>
                    </a:solidFill>
                  </a:tcPr>
                </a:tc>
              </a:tr>
              <a:tr h="282321">
                <a:tc>
                  <a:txBody>
                    <a:bodyPr wrap="square" lIns="36576" rIns="36576" tIns="18288" bIns="18288"/>
                    <a:lstStyle/>
                    <a:p>
                      <a:r>
                        <a:rPr sz="720" b="1">
                          <a:solidFill>
                            <a:srgbClr val="21242A"/>
                          </a:solidFill>
                          <a:latin typeface="Microsoft YaHei"/>
                        </a:rPr>
                        <a:t>总体感染相关比例死亡率（2006-2010）</a:t>
                      </a:r>
                    </a:p>
                  </a:txBody>
                  <a:tcPr>
                    <a:solidFill>
                      <a:srgbClr val="FFFFFF"/>
                    </a:solidFill>
                  </a:tcPr>
                </a:tc>
                <a:tc>
                  <a:txBody>
                    <a:bodyPr wrap="square" lIns="36576" rIns="36576" tIns="18288" bIns="18288"/>
                    <a:lstStyle/>
                    <a:p>
                      <a:r>
                        <a:rPr sz="720" b="0">
                          <a:solidFill>
                            <a:srgbClr val="21242A"/>
                          </a:solidFill>
                          <a:latin typeface="Microsoft YaHei"/>
                        </a:rPr>
                        <a:t>33.8% (95% CI: 30.8-37)</a:t>
                      </a:r>
                    </a:p>
                  </a:txBody>
                  <a:tcPr>
                    <a:solidFill>
                      <a:srgbClr val="FFFFFF"/>
                    </a:solidFill>
                  </a:tcPr>
                </a:tc>
              </a:tr>
              <a:tr h="282321">
                <a:tc>
                  <a:txBody>
                    <a:bodyPr wrap="square" lIns="36576" rIns="36576" tIns="18288" bIns="18288"/>
                    <a:lstStyle/>
                    <a:p>
                      <a:r>
                        <a:rPr sz="720" b="1">
                          <a:solidFill>
                            <a:srgbClr val="21242A"/>
                          </a:solidFill>
                          <a:latin typeface="Microsoft YaHei"/>
                        </a:rPr>
                        <a:t>总体感染相关比例死亡率（2011-2015）</a:t>
                      </a:r>
                    </a:p>
                  </a:txBody>
                  <a:tcPr>
                    <a:solidFill>
                      <a:srgbClr val="F6F8FB"/>
                    </a:solidFill>
                  </a:tcPr>
                </a:tc>
                <a:tc>
                  <a:txBody>
                    <a:bodyPr wrap="square" lIns="36576" rIns="36576" tIns="18288" bIns="18288"/>
                    <a:lstStyle/>
                    <a:p>
                      <a:r>
                        <a:rPr sz="720" b="0">
                          <a:solidFill>
                            <a:srgbClr val="21242A"/>
                          </a:solidFill>
                          <a:latin typeface="Microsoft YaHei"/>
                        </a:rPr>
                        <a:t>33.6% (95% CI: 30.8-36.6)</a:t>
                      </a:r>
                    </a:p>
                  </a:txBody>
                  <a:tcPr>
                    <a:solidFill>
                      <a:srgbClr val="F6F8FB"/>
                    </a:solidFill>
                  </a:tcPr>
                </a:tc>
              </a:tr>
              <a:tr h="282321">
                <a:tc>
                  <a:txBody>
                    <a:bodyPr wrap="square" lIns="36576" rIns="36576" tIns="18288" bIns="18288"/>
                    <a:lstStyle/>
                    <a:p>
                      <a:r>
                        <a:rPr sz="720" b="1">
                          <a:solidFill>
                            <a:srgbClr val="21242A"/>
                          </a:solidFill>
                          <a:latin typeface="Microsoft YaHei"/>
                        </a:rPr>
                        <a:t>总体感染相关比例死亡率（2016-2020）</a:t>
                      </a:r>
                    </a:p>
                  </a:txBody>
                  <a:tcPr>
                    <a:solidFill>
                      <a:srgbClr val="FFFFFF"/>
                    </a:solidFill>
                  </a:tcPr>
                </a:tc>
                <a:tc>
                  <a:txBody>
                    <a:bodyPr wrap="square" lIns="36576" rIns="36576" tIns="18288" bIns="18288"/>
                    <a:lstStyle/>
                    <a:p>
                      <a:r>
                        <a:rPr sz="720" b="0">
                          <a:solidFill>
                            <a:srgbClr val="21242A"/>
                          </a:solidFill>
                          <a:latin typeface="Microsoft YaHei"/>
                        </a:rPr>
                        <a:t>26.7% (95% CI: 24-29.6)</a:t>
                      </a:r>
                    </a:p>
                  </a:txBody>
                  <a:tcPr>
                    <a:solidFill>
                      <a:srgbClr val="FFFFFF"/>
                    </a:solidFill>
                  </a:tcPr>
                </a:tc>
              </a:tr>
              <a:tr h="282321">
                <a:tc>
                  <a:txBody>
                    <a:bodyPr wrap="square" lIns="36576" rIns="36576" tIns="18288" bIns="18288"/>
                    <a:lstStyle/>
                    <a:p>
                      <a:r>
                        <a:rPr sz="720" b="1">
                          <a:solidFill>
                            <a:srgbClr val="21242A"/>
                          </a:solidFill>
                          <a:latin typeface="Microsoft YaHei"/>
                        </a:rPr>
                        <a:t>PTCL患者感染相关比例死亡率</a:t>
                      </a:r>
                    </a:p>
                  </a:txBody>
                  <a:tcPr>
                    <a:solidFill>
                      <a:srgbClr val="F6F8FB"/>
                    </a:solidFill>
                  </a:tcPr>
                </a:tc>
                <a:tc>
                  <a:txBody>
                    <a:bodyPr wrap="square" lIns="36576" rIns="36576" tIns="18288" bIns="18288"/>
                    <a:lstStyle/>
                    <a:p>
                      <a:r>
                        <a:rPr sz="720" b="0">
                          <a:solidFill>
                            <a:srgbClr val="21242A"/>
                          </a:solidFill>
                          <a:latin typeface="Microsoft YaHei"/>
                        </a:rPr>
                        <a:t>36.9% (95% CI: 32.5-41.4)</a:t>
                      </a:r>
                    </a:p>
                  </a:txBody>
                  <a:tcPr>
                    <a:solidFill>
                      <a:srgbClr val="F6F8FB"/>
                    </a:solidFill>
                  </a:tcPr>
                </a:tc>
              </a:tr>
              <a:tr h="282321">
                <a:tc>
                  <a:txBody>
                    <a:bodyPr wrap="square" lIns="36576" rIns="36576" tIns="18288" bIns="18288"/>
                    <a:lstStyle/>
                    <a:p>
                      <a:r>
                        <a:rPr sz="720" b="1">
                          <a:solidFill>
                            <a:srgbClr val="21242A"/>
                          </a:solidFill>
                          <a:latin typeface="Microsoft YaHei"/>
                        </a:rPr>
                        <a:t>HL患者感染相关比例死亡率</a:t>
                      </a:r>
                    </a:p>
                  </a:txBody>
                  <a:tcPr>
                    <a:solidFill>
                      <a:srgbClr val="FFFFFF"/>
                    </a:solidFill>
                  </a:tcPr>
                </a:tc>
                <a:tc>
                  <a:txBody>
                    <a:bodyPr wrap="square" lIns="36576" rIns="36576" tIns="18288" bIns="18288"/>
                    <a:lstStyle/>
                    <a:p>
                      <a:r>
                        <a:rPr sz="720" b="0">
                          <a:solidFill>
                            <a:srgbClr val="21242A"/>
                          </a:solidFill>
                          <a:latin typeface="Microsoft YaHei"/>
                        </a:rPr>
                        <a:t>33.4% (95% CI: 28.3-39.0)</a:t>
                      </a:r>
                    </a:p>
                  </a:txBody>
                  <a:tcPr>
                    <a:solidFill>
                      <a:srgbClr val="FFFFFF"/>
                    </a:solidFill>
                  </a:tcPr>
                </a:tc>
              </a:tr>
              <a:tr h="282321">
                <a:tc>
                  <a:txBody>
                    <a:bodyPr wrap="square" lIns="36576" rIns="36576" tIns="18288" bIns="18288"/>
                    <a:lstStyle/>
                    <a:p>
                      <a:r>
                        <a:rPr sz="720" b="1">
                          <a:solidFill>
                            <a:srgbClr val="21242A"/>
                          </a:solidFill>
                          <a:latin typeface="Microsoft YaHei"/>
                        </a:rPr>
                        <a:t>FL患者感染相关比例死亡率</a:t>
                      </a:r>
                    </a:p>
                  </a:txBody>
                  <a:tcPr>
                    <a:solidFill>
                      <a:srgbClr val="F6F8FB"/>
                    </a:solidFill>
                  </a:tcPr>
                </a:tc>
                <a:tc>
                  <a:txBody>
                    <a:bodyPr wrap="square" lIns="36576" rIns="36576" tIns="18288" bIns="18288"/>
                    <a:lstStyle/>
                    <a:p>
                      <a:r>
                        <a:rPr sz="720" b="0">
                          <a:solidFill>
                            <a:srgbClr val="21242A"/>
                          </a:solidFill>
                          <a:latin typeface="Microsoft YaHei"/>
                        </a:rPr>
                        <a:t>29.3% (95% CI: 25.2-33.8)</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摘要号：S310</a:t>
            </a:r>
          </a:p>
          <a:p>
            <a:pPr>
              <a:lnSpc>
                <a:spcPct val="103000"/>
              </a:lnSpc>
              <a:spcAft>
                <a:spcPts val="300"/>
              </a:spcAft>
              <a:defRPr sz="740">
                <a:solidFill>
                  <a:srgbClr val="5E6570"/>
                </a:solidFill>
                <a:latin typeface="Microsoft YaHei"/>
              </a:defRPr>
            </a:pPr>
            <a:r>
              <a:t>会议栏目：31. Infections in hematology (incl. supportive care/therapy)</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丹麦人群淋巴瘤感染相关死亡率的时间趋势研究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temporal trends in infection-related proportional mortality in lymphoma: a da...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S310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5244084"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1792224">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1792224">
                <a:tc>
                  <a:txBody>
                    <a:bodyPr wrap="square" lIns="36576" rIns="36576" tIns="18288" bIns="18288"/>
                    <a:lstStyle/>
                    <a:p>
                      <a:r>
                        <a:rPr sz="720" b="1">
                          <a:solidFill>
                            <a:srgbClr val="21242A"/>
                          </a:solidFill>
                          <a:latin typeface="Microsoft YaHei"/>
                        </a:rPr>
                        <a:t>DLBCL患者感染相关比例死亡率</a:t>
                      </a:r>
                    </a:p>
                  </a:txBody>
                  <a:tcPr>
                    <a:solidFill>
                      <a:srgbClr val="F6F8FB"/>
                    </a:solidFill>
                  </a:tcPr>
                </a:tc>
                <a:tc>
                  <a:txBody>
                    <a:bodyPr wrap="square" lIns="36576" rIns="36576" tIns="18288" bIns="18288"/>
                    <a:lstStyle/>
                    <a:p>
                      <a:r>
                        <a:rPr sz="720" b="0">
                          <a:solidFill>
                            <a:srgbClr val="21242A"/>
                          </a:solidFill>
                          <a:latin typeface="Microsoft YaHei"/>
                        </a:rPr>
                        <a:t>28.5% (95% CI: 26.8-30.3)</a:t>
                      </a:r>
                    </a:p>
                  </a:txBody>
                  <a:tcPr>
                    <a:solidFill>
                      <a:srgbClr val="F6F8FB"/>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cd3xcd20双特异性抗体治疗复发/难治性大b细胞淋巴瘤后，异基因造血干细胞移植作为巩固：52例ebmt登记病例的l...</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allogeneic hematopoietic stem cell transplant as consolidation after cd3xcd20...</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N=52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分组：试验分组1：完全缓解（CR）组：异基因造血干细胞移植</a:t>
            </a:r>
          </a:p>
          <a:p>
            <a:pPr>
              <a:lnSpc>
                <a:spcPct val="103000"/>
              </a:lnSpc>
              <a:spcAft>
                <a:spcPts val="300"/>
              </a:spcAft>
              <a:defRPr sz="800">
                <a:solidFill>
                  <a:srgbClr val="21242A"/>
                </a:solidFill>
                <a:latin typeface="Microsoft YaHei"/>
              </a:defRPr>
            </a:pPr>
            <a:r>
              <a:t>试验分组2：部分缓解（PR）组：异基因造血干细胞移植</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多组/多方案比较：试验分组1：完全缓解（CR）组：异基因造血干细胞移植</a:t>
            </a:r>
          </a:p>
          <a:p>
            <a:pPr>
              <a:lnSpc>
                <a:spcPct val="103000"/>
              </a:lnSpc>
              <a:spcAft>
                <a:spcPts val="300"/>
              </a:spcAft>
              <a:defRPr sz="800">
                <a:solidFill>
                  <a:srgbClr val="21242A"/>
                </a:solidFill>
                <a:latin typeface="Microsoft YaHei"/>
              </a:defRPr>
            </a:pPr>
            <a:r>
              <a:t>试验分组2：部分缓解（PR）组：异基因造血干细胞移植</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1年无进展生存率（1y-PFS）：总体57%（95%CI: 43-72%）</a:t>
            </a:r>
          </a:p>
          <a:p>
            <a:pPr>
              <a:lnSpc>
                <a:spcPct val="103000"/>
              </a:lnSpc>
              <a:spcAft>
                <a:spcPts val="300"/>
              </a:spcAft>
              <a:defRPr sz="800">
                <a:solidFill>
                  <a:srgbClr val="21242A"/>
                </a:solidFill>
                <a:latin typeface="Microsoft YaHei"/>
              </a:defRPr>
            </a:pPr>
            <a:r>
              <a:t>1年总生存率（1y-OS）：总体62%（95%CI: 48-76%）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人数：52</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治疗线数：维持</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分组/治疗流程：试验分组1：完全缓解（CR）组：异基因造血干细胞移植、试验分组2：部分缓解（PR）组：异基因造血干细胞移植</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cd3xcd20双特异性抗体治疗复发/难治性大b细胞淋巴瘤后，异基因造血干细胞移植作为巩固：52例ebmt登记病例的l...</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allogeneic hematopoietic stem cell transplant as consolidation after cd3xcd20...</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PF986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2265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22652">
                <a:tc>
                  <a:txBody>
                    <a:bodyPr wrap="square" lIns="36576" rIns="36576" tIns="18288" bIns="18288"/>
                    <a:lstStyle/>
                    <a:p>
                      <a:r>
                        <a:rPr sz="720" b="1">
                          <a:solidFill>
                            <a:srgbClr val="21242A"/>
                          </a:solidFill>
                          <a:latin typeface="Microsoft YaHei"/>
                        </a:rPr>
                        <a:t>1年无进展生存率（1y-PFS）</a:t>
                      </a:r>
                    </a:p>
                  </a:txBody>
                  <a:tcPr>
                    <a:solidFill>
                      <a:srgbClr val="F6F8FB"/>
                    </a:solidFill>
                  </a:tcPr>
                </a:tc>
                <a:tc>
                  <a:txBody>
                    <a:bodyPr wrap="square" lIns="36576" rIns="36576" tIns="18288" bIns="18288"/>
                    <a:lstStyle/>
                    <a:p>
                      <a:r>
                        <a:rPr sz="720" b="0">
                          <a:solidFill>
                            <a:srgbClr val="21242A"/>
                          </a:solidFill>
                          <a:latin typeface="Microsoft YaHei"/>
                        </a:rPr>
                        <a:t>总体57%（95%CI: 43-72%）</a:t>
                      </a:r>
                    </a:p>
                  </a:txBody>
                  <a:tcPr>
                    <a:solidFill>
                      <a:srgbClr val="F6F8FB"/>
                    </a:solidFill>
                  </a:tcPr>
                </a:tc>
              </a:tr>
              <a:tr h="322652">
                <a:tc>
                  <a:txBody>
                    <a:bodyPr wrap="square" lIns="36576" rIns="36576" tIns="18288" bIns="18288"/>
                    <a:lstStyle/>
                    <a:p>
                      <a:r>
                        <a:rPr sz="720" b="1">
                          <a:solidFill>
                            <a:srgbClr val="21242A"/>
                          </a:solidFill>
                          <a:latin typeface="Microsoft YaHei"/>
                        </a:rPr>
                        <a:t>1年总生存率（1y-OS）</a:t>
                      </a:r>
                    </a:p>
                  </a:txBody>
                  <a:tcPr>
                    <a:solidFill>
                      <a:srgbClr val="FFFFFF"/>
                    </a:solidFill>
                  </a:tcPr>
                </a:tc>
                <a:tc>
                  <a:txBody>
                    <a:bodyPr wrap="square" lIns="36576" rIns="36576" tIns="18288" bIns="18288"/>
                    <a:lstStyle/>
                    <a:p>
                      <a:r>
                        <a:rPr sz="720" b="0">
                          <a:solidFill>
                            <a:srgbClr val="21242A"/>
                          </a:solidFill>
                          <a:latin typeface="Microsoft YaHei"/>
                        </a:rPr>
                        <a:t>总体62%（95%CI: 48-76%）</a:t>
                      </a:r>
                    </a:p>
                  </a:txBody>
                  <a:tcPr>
                    <a:solidFill>
                      <a:srgbClr val="FFFFFF"/>
                    </a:solidFill>
                  </a:tcPr>
                </a:tc>
              </a:tr>
              <a:tr h="322652">
                <a:tc>
                  <a:txBody>
                    <a:bodyPr wrap="square" lIns="36576" rIns="36576" tIns="18288" bIns="18288"/>
                    <a:lstStyle/>
                    <a:p>
                      <a:r>
                        <a:rPr sz="720" b="1">
                          <a:solidFill>
                            <a:srgbClr val="21242A"/>
                          </a:solidFill>
                          <a:latin typeface="Microsoft YaHei"/>
                        </a:rPr>
                        <a:t>1年非复发死亡率（1y-NRM）</a:t>
                      </a:r>
                    </a:p>
                  </a:txBody>
                  <a:tcPr>
                    <a:solidFill>
                      <a:srgbClr val="F6F8FB"/>
                    </a:solidFill>
                  </a:tcPr>
                </a:tc>
                <a:tc>
                  <a:txBody>
                    <a:bodyPr wrap="square" lIns="36576" rIns="36576" tIns="18288" bIns="18288"/>
                    <a:lstStyle/>
                    <a:p>
                      <a:r>
                        <a:rPr sz="720" b="0">
                          <a:solidFill>
                            <a:srgbClr val="21242A"/>
                          </a:solidFill>
                          <a:latin typeface="Microsoft YaHei"/>
                        </a:rPr>
                        <a:t>17%（95%CI: 6-27%）</a:t>
                      </a:r>
                    </a:p>
                  </a:txBody>
                  <a:tcPr>
                    <a:solidFill>
                      <a:srgbClr val="F6F8FB"/>
                    </a:solidFill>
                  </a:tcPr>
                </a:tc>
              </a:tr>
              <a:tr h="322652">
                <a:tc>
                  <a:txBody>
                    <a:bodyPr wrap="square" lIns="36576" rIns="36576" tIns="18288" bIns="18288"/>
                    <a:lstStyle/>
                    <a:p>
                      <a:r>
                        <a:rPr sz="720" b="1">
                          <a:solidFill>
                            <a:srgbClr val="21242A"/>
                          </a:solidFill>
                          <a:latin typeface="Microsoft YaHei"/>
                        </a:rPr>
                        <a:t>1年累积复发率</a:t>
                      </a:r>
                    </a:p>
                  </a:txBody>
                  <a:tcPr>
                    <a:solidFill>
                      <a:srgbClr val="FFFFFF"/>
                    </a:solidFill>
                  </a:tcPr>
                </a:tc>
                <a:tc>
                  <a:txBody>
                    <a:bodyPr wrap="square" lIns="36576" rIns="36576" tIns="18288" bIns="18288"/>
                    <a:lstStyle/>
                    <a:p>
                      <a:r>
                        <a:rPr sz="720" b="0">
                          <a:solidFill>
                            <a:srgbClr val="21242A"/>
                          </a:solidFill>
                          <a:latin typeface="Microsoft YaHei"/>
                        </a:rPr>
                        <a:t>26%（95%CI: 13-39%）</a:t>
                      </a:r>
                    </a:p>
                  </a:txBody>
                  <a:tcPr>
                    <a:solidFill>
                      <a:srgbClr val="FFFFFF"/>
                    </a:solidFill>
                  </a:tcPr>
                </a:tc>
              </a:tr>
              <a:tr h="322652">
                <a:tc>
                  <a:txBody>
                    <a:bodyPr wrap="square" lIns="36576" rIns="36576" tIns="18288" bIns="18288"/>
                    <a:lstStyle/>
                    <a:p>
                      <a:r>
                        <a:rPr sz="720" b="1">
                          <a:solidFill>
                            <a:srgbClr val="21242A"/>
                          </a:solidFill>
                          <a:latin typeface="Microsoft YaHei"/>
                        </a:rPr>
                        <a:t>按HSCT时缓解状态分层</a:t>
                      </a:r>
                    </a:p>
                  </a:txBody>
                  <a:tcPr>
                    <a:solidFill>
                      <a:srgbClr val="F6F8FB"/>
                    </a:solidFill>
                  </a:tcPr>
                </a:tc>
                <a:tc>
                  <a:txBody>
                    <a:bodyPr wrap="square" lIns="36576" rIns="36576" tIns="18288" bIns="18288"/>
                    <a:lstStyle/>
                    <a:p>
                      <a:r>
                        <a:rPr sz="720" b="0">
                          <a:solidFill>
                            <a:srgbClr val="21242A"/>
                          </a:solidFill>
                          <a:latin typeface="Microsoft YaHei"/>
                        </a:rPr>
                        <a:t>CR组1y-PFS 78%（95%CI: 62-95），1y-OS 78%（95%CI: 61-95）</a:t>
                      </a:r>
                    </a:p>
                  </a:txBody>
                  <a:tcPr>
                    <a:solidFill>
                      <a:srgbClr val="F6F8FB"/>
                    </a:solidFill>
                  </a:tcPr>
                </a:tc>
              </a:tr>
              <a:tr h="322656">
                <a:tc>
                  <a:txBody>
                    <a:bodyPr wrap="square" lIns="36576" rIns="36576" tIns="18288" bIns="18288"/>
                    <a:lstStyle/>
                    <a:p>
                      <a:r>
                        <a:rPr sz="720" b="1">
                          <a:solidFill>
                            <a:srgbClr val="21242A"/>
                          </a:solidFill>
                          <a:latin typeface="Microsoft YaHei"/>
                        </a:rPr>
                        <a:t>PR组1y-PFS 35%（95%CI</a:t>
                      </a:r>
                    </a:p>
                  </a:txBody>
                  <a:tcPr>
                    <a:solidFill>
                      <a:srgbClr val="FFFFFF"/>
                    </a:solidFill>
                  </a:tcPr>
                </a:tc>
                <a:tc>
                  <a:txBody>
                    <a:bodyPr wrap="square" lIns="36576" rIns="36576" tIns="18288" bIns="18288"/>
                    <a:lstStyle/>
                    <a:p>
                      <a:r>
                        <a:rPr sz="720" b="0">
                          <a:solidFill>
                            <a:srgbClr val="21242A"/>
                          </a:solidFill>
                          <a:latin typeface="Microsoft YaHei"/>
                        </a:rPr>
                        <a:t>15-55），1y-OS 47%（95%CI: 27-67）</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疾病场景：PMBCL/特殊亚型</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摘要号：PF986</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axicabtagene ciloleucel在台湾复发/难治性弥漫性大b细胞淋巴瘤和原发性纵隔b细胞淋巴瘤患者接受两...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cost-effectiveness of axicabtagene ciloleucel in taiwanese patients with rela...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PF1414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原发纵隔大B细胞淋巴瘤，弥漫性大B细胞淋巴瘤</a:t>
            </a:r>
          </a:p>
          <a:p>
            <a:pPr>
              <a:lnSpc>
                <a:spcPct val="103000"/>
              </a:lnSpc>
              <a:spcAft>
                <a:spcPts val="300"/>
              </a:spcAft>
              <a:defRPr sz="800">
                <a:solidFill>
                  <a:srgbClr val="21242A"/>
                </a:solidFill>
                <a:latin typeface="Microsoft YaHei"/>
              </a:defRPr>
            </a:pPr>
            <a:r>
              <a:t>疾病阶段：复发/难治，原发性</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Tisagenlecleucel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对照/比较：试验组1：axicabtagene ciloleucel</a:t>
            </a:r>
          </a:p>
          <a:p>
            <a:pPr>
              <a:lnSpc>
                <a:spcPct val="103000"/>
              </a:lnSpc>
              <a:spcAft>
                <a:spcPts val="300"/>
              </a:spcAft>
              <a:defRPr sz="800">
                <a:solidFill>
                  <a:srgbClr val="21242A"/>
                </a:solidFill>
                <a:latin typeface="Microsoft YaHei"/>
              </a:defRPr>
            </a:pPr>
            <a:r>
              <a:t>对照组1：tisagenlecleucel</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无折扣生存年：axi-cel 11.63年 vs tisa-cel 7.86年，增量3.77年</a:t>
            </a:r>
          </a:p>
          <a:p>
            <a:pPr>
              <a:lnSpc>
                <a:spcPct val="103000"/>
              </a:lnSpc>
              <a:spcAft>
                <a:spcPts val="300"/>
              </a:spcAft>
              <a:defRPr sz="800">
                <a:solidFill>
                  <a:srgbClr val="21242A"/>
                </a:solidFill>
                <a:latin typeface="Microsoft YaHei"/>
              </a:defRPr>
            </a:pPr>
            <a:r>
              <a:t>质量调整生存年(QALY)：axi-cel 6.84 QALYs vs tisa-cel 4.33 QALYs，增量2.51...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研究类型：卫生经济学研究</a:t>
            </a:r>
          </a:p>
          <a:p>
            <a:pPr>
              <a:lnSpc>
                <a:spcPct val="103000"/>
              </a:lnSpc>
              <a:spcAft>
                <a:spcPts val="300"/>
              </a:spcAft>
              <a:defRPr sz="810">
                <a:solidFill>
                  <a:srgbClr val="21242A"/>
                </a:solidFill>
                <a:latin typeface="Microsoft YaHei"/>
              </a:defRPr>
            </a:pPr>
            <a:r>
              <a:t>人数：未提取</a:t>
            </a:r>
          </a:p>
          <a:p>
            <a:pPr>
              <a:lnSpc>
                <a:spcPct val="103000"/>
              </a:lnSpc>
              <a:spcAft>
                <a:spcPts val="300"/>
              </a:spcAft>
              <a:defRPr sz="810">
                <a:solidFill>
                  <a:srgbClr val="21242A"/>
                </a:solidFill>
                <a:latin typeface="Microsoft YaHei"/>
              </a:defRPr>
            </a:pPr>
            <a:r>
              <a:t>适应症：原发纵隔大B细胞淋巴瘤、弥漫性大B细胞淋巴瘤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试验药/方案：阿基仑赛、Tisagenlecleucel</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axicabtagene ciloleucel在台湾复发/难治性弥漫性大b细胞淋巴瘤和原发性纵隔b细胞淋巴瘤患者接受两...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cost-effectiveness of axicabtagene ciloleucel in taiwanese patients with rela...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PF1414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451713">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451713">
                <a:tc>
                  <a:txBody>
                    <a:bodyPr wrap="square" lIns="36576" rIns="36576" tIns="18288" bIns="18288"/>
                    <a:lstStyle/>
                    <a:p>
                      <a:r>
                        <a:rPr sz="720" b="1">
                          <a:solidFill>
                            <a:srgbClr val="21242A"/>
                          </a:solidFill>
                          <a:latin typeface="Microsoft YaHei"/>
                        </a:rPr>
                        <a:t>无折扣生存年</a:t>
                      </a:r>
                    </a:p>
                  </a:txBody>
                  <a:tcPr>
                    <a:solidFill>
                      <a:srgbClr val="F6F8FB"/>
                    </a:solidFill>
                  </a:tcPr>
                </a:tc>
                <a:tc>
                  <a:txBody>
                    <a:bodyPr wrap="square" lIns="36576" rIns="36576" tIns="18288" bIns="18288"/>
                    <a:lstStyle/>
                    <a:p>
                      <a:r>
                        <a:rPr sz="720" b="0">
                          <a:solidFill>
                            <a:srgbClr val="21242A"/>
                          </a:solidFill>
                          <a:latin typeface="Microsoft YaHei"/>
                        </a:rPr>
                        <a:t>axi-cel 11.63年 vs tisa-cel 7.86年，增量3.77年</a:t>
                      </a:r>
                    </a:p>
                  </a:txBody>
                  <a:tcPr>
                    <a:solidFill>
                      <a:srgbClr val="F6F8FB"/>
                    </a:solidFill>
                  </a:tcPr>
                </a:tc>
              </a:tr>
              <a:tr h="451713">
                <a:tc>
                  <a:txBody>
                    <a:bodyPr wrap="square" lIns="36576" rIns="36576" tIns="18288" bIns="18288"/>
                    <a:lstStyle/>
                    <a:p>
                      <a:r>
                        <a:rPr sz="720" b="1">
                          <a:solidFill>
                            <a:srgbClr val="21242A"/>
                          </a:solidFill>
                          <a:latin typeface="Microsoft YaHei"/>
                        </a:rPr>
                        <a:t>质量调整生存年(QALY)</a:t>
                      </a:r>
                    </a:p>
                  </a:txBody>
                  <a:tcPr>
                    <a:solidFill>
                      <a:srgbClr val="FFFFFF"/>
                    </a:solidFill>
                  </a:tcPr>
                </a:tc>
                <a:tc>
                  <a:txBody>
                    <a:bodyPr wrap="square" lIns="36576" rIns="36576" tIns="18288" bIns="18288"/>
                    <a:lstStyle/>
                    <a:p>
                      <a:r>
                        <a:rPr sz="720" b="0">
                          <a:solidFill>
                            <a:srgbClr val="21242A"/>
                          </a:solidFill>
                          <a:latin typeface="Microsoft YaHei"/>
                        </a:rPr>
                        <a:t>axi-cel 6.84 QALYs vs tisa-cel 4.33 QALYs，增量2.51 QALYs</a:t>
                      </a:r>
                    </a:p>
                  </a:txBody>
                  <a:tcPr>
                    <a:solidFill>
                      <a:srgbClr val="FFFFFF"/>
                    </a:solidFill>
                  </a:tcPr>
                </a:tc>
              </a:tr>
              <a:tr h="451713">
                <a:tc>
                  <a:txBody>
                    <a:bodyPr wrap="square" lIns="36576" rIns="36576" tIns="18288" bIns="18288"/>
                    <a:lstStyle/>
                    <a:p>
                      <a:r>
                        <a:rPr sz="720" b="1">
                          <a:solidFill>
                            <a:srgbClr val="21242A"/>
                          </a:solidFill>
                          <a:latin typeface="Microsoft YaHei"/>
                        </a:rPr>
                        <a:t>总折扣成本</a:t>
                      </a:r>
                    </a:p>
                  </a:txBody>
                  <a:tcPr>
                    <a:solidFill>
                      <a:srgbClr val="F6F8FB"/>
                    </a:solidFill>
                  </a:tcPr>
                </a:tc>
                <a:tc>
                  <a:txBody>
                    <a:bodyPr wrap="square" lIns="36576" rIns="36576" tIns="18288" bIns="18288"/>
                    <a:lstStyle/>
                    <a:p>
                      <a:r>
                        <a:rPr sz="720" b="0">
                          <a:solidFill>
                            <a:srgbClr val="21242A"/>
                          </a:solidFill>
                          <a:latin typeface="Microsoft YaHei"/>
                        </a:rPr>
                        <a:t>axi-cel NTD 9.24M (USD 307,991) vs tisa-cel NTD 9.26M (USD 308,557)</a:t>
                      </a:r>
                    </a:p>
                  </a:txBody>
                  <a:tcPr>
                    <a:solidFill>
                      <a:srgbClr val="F6F8FB"/>
                    </a:solidFill>
                  </a:tcPr>
                </a:tc>
              </a:tr>
              <a:tr h="451716">
                <a:tc>
                  <a:txBody>
                    <a:bodyPr wrap="square" lIns="36576" rIns="36576" tIns="18288" bIns="18288"/>
                    <a:lstStyle/>
                    <a:p>
                      <a:r>
                        <a:rPr sz="720" b="1">
                          <a:solidFill>
                            <a:srgbClr val="21242A"/>
                          </a:solidFill>
                          <a:latin typeface="Microsoft YaHei"/>
                        </a:rPr>
                        <a:t>增量成本效果比(ICER)</a:t>
                      </a:r>
                    </a:p>
                  </a:txBody>
                  <a:tcPr>
                    <a:solidFill>
                      <a:srgbClr val="FFFFFF"/>
                    </a:solidFill>
                  </a:tcPr>
                </a:tc>
                <a:tc>
                  <a:txBody>
                    <a:bodyPr wrap="square" lIns="36576" rIns="36576" tIns="18288" bIns="18288"/>
                    <a:lstStyle/>
                    <a:p>
                      <a:r>
                        <a:rPr sz="720" b="0">
                          <a:solidFill>
                            <a:srgbClr val="21242A"/>
                          </a:solidFill>
                          <a:latin typeface="Microsoft YaHei"/>
                        </a:rPr>
                        <a:t>axi-cel占优（成本更低，效果更好）</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疾病场景：PMBCL/特殊亚型</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摘要号：PF1414</a:t>
            </a:r>
          </a:p>
          <a:p>
            <a:pPr>
              <a:lnSpc>
                <a:spcPct val="103000"/>
              </a:lnSpc>
              <a:spcAft>
                <a:spcPts val="300"/>
              </a:spcAft>
              <a:defRPr sz="740">
                <a:solidFill>
                  <a:srgbClr val="5E6570"/>
                </a:solidFill>
                <a:latin typeface="Microsoft YaHei"/>
              </a:defRPr>
            </a:pPr>
            <a:r>
              <a:t>会议栏目：37. Health economics</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cd3xcd20双特异性抗体治疗大b细胞淋巴瘤患者细胞因子释放综合征的风险：一项国际多中心回顾性研究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risk for cytokine release syndrome in patients with large b-cell lymphoma tre...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321808"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原发纵隔大B细胞淋巴瘤，大B细胞淋巴瘤，弥漫性大B细胞淋巴瘤</a:t>
            </a:r>
          </a:p>
          <a:p>
            <a:pPr>
              <a:lnSpc>
                <a:spcPct val="103000"/>
              </a:lnSpc>
              <a:spcAft>
                <a:spcPts val="300"/>
              </a:spcAft>
              <a:defRPr sz="800">
                <a:solidFill>
                  <a:srgbClr val="21242A"/>
                </a:solidFill>
                <a:latin typeface="Microsoft YaHei"/>
              </a:defRPr>
            </a:pPr>
            <a:r>
              <a:t>N=440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格菲妥单抗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任何级别CRS发生率（首次/首次全剂量后）：43%（185/435）</a:t>
            </a:r>
          </a:p>
          <a:p>
            <a:pPr>
              <a:lnSpc>
                <a:spcPct val="103000"/>
              </a:lnSpc>
              <a:spcAft>
                <a:spcPts val="300"/>
              </a:spcAft>
              <a:defRPr sz="800">
                <a:solidFill>
                  <a:srgbClr val="21242A"/>
                </a:solidFill>
                <a:latin typeface="Microsoft YaHei"/>
              </a:defRPr>
            </a:pPr>
            <a:r>
              <a:t>≥2级CRS发生率（首次/首次全剂量后）：16%（71/435）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人数：440</a:t>
            </a:r>
          </a:p>
          <a:p>
            <a:pPr>
              <a:lnSpc>
                <a:spcPct val="103000"/>
              </a:lnSpc>
              <a:spcAft>
                <a:spcPts val="300"/>
              </a:spcAft>
              <a:defRPr sz="810">
                <a:solidFill>
                  <a:srgbClr val="21242A"/>
                </a:solidFill>
                <a:latin typeface="Microsoft YaHei"/>
              </a:defRPr>
            </a:pPr>
            <a:r>
              <a:t>适应症：原发纵隔大B细胞淋巴瘤、大B细胞淋巴瘤、弥漫性大B细胞淋巴瘤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cd3xcd20双特异性抗体治疗大b细胞淋巴瘤患者细胞因子释放综合征的风险：一项国际多中心回顾性研究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risk for cytokine release syndrome in patients with large b-cell lymphoma tre...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321808"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双抗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56464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564642">
                <a:tc>
                  <a:txBody>
                    <a:bodyPr wrap="square" lIns="36576" rIns="36576" tIns="18288" bIns="18288"/>
                    <a:lstStyle/>
                    <a:p>
                      <a:r>
                        <a:rPr sz="720" b="1">
                          <a:solidFill>
                            <a:srgbClr val="21242A"/>
                          </a:solidFill>
                          <a:latin typeface="Microsoft YaHei"/>
                        </a:rPr>
                        <a:t>任何级别CRS发生率（首次/首次全剂量后）</a:t>
                      </a:r>
                    </a:p>
                  </a:txBody>
                  <a:tcPr>
                    <a:solidFill>
                      <a:srgbClr val="F6F8FB"/>
                    </a:solidFill>
                  </a:tcPr>
                </a:tc>
                <a:tc>
                  <a:txBody>
                    <a:bodyPr wrap="square" lIns="36576" rIns="36576" tIns="18288" bIns="18288"/>
                    <a:lstStyle/>
                    <a:p>
                      <a:r>
                        <a:rPr sz="720" b="0">
                          <a:solidFill>
                            <a:srgbClr val="21242A"/>
                          </a:solidFill>
                          <a:latin typeface="Microsoft YaHei"/>
                        </a:rPr>
                        <a:t>43%（185/435）</a:t>
                      </a:r>
                    </a:p>
                  </a:txBody>
                  <a:tcPr>
                    <a:solidFill>
                      <a:srgbClr val="F6F8FB"/>
                    </a:solidFill>
                  </a:tcPr>
                </a:tc>
              </a:tr>
              <a:tr h="564642">
                <a:tc>
                  <a:txBody>
                    <a:bodyPr wrap="square" lIns="36576" rIns="36576" tIns="18288" bIns="18288"/>
                    <a:lstStyle/>
                    <a:p>
                      <a:r>
                        <a:rPr sz="720" b="1">
                          <a:solidFill>
                            <a:srgbClr val="21242A"/>
                          </a:solidFill>
                          <a:latin typeface="Microsoft YaHei"/>
                        </a:rPr>
                        <a:t>≥2级CRS发生率（首次/首次全剂量后）</a:t>
                      </a:r>
                    </a:p>
                  </a:txBody>
                  <a:tcPr>
                    <a:solidFill>
                      <a:srgbClr val="FFFFFF"/>
                    </a:solidFill>
                  </a:tcPr>
                </a:tc>
                <a:tc>
                  <a:txBody>
                    <a:bodyPr wrap="square" lIns="36576" rIns="36576" tIns="18288" bIns="18288"/>
                    <a:lstStyle/>
                    <a:p>
                      <a:r>
                        <a:rPr sz="720" b="0">
                          <a:solidFill>
                            <a:srgbClr val="21242A"/>
                          </a:solidFill>
                          <a:latin typeface="Microsoft YaHei"/>
                        </a:rPr>
                        <a:t>16%（71/435）</a:t>
                      </a:r>
                    </a:p>
                  </a:txBody>
                  <a:tcPr>
                    <a:solidFill>
                      <a:srgbClr val="FFFFFF"/>
                    </a:solidFill>
                  </a:tcPr>
                </a:tc>
              </a:tr>
              <a:tr h="564642">
                <a:tc>
                  <a:txBody>
                    <a:bodyPr wrap="square" lIns="36576" rIns="36576" tIns="18288" bIns="18288"/>
                    <a:lstStyle/>
                    <a:p>
                      <a:r>
                        <a:rPr sz="720" b="1">
                          <a:solidFill>
                            <a:srgbClr val="21242A"/>
                          </a:solidFill>
                          <a:latin typeface="Microsoft YaHei"/>
                        </a:rPr>
                        <a:t>多变量分析中与≥2级CRS独立相关的因素</a:t>
                      </a:r>
                    </a:p>
                  </a:txBody>
                  <a:tcPr>
                    <a:solidFill>
                      <a:srgbClr val="F6F8FB"/>
                    </a:solidFill>
                  </a:tcPr>
                </a:tc>
                <a:tc>
                  <a:txBody>
                    <a:bodyPr wrap="square" lIns="36576" rIns="36576" tIns="18288" bIns="18288"/>
                    <a:lstStyle/>
                    <a:p>
                      <a:r>
                        <a:rPr sz="720" b="0">
                          <a:solidFill>
                            <a:srgbClr val="21242A"/>
                          </a:solidFill>
                          <a:latin typeface="Microsoft YaHei"/>
                        </a:rPr>
                        <a:t>bulky disease (OR 2.45, 95% CI 1.33–4.52; P=0.004), Ki67≥80% (OR 0.52, 95% CI 0.29–0.95; P=0.033), WBC≥5×10^9/L (OR 2.2...</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疾病场景：PMBCL/特殊亚型</a:t>
            </a:r>
          </a:p>
          <a:p>
            <a:pPr>
              <a:lnSpc>
                <a:spcPct val="103000"/>
              </a:lnSpc>
              <a:spcAft>
                <a:spcPts val="300"/>
              </a:spcAft>
              <a:defRPr sz="780">
                <a:solidFill>
                  <a:srgbClr val="21242A"/>
                </a:solidFill>
                <a:latin typeface="Microsoft YaHei"/>
              </a:defRPr>
            </a:pPr>
            <a:r>
              <a:t>药物/技术：双抗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摘要号：PS2077</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高比例的肿瘤内tcf1+t细胞预测复发/难治性原发性纵隔大b细胞淋巴瘤的良好免疫治疗反应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high proportion of intratumoral tcf1+ t-cells predicts favorable immunotherap...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7823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原发纵隔大B细胞淋巴瘤</a:t>
            </a:r>
          </a:p>
          <a:p>
            <a:pPr>
              <a:lnSpc>
                <a:spcPct val="103000"/>
              </a:lnSpc>
              <a:spcAft>
                <a:spcPts val="300"/>
              </a:spcAft>
              <a:defRPr sz="800">
                <a:solidFill>
                  <a:srgbClr val="21242A"/>
                </a:solidFill>
                <a:latin typeface="Microsoft YaHei"/>
              </a:defRPr>
            </a:pPr>
            <a:r>
              <a:t>N=27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回顾性临床研究结果：high proportion of intratumoral tcf1+ t-cells predict...</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客观缓解率（ORR）：高TCF1+组91.7%，低TCF1+组26.7%</a:t>
            </a:r>
          </a:p>
          <a:p>
            <a:pPr>
              <a:lnSpc>
                <a:spcPct val="103000"/>
              </a:lnSpc>
              <a:spcAft>
                <a:spcPts val="300"/>
              </a:spcAft>
              <a:defRPr sz="800">
                <a:solidFill>
                  <a:srgbClr val="21242A"/>
                </a:solidFill>
                <a:latin typeface="Microsoft YaHei"/>
              </a:defRPr>
            </a:pPr>
            <a:r>
              <a:t>完全缓解率（CR）：高TCF1+组58.3%，低TCF1+组6.7%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人数：27</a:t>
            </a:r>
          </a:p>
          <a:p>
            <a:pPr>
              <a:lnSpc>
                <a:spcPct val="103000"/>
              </a:lnSpc>
              <a:spcAft>
                <a:spcPts val="300"/>
              </a:spcAft>
              <a:defRPr sz="810">
                <a:solidFill>
                  <a:srgbClr val="21242A"/>
                </a:solidFill>
                <a:latin typeface="Microsoft YaHei"/>
              </a:defRPr>
            </a:pPr>
            <a:r>
              <a:t>适应症：原发纵隔大B细胞淋巴瘤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研究主题：high proportion of intratumoral tcf1+ t-cells predicts favorable immunotherapy response in relapsed/refractory primary...</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高比例的肿瘤内tcf1+t细胞预测复发/难治性原发性纵隔大b细胞淋巴瘤的良好免疫治疗反应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high proportion of intratumoral tcf1+ t-cells predicts favorable immunotherap...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7823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EHA原文结果（中文字段未通过数字核对）（1/2）</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Baseline characteristics were balanced between groups, including median age (30 vs 31 years) and gender distr</a:t>
            </a:r>
          </a:p>
          <a:p>
            <a:pPr>
              <a:lnSpc>
                <a:spcPct val="103000"/>
              </a:lnSpc>
              <a:spcAft>
                <a:spcPts val="300"/>
              </a:spcAft>
              <a:defRPr sz="819">
                <a:solidFill>
                  <a:srgbClr val="21242A"/>
                </a:solidFill>
                <a:latin typeface="Microsoft YaHei"/>
              </a:defRPr>
            </a:pPr>
            <a:r>
              <a:t>ibution (50% vs 47% female).</a:t>
            </a:r>
          </a:p>
          <a:p>
            <a:pPr>
              <a:lnSpc>
                <a:spcPct val="103000"/>
              </a:lnSpc>
              <a:spcAft>
                <a:spcPts val="300"/>
              </a:spcAft>
              <a:defRPr sz="819">
                <a:solidFill>
                  <a:srgbClr val="21242A"/>
                </a:solidFill>
                <a:latin typeface="Microsoft YaHei"/>
              </a:defRPr>
            </a:pPr>
            <a:r>
              <a:t>The mean proportion of TCF1+ T-cells was 39.4% ± 5.9% in the high group versus 11.0% ± 4.6% in the normal/low group.</a:t>
            </a:r>
          </a:p>
          <a:p>
            <a:pPr>
              <a:lnSpc>
                <a:spcPct val="103000"/>
              </a:lnSpc>
              <a:spcAft>
                <a:spcPts val="300"/>
              </a:spcAft>
              <a:defRPr sz="819">
                <a:solidFill>
                  <a:srgbClr val="21242A"/>
                </a:solidFill>
                <a:latin typeface="Microsoft YaHei"/>
              </a:defRPr>
            </a:pPr>
            <a:r>
              <a:t>CD8+ TIL density was significantly higher in the high TCF1+ group (1177 ± 262 vs 704 ± 193 cells/mm², p Summary/Conclu</a:t>
            </a:r>
          </a:p>
          <a:p>
            <a:pPr>
              <a:lnSpc>
                <a:spcPct val="103000"/>
              </a:lnSpc>
              <a:spcAft>
                <a:spcPts val="300"/>
              </a:spcAft>
              <a:defRPr sz="819">
                <a:solidFill>
                  <a:srgbClr val="21242A"/>
                </a:solidFill>
                <a:latin typeface="Microsoft YaHei"/>
              </a:defRPr>
            </a:pPr>
            <a:r>
              <a:t>sion: A high proportion of intratumoral TCF1+ T-lymphocytes is strongly associated with superior response rates and si</a:t>
            </a:r>
          </a:p>
          <a:p>
            <a:pPr>
              <a:lnSpc>
                <a:spcPct val="103000"/>
              </a:lnSpc>
              <a:spcAft>
                <a:spcPts val="300"/>
              </a:spcAft>
              <a:defRPr sz="819">
                <a:solidFill>
                  <a:srgbClr val="21242A"/>
                </a:solidFill>
                <a:latin typeface="Microsoft YaHei"/>
              </a:defRPr>
            </a:pPr>
            <a:r>
              <a:t>gnificantly prolonged survival in patients with R/R PMBCL treated with immunotherapy.</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疾病场景：PMBCL/特殊亚型</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摘要号：PS2123</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高比例的肿瘤内tcf1+t细胞预测复发/难治性原发性纵隔大b细胞淋巴瘤的良好免疫治疗反应</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high proportion of intratumoral tcf1+ t-cells predicts favorable immunotherap...</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PS2123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478231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EHA原文结果（中文字段未通过数字核对）（2/2）</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These findings support the integration of TCF1+ T-cell assessment into clinical decision-making and may facilitate the</a:t>
            </a:r>
          </a:p>
          <a:p>
            <a:pPr>
              <a:lnSpc>
                <a:spcPct val="103000"/>
              </a:lnSpc>
              <a:spcAft>
                <a:spcPts val="300"/>
              </a:spcAft>
              <a:defRPr sz="819">
                <a:solidFill>
                  <a:srgbClr val="21242A"/>
                </a:solidFill>
                <a:latin typeface="Microsoft YaHei"/>
              </a:defRPr>
            </a:pPr>
            <a:r>
              <a:t> development of personalized treatment strategies in R/R PMBCL.</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利用日本多中心注册数据研究青少年和年轻人成熟侵袭性b细胞淋巴瘤的临床和生物学特征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clinical and biological characteristics of mature aggressive b-cell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PS2200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321808"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伯基特淋巴瘤，原发纵隔大B细胞淋巴瘤，大B细胞淋巴瘤，弥漫性大B细胞淋巴瘤</a:t>
            </a:r>
          </a:p>
          <a:p>
            <a:pPr>
              <a:lnSpc>
                <a:spcPct val="103000"/>
              </a:lnSpc>
              <a:spcAft>
                <a:spcPts val="300"/>
              </a:spcAft>
              <a:defRPr sz="800">
                <a:solidFill>
                  <a:srgbClr val="21242A"/>
                </a:solidFill>
                <a:latin typeface="Microsoft YaHei"/>
              </a:defRPr>
            </a:pPr>
            <a:r>
              <a:t>N=114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回顾性临床研究结果：clinical and biological characteristics of mature agg...</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5年总生存率（OS）: DLBCL 87%</a:t>
            </a:r>
          </a:p>
          <a:p>
            <a:pPr>
              <a:lnSpc>
                <a:spcPct val="103000"/>
              </a:lnSpc>
              <a:spcAft>
                <a:spcPts val="300"/>
              </a:spcAft>
              <a:defRPr sz="800">
                <a:solidFill>
                  <a:srgbClr val="21242A"/>
                </a:solidFill>
                <a:latin typeface="Microsoft YaHei"/>
              </a:defRPr>
            </a:pPr>
            <a:r>
              <a:t>5年OS: PMBCL 90%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人数：114</a:t>
            </a:r>
          </a:p>
          <a:p>
            <a:pPr>
              <a:lnSpc>
                <a:spcPct val="103000"/>
              </a:lnSpc>
              <a:spcAft>
                <a:spcPts val="300"/>
              </a:spcAft>
              <a:defRPr sz="810">
                <a:solidFill>
                  <a:srgbClr val="21242A"/>
                </a:solidFill>
                <a:latin typeface="Microsoft YaHei"/>
              </a:defRPr>
            </a:pPr>
            <a:r>
              <a:t>适应症：伯基特淋巴瘤、原发纵隔大B细胞淋巴瘤、大B细胞淋巴瘤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登记号：UMIN000046477</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研究主题：clinical and biological characteristics of mature aggressive b-cell lymphoma in adolescents and young adults using mult...</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利用日本多中心注册数据研究青少年和年轻人成熟侵袭性b细胞淋巴瘤的临床和生物学特征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clinical and biological characteristics of mature aggressive b-cell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PS2200</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PMBCL/特殊亚型</a:t>
            </a:r>
          </a:p>
        </p:txBody>
      </p:sp>
      <p:sp>
        <p:nvSpPr>
          <p:cNvPr id="10" name="TextBox 9"/>
          <p:cNvSpPr txBox="1"/>
          <p:nvPr/>
        </p:nvSpPr>
        <p:spPr>
          <a:xfrm>
            <a:off x="5321808"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5年总生存率（OS）</a:t>
                      </a:r>
                    </a:p>
                  </a:txBody>
                  <a:tcPr>
                    <a:solidFill>
                      <a:srgbClr val="F6F8FB"/>
                    </a:solidFill>
                  </a:tcPr>
                </a:tc>
                <a:tc>
                  <a:txBody>
                    <a:bodyPr wrap="square" lIns="36576" rIns="36576" tIns="18288" bIns="18288"/>
                    <a:lstStyle/>
                    <a:p>
                      <a:r>
                        <a:rPr sz="720" b="0">
                          <a:solidFill>
                            <a:srgbClr val="21242A"/>
                          </a:solidFill>
                          <a:latin typeface="Microsoft YaHei"/>
                        </a:rPr>
                        <a:t>DLBCL 87%</a:t>
                      </a:r>
                    </a:p>
                  </a:txBody>
                  <a:tcPr>
                    <a:solidFill>
                      <a:srgbClr val="F6F8FB"/>
                    </a:solidFill>
                  </a:tcPr>
                </a:tc>
              </a:tr>
              <a:tr h="376428">
                <a:tc>
                  <a:txBody>
                    <a:bodyPr wrap="square" lIns="36576" rIns="36576" tIns="18288" bIns="18288"/>
                    <a:lstStyle/>
                    <a:p>
                      <a:r>
                        <a:rPr sz="720" b="1">
                          <a:solidFill>
                            <a:srgbClr val="21242A"/>
                          </a:solidFill>
                          <a:latin typeface="Microsoft YaHei"/>
                        </a:rPr>
                        <a:t>5年OS</a:t>
                      </a:r>
                    </a:p>
                  </a:txBody>
                  <a:tcPr>
                    <a:solidFill>
                      <a:srgbClr val="FFFFFF"/>
                    </a:solidFill>
                  </a:tcPr>
                </a:tc>
                <a:tc>
                  <a:txBody>
                    <a:bodyPr wrap="square" lIns="36576" rIns="36576" tIns="18288" bIns="18288"/>
                    <a:lstStyle/>
                    <a:p>
                      <a:r>
                        <a:rPr sz="720" b="0">
                          <a:solidFill>
                            <a:srgbClr val="21242A"/>
                          </a:solidFill>
                          <a:latin typeface="Microsoft YaHei"/>
                        </a:rPr>
                        <a:t>PMBCL 90%</a:t>
                      </a:r>
                    </a:p>
                  </a:txBody>
                  <a:tcPr>
                    <a:solidFill>
                      <a:srgbClr val="FFFFFF"/>
                    </a:solidFill>
                  </a:tcPr>
                </a:tc>
              </a:tr>
              <a:tr h="376428">
                <a:tc>
                  <a:txBody>
                    <a:bodyPr wrap="square" lIns="36576" rIns="36576" tIns="18288" bIns="18288"/>
                    <a:lstStyle/>
                    <a:p>
                      <a:r>
                        <a:rPr sz="720" b="1">
                          <a:solidFill>
                            <a:srgbClr val="21242A"/>
                          </a:solidFill>
                          <a:latin typeface="Microsoft YaHei"/>
                        </a:rPr>
                        <a:t>5年OS</a:t>
                      </a:r>
                    </a:p>
                  </a:txBody>
                  <a:tcPr>
                    <a:solidFill>
                      <a:srgbClr val="F6F8FB"/>
                    </a:solidFill>
                  </a:tcPr>
                </a:tc>
                <a:tc>
                  <a:txBody>
                    <a:bodyPr wrap="square" lIns="36576" rIns="36576" tIns="18288" bIns="18288"/>
                    <a:lstStyle/>
                    <a:p>
                      <a:r>
                        <a:rPr sz="720" b="0">
                          <a:solidFill>
                            <a:srgbClr val="21242A"/>
                          </a:solidFill>
                          <a:latin typeface="Microsoft YaHei"/>
                        </a:rPr>
                        <a:t>BL 55%</a:t>
                      </a:r>
                    </a:p>
                  </a:txBody>
                  <a:tcPr>
                    <a:solidFill>
                      <a:srgbClr val="F6F8FB"/>
                    </a:solidFill>
                  </a:tcPr>
                </a:tc>
              </a:tr>
              <a:tr h="376428">
                <a:tc>
                  <a:txBody>
                    <a:bodyPr wrap="square" lIns="36576" rIns="36576" tIns="18288" bIns="18288"/>
                    <a:lstStyle/>
                    <a:p>
                      <a:r>
                        <a:rPr sz="720" b="1">
                          <a:solidFill>
                            <a:srgbClr val="21242A"/>
                          </a:solidFill>
                          <a:latin typeface="Microsoft YaHei"/>
                        </a:rPr>
                        <a:t>5年OS</a:t>
                      </a:r>
                    </a:p>
                  </a:txBody>
                  <a:tcPr>
                    <a:solidFill>
                      <a:srgbClr val="FFFFFF"/>
                    </a:solidFill>
                  </a:tcPr>
                </a:tc>
                <a:tc>
                  <a:txBody>
                    <a:bodyPr wrap="square" lIns="36576" rIns="36576" tIns="18288" bIns="18288"/>
                    <a:lstStyle/>
                    <a:p>
                      <a:r>
                        <a:rPr sz="720" b="0">
                          <a:solidFill>
                            <a:srgbClr val="21242A"/>
                          </a:solidFill>
                          <a:latin typeface="Microsoft YaHei"/>
                        </a:rPr>
                        <a:t>HGBL 100%</a:t>
                      </a:r>
                    </a:p>
                  </a:txBody>
                  <a:tcPr>
                    <a:solidFill>
                      <a:srgbClr val="FFFFFF"/>
                    </a:solidFill>
                  </a:tcPr>
                </a:tc>
              </a:tr>
              <a:tr h="376428">
                <a:tc>
                  <a:txBody>
                    <a:bodyPr wrap="square" lIns="36576" rIns="36576" tIns="18288" bIns="18288"/>
                    <a:lstStyle/>
                    <a:p>
                      <a:r>
                        <a:rPr sz="720" b="1">
                          <a:solidFill>
                            <a:srgbClr val="21242A"/>
                          </a:solidFill>
                          <a:latin typeface="Microsoft YaHei"/>
                        </a:rPr>
                        <a:t>RNA-seq分组5年OS</a:t>
                      </a:r>
                    </a:p>
                  </a:txBody>
                  <a:tcPr>
                    <a:solidFill>
                      <a:srgbClr val="F6F8FB"/>
                    </a:solidFill>
                  </a:tcPr>
                </a:tc>
                <a:tc>
                  <a:txBody>
                    <a:bodyPr wrap="square" lIns="36576" rIns="36576" tIns="18288" bIns="18288"/>
                    <a:lstStyle/>
                    <a:p>
                      <a:r>
                        <a:rPr sz="720" b="0">
                          <a:solidFill>
                            <a:srgbClr val="21242A"/>
                          </a:solidFill>
                          <a:latin typeface="Microsoft YaHei"/>
                        </a:rPr>
                        <a:t>Group 1 100%, Group 2 100%, Group 3 50%, Group 4 100%</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疾病场景：PMBCL/特殊亚型</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摘要号：PS2200</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持续几秒钟：第二次cd19 car t细胞输注后的临床结果和反应预测因素</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going for seconds: clinical outcomes and response predictors following second...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PF1257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B细胞急性淋巴细胞白血病，弥漫性大B细胞淋巴瘤，滤泡性淋巴瘤</a:t>
            </a:r>
          </a:p>
          <a:p>
            <a:pPr>
              <a:lnSpc>
                <a:spcPct val="103000"/>
              </a:lnSpc>
              <a:spcAft>
                <a:spcPts val="300"/>
              </a:spcAft>
              <a:defRPr sz="800">
                <a:solidFill>
                  <a:srgbClr val="21242A"/>
                </a:solidFill>
                <a:latin typeface="Microsoft YaHei"/>
              </a:defRPr>
            </a:pPr>
            <a:r>
              <a:t>N=12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Lisocabtagene maraleucel</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最佳总体缓解率（ORR）：91%（完全缓解58%，部分缓解33%）</a:t>
            </a:r>
          </a:p>
          <a:p>
            <a:pPr>
              <a:lnSpc>
                <a:spcPct val="103000"/>
              </a:lnSpc>
              <a:spcAft>
                <a:spcPts val="300"/>
              </a:spcAft>
              <a:defRPr sz="800">
                <a:solidFill>
                  <a:srgbClr val="21242A"/>
                </a:solidFill>
                <a:latin typeface="Microsoft YaHei"/>
              </a:defRPr>
            </a:pPr>
            <a:r>
              <a:t>中位无进展生存期（PFS）：9.2个月（范围0.9–58.7）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人数：12</a:t>
            </a:r>
          </a:p>
          <a:p>
            <a:pPr>
              <a:lnSpc>
                <a:spcPct val="103000"/>
              </a:lnSpc>
              <a:spcAft>
                <a:spcPts val="300"/>
              </a:spcAft>
              <a:defRPr sz="810">
                <a:solidFill>
                  <a:srgbClr val="21242A"/>
                </a:solidFill>
                <a:latin typeface="Microsoft YaHei"/>
              </a:defRPr>
            </a:pPr>
            <a:r>
              <a:t>适应症：B细胞急性淋巴细胞白血病、弥漫性大B细胞淋巴瘤、滤泡性淋巴瘤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试验药/方案：阿基仑赛、Lisocabtagene maraleucel、Tisagenlecleucel、zorpocabtagene autoleucel</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持续几秒钟：第二次cd19 car t细胞输注后的临床结果和反应预测因素</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going for seconds: clinical outcomes and response predictors following second...</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PF1257</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169/187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451713">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451713">
                <a:tc>
                  <a:txBody>
                    <a:bodyPr wrap="square" lIns="36576" rIns="36576" tIns="18288" bIns="18288"/>
                    <a:lstStyle/>
                    <a:p>
                      <a:r>
                        <a:rPr sz="720" b="1">
                          <a:solidFill>
                            <a:srgbClr val="21242A"/>
                          </a:solidFill>
                          <a:latin typeface="Microsoft YaHei"/>
                        </a:rPr>
                        <a:t>最佳总体缓解率（ORR）</a:t>
                      </a:r>
                    </a:p>
                  </a:txBody>
                  <a:tcPr>
                    <a:solidFill>
                      <a:srgbClr val="F6F8FB"/>
                    </a:solidFill>
                  </a:tcPr>
                </a:tc>
                <a:tc>
                  <a:txBody>
                    <a:bodyPr wrap="square" lIns="36576" rIns="36576" tIns="18288" bIns="18288"/>
                    <a:lstStyle/>
                    <a:p>
                      <a:r>
                        <a:rPr sz="720" b="0">
                          <a:solidFill>
                            <a:srgbClr val="21242A"/>
                          </a:solidFill>
                          <a:latin typeface="Microsoft YaHei"/>
                        </a:rPr>
                        <a:t>91%（完全缓解58%，部分缓解33%）</a:t>
                      </a:r>
                    </a:p>
                  </a:txBody>
                  <a:tcPr>
                    <a:solidFill>
                      <a:srgbClr val="F6F8FB"/>
                    </a:solidFill>
                  </a:tcPr>
                </a:tc>
              </a:tr>
              <a:tr h="451713">
                <a:tc>
                  <a:txBody>
                    <a:bodyPr wrap="square" lIns="36576" rIns="36576" tIns="18288" bIns="18288"/>
                    <a:lstStyle/>
                    <a:p>
                      <a:r>
                        <a:rPr sz="720" b="1">
                          <a:solidFill>
                            <a:srgbClr val="21242A"/>
                          </a:solidFill>
                          <a:latin typeface="Microsoft YaHei"/>
                        </a:rPr>
                        <a:t>中位无进展生存期（PFS）</a:t>
                      </a:r>
                    </a:p>
                  </a:txBody>
                  <a:tcPr>
                    <a:solidFill>
                      <a:srgbClr val="FFFFFF"/>
                    </a:solidFill>
                  </a:tcPr>
                </a:tc>
                <a:tc>
                  <a:txBody>
                    <a:bodyPr wrap="square" lIns="36576" rIns="36576" tIns="18288" bIns="18288"/>
                    <a:lstStyle/>
                    <a:p>
                      <a:r>
                        <a:rPr sz="720" b="0">
                          <a:solidFill>
                            <a:srgbClr val="21242A"/>
                          </a:solidFill>
                          <a:latin typeface="Microsoft YaHei"/>
                        </a:rPr>
                        <a:t>9.2个月（范围0.9–58.7）</a:t>
                      </a:r>
                    </a:p>
                  </a:txBody>
                  <a:tcPr>
                    <a:solidFill>
                      <a:srgbClr val="FFFFFF"/>
                    </a:solidFill>
                  </a:tcPr>
                </a:tc>
              </a:tr>
              <a:tr h="451713">
                <a:tc>
                  <a:txBody>
                    <a:bodyPr wrap="square" lIns="36576" rIns="36576" tIns="18288" bIns="18288"/>
                    <a:lstStyle/>
                    <a:p>
                      <a:r>
                        <a:rPr sz="720" b="1">
                          <a:solidFill>
                            <a:srgbClr val="21242A"/>
                          </a:solidFill>
                          <a:latin typeface="Microsoft YaHei"/>
                        </a:rPr>
                        <a:t>中位随访时间</a:t>
                      </a:r>
                    </a:p>
                  </a:txBody>
                  <a:tcPr>
                    <a:solidFill>
                      <a:srgbClr val="F6F8FB"/>
                    </a:solidFill>
                  </a:tcPr>
                </a:tc>
                <a:tc>
                  <a:txBody>
                    <a:bodyPr wrap="square" lIns="36576" rIns="36576" tIns="18288" bIns="18288"/>
                    <a:lstStyle/>
                    <a:p>
                      <a:r>
                        <a:rPr sz="720" b="0">
                          <a:solidFill>
                            <a:srgbClr val="21242A"/>
                          </a:solidFill>
                          <a:latin typeface="Microsoft YaHei"/>
                        </a:rPr>
                        <a:t>11.9个月（范围0.9–58.7）</a:t>
                      </a:r>
                    </a:p>
                  </a:txBody>
                  <a:tcPr>
                    <a:solidFill>
                      <a:srgbClr val="F6F8FB"/>
                    </a:solidFill>
                  </a:tcPr>
                </a:tc>
              </a:tr>
              <a:tr h="451716">
                <a:tc>
                  <a:txBody>
                    <a:bodyPr wrap="square" lIns="36576" rIns="36576" tIns="18288" bIns="18288"/>
                    <a:lstStyle/>
                    <a:p>
                      <a:r>
                        <a:rPr sz="720" b="1">
                          <a:solidFill>
                            <a:srgbClr val="21242A"/>
                          </a:solidFill>
                          <a:latin typeface="Microsoft YaHei"/>
                        </a:rPr>
                        <a:t>死亡人数</a:t>
                      </a:r>
                    </a:p>
                  </a:txBody>
                  <a:tcPr>
                    <a:solidFill>
                      <a:srgbClr val="FFFFFF"/>
                    </a:solidFill>
                  </a:tcPr>
                </a:tc>
                <a:tc>
                  <a:txBody>
                    <a:bodyPr wrap="square" lIns="36576" rIns="36576" tIns="18288" bIns="18288"/>
                    <a:lstStyle/>
                    <a:p>
                      <a:r>
                        <a:rPr sz="720" b="0">
                          <a:solidFill>
                            <a:srgbClr val="21242A"/>
                          </a:solidFill>
                          <a:latin typeface="Microsoft YaHei"/>
                        </a:rPr>
                        <a:t>7例，其中5例因复发/进展</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疾病场景：转化/Richter</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摘要号：PF1257</a:t>
            </a:r>
          </a:p>
          <a:p>
            <a:pPr>
              <a:lnSpc>
                <a:spcPct val="103000"/>
              </a:lnSpc>
              <a:spcAft>
                <a:spcPts val="300"/>
              </a:spcAft>
              <a:defRPr sz="740">
                <a:solidFill>
                  <a:srgbClr val="5E6570"/>
                </a:solidFill>
                <a:latin typeface="Microsoft YaHei"/>
              </a:defRPr>
            </a:pPr>
            <a:r>
              <a:t>会议栏目：26. Gene therapy, cellular immunotherapy and vaccination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基线中性粒细胞与淋巴细胞比值（nlr）对双特异性抗体治疗后淋巴瘤患者生存结果的影响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baseline neutrophil-to-lymphocyte ratio (nlr) on survival outcomes...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弥漫性大B细胞淋巴瘤，滤泡性淋巴瘤</a:t>
            </a:r>
          </a:p>
          <a:p>
            <a:pPr>
              <a:lnSpc>
                <a:spcPct val="103000"/>
              </a:lnSpc>
              <a:spcAft>
                <a:spcPts val="300"/>
              </a:spcAft>
              <a:defRPr sz="800">
                <a:solidFill>
                  <a:srgbClr val="21242A"/>
                </a:solidFill>
                <a:latin typeface="Microsoft YaHei"/>
              </a:defRPr>
            </a:pPr>
            <a:r>
              <a:t>N=494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试验药/方案：艾可瑞妥单抗</a:t>
            </a:r>
          </a:p>
          <a:p>
            <a:pPr>
              <a:lnSpc>
                <a:spcPct val="103000"/>
              </a:lnSpc>
              <a:spcAft>
                <a:spcPts val="300"/>
              </a:spcAft>
              <a:defRPr sz="800">
                <a:solidFill>
                  <a:srgbClr val="21242A"/>
                </a:solidFill>
                <a:latin typeface="Microsoft YaHei"/>
              </a:defRPr>
            </a:pPr>
            <a:r>
              <a:t>格菲妥单抗</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中位无进展生存期（PFS）：总体6.2个月</a:t>
            </a:r>
          </a:p>
          <a:p>
            <a:pPr>
              <a:lnSpc>
                <a:spcPct val="103000"/>
              </a:lnSpc>
              <a:spcAft>
                <a:spcPts val="300"/>
              </a:spcAft>
              <a:defRPr sz="800">
                <a:solidFill>
                  <a:srgbClr val="21242A"/>
                </a:solidFill>
                <a:latin typeface="Microsoft YaHei"/>
              </a:defRPr>
            </a:pPr>
            <a:r>
              <a:t>高NLR组（&gt;5.0）3.8个月 vs 低NLR组12.1个月，HR=1.45（95%CI 1.1-1.8，p&lt;0.01）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人数：494</a:t>
            </a:r>
          </a:p>
          <a:p>
            <a:pPr>
              <a:lnSpc>
                <a:spcPct val="103000"/>
              </a:lnSpc>
              <a:spcAft>
                <a:spcPts val="300"/>
              </a:spcAft>
              <a:defRPr sz="810">
                <a:solidFill>
                  <a:srgbClr val="21242A"/>
                </a:solidFill>
                <a:latin typeface="Microsoft YaHei"/>
              </a:defRPr>
            </a:pPr>
            <a:r>
              <a:t>适应症：弥漫性大B细胞淋巴瘤、滤泡性淋巴瘤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试验药/方案：艾可瑞妥单抗、格菲妥单抗、莫妥珠单抗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基线中性粒细胞与淋巴细胞比值（nlr）对双特异性抗体治疗后淋巴瘤患者生存结果的影响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baseline neutrophil-to-lymphocyte ratio (nlr) on survival outcomes...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EHA原文结果（中文字段未通过数字核对）（1/4）</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494 pts were included; 68% (n=338) with LBCL/HGBCL (25% transformed), 19% FL (n=94), 13% other histologies (n</a:t>
            </a:r>
          </a:p>
          <a:p>
            <a:pPr>
              <a:lnSpc>
                <a:spcPct val="103000"/>
              </a:lnSpc>
              <a:spcAft>
                <a:spcPts val="300"/>
              </a:spcAft>
              <a:defRPr sz="819">
                <a:solidFill>
                  <a:srgbClr val="21242A"/>
                </a:solidFill>
                <a:latin typeface="Microsoft YaHei"/>
              </a:defRPr>
            </a:pPr>
            <a:r>
              <a:t>=62).</a:t>
            </a:r>
          </a:p>
          <a:p>
            <a:pPr>
              <a:lnSpc>
                <a:spcPct val="103000"/>
              </a:lnSpc>
              <a:spcAft>
                <a:spcPts val="300"/>
              </a:spcAft>
              <a:defRPr sz="819">
                <a:solidFill>
                  <a:srgbClr val="21242A"/>
                </a:solidFill>
                <a:latin typeface="Microsoft YaHei"/>
              </a:defRPr>
            </a:pPr>
            <a:r>
              <a:t>Pts received glofit (41%), epco (35%), or mosu (24%).</a:t>
            </a:r>
          </a:p>
          <a:p>
            <a:pPr>
              <a:lnSpc>
                <a:spcPct val="103000"/>
              </a:lnSpc>
              <a:spcAft>
                <a:spcPts val="300"/>
              </a:spcAft>
              <a:defRPr sz="819">
                <a:solidFill>
                  <a:srgbClr val="21242A"/>
                </a:solidFill>
                <a:latin typeface="Microsoft YaHei"/>
              </a:defRPr>
            </a:pPr>
            <a:r>
              <a:t>Prior to BsAb, median age was 69 yrs (range 22-93) and 64% had stage 4 disease.</a:t>
            </a:r>
          </a:p>
          <a:p>
            <a:pPr>
              <a:lnSpc>
                <a:spcPct val="103000"/>
              </a:lnSpc>
              <a:spcAft>
                <a:spcPts val="300"/>
              </a:spcAft>
              <a:defRPr sz="819">
                <a:solidFill>
                  <a:srgbClr val="21242A"/>
                </a:solidFill>
                <a:latin typeface="Microsoft YaHei"/>
              </a:defRPr>
            </a:pPr>
            <a:r>
              <a:t>The median pre-treatment (tx) WBC was 5.4 (range 0.1-205), ANC was 3.5 (range 0-82), ALC was 0.70 (range 0-197), and N</a:t>
            </a:r>
          </a:p>
          <a:p>
            <a:pPr>
              <a:lnSpc>
                <a:spcPct val="103000"/>
              </a:lnSpc>
              <a:spcAft>
                <a:spcPts val="300"/>
              </a:spcAft>
              <a:defRPr sz="819">
                <a:solidFill>
                  <a:srgbClr val="21242A"/>
                </a:solidFill>
                <a:latin typeface="Microsoft YaHei"/>
              </a:defRPr>
            </a:pPr>
            <a:r>
              <a:t>LR was 10 (range 0-274).</a:t>
            </a:r>
          </a:p>
          <a:p>
            <a:pPr>
              <a:lnSpc>
                <a:spcPct val="103000"/>
              </a:lnSpc>
              <a:spcAft>
                <a:spcPts val="300"/>
              </a:spcAft>
              <a:defRPr sz="819">
                <a:solidFill>
                  <a:srgbClr val="21242A"/>
                </a:solidFill>
                <a:latin typeface="Microsoft YaHei"/>
              </a:defRPr>
            </a:pPr>
            <a:r>
              <a:t>There was no difference among age, sex, stage, elevated LDH, or prior therapies (CAR-T, auto-SCT, number of prior line</a:t>
            </a:r>
          </a:p>
          <a:p>
            <a:pPr>
              <a:lnSpc>
                <a:spcPct val="103000"/>
              </a:lnSpc>
              <a:spcAft>
                <a:spcPts val="300"/>
              </a:spcAft>
              <a:defRPr sz="819">
                <a:solidFill>
                  <a:srgbClr val="21242A"/>
                </a:solidFill>
                <a:latin typeface="Microsoft YaHei"/>
              </a:defRPr>
            </a:pPr>
            <a:r>
              <a:t>s of therapy) among pts with pre-tx high NLR vs low NLR.</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疾病场景：转化/Richter</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摘要号：PS2098</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基线中性粒细胞与淋巴细胞比值（nlr）对双特异性抗体治疗后淋巴瘤患者生存结果的影响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baseline neutrophil-to-lymphocyte ratio (nlr) on survival outcomes...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Use of BsAb was similar other than lower use of mosu among pts with high NLR vs low NLR (13% vs 31%).</a:t>
            </a:r>
          </a:p>
          <a:p>
            <a:pPr>
              <a:lnSpc>
                <a:spcPct val="103000"/>
              </a:lnSpc>
              <a:spcAft>
                <a:spcPts val="300"/>
              </a:spcAft>
              <a:defRPr sz="819">
                <a:solidFill>
                  <a:srgbClr val="21242A"/>
                </a:solidFill>
                <a:latin typeface="Microsoft YaHei"/>
              </a:defRPr>
            </a:pPr>
            <a:r>
              <a:t>At a median follow up of 13 months, the median PFS and OS among all pts were 6.2 months and 21.5 months, respectively.</a:t>
            </a:r>
          </a:p>
          <a:p>
            <a:pPr>
              <a:lnSpc>
                <a:spcPct val="103000"/>
              </a:lnSpc>
              <a:spcAft>
                <a:spcPts val="300"/>
              </a:spcAft>
              <a:defRPr sz="819">
                <a:solidFill>
                  <a:srgbClr val="21242A"/>
                </a:solidFill>
                <a:latin typeface="Microsoft YaHei"/>
              </a:defRPr>
            </a:pPr>
            <a:r>
              <a:t>The optimal cutoff for a high NLR was determined to be 5.0 for PFS and 5.3 for OS.</a:t>
            </a:r>
          </a:p>
          <a:p>
            <a:pPr>
              <a:lnSpc>
                <a:spcPct val="103000"/>
              </a:lnSpc>
              <a:spcAft>
                <a:spcPts val="300"/>
              </a:spcAft>
              <a:defRPr sz="819">
                <a:solidFill>
                  <a:srgbClr val="21242A"/>
                </a:solidFill>
                <a:latin typeface="Microsoft YaHei"/>
              </a:defRPr>
            </a:pPr>
            <a:r>
              <a:t>For high vs low NLR, the median PFS and OS were 3.8 vs 12.1 months and 8.8 vs 21.5 months, respectively.</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基线中性粒细胞与淋巴细胞比值（nlr）对双特异性抗体治疗后淋巴瘤患者生存结果的影响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baseline neutrophil-to-lymphocyte ratio (nlr) on survival outcomes...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After adjusting for baseline clinico-pathological variables, high NLR was independently associated with an inferior PF</a:t>
            </a:r>
          </a:p>
          <a:p>
            <a:pPr>
              <a:lnSpc>
                <a:spcPct val="103000"/>
              </a:lnSpc>
              <a:spcAft>
                <a:spcPts val="300"/>
              </a:spcAft>
              <a:defRPr sz="819">
                <a:solidFill>
                  <a:srgbClr val="21242A"/>
                </a:solidFill>
                <a:latin typeface="Microsoft YaHei"/>
              </a:defRPr>
            </a:pPr>
            <a:r>
              <a:t>S (NLR&gt;5.0, HR 1.45, 95% CI 1.1-1.8, p 5.3, HR 1.4, 95% CI 1.06-2.05, p=0.02) compared to low NLR (Figure 1).</a:t>
            </a:r>
          </a:p>
          <a:p>
            <a:pPr>
              <a:lnSpc>
                <a:spcPct val="103000"/>
              </a:lnSpc>
              <a:spcAft>
                <a:spcPts val="300"/>
              </a:spcAft>
              <a:defRPr sz="819">
                <a:solidFill>
                  <a:srgbClr val="21242A"/>
                </a:solidFill>
                <a:latin typeface="Microsoft YaHei"/>
              </a:defRPr>
            </a:pPr>
            <a:r>
              <a:t>NLR as a continuous variable was also significantly associated with PFS (p=0.02) and OS (p Summary/Conclusion: A high </a:t>
            </a:r>
          </a:p>
          <a:p>
            <a:pPr>
              <a:lnSpc>
                <a:spcPct val="103000"/>
              </a:lnSpc>
              <a:spcAft>
                <a:spcPts val="300"/>
              </a:spcAft>
              <a:defRPr sz="819">
                <a:solidFill>
                  <a:srgbClr val="21242A"/>
                </a:solidFill>
                <a:latin typeface="Microsoft YaHei"/>
              </a:defRPr>
            </a:pPr>
            <a:r>
              <a:t>pre-tx NLR (&gt;5.0) is associated with inferior PFS and OS in pts treated with BsAbs, independent of disease subtype or </a:t>
            </a:r>
          </a:p>
          <a:p>
            <a:pPr>
              <a:lnSpc>
                <a:spcPct val="103000"/>
              </a:lnSpc>
              <a:spcAft>
                <a:spcPts val="300"/>
              </a:spcAft>
              <a:defRPr sz="819">
                <a:solidFill>
                  <a:srgbClr val="21242A"/>
                </a:solidFill>
                <a:latin typeface="Microsoft YaHei"/>
              </a:defRPr>
            </a:pPr>
            <a:r>
              <a:t>specific agent.</a:t>
            </a:r>
          </a:p>
          <a:p>
            <a:pPr>
              <a:lnSpc>
                <a:spcPct val="103000"/>
              </a:lnSpc>
              <a:spcAft>
                <a:spcPts val="300"/>
              </a:spcAft>
              <a:defRPr sz="819">
                <a:solidFill>
                  <a:srgbClr val="21242A"/>
                </a:solidFill>
                <a:latin typeface="Microsoft YaHei"/>
              </a:defRPr>
            </a:pPr>
            <a:r>
              <a:t>NLR is a readily available prognostic marker of response and survival, unlike more complex assays of T-cell phenotype </a:t>
            </a:r>
          </a:p>
          <a:p>
            <a:pPr>
              <a:lnSpc>
                <a:spcPct val="103000"/>
              </a:lnSpc>
              <a:spcAft>
                <a:spcPts val="300"/>
              </a:spcAft>
              <a:defRPr sz="819">
                <a:solidFill>
                  <a:srgbClr val="21242A"/>
                </a:solidFill>
                <a:latin typeface="Microsoft YaHei"/>
              </a:defRPr>
            </a:pPr>
            <a:r>
              <a:t>and function.</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基线中性粒细胞与淋巴细胞比值（nlr）对双特异性抗体治疗后淋巴瘤患者生存结果的影响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impact of baseline neutrophil-to-lymphocyte ratio (nlr) on survival outcomes...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EHA原文结果（中文字段未通过数字核对）（4/4）</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Further investigation into the immunobiological mechanisms driving BsAb resistance in non-responders is warranted.</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瑞典一项基于人群的研究：复发/难治性大b细胞淋巴瘤患者接受car-t治疗与自体干细胞移植的感染率以及普通人群的感染率</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infection rates in patients treated with car-t versus autologous stem cell tr...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N=3264</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分组：试验组1：CAR-T治疗</a:t>
            </a:r>
          </a:p>
          <a:p>
            <a:pPr>
              <a:lnSpc>
                <a:spcPct val="103000"/>
              </a:lnSpc>
              <a:spcAft>
                <a:spcPts val="300"/>
              </a:spcAft>
              <a:defRPr sz="800">
                <a:solidFill>
                  <a:srgbClr val="21242A"/>
                </a:solidFill>
                <a:latin typeface="Microsoft YaHei"/>
              </a:defRPr>
            </a:pPr>
            <a:r>
              <a:t>对照组1：自体干细胞移植（ASCT）</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对照/比较：试验组1：CAR-T治疗</a:t>
            </a:r>
          </a:p>
          <a:p>
            <a:pPr>
              <a:lnSpc>
                <a:spcPct val="103000"/>
              </a:lnSpc>
              <a:spcAft>
                <a:spcPts val="300"/>
              </a:spcAft>
              <a:defRPr sz="800">
                <a:solidFill>
                  <a:srgbClr val="21242A"/>
                </a:solidFill>
                <a:latin typeface="Microsoft YaHei"/>
              </a:defRPr>
            </a:pPr>
            <a:r>
              <a:t>对照组1：自体干细胞移植（ASCT）</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总体感染发生率（每人年）：CAR-T组2.96 (2.63-3.32)，ASCT组1.05 (0.96-1.15)，一般人群0...</a:t>
            </a:r>
          </a:p>
          <a:p>
            <a:pPr>
              <a:lnSpc>
                <a:spcPct val="103000"/>
              </a:lnSpc>
              <a:spcAft>
                <a:spcPts val="300"/>
              </a:spcAft>
              <a:defRPr sz="800">
                <a:solidFill>
                  <a:srgbClr val="21242A"/>
                </a:solidFill>
                <a:latin typeface="Microsoft YaHei"/>
              </a:defRPr>
            </a:pPr>
            <a:r>
              <a:t>CAR-T与ASCT的感染发生率比（IRR）：2.52 (95% CI 2.15-2.96)</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人数：3264</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分组/治疗流程：试验组1：CAR-T治疗、对照组1：自体干细胞移植（ASCT）</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瑞典一项基于人群的研究：复发/难治性大b细胞淋巴瘤患者接受car-t治疗与自体干细胞移植的感染率以及普通人群的感染率</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infection rates in patients treated with car-t versus autologous stem cell tr...</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PS2085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总体感染发生率（每人年）</a:t>
                      </a:r>
                    </a:p>
                  </a:txBody>
                  <a:tcPr>
                    <a:solidFill>
                      <a:srgbClr val="F6F8FB"/>
                    </a:solidFill>
                  </a:tcPr>
                </a:tc>
                <a:tc>
                  <a:txBody>
                    <a:bodyPr wrap="square" lIns="36576" rIns="36576" tIns="18288" bIns="18288"/>
                    <a:lstStyle/>
                    <a:p>
                      <a:r>
                        <a:rPr sz="720" b="0">
                          <a:solidFill>
                            <a:srgbClr val="21242A"/>
                          </a:solidFill>
                          <a:latin typeface="Microsoft YaHei"/>
                        </a:rPr>
                        <a:t>CAR-T组2.96 (2.63-3.32)，ASCT组1.05 (0.96-1.15)，一般人群0.28 (0.26-0.29)</a:t>
                      </a:r>
                    </a:p>
                  </a:txBody>
                  <a:tcPr>
                    <a:solidFill>
                      <a:srgbClr val="F6F8FB"/>
                    </a:solidFill>
                  </a:tcPr>
                </a:tc>
              </a:tr>
              <a:tr h="376428">
                <a:tc>
                  <a:txBody>
                    <a:bodyPr wrap="square" lIns="36576" rIns="36576" tIns="18288" bIns="18288"/>
                    <a:lstStyle/>
                    <a:p>
                      <a:r>
                        <a:rPr sz="720" b="1">
                          <a:solidFill>
                            <a:srgbClr val="21242A"/>
                          </a:solidFill>
                          <a:latin typeface="Microsoft YaHei"/>
                        </a:rPr>
                        <a:t>CAR-T与ASCT的感染发生率比（IRR）</a:t>
                      </a:r>
                    </a:p>
                  </a:txBody>
                  <a:tcPr>
                    <a:solidFill>
                      <a:srgbClr val="FFFFFF"/>
                    </a:solidFill>
                  </a:tcPr>
                </a:tc>
                <a:tc>
                  <a:txBody>
                    <a:bodyPr wrap="square" lIns="36576" rIns="36576" tIns="18288" bIns="18288"/>
                    <a:lstStyle/>
                    <a:p>
                      <a:r>
                        <a:rPr sz="720" b="0">
                          <a:solidFill>
                            <a:srgbClr val="21242A"/>
                          </a:solidFill>
                          <a:latin typeface="Microsoft YaHei"/>
                        </a:rPr>
                        <a:t>2.52 (95% CI 2.15-2.96)</a:t>
                      </a:r>
                    </a:p>
                  </a:txBody>
                  <a:tcPr>
                    <a:solidFill>
                      <a:srgbClr val="FFFFFF"/>
                    </a:solidFill>
                  </a:tcPr>
                </a:tc>
              </a:tr>
              <a:tr h="376428">
                <a:tc>
                  <a:txBody>
                    <a:bodyPr wrap="square" lIns="36576" rIns="36576" tIns="18288" bIns="18288"/>
                    <a:lstStyle/>
                    <a:p>
                      <a:r>
                        <a:rPr sz="720" b="1">
                          <a:solidFill>
                            <a:srgbClr val="21242A"/>
                          </a:solidFill>
                          <a:latin typeface="Microsoft YaHei"/>
                        </a:rPr>
                        <a:t>CAR-T与一般人群的IRR</a:t>
                      </a:r>
                    </a:p>
                  </a:txBody>
                  <a:tcPr>
                    <a:solidFill>
                      <a:srgbClr val="F6F8FB"/>
                    </a:solidFill>
                  </a:tcPr>
                </a:tc>
                <a:tc>
                  <a:txBody>
                    <a:bodyPr wrap="square" lIns="36576" rIns="36576" tIns="18288" bIns="18288"/>
                    <a:lstStyle/>
                    <a:p>
                      <a:r>
                        <a:rPr sz="720" b="0">
                          <a:solidFill>
                            <a:srgbClr val="21242A"/>
                          </a:solidFill>
                          <a:latin typeface="Microsoft YaHei"/>
                        </a:rPr>
                        <a:t>9.26 (95% CI 7.96-10.76)</a:t>
                      </a:r>
                    </a:p>
                  </a:txBody>
                  <a:tcPr>
                    <a:solidFill>
                      <a:srgbClr val="F6F8FB"/>
                    </a:solidFill>
                  </a:tcPr>
                </a:tc>
              </a:tr>
              <a:tr h="376428">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最常见感染类型均为细菌感染，病毒和真菌感染在CAR-T和ASCT组更常见</a:t>
                      </a:r>
                    </a:p>
                  </a:txBody>
                  <a:tcPr>
                    <a:solidFill>
                      <a:srgbClr val="FFFFFF"/>
                    </a:solidFill>
                  </a:tcPr>
                </a:tc>
              </a:tr>
              <a:tr h="37642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淋巴瘤复发是CAR-T（96%）和ASCT（76%）患者的主要死因；感染是ASCT患者非复发死亡的主要原因（14%），CAR-T患者无感染相关死亡</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疾病场景：转化/Richter</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摘要号：PS2085</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glofitamab联合吉西他滨和奥沙利铂治疗复发/难治性大b细胞淋巴瘤的实际结果：一项欧洲多中心队列研究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outcomes of glofitamab plus gemcitabine and oxaliplatin in relapse...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N=149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吉西他滨</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总缓解率（BOR）61.1%（CR 28.9%，PR 32.2%）</a:t>
            </a:r>
          </a:p>
          <a:p>
            <a:pPr>
              <a:lnSpc>
                <a:spcPct val="103000"/>
              </a:lnSpc>
              <a:spcAft>
                <a:spcPts val="300"/>
              </a:spcAft>
              <a:defRPr sz="800">
                <a:solidFill>
                  <a:srgbClr val="21242A"/>
                </a:solidFill>
                <a:latin typeface="Microsoft YaHei"/>
              </a:defRPr>
            </a:pPr>
            <a:r>
              <a:t>中位无进展生存期（PFS）13.2个月</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人数：149</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试验药/方案：格菲妥单抗、吉西他滨、奥沙利铂</a:t>
            </a:r>
          </a:p>
          <a:p>
            <a:pPr>
              <a:lnSpc>
                <a:spcPct val="103000"/>
              </a:lnSpc>
              <a:spcAft>
                <a:spcPts val="300"/>
              </a:spcAft>
              <a:defRPr sz="810">
                <a:solidFill>
                  <a:srgbClr val="21242A"/>
                </a:solidFill>
                <a:latin typeface="Microsoft YaHei"/>
              </a:defRPr>
            </a:pPr>
            <a:r>
              <a:t>靶点：CD20、CD3、RNR、DNA</a:t>
            </a:r>
          </a:p>
          <a:p>
            <a:pPr>
              <a:lnSpc>
                <a:spcPct val="103000"/>
              </a:lnSpc>
              <a:spcAft>
                <a:spcPts val="300"/>
              </a:spcAft>
              <a:defRPr sz="810">
                <a:solidFill>
                  <a:srgbClr val="21242A"/>
                </a:solidFill>
                <a:latin typeface="Microsoft YaHei"/>
              </a:defRPr>
            </a:pPr>
            <a:r>
              <a:t>药物/技术类别：双特异性抗体、化药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glofitamab联合吉西他滨和奥沙利铂治疗复发/难治性大b细胞淋巴瘤的实际结果：一项欧洲多中心队列研究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outcomes of glofitamab plus gemcitabine and oxaliplatin in relapse...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PS2074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总缓解率（BOR）61.1%（CR 28.9%，PR 32.2%）</a:t>
                      </a:r>
                    </a:p>
                  </a:txBody>
                  <a:tcPr>
                    <a:solidFill>
                      <a:srgbClr val="F6F8FB"/>
                    </a:solidFill>
                  </a:tcPr>
                </a:tc>
              </a:tr>
              <a:tr h="376428">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中位无进展生存期（PFS）13.2个月</a:t>
                      </a:r>
                    </a:p>
                  </a:txBody>
                  <a:tcPr>
                    <a:solidFill>
                      <a:srgbClr val="FFFFFF"/>
                    </a:solidFill>
                  </a:tcPr>
                </a:tc>
              </a:tr>
              <a:tr h="37642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任何级别细胞因子释放综合征（CRS）发生率51%（≥3级5%）</a:t>
                      </a:r>
                    </a:p>
                  </a:txBody>
                  <a:tcPr>
                    <a:solidFill>
                      <a:srgbClr val="F6F8FB"/>
                    </a:solidFill>
                  </a:tcPr>
                </a:tc>
              </a:tr>
              <a:tr h="376428">
                <a:tc>
                  <a:txBody>
                    <a:bodyPr wrap="square" lIns="36576" rIns="36576" tIns="18288" bIns="18288"/>
                    <a:lstStyle/>
                    <a:p>
                      <a:r>
                        <a:rPr sz="720" b="1">
                          <a:solidFill>
                            <a:srgbClr val="21242A"/>
                          </a:solidFill>
                          <a:latin typeface="Microsoft YaHei"/>
                        </a:rPr>
                        <a:t>结果</a:t>
                      </a:r>
                    </a:p>
                  </a:txBody>
                  <a:tcPr>
                    <a:solidFill>
                      <a:srgbClr val="FFFFFF"/>
                    </a:solidFill>
                  </a:tcPr>
                </a:tc>
                <a:tc>
                  <a:txBody>
                    <a:bodyPr wrap="square" lIns="36576" rIns="36576" tIns="18288" bIns="18288"/>
                    <a:lstStyle/>
                    <a:p>
                      <a:r>
                        <a:rPr sz="720" b="0">
                          <a:solidFill>
                            <a:srgbClr val="21242A"/>
                          </a:solidFill>
                          <a:latin typeface="Microsoft YaHei"/>
                        </a:rPr>
                        <a:t>免疫效应细胞相关神经毒性综合征（ICANS）发生率11.1%（≥3级2.8%）</a:t>
                      </a:r>
                    </a:p>
                  </a:txBody>
                  <a:tcPr>
                    <a:solidFill>
                      <a:srgbClr val="FFFFFF"/>
                    </a:solidFill>
                  </a:tcPr>
                </a:tc>
              </a:tr>
              <a:tr h="376428">
                <a:tc>
                  <a:txBody>
                    <a:bodyPr wrap="square" lIns="36576" rIns="36576" tIns="18288" bIns="18288"/>
                    <a:lstStyle/>
                    <a:p>
                      <a:r>
                        <a:rPr sz="720" b="1">
                          <a:solidFill>
                            <a:srgbClr val="21242A"/>
                          </a:solidFill>
                          <a:latin typeface="Microsoft YaHei"/>
                        </a:rPr>
                        <a:t>结果</a:t>
                      </a:r>
                    </a:p>
                  </a:txBody>
                  <a:tcPr>
                    <a:solidFill>
                      <a:srgbClr val="F6F8FB"/>
                    </a:solidFill>
                  </a:tcPr>
                </a:tc>
                <a:tc>
                  <a:txBody>
                    <a:bodyPr wrap="square" lIns="36576" rIns="36576" tIns="18288" bIns="18288"/>
                    <a:lstStyle/>
                    <a:p>
                      <a:r>
                        <a:rPr sz="720" b="0">
                          <a:solidFill>
                            <a:srgbClr val="21242A"/>
                          </a:solidFill>
                          <a:latin typeface="Microsoft YaHei"/>
                        </a:rPr>
                        <a:t>感染发生率43.7%</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疾病场景：转化/Richter</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摘要号：PS2074</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car-ipi的开发和验证，这是一种基于机器学习的复发/难治性大b细胞淋巴瘤预后评分，用抗cd19-cart细胞治疗</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and validation of car-ipi, a machine learning–derived prognostic...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N=2259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试验药/方案：CD19靶向CAR-T(爱康得生物)</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CAR-IPI模型在测试集的表现：</a:t>
            </a:r>
          </a:p>
          <a:p>
            <a:pPr>
              <a:lnSpc>
                <a:spcPct val="103000"/>
              </a:lnSpc>
              <a:spcAft>
                <a:spcPts val="300"/>
              </a:spcAft>
              <a:defRPr sz="800">
                <a:solidFill>
                  <a:srgbClr val="21242A"/>
                </a:solidFill>
                <a:latin typeface="Microsoft YaHei"/>
              </a:defRPr>
            </a:pPr>
            <a:r>
              <a:t>C-index中位数：67.9%（范围67.1-68.2）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人数：2259</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试验药/方案：CD19靶向CAR-T(爱康得生物)</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car-ipi的开发和验证，这是一种基于机器学习的复发/难治性大b细胞淋巴瘤预后评分，用抗cd19-cart细胞治疗</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and validation of car-ipi, a machine learning–derived prognostic...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EHA原文结果（中文字段未通过数字核对）（1/5）</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The EN model demonstrated the best discrimination in the internal validation set and retained 10 variables: s</a:t>
            </a:r>
          </a:p>
          <a:p>
            <a:pPr>
              <a:lnSpc>
                <a:spcPct val="103000"/>
              </a:lnSpc>
              <a:spcAft>
                <a:spcPts val="300"/>
              </a:spcAft>
              <a:defRPr sz="819">
                <a:solidFill>
                  <a:srgbClr val="21242A"/>
                </a:solidFill>
                <a:latin typeface="Microsoft YaHei"/>
              </a:defRPr>
            </a:pPr>
            <a:r>
              <a:t>ex, histology (de novo vs transformed), Ann Arbor stage, bridging and response to bridging, time from last treatment t</a:t>
            </a:r>
          </a:p>
          <a:p>
            <a:pPr>
              <a:lnSpc>
                <a:spcPct val="103000"/>
              </a:lnSpc>
              <a:spcAft>
                <a:spcPts val="300"/>
              </a:spcAft>
              <a:defRPr sz="819">
                <a:solidFill>
                  <a:srgbClr val="21242A"/>
                </a:solidFill>
                <a:latin typeface="Microsoft YaHei"/>
              </a:defRPr>
            </a:pPr>
            <a:r>
              <a:t>o infusion, LDH ratio, ferritin, CRP, hemoglobin and neutrophil count (Figure).</a:t>
            </a:r>
          </a:p>
          <a:p>
            <a:pPr>
              <a:lnSpc>
                <a:spcPct val="103000"/>
              </a:lnSpc>
              <a:spcAft>
                <a:spcPts val="300"/>
              </a:spcAft>
              <a:defRPr sz="819">
                <a:solidFill>
                  <a:srgbClr val="21242A"/>
                </a:solidFill>
                <a:latin typeface="Microsoft YaHei"/>
              </a:defRPr>
            </a:pPr>
            <a:r>
              <a:t>\n Median (range) C-index was 67.9% (67.1–68.2) for EN, 67.3% (65.5–68.3) for RSF, and 61.4% (52.4–65.6) for SVM (Tabl</a:t>
            </a:r>
          </a:p>
          <a:p>
            <a:pPr>
              <a:lnSpc>
                <a:spcPct val="103000"/>
              </a:lnSpc>
              <a:spcAft>
                <a:spcPts val="300"/>
              </a:spcAft>
              <a:defRPr sz="819">
                <a:solidFill>
                  <a:srgbClr val="21242A"/>
                </a:solidFill>
                <a:latin typeface="Microsoft YaHei"/>
              </a:defRPr>
            </a:pPr>
            <a:r>
              <a:t>e).</a:t>
            </a:r>
          </a:p>
          <a:p>
            <a:pPr>
              <a:lnSpc>
                <a:spcPct val="103000"/>
              </a:lnSpc>
              <a:spcAft>
                <a:spcPts val="300"/>
              </a:spcAft>
              <a:defRPr sz="819">
                <a:solidFill>
                  <a:srgbClr val="21242A"/>
                </a:solidFill>
                <a:latin typeface="Microsoft YaHei"/>
              </a:defRPr>
            </a:pPr>
            <a:r>
              <a:t>Median (range) AUC at 6 months were 74.3% (73.4–75.4), 72.7% (70.2–74.9) and 65.7% (54.0–70.8), respectively (Table).</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疾病场景：转化/Richter</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摘要号：PF978</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car-ipi的开发和验证，这是一种基于机器学习的复发/难治性大b细胞淋巴瘤预后评分，用抗cd19-cart细胞治疗</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and validation of car-ipi, a machine learning–derived prognostic...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Both C-index and AUC at 6 and 12 months were consistently lower for IPI and CAR-HEMATOTOX compared with the EN model (</a:t>
            </a:r>
          </a:p>
          <a:p>
            <a:pPr>
              <a:lnSpc>
                <a:spcPct val="103000"/>
              </a:lnSpc>
              <a:spcAft>
                <a:spcPts val="300"/>
              </a:spcAft>
              <a:defRPr sz="819">
                <a:solidFill>
                  <a:srgbClr val="21242A"/>
                </a:solidFill>
                <a:latin typeface="Microsoft YaHei"/>
              </a:defRPr>
            </a:pPr>
            <a:r>
              <a:t>Table).</a:t>
            </a:r>
          </a:p>
          <a:p>
            <a:pPr>
              <a:lnSpc>
                <a:spcPct val="103000"/>
              </a:lnSpc>
              <a:spcAft>
                <a:spcPts val="300"/>
              </a:spcAft>
              <a:defRPr sz="819">
                <a:solidFill>
                  <a:srgbClr val="21242A"/>
                </a:solidFill>
                <a:latin typeface="Microsoft YaHei"/>
              </a:defRPr>
            </a:pPr>
            <a:r>
              <a:t>\n A simplified sCAR-IPI including LDH ratio, CRP, ferritin and hemoglobin maintained satisfactory predictive performa</a:t>
            </a:r>
          </a:p>
          <a:p>
            <a:pPr>
              <a:lnSpc>
                <a:spcPct val="103000"/>
              </a:lnSpc>
              <a:spcAft>
                <a:spcPts val="300"/>
              </a:spcAft>
              <a:defRPr sz="819">
                <a:solidFill>
                  <a:srgbClr val="21242A"/>
                </a:solidFill>
                <a:latin typeface="Microsoft YaHei"/>
              </a:defRPr>
            </a:pPr>
            <a:r>
              <a:t>nce (Table).</a:t>
            </a:r>
          </a:p>
          <a:p>
            <a:pPr>
              <a:lnSpc>
                <a:spcPct val="103000"/>
              </a:lnSpc>
              <a:spcAft>
                <a:spcPts val="300"/>
              </a:spcAft>
              <a:defRPr sz="819">
                <a:solidFill>
                  <a:srgbClr val="21242A"/>
                </a:solidFill>
                <a:latin typeface="Microsoft YaHei"/>
              </a:defRPr>
            </a:pPr>
            <a:r>
              <a:t>\n External validation in international cohorts is ongoing and will be presented at the meeting. \n Table.</a:t>
            </a:r>
          </a:p>
          <a:p>
            <a:pPr>
              <a:lnSpc>
                <a:spcPct val="103000"/>
              </a:lnSpc>
              <a:spcAft>
                <a:spcPts val="300"/>
              </a:spcAft>
              <a:defRPr sz="819">
                <a:solidFill>
                  <a:srgbClr val="21242A"/>
                </a:solidFill>
                <a:latin typeface="Microsoft YaHei"/>
              </a:defRPr>
            </a:pPr>
            <a:r>
              <a:t>Comparative performances of the different prognostic scores.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car-ipi的开发和验证，这是一种基于机器学习的复发/难治性大b细胞淋巴瘤预后评分，用抗cd19-cart细胞治疗</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and validation of car-ipi, a machine learning–derived prognostic...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\n \n \n \n \n \n \n \n \n \n \n C-index (%) \n \n \n AUC at 6 months (%) \n \n \n AUC at 12 months (%) \n \n \n \n \n</a:t>
            </a:r>
          </a:p>
          <a:p>
            <a:pPr>
              <a:lnSpc>
                <a:spcPct val="103000"/>
              </a:lnSpc>
              <a:spcAft>
                <a:spcPts val="300"/>
              </a:spcAft>
              <a:defRPr sz="819">
                <a:solidFill>
                  <a:srgbClr val="21242A"/>
                </a:solidFill>
                <a:latin typeface="Microsoft YaHei"/>
              </a:defRPr>
            </a:pPr>
            <a:r>
              <a:t> \n \n \n Set \n \n \n Median \n \n \n Range \n \n \n Median \n \n \n Range \n \n \n Median \n \n \n Range \n \n \n \n</a:t>
            </a:r>
          </a:p>
          <a:p>
            <a:pPr>
              <a:lnSpc>
                <a:spcPct val="103000"/>
              </a:lnSpc>
              <a:spcAft>
                <a:spcPts val="300"/>
              </a:spcAft>
              <a:defRPr sz="819">
                <a:solidFill>
                  <a:srgbClr val="21242A"/>
                </a:solidFill>
                <a:latin typeface="Microsoft YaHei"/>
              </a:defRPr>
            </a:pPr>
            <a:r>
              <a:t> \n CAR-IPI \n \n \n Testing \n \n \n 67.9 \n \n \n 67.1 – 68.2 \n \n \n 74.3 \n \n \n 73.4 – 75.4 \n \n \n 74.5 \n \n</a:t>
            </a:r>
          </a:p>
          <a:p>
            <a:pPr>
              <a:lnSpc>
                <a:spcPct val="103000"/>
              </a:lnSpc>
              <a:spcAft>
                <a:spcPts val="300"/>
              </a:spcAft>
              <a:defRPr sz="819">
                <a:solidFill>
                  <a:srgbClr val="21242A"/>
                </a:solidFill>
                <a:latin typeface="Microsoft YaHei"/>
              </a:defRPr>
            </a:pPr>
            <a:r>
              <a:t> \n 73.7 – 75.2 \n \n \n \n \n sCAR-IPI \n \n \n Testing \n \n \n 66.1 \n \n \n 65.4 – 66.7 \n \n \n 71.2 \n \n \n 70.</a:t>
            </a:r>
          </a:p>
          <a:p>
            <a:pPr>
              <a:lnSpc>
                <a:spcPct val="103000"/>
              </a:lnSpc>
              <a:spcAft>
                <a:spcPts val="300"/>
              </a:spcAft>
              <a:defRPr sz="819">
                <a:solidFill>
                  <a:srgbClr val="21242A"/>
                </a:solidFill>
                <a:latin typeface="Microsoft YaHei"/>
              </a:defRPr>
            </a:pPr>
            <a:r>
              <a:t>2 – 73.1 \n \n \n 71.4 \n \n \n 70.2 – 72.0 \n \n \n \n \n RSF \n \n \n Testing \n \n \n 67.3 \n \n \n 65.5 – 68.3 \n </a:t>
            </a:r>
          </a:p>
          <a:p>
            <a:pPr>
              <a:lnSpc>
                <a:spcPct val="103000"/>
              </a:lnSpc>
              <a:spcAft>
                <a:spcPts val="300"/>
              </a:spcAft>
              <a:defRPr sz="819">
                <a:solidFill>
                  <a:srgbClr val="21242A"/>
                </a:solidFill>
                <a:latin typeface="Microsoft YaHei"/>
              </a:defRPr>
            </a:pPr>
            <a:r>
              <a:t>\n \n 72.7 \n \n \n 70.2 – 74.</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car-ipi的开发和验证，这是一种基于机器学习的复发/难治性大b细胞淋巴瘤预后评分，用抗cd19-cart细胞治疗</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and validation of car-ipi, a machine learning–derived prognostic...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9 \n \n \n 73.3 \n \n \n 70.6 – 75.1 \n \n \n \n \n SVM \n \n \n Testing \n \n \n 61.4 \n \n \n 52.4 – 65.6 \n \n \n 6</a:t>
            </a:r>
          </a:p>
          <a:p>
            <a:pPr>
              <a:lnSpc>
                <a:spcPct val="103000"/>
              </a:lnSpc>
              <a:spcAft>
                <a:spcPts val="300"/>
              </a:spcAft>
              <a:defRPr sz="819">
                <a:solidFill>
                  <a:srgbClr val="21242A"/>
                </a:solidFill>
                <a:latin typeface="Microsoft YaHei"/>
              </a:defRPr>
            </a:pPr>
            <a:r>
              <a:t>5.7 \n \n \n 54.0 – 70.8 \n \n \n 64.6 \n \n \n 53.1 – 70.4 \n \n \n \n \n IPI-like \n \n \n Testing \n \n \n 61.0 \n </a:t>
            </a:r>
          </a:p>
          <a:p>
            <a:pPr>
              <a:lnSpc>
                <a:spcPct val="103000"/>
              </a:lnSpc>
              <a:spcAft>
                <a:spcPts val="300"/>
              </a:spcAft>
              <a:defRPr sz="819">
                <a:solidFill>
                  <a:srgbClr val="21242A"/>
                </a:solidFill>
                <a:latin typeface="Microsoft YaHei"/>
              </a:defRPr>
            </a:pPr>
            <a:r>
              <a:t>\n \n 60.4 – 61.7 \n \n \n 64.3 \n \n \n 63.5 – 65.6 \n \n \n 64.3 \n \n \n 63.2 – 65.5 \n \n \n \n \n CAR-HEMATOTOX \</a:t>
            </a:r>
          </a:p>
          <a:p>
            <a:pPr>
              <a:lnSpc>
                <a:spcPct val="103000"/>
              </a:lnSpc>
              <a:spcAft>
                <a:spcPts val="300"/>
              </a:spcAft>
              <a:defRPr sz="819">
                <a:solidFill>
                  <a:srgbClr val="21242A"/>
                </a:solidFill>
                <a:latin typeface="Microsoft YaHei"/>
              </a:defRPr>
            </a:pPr>
            <a:r>
              <a:t>n \n \n Testing \n \n \n 58.8 \n \n \n 57.4 – 59.6 \n \n \n 59.5 \n \n \n 57.6 – 60.9 \n \n \n 60.1 \n \n \n 57.5 – 61</a:t>
            </a:r>
          </a:p>
          <a:p>
            <a:pPr>
              <a:lnSpc>
                <a:spcPct val="103000"/>
              </a:lnSpc>
              <a:spcAft>
                <a:spcPts val="300"/>
              </a:spcAft>
              <a:defRPr sz="819">
                <a:solidFill>
                  <a:srgbClr val="21242A"/>
                </a:solidFill>
                <a:latin typeface="Microsoft YaHei"/>
              </a:defRPr>
            </a:pPr>
            <a:r>
              <a:t>.3 \n \n \n \n \n \n</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car-ipi的开发和验证，这是一种基于机器学习的复发/难治性大b细胞淋巴瘤预后评分，用抗cd19-cart细胞治疗</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and validation of car-ipi, a machine learning–derived prognostic...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PF978</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R/R</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8231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EHA原文结果（中文字段未通过数字核对）（5/5）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Summary/Conclusion: Using ML approaches, we developed CAR-IPI, a robust 10-variable prognostic score based on paramete</a:t>
            </a:r>
          </a:p>
          <a:p>
            <a:pPr>
              <a:lnSpc>
                <a:spcPct val="103000"/>
              </a:lnSpc>
              <a:spcAft>
                <a:spcPts val="300"/>
              </a:spcAft>
              <a:defRPr sz="819">
                <a:solidFill>
                  <a:srgbClr val="21242A"/>
                </a:solidFill>
                <a:latin typeface="Microsoft YaHei"/>
              </a:defRPr>
            </a:pPr>
            <a:r>
              <a:t>rs routinely available at lymphodepletion.</a:t>
            </a:r>
          </a:p>
          <a:p>
            <a:pPr>
              <a:lnSpc>
                <a:spcPct val="103000"/>
              </a:lnSpc>
              <a:spcAft>
                <a:spcPts val="300"/>
              </a:spcAft>
              <a:defRPr sz="819">
                <a:solidFill>
                  <a:srgbClr val="21242A"/>
                </a:solidFill>
                <a:latin typeface="Microsoft YaHei"/>
              </a:defRPr>
            </a:pPr>
            <a:r>
              <a:t>Both CAR-IPI and its simplified 4-variable version accurately predicted PFS after 19CAR T-cell therapy in LBCL, indepe</a:t>
            </a:r>
          </a:p>
          <a:p>
            <a:pPr>
              <a:lnSpc>
                <a:spcPct val="103000"/>
              </a:lnSpc>
              <a:spcAft>
                <a:spcPts val="300"/>
              </a:spcAft>
              <a:defRPr sz="819">
                <a:solidFill>
                  <a:srgbClr val="21242A"/>
                </a:solidFill>
                <a:latin typeface="Microsoft YaHei"/>
              </a:defRPr>
            </a:pPr>
            <a:r>
              <a:t>ndently of CAR product and treatment line.</a:t>
            </a:r>
          </a:p>
          <a:p>
            <a:pPr>
              <a:lnSpc>
                <a:spcPct val="103000"/>
              </a:lnSpc>
              <a:spcAft>
                <a:spcPts val="300"/>
              </a:spcAft>
              <a:defRPr sz="819">
                <a:solidFill>
                  <a:srgbClr val="21242A"/>
                </a:solidFill>
                <a:latin typeface="Microsoft YaHei"/>
              </a:defRPr>
            </a:pPr>
            <a:r>
              <a:t>The model outperformed existing scores (IPI, CAR-HEMATOTOX) and may improve risk stratification, patient selection and</a:t>
            </a:r>
          </a:p>
          <a:p>
            <a:pPr>
              <a:lnSpc>
                <a:spcPct val="103000"/>
              </a:lnSpc>
              <a:spcAft>
                <a:spcPts val="300"/>
              </a:spcAft>
              <a:defRPr sz="819">
                <a:solidFill>
                  <a:srgbClr val="21242A"/>
                </a:solidFill>
                <a:latin typeface="Microsoft YaHei"/>
              </a:defRPr>
            </a:pPr>
            <a:r>
              <a:t> individualized therapeutic strategies.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cd19/cd12双特异性car-t细胞治疗后携带癌症易感性基因突变的dlbcl患者继发性外周t细胞淋巴瘤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secondary peripheral t-cell lymphoma in a patient of dlbcl harboring cancer 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PF1246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大B细胞淋巴瘤</a:t>
            </a:r>
          </a:p>
          <a:p>
            <a:pPr>
              <a:lnSpc>
                <a:spcPct val="103000"/>
              </a:lnSpc>
              <a:spcAft>
                <a:spcPts val="300"/>
              </a:spcAft>
              <a:defRPr sz="800">
                <a:solidFill>
                  <a:srgbClr val="21242A"/>
                </a:solidFill>
                <a:latin typeface="Microsoft YaHei"/>
              </a:defRPr>
            </a:pPr>
            <a:r>
              <a:t>N=1</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试验药/方案：CD19/CD22靶向CAR-T(同仁医院)</a:t>
            </a:r>
          </a:p>
          <a:p>
            <a:pPr>
              <a:lnSpc>
                <a:spcPct val="103000"/>
              </a:lnSpc>
              <a:spcAft>
                <a:spcPts val="300"/>
              </a:spcAft>
              <a:defRPr sz="800">
                <a:solidFill>
                  <a:srgbClr val="21242A"/>
                </a:solidFill>
                <a:latin typeface="Microsoft YaHei"/>
              </a:defRPr>
            </a:pPr>
            <a:r>
              <a:t>靶点：CD19，CD22</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确认克隆起源：T细胞受体（TCR）测序显示CAR-T产物和PTCL组织具有相同的克隆重排（TRBD101/TRBJ2701和T...</a:t>
            </a:r>
          </a:p>
          <a:p>
            <a:pPr>
              <a:lnSpc>
                <a:spcPct val="103000"/>
              </a:lnSpc>
              <a:spcAft>
                <a:spcPts val="300"/>
              </a:spcAft>
              <a:defRPr sz="800">
                <a:solidFill>
                  <a:srgbClr val="21242A"/>
                </a:solidFill>
                <a:latin typeface="Microsoft YaHei"/>
              </a:defRPr>
            </a:pPr>
            <a:r>
              <a:t>基因组分析：全基因组测序发现TET2致病性体细胞突变（p.R1261H, p.E1755），在PTCL中变异等位基因频率更高</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a:t>
            </a:r>
          </a:p>
          <a:p>
            <a:pPr>
              <a:lnSpc>
                <a:spcPct val="103000"/>
              </a:lnSpc>
              <a:spcAft>
                <a:spcPts val="300"/>
              </a:spcAft>
              <a:defRPr sz="810">
                <a:solidFill>
                  <a:srgbClr val="21242A"/>
                </a:solidFill>
                <a:latin typeface="Microsoft YaHei"/>
              </a:defRPr>
            </a:pPr>
            <a:r>
              <a:t>适应症：大B细胞淋巴瘤</a:t>
            </a:r>
          </a:p>
          <a:p>
            <a:pPr>
              <a:lnSpc>
                <a:spcPct val="103000"/>
              </a:lnSpc>
              <a:spcAft>
                <a:spcPts val="300"/>
              </a:spcAft>
              <a:defRPr sz="810">
                <a:solidFill>
                  <a:srgbClr val="21242A"/>
                </a:solidFill>
                <a:latin typeface="Microsoft YaHei"/>
              </a:defRPr>
            </a:pPr>
            <a:r>
              <a:t>治疗线数：二线、三线、末线</a:t>
            </a:r>
          </a:p>
          <a:p>
            <a:pPr>
              <a:lnSpc>
                <a:spcPct val="103000"/>
              </a:lnSpc>
              <a:spcAft>
                <a:spcPts val="300"/>
              </a:spcAft>
              <a:defRPr sz="810">
                <a:solidFill>
                  <a:srgbClr val="21242A"/>
                </a:solidFill>
                <a:latin typeface="Microsoft YaHei"/>
              </a:defRPr>
            </a:pPr>
            <a:r>
              <a:t>登记号：NCT07461831</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试验药/方案：CD19/CD22靶向CAR-T(同仁医院)</a:t>
            </a:r>
          </a:p>
          <a:p>
            <a:pPr>
              <a:lnSpc>
                <a:spcPct val="103000"/>
              </a:lnSpc>
              <a:spcAft>
                <a:spcPts val="300"/>
              </a:spcAft>
              <a:defRPr sz="810">
                <a:solidFill>
                  <a:srgbClr val="21242A"/>
                </a:solidFill>
                <a:latin typeface="Microsoft YaHei"/>
              </a:defRPr>
            </a:pPr>
            <a:r>
              <a:t>靶点：CD19、CD22</a:t>
            </a:r>
          </a:p>
          <a:p>
            <a:pPr>
              <a:lnSpc>
                <a:spcPct val="103000"/>
              </a:lnSpc>
              <a:spcAft>
                <a:spcPts val="300"/>
              </a:spcAft>
              <a:defRPr sz="810">
                <a:solidFill>
                  <a:srgbClr val="21242A"/>
                </a:solidFill>
                <a:latin typeface="Microsoft YaHei"/>
              </a:defRPr>
            </a:pPr>
            <a:r>
              <a:t>药物/技术类别：CAR-T、自体细胞、经基因修饰</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cd19/cd12双特异性car-t细胞治疗后携带癌症易感性基因突变的dlbcl患者继发性外周t细胞淋巴瘤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secondary peripheral t-cell lymphoma in a patient of dlbcl harboring cancer 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PF1246</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451713">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451713">
                <a:tc>
                  <a:txBody>
                    <a:bodyPr wrap="square" lIns="36576" rIns="36576" tIns="18288" bIns="18288"/>
                    <a:lstStyle/>
                    <a:p>
                      <a:r>
                        <a:rPr sz="720" b="1">
                          <a:solidFill>
                            <a:srgbClr val="21242A"/>
                          </a:solidFill>
                          <a:latin typeface="Microsoft YaHei"/>
                        </a:rPr>
                        <a:t>确认克隆起源</a:t>
                      </a:r>
                    </a:p>
                  </a:txBody>
                  <a:tcPr>
                    <a:solidFill>
                      <a:srgbClr val="F6F8FB"/>
                    </a:solidFill>
                  </a:tcPr>
                </a:tc>
                <a:tc>
                  <a:txBody>
                    <a:bodyPr wrap="square" lIns="36576" rIns="36576" tIns="18288" bIns="18288"/>
                    <a:lstStyle/>
                    <a:p>
                      <a:r>
                        <a:rPr sz="720" b="0">
                          <a:solidFill>
                            <a:srgbClr val="21242A"/>
                          </a:solidFill>
                          <a:latin typeface="Microsoft YaHei"/>
                        </a:rPr>
                        <a:t>T细胞受体（TCR）测序显示CAR-T产物和PTCL组织具有相同的克隆重排（TRBD101/TRBJ2701和TRGV801/TRGJ101）</a:t>
                      </a:r>
                    </a:p>
                  </a:txBody>
                  <a:tcPr>
                    <a:solidFill>
                      <a:srgbClr val="F6F8FB"/>
                    </a:solidFill>
                  </a:tcPr>
                </a:tc>
              </a:tr>
              <a:tr h="451713">
                <a:tc>
                  <a:txBody>
                    <a:bodyPr wrap="square" lIns="36576" rIns="36576" tIns="18288" bIns="18288"/>
                    <a:lstStyle/>
                    <a:p>
                      <a:r>
                        <a:rPr sz="720" b="1">
                          <a:solidFill>
                            <a:srgbClr val="21242A"/>
                          </a:solidFill>
                          <a:latin typeface="Microsoft YaHei"/>
                        </a:rPr>
                        <a:t>基因组分析</a:t>
                      </a:r>
                    </a:p>
                  </a:txBody>
                  <a:tcPr>
                    <a:solidFill>
                      <a:srgbClr val="FFFFFF"/>
                    </a:solidFill>
                  </a:tcPr>
                </a:tc>
                <a:tc>
                  <a:txBody>
                    <a:bodyPr wrap="square" lIns="36576" rIns="36576" tIns="18288" bIns="18288"/>
                    <a:lstStyle/>
                    <a:p>
                      <a:r>
                        <a:rPr sz="720" b="0">
                          <a:solidFill>
                            <a:srgbClr val="21242A"/>
                          </a:solidFill>
                          <a:latin typeface="Microsoft YaHei"/>
                        </a:rPr>
                        <a:t>全基因组测序发现TET2致病性体细胞突变（p.R1261H, p.E1755），在PTCL中变异等位基因频率更高</a:t>
                      </a:r>
                    </a:p>
                  </a:txBody>
                  <a:tcPr>
                    <a:solidFill>
                      <a:srgbClr val="FFFFFF"/>
                    </a:solidFill>
                  </a:tcPr>
                </a:tc>
              </a:tr>
              <a:tr h="451713">
                <a:tc>
                  <a:txBody>
                    <a:bodyPr wrap="square" lIns="36576" rIns="36576" tIns="18288" bIns="18288"/>
                    <a:lstStyle/>
                    <a:p>
                      <a:r>
                        <a:rPr sz="720" b="1">
                          <a:solidFill>
                            <a:srgbClr val="21242A"/>
                          </a:solidFill>
                          <a:latin typeface="Microsoft YaHei"/>
                        </a:rPr>
                        <a:t>胚系突变</a:t>
                      </a:r>
                    </a:p>
                  </a:txBody>
                  <a:tcPr>
                    <a:solidFill>
                      <a:srgbClr val="F6F8FB"/>
                    </a:solidFill>
                  </a:tcPr>
                </a:tc>
                <a:tc>
                  <a:txBody>
                    <a:bodyPr wrap="square" lIns="36576" rIns="36576" tIns="18288" bIns="18288"/>
                    <a:lstStyle/>
                    <a:p>
                      <a:r>
                        <a:rPr sz="720" b="0">
                          <a:solidFill>
                            <a:srgbClr val="21242A"/>
                          </a:solidFill>
                          <a:latin typeface="Microsoft YaHei"/>
                        </a:rPr>
                        <a:t>患者携带BLM p.L107Ffs*36突变，导致基因组不稳定性</a:t>
                      </a:r>
                    </a:p>
                  </a:txBody>
                  <a:tcPr>
                    <a:solidFill>
                      <a:srgbClr val="F6F8FB"/>
                    </a:solidFill>
                  </a:tcPr>
                </a:tc>
              </a:tr>
              <a:tr h="451716">
                <a:tc>
                  <a:txBody>
                    <a:bodyPr wrap="square" lIns="36576" rIns="36576" tIns="18288" bIns="18288"/>
                    <a:lstStyle/>
                    <a:p>
                      <a:r>
                        <a:rPr sz="720" b="1">
                          <a:solidFill>
                            <a:srgbClr val="21242A"/>
                          </a:solidFill>
                          <a:latin typeface="Microsoft YaHei"/>
                        </a:rPr>
                        <a:t>其他致癌事件</a:t>
                      </a:r>
                    </a:p>
                  </a:txBody>
                  <a:tcPr>
                    <a:solidFill>
                      <a:srgbClr val="FFFFFF"/>
                    </a:solidFill>
                  </a:tcPr>
                </a:tc>
                <a:tc>
                  <a:txBody>
                    <a:bodyPr wrap="square" lIns="36576" rIns="36576" tIns="18288" bIns="18288"/>
                    <a:lstStyle/>
                    <a:p>
                      <a:r>
                        <a:rPr sz="720" b="0">
                          <a:solidFill>
                            <a:srgbClr val="21242A"/>
                          </a:solidFill>
                          <a:latin typeface="Microsoft YaHei"/>
                        </a:rPr>
                        <a:t>包括KMT2A和ATM的11q23.2q25缺失、X染色体丢失、CAR载体整合至抑癌基因（NF1, CBX5, RNF213）</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疾病场景：转化/Richter</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摘要号：PF1246</a:t>
            </a:r>
          </a:p>
          <a:p>
            <a:pPr>
              <a:lnSpc>
                <a:spcPct val="103000"/>
              </a:lnSpc>
              <a:spcAft>
                <a:spcPts val="300"/>
              </a:spcAft>
              <a:defRPr sz="740">
                <a:solidFill>
                  <a:srgbClr val="5E6570"/>
                </a:solidFill>
                <a:latin typeface="Microsoft YaHei"/>
              </a:defRPr>
            </a:pPr>
            <a:r>
              <a:t>会议栏目：26. Gene therapy, cellular immunotherapy and vaccination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pola-r-chp治疗未经治疗的弥漫性大b细胞淋巴瘤的真实亚洲多中心队列研究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asian multi-centre cohort study on outcomes of pola-r-chp in untre...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823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N=737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试验药/方案：维泊妥珠单抗</a:t>
            </a:r>
          </a:p>
          <a:p>
            <a:pPr>
              <a:lnSpc>
                <a:spcPct val="103000"/>
              </a:lnSpc>
              <a:spcAft>
                <a:spcPts val="300"/>
              </a:spcAft>
              <a:defRPr sz="800">
                <a:solidFill>
                  <a:srgbClr val="21242A"/>
                </a:solidFill>
                <a:latin typeface="Microsoft YaHei"/>
              </a:defRPr>
            </a:pPr>
            <a:r>
              <a:t>靶点：CD79B</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对照/比较：试验组1：Pola-R-CHP（polatuzumab vedotin, rituximab, cyclophos...</a:t>
            </a:r>
          </a:p>
          <a:p>
            <a:pPr>
              <a:lnSpc>
                <a:spcPct val="103000"/>
              </a:lnSpc>
              <a:spcAft>
                <a:spcPts val="300"/>
              </a:spcAft>
              <a:defRPr sz="800">
                <a:solidFill>
                  <a:srgbClr val="21242A"/>
                </a:solidFill>
                <a:latin typeface="Microsoft YaHei"/>
              </a:defRPr>
            </a:pPr>
            <a:r>
              <a:t>对照组1：R-CHOP（rituximab, cyclophosphamide, doxorubicin, prednison...</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完全缓解率（CR）：Pola-R-CHP组92.0%，R-CHOP组84.3%</a:t>
            </a:r>
          </a:p>
          <a:p>
            <a:pPr>
              <a:lnSpc>
                <a:spcPct val="103000"/>
              </a:lnSpc>
              <a:spcAft>
                <a:spcPts val="300"/>
              </a:spcAft>
              <a:defRPr sz="800">
                <a:solidFill>
                  <a:srgbClr val="21242A"/>
                </a:solidFill>
                <a:latin typeface="Microsoft YaHei"/>
              </a:defRPr>
            </a:pPr>
            <a:r>
              <a:t>2年总生存率（OS）：Pola-R-CHP组92.5%，R-CHOP组77.2%（HR 0.30, 95% CI 0.13-0...</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人数：737</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试验药/方案：维泊妥珠单抗</a:t>
            </a:r>
          </a:p>
          <a:p>
            <a:pPr>
              <a:lnSpc>
                <a:spcPct val="103000"/>
              </a:lnSpc>
              <a:spcAft>
                <a:spcPts val="300"/>
              </a:spcAft>
              <a:defRPr sz="810">
                <a:solidFill>
                  <a:srgbClr val="21242A"/>
                </a:solidFill>
                <a:latin typeface="Microsoft YaHei"/>
              </a:defRPr>
            </a:pPr>
            <a:r>
              <a:t>靶点：CD79B</a:t>
            </a:r>
          </a:p>
          <a:p>
            <a:pPr>
              <a:lnSpc>
                <a:spcPct val="103000"/>
              </a:lnSpc>
              <a:spcAft>
                <a:spcPts val="300"/>
              </a:spcAft>
              <a:defRPr sz="810">
                <a:solidFill>
                  <a:srgbClr val="21242A"/>
                </a:solidFill>
                <a:latin typeface="Microsoft YaHei"/>
              </a:defRPr>
            </a:pPr>
            <a:r>
              <a:t>药物/技术类别：缬氨酸-瓜氨酸 VC、MMAE、抗体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pola-r-chp治疗未经治疗的弥漫性大b细胞淋巴瘤的真实亚洲多中心队列研究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real-world asian multi-centre cohort study on outcomes of pola-r-chp in untre...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PF1004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52958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4782312"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ADC</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完全缓解率（CR）</a:t>
                      </a:r>
                    </a:p>
                  </a:txBody>
                  <a:tcPr>
                    <a:solidFill>
                      <a:srgbClr val="F6F8FB"/>
                    </a:solidFill>
                  </a:tcPr>
                </a:tc>
                <a:tc>
                  <a:txBody>
                    <a:bodyPr wrap="square" lIns="36576" rIns="36576" tIns="18288" bIns="18288"/>
                    <a:lstStyle/>
                    <a:p>
                      <a:r>
                        <a:rPr sz="720" b="0">
                          <a:solidFill>
                            <a:srgbClr val="21242A"/>
                          </a:solidFill>
                          <a:latin typeface="Microsoft YaHei"/>
                        </a:rPr>
                        <a:t>Pola-R-CHP组92.0%，R-CHOP组84.3%</a:t>
                      </a:r>
                    </a:p>
                  </a:txBody>
                  <a:tcPr>
                    <a:solidFill>
                      <a:srgbClr val="F6F8FB"/>
                    </a:solidFill>
                  </a:tcPr>
                </a:tc>
              </a:tr>
              <a:tr h="376428">
                <a:tc>
                  <a:txBody>
                    <a:bodyPr wrap="square" lIns="36576" rIns="36576" tIns="18288" bIns="18288"/>
                    <a:lstStyle/>
                    <a:p>
                      <a:r>
                        <a:rPr sz="720" b="1">
                          <a:solidFill>
                            <a:srgbClr val="21242A"/>
                          </a:solidFill>
                          <a:latin typeface="Microsoft YaHei"/>
                        </a:rPr>
                        <a:t>2年总生存率（OS）</a:t>
                      </a:r>
                    </a:p>
                  </a:txBody>
                  <a:tcPr>
                    <a:solidFill>
                      <a:srgbClr val="FFFFFF"/>
                    </a:solidFill>
                  </a:tcPr>
                </a:tc>
                <a:tc>
                  <a:txBody>
                    <a:bodyPr wrap="square" lIns="36576" rIns="36576" tIns="18288" bIns="18288"/>
                    <a:lstStyle/>
                    <a:p>
                      <a:r>
                        <a:rPr sz="720" b="0">
                          <a:solidFill>
                            <a:srgbClr val="21242A"/>
                          </a:solidFill>
                          <a:latin typeface="Microsoft YaHei"/>
                        </a:rPr>
                        <a:t>Pola-R-CHP组92.5%，R-CHOP组77.2%（HR 0.30, 95% CI 0.13-0.70, p=0.003）</a:t>
                      </a:r>
                    </a:p>
                  </a:txBody>
                  <a:tcPr>
                    <a:solidFill>
                      <a:srgbClr val="FFFFFF"/>
                    </a:solidFill>
                  </a:tcPr>
                </a:tc>
              </a:tr>
              <a:tr h="376428">
                <a:tc>
                  <a:txBody>
                    <a:bodyPr wrap="square" lIns="36576" rIns="36576" tIns="18288" bIns="18288"/>
                    <a:lstStyle/>
                    <a:p>
                      <a:r>
                        <a:rPr sz="720" b="1">
                          <a:solidFill>
                            <a:srgbClr val="21242A"/>
                          </a:solidFill>
                          <a:latin typeface="Microsoft YaHei"/>
                        </a:rPr>
                        <a:t>2年无进展生存率（PFS）</a:t>
                      </a:r>
                    </a:p>
                  </a:txBody>
                  <a:tcPr>
                    <a:solidFill>
                      <a:srgbClr val="F6F8FB"/>
                    </a:solidFill>
                  </a:tcPr>
                </a:tc>
                <a:tc>
                  <a:txBody>
                    <a:bodyPr wrap="square" lIns="36576" rIns="36576" tIns="18288" bIns="18288"/>
                    <a:lstStyle/>
                    <a:p>
                      <a:r>
                        <a:rPr sz="720" b="0">
                          <a:solidFill>
                            <a:srgbClr val="21242A"/>
                          </a:solidFill>
                          <a:latin typeface="Microsoft YaHei"/>
                        </a:rPr>
                        <a:t>Pola-R-CHP组79%，R-CHOP组66.2%（HR 0.57, 95% CI 0.34-0.98, p=0.038）</a:t>
                      </a:r>
                    </a:p>
                  </a:txBody>
                  <a:tcPr>
                    <a:solidFill>
                      <a:srgbClr val="F6F8FB"/>
                    </a:solidFill>
                  </a:tcPr>
                </a:tc>
              </a:tr>
              <a:tr h="376428">
                <a:tc>
                  <a:txBody>
                    <a:bodyPr wrap="square" lIns="36576" rIns="36576" tIns="18288" bIns="18288"/>
                    <a:lstStyle/>
                    <a:p>
                      <a:r>
                        <a:rPr sz="720" b="1">
                          <a:solidFill>
                            <a:srgbClr val="21242A"/>
                          </a:solidFill>
                          <a:latin typeface="Microsoft YaHei"/>
                        </a:rPr>
                        <a:t>PFS的24个月限制平均生存时间（RMST）</a:t>
                      </a:r>
                    </a:p>
                  </a:txBody>
                  <a:tcPr>
                    <a:solidFill>
                      <a:srgbClr val="FFFFFF"/>
                    </a:solidFill>
                  </a:tcPr>
                </a:tc>
                <a:tc>
                  <a:txBody>
                    <a:bodyPr wrap="square" lIns="36576" rIns="36576" tIns="18288" bIns="18288"/>
                    <a:lstStyle/>
                    <a:p>
                      <a:r>
                        <a:rPr sz="720" b="0">
                          <a:solidFill>
                            <a:srgbClr val="21242A"/>
                          </a:solidFill>
                          <a:latin typeface="Microsoft YaHei"/>
                        </a:rPr>
                        <a:t>Pola-R-CHP 21.0个月，R-CHOP 19.0个月（差异1.99个月，p=0.027）</a:t>
                      </a:r>
                    </a:p>
                  </a:txBody>
                  <a:tcPr>
                    <a:solidFill>
                      <a:srgbClr val="FFFFFF"/>
                    </a:solidFill>
                  </a:tcPr>
                </a:tc>
              </a:tr>
              <a:tr h="376428">
                <a:tc>
                  <a:txBody>
                    <a:bodyPr wrap="square" lIns="36576" rIns="36576" tIns="18288" bIns="18288"/>
                    <a:lstStyle/>
                    <a:p>
                      <a:r>
                        <a:rPr sz="720" b="1">
                          <a:solidFill>
                            <a:srgbClr val="21242A"/>
                          </a:solidFill>
                          <a:latin typeface="Microsoft YaHei"/>
                        </a:rPr>
                        <a:t>OS的24个月RMST</a:t>
                      </a:r>
                    </a:p>
                  </a:txBody>
                  <a:tcPr>
                    <a:solidFill>
                      <a:srgbClr val="F6F8FB"/>
                    </a:solidFill>
                  </a:tcPr>
                </a:tc>
                <a:tc>
                  <a:txBody>
                    <a:bodyPr wrap="square" lIns="36576" rIns="36576" tIns="18288" bIns="18288"/>
                    <a:lstStyle/>
                    <a:p>
                      <a:r>
                        <a:rPr sz="720" b="0">
                          <a:solidFill>
                            <a:srgbClr val="21242A"/>
                          </a:solidFill>
                          <a:latin typeface="Microsoft YaHei"/>
                        </a:rPr>
                        <a:t>Pola-R-CHP 23.0个月，R-CHOP 20.7个月（差异2.29个月，p=0.001）</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疾病场景：转化/Richter</a:t>
            </a:r>
          </a:p>
          <a:p>
            <a:pPr>
              <a:lnSpc>
                <a:spcPct val="103000"/>
              </a:lnSpc>
              <a:spcAft>
                <a:spcPts val="300"/>
              </a:spcAft>
              <a:defRPr sz="780">
                <a:solidFill>
                  <a:srgbClr val="21242A"/>
                </a:solidFill>
                <a:latin typeface="Microsoft YaHei"/>
              </a:defRPr>
            </a:pPr>
            <a:r>
              <a:t>药物/技术：ADC</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摘要号：PF1004</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通过多室基因组分析弥漫性大b细胞淋巴瘤克隆造血的动力学和临床影响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dynamics and clinical impact of clonal hematopoiesis in diffuse large b-cell...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N=157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回顾性临床研究结果：dynamics and clinical impact of clonal hematopoiesis...</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粒细胞中CH检出率：37.7%</a:t>
            </a:r>
          </a:p>
          <a:p>
            <a:pPr>
              <a:lnSpc>
                <a:spcPct val="103000"/>
              </a:lnSpc>
              <a:spcAft>
                <a:spcPts val="300"/>
              </a:spcAft>
              <a:defRPr sz="800">
                <a:solidFill>
                  <a:srgbClr val="21242A"/>
                </a:solidFill>
                <a:latin typeface="Microsoft YaHei"/>
              </a:defRPr>
            </a:pPr>
            <a:r>
              <a:t>CH+ vs CH-患者PFS：55.8% vs 64.1%（p=0.547，无统计学意义）</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人数：157</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研究主题：dynamics and clinical impact of clonal hematopoiesis in diffuse large b-cell lymphoma through multi-compartment genomic...</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通过多室基因组分析弥漫性大b细胞淋巴瘤克隆造血的动力学和临床影响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dynamics and clinical impact of clonal hematopoiesis in diffuse large b-cell...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EHA原文结果（中文字段未通过数字核对）（1/5）</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\n Median age of the cohort was 67 years.</a:t>
            </a:r>
          </a:p>
          <a:p>
            <a:pPr>
              <a:lnSpc>
                <a:spcPct val="103000"/>
              </a:lnSpc>
              <a:spcAft>
                <a:spcPts val="300"/>
              </a:spcAft>
              <a:defRPr sz="819">
                <a:solidFill>
                  <a:srgbClr val="21242A"/>
                </a:solidFill>
                <a:latin typeface="Microsoft YaHei"/>
              </a:defRPr>
            </a:pPr>
            <a:r>
              <a:t>CH was detected in the granulocyte compartment in 37.7% of patients, with DNMT3A (20.5%) and TET2 (14.6%) as the most </a:t>
            </a:r>
          </a:p>
          <a:p>
            <a:pPr>
              <a:lnSpc>
                <a:spcPct val="103000"/>
              </a:lnSpc>
              <a:spcAft>
                <a:spcPts val="300"/>
              </a:spcAft>
              <a:defRPr sz="819">
                <a:solidFill>
                  <a:srgbClr val="21242A"/>
                </a:solidFill>
                <a:latin typeface="Microsoft YaHei"/>
              </a:defRPr>
            </a:pPr>
            <a:r>
              <a:t>frequently mutated genes (Fig.</a:t>
            </a:r>
          </a:p>
          <a:p>
            <a:pPr>
              <a:lnSpc>
                <a:spcPct val="103000"/>
              </a:lnSpc>
              <a:spcAft>
                <a:spcPts val="300"/>
              </a:spcAft>
              <a:defRPr sz="819">
                <a:solidFill>
                  <a:srgbClr val="21242A"/>
                </a:solidFill>
                <a:latin typeface="Microsoft YaHei"/>
              </a:defRPr>
            </a:pPr>
            <a:r>
              <a:t>1A).</a:t>
            </a:r>
          </a:p>
          <a:p>
            <a:pPr>
              <a:lnSpc>
                <a:spcPct val="103000"/>
              </a:lnSpc>
              <a:spcAft>
                <a:spcPts val="300"/>
              </a:spcAft>
              <a:defRPr sz="819">
                <a:solidFill>
                  <a:srgbClr val="21242A"/>
                </a:solidFill>
                <a:latin typeface="Microsoft YaHei"/>
              </a:defRPr>
            </a:pPr>
            <a:r>
              <a:t>Among CH + patients, DNMT3A mutations were significantly enriched in the C3 molecular subtype of DLBCL ( p =0.005) (Fi</a:t>
            </a:r>
          </a:p>
          <a:p>
            <a:pPr>
              <a:lnSpc>
                <a:spcPct val="103000"/>
              </a:lnSpc>
              <a:spcAft>
                <a:spcPts val="300"/>
              </a:spcAft>
              <a:defRPr sz="819">
                <a:solidFill>
                  <a:srgbClr val="21242A"/>
                </a:solidFill>
                <a:latin typeface="Microsoft YaHei"/>
              </a:defRPr>
            </a:pPr>
            <a:r>
              <a:t>g.</a:t>
            </a:r>
          </a:p>
          <a:p>
            <a:pPr>
              <a:lnSpc>
                <a:spcPct val="103000"/>
              </a:lnSpc>
              <a:spcAft>
                <a:spcPts val="300"/>
              </a:spcAft>
              <a:defRPr sz="819">
                <a:solidFill>
                  <a:srgbClr val="21242A"/>
                </a:solidFill>
                <a:latin typeface="Microsoft YaHei"/>
              </a:defRPr>
            </a:pPr>
            <a:r>
              <a:t>1B).</a:t>
            </a:r>
          </a:p>
          <a:p>
            <a:pPr>
              <a:lnSpc>
                <a:spcPct val="103000"/>
              </a:lnSpc>
              <a:spcAft>
                <a:spcPts val="300"/>
              </a:spcAft>
              <a:defRPr sz="819">
                <a:solidFill>
                  <a:srgbClr val="21242A"/>
                </a:solidFill>
                <a:latin typeface="Microsoft YaHei"/>
              </a:defRPr>
            </a:pPr>
            <a:r>
              <a:t>Both DNMT3A and TET2 mutations significantly associated with an increased risk of second primary malignancies (5-year </a:t>
            </a:r>
          </a:p>
          <a:p>
            <a:pPr>
              <a:lnSpc>
                <a:spcPct val="103000"/>
              </a:lnSpc>
              <a:spcAft>
                <a:spcPts val="300"/>
              </a:spcAft>
              <a:defRPr sz="819">
                <a:solidFill>
                  <a:srgbClr val="21242A"/>
                </a:solidFill>
                <a:latin typeface="Microsoft YaHei"/>
              </a:defRPr>
            </a:pPr>
            <a:r>
              <a:t>CIF: 7.1 vs 16.3, P =0.03; 7.3 vs 19.4, p .</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疾病场景：转化/Richter</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摘要号：S255</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通过多室基因组分析弥漫性大b细胞淋巴瘤克隆造血的动力学和临床影响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dynamics and clinical impact of clonal hematopoiesis in diffuse large b-cell...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In plasma, cfDNA sequencing detected 78 of 80 CH granulocyte mutations (97.5% sensitivity), with strong VAF correlatio</a:t>
            </a:r>
          </a:p>
          <a:p>
            <a:pPr>
              <a:lnSpc>
                <a:spcPct val="103000"/>
              </a:lnSpc>
              <a:spcAft>
                <a:spcPts val="300"/>
              </a:spcAft>
              <a:defRPr sz="819">
                <a:solidFill>
                  <a:srgbClr val="21242A"/>
                </a:solidFill>
                <a:latin typeface="Microsoft YaHei"/>
              </a:defRPr>
            </a:pPr>
            <a:r>
              <a:t>n between compartments (r=0.89, p The most common mutations were DNMT3A (22.4%) and TET2 (15.0%).</a:t>
            </a:r>
          </a:p>
          <a:p>
            <a:pPr>
              <a:lnSpc>
                <a:spcPct val="103000"/>
              </a:lnSpc>
              <a:spcAft>
                <a:spcPts val="300"/>
              </a:spcAft>
              <a:defRPr sz="819">
                <a:solidFill>
                  <a:srgbClr val="21242A"/>
                </a:solidFill>
                <a:latin typeface="Microsoft YaHei"/>
              </a:defRPr>
            </a:pPr>
            <a:r>
              <a:t>In PB, CH + patients demonstrated marginally reduced PFS (55.8% vs. 64.1%) and OS (69.8% vs.</a:t>
            </a:r>
          </a:p>
          <a:p>
            <a:pPr>
              <a:lnSpc>
                <a:spcPct val="103000"/>
              </a:lnSpc>
              <a:spcAft>
                <a:spcPts val="300"/>
              </a:spcAft>
              <a:defRPr sz="819">
                <a:solidFill>
                  <a:srgbClr val="21242A"/>
                </a:solidFill>
                <a:latin typeface="Microsoft YaHei"/>
              </a:defRPr>
            </a:pPr>
            <a:r>
              <a:t>72.4%) relative to CH - cases, without however reaching statistical significance ( p =0.547 and P =0.466, respectively</a:t>
            </a:r>
          </a:p>
          <a:p>
            <a:pPr>
              <a:lnSpc>
                <a:spcPct val="103000"/>
              </a:lnSpc>
              <a:spcAft>
                <a:spcPts val="300"/>
              </a:spcAft>
              <a:defRPr sz="819">
                <a:solidFill>
                  <a:srgbClr val="21242A"/>
                </a:solidFill>
                <a:latin typeface="Microsoft YaHei"/>
              </a:defRPr>
            </a:pPr>
            <a:r>
              <a:t>).</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通过多室基因组分析弥漫性大b细胞淋巴瘤克隆造血的动力学和临床影响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dynamics and clinical impact of clonal hematopoiesis in diffuse large b-cell...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At EOT, the prevalence of CH increased from 34.7% at baseline to 50.5% ( p p mutations of PPM1D were mostly undetectab</a:t>
            </a:r>
          </a:p>
          <a:p>
            <a:pPr>
              <a:lnSpc>
                <a:spcPct val="103000"/>
              </a:lnSpc>
              <a:spcAft>
                <a:spcPts val="300"/>
              </a:spcAft>
              <a:defRPr sz="819">
                <a:solidFill>
                  <a:srgbClr val="21242A"/>
                </a:solidFill>
                <a:latin typeface="Microsoft YaHei"/>
              </a:defRPr>
            </a:pPr>
            <a:r>
              <a:t>le before treatment but emerged following chemoimmunotherapy (CIT), increasing from 1.1% baseline cases to 16.3% EOT c</a:t>
            </a:r>
          </a:p>
          <a:p>
            <a:pPr>
              <a:lnSpc>
                <a:spcPct val="103000"/>
              </a:lnSpc>
              <a:spcAft>
                <a:spcPts val="300"/>
              </a:spcAft>
              <a:defRPr sz="819">
                <a:solidFill>
                  <a:srgbClr val="21242A"/>
                </a:solidFill>
                <a:latin typeface="Microsoft YaHei"/>
              </a:defRPr>
            </a:pPr>
            <a:r>
              <a:t>ases and showing the highest inferred clonal fitness (Fig.</a:t>
            </a:r>
          </a:p>
          <a:p>
            <a:pPr>
              <a:lnSpc>
                <a:spcPct val="103000"/>
              </a:lnSpc>
              <a:spcAft>
                <a:spcPts val="300"/>
              </a:spcAft>
              <a:defRPr sz="819">
                <a:solidFill>
                  <a:srgbClr val="21242A"/>
                </a:solidFill>
                <a:latin typeface="Microsoft YaHei"/>
              </a:defRPr>
            </a:pPr>
            <a:r>
              <a:t>1D).</a:t>
            </a:r>
          </a:p>
          <a:p>
            <a:pPr>
              <a:lnSpc>
                <a:spcPct val="103000"/>
              </a:lnSpc>
              <a:spcAft>
                <a:spcPts val="300"/>
              </a:spcAft>
              <a:defRPr sz="819">
                <a:solidFill>
                  <a:srgbClr val="21242A"/>
                </a:solidFill>
                <a:latin typeface="Microsoft YaHei"/>
              </a:defRPr>
            </a:pPr>
            <a:r>
              <a:t>All PPM1D mutations were already detectable after C3, with higher clonal fitness from baseline to C3 compared to C3 to</a:t>
            </a:r>
          </a:p>
          <a:p>
            <a:pPr>
              <a:lnSpc>
                <a:spcPct val="103000"/>
              </a:lnSpc>
              <a:spcAft>
                <a:spcPts val="300"/>
              </a:spcAft>
              <a:defRPr sz="819">
                <a:solidFill>
                  <a:srgbClr val="21242A"/>
                </a:solidFill>
                <a:latin typeface="Microsoft YaHei"/>
              </a:defRPr>
            </a:pPr>
            <a:r>
              <a:t> EOT, suggesting an early CIT-driven bottleneck effect ( p =0.03).</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通过多室基因组分析弥漫性大b细胞淋巴瘤克隆造血的动力学和临床影响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dynamics and clinical impact of clonal hematopoiesis in diffuse large b-cell...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In tissue biopsies, at least one TI-CH mutation occurred in 42.9% of patients, most commonly involving DNMT3A (21.4%, </a:t>
            </a:r>
          </a:p>
          <a:p>
            <a:pPr>
              <a:lnSpc>
                <a:spcPct val="103000"/>
              </a:lnSpc>
              <a:spcAft>
                <a:spcPts val="300"/>
              </a:spcAft>
              <a:defRPr sz="819">
                <a:solidFill>
                  <a:srgbClr val="21242A"/>
                </a:solidFill>
                <a:latin typeface="Microsoft YaHei"/>
              </a:defRPr>
            </a:pPr>
            <a:r>
              <a:t>VAF range 0.4–27.0) and TET2 (16.1%, VAF range 0.4–27.4), almost mutually exclusive.</a:t>
            </a:r>
          </a:p>
          <a:p>
            <a:pPr>
              <a:lnSpc>
                <a:spcPct val="103000"/>
              </a:lnSpc>
              <a:spcAft>
                <a:spcPts val="300"/>
              </a:spcAft>
              <a:defRPr sz="819">
                <a:solidFill>
                  <a:srgbClr val="21242A"/>
                </a:solidFill>
                <a:latin typeface="Microsoft YaHei"/>
              </a:defRPr>
            </a:pPr>
            <a:r>
              <a:t>At a median follow-up of 69 months, TI- DNMT3A + patients had a significantly inferior PFS (33.3% vs 70.9%, p =0.009) </a:t>
            </a:r>
          </a:p>
          <a:p>
            <a:pPr>
              <a:lnSpc>
                <a:spcPct val="103000"/>
              </a:lnSpc>
              <a:spcAft>
                <a:spcPts val="300"/>
              </a:spcAft>
              <a:defRPr sz="819">
                <a:solidFill>
                  <a:srgbClr val="21242A"/>
                </a:solidFill>
                <a:latin typeface="Microsoft YaHei"/>
              </a:defRPr>
            </a:pPr>
            <a:r>
              <a:t>and OS (41.7% vs 83.7%, p DNMT3A − cases.</a:t>
            </a:r>
          </a:p>
          <a:p>
            <a:pPr>
              <a:lnSpc>
                <a:spcPct val="103000"/>
              </a:lnSpc>
              <a:spcAft>
                <a:spcPts val="300"/>
              </a:spcAft>
              <a:defRPr sz="819">
                <a:solidFill>
                  <a:srgbClr val="21242A"/>
                </a:solidFill>
                <a:latin typeface="Microsoft YaHei"/>
              </a:defRPr>
            </a:pPr>
            <a:r>
              <a:t>This adverse impact remained significant after adjusting for the international prognostic index (Fig. 1E). \n</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通过多室基因组分析弥漫性大b细胞淋巴瘤克隆造血的动力学和临床影响</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dynamics and clinical impact of clonal hematopoiesis in diffuse large b-cell...</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S255</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EHA原文结果（中文字段未通过数字核对）（5/5）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Summary/Conclusion: \n Multi-compartment profiling shows that CH in DLBCL is frequent and detectable in multiple compa</a:t>
            </a:r>
          </a:p>
          <a:p>
            <a:pPr>
              <a:lnSpc>
                <a:spcPct val="103000"/>
              </a:lnSpc>
              <a:spcAft>
                <a:spcPts val="300"/>
              </a:spcAft>
              <a:defRPr sz="819">
                <a:solidFill>
                  <a:srgbClr val="21242A"/>
                </a:solidFill>
                <a:latin typeface="Microsoft YaHei"/>
              </a:defRPr>
            </a:pPr>
            <a:r>
              <a:t>rtments, enriched in specific molecular subtypes, and associated with an increased risk of second primary malignancies</a:t>
            </a:r>
          </a:p>
          <a:p>
            <a:pPr>
              <a:lnSpc>
                <a:spcPct val="103000"/>
              </a:lnSpc>
              <a:spcAft>
                <a:spcPts val="300"/>
              </a:spcAft>
              <a:defRPr sz="819">
                <a:solidFill>
                  <a:srgbClr val="21242A"/>
                </a:solidFill>
                <a:latin typeface="Microsoft YaHei"/>
              </a:defRPr>
            </a:pPr>
            <a:r>
              <a:t>.</a:t>
            </a:r>
          </a:p>
          <a:p>
            <a:pPr>
              <a:lnSpc>
                <a:spcPct val="103000"/>
              </a:lnSpc>
              <a:spcAft>
                <a:spcPts val="300"/>
              </a:spcAft>
              <a:defRPr sz="819">
                <a:solidFill>
                  <a:srgbClr val="21242A"/>
                </a:solidFill>
                <a:latin typeface="Microsoft YaHei"/>
              </a:defRPr>
            </a:pPr>
            <a:r>
              <a:t>R-CHOP–based therapy promotes expansion of CH clones, including early emergence of PPM1D mutations.</a:t>
            </a:r>
          </a:p>
          <a:p>
            <a:pPr>
              <a:lnSpc>
                <a:spcPct val="103000"/>
              </a:lnSpc>
              <a:spcAft>
                <a:spcPts val="300"/>
              </a:spcAft>
              <a:defRPr sz="819">
                <a:solidFill>
                  <a:srgbClr val="21242A"/>
                </a:solidFill>
                <a:latin typeface="Microsoft YaHei"/>
              </a:defRPr>
            </a:pPr>
            <a:r>
              <a:t>While CH in PB did not significantly affect survival, TI-CH DNMT3A mutations emerged as an independent predictor of in</a:t>
            </a:r>
          </a:p>
          <a:p>
            <a:pPr>
              <a:lnSpc>
                <a:spcPct val="103000"/>
              </a:lnSpc>
              <a:spcAft>
                <a:spcPts val="300"/>
              </a:spcAft>
              <a:defRPr sz="819">
                <a:solidFill>
                  <a:srgbClr val="21242A"/>
                </a:solidFill>
                <a:latin typeface="Microsoft YaHei"/>
              </a:defRPr>
            </a:pPr>
            <a:r>
              <a:t>ferior PFS and OS in DLBCL treated with CIT.</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ebv阳性弥漫性大b细胞淋巴瘤血浆ebv-dna水平预后模型的建立：一项回顾性单中心研究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of a prognostic model incorporating plasma ebv-dna level for ebv-...</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N=58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回顾性临床研究结果：development of a prognostic model incorporating plasm...</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1年总生存率62.1%，3年总生存率48.3%，5年总生存率36.2%</a:t>
            </a:r>
          </a:p>
          <a:p>
            <a:pPr>
              <a:lnSpc>
                <a:spcPct val="103000"/>
              </a:lnSpc>
              <a:spcAft>
                <a:spcPts val="300"/>
              </a:spcAft>
              <a:defRPr sz="800">
                <a:solidFill>
                  <a:srgbClr val="21242A"/>
                </a:solidFill>
                <a:latin typeface="Microsoft YaHei"/>
              </a:defRPr>
            </a:pPr>
            <a:r>
              <a:t>1年无进展生存率60.3%，3年无进展生存率44.8%，5年无进展生存率34.5%</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人数：58</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研究主题：development of a prognostic model incorporating plasma ebv-dna level for ebv-positive diffuse large b-cell lymphoma: 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ebv阳性弥漫性大b细胞淋巴瘤血浆ebv-dna水平预后模型的建立：一项回顾性单中心研究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of a prognostic model incorporating plasma ebv-dna level for ebv-...</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EHA原文结果（中文字段未通过数字核对）（1/2）</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Median age was 57.7 years (range 15.0–83.0).</a:t>
            </a:r>
          </a:p>
          <a:p>
            <a:pPr>
              <a:lnSpc>
                <a:spcPct val="103000"/>
              </a:lnSpc>
              <a:spcAft>
                <a:spcPts val="300"/>
              </a:spcAft>
              <a:defRPr sz="819">
                <a:solidFill>
                  <a:srgbClr val="21242A"/>
                </a:solidFill>
                <a:latin typeface="Microsoft YaHei"/>
              </a:defRPr>
            </a:pPr>
            <a:r>
              <a:t>Advanced stage (III/IV) was present in 75.8% of patients, extranodal involvement in 79.3%, B symptoms in 46.6%, and he</a:t>
            </a:r>
          </a:p>
          <a:p>
            <a:pPr>
              <a:lnSpc>
                <a:spcPct val="103000"/>
              </a:lnSpc>
              <a:spcAft>
                <a:spcPts val="300"/>
              </a:spcAft>
              <a:defRPr sz="819">
                <a:solidFill>
                  <a:srgbClr val="21242A"/>
                </a:solidFill>
                <a:latin typeface="Microsoft YaHei"/>
              </a:defRPr>
            </a:pPr>
            <a:r>
              <a:t>mophagocytic lymphohistiocytosis (HLH) in 8%.</a:t>
            </a:r>
          </a:p>
          <a:p>
            <a:pPr>
              <a:lnSpc>
                <a:spcPct val="103000"/>
              </a:lnSpc>
              <a:spcAft>
                <a:spcPts val="300"/>
              </a:spcAft>
              <a:defRPr sz="819">
                <a:solidFill>
                  <a:srgbClr val="21242A"/>
                </a:solidFill>
                <a:latin typeface="Microsoft YaHei"/>
              </a:defRPr>
            </a:pPr>
            <a:r>
              <a:t>Ki67 index was ≥20% in all 53 patients assessed, and CD30 positivity was 76.6% (36/47).</a:t>
            </a:r>
          </a:p>
          <a:p>
            <a:pPr>
              <a:lnSpc>
                <a:spcPct val="103000"/>
              </a:lnSpc>
              <a:spcAft>
                <a:spcPts val="300"/>
              </a:spcAft>
              <a:defRPr sz="819">
                <a:solidFill>
                  <a:srgbClr val="21242A"/>
                </a:solidFill>
                <a:latin typeface="Microsoft YaHei"/>
              </a:defRPr>
            </a:pPr>
            <a:r>
              <a:t>After a median follow-up of 39 months (range 0.7–137.4), the 1-year, 3-year, and 5-year OS rates were 62.1%, 48.3%, an</a:t>
            </a:r>
          </a:p>
          <a:p>
            <a:pPr>
              <a:lnSpc>
                <a:spcPct val="103000"/>
              </a:lnSpc>
              <a:spcAft>
                <a:spcPts val="300"/>
              </a:spcAft>
              <a:defRPr sz="819">
                <a:solidFill>
                  <a:srgbClr val="21242A"/>
                </a:solidFill>
                <a:latin typeface="Microsoft YaHei"/>
              </a:defRPr>
            </a:pPr>
            <a:r>
              <a:t>d 36.2%, respectively, and the corresponding PFS rates were 60.3%, 44.8%, and 34.5%.</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疾病场景：转化/Richter</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摘要号：PF1013</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ebv阳性弥漫性大b细胞淋巴瘤血浆ebv-dna水平预后模型的建立：一项回顾性单中心研究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of a prognostic model incorporating plasma ebv-dna level for ebv-...</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PF1013</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8" name="TextBox 7"/>
          <p:cNvSpPr txBox="1"/>
          <p:nvPr/>
        </p:nvSpPr>
        <p:spPr>
          <a:xfrm>
            <a:off x="281635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4069080"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转化/Richter</a:t>
            </a:r>
          </a:p>
        </p:txBody>
      </p:sp>
      <p:sp>
        <p:nvSpPr>
          <p:cNvPr id="10" name="TextBox 9"/>
          <p:cNvSpPr txBox="1"/>
          <p:nvPr/>
        </p:nvSpPr>
        <p:spPr>
          <a:xfrm>
            <a:off x="5321808"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177/187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EHA原文结果（中文字段未通过数字核对）（2/2）</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\n Univariate analysis revealed that plasma EBV-DNA level, presence of HLH, ECOG-PS ≥2, and age ≥60 years are independ</a:t>
            </a:r>
          </a:p>
          <a:p>
            <a:pPr>
              <a:lnSpc>
                <a:spcPct val="103000"/>
              </a:lnSpc>
              <a:spcAft>
                <a:spcPts val="300"/>
              </a:spcAft>
              <a:defRPr sz="819">
                <a:solidFill>
                  <a:srgbClr val="21242A"/>
                </a:solidFill>
                <a:latin typeface="Microsoft YaHei"/>
              </a:defRPr>
            </a:pPr>
            <a:r>
              <a:t>ent prognostic factors for both OS and PFS.</a:t>
            </a:r>
          </a:p>
          <a:p>
            <a:pPr>
              <a:lnSpc>
                <a:spcPct val="103000"/>
              </a:lnSpc>
              <a:spcAft>
                <a:spcPts val="300"/>
              </a:spcAft>
              <a:defRPr sz="819">
                <a:solidFill>
                  <a:srgbClr val="21242A"/>
                </a:solidFill>
                <a:latin typeface="Microsoft YaHei"/>
              </a:defRPr>
            </a:pPr>
            <a:r>
              <a:t>Multivariate Cox proportional hazards model identified plasma EBV-DNA level (log10-transformed) (HR 1.75; 95% CI, 1.28</a:t>
            </a:r>
          </a:p>
          <a:p>
            <a:pPr>
              <a:lnSpc>
                <a:spcPct val="103000"/>
              </a:lnSpc>
              <a:spcAft>
                <a:spcPts val="300"/>
              </a:spcAft>
              <a:defRPr sz="819">
                <a:solidFill>
                  <a:srgbClr val="21242A"/>
                </a:solidFill>
                <a:latin typeface="Microsoft YaHei"/>
              </a:defRPr>
            </a:pPr>
            <a:r>
              <a:t>-2.38; P Summary/Conclusion: The prognostic model incorporating plasma EBV-DNA level, presence of HLH, and ECOG-PS ≥2 </a:t>
            </a:r>
          </a:p>
          <a:p>
            <a:pPr>
              <a:lnSpc>
                <a:spcPct val="103000"/>
              </a:lnSpc>
              <a:spcAft>
                <a:spcPts val="300"/>
              </a:spcAft>
              <a:defRPr sz="819">
                <a:solidFill>
                  <a:srgbClr val="21242A"/>
                </a:solidFill>
                <a:latin typeface="Microsoft YaHei"/>
              </a:defRPr>
            </a:pPr>
            <a:r>
              <a:t>demonstrated robust predictive performance for outcomes in patients with EBV+ DLBCL, and may facilitate risk stratific</a:t>
            </a:r>
          </a:p>
          <a:p>
            <a:pPr>
              <a:lnSpc>
                <a:spcPct val="103000"/>
              </a:lnSpc>
              <a:spcAft>
                <a:spcPts val="300"/>
              </a:spcAft>
              <a:defRPr sz="819">
                <a:solidFill>
                  <a:srgbClr val="21242A"/>
                </a:solidFill>
                <a:latin typeface="Microsoft YaHei"/>
              </a:defRPr>
            </a:pPr>
            <a:r>
              <a:t>ation and individualized treatment decisions.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布鲁顿酪氨酸激酶抑制剂联合大剂量甲氨蝶呤诱导治疗未经治疗的原发性中枢神经系统淋巴瘤的实际疗效：单中心回顾性分析。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real-world efficacy of bruton’s tyrosine kinase inhibitors plus high-dose...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PF1035</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40005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178/187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N=132</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试验药/方案：奥布替尼</a:t>
            </a:r>
          </a:p>
          <a:p>
            <a:pPr>
              <a:lnSpc>
                <a:spcPct val="103000"/>
              </a:lnSpc>
              <a:spcAft>
                <a:spcPts val="300"/>
              </a:spcAft>
              <a:defRPr sz="800">
                <a:solidFill>
                  <a:srgbClr val="21242A"/>
                </a:solidFill>
                <a:latin typeface="Microsoft YaHei"/>
              </a:defRPr>
            </a:pPr>
            <a:r>
              <a:t>伊布替尼</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多组/多方案比较：试验组1：伊布替尼，高剂量甲氨蝶呤</a:t>
            </a:r>
          </a:p>
          <a:p>
            <a:pPr>
              <a:lnSpc>
                <a:spcPct val="103000"/>
              </a:lnSpc>
              <a:spcAft>
                <a:spcPts val="300"/>
              </a:spcAft>
              <a:defRPr sz="800">
                <a:solidFill>
                  <a:srgbClr val="21242A"/>
                </a:solidFill>
                <a:latin typeface="Microsoft YaHei"/>
              </a:defRPr>
            </a:pPr>
            <a:r>
              <a:t>试验组2：奥布替尼，高剂量甲氨蝶呤</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 88.6%</a:t>
            </a:r>
          </a:p>
          <a:p>
            <a:pPr>
              <a:lnSpc>
                <a:spcPct val="103000"/>
              </a:lnSpc>
              <a:spcAft>
                <a:spcPts val="300"/>
              </a:spcAft>
              <a:defRPr sz="800">
                <a:solidFill>
                  <a:srgbClr val="21242A"/>
                </a:solidFill>
                <a:latin typeface="Microsoft YaHei"/>
              </a:defRPr>
            </a:pPr>
            <a:r>
              <a:t>完全缓解率(CR): 81.1%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人数：132</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治疗线数：一线</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试验药/方案：奥布替尼、伊布替尼、泽布替尼</a:t>
            </a:r>
          </a:p>
          <a:p>
            <a:pPr>
              <a:lnSpc>
                <a:spcPct val="103000"/>
              </a:lnSpc>
              <a:spcAft>
                <a:spcPts val="300"/>
              </a:spcAft>
              <a:defRPr sz="810">
                <a:solidFill>
                  <a:srgbClr val="21242A"/>
                </a:solidFill>
                <a:latin typeface="Microsoft YaHei"/>
              </a:defRPr>
            </a:pPr>
            <a:r>
              <a:t>靶点：BTK</a:t>
            </a:r>
          </a:p>
          <a:p>
            <a:pPr>
              <a:lnSpc>
                <a:spcPct val="103000"/>
              </a:lnSpc>
              <a:spcAft>
                <a:spcPts val="300"/>
              </a:spcAft>
              <a:defRPr sz="810">
                <a:solidFill>
                  <a:srgbClr val="21242A"/>
                </a:solidFill>
                <a:latin typeface="Microsoft YaHei"/>
              </a:defRPr>
            </a:pPr>
            <a:r>
              <a:t>药物/技术类别：化药</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布鲁顿酪氨酸激酶抑制剂联合大剂量甲氨蝶呤诱导治疗未经治疗的原发性中枢神经系统淋巴瘤的实际疗效：单中心回顾性分析。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real-world efficacy of bruton’s tyrosine kinase inhibitors plus high-dose...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PF1035</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40005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178/187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中文结果数据表（原表）（1/2）</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客观缓解率(ORR)</a:t>
                      </a:r>
                    </a:p>
                  </a:txBody>
                  <a:tcPr>
                    <a:solidFill>
                      <a:srgbClr val="F6F8FB"/>
                    </a:solidFill>
                  </a:tcPr>
                </a:tc>
                <a:tc>
                  <a:txBody>
                    <a:bodyPr wrap="square" lIns="36576" rIns="36576" tIns="18288" bIns="18288"/>
                    <a:lstStyle/>
                    <a:p>
                      <a:r>
                        <a:rPr sz="720" b="0">
                          <a:solidFill>
                            <a:srgbClr val="21242A"/>
                          </a:solidFill>
                          <a:latin typeface="Microsoft YaHei"/>
                        </a:rPr>
                        <a:t>88.6%</a:t>
                      </a:r>
                    </a:p>
                  </a:txBody>
                  <a:tcPr>
                    <a:solidFill>
                      <a:srgbClr val="F6F8FB"/>
                    </a:solidFill>
                  </a:tcPr>
                </a:tc>
              </a:tr>
              <a:tr h="282321">
                <a:tc>
                  <a:txBody>
                    <a:bodyPr wrap="square" lIns="36576" rIns="36576" tIns="18288" bIns="18288"/>
                    <a:lstStyle/>
                    <a:p>
                      <a:r>
                        <a:rPr sz="720" b="1">
                          <a:solidFill>
                            <a:srgbClr val="21242A"/>
                          </a:solidFill>
                          <a:latin typeface="Microsoft YaHei"/>
                        </a:rPr>
                        <a:t>完全缓解率(CR)</a:t>
                      </a:r>
                    </a:p>
                  </a:txBody>
                  <a:tcPr>
                    <a:solidFill>
                      <a:srgbClr val="FFFFFF"/>
                    </a:solidFill>
                  </a:tcPr>
                </a:tc>
                <a:tc>
                  <a:txBody>
                    <a:bodyPr wrap="square" lIns="36576" rIns="36576" tIns="18288" bIns="18288"/>
                    <a:lstStyle/>
                    <a:p>
                      <a:r>
                        <a:rPr sz="720" b="0">
                          <a:solidFill>
                            <a:srgbClr val="21242A"/>
                          </a:solidFill>
                          <a:latin typeface="Microsoft YaHei"/>
                        </a:rPr>
                        <a:t>81.1%</a:t>
                      </a:r>
                    </a:p>
                  </a:txBody>
                  <a:tcPr>
                    <a:solidFill>
                      <a:srgbClr val="FFFFFF"/>
                    </a:solidFill>
                  </a:tcPr>
                </a:tc>
              </a:tr>
              <a:tr h="282321">
                <a:tc>
                  <a:txBody>
                    <a:bodyPr wrap="square" lIns="36576" rIns="36576" tIns="18288" bIns="18288"/>
                    <a:lstStyle/>
                    <a:p>
                      <a:r>
                        <a:rPr sz="720" b="1">
                          <a:solidFill>
                            <a:srgbClr val="21242A"/>
                          </a:solidFill>
                          <a:latin typeface="Microsoft YaHei"/>
                        </a:rPr>
                        <a:t>部分缓解率(PR)</a:t>
                      </a:r>
                    </a:p>
                  </a:txBody>
                  <a:tcPr>
                    <a:solidFill>
                      <a:srgbClr val="F6F8FB"/>
                    </a:solidFill>
                  </a:tcPr>
                </a:tc>
                <a:tc>
                  <a:txBody>
                    <a:bodyPr wrap="square" lIns="36576" rIns="36576" tIns="18288" bIns="18288"/>
                    <a:lstStyle/>
                    <a:p>
                      <a:r>
                        <a:rPr sz="720" b="0">
                          <a:solidFill>
                            <a:srgbClr val="21242A"/>
                          </a:solidFill>
                          <a:latin typeface="Microsoft YaHei"/>
                        </a:rPr>
                        <a:t>7.5%</a:t>
                      </a:r>
                    </a:p>
                  </a:txBody>
                  <a:tcPr>
                    <a:solidFill>
                      <a:srgbClr val="F6F8FB"/>
                    </a:solidFill>
                  </a:tcPr>
                </a:tc>
              </a:tr>
              <a:tr h="282321">
                <a:tc>
                  <a:txBody>
                    <a:bodyPr wrap="square" lIns="36576" rIns="36576" tIns="18288" bIns="18288"/>
                    <a:lstStyle/>
                    <a:p>
                      <a:r>
                        <a:rPr sz="720" b="1">
                          <a:solidFill>
                            <a:srgbClr val="21242A"/>
                          </a:solidFill>
                          <a:latin typeface="Microsoft YaHei"/>
                        </a:rPr>
                        <a:t>中位无进展生存期(PFS)</a:t>
                      </a:r>
                    </a:p>
                  </a:txBody>
                  <a:tcPr>
                    <a:solidFill>
                      <a:srgbClr val="FFFFFF"/>
                    </a:solidFill>
                  </a:tcPr>
                </a:tc>
                <a:tc>
                  <a:txBody>
                    <a:bodyPr wrap="square" lIns="36576" rIns="36576" tIns="18288" bIns="18288"/>
                    <a:lstStyle/>
                    <a:p>
                      <a:r>
                        <a:rPr sz="720" b="0">
                          <a:solidFill>
                            <a:srgbClr val="21242A"/>
                          </a:solidFill>
                          <a:latin typeface="Microsoft YaHei"/>
                        </a:rPr>
                        <a:t>未达到(95%CI NR-NR)</a:t>
                      </a:r>
                    </a:p>
                  </a:txBody>
                  <a:tcPr>
                    <a:solidFill>
                      <a:srgbClr val="FFFFFF"/>
                    </a:solidFill>
                  </a:tcPr>
                </a:tc>
              </a:tr>
              <a:tr h="282321">
                <a:tc>
                  <a:txBody>
                    <a:bodyPr wrap="square" lIns="36576" rIns="36576" tIns="18288" bIns="18288"/>
                    <a:lstStyle/>
                    <a:p>
                      <a:r>
                        <a:rPr sz="720" b="1">
                          <a:solidFill>
                            <a:srgbClr val="21242A"/>
                          </a:solidFill>
                          <a:latin typeface="Microsoft YaHei"/>
                        </a:rPr>
                        <a:t>中位总生存期(OS)</a:t>
                      </a:r>
                    </a:p>
                  </a:txBody>
                  <a:tcPr>
                    <a:solidFill>
                      <a:srgbClr val="F6F8FB"/>
                    </a:solidFill>
                  </a:tcPr>
                </a:tc>
                <a:tc>
                  <a:txBody>
                    <a:bodyPr wrap="square" lIns="36576" rIns="36576" tIns="18288" bIns="18288"/>
                    <a:lstStyle/>
                    <a:p>
                      <a:r>
                        <a:rPr sz="720" b="0">
                          <a:solidFill>
                            <a:srgbClr val="21242A"/>
                          </a:solidFill>
                          <a:latin typeface="Microsoft YaHei"/>
                        </a:rPr>
                        <a:t>未达到(95%CI NR-NR)</a:t>
                      </a:r>
                    </a:p>
                  </a:txBody>
                  <a:tcPr>
                    <a:solidFill>
                      <a:srgbClr val="F6F8FB"/>
                    </a:solidFill>
                  </a:tcPr>
                </a:tc>
              </a:tr>
              <a:tr h="282321">
                <a:tc>
                  <a:txBody>
                    <a:bodyPr wrap="square" lIns="36576" rIns="36576" tIns="18288" bIns="18288"/>
                    <a:lstStyle/>
                    <a:p>
                      <a:r>
                        <a:rPr sz="720" b="1">
                          <a:solidFill>
                            <a:srgbClr val="21242A"/>
                          </a:solidFill>
                          <a:latin typeface="Microsoft YaHei"/>
                        </a:rPr>
                        <a:t>2年无进展生存率</a:t>
                      </a:r>
                    </a:p>
                  </a:txBody>
                  <a:tcPr>
                    <a:solidFill>
                      <a:srgbClr val="FFFFFF"/>
                    </a:solidFill>
                  </a:tcPr>
                </a:tc>
                <a:tc>
                  <a:txBody>
                    <a:bodyPr wrap="square" lIns="36576" rIns="36576" tIns="18288" bIns="18288"/>
                    <a:lstStyle/>
                    <a:p>
                      <a:r>
                        <a:rPr sz="720" b="0">
                          <a:solidFill>
                            <a:srgbClr val="21242A"/>
                          </a:solidFill>
                          <a:latin typeface="Microsoft YaHei"/>
                        </a:rPr>
                        <a:t>76.0%(95%CI 69.0%-85.0%)</a:t>
                      </a:r>
                    </a:p>
                  </a:txBody>
                  <a:tcPr>
                    <a:solidFill>
                      <a:srgbClr val="FFFFFF"/>
                    </a:solidFill>
                  </a:tcPr>
                </a:tc>
              </a:tr>
              <a:tr h="282321">
                <a:tc>
                  <a:txBody>
                    <a:bodyPr wrap="square" lIns="36576" rIns="36576" tIns="18288" bIns="18288"/>
                    <a:lstStyle/>
                    <a:p>
                      <a:r>
                        <a:rPr sz="720" b="1">
                          <a:solidFill>
                            <a:srgbClr val="21242A"/>
                          </a:solidFill>
                          <a:latin typeface="Microsoft YaHei"/>
                        </a:rPr>
                        <a:t>2年总生存率</a:t>
                      </a:r>
                    </a:p>
                  </a:txBody>
                  <a:tcPr>
                    <a:solidFill>
                      <a:srgbClr val="F6F8FB"/>
                    </a:solidFill>
                  </a:tcPr>
                </a:tc>
                <a:tc>
                  <a:txBody>
                    <a:bodyPr wrap="square" lIns="36576" rIns="36576" tIns="18288" bIns="18288"/>
                    <a:lstStyle/>
                    <a:p>
                      <a:r>
                        <a:rPr sz="720" b="0">
                          <a:solidFill>
                            <a:srgbClr val="21242A"/>
                          </a:solidFill>
                          <a:latin typeface="Microsoft YaHei"/>
                        </a:rPr>
                        <a:t>83.1%(95%CI 77.3%-91.5%)</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疾病场景：PCNSL</a:t>
            </a:r>
          </a:p>
          <a:p>
            <a:pPr>
              <a:lnSpc>
                <a:spcPct val="103000"/>
              </a:lnSpc>
              <a:spcAft>
                <a:spcPts val="300"/>
              </a:spcAft>
              <a:defRPr sz="780">
                <a:solidFill>
                  <a:srgbClr val="21242A"/>
                </a:solidFill>
                <a:latin typeface="Microsoft YaHei"/>
              </a:defRPr>
            </a:pPr>
            <a:r>
              <a:t>药物/技术：BTKi</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摘要号：PF1035</a:t>
            </a:r>
          </a:p>
          <a:p>
            <a:pPr>
              <a:lnSpc>
                <a:spcPct val="103000"/>
              </a:lnSpc>
              <a:spcAft>
                <a:spcPts val="300"/>
              </a:spcAft>
              <a:defRPr sz="740">
                <a:solidFill>
                  <a:srgbClr val="5E6570"/>
                </a:solidFill>
                <a:latin typeface="Microsoft YaHei"/>
              </a:defRPr>
            </a:pPr>
            <a:r>
              <a:t>会议栏目：20. Other aggressive lymphomas</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布鲁顿酪氨酸激酶抑制剂联合大剂量甲氨蝶呤诱导治疗未经治疗的原发性中枢神经系统淋巴瘤的实际疗效：单中心回顾性分析。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the real-world efficacy of bruton’s tyrosine kinase inhibitors plus high-dose...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PF1035</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400050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BTKi</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178/187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1087221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中文结果数据表（原表）（2/2）</a:t>
            </a:r>
          </a:p>
        </p:txBody>
      </p:sp>
      <p:graphicFrame>
        <p:nvGraphicFramePr>
          <p:cNvPr id="16" name="Table 15"/>
          <p:cNvGraphicFramePr>
            <a:graphicFrameLocks noGrp="1"/>
          </p:cNvGraphicFramePr>
          <p:nvPr/>
        </p:nvGraphicFramePr>
        <p:xfrm>
          <a:off x="576072" y="1572768"/>
          <a:ext cx="10872215" cy="3584448"/>
        </p:xfrm>
        <a:graphic>
          <a:graphicData uri="http://schemas.openxmlformats.org/drawingml/2006/table">
            <a:tbl>
              <a:tblPr firstRow="1" bandRow="1">
                <a:tableStyleId>{5C22544A-7EE6-4342-B048-85BDC9FD1C3A}</a:tableStyleId>
              </a:tblPr>
              <a:tblGrid>
                <a:gridCol w="2935498"/>
                <a:gridCol w="7936717"/>
              </a:tblGrid>
              <a:tr h="716889">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716889">
                <a:tc>
                  <a:txBody>
                    <a:bodyPr wrap="square" lIns="36576" rIns="36576" tIns="18288" bIns="18288"/>
                    <a:lstStyle/>
                    <a:p>
                      <a:r>
                        <a:rPr sz="720" b="1">
                          <a:solidFill>
                            <a:srgbClr val="21242A"/>
                          </a:solidFill>
                          <a:latin typeface="Microsoft YaHei"/>
                        </a:rPr>
                        <a:t>伊布替尼组完全缓解率</a:t>
                      </a:r>
                    </a:p>
                  </a:txBody>
                  <a:tcPr>
                    <a:solidFill>
                      <a:srgbClr val="F6F8FB"/>
                    </a:solidFill>
                  </a:tcPr>
                </a:tc>
                <a:tc>
                  <a:txBody>
                    <a:bodyPr wrap="square" lIns="36576" rIns="36576" tIns="18288" bIns="18288"/>
                    <a:lstStyle/>
                    <a:p>
                      <a:r>
                        <a:rPr sz="720" b="0">
                          <a:solidFill>
                            <a:srgbClr val="21242A"/>
                          </a:solidFill>
                          <a:latin typeface="Microsoft YaHei"/>
                        </a:rPr>
                        <a:t>79.2%</a:t>
                      </a:r>
                    </a:p>
                  </a:txBody>
                  <a:tcPr>
                    <a:solidFill>
                      <a:srgbClr val="F6F8FB"/>
                    </a:solidFill>
                  </a:tcPr>
                </a:tc>
              </a:tr>
              <a:tr h="716889">
                <a:tc>
                  <a:txBody>
                    <a:bodyPr wrap="square" lIns="36576" rIns="36576" tIns="18288" bIns="18288"/>
                    <a:lstStyle/>
                    <a:p>
                      <a:r>
                        <a:rPr sz="720" b="1">
                          <a:solidFill>
                            <a:srgbClr val="21242A"/>
                          </a:solidFill>
                          <a:latin typeface="Microsoft YaHei"/>
                        </a:rPr>
                        <a:t>奥布替尼组完全缓解率</a:t>
                      </a:r>
                    </a:p>
                  </a:txBody>
                  <a:tcPr>
                    <a:solidFill>
                      <a:srgbClr val="FFFFFF"/>
                    </a:solidFill>
                  </a:tcPr>
                </a:tc>
                <a:tc>
                  <a:txBody>
                    <a:bodyPr wrap="square" lIns="36576" rIns="36576" tIns="18288" bIns="18288"/>
                    <a:lstStyle/>
                    <a:p>
                      <a:r>
                        <a:rPr sz="720" b="0">
                          <a:solidFill>
                            <a:srgbClr val="21242A"/>
                          </a:solidFill>
                          <a:latin typeface="Microsoft YaHei"/>
                        </a:rPr>
                        <a:t>82.8%</a:t>
                      </a:r>
                    </a:p>
                  </a:txBody>
                  <a:tcPr>
                    <a:solidFill>
                      <a:srgbClr val="FFFFFF"/>
                    </a:solidFill>
                  </a:tcPr>
                </a:tc>
              </a:tr>
              <a:tr h="716889">
                <a:tc>
                  <a:txBody>
                    <a:bodyPr wrap="square" lIns="36576" rIns="36576" tIns="18288" bIns="18288"/>
                    <a:lstStyle/>
                    <a:p>
                      <a:r>
                        <a:rPr sz="720" b="1">
                          <a:solidFill>
                            <a:srgbClr val="21242A"/>
                          </a:solidFill>
                          <a:latin typeface="Microsoft YaHei"/>
                        </a:rPr>
                        <a:t>泽布替尼组完全缓解率</a:t>
                      </a:r>
                    </a:p>
                  </a:txBody>
                  <a:tcPr>
                    <a:solidFill>
                      <a:srgbClr val="F6F8FB"/>
                    </a:solidFill>
                  </a:tcPr>
                </a:tc>
                <a:tc>
                  <a:txBody>
                    <a:bodyPr wrap="square" lIns="36576" rIns="36576" tIns="18288" bIns="18288"/>
                    <a:lstStyle/>
                    <a:p>
                      <a:r>
                        <a:rPr sz="720" b="0">
                          <a:solidFill>
                            <a:srgbClr val="21242A"/>
                          </a:solidFill>
                          <a:latin typeface="Microsoft YaHei"/>
                        </a:rPr>
                        <a:t>80.8%</a:t>
                      </a:r>
                    </a:p>
                  </a:txBody>
                  <a:tcPr>
                    <a:solidFill>
                      <a:srgbClr val="F6F8FB"/>
                    </a:solidFill>
                  </a:tcPr>
                </a:tc>
              </a:tr>
              <a:tr h="716892">
                <a:tc>
                  <a:txBody>
                    <a:bodyPr wrap="square" lIns="36576" rIns="36576" tIns="18288" bIns="18288"/>
                    <a:lstStyle/>
                    <a:p>
                      <a:r>
                        <a:rPr sz="720" b="1">
                          <a:solidFill>
                            <a:srgbClr val="21242A"/>
                          </a:solidFill>
                          <a:latin typeface="Microsoft YaHei"/>
                        </a:rPr>
                        <a:t>奥布替尼组OS改善</a:t>
                      </a:r>
                    </a:p>
                  </a:txBody>
                  <a:tcPr>
                    <a:solidFill>
                      <a:srgbClr val="FFFFFF"/>
                    </a:solidFill>
                  </a:tcPr>
                </a:tc>
                <a:tc>
                  <a:txBody>
                    <a:bodyPr wrap="square" lIns="36576" rIns="36576" tIns="18288" bIns="18288"/>
                    <a:lstStyle/>
                    <a:p>
                      <a:r>
                        <a:rPr sz="720" b="0">
                          <a:solidFill>
                            <a:srgbClr val="21242A"/>
                          </a:solidFill>
                          <a:latin typeface="Microsoft YaHei"/>
                        </a:rPr>
                        <a:t>HR 0.26, 95%CI 0.09-0.78, P=0.016</a:t>
                      </a:r>
                    </a:p>
                  </a:txBody>
                  <a:tcPr>
                    <a:solidFill>
                      <a:srgbClr val="FFFFFF"/>
                    </a:solidFill>
                  </a:tcPr>
                </a:tc>
              </a:tr>
            </a:tbl>
          </a:graphicData>
        </a:graphic>
      </p:graphicFrame>
      <p:sp>
        <p:nvSpPr>
          <p:cNvPr id="17" name="TextBox 16"/>
          <p:cNvSpPr txBox="1"/>
          <p:nvPr/>
        </p:nvSpPr>
        <p:spPr>
          <a:xfrm>
            <a:off x="576072" y="5248655"/>
            <a:ext cx="1087221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免疫缺陷相关原发性中枢神经系统淋巴瘤的疾病特异性预后评分：一项国际原发性cns淋巴瘤协作组（ipcg）研究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disease specific prognostic score for immunodeficiency-associated primary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400050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179/187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N=308</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回顾性临床研究结果：a disease specific prognostic score for immunodeficie...</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最佳总体缓解率（ORR）为77%（完全缓解50%</a:t>
            </a:r>
          </a:p>
          <a:p>
            <a:pPr>
              <a:lnSpc>
                <a:spcPct val="103000"/>
              </a:lnSpc>
              <a:spcAft>
                <a:spcPts val="300"/>
              </a:spcAft>
              <a:defRPr sz="800">
                <a:solidFill>
                  <a:srgbClr val="21242A"/>
                </a:solidFill>
                <a:latin typeface="Microsoft YaHei"/>
              </a:defRPr>
            </a:pPr>
            <a:r>
              <a:t>部分缓解27%）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人数：308</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研究主题：a disease specific prognostic score for immunodeficiency-associated primary cns lymphoma: an international primary cns...</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免疫缺陷相关原发性中枢神经系统淋巴瘤的疾病特异性预后评分：一项国际原发性cns淋巴瘤协作组（ipcg）研究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disease specific prognostic score for immunodeficiency-associated primary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400050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179/187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EHA原文结果（中文字段未通过数字核对）（1/5）</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A total of 308 patients with ID-PCNSL were identified.</a:t>
            </a:r>
          </a:p>
          <a:p>
            <a:pPr>
              <a:lnSpc>
                <a:spcPct val="103000"/>
              </a:lnSpc>
              <a:spcAft>
                <a:spcPts val="300"/>
              </a:spcAft>
              <a:defRPr sz="819">
                <a:solidFill>
                  <a:srgbClr val="21242A"/>
                </a:solidFill>
                <a:latin typeface="Microsoft YaHei"/>
              </a:defRPr>
            </a:pPr>
            <a:r>
              <a:t>Underlying immunodeficiency resulted from immunosuppressive therapy for organ transplantation (41.2%) or autoimmune di</a:t>
            </a:r>
          </a:p>
          <a:p>
            <a:pPr>
              <a:lnSpc>
                <a:spcPct val="103000"/>
              </a:lnSpc>
              <a:spcAft>
                <a:spcPts val="300"/>
              </a:spcAft>
              <a:defRPr sz="819">
                <a:solidFill>
                  <a:srgbClr val="21242A"/>
                </a:solidFill>
                <a:latin typeface="Microsoft YaHei"/>
              </a:defRPr>
            </a:pPr>
            <a:r>
              <a:t>sease (36.7%), and from HIV infection (21.7%).</a:t>
            </a:r>
          </a:p>
          <a:p>
            <a:pPr>
              <a:lnSpc>
                <a:spcPct val="103000"/>
              </a:lnSpc>
              <a:spcAft>
                <a:spcPts val="300"/>
              </a:spcAft>
              <a:defRPr sz="819">
                <a:solidFill>
                  <a:srgbClr val="21242A"/>
                </a:solidFill>
                <a:latin typeface="Microsoft YaHei"/>
              </a:defRPr>
            </a:pPr>
            <a:r>
              <a:t>All tumors were classified as diffuse large B-cell lymphomas, with Epstein–Barr virus (EBV) detected in 79.2%.</a:t>
            </a:r>
          </a:p>
          <a:p>
            <a:pPr>
              <a:lnSpc>
                <a:spcPct val="103000"/>
              </a:lnSpc>
              <a:spcAft>
                <a:spcPts val="300"/>
              </a:spcAft>
              <a:defRPr sz="819">
                <a:solidFill>
                  <a:srgbClr val="21242A"/>
                </a:solidFill>
                <a:latin typeface="Microsoft YaHei"/>
              </a:defRPr>
            </a:pPr>
            <a:r>
              <a:t>\n Most patients (91.4%) received curative-intent induction therapy, predominantly systemic chemotherapy (97.5%), whil</a:t>
            </a:r>
          </a:p>
          <a:p>
            <a:pPr>
              <a:lnSpc>
                <a:spcPct val="103000"/>
              </a:lnSpc>
              <a:spcAft>
                <a:spcPts val="300"/>
              </a:spcAft>
              <a:defRPr sz="819">
                <a:solidFill>
                  <a:srgbClr val="21242A"/>
                </a:solidFill>
                <a:latin typeface="Microsoft YaHei"/>
              </a:defRPr>
            </a:pPr>
            <a:r>
              <a:t>e radiation alone was uncommon (2.1%).</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疾病场景：PCNSL</a:t>
            </a:r>
          </a:p>
          <a:p>
            <a:pPr>
              <a:lnSpc>
                <a:spcPct val="103000"/>
              </a:lnSpc>
              <a:spcAft>
                <a:spcPts val="300"/>
              </a:spcAft>
              <a:defRPr sz="780">
                <a:solidFill>
                  <a:srgbClr val="21242A"/>
                </a:solidFill>
                <a:latin typeface="Microsoft YaHei"/>
              </a:defRPr>
            </a:pPr>
            <a:r>
              <a:t>药物/技术：化疗/免疫化疗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摘要号：PF967</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免疫缺陷相关原发性中枢神经系统淋巴瘤的疾病特异性预后评分：一项国际原发性cns淋巴瘤协作组（ipcg）研究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disease specific prognostic score for immunodeficiency-associated primary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400050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179/187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Rituximab–methotrexate (RM)–based regimens were most frequently used (69.8%), followed by rituximab-based (15.6%) and </a:t>
            </a:r>
          </a:p>
          <a:p>
            <a:pPr>
              <a:lnSpc>
                <a:spcPct val="103000"/>
              </a:lnSpc>
              <a:spcAft>
                <a:spcPts val="300"/>
              </a:spcAft>
              <a:defRPr sz="819">
                <a:solidFill>
                  <a:srgbClr val="21242A"/>
                </a:solidFill>
                <a:latin typeface="Microsoft YaHei"/>
              </a:defRPr>
            </a:pPr>
            <a:r>
              <a:t>methotrexate-based therapy alone (12.7%).</a:t>
            </a:r>
          </a:p>
          <a:p>
            <a:pPr>
              <a:lnSpc>
                <a:spcPct val="103000"/>
              </a:lnSpc>
              <a:spcAft>
                <a:spcPts val="300"/>
              </a:spcAft>
              <a:defRPr sz="819">
                <a:solidFill>
                  <a:srgbClr val="21242A"/>
                </a:solidFill>
                <a:latin typeface="Microsoft YaHei"/>
              </a:defRPr>
            </a:pPr>
            <a:r>
              <a:t>Best overall response rate (ORR) to first-line therapy was 77% (complete response 50%; partial response 27%).</a:t>
            </a:r>
          </a:p>
          <a:p>
            <a:pPr>
              <a:lnSpc>
                <a:spcPct val="103000"/>
              </a:lnSpc>
              <a:spcAft>
                <a:spcPts val="300"/>
              </a:spcAft>
              <a:defRPr sz="819">
                <a:solidFill>
                  <a:srgbClr val="21242A"/>
                </a:solidFill>
                <a:latin typeface="Microsoft YaHei"/>
              </a:defRPr>
            </a:pPr>
            <a:r>
              <a:t>RM-based chemotherapy achieved higher ORR (85%) compared with rituximab-based (68%, p=0.01) or methotrexate-based regi</a:t>
            </a:r>
          </a:p>
          <a:p>
            <a:pPr>
              <a:lnSpc>
                <a:spcPct val="103000"/>
              </a:lnSpc>
              <a:spcAft>
                <a:spcPts val="300"/>
              </a:spcAft>
              <a:defRPr sz="819">
                <a:solidFill>
                  <a:srgbClr val="21242A"/>
                </a:solidFill>
                <a:latin typeface="Microsoft YaHei"/>
              </a:defRPr>
            </a:pPr>
            <a:r>
              <a:t>mens alone (52%, p \n Outcomes were heterogeneous, with a median overall survival (OS) of 54 months ( Fig.</a:t>
            </a:r>
          </a:p>
          <a:p>
            <a:pPr>
              <a:lnSpc>
                <a:spcPct val="103000"/>
              </a:lnSpc>
              <a:spcAft>
                <a:spcPts val="300"/>
              </a:spcAft>
              <a:defRPr sz="819">
                <a:solidFill>
                  <a:srgbClr val="21242A"/>
                </a:solidFill>
                <a:latin typeface="Microsoft YaHei"/>
              </a:defRPr>
            </a:pPr>
            <a:r>
              <a:t>1A) . Multivariable analysis identified increasing age (HR 1.05 per year, 95% CI 1.02–1.07; p Fig.</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免疫缺陷相关原发性中枢神经系统淋巴瘤的疾病特异性预后评分：一项国际原发性cns淋巴瘤协作组（ipcg）研究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disease specific prognostic score for immunodeficiency-associated primary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400050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179/187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1B ), Karnofsky Performance Status (KPS) Fig. 1C ), and EBV positivity (HR 3.26, 95% CI 1.47–7.33; p=0.004; Fig.</a:t>
            </a:r>
          </a:p>
          <a:p>
            <a:pPr>
              <a:lnSpc>
                <a:spcPct val="103000"/>
              </a:lnSpc>
              <a:spcAft>
                <a:spcPts val="300"/>
              </a:spcAft>
              <a:defRPr sz="819">
                <a:solidFill>
                  <a:srgbClr val="21242A"/>
                </a:solidFill>
                <a:latin typeface="Microsoft YaHei"/>
              </a:defRPr>
            </a:pPr>
            <a:r>
              <a:t>1D ) as independent predictors of inferior OS. A prognostic score incorporating these factors (age &gt;60 years, KPS Fig.</a:t>
            </a:r>
          </a:p>
          <a:p>
            <a:pPr>
              <a:lnSpc>
                <a:spcPct val="103000"/>
              </a:lnSpc>
              <a:spcAft>
                <a:spcPts val="300"/>
              </a:spcAft>
              <a:defRPr sz="819">
                <a:solidFill>
                  <a:srgbClr val="21242A"/>
                </a:solidFill>
                <a:latin typeface="Microsoft YaHei"/>
              </a:defRPr>
            </a:pPr>
            <a:r>
              <a:t>1E ) stratified patients into three risk groups with median OS of 135, 29, and 3 months for patients with ≤1, 2, and 3</a:t>
            </a:r>
          </a:p>
          <a:p>
            <a:pPr>
              <a:lnSpc>
                <a:spcPct val="103000"/>
              </a:lnSpc>
              <a:spcAft>
                <a:spcPts val="300"/>
              </a:spcAft>
              <a:defRPr sz="819">
                <a:solidFill>
                  <a:srgbClr val="21242A"/>
                </a:solidFill>
                <a:latin typeface="Microsoft YaHei"/>
              </a:defRPr>
            </a:pPr>
            <a:r>
              <a:t> risk factors, respectively (p Fig.</a:t>
            </a:r>
          </a:p>
          <a:p>
            <a:pPr>
              <a:lnSpc>
                <a:spcPct val="103000"/>
              </a:lnSpc>
              <a:spcAft>
                <a:spcPts val="300"/>
              </a:spcAft>
              <a:defRPr sz="819">
                <a:solidFill>
                  <a:srgbClr val="21242A"/>
                </a:solidFill>
                <a:latin typeface="Microsoft YaHei"/>
              </a:defRPr>
            </a:pPr>
            <a:r>
              <a:t>1F ). The score retained prognostic significance in patients treated with RM-based regimens.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免疫缺陷相关原发性中枢神经系统淋巴瘤的疾病特异性预后评分：一项国际原发性cns淋巴瘤协作组（ipcg）研究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disease specific prognostic score for immunodeficiency-associated primary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400050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179/187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EHA原文结果（中文字段未通过数字核对）（4/5）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Compared with MSKCC and IELSG scores, the new model demonstrated improved performance with lower AIC and higher concor</a:t>
            </a:r>
          </a:p>
          <a:p>
            <a:pPr>
              <a:lnSpc>
                <a:spcPct val="103000"/>
              </a:lnSpc>
              <a:spcAft>
                <a:spcPts val="300"/>
              </a:spcAft>
              <a:defRPr sz="819">
                <a:solidFill>
                  <a:srgbClr val="21242A"/>
                </a:solidFill>
                <a:latin typeface="Microsoft YaHei"/>
              </a:defRPr>
            </a:pPr>
            <a:r>
              <a:t>dance index and time-dependent AUC.</a:t>
            </a:r>
          </a:p>
          <a:p>
            <a:pPr>
              <a:lnSpc>
                <a:spcPct val="103000"/>
              </a:lnSpc>
              <a:spcAft>
                <a:spcPts val="300"/>
              </a:spcAft>
              <a:defRPr sz="819">
                <a:solidFill>
                  <a:srgbClr val="21242A"/>
                </a:solidFill>
                <a:latin typeface="Microsoft YaHei"/>
              </a:defRPr>
            </a:pPr>
            <a:r>
              <a:t>Summary/Conclusion: This large international cohort defines the clinical spectrum of ID-PCNSL and demonstrates substan</a:t>
            </a:r>
          </a:p>
          <a:p>
            <a:pPr>
              <a:lnSpc>
                <a:spcPct val="103000"/>
              </a:lnSpc>
              <a:spcAft>
                <a:spcPts val="300"/>
              </a:spcAft>
              <a:defRPr sz="819">
                <a:solidFill>
                  <a:srgbClr val="21242A"/>
                </a:solidFill>
                <a:latin typeface="Microsoft YaHei"/>
              </a:defRPr>
            </a:pPr>
            <a:r>
              <a:t>tial heterogeneity in outcomes.</a:t>
            </a:r>
          </a:p>
          <a:p>
            <a:pPr>
              <a:lnSpc>
                <a:spcPct val="103000"/>
              </a:lnSpc>
              <a:spcAft>
                <a:spcPts val="300"/>
              </a:spcAft>
              <a:defRPr sz="819">
                <a:solidFill>
                  <a:srgbClr val="21242A"/>
                </a:solidFill>
                <a:latin typeface="Microsoft YaHei"/>
              </a:defRPr>
            </a:pPr>
            <a:r>
              <a:t>Immune reconstitution combined with RM-based therapy is associated with high response rates across immunodeficiency su</a:t>
            </a:r>
          </a:p>
          <a:p>
            <a:pPr>
              <a:lnSpc>
                <a:spcPct val="103000"/>
              </a:lnSpc>
              <a:spcAft>
                <a:spcPts val="300"/>
              </a:spcAft>
              <a:defRPr sz="819">
                <a:solidFill>
                  <a:srgbClr val="21242A"/>
                </a:solidFill>
                <a:latin typeface="Microsoft YaHei"/>
              </a:defRPr>
            </a:pPr>
            <a:r>
              <a:t>btypes.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免疫缺陷相关原发性中枢神经系统淋巴瘤的疾病特异性预后评分：一项国际原发性cns淋巴瘤协作组（ipcg）研究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 disease specific prognostic score for immunodeficiency-associated primary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PF967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4000500" y="6327648"/>
            <a:ext cx="928116"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化疗/免疫化疗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179/187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EHA原文结果（中文字段未通过数字核对）（5/5）</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A simple prognostic score based on age, performance status, and EBV status provides robust risk stratification, remain</a:t>
            </a:r>
          </a:p>
          <a:p>
            <a:pPr>
              <a:lnSpc>
                <a:spcPct val="103000"/>
              </a:lnSpc>
              <a:spcAft>
                <a:spcPts val="300"/>
              </a:spcAft>
              <a:defRPr sz="819">
                <a:solidFill>
                  <a:srgbClr val="21242A"/>
                </a:solidFill>
                <a:latin typeface="Microsoft YaHei"/>
              </a:defRPr>
            </a:pPr>
            <a:r>
              <a:t>s informative in RM-treated patients, and outperforms established models developed for immunocompetent PCNSL.</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设施水平差异转化为生命损失：国家癌症数据库中的老年原发性中枢神经系统淋巴瘤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facility-level differences translate into lives lost: elderly primary cns lym...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PF1047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4000500"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N=5013</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分组：学术癌症项目组（ACP）：学术/研究项目（包括NCI指定中心）</a:t>
            </a:r>
          </a:p>
          <a:p>
            <a:pPr>
              <a:lnSpc>
                <a:spcPct val="103000"/>
              </a:lnSpc>
              <a:spcAft>
                <a:spcPts val="300"/>
              </a:spcAft>
              <a:defRPr sz="800">
                <a:solidFill>
                  <a:srgbClr val="21242A"/>
                </a:solidFill>
                <a:latin typeface="Microsoft YaHei"/>
              </a:defRPr>
            </a:pPr>
            <a:r>
              <a:t>社区癌症项目组（CCP）：社区、综合社区和综合网络癌症项目</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多组/多方案比较：学术癌症项目组（ACP）：学术/研究项目（包括NCI指定中心）</a:t>
            </a:r>
          </a:p>
          <a:p>
            <a:pPr>
              <a:lnSpc>
                <a:spcPct val="103000"/>
              </a:lnSpc>
              <a:spcAft>
                <a:spcPts val="300"/>
              </a:spcAft>
              <a:defRPr sz="800">
                <a:solidFill>
                  <a:srgbClr val="21242A"/>
                </a:solidFill>
                <a:latin typeface="Microsoft YaHei"/>
              </a:defRPr>
            </a:pPr>
            <a:r>
              <a:t>社区癌症项目组（CCP）：社区、综合社区和综合网络癌症项目</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总生存期（OS）：ACP组中位生存期0.48年，CCP组0.32年</a:t>
            </a:r>
          </a:p>
          <a:p>
            <a:pPr>
              <a:lnSpc>
                <a:spcPct val="103000"/>
              </a:lnSpc>
              <a:spcAft>
                <a:spcPts val="300"/>
              </a:spcAft>
              <a:defRPr sz="800">
                <a:solidFill>
                  <a:srgbClr val="21242A"/>
                </a:solidFill>
                <a:latin typeface="Microsoft YaHei"/>
              </a:defRPr>
            </a:pPr>
            <a:r>
              <a:t>2年生存率：ACP 30.8% vs CCP 23.2%</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人数：5013</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分组/治疗流程：学术癌症项目组（ACP）：学术/研究项目（包括NCI指定中心）、社区癌症项目组（CCP）：社区、综合社区和综合网络癌症项目</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设施水平差异转化为生命损失：国家癌症数据库中的老年原发性中枢神经系统淋巴瘤</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facility-level differences translate into lives lost: elderly primary cns lym...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PF1047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77266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PCNSL</a:t>
            </a:r>
          </a:p>
        </p:txBody>
      </p:sp>
      <p:sp>
        <p:nvSpPr>
          <p:cNvPr id="10" name="TextBox 9"/>
          <p:cNvSpPr txBox="1"/>
          <p:nvPr/>
        </p:nvSpPr>
        <p:spPr>
          <a:xfrm>
            <a:off x="4000500"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180/187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2265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22652">
                <a:tc>
                  <a:txBody>
                    <a:bodyPr wrap="square" lIns="36576" rIns="36576" tIns="18288" bIns="18288"/>
                    <a:lstStyle/>
                    <a:p>
                      <a:r>
                        <a:rPr sz="720" b="1">
                          <a:solidFill>
                            <a:srgbClr val="21242A"/>
                          </a:solidFill>
                          <a:latin typeface="Microsoft YaHei"/>
                        </a:rPr>
                        <a:t>总生存期（OS）</a:t>
                      </a:r>
                    </a:p>
                  </a:txBody>
                  <a:tcPr>
                    <a:solidFill>
                      <a:srgbClr val="F6F8FB"/>
                    </a:solidFill>
                  </a:tcPr>
                </a:tc>
                <a:tc>
                  <a:txBody>
                    <a:bodyPr wrap="square" lIns="36576" rIns="36576" tIns="18288" bIns="18288"/>
                    <a:lstStyle/>
                    <a:p>
                      <a:r>
                        <a:rPr sz="720" b="0">
                          <a:solidFill>
                            <a:srgbClr val="21242A"/>
                          </a:solidFill>
                          <a:latin typeface="Microsoft YaHei"/>
                        </a:rPr>
                        <a:t>ACP组中位生存期0.48年，CCP组0.32年</a:t>
                      </a:r>
                    </a:p>
                  </a:txBody>
                  <a:tcPr>
                    <a:solidFill>
                      <a:srgbClr val="F6F8FB"/>
                    </a:solidFill>
                  </a:tcPr>
                </a:tc>
              </a:tr>
              <a:tr h="322652">
                <a:tc>
                  <a:txBody>
                    <a:bodyPr wrap="square" lIns="36576" rIns="36576" tIns="18288" bIns="18288"/>
                    <a:lstStyle/>
                    <a:p>
                      <a:r>
                        <a:rPr sz="720" b="1">
                          <a:solidFill>
                            <a:srgbClr val="21242A"/>
                          </a:solidFill>
                          <a:latin typeface="Microsoft YaHei"/>
                        </a:rPr>
                        <a:t>2年生存率</a:t>
                      </a:r>
                    </a:p>
                  </a:txBody>
                  <a:tcPr>
                    <a:solidFill>
                      <a:srgbClr val="FFFFFF"/>
                    </a:solidFill>
                  </a:tcPr>
                </a:tc>
                <a:tc>
                  <a:txBody>
                    <a:bodyPr wrap="square" lIns="36576" rIns="36576" tIns="18288" bIns="18288"/>
                    <a:lstStyle/>
                    <a:p>
                      <a:r>
                        <a:rPr sz="720" b="0">
                          <a:solidFill>
                            <a:srgbClr val="21242A"/>
                          </a:solidFill>
                          <a:latin typeface="Microsoft YaHei"/>
                        </a:rPr>
                        <a:t>ACP 30.8% vs CCP 23.2%</a:t>
                      </a:r>
                    </a:p>
                  </a:txBody>
                  <a:tcPr>
                    <a:solidFill>
                      <a:srgbClr val="FFFFFF"/>
                    </a:solidFill>
                  </a:tcPr>
                </a:tc>
              </a:tr>
              <a:tr h="322652">
                <a:tc>
                  <a:txBody>
                    <a:bodyPr wrap="square" lIns="36576" rIns="36576" tIns="18288" bIns="18288"/>
                    <a:lstStyle/>
                    <a:p>
                      <a:r>
                        <a:rPr sz="720" b="1">
                          <a:solidFill>
                            <a:srgbClr val="21242A"/>
                          </a:solidFill>
                          <a:latin typeface="Microsoft YaHei"/>
                        </a:rPr>
                        <a:t>5年生存率</a:t>
                      </a:r>
                    </a:p>
                  </a:txBody>
                  <a:tcPr>
                    <a:solidFill>
                      <a:srgbClr val="F6F8FB"/>
                    </a:solidFill>
                  </a:tcPr>
                </a:tc>
                <a:tc>
                  <a:txBody>
                    <a:bodyPr wrap="square" lIns="36576" rIns="36576" tIns="18288" bIns="18288"/>
                    <a:lstStyle/>
                    <a:p>
                      <a:r>
                        <a:rPr sz="720" b="0">
                          <a:solidFill>
                            <a:srgbClr val="21242A"/>
                          </a:solidFill>
                          <a:latin typeface="Microsoft YaHei"/>
                        </a:rPr>
                        <a:t>ACP 18.9% vs CCP 12.8%</a:t>
                      </a:r>
                    </a:p>
                  </a:txBody>
                  <a:tcPr>
                    <a:solidFill>
                      <a:srgbClr val="F6F8FB"/>
                    </a:solidFill>
                  </a:tcPr>
                </a:tc>
              </a:tr>
              <a:tr h="322652">
                <a:tc>
                  <a:txBody>
                    <a:bodyPr wrap="square" lIns="36576" rIns="36576" tIns="18288" bIns="18288"/>
                    <a:lstStyle/>
                    <a:p>
                      <a:r>
                        <a:rPr sz="720" b="1">
                          <a:solidFill>
                            <a:srgbClr val="21242A"/>
                          </a:solidFill>
                          <a:latin typeface="Microsoft YaHei"/>
                        </a:rPr>
                        <a:t>10年生存率</a:t>
                      </a:r>
                    </a:p>
                  </a:txBody>
                  <a:tcPr>
                    <a:solidFill>
                      <a:srgbClr val="FFFFFF"/>
                    </a:solidFill>
                  </a:tcPr>
                </a:tc>
                <a:tc>
                  <a:txBody>
                    <a:bodyPr wrap="square" lIns="36576" rIns="36576" tIns="18288" bIns="18288"/>
                    <a:lstStyle/>
                    <a:p>
                      <a:r>
                        <a:rPr sz="720" b="0">
                          <a:solidFill>
                            <a:srgbClr val="21242A"/>
                          </a:solidFill>
                          <a:latin typeface="Microsoft YaHei"/>
                        </a:rPr>
                        <a:t>ACP 8.8% vs CCP 5.2%</a:t>
                      </a:r>
                    </a:p>
                  </a:txBody>
                  <a:tcPr>
                    <a:solidFill>
                      <a:srgbClr val="FFFFFF"/>
                    </a:solidFill>
                  </a:tcPr>
                </a:tc>
              </a:tr>
              <a:tr h="322652">
                <a:tc>
                  <a:txBody>
                    <a:bodyPr wrap="square" lIns="36576" rIns="36576" tIns="18288" bIns="18288"/>
                    <a:lstStyle/>
                    <a:p>
                      <a:r>
                        <a:rPr sz="720" b="1">
                          <a:solidFill>
                            <a:srgbClr val="21242A"/>
                          </a:solidFill>
                          <a:latin typeface="Microsoft YaHei"/>
                        </a:rPr>
                        <a:t>早期死亡率</a:t>
                      </a:r>
                    </a:p>
                  </a:txBody>
                  <a:tcPr>
                    <a:solidFill>
                      <a:srgbClr val="F6F8FB"/>
                    </a:solidFill>
                  </a:tcPr>
                </a:tc>
                <a:tc>
                  <a:txBody>
                    <a:bodyPr wrap="square" lIns="36576" rIns="36576" tIns="18288" bIns="18288"/>
                    <a:lstStyle/>
                    <a:p>
                      <a:r>
                        <a:rPr sz="720" b="0">
                          <a:solidFill>
                            <a:srgbClr val="21242A"/>
                          </a:solidFill>
                          <a:latin typeface="Microsoft YaHei"/>
                        </a:rPr>
                        <a:t>30天死亡率ACP 3.1% vs CCP 3.9%；90天死亡率ACP 10.3% vs CCP 13.0%</a:t>
                      </a:r>
                    </a:p>
                  </a:txBody>
                  <a:tcPr>
                    <a:solidFill>
                      <a:srgbClr val="F6F8FB"/>
                    </a:solidFill>
                  </a:tcPr>
                </a:tc>
              </a:tr>
              <a:tr h="322656">
                <a:tc>
                  <a:txBody>
                    <a:bodyPr wrap="square" lIns="36576" rIns="36576" tIns="18288" bIns="18288"/>
                    <a:lstStyle/>
                    <a:p>
                      <a:r>
                        <a:rPr sz="720" b="1">
                          <a:solidFill>
                            <a:srgbClr val="21242A"/>
                          </a:solidFill>
                          <a:latin typeface="Microsoft YaHei"/>
                        </a:rPr>
                        <a:t>未接受治疗比例</a:t>
                      </a:r>
                    </a:p>
                  </a:txBody>
                  <a:tcPr>
                    <a:solidFill>
                      <a:srgbClr val="FFFFFF"/>
                    </a:solidFill>
                  </a:tcPr>
                </a:tc>
                <a:tc>
                  <a:txBody>
                    <a:bodyPr wrap="square" lIns="36576" rIns="36576" tIns="18288" bIns="18288"/>
                    <a:lstStyle/>
                    <a:p>
                      <a:r>
                        <a:rPr sz="720" b="0">
                          <a:solidFill>
                            <a:srgbClr val="21242A"/>
                          </a:solidFill>
                          <a:latin typeface="Microsoft YaHei"/>
                        </a:rPr>
                        <a:t>ACP 6.2% vs CCP 11.6%</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疾病场景：PCNSL</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摘要号：PF1047</a:t>
            </a:r>
          </a:p>
          <a:p>
            <a:pPr>
              <a:lnSpc>
                <a:spcPct val="103000"/>
              </a:lnSpc>
              <a:spcAft>
                <a:spcPts val="300"/>
              </a:spcAft>
              <a:defRPr sz="740">
                <a:solidFill>
                  <a:srgbClr val="5E6570"/>
                </a:solidFill>
                <a:latin typeface="Microsoft YaHei"/>
              </a:defRPr>
            </a:pPr>
            <a:r>
              <a:t>会议栏目：20. Other aggressive lymphomas</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脑淋巴结：原发性中枢神经系统淋巴瘤免疫分子表型的定义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brain-lym: defining immune-molecular phenotypes in primary cns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N=259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回顾性临床研究结果：brain-lym: defining immune-molecular phenotypes in pr...</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To our knowledge, this is one of the largest nationwide integra...</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人数：259</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研究主题：brain-lym: defining immune-molecular phenotypes in primary cns lymphoma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脑淋巴结：原发性中枢神经系统淋巴瘤免疫分子表型的定义</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brain-lym: defining immune-molecular phenotypes in primary cns lymphoma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S250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181/187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To our knowledge, this is one of the largest nationwide integrated DNA/RNA analyses of HD-MTX treated PCNSL linking im</a:t>
            </a:r>
          </a:p>
          <a:p>
            <a:pPr>
              <a:lnSpc>
                <a:spcPct val="103000"/>
              </a:lnSpc>
              <a:spcAft>
                <a:spcPts val="300"/>
              </a:spcAft>
              <a:defRPr sz="819">
                <a:solidFill>
                  <a:srgbClr val="21242A"/>
                </a:solidFill>
                <a:latin typeface="Microsoft YaHei"/>
              </a:defRPr>
            </a:pPr>
            <a:r>
              <a:t>mune-molecular profiles to standardized clinical response categories.</a:t>
            </a:r>
          </a:p>
          <a:p>
            <a:pPr>
              <a:lnSpc>
                <a:spcPct val="103000"/>
              </a:lnSpc>
              <a:spcAft>
                <a:spcPts val="300"/>
              </a:spcAft>
              <a:defRPr sz="819">
                <a:solidFill>
                  <a:srgbClr val="21242A"/>
                </a:solidFill>
                <a:latin typeface="Microsoft YaHei"/>
              </a:defRPr>
            </a:pPr>
            <a:r>
              <a:t>According to Kotlov et al., GEP data identified three subgroups with distinct immune characteristics: immune-low, immu</a:t>
            </a:r>
          </a:p>
          <a:p>
            <a:pPr>
              <a:lnSpc>
                <a:spcPct val="103000"/>
              </a:lnSpc>
              <a:spcAft>
                <a:spcPts val="300"/>
              </a:spcAft>
              <a:defRPr sz="819">
                <a:solidFill>
                  <a:srgbClr val="21242A"/>
                </a:solidFill>
                <a:latin typeface="Microsoft YaHei"/>
              </a:defRPr>
            </a:pPr>
            <a:r>
              <a:t>ne-evasive and immune-rich.</a:t>
            </a:r>
          </a:p>
          <a:p>
            <a:pPr>
              <a:lnSpc>
                <a:spcPct val="103000"/>
              </a:lnSpc>
              <a:spcAft>
                <a:spcPts val="300"/>
              </a:spcAft>
              <a:defRPr sz="819">
                <a:solidFill>
                  <a:srgbClr val="21242A"/>
                </a:solidFill>
                <a:latin typeface="Microsoft YaHei"/>
              </a:defRPr>
            </a:pPr>
            <a:r>
              <a:t>These findings provide a biological framework for immune-based patient stratification…</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疾病场景：SCNSL/CNS复发或预防</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摘要号：S250</a:t>
            </a:r>
          </a:p>
          <a:p>
            <a:pPr>
              <a:lnSpc>
                <a:spcPct val="103000"/>
              </a:lnSpc>
              <a:spcAft>
                <a:spcPts val="300"/>
              </a:spcAft>
              <a:defRPr sz="740">
                <a:solidFill>
                  <a:srgbClr val="5E6570"/>
                </a:solidFill>
                <a:latin typeface="Microsoft YaHei"/>
              </a:defRPr>
            </a:pPr>
            <a:r>
              <a:t>会议栏目：21. Lymphoma biology &amp; translational research</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自体造血干细胞移植联合cd19car-t细胞治疗中枢神经系统淋巴瘤的临床疗效和安全性分析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autologous hematopoietic stem cell transplantation combined with cd19 car-t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PS2235</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N=7</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试验药/方案：CD19靶向CAR-T(北京大学人民医院)</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客观缓解率（ORR）：100%（7/7）||完全缓解率（CRR）：100%（7/7）||中位总生存期（OS）：未达到||中位无...</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人数：7</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试验药/方案：CD19靶向CAR-T(北京大学人民医院)</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药物/技术类别：CAR-T、经基因修饰</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自体造血干细胞移植联合cd19car-t细胞治疗中枢神经系统淋巴瘤的临床疗效和安全性分析</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autologous hematopoietic stem cell transplantation combined with cd19 car-t c...</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PS2235</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182/187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客观缓解率（ORR）：100%（7/7）||完全缓解率（CRR）：100%（7/7）||中位总生存期（OS）：未达到||中位无进展生存期（PFS）：未达到||OS率：100%||PFS率：100%||中性粒细胞植入中位时间：15天（范围</a:t>
            </a:r>
          </a:p>
          <a:p>
            <a:pPr>
              <a:lnSpc>
                <a:spcPct val="103000"/>
              </a:lnSpc>
              <a:spcAft>
                <a:spcPts val="300"/>
              </a:spcAft>
              <a:defRPr sz="819">
                <a:solidFill>
                  <a:srgbClr val="21242A"/>
                </a:solidFill>
                <a:latin typeface="Microsoft YaHei"/>
              </a:defRPr>
            </a:pPr>
            <a:r>
              <a:t>12-23）||血小板植入中位时间：22天（范围16-29）||CAR-T细胞峰值中位数：74.3/μL（范围25.31-137.66）||达峰值中位时间：8天（范围8-12）||细胞因子释放综合征（CRS）发生率：71.4%（5/7）</a:t>
            </a:r>
          </a:p>
          <a:p>
            <a:pPr>
              <a:lnSpc>
                <a:spcPct val="103000"/>
              </a:lnSpc>
              <a:spcAft>
                <a:spcPts val="300"/>
              </a:spcAft>
              <a:defRPr sz="819">
                <a:solidFill>
                  <a:srgbClr val="21242A"/>
                </a:solidFill>
                <a:latin typeface="Microsoft YaHei"/>
              </a:defRPr>
            </a:pPr>
            <a:r>
              <a:t>，无≥3级||免疫效应细胞相关神经毒性综合征（ICANS）：1例1级，无≥2级||感染：2例，可控</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疾病场景：SCNSL/CNS复发或预防</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摘要号：PS2235</a:t>
            </a:r>
          </a:p>
          <a:p>
            <a:pPr>
              <a:lnSpc>
                <a:spcPct val="103000"/>
              </a:lnSpc>
              <a:spcAft>
                <a:spcPts val="300"/>
              </a:spcAft>
              <a:defRPr sz="740">
                <a:solidFill>
                  <a:srgbClr val="5E6570"/>
                </a:solidFill>
                <a:latin typeface="Microsoft YaHei"/>
              </a:defRPr>
            </a:pPr>
            <a:r>
              <a:t>会议栏目：23. Stem cell transplantation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glofitamab单药或联合治疗复发/难治性原发性或继发性中枢神经系统淋巴瘤：一项多中心回顾性研究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glofitamab monotherapy or combination therapy in patients with relapsed/refra...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PS2092</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N=96</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试验药/方案：格菲妥单抗</a:t>
            </a:r>
          </a:p>
          <a:p>
            <a:pPr>
              <a:lnSpc>
                <a:spcPct val="103000"/>
              </a:lnSpc>
              <a:spcAft>
                <a:spcPts val="300"/>
              </a:spcAft>
              <a:defRPr sz="800">
                <a:solidFill>
                  <a:srgbClr val="21242A"/>
                </a:solidFill>
                <a:latin typeface="Microsoft YaHei"/>
              </a:defRPr>
            </a:pPr>
            <a:r>
              <a:t>靶点：CD20，CD3</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多组/多方案比较：试验组1：glofitamab单药治疗</a:t>
            </a:r>
          </a:p>
          <a:p>
            <a:pPr>
              <a:lnSpc>
                <a:spcPct val="103000"/>
              </a:lnSpc>
              <a:spcAft>
                <a:spcPts val="300"/>
              </a:spcAft>
              <a:defRPr sz="800">
                <a:solidFill>
                  <a:srgbClr val="21242A"/>
                </a:solidFill>
                <a:latin typeface="Microsoft YaHei"/>
              </a:defRPr>
            </a:pPr>
            <a:r>
              <a:t>试验组2：glofitamab联合其他治疗（联合药物由医生决定）</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客观缓解率（ORR）：91.8%（95% CI 84.0%-96.8%）</a:t>
            </a:r>
          </a:p>
          <a:p>
            <a:pPr>
              <a:lnSpc>
                <a:spcPct val="103000"/>
              </a:lnSpc>
              <a:spcAft>
                <a:spcPts val="300"/>
              </a:spcAft>
              <a:defRPr sz="800">
                <a:solidFill>
                  <a:srgbClr val="21242A"/>
                </a:solidFill>
                <a:latin typeface="Microsoft YaHei"/>
              </a:defRPr>
            </a:pPr>
            <a:r>
              <a:t>完全缓解率（CRR）：66.6%（95% CI 55.8%-75.8%）</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人数：96</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试验药/方案：格菲妥单抗</a:t>
            </a:r>
          </a:p>
          <a:p>
            <a:pPr>
              <a:lnSpc>
                <a:spcPct val="103000"/>
              </a:lnSpc>
              <a:spcAft>
                <a:spcPts val="300"/>
              </a:spcAft>
              <a:defRPr sz="810">
                <a:solidFill>
                  <a:srgbClr val="21242A"/>
                </a:solidFill>
                <a:latin typeface="Microsoft YaHei"/>
              </a:defRPr>
            </a:pPr>
            <a:r>
              <a:t>靶点：CD20、CD3</a:t>
            </a:r>
          </a:p>
          <a:p>
            <a:pPr>
              <a:lnSpc>
                <a:spcPct val="103000"/>
              </a:lnSpc>
              <a:spcAft>
                <a:spcPts val="300"/>
              </a:spcAft>
              <a:defRPr sz="810">
                <a:solidFill>
                  <a:srgbClr val="21242A"/>
                </a:solidFill>
                <a:latin typeface="Microsoft YaHei"/>
              </a:defRPr>
            </a:pPr>
            <a:r>
              <a:t>药物/技术类别：双特异性抗体</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glofitamab单药或联合治疗复发/难治性原发性或继发性中枢神经系统淋巴瘤：一项多中心回顾性研究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glofitamab monotherapy or combination therapy in patients with relapsed/refra...</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PS2092</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183/187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282321">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282321">
                <a:tc>
                  <a:txBody>
                    <a:bodyPr wrap="square" lIns="36576" rIns="36576" tIns="18288" bIns="18288"/>
                    <a:lstStyle/>
                    <a:p>
                      <a:r>
                        <a:rPr sz="720" b="1">
                          <a:solidFill>
                            <a:srgbClr val="21242A"/>
                          </a:solidFill>
                          <a:latin typeface="Microsoft YaHei"/>
                        </a:rPr>
                        <a:t>客观缓解率（ORR）</a:t>
                      </a:r>
                    </a:p>
                  </a:txBody>
                  <a:tcPr>
                    <a:solidFill>
                      <a:srgbClr val="F6F8FB"/>
                    </a:solidFill>
                  </a:tcPr>
                </a:tc>
                <a:tc>
                  <a:txBody>
                    <a:bodyPr wrap="square" lIns="36576" rIns="36576" tIns="18288" bIns="18288"/>
                    <a:lstStyle/>
                    <a:p>
                      <a:r>
                        <a:rPr sz="720" b="0">
                          <a:solidFill>
                            <a:srgbClr val="21242A"/>
                          </a:solidFill>
                          <a:latin typeface="Microsoft YaHei"/>
                        </a:rPr>
                        <a:t>91.8%（95% CI 84.0%-96.8%）</a:t>
                      </a:r>
                    </a:p>
                  </a:txBody>
                  <a:tcPr>
                    <a:solidFill>
                      <a:srgbClr val="F6F8FB"/>
                    </a:solidFill>
                  </a:tcPr>
                </a:tc>
              </a:tr>
              <a:tr h="282321">
                <a:tc>
                  <a:txBody>
                    <a:bodyPr wrap="square" lIns="36576" rIns="36576" tIns="18288" bIns="18288"/>
                    <a:lstStyle/>
                    <a:p>
                      <a:r>
                        <a:rPr sz="720" b="1">
                          <a:solidFill>
                            <a:srgbClr val="21242A"/>
                          </a:solidFill>
                          <a:latin typeface="Microsoft YaHei"/>
                        </a:rPr>
                        <a:t>完全缓解率（CRR）</a:t>
                      </a:r>
                    </a:p>
                  </a:txBody>
                  <a:tcPr>
                    <a:solidFill>
                      <a:srgbClr val="FFFFFF"/>
                    </a:solidFill>
                  </a:tcPr>
                </a:tc>
                <a:tc>
                  <a:txBody>
                    <a:bodyPr wrap="square" lIns="36576" rIns="36576" tIns="18288" bIns="18288"/>
                    <a:lstStyle/>
                    <a:p>
                      <a:r>
                        <a:rPr sz="720" b="0">
                          <a:solidFill>
                            <a:srgbClr val="21242A"/>
                          </a:solidFill>
                          <a:latin typeface="Microsoft YaHei"/>
                        </a:rPr>
                        <a:t>66.6%（95% CI 55.8%-75.8%）</a:t>
                      </a:r>
                    </a:p>
                  </a:txBody>
                  <a:tcPr>
                    <a:solidFill>
                      <a:srgbClr val="FFFFFF"/>
                    </a:solidFill>
                  </a:tcPr>
                </a:tc>
              </a:tr>
              <a:tr h="282321">
                <a:tc>
                  <a:txBody>
                    <a:bodyPr wrap="square" lIns="36576" rIns="36576" tIns="18288" bIns="18288"/>
                    <a:lstStyle/>
                    <a:p>
                      <a:r>
                        <a:rPr sz="720" b="1">
                          <a:solidFill>
                            <a:srgbClr val="21242A"/>
                          </a:solidFill>
                          <a:latin typeface="Microsoft YaHei"/>
                        </a:rPr>
                        <a:t>中位无进展生存期（PFS）</a:t>
                      </a:r>
                    </a:p>
                  </a:txBody>
                  <a:tcPr>
                    <a:solidFill>
                      <a:srgbClr val="F6F8FB"/>
                    </a:solidFill>
                  </a:tcPr>
                </a:tc>
                <a:tc>
                  <a:txBody>
                    <a:bodyPr wrap="square" lIns="36576" rIns="36576" tIns="18288" bIns="18288"/>
                    <a:lstStyle/>
                    <a:p>
                      <a:r>
                        <a:rPr sz="720" b="0">
                          <a:solidFill>
                            <a:srgbClr val="21242A"/>
                          </a:solidFill>
                          <a:latin typeface="Microsoft YaHei"/>
                        </a:rPr>
                        <a:t>15.8个月（95% CI 12.8-未达到）</a:t>
                      </a:r>
                    </a:p>
                  </a:txBody>
                  <a:tcPr>
                    <a:solidFill>
                      <a:srgbClr val="F6F8FB"/>
                    </a:solidFill>
                  </a:tcPr>
                </a:tc>
              </a:tr>
              <a:tr h="282321">
                <a:tc>
                  <a:txBody>
                    <a:bodyPr wrap="square" lIns="36576" rIns="36576" tIns="18288" bIns="18288"/>
                    <a:lstStyle/>
                    <a:p>
                      <a:r>
                        <a:rPr sz="720" b="1">
                          <a:solidFill>
                            <a:srgbClr val="21242A"/>
                          </a:solidFill>
                          <a:latin typeface="Microsoft YaHei"/>
                        </a:rPr>
                        <a:t>6个月PFS率</a:t>
                      </a:r>
                    </a:p>
                  </a:txBody>
                  <a:tcPr>
                    <a:solidFill>
                      <a:srgbClr val="FFFFFF"/>
                    </a:solidFill>
                  </a:tcPr>
                </a:tc>
                <a:tc>
                  <a:txBody>
                    <a:bodyPr wrap="square" lIns="36576" rIns="36576" tIns="18288" bIns="18288"/>
                    <a:lstStyle/>
                    <a:p>
                      <a:r>
                        <a:rPr sz="720" b="0">
                          <a:solidFill>
                            <a:srgbClr val="21242A"/>
                          </a:solidFill>
                          <a:latin typeface="Microsoft YaHei"/>
                        </a:rPr>
                        <a:t>78.8%（95% CI 71.0%-88.7%）</a:t>
                      </a:r>
                    </a:p>
                  </a:txBody>
                  <a:tcPr>
                    <a:solidFill>
                      <a:srgbClr val="FFFFFF"/>
                    </a:solidFill>
                  </a:tcPr>
                </a:tc>
              </a:tr>
              <a:tr h="282321">
                <a:tc>
                  <a:txBody>
                    <a:bodyPr wrap="square" lIns="36576" rIns="36576" tIns="18288" bIns="18288"/>
                    <a:lstStyle/>
                    <a:p>
                      <a:r>
                        <a:rPr sz="720" b="1">
                          <a:solidFill>
                            <a:srgbClr val="21242A"/>
                          </a:solidFill>
                          <a:latin typeface="Microsoft YaHei"/>
                        </a:rPr>
                        <a:t>12个月PFS率</a:t>
                      </a:r>
                    </a:p>
                  </a:txBody>
                  <a:tcPr>
                    <a:solidFill>
                      <a:srgbClr val="F6F8FB"/>
                    </a:solidFill>
                  </a:tcPr>
                </a:tc>
                <a:tc>
                  <a:txBody>
                    <a:bodyPr wrap="square" lIns="36576" rIns="36576" tIns="18288" bIns="18288"/>
                    <a:lstStyle/>
                    <a:p>
                      <a:r>
                        <a:rPr sz="720" b="0">
                          <a:solidFill>
                            <a:srgbClr val="21242A"/>
                          </a:solidFill>
                          <a:latin typeface="Microsoft YaHei"/>
                        </a:rPr>
                        <a:t>62.0%（95% CI 50.2%-77.0%）</a:t>
                      </a:r>
                    </a:p>
                  </a:txBody>
                  <a:tcPr>
                    <a:solidFill>
                      <a:srgbClr val="F6F8FB"/>
                    </a:solidFill>
                  </a:tcPr>
                </a:tc>
              </a:tr>
              <a:tr h="282321">
                <a:tc>
                  <a:txBody>
                    <a:bodyPr wrap="square" lIns="36576" rIns="36576" tIns="18288" bIns="18288"/>
                    <a:lstStyle/>
                    <a:p>
                      <a:r>
                        <a:rPr sz="720" b="1">
                          <a:solidFill>
                            <a:srgbClr val="21242A"/>
                          </a:solidFill>
                          <a:latin typeface="Microsoft YaHei"/>
                        </a:rPr>
                        <a:t>细胞因子释放综合征（CRS）发生率</a:t>
                      </a:r>
                    </a:p>
                  </a:txBody>
                  <a:tcPr>
                    <a:solidFill>
                      <a:srgbClr val="FFFFFF"/>
                    </a:solidFill>
                  </a:tcPr>
                </a:tc>
                <a:tc>
                  <a:txBody>
                    <a:bodyPr wrap="square" lIns="36576" rIns="36576" tIns="18288" bIns="18288"/>
                    <a:lstStyle/>
                    <a:p>
                      <a:r>
                        <a:rPr sz="720" b="0">
                          <a:solidFill>
                            <a:srgbClr val="21242A"/>
                          </a:solidFill>
                          <a:latin typeface="Microsoft YaHei"/>
                        </a:rPr>
                        <a:t>40.6%（均为1-2级）</a:t>
                      </a:r>
                    </a:p>
                  </a:txBody>
                  <a:tcPr>
                    <a:solidFill>
                      <a:srgbClr val="FFFFFF"/>
                    </a:solidFill>
                  </a:tcPr>
                </a:tc>
              </a:tr>
              <a:tr h="282321">
                <a:tc>
                  <a:txBody>
                    <a:bodyPr wrap="square" lIns="36576" rIns="36576" tIns="18288" bIns="18288"/>
                    <a:lstStyle/>
                    <a:p>
                      <a:r>
                        <a:rPr sz="720" b="1">
                          <a:solidFill>
                            <a:srgbClr val="21242A"/>
                          </a:solidFill>
                          <a:latin typeface="Microsoft YaHei"/>
                        </a:rPr>
                        <a:t>免疫效应细胞相关神经毒性综合征（ICANS）发生率</a:t>
                      </a:r>
                    </a:p>
                  </a:txBody>
                  <a:tcPr>
                    <a:solidFill>
                      <a:srgbClr val="F6F8FB"/>
                    </a:solidFill>
                  </a:tcPr>
                </a:tc>
                <a:tc>
                  <a:txBody>
                    <a:bodyPr wrap="square" lIns="36576" rIns="36576" tIns="18288" bIns="18288"/>
                    <a:lstStyle/>
                    <a:p>
                      <a:r>
                        <a:rPr sz="720" b="0">
                          <a:solidFill>
                            <a:srgbClr val="21242A"/>
                          </a:solidFill>
                          <a:latin typeface="Microsoft YaHei"/>
                        </a:rPr>
                        <a:t>8%</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疾病场景：SCNSL/CNS复发或预防</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摘要号：PS2092</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原发性中枢神经系统淋巴瘤临床病理预后模型的建立与验证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and validation of a clinicopathological prognostic model for prim...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PF1011</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CNS穿透/放疗/MTX策略</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a:t>
            </a:r>
          </a:p>
          <a:p>
            <a:pPr>
              <a:lnSpc>
                <a:spcPct val="103000"/>
              </a:lnSpc>
              <a:spcAft>
                <a:spcPts val="300"/>
              </a:spcAft>
              <a:defRPr sz="800">
                <a:solidFill>
                  <a:srgbClr val="21242A"/>
                </a:solidFill>
                <a:latin typeface="Microsoft YaHei"/>
              </a:defRPr>
            </a:pPr>
            <a:r>
              <a:t>N=180</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回顾性临床研究结果：development and validation of a clinicopathological p...</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中位年龄60岁（18-82岁）</a:t>
            </a:r>
          </a:p>
          <a:p>
            <a:pPr>
              <a:lnSpc>
                <a:spcPct val="103000"/>
              </a:lnSpc>
              <a:spcAft>
                <a:spcPts val="300"/>
              </a:spcAft>
              <a:defRPr sz="800">
                <a:solidFill>
                  <a:srgbClr val="21242A"/>
                </a:solidFill>
                <a:latin typeface="Microsoft YaHei"/>
              </a:defRPr>
            </a:pPr>
            <a:r>
              <a:t>男性占56.67%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人数：180</a:t>
            </a:r>
          </a:p>
          <a:p>
            <a:pPr>
              <a:lnSpc>
                <a:spcPct val="103000"/>
              </a:lnSpc>
              <a:spcAft>
                <a:spcPts val="300"/>
              </a:spcAft>
              <a:defRPr sz="810">
                <a:solidFill>
                  <a:srgbClr val="21242A"/>
                </a:solidFill>
                <a:latin typeface="Microsoft YaHei"/>
              </a:defRPr>
            </a:pPr>
            <a:r>
              <a:t>适应症：中枢神经系统淋巴瘤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研究主题：development and validation of a clinicopathological prognostic model for primary central nervous system lymphoma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原发性中枢神经系统淋巴瘤临床病理预后模型的建立与验证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and validation of a clinicopathological prognostic model for prim...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PF1011</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CNS穿透/放疗/MTX策略</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EHA原文结果（中文字段未通过数字核对）（1/3）</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Results: The median age at diagnosis of the enrolled 180 patients was 60 years (range: 18–82 years), with 56.67% (102/</a:t>
            </a:r>
          </a:p>
          <a:p>
            <a:pPr>
              <a:lnSpc>
                <a:spcPct val="103000"/>
              </a:lnSpc>
              <a:spcAft>
                <a:spcPts val="300"/>
              </a:spcAft>
              <a:defRPr sz="819">
                <a:solidFill>
                  <a:srgbClr val="21242A"/>
                </a:solidFill>
                <a:latin typeface="Microsoft YaHei"/>
              </a:defRPr>
            </a:pPr>
            <a:r>
              <a:t>180) being male.</a:t>
            </a:r>
          </a:p>
          <a:p>
            <a:pPr>
              <a:lnSpc>
                <a:spcPct val="103000"/>
              </a:lnSpc>
              <a:spcAft>
                <a:spcPts val="300"/>
              </a:spcAft>
              <a:defRPr sz="819">
                <a:solidFill>
                  <a:srgbClr val="21242A"/>
                </a:solidFill>
                <a:latin typeface="Microsoft YaHei"/>
              </a:defRPr>
            </a:pPr>
            <a:r>
              <a:t>Diffuse large B-cell lymphoma (DLBCL) constituted the predominant pathological subtype (95%, 171/180).</a:t>
            </a:r>
          </a:p>
          <a:p>
            <a:pPr>
              <a:lnSpc>
                <a:spcPct val="103000"/>
              </a:lnSpc>
              <a:spcAft>
                <a:spcPts val="300"/>
              </a:spcAft>
              <a:defRPr sz="819">
                <a:solidFill>
                  <a:srgbClr val="21242A"/>
                </a:solidFill>
                <a:latin typeface="Microsoft YaHei"/>
              </a:defRPr>
            </a:pPr>
            <a:r>
              <a:t>Treatment modalities included subtotal/total tumor resection in 135 cases (75%), biopsy alone in 45 cases (25%), high-</a:t>
            </a:r>
          </a:p>
          <a:p>
            <a:pPr>
              <a:lnSpc>
                <a:spcPct val="103000"/>
              </a:lnSpc>
              <a:spcAft>
                <a:spcPts val="300"/>
              </a:spcAft>
              <a:defRPr sz="819">
                <a:solidFill>
                  <a:srgbClr val="21242A"/>
                </a:solidFill>
                <a:latin typeface="Microsoft YaHei"/>
              </a:defRPr>
            </a:pPr>
            <a:r>
              <a:t>dose methotrexate (HD-MTX)-based chemotherapy in 67 cases (37.22%), and combination therapies (including radiotherapy </a:t>
            </a:r>
          </a:p>
          <a:p>
            <a:pPr>
              <a:lnSpc>
                <a:spcPct val="103000"/>
              </a:lnSpc>
              <a:spcAft>
                <a:spcPts val="300"/>
              </a:spcAft>
              <a:defRPr sz="819">
                <a:solidFill>
                  <a:srgbClr val="21242A"/>
                </a:solidFill>
                <a:latin typeface="Microsoft YaHei"/>
              </a:defRPr>
            </a:pPr>
            <a:r>
              <a:t>or hematopoietic cell transplantation) in 30 cases (16.7%).</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展示方式：中文结果字段未通过数字核对，已改用EHA原文</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疾病场景：SCNSL/CNS复发或预防</a:t>
            </a:r>
          </a:p>
          <a:p>
            <a:pPr>
              <a:lnSpc>
                <a:spcPct val="103000"/>
              </a:lnSpc>
              <a:spcAft>
                <a:spcPts val="300"/>
              </a:spcAft>
              <a:defRPr sz="780">
                <a:solidFill>
                  <a:srgbClr val="21242A"/>
                </a:solidFill>
                <a:latin typeface="Microsoft YaHei"/>
              </a:defRPr>
            </a:pPr>
            <a:r>
              <a:t>药物/技术：CNS穿透/放疗/MTX策略</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摘要号：PF1011</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原发性中枢神经系统淋巴瘤临床病理预后模型的建立与验证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and validation of a clinicopathological prognostic model for prim...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PF1011</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CNS穿透/放疗/MTX策略</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EHA原文结果（中文字段未通过数字核对）（2/3）</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Multivariable Cox regression identified age ≥ 60 years (HR: 2.58, p 2 (HR: 4.28, p p (Figure 1A) .</a:t>
            </a:r>
          </a:p>
          <a:p>
            <a:pPr>
              <a:lnSpc>
                <a:spcPct val="103000"/>
              </a:lnSpc>
              <a:spcAft>
                <a:spcPts val="300"/>
              </a:spcAft>
              <a:defRPr sz="819">
                <a:solidFill>
                  <a:srgbClr val="21242A"/>
                </a:solidFill>
                <a:latin typeface="Microsoft YaHei"/>
              </a:defRPr>
            </a:pPr>
            <a:r>
              <a:t>The model exhibited good discrimination, with area under the curve values of 0.74 and 0.89 in the training and validat</a:t>
            </a:r>
          </a:p>
          <a:p>
            <a:pPr>
              <a:lnSpc>
                <a:spcPct val="103000"/>
              </a:lnSpc>
              <a:spcAft>
                <a:spcPts val="300"/>
              </a:spcAft>
              <a:defRPr sz="819">
                <a:solidFill>
                  <a:srgbClr val="21242A"/>
                </a:solidFill>
                <a:latin typeface="Microsoft YaHei"/>
              </a:defRPr>
            </a:pPr>
            <a:r>
              <a:t>ion cohorts, respectively (Figure 1B-C) .</a:t>
            </a:r>
          </a:p>
          <a:p>
            <a:pPr>
              <a:lnSpc>
                <a:spcPct val="103000"/>
              </a:lnSpc>
              <a:spcAft>
                <a:spcPts val="300"/>
              </a:spcAft>
              <a:defRPr sz="819">
                <a:solidFill>
                  <a:srgbClr val="21242A"/>
                </a:solidFill>
                <a:latin typeface="Microsoft YaHei"/>
              </a:defRPr>
            </a:pPr>
            <a:r>
              <a:t>Calibration curves demonstrated high consistency between the predicted probabilities and actual observations.</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结果续页</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原发性中枢神经系统淋巴瘤临床病理预后模型的建立与验证</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development and validation of a clinicopathological prognostic model for prim...</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PF1011</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CNS穿透/放疗/MTX策略</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184/187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中文结果续页</a:t>
            </a:r>
          </a:p>
        </p:txBody>
      </p:sp>
      <p:sp>
        <p:nvSpPr>
          <p:cNvPr id="14" name="Rectangle 13"/>
          <p:cNvSpPr/>
          <p:nvPr/>
        </p:nvSpPr>
        <p:spPr>
          <a:xfrm>
            <a:off x="411480" y="1115568"/>
            <a:ext cx="11201400" cy="438912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1087221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EHA原文结果（中文字段未通过数字核对）（3/3）</a:t>
            </a:r>
          </a:p>
        </p:txBody>
      </p:sp>
      <p:sp>
        <p:nvSpPr>
          <p:cNvPr id="16" name="TextBox 15"/>
          <p:cNvSpPr txBox="1"/>
          <p:nvPr/>
        </p:nvSpPr>
        <p:spPr>
          <a:xfrm>
            <a:off x="576072" y="1618488"/>
            <a:ext cx="10872216" cy="358444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Furthermore, risk stratification based on this model revealed significant differences in survival status among patient</a:t>
            </a:r>
          </a:p>
          <a:p>
            <a:pPr>
              <a:lnSpc>
                <a:spcPct val="103000"/>
              </a:lnSpc>
              <a:spcAft>
                <a:spcPts val="300"/>
              </a:spcAft>
              <a:defRPr sz="819">
                <a:solidFill>
                  <a:srgbClr val="21242A"/>
                </a:solidFill>
                <a:latin typeface="Microsoft YaHei"/>
              </a:defRPr>
            </a:pPr>
            <a:r>
              <a:t>s in different risk groups, indicating that this risk stratification strategy can effectively differentiate patient pr</a:t>
            </a:r>
          </a:p>
          <a:p>
            <a:pPr>
              <a:lnSpc>
                <a:spcPct val="103000"/>
              </a:lnSpc>
              <a:spcAft>
                <a:spcPts val="300"/>
              </a:spcAft>
              <a:defRPr sz="819">
                <a:solidFill>
                  <a:srgbClr val="21242A"/>
                </a:solidFill>
                <a:latin typeface="Microsoft YaHei"/>
              </a:defRPr>
            </a:pPr>
            <a:r>
              <a:t>ognosis (Figure 1D-E) .</a:t>
            </a:r>
          </a:p>
          <a:p>
            <a:pPr>
              <a:lnSpc>
                <a:spcPct val="103000"/>
              </a:lnSpc>
              <a:spcAft>
                <a:spcPts val="300"/>
              </a:spcAft>
              <a:defRPr sz="819">
                <a:solidFill>
                  <a:srgbClr val="21242A"/>
                </a:solidFill>
                <a:latin typeface="Microsoft YaHei"/>
              </a:defRPr>
            </a:pPr>
            <a:r>
              <a:t>Summary/Conclusion: This study presents a novel prognostic model integrating age, ECOG-PS, and MYC expression to predi</a:t>
            </a:r>
          </a:p>
          <a:p>
            <a:pPr>
              <a:lnSpc>
                <a:spcPct val="103000"/>
              </a:lnSpc>
              <a:spcAft>
                <a:spcPts val="300"/>
              </a:spcAft>
              <a:defRPr sz="819">
                <a:solidFill>
                  <a:srgbClr val="21242A"/>
                </a:solidFill>
                <a:latin typeface="Microsoft YaHei"/>
              </a:defRPr>
            </a:pPr>
            <a:r>
              <a:t>ct OS in newly diagnosed PCNSL patients.</a:t>
            </a:r>
          </a:p>
          <a:p>
            <a:pPr>
              <a:lnSpc>
                <a:spcPct val="103000"/>
              </a:lnSpc>
              <a:spcAft>
                <a:spcPts val="300"/>
              </a:spcAft>
              <a:defRPr sz="819">
                <a:solidFill>
                  <a:srgbClr val="21242A"/>
                </a:solidFill>
                <a:latin typeface="Microsoft YaHei"/>
              </a:defRPr>
            </a:pPr>
            <a:r>
              <a:t>By incorporating high-risk clinicopathological features associated with tumor aggressiveness, this model may facilitat</a:t>
            </a:r>
          </a:p>
          <a:p>
            <a:pPr>
              <a:lnSpc>
                <a:spcPct val="103000"/>
              </a:lnSpc>
              <a:spcAft>
                <a:spcPts val="300"/>
              </a:spcAft>
              <a:defRPr sz="819">
                <a:solidFill>
                  <a:srgbClr val="21242A"/>
                </a:solidFill>
                <a:latin typeface="Microsoft YaHei"/>
              </a:defRPr>
            </a:pPr>
            <a:r>
              <a:t>e more individualized treatment planning.</a:t>
            </a:r>
          </a:p>
        </p:txBody>
      </p:sp>
      <p:sp>
        <p:nvSpPr>
          <p:cNvPr id="17" name="TextBox 16"/>
          <p:cNvSpPr txBox="1"/>
          <p:nvPr/>
        </p:nvSpPr>
        <p:spPr>
          <a:xfrm>
            <a:off x="576072" y="5230368"/>
            <a:ext cx="1087221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注：为避免误读，改用EHA页面原文结果；需人工翻译后再对外使用。</a:t>
            </a:r>
          </a:p>
        </p:txBody>
      </p:sp>
      <p:sp>
        <p:nvSpPr>
          <p:cNvPr id="18" name="Rounded Rectangle 17">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预测全身弥漫性大b细胞淋巴瘤和原发性中枢神经系统淋巴瘤自体造血细胞移植后复发的因素：一项芬兰多中心研究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factors predicting relapse after autologous hematopoietic cell transplantatio...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PS2247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中枢神经系统淋巴瘤，弥漫性大B细胞淋巴瘤</a:t>
            </a:r>
          </a:p>
          <a:p>
            <a:pPr>
              <a:lnSpc>
                <a:spcPct val="103000"/>
              </a:lnSpc>
              <a:spcAft>
                <a:spcPts val="300"/>
              </a:spcAft>
              <a:defRPr sz="800">
                <a:solidFill>
                  <a:srgbClr val="21242A"/>
                </a:solidFill>
                <a:latin typeface="Microsoft YaHei"/>
              </a:defRPr>
            </a:pPr>
            <a:r>
              <a:t>N=159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回顾性临床研究结果：factors predicting relapse after autologous hematopoi...</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DLBCL患者：LDH升高与复发风险HR=3.75 (95% CI 1.46-9.59, p=0.006)</a:t>
            </a:r>
          </a:p>
          <a:p>
            <a:pPr>
              <a:lnSpc>
                <a:spcPct val="103000"/>
              </a:lnSpc>
              <a:spcAft>
                <a:spcPts val="300"/>
              </a:spcAft>
              <a:defRPr sz="800">
                <a:solidFill>
                  <a:srgbClr val="21242A"/>
                </a:solidFill>
                <a:latin typeface="Microsoft YaHei"/>
              </a:defRPr>
            </a:pPr>
            <a:r>
              <a:t>DLBCL患者：≥2个结外病灶与复发风险HR=2.89 (95% CI 1.21-6.91, p=0.017)</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人数：159</a:t>
            </a:r>
          </a:p>
          <a:p>
            <a:pPr>
              <a:lnSpc>
                <a:spcPct val="103000"/>
              </a:lnSpc>
              <a:spcAft>
                <a:spcPts val="300"/>
              </a:spcAft>
              <a:defRPr sz="810">
                <a:solidFill>
                  <a:srgbClr val="21242A"/>
                </a:solidFill>
                <a:latin typeface="Microsoft YaHei"/>
              </a:defRPr>
            </a:pPr>
            <a:r>
              <a:t>适应症：中枢神经系统淋巴瘤、弥漫性大B细胞淋巴瘤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研究主题：factors predicting relapse after autologous hematopoietic cell transplantation in systemic diffuse large b-cell lymphom...</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预测全身弥漫性大b细胞淋巴瘤和原发性中枢神经系统淋巴瘤自体造血细胞移植后复发的因素：一项芬兰多中心研究</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factors predicting relapse after autologous hematopoietic cell transplantatio...</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PS2247</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SCNSL/CNS复发或预防</a:t>
            </a:r>
          </a:p>
        </p:txBody>
      </p:sp>
      <p:sp>
        <p:nvSpPr>
          <p:cNvPr id="10" name="TextBox 9"/>
          <p:cNvSpPr txBox="1"/>
          <p:nvPr/>
        </p:nvSpPr>
        <p:spPr>
          <a:xfrm>
            <a:off x="446227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185/187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22652">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22652">
                <a:tc>
                  <a:txBody>
                    <a:bodyPr wrap="square" lIns="36576" rIns="36576" tIns="18288" bIns="18288"/>
                    <a:lstStyle/>
                    <a:p>
                      <a:r>
                        <a:rPr sz="720" b="1">
                          <a:solidFill>
                            <a:srgbClr val="21242A"/>
                          </a:solidFill>
                          <a:latin typeface="Microsoft YaHei"/>
                        </a:rPr>
                        <a:t>DLBCL患者</a:t>
                      </a:r>
                    </a:p>
                  </a:txBody>
                  <a:tcPr>
                    <a:solidFill>
                      <a:srgbClr val="F6F8FB"/>
                    </a:solidFill>
                  </a:tcPr>
                </a:tc>
                <a:tc>
                  <a:txBody>
                    <a:bodyPr wrap="square" lIns="36576" rIns="36576" tIns="18288" bIns="18288"/>
                    <a:lstStyle/>
                    <a:p>
                      <a:r>
                        <a:rPr sz="720" b="0">
                          <a:solidFill>
                            <a:srgbClr val="21242A"/>
                          </a:solidFill>
                          <a:latin typeface="Microsoft YaHei"/>
                        </a:rPr>
                        <a:t>LDH升高与复发风险HR=3.75 (95% CI 1.46-9.59, p=0.006)</a:t>
                      </a:r>
                    </a:p>
                  </a:txBody>
                  <a:tcPr>
                    <a:solidFill>
                      <a:srgbClr val="F6F8FB"/>
                    </a:solidFill>
                  </a:tcPr>
                </a:tc>
              </a:tr>
              <a:tr h="322652">
                <a:tc>
                  <a:txBody>
                    <a:bodyPr wrap="square" lIns="36576" rIns="36576" tIns="18288" bIns="18288"/>
                    <a:lstStyle/>
                    <a:p>
                      <a:r>
                        <a:rPr sz="720" b="1">
                          <a:solidFill>
                            <a:srgbClr val="21242A"/>
                          </a:solidFill>
                          <a:latin typeface="Microsoft YaHei"/>
                        </a:rPr>
                        <a:t>DLBCL患者</a:t>
                      </a:r>
                    </a:p>
                  </a:txBody>
                  <a:tcPr>
                    <a:solidFill>
                      <a:srgbClr val="FFFFFF"/>
                    </a:solidFill>
                  </a:tcPr>
                </a:tc>
                <a:tc>
                  <a:txBody>
                    <a:bodyPr wrap="square" lIns="36576" rIns="36576" tIns="18288" bIns="18288"/>
                    <a:lstStyle/>
                    <a:p>
                      <a:r>
                        <a:rPr sz="720" b="0">
                          <a:solidFill>
                            <a:srgbClr val="21242A"/>
                          </a:solidFill>
                          <a:latin typeface="Microsoft YaHei"/>
                        </a:rPr>
                        <a:t>≥2个结外病灶与复发风险HR=2.89 (95% CI 1.21-6.91, p=0.017)</a:t>
                      </a:r>
                    </a:p>
                  </a:txBody>
                  <a:tcPr>
                    <a:solidFill>
                      <a:srgbClr val="FFFFFF"/>
                    </a:solidFill>
                  </a:tcPr>
                </a:tc>
              </a:tr>
              <a:tr h="322652">
                <a:tc>
                  <a:txBody>
                    <a:bodyPr wrap="square" lIns="36576" rIns="36576" tIns="18288" bIns="18288"/>
                    <a:lstStyle/>
                    <a:p>
                      <a:r>
                        <a:rPr sz="720" b="1">
                          <a:solidFill>
                            <a:srgbClr val="21242A"/>
                          </a:solidFill>
                          <a:latin typeface="Microsoft YaHei"/>
                        </a:rPr>
                        <a:t>DLBCL患者</a:t>
                      </a:r>
                    </a:p>
                  </a:txBody>
                  <a:tcPr>
                    <a:solidFill>
                      <a:srgbClr val="F6F8FB"/>
                    </a:solidFill>
                  </a:tcPr>
                </a:tc>
                <a:tc>
                  <a:txBody>
                    <a:bodyPr wrap="square" lIns="36576" rIns="36576" tIns="18288" bIns="18288"/>
                    <a:lstStyle/>
                    <a:p>
                      <a:r>
                        <a:rPr sz="720" b="0">
                          <a:solidFill>
                            <a:srgbClr val="21242A"/>
                          </a:solidFill>
                          <a:latin typeface="Microsoft YaHei"/>
                        </a:rPr>
                        <a:t>AHCT前PR与复发风险HR=1.97 (95% CI 1.02-3.80, p=0.042)</a:t>
                      </a:r>
                    </a:p>
                  </a:txBody>
                  <a:tcPr>
                    <a:solidFill>
                      <a:srgbClr val="F6F8FB"/>
                    </a:solidFill>
                  </a:tcPr>
                </a:tc>
              </a:tr>
              <a:tr h="322652">
                <a:tc>
                  <a:txBody>
                    <a:bodyPr wrap="square" lIns="36576" rIns="36576" tIns="18288" bIns="18288"/>
                    <a:lstStyle/>
                    <a:p>
                      <a:r>
                        <a:rPr sz="720" b="1">
                          <a:solidFill>
                            <a:srgbClr val="21242A"/>
                          </a:solidFill>
                          <a:latin typeface="Microsoft YaHei"/>
                        </a:rPr>
                        <a:t>PCNSL患者</a:t>
                      </a:r>
                    </a:p>
                  </a:txBody>
                  <a:tcPr>
                    <a:solidFill>
                      <a:srgbClr val="FFFFFF"/>
                    </a:solidFill>
                  </a:tcPr>
                </a:tc>
                <a:tc>
                  <a:txBody>
                    <a:bodyPr wrap="square" lIns="36576" rIns="36576" tIns="18288" bIns="18288"/>
                    <a:lstStyle/>
                    <a:p>
                      <a:r>
                        <a:rPr sz="720" b="0">
                          <a:solidFill>
                            <a:srgbClr val="21242A"/>
                          </a:solidFill>
                          <a:latin typeface="Microsoft YaHei"/>
                        </a:rPr>
                        <a:t>动员前PR vs CR的复发风险HR=15.06 (95% CI 1.08-210.62, p=0.044)</a:t>
                      </a:r>
                    </a:p>
                  </a:txBody>
                  <a:tcPr>
                    <a:solidFill>
                      <a:srgbClr val="FFFFFF"/>
                    </a:solidFill>
                  </a:tcPr>
                </a:tc>
              </a:tr>
              <a:tr h="322652">
                <a:tc>
                  <a:txBody>
                    <a:bodyPr wrap="square" lIns="36576" rIns="36576" tIns="18288" bIns="18288"/>
                    <a:lstStyle/>
                    <a:p>
                      <a:r>
                        <a:rPr sz="720" b="1">
                          <a:solidFill>
                            <a:srgbClr val="21242A"/>
                          </a:solidFill>
                          <a:latin typeface="Microsoft YaHei"/>
                        </a:rPr>
                        <a:t>基于以上三个因素的风险评分</a:t>
                      </a:r>
                    </a:p>
                  </a:txBody>
                  <a:tcPr>
                    <a:solidFill>
                      <a:srgbClr val="F6F8FB"/>
                    </a:solidFill>
                  </a:tcPr>
                </a:tc>
                <a:tc>
                  <a:txBody>
                    <a:bodyPr wrap="square" lIns="36576" rIns="36576" tIns="18288" bIns="18288"/>
                    <a:lstStyle/>
                    <a:p>
                      <a:r>
                        <a:rPr sz="720" b="0">
                          <a:solidFill>
                            <a:srgbClr val="21242A"/>
                          </a:solidFill>
                          <a:latin typeface="Microsoft YaHei"/>
                        </a:rPr>
                        <a:t>低危组5年RFS 84.9%，中危组64.4%，高危组47.5% (p=0.006)</a:t>
                      </a:r>
                    </a:p>
                  </a:txBody>
                  <a:tcPr>
                    <a:solidFill>
                      <a:srgbClr val="F6F8FB"/>
                    </a:solidFill>
                  </a:tcPr>
                </a:tc>
              </a:tr>
              <a:tr h="322656">
                <a:tc>
                  <a:txBody>
                    <a:bodyPr wrap="square" lIns="36576" rIns="36576" tIns="18288" bIns="18288"/>
                    <a:lstStyle/>
                    <a:p>
                      <a:r>
                        <a:rPr sz="720" b="1">
                          <a:solidFill>
                            <a:srgbClr val="21242A"/>
                          </a:solidFill>
                          <a:latin typeface="Microsoft YaHei"/>
                        </a:rPr>
                        <a:t>早期复发患者中</a:t>
                      </a:r>
                    </a:p>
                  </a:txBody>
                  <a:tcPr>
                    <a:solidFill>
                      <a:srgbClr val="FFFFFF"/>
                    </a:solidFill>
                  </a:tcPr>
                </a:tc>
                <a:tc>
                  <a:txBody>
                    <a:bodyPr wrap="square" lIns="36576" rIns="36576" tIns="18288" bIns="18288"/>
                    <a:lstStyle/>
                    <a:p>
                      <a:r>
                        <a:rPr sz="720" b="0">
                          <a:solidFill>
                            <a:srgbClr val="21242A"/>
                          </a:solidFill>
                          <a:latin typeface="Microsoft YaHei"/>
                        </a:rPr>
                        <a:t>低危组5年RFS 89.7%，中危组71.4%，高危组48.5% (p=0.007)</a:t>
                      </a:r>
                    </a:p>
                  </a:txBody>
                  <a:tcPr>
                    <a:solidFill>
                      <a:srgbClr val="FFFFFF"/>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疾病场景：SCNSL/CNS复发或预防</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摘要号：PS2247</a:t>
            </a:r>
          </a:p>
          <a:p>
            <a:pPr>
              <a:lnSpc>
                <a:spcPct val="103000"/>
              </a:lnSpc>
              <a:spcAft>
                <a:spcPts val="300"/>
              </a:spcAft>
              <a:defRPr sz="740">
                <a:solidFill>
                  <a:srgbClr val="5E6570"/>
                </a:solidFill>
                <a:latin typeface="Microsoft YaHei"/>
              </a:defRPr>
            </a:pPr>
            <a:r>
              <a:t>会议栏目：23. Stem cell transplantation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玻璃体切除标本流式细胞术作为原发性玻璃体视网膜淋巴瘤的诊断工具</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flow cytometry of vitrectomy samples as a diagnostic tool in primary vitreore...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眼内/玻璃体视网膜淋巴瘤</a:t>
            </a:r>
          </a:p>
        </p:txBody>
      </p:sp>
      <p:sp>
        <p:nvSpPr>
          <p:cNvPr id="10" name="TextBox 9"/>
          <p:cNvSpPr txBox="1"/>
          <p:nvPr/>
        </p:nvSpPr>
        <p:spPr>
          <a:xfrm>
            <a:off x="446227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原发性玻璃体视网膜淋巴瘤</a:t>
            </a:r>
          </a:p>
          <a:p>
            <a:pPr>
              <a:lnSpc>
                <a:spcPct val="103000"/>
              </a:lnSpc>
              <a:spcAft>
                <a:spcPts val="300"/>
              </a:spcAft>
              <a:defRPr sz="800">
                <a:solidFill>
                  <a:srgbClr val="21242A"/>
                </a:solidFill>
                <a:latin typeface="Microsoft YaHei"/>
              </a:defRPr>
            </a:pPr>
            <a:r>
              <a:t>N=49</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回顾性临床研究结果：flow cytometry of vitrectomy samples as a diagnostic...</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未明确对照</a:t>
            </a:r>
          </a:p>
          <a:p>
            <a:pPr>
              <a:lnSpc>
                <a:spcPct val="103000"/>
              </a:lnSpc>
              <a:spcAft>
                <a:spcPts val="300"/>
              </a:spcAft>
              <a:defRPr sz="800">
                <a:solidFill>
                  <a:srgbClr val="21242A"/>
                </a:solidFill>
                <a:latin typeface="Microsoft YaHei"/>
              </a:defRPr>
            </a:pPr>
            <a:r>
              <a:t>按单臂、观察性、真实世界、基础研究或原表未提取处理</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对于预测CNS淋巴瘤：敏感性100%（95%CI: 77.1-100%），特异性94.4%（95%CI: 77.3-99.1%...</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研究类型：回顾性临床研究结果</a:t>
            </a:r>
          </a:p>
          <a:p>
            <a:pPr>
              <a:lnSpc>
                <a:spcPct val="103000"/>
              </a:lnSpc>
              <a:spcAft>
                <a:spcPts val="300"/>
              </a:spcAft>
              <a:defRPr sz="810">
                <a:solidFill>
                  <a:srgbClr val="21242A"/>
                </a:solidFill>
                <a:latin typeface="Microsoft YaHei"/>
              </a:defRPr>
            </a:pPr>
            <a:r>
              <a:t>人数：49</a:t>
            </a:r>
          </a:p>
          <a:p>
            <a:pPr>
              <a:lnSpc>
                <a:spcPct val="103000"/>
              </a:lnSpc>
              <a:spcAft>
                <a:spcPts val="300"/>
              </a:spcAft>
              <a:defRPr sz="810">
                <a:solidFill>
                  <a:srgbClr val="21242A"/>
                </a:solidFill>
                <a:latin typeface="Microsoft YaHei"/>
              </a:defRPr>
            </a:pPr>
            <a:r>
              <a:t>适应症：原发性玻璃体视网膜淋巴瘤</a:t>
            </a:r>
          </a:p>
          <a:p>
            <a:pPr>
              <a:lnSpc>
                <a:spcPct val="103000"/>
              </a:lnSpc>
              <a:spcAft>
                <a:spcPts val="300"/>
              </a:spcAft>
              <a:defRPr sz="810">
                <a:solidFill>
                  <a:srgbClr val="21242A"/>
                </a:solidFill>
                <a:latin typeface="Microsoft YaHei"/>
              </a:defRPr>
            </a:pPr>
            <a:r>
              <a:t>治疗线数：未提取</a:t>
            </a:r>
          </a:p>
          <a:p>
            <a:pPr>
              <a:lnSpc>
                <a:spcPct val="103000"/>
              </a:lnSpc>
              <a:spcAft>
                <a:spcPts val="300"/>
              </a:spcAft>
              <a:defRPr sz="810">
                <a:solidFill>
                  <a:srgbClr val="21242A"/>
                </a:solidFill>
                <a:latin typeface="Microsoft YaHei"/>
              </a:defRPr>
            </a:pPr>
            <a:r>
              <a:t>登记号：未提取</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研究主题：flow cytometry of vitrectomy samples as a diagnostic tool in primary vitreoretinal lymphoma</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玻璃体切除标本流式细胞术作为原发性玻璃体视网膜淋巴瘤的诊断工具</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flow cytometry of vitrectomy samples as a diagnostic tool in primary vitreore...</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PF1020</a:t>
            </a:r>
          </a:p>
        </p:txBody>
      </p:sp>
      <p:sp>
        <p:nvSpPr>
          <p:cNvPr id="6" name="TextBox 5"/>
          <p:cNvSpPr txBox="1"/>
          <p:nvPr/>
        </p:nvSpPr>
        <p:spPr>
          <a:xfrm>
            <a:off x="310896"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7" name="TextBox 6"/>
          <p:cNvSpPr txBox="1"/>
          <p:nvPr/>
        </p:nvSpPr>
        <p:spPr>
          <a:xfrm>
            <a:off x="1097280" y="6327648"/>
            <a:ext cx="69494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CNSL</a:t>
            </a:r>
          </a:p>
        </p:txBody>
      </p:sp>
      <p:sp>
        <p:nvSpPr>
          <p:cNvPr id="8" name="TextBox 7"/>
          <p:cNvSpPr txBox="1"/>
          <p:nvPr/>
        </p:nvSpPr>
        <p:spPr>
          <a:xfrm>
            <a:off x="18836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回顾性/真实世界研究</a:t>
            </a:r>
          </a:p>
        </p:txBody>
      </p:sp>
      <p:sp>
        <p:nvSpPr>
          <p:cNvPr id="9" name="TextBox 8"/>
          <p:cNvSpPr txBox="1"/>
          <p:nvPr/>
        </p:nvSpPr>
        <p:spPr>
          <a:xfrm>
            <a:off x="3136392" y="6327648"/>
            <a:ext cx="12344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眼内/玻璃体视网膜淋巴瘤</a:t>
            </a:r>
          </a:p>
        </p:txBody>
      </p:sp>
      <p:sp>
        <p:nvSpPr>
          <p:cNvPr id="10" name="TextBox 9"/>
          <p:cNvSpPr txBox="1"/>
          <p:nvPr/>
        </p:nvSpPr>
        <p:spPr>
          <a:xfrm>
            <a:off x="4462272" y="6327648"/>
            <a:ext cx="1005840"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其他/未明确药物</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CNSL | 186/187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52728"/>
            <a:ext cx="6345936" cy="256032"/>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中文结果摘录（原表）</a:t>
            </a:r>
          </a:p>
        </p:txBody>
      </p:sp>
      <p:sp>
        <p:nvSpPr>
          <p:cNvPr id="16" name="TextBox 15"/>
          <p:cNvSpPr txBox="1"/>
          <p:nvPr/>
        </p:nvSpPr>
        <p:spPr>
          <a:xfrm>
            <a:off x="576072" y="1618488"/>
            <a:ext cx="6345936" cy="2258568"/>
          </a:xfrm>
          <a:prstGeom prst="rect">
            <a:avLst/>
          </a:prstGeom>
          <a:noFill/>
        </p:spPr>
        <p:txBody>
          <a:bodyPr wrap="square" rIns="73152" bIns="36576">
            <a:normAutofit/>
          </a:bodyPr>
          <a:lstStyle/>
          <a:p>
            <a:pPr>
              <a:lnSpc>
                <a:spcPct val="103000"/>
              </a:lnSpc>
              <a:spcAft>
                <a:spcPts val="300"/>
              </a:spcAft>
              <a:defRPr sz="819">
                <a:solidFill>
                  <a:srgbClr val="21242A"/>
                </a:solidFill>
                <a:latin typeface="Microsoft YaHei"/>
              </a:defRPr>
            </a:pPr>
            <a:r>
              <a:t>对于预测CNS淋巴瘤：敏感性100%（95%CI: 77.1-100%），特异性94.4%（95%CI: 77.3-99.1%），阳性预测值（PPV）未提供，阴性预测值100%（95%CI: 83.9-100%）</a:t>
            </a:r>
          </a:p>
        </p:txBody>
      </p:sp>
      <p:sp>
        <p:nvSpPr>
          <p:cNvPr id="17" name="TextBox 16"/>
          <p:cNvSpPr txBox="1"/>
          <p:nvPr/>
        </p:nvSpPr>
        <p:spPr>
          <a:xfrm>
            <a:off x="576072" y="3904488"/>
            <a:ext cx="6345936"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注：文字来自原表“试验结果”或 PICO Outcome，不自动改写。</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展示方式：以文字结论为主，按原表中文结果摘录</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研究类型：回顾性/真实世界研究</a:t>
            </a:r>
          </a:p>
          <a:p>
            <a:pPr>
              <a:lnSpc>
                <a:spcPct val="103000"/>
              </a:lnSpc>
              <a:spcAft>
                <a:spcPts val="300"/>
              </a:spcAft>
              <a:defRPr sz="780">
                <a:solidFill>
                  <a:srgbClr val="21242A"/>
                </a:solidFill>
                <a:latin typeface="Microsoft YaHei"/>
              </a:defRPr>
            </a:pPr>
            <a:r>
              <a:t>疾病场景：眼内/玻璃体视网膜淋巴瘤</a:t>
            </a:r>
          </a:p>
          <a:p>
            <a:pPr>
              <a:lnSpc>
                <a:spcPct val="103000"/>
              </a:lnSpc>
              <a:spcAft>
                <a:spcPts val="300"/>
              </a:spcAft>
              <a:defRPr sz="780">
                <a:solidFill>
                  <a:srgbClr val="21242A"/>
                </a:solidFill>
                <a:latin typeface="Microsoft YaHei"/>
              </a:defRPr>
            </a:pPr>
            <a:r>
              <a:t>药物/技术：其他/未明确药物</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摘要号：PF1020</a:t>
            </a:r>
          </a:p>
          <a:p>
            <a:pPr>
              <a:lnSpc>
                <a:spcPct val="103000"/>
              </a:lnSpc>
              <a:spcAft>
                <a:spcPts val="300"/>
              </a:spcAft>
              <a:defRPr sz="740">
                <a:solidFill>
                  <a:srgbClr val="5E6570"/>
                </a:solidFill>
                <a:latin typeface="Microsoft YaHei"/>
              </a:defRPr>
            </a:pPr>
            <a:r>
              <a:t>会议栏目：19. Large B cell lymphomas - Clinical</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384048"/>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章节</a:t>
            </a:r>
          </a:p>
        </p:txBody>
      </p:sp>
      <p:sp>
        <p:nvSpPr>
          <p:cNvPr id="3" name="TextBox 2"/>
          <p:cNvSpPr txBox="1"/>
          <p:nvPr/>
        </p:nvSpPr>
        <p:spPr>
          <a:xfrm>
            <a:off x="1600200" y="274320"/>
            <a:ext cx="9326880" cy="502920"/>
          </a:xfrm>
          <a:prstGeom prst="rect">
            <a:avLst/>
          </a:prstGeom>
          <a:noFill/>
        </p:spPr>
        <p:txBody>
          <a:bodyPr wrap="square" lIns="73152" rIns="73152" tIns="36576" bIns="36576" anchor="t">
            <a:normAutofit/>
          </a:bodyPr>
          <a:lstStyle/>
          <a:p>
            <a:pPr algn="l"/>
            <a:r>
              <a:rPr sz="2200" b="1">
                <a:solidFill>
                  <a:srgbClr val="21242A"/>
                </a:solidFill>
                <a:latin typeface="Microsoft YaHei"/>
              </a:rPr>
              <a:t>卫生经济/模型研究</a:t>
            </a:r>
          </a:p>
        </p:txBody>
      </p:sp>
      <p:sp>
        <p:nvSpPr>
          <p:cNvPr id="4" name="TextBox 3"/>
          <p:cNvSpPr txBox="1"/>
          <p:nvPr/>
        </p:nvSpPr>
        <p:spPr>
          <a:xfrm>
            <a:off x="1627632" y="859536"/>
            <a:ext cx="9144000" cy="228600"/>
          </a:xfrm>
          <a:prstGeom prst="rect">
            <a:avLst/>
          </a:prstGeom>
          <a:noFill/>
        </p:spPr>
        <p:txBody>
          <a:bodyPr wrap="square" lIns="73152" rIns="73152" tIns="36576" bIns="36576" anchor="t">
            <a:normAutofit/>
          </a:bodyPr>
          <a:lstStyle/>
          <a:p>
            <a:pPr algn="l"/>
            <a:r>
              <a:rPr sz="919" b="0">
                <a:solidFill>
                  <a:srgbClr val="5E6570"/>
                </a:solidFill>
                <a:latin typeface="Microsoft YaHei"/>
              </a:rPr>
              <a:t>1项研究；以下按疾病场景和药物/技术继续细分。</a:t>
            </a:r>
          </a:p>
        </p:txBody>
      </p:sp>
      <p:sp>
        <p:nvSpPr>
          <p:cNvPr id="5" name="TextBox 4"/>
          <p:cNvSpPr txBox="1"/>
          <p:nvPr/>
        </p:nvSpPr>
        <p:spPr>
          <a:xfrm>
            <a:off x="640080" y="148132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疾病场景</a:t>
            </a:r>
          </a:p>
        </p:txBody>
      </p:sp>
      <p:sp>
        <p:nvSpPr>
          <p:cNvPr id="6" name="TextBox 5"/>
          <p:cNvSpPr txBox="1"/>
          <p:nvPr/>
        </p:nvSpPr>
        <p:spPr>
          <a:xfrm>
            <a:off x="768096" y="1828800"/>
            <a:ext cx="338328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LBCL/HGBL：1项</a:t>
            </a:r>
          </a:p>
        </p:txBody>
      </p:sp>
      <p:sp>
        <p:nvSpPr>
          <p:cNvPr id="7" name="Rectangle 6"/>
          <p:cNvSpPr/>
          <p:nvPr/>
        </p:nvSpPr>
        <p:spPr>
          <a:xfrm>
            <a:off x="4297680" y="1874519"/>
            <a:ext cx="201168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297680" y="1874519"/>
            <a:ext cx="2011680" cy="91440"/>
          </a:xfrm>
          <a:prstGeom prst="rect">
            <a:avLst/>
          </a:prstGeom>
          <a:solidFill>
            <a:srgbClr val="265E8F"/>
          </a:solidFill>
          <a:ln w="8890">
            <a:solidFill>
              <a:srgbClr val="265E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481328"/>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药物/技术</a:t>
            </a:r>
          </a:p>
        </p:txBody>
      </p:sp>
      <p:sp>
        <p:nvSpPr>
          <p:cNvPr id="10" name="TextBox 9"/>
          <p:cNvSpPr txBox="1"/>
          <p:nvPr/>
        </p:nvSpPr>
        <p:spPr>
          <a:xfrm>
            <a:off x="6720840" y="1828800"/>
            <a:ext cx="3108960" cy="201168"/>
          </a:xfrm>
          <a:prstGeom prst="rect">
            <a:avLst/>
          </a:prstGeom>
          <a:noFill/>
        </p:spPr>
        <p:txBody>
          <a:bodyPr wrap="square" lIns="73152" rIns="73152" tIns="36576" bIns="36576" anchor="t">
            <a:normAutofit/>
          </a:bodyPr>
          <a:lstStyle/>
          <a:p>
            <a:pPr algn="l"/>
            <a:r>
              <a:rPr sz="880" b="1">
                <a:solidFill>
                  <a:srgbClr val="21242A"/>
                </a:solidFill>
                <a:latin typeface="Microsoft YaHei"/>
              </a:rPr>
              <a:t>CAR-T/细胞治疗：1项</a:t>
            </a:r>
          </a:p>
        </p:txBody>
      </p:sp>
      <p:sp>
        <p:nvSpPr>
          <p:cNvPr id="11" name="Rectangle 10"/>
          <p:cNvSpPr/>
          <p:nvPr/>
        </p:nvSpPr>
        <p:spPr>
          <a:xfrm>
            <a:off x="9893808" y="1874519"/>
            <a:ext cx="1508760" cy="91440"/>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893808" y="1874519"/>
            <a:ext cx="1508760" cy="91440"/>
          </a:xfrm>
          <a:prstGeom prst="rect">
            <a:avLst/>
          </a:prstGeom>
          <a:solidFill>
            <a:srgbClr val="2A795B"/>
          </a:solidFill>
          <a:ln w="8890">
            <a:solidFill>
              <a:srgbClr val="2A79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4919472"/>
            <a:ext cx="10744200" cy="74980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065776"/>
            <a:ext cx="10332720" cy="384048"/>
          </a:xfrm>
          <a:prstGeom prst="rect">
            <a:avLst/>
          </a:prstGeom>
          <a:noFill/>
        </p:spPr>
        <p:txBody>
          <a:bodyPr wrap="square" rIns="73152" bIns="36576">
            <a:normAutofit/>
          </a:bodyPr>
          <a:lstStyle/>
          <a:p>
            <a:pPr>
              <a:lnSpc>
                <a:spcPct val="103000"/>
              </a:lnSpc>
              <a:spcAft>
                <a:spcPts val="300"/>
              </a:spcAft>
              <a:defRPr sz="800">
                <a:solidFill>
                  <a:srgbClr val="5E6570"/>
                </a:solidFill>
                <a:latin typeface="Microsoft YaHei"/>
              </a:defRPr>
            </a:pPr>
            <a:r>
              <a:t>章节内每项研究保留两页：研究设计/PICO、中文结果/来源核对。</a:t>
            </a:r>
          </a:p>
          <a:p>
            <a:pPr>
              <a:lnSpc>
                <a:spcPct val="103000"/>
              </a:lnSpc>
              <a:spcAft>
                <a:spcPts val="300"/>
              </a:spcAft>
              <a:defRPr sz="800">
                <a:solidFill>
                  <a:srgbClr val="5E6570"/>
                </a:solidFill>
                <a:latin typeface="Microsoft YaHei"/>
              </a:defRPr>
            </a:pPr>
            <a:r>
              <a:t>中文结果来自原表字段；右下角可跳转 EHA 原文进一步复核。</a:t>
            </a:r>
          </a:p>
        </p:txBody>
      </p:sp>
      <p:sp>
        <p:nvSpPr>
          <p:cNvPr id="15" name="Rounded Rectangle 14">
            <a:hlinkClick action="ppaction://hlinksldjump" r:id="rId2"/>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研究设计</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axicabtagene ciloleucel治疗台湾复发/难治性弥漫性大b细胞淋巴瘤和一线治疗后高度b细胞淋巴瘤患者...</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cost-effectiveness of axicabtagene ciloleucel for treating taiwanese patients...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PS2514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卫生经济/模型研究</a:t>
            </a:r>
          </a:p>
        </p:txBody>
      </p:sp>
      <p:sp>
        <p:nvSpPr>
          <p:cNvPr id="9" name="TextBox 8"/>
          <p:cNvSpPr txBox="1"/>
          <p:nvPr/>
        </p:nvSpPr>
        <p:spPr>
          <a:xfrm>
            <a:off x="345186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6268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187/187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PICO框架</a:t>
            </a:r>
          </a:p>
        </p:txBody>
      </p:sp>
      <p:sp>
        <p:nvSpPr>
          <p:cNvPr id="14" name="Rectangle 13"/>
          <p:cNvSpPr/>
          <p:nvPr/>
        </p:nvSpPr>
        <p:spPr>
          <a:xfrm>
            <a:off x="411480"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143000"/>
            <a:ext cx="1078992" cy="201168"/>
          </a:xfrm>
          <a:prstGeom prst="rect">
            <a:avLst/>
          </a:prstGeom>
          <a:solidFill>
            <a:srgbClr val="C5362D"/>
          </a:solidFill>
          <a:ln>
            <a:solidFill>
              <a:srgbClr val="C5362D"/>
            </a:solidFill>
          </a:ln>
        </p:spPr>
        <p:txBody>
          <a:bodyPr wrap="square" lIns="73152" rIns="73152" tIns="36576" bIns="36576" anchor="ctr">
            <a:normAutofit/>
          </a:bodyPr>
          <a:lstStyle/>
          <a:p>
            <a:pPr algn="ctr"/>
            <a:r>
              <a:rPr sz="800" b="1">
                <a:solidFill>
                  <a:srgbClr val="FFFFFF"/>
                </a:solidFill>
                <a:latin typeface="Microsoft YaHei"/>
              </a:rPr>
              <a:t>P 人群</a:t>
            </a:r>
          </a:p>
        </p:txBody>
      </p:sp>
      <p:sp>
        <p:nvSpPr>
          <p:cNvPr id="16" name="TextBox 15"/>
          <p:cNvSpPr txBox="1"/>
          <p:nvPr/>
        </p:nvSpPr>
        <p:spPr>
          <a:xfrm>
            <a:off x="484632"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弥漫性大B细胞淋巴瘤</a:t>
            </a:r>
          </a:p>
          <a:p>
            <a:pPr>
              <a:lnSpc>
                <a:spcPct val="103000"/>
              </a:lnSpc>
              <a:spcAft>
                <a:spcPts val="300"/>
              </a:spcAft>
              <a:defRPr sz="800">
                <a:solidFill>
                  <a:srgbClr val="21242A"/>
                </a:solidFill>
                <a:latin typeface="Microsoft YaHei"/>
              </a:defRPr>
            </a:pPr>
            <a:r>
              <a:t>治疗线数/场景：二线</a:t>
            </a:r>
          </a:p>
        </p:txBody>
      </p:sp>
      <p:sp>
        <p:nvSpPr>
          <p:cNvPr id="17" name="Rectangle 16"/>
          <p:cNvSpPr/>
          <p:nvPr/>
        </p:nvSpPr>
        <p:spPr>
          <a:xfrm>
            <a:off x="6108192" y="109728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3912" y="1143000"/>
            <a:ext cx="1078992" cy="201168"/>
          </a:xfrm>
          <a:prstGeom prst="rect">
            <a:avLst/>
          </a:prstGeom>
          <a:solidFill>
            <a:srgbClr val="265E8F"/>
          </a:solidFill>
          <a:ln>
            <a:solidFill>
              <a:srgbClr val="265E8F"/>
            </a:solidFill>
          </a:ln>
        </p:spPr>
        <p:txBody>
          <a:bodyPr wrap="square" lIns="73152" rIns="73152" tIns="36576" bIns="36576" anchor="ctr">
            <a:normAutofit/>
          </a:bodyPr>
          <a:lstStyle/>
          <a:p>
            <a:pPr algn="ctr"/>
            <a:r>
              <a:rPr sz="800" b="1">
                <a:solidFill>
                  <a:srgbClr val="FFFFFF"/>
                </a:solidFill>
                <a:latin typeface="Microsoft YaHei"/>
              </a:rPr>
              <a:t>I 干预</a:t>
            </a:r>
          </a:p>
        </p:txBody>
      </p:sp>
      <p:sp>
        <p:nvSpPr>
          <p:cNvPr id="19" name="TextBox 18"/>
          <p:cNvSpPr txBox="1"/>
          <p:nvPr/>
        </p:nvSpPr>
        <p:spPr>
          <a:xfrm>
            <a:off x="6181344" y="1408176"/>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试验药/方案：阿基仑赛</a:t>
            </a:r>
          </a:p>
          <a:p>
            <a:pPr>
              <a:lnSpc>
                <a:spcPct val="103000"/>
              </a:lnSpc>
              <a:spcAft>
                <a:spcPts val="300"/>
              </a:spcAft>
              <a:defRPr sz="800">
                <a:solidFill>
                  <a:srgbClr val="21242A"/>
                </a:solidFill>
                <a:latin typeface="Microsoft YaHei"/>
              </a:defRPr>
            </a:pPr>
            <a:r>
              <a:t>靶点：CD19</a:t>
            </a:r>
          </a:p>
        </p:txBody>
      </p:sp>
      <p:sp>
        <p:nvSpPr>
          <p:cNvPr id="20" name="Rectangle 19"/>
          <p:cNvSpPr/>
          <p:nvPr/>
        </p:nvSpPr>
        <p:spPr>
          <a:xfrm>
            <a:off x="411480"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377439"/>
            <a:ext cx="1078992" cy="201168"/>
          </a:xfrm>
          <a:prstGeom prst="rect">
            <a:avLst/>
          </a:prstGeom>
          <a:solidFill>
            <a:srgbClr val="EC8832"/>
          </a:solidFill>
          <a:ln>
            <a:solidFill>
              <a:srgbClr val="EC8832"/>
            </a:solidFill>
          </a:ln>
        </p:spPr>
        <p:txBody>
          <a:bodyPr wrap="square" lIns="73152" rIns="73152" tIns="36576" bIns="36576" anchor="ctr">
            <a:normAutofit/>
          </a:bodyPr>
          <a:lstStyle/>
          <a:p>
            <a:pPr algn="ctr"/>
            <a:r>
              <a:rPr sz="800" b="1">
                <a:solidFill>
                  <a:srgbClr val="FFFFFF"/>
                </a:solidFill>
                <a:latin typeface="Microsoft YaHei"/>
              </a:rPr>
              <a:t>C 对照</a:t>
            </a:r>
          </a:p>
        </p:txBody>
      </p:sp>
      <p:sp>
        <p:nvSpPr>
          <p:cNvPr id="22" name="TextBox 21"/>
          <p:cNvSpPr txBox="1"/>
          <p:nvPr/>
        </p:nvSpPr>
        <p:spPr>
          <a:xfrm>
            <a:off x="484632"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对照/比较：试验组1：axicabtagene ciloleucel</a:t>
            </a:r>
          </a:p>
          <a:p>
            <a:pPr>
              <a:lnSpc>
                <a:spcPct val="103000"/>
              </a:lnSpc>
              <a:spcAft>
                <a:spcPts val="300"/>
              </a:spcAft>
              <a:defRPr sz="800">
                <a:solidFill>
                  <a:srgbClr val="21242A"/>
                </a:solidFill>
                <a:latin typeface="Microsoft YaHei"/>
              </a:defRPr>
            </a:pPr>
            <a:r>
              <a:t>对照组：标准治疗（化疗免疫治疗±高剂量治疗和自体干细胞移植）</a:t>
            </a:r>
          </a:p>
        </p:txBody>
      </p:sp>
      <p:sp>
        <p:nvSpPr>
          <p:cNvPr id="23" name="Rectangle 22"/>
          <p:cNvSpPr/>
          <p:nvPr/>
        </p:nvSpPr>
        <p:spPr>
          <a:xfrm>
            <a:off x="6108192" y="2331720"/>
            <a:ext cx="5440680" cy="1078992"/>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377439"/>
            <a:ext cx="1078992" cy="201168"/>
          </a:xfrm>
          <a:prstGeom prst="rect">
            <a:avLst/>
          </a:prstGeom>
          <a:solidFill>
            <a:srgbClr val="2A795B"/>
          </a:solidFill>
          <a:ln>
            <a:solidFill>
              <a:srgbClr val="2A795B"/>
            </a:solidFill>
          </a:ln>
        </p:spPr>
        <p:txBody>
          <a:bodyPr wrap="square" lIns="73152" rIns="73152" tIns="36576" bIns="36576" anchor="ctr">
            <a:normAutofit/>
          </a:bodyPr>
          <a:lstStyle/>
          <a:p>
            <a:pPr algn="ctr"/>
            <a:r>
              <a:rPr sz="800" b="1">
                <a:solidFill>
                  <a:srgbClr val="FFFFFF"/>
                </a:solidFill>
                <a:latin typeface="Microsoft YaHei"/>
              </a:rPr>
              <a:t>O 结局</a:t>
            </a:r>
          </a:p>
        </p:txBody>
      </p:sp>
      <p:sp>
        <p:nvSpPr>
          <p:cNvPr id="25" name="TextBox 24"/>
          <p:cNvSpPr txBox="1"/>
          <p:nvPr/>
        </p:nvSpPr>
        <p:spPr>
          <a:xfrm>
            <a:off x="6181344" y="2642615"/>
            <a:ext cx="5294376" cy="694944"/>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中位无事件生存期：axi-cel组10个月 vs SoC组3个月</a:t>
            </a:r>
          </a:p>
          <a:p>
            <a:pPr>
              <a:lnSpc>
                <a:spcPct val="103000"/>
              </a:lnSpc>
              <a:spcAft>
                <a:spcPts val="300"/>
              </a:spcAft>
              <a:defRPr sz="800">
                <a:solidFill>
                  <a:srgbClr val="21242A"/>
                </a:solidFill>
                <a:latin typeface="Microsoft YaHei"/>
              </a:defRPr>
            </a:pPr>
            <a:r>
              <a:t>中位总生存期：axi-cel组77个月 vs SoC组15个月</a:t>
            </a:r>
          </a:p>
        </p:txBody>
      </p:sp>
      <p:sp>
        <p:nvSpPr>
          <p:cNvPr id="26" name="TextBox 25"/>
          <p:cNvSpPr txBox="1"/>
          <p:nvPr/>
        </p:nvSpPr>
        <p:spPr>
          <a:xfrm>
            <a:off x="411480" y="3685032"/>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研究信息</a:t>
            </a:r>
          </a:p>
        </p:txBody>
      </p:sp>
      <p:sp>
        <p:nvSpPr>
          <p:cNvPr id="27" name="Rectangle 26"/>
          <p:cNvSpPr/>
          <p:nvPr/>
        </p:nvSpPr>
        <p:spPr>
          <a:xfrm>
            <a:off x="411480" y="3886200"/>
            <a:ext cx="3703320" cy="1847088"/>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041648"/>
            <a:ext cx="3401568"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研究类型：卫生经济学研究</a:t>
            </a:r>
          </a:p>
          <a:p>
            <a:pPr>
              <a:lnSpc>
                <a:spcPct val="103000"/>
              </a:lnSpc>
              <a:spcAft>
                <a:spcPts val="300"/>
              </a:spcAft>
              <a:defRPr sz="810">
                <a:solidFill>
                  <a:srgbClr val="21242A"/>
                </a:solidFill>
                <a:latin typeface="Microsoft YaHei"/>
              </a:defRPr>
            </a:pPr>
            <a:r>
              <a:t>人数：未提取</a:t>
            </a:r>
          </a:p>
          <a:p>
            <a:pPr>
              <a:lnSpc>
                <a:spcPct val="103000"/>
              </a:lnSpc>
              <a:spcAft>
                <a:spcPts val="300"/>
              </a:spcAft>
              <a:defRPr sz="810">
                <a:solidFill>
                  <a:srgbClr val="21242A"/>
                </a:solidFill>
                <a:latin typeface="Microsoft YaHei"/>
              </a:defRPr>
            </a:pPr>
            <a:r>
              <a:t>适应症：弥漫性大B细胞淋巴瘤</a:t>
            </a:r>
          </a:p>
          <a:p>
            <a:pPr>
              <a:lnSpc>
                <a:spcPct val="103000"/>
              </a:lnSpc>
              <a:spcAft>
                <a:spcPts val="300"/>
              </a:spcAft>
              <a:defRPr sz="810">
                <a:solidFill>
                  <a:srgbClr val="21242A"/>
                </a:solidFill>
                <a:latin typeface="Microsoft YaHei"/>
              </a:defRPr>
            </a:pPr>
            <a:r>
              <a:t>治疗线数：二线</a:t>
            </a:r>
          </a:p>
          <a:p>
            <a:pPr>
              <a:lnSpc>
                <a:spcPct val="103000"/>
              </a:lnSpc>
              <a:spcAft>
                <a:spcPts val="300"/>
              </a:spcAft>
              <a:defRPr sz="810">
                <a:solidFill>
                  <a:srgbClr val="21242A"/>
                </a:solidFill>
                <a:latin typeface="Microsoft YaHei"/>
              </a:defRPr>
            </a:pPr>
            <a:r>
              <a:t>登记号：NCT03391466</a:t>
            </a:r>
          </a:p>
        </p:txBody>
      </p:sp>
      <p:sp>
        <p:nvSpPr>
          <p:cNvPr id="29" name="TextBox 28"/>
          <p:cNvSpPr txBox="1"/>
          <p:nvPr/>
        </p:nvSpPr>
        <p:spPr>
          <a:xfrm>
            <a:off x="4434840" y="3685032"/>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方案/流程</a:t>
            </a:r>
          </a:p>
        </p:txBody>
      </p:sp>
      <p:sp>
        <p:nvSpPr>
          <p:cNvPr id="30" name="Rectangle 29"/>
          <p:cNvSpPr/>
          <p:nvPr/>
        </p:nvSpPr>
        <p:spPr>
          <a:xfrm>
            <a:off x="4434840" y="3886200"/>
            <a:ext cx="7114032" cy="184708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4041648"/>
            <a:ext cx="6656832" cy="1426464"/>
          </a:xfrm>
          <a:prstGeom prst="rect">
            <a:avLst/>
          </a:prstGeom>
          <a:noFill/>
        </p:spPr>
        <p:txBody>
          <a:bodyPr wrap="square" rIns="73152" bIns="36576">
            <a:normAutofit/>
          </a:bodyPr>
          <a:lstStyle/>
          <a:p>
            <a:pPr>
              <a:lnSpc>
                <a:spcPct val="103000"/>
              </a:lnSpc>
              <a:spcAft>
                <a:spcPts val="300"/>
              </a:spcAft>
              <a:defRPr sz="810">
                <a:solidFill>
                  <a:srgbClr val="21242A"/>
                </a:solidFill>
                <a:latin typeface="Microsoft YaHei"/>
              </a:defRPr>
            </a:pPr>
            <a:r>
              <a:t>试验药/方案：阿基仑赛</a:t>
            </a:r>
          </a:p>
          <a:p>
            <a:pPr>
              <a:lnSpc>
                <a:spcPct val="103000"/>
              </a:lnSpc>
              <a:spcAft>
                <a:spcPts val="300"/>
              </a:spcAft>
              <a:defRPr sz="810">
                <a:solidFill>
                  <a:srgbClr val="21242A"/>
                </a:solidFill>
                <a:latin typeface="Microsoft YaHei"/>
              </a:defRPr>
            </a:pPr>
            <a:r>
              <a:t>靶点：CD19</a:t>
            </a:r>
          </a:p>
          <a:p>
            <a:pPr>
              <a:lnSpc>
                <a:spcPct val="103000"/>
              </a:lnSpc>
              <a:spcAft>
                <a:spcPts val="300"/>
              </a:spcAft>
              <a:defRPr sz="810">
                <a:solidFill>
                  <a:srgbClr val="21242A"/>
                </a:solidFill>
                <a:latin typeface="Microsoft YaHei"/>
              </a:defRPr>
            </a:pPr>
            <a:r>
              <a:t>药物/技术类别：CAR-T、外周血、自体细胞</a:t>
            </a:r>
          </a:p>
        </p:txBody>
      </p:sp>
      <p:sp>
        <p:nvSpPr>
          <p:cNvPr id="32" name="Rounded Rectangle 31">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310896" y="164592"/>
            <a:ext cx="914400" cy="256032"/>
          </a:xfrm>
          <a:prstGeom prst="rect">
            <a:avLst/>
          </a:prstGeom>
          <a:solidFill>
            <a:srgbClr val="C5362D"/>
          </a:solidFill>
          <a:ln>
            <a:solidFill>
              <a:srgbClr val="C5362D"/>
            </a:solidFill>
          </a:ln>
        </p:spPr>
        <p:txBody>
          <a:bodyPr wrap="square" lIns="73152" rIns="73152" tIns="36576" bIns="36576" anchor="ctr">
            <a:normAutofit/>
          </a:bodyPr>
          <a:lstStyle/>
          <a:p>
            <a:pPr algn="ctr"/>
            <a:r>
              <a:rPr sz="900" b="1">
                <a:solidFill>
                  <a:srgbClr val="FFFFFF"/>
                </a:solidFill>
                <a:latin typeface="Microsoft YaHei"/>
              </a:rPr>
              <a:t>中文结果</a:t>
            </a:r>
          </a:p>
        </p:txBody>
      </p:sp>
      <p:sp>
        <p:nvSpPr>
          <p:cNvPr id="3" name="TextBox 2"/>
          <p:cNvSpPr txBox="1"/>
          <p:nvPr/>
        </p:nvSpPr>
        <p:spPr>
          <a:xfrm>
            <a:off x="1078992" y="73152"/>
            <a:ext cx="9235440" cy="475488"/>
          </a:xfrm>
          <a:prstGeom prst="rect">
            <a:avLst/>
          </a:prstGeom>
          <a:noFill/>
        </p:spPr>
        <p:txBody>
          <a:bodyPr wrap="square" lIns="73152" rIns="73152" tIns="36576" bIns="36576" anchor="t">
            <a:normAutofit/>
          </a:bodyPr>
          <a:lstStyle/>
          <a:p>
            <a:pPr algn="l"/>
            <a:r>
              <a:rPr sz="1260" b="1">
                <a:solidFill>
                  <a:srgbClr val="21242A"/>
                </a:solidFill>
                <a:latin typeface="Microsoft YaHei"/>
              </a:rPr>
              <a:t>axicabtagene ciloleucel治疗台湾复发/难治性弥漫性大b细胞淋巴瘤和一线治疗后高度b细胞淋巴瘤患者...</a:t>
            </a:r>
          </a:p>
        </p:txBody>
      </p:sp>
      <p:sp>
        <p:nvSpPr>
          <p:cNvPr id="4" name="TextBox 3"/>
          <p:cNvSpPr txBox="1"/>
          <p:nvPr/>
        </p:nvSpPr>
        <p:spPr>
          <a:xfrm>
            <a:off x="1078992" y="530352"/>
            <a:ext cx="9235440" cy="164592"/>
          </a:xfrm>
          <a:prstGeom prst="rect">
            <a:avLst/>
          </a:prstGeom>
          <a:noFill/>
        </p:spPr>
        <p:txBody>
          <a:bodyPr wrap="square" lIns="73152" rIns="73152" tIns="36576" bIns="36576" anchor="t">
            <a:normAutofit/>
          </a:bodyPr>
          <a:lstStyle/>
          <a:p>
            <a:pPr algn="l"/>
            <a:r>
              <a:rPr sz="660" b="0">
                <a:solidFill>
                  <a:srgbClr val="5E6570"/>
                </a:solidFill>
                <a:latin typeface="Microsoft YaHei"/>
              </a:rPr>
              <a:t>cost-effectiveness of axicabtagene ciloleucel for treating taiwanese patients...</a:t>
            </a:r>
          </a:p>
        </p:txBody>
      </p:sp>
      <p:sp>
        <p:nvSpPr>
          <p:cNvPr id="5" name="TextBox 4"/>
          <p:cNvSpPr txBox="1"/>
          <p:nvPr/>
        </p:nvSpPr>
        <p:spPr>
          <a:xfrm>
            <a:off x="10469880" y="118872"/>
            <a:ext cx="1261872" cy="228600"/>
          </a:xfrm>
          <a:prstGeom prst="rect">
            <a:avLst/>
          </a:prstGeom>
          <a:noFill/>
        </p:spPr>
        <p:txBody>
          <a:bodyPr wrap="square" lIns="73152" rIns="73152" tIns="36576" bIns="36576" anchor="t">
            <a:normAutofit/>
          </a:bodyPr>
          <a:lstStyle/>
          <a:p>
            <a:pPr algn="r"/>
            <a:r>
              <a:rPr sz="1000" b="1">
                <a:solidFill>
                  <a:srgbClr val="8B1F1F"/>
                </a:solidFill>
                <a:latin typeface="Microsoft YaHei"/>
              </a:rPr>
              <a:t>PS2514</a:t>
            </a:r>
          </a:p>
        </p:txBody>
      </p:sp>
      <p:sp>
        <p:nvSpPr>
          <p:cNvPr id="6" name="TextBox 5"/>
          <p:cNvSpPr txBox="1"/>
          <p:nvPr/>
        </p:nvSpPr>
        <p:spPr>
          <a:xfrm>
            <a:off x="310896"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DLBCL/LBCL</a:t>
            </a:r>
          </a:p>
        </p:txBody>
      </p:sp>
      <p:sp>
        <p:nvSpPr>
          <p:cNvPr id="7" name="TextBox 6"/>
          <p:cNvSpPr txBox="1"/>
          <p:nvPr/>
        </p:nvSpPr>
        <p:spPr>
          <a:xfrm>
            <a:off x="1563624" y="6327648"/>
            <a:ext cx="621792"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一线</a:t>
            </a:r>
          </a:p>
        </p:txBody>
      </p:sp>
      <p:sp>
        <p:nvSpPr>
          <p:cNvPr id="8" name="TextBox 7"/>
          <p:cNvSpPr txBox="1"/>
          <p:nvPr/>
        </p:nvSpPr>
        <p:spPr>
          <a:xfrm>
            <a:off x="2276856"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卫生经济/模型研究</a:t>
            </a:r>
          </a:p>
        </p:txBody>
      </p:sp>
      <p:sp>
        <p:nvSpPr>
          <p:cNvPr id="9" name="TextBox 8"/>
          <p:cNvSpPr txBox="1"/>
          <p:nvPr/>
        </p:nvSpPr>
        <p:spPr>
          <a:xfrm>
            <a:off x="3451860" y="6327648"/>
            <a:ext cx="1083564"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LBCL/HGBL</a:t>
            </a:r>
          </a:p>
        </p:txBody>
      </p:sp>
      <p:sp>
        <p:nvSpPr>
          <p:cNvPr id="10" name="TextBox 9"/>
          <p:cNvSpPr txBox="1"/>
          <p:nvPr/>
        </p:nvSpPr>
        <p:spPr>
          <a:xfrm>
            <a:off x="4626864" y="6327648"/>
            <a:ext cx="1161288" cy="201168"/>
          </a:xfrm>
          <a:prstGeom prst="rect">
            <a:avLst/>
          </a:prstGeom>
          <a:solidFill>
            <a:srgbClr val="F6F8FB"/>
          </a:solidFill>
          <a:ln>
            <a:solidFill>
              <a:srgbClr val="DADFE7"/>
            </a:solidFill>
          </a:ln>
        </p:spPr>
        <p:txBody>
          <a:bodyPr wrap="square" lIns="73152" rIns="73152" tIns="36576" bIns="36576" anchor="ctr">
            <a:normAutofit/>
          </a:bodyPr>
          <a:lstStyle/>
          <a:p>
            <a:pPr algn="ctr"/>
            <a:r>
              <a:rPr sz="750" b="1">
                <a:solidFill>
                  <a:srgbClr val="5E6570"/>
                </a:solidFill>
                <a:latin typeface="Microsoft YaHei"/>
              </a:rPr>
              <a:t>CAR-T/细胞治疗</a:t>
            </a:r>
          </a:p>
        </p:txBody>
      </p:sp>
      <p:sp>
        <p:nvSpPr>
          <p:cNvPr id="11" name="TextBox 10"/>
          <p:cNvSpPr txBox="1"/>
          <p:nvPr/>
        </p:nvSpPr>
        <p:spPr>
          <a:xfrm>
            <a:off x="7178040" y="6336792"/>
            <a:ext cx="4251960" cy="201168"/>
          </a:xfrm>
          <a:prstGeom prst="rect">
            <a:avLst/>
          </a:prstGeom>
          <a:noFill/>
        </p:spPr>
        <p:txBody>
          <a:bodyPr wrap="square" lIns="73152" rIns="73152" tIns="36576" bIns="36576" anchor="t">
            <a:normAutofit/>
          </a:bodyPr>
          <a:lstStyle/>
          <a:p>
            <a:pPr algn="r"/>
            <a:r>
              <a:rPr sz="700" b="0">
                <a:solidFill>
                  <a:srgbClr val="5E6570"/>
                </a:solidFill>
                <a:latin typeface="Microsoft YaHei"/>
              </a:rPr>
              <a:t>EHA 2026 摘要数据 | DLBCL/LBCL | 187/187</a:t>
            </a:r>
          </a:p>
        </p:txBody>
      </p:sp>
      <p:sp>
        <p:nvSpPr>
          <p:cNvPr id="12" name="Rounded Rectangle 11">
            <a:hlinkClick r:id="rId2"/>
          </p:cNvPr>
          <p:cNvSpPr/>
          <p:nvPr/>
        </p:nvSpPr>
        <p:spPr>
          <a:xfrm>
            <a:off x="9985248" y="6053328"/>
            <a:ext cx="1444752" cy="274320"/>
          </a:xfrm>
          <a:prstGeom prst="roundRect">
            <a:avLst/>
          </a:prstGeom>
          <a:solidFill>
            <a:srgbClr val="C5362D"/>
          </a:solidFill>
          <a:ln>
            <a:solidFill>
              <a:srgbClr val="C5362D"/>
            </a:solidFill>
          </a:ln>
        </p:spPr>
        <p:style>
          <a:lnRef idx="1">
            <a:schemeClr val="accent1"/>
          </a:lnRef>
          <a:fillRef idx="3">
            <a:schemeClr val="accent1"/>
          </a:fillRef>
          <a:effectRef idx="2">
            <a:schemeClr val="accent1"/>
          </a:effectRef>
          <a:fontRef idx="minor">
            <a:schemeClr val="lt1"/>
          </a:fontRef>
        </p:style>
        <p:txBody>
          <a:bodyPr rtlCol="0" anchor="ctr" lIns="36576" rIns="36576" tIns="18288" bIns="18288"/>
          <a:lstStyle/>
          <a:p>
            <a:pPr algn="ctr"/>
            <a:r>
              <a:rPr sz="760" b="1">
                <a:solidFill>
                  <a:srgbClr val="FFFFFF"/>
                </a:solidFill>
                <a:latin typeface="Microsoft YaHei"/>
                <a:hlinkClick r:id="rId2"/>
              </a:rPr>
              <a:t>查看EHA原文</a:t>
            </a:r>
          </a:p>
        </p:txBody>
      </p:sp>
      <p:sp>
        <p:nvSpPr>
          <p:cNvPr id="13" name="TextBox 12"/>
          <p:cNvSpPr txBox="1"/>
          <p:nvPr/>
        </p:nvSpPr>
        <p:spPr>
          <a:xfrm>
            <a:off x="411480" y="841248"/>
            <a:ext cx="1417320" cy="219456"/>
          </a:xfrm>
          <a:prstGeom prst="rect">
            <a:avLst/>
          </a:prstGeom>
          <a:solidFill>
            <a:srgbClr val="C5362D"/>
          </a:solidFill>
          <a:ln>
            <a:solidFill>
              <a:srgbClr val="C5362D"/>
            </a:solidFill>
          </a:ln>
        </p:spPr>
        <p:txBody>
          <a:bodyPr wrap="square" lIns="73152" rIns="73152" tIns="36576" bIns="36576" anchor="ctr">
            <a:normAutofit/>
          </a:bodyPr>
          <a:lstStyle/>
          <a:p>
            <a:pPr algn="ctr"/>
            <a:r>
              <a:rPr sz="819" b="1">
                <a:solidFill>
                  <a:srgbClr val="FFFFFF"/>
                </a:solidFill>
                <a:latin typeface="Microsoft YaHei"/>
              </a:rPr>
              <a:t>结果</a:t>
            </a:r>
          </a:p>
        </p:txBody>
      </p:sp>
      <p:sp>
        <p:nvSpPr>
          <p:cNvPr id="14" name="Rectangle 13"/>
          <p:cNvSpPr/>
          <p:nvPr/>
        </p:nvSpPr>
        <p:spPr>
          <a:xfrm>
            <a:off x="411480" y="1115568"/>
            <a:ext cx="6675120" cy="3063240"/>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 y="1243584"/>
            <a:ext cx="6345936" cy="219456"/>
          </a:xfrm>
          <a:prstGeom prst="rect">
            <a:avLst/>
          </a:prstGeom>
          <a:noFill/>
        </p:spPr>
        <p:txBody>
          <a:bodyPr wrap="square" lIns="73152" rIns="73152" tIns="36576" bIns="36576" anchor="t">
            <a:normAutofit/>
          </a:bodyPr>
          <a:lstStyle/>
          <a:p>
            <a:pPr algn="l"/>
            <a:r>
              <a:rPr sz="900" b="1">
                <a:solidFill>
                  <a:srgbClr val="8B1F1F"/>
                </a:solidFill>
                <a:latin typeface="Microsoft YaHei"/>
              </a:rPr>
              <a:t>中文结果数据表（原表）</a:t>
            </a:r>
          </a:p>
        </p:txBody>
      </p:sp>
      <p:graphicFrame>
        <p:nvGraphicFramePr>
          <p:cNvPr id="16" name="Table 15"/>
          <p:cNvGraphicFramePr>
            <a:graphicFrameLocks noGrp="1"/>
          </p:cNvGraphicFramePr>
          <p:nvPr/>
        </p:nvGraphicFramePr>
        <p:xfrm>
          <a:off x="576072" y="1572768"/>
          <a:ext cx="6345935" cy="2258568"/>
        </p:xfrm>
        <a:graphic>
          <a:graphicData uri="http://schemas.openxmlformats.org/drawingml/2006/table">
            <a:tbl>
              <a:tblPr firstRow="1" bandRow="1">
                <a:tableStyleId>{5C22544A-7EE6-4342-B048-85BDC9FD1C3A}</a:tableStyleId>
              </a:tblPr>
              <a:tblGrid>
                <a:gridCol w="1713402"/>
                <a:gridCol w="4632533"/>
              </a:tblGrid>
              <a:tr h="376428">
                <a:tc>
                  <a:txBody>
                    <a:bodyPr wrap="square" lIns="36576" rIns="36576" tIns="18288" bIns="18288"/>
                    <a:lstStyle/>
                    <a:p>
                      <a:r>
                        <a:rPr sz="750" b="1">
                          <a:solidFill>
                            <a:srgbClr val="FFFFFF"/>
                          </a:solidFill>
                          <a:latin typeface="Microsoft YaHei"/>
                        </a:rPr>
                        <a:t>指标/条目</a:t>
                      </a:r>
                    </a:p>
                  </a:txBody>
                  <a:tcPr>
                    <a:solidFill>
                      <a:srgbClr val="C5362D"/>
                    </a:solidFill>
                  </a:tcPr>
                </a:tc>
                <a:tc>
                  <a:txBody>
                    <a:bodyPr wrap="square" lIns="36576" rIns="36576" tIns="18288" bIns="18288"/>
                    <a:lstStyle/>
                    <a:p>
                      <a:r>
                        <a:rPr sz="750" b="1">
                          <a:solidFill>
                            <a:srgbClr val="FFFFFF"/>
                          </a:solidFill>
                          <a:latin typeface="Microsoft YaHei"/>
                        </a:rPr>
                        <a:t>原表中文结果</a:t>
                      </a:r>
                    </a:p>
                  </a:txBody>
                  <a:tcPr>
                    <a:solidFill>
                      <a:srgbClr val="C5362D"/>
                    </a:solidFill>
                  </a:tcPr>
                </a:tc>
              </a:tr>
              <a:tr h="376428">
                <a:tc>
                  <a:txBody>
                    <a:bodyPr wrap="square" lIns="36576" rIns="36576" tIns="18288" bIns="18288"/>
                    <a:lstStyle/>
                    <a:p>
                      <a:r>
                        <a:rPr sz="720" b="1">
                          <a:solidFill>
                            <a:srgbClr val="21242A"/>
                          </a:solidFill>
                          <a:latin typeface="Microsoft YaHei"/>
                        </a:rPr>
                        <a:t>中位无事件生存期</a:t>
                      </a:r>
                    </a:p>
                  </a:txBody>
                  <a:tcPr>
                    <a:solidFill>
                      <a:srgbClr val="F6F8FB"/>
                    </a:solidFill>
                  </a:tcPr>
                </a:tc>
                <a:tc>
                  <a:txBody>
                    <a:bodyPr wrap="square" lIns="36576" rIns="36576" tIns="18288" bIns="18288"/>
                    <a:lstStyle/>
                    <a:p>
                      <a:r>
                        <a:rPr sz="720" b="0">
                          <a:solidFill>
                            <a:srgbClr val="21242A"/>
                          </a:solidFill>
                          <a:latin typeface="Microsoft YaHei"/>
                        </a:rPr>
                        <a:t>axi-cel组10个月 vs SoC组3个月</a:t>
                      </a:r>
                    </a:p>
                  </a:txBody>
                  <a:tcPr>
                    <a:solidFill>
                      <a:srgbClr val="F6F8FB"/>
                    </a:solidFill>
                  </a:tcPr>
                </a:tc>
              </a:tr>
              <a:tr h="376428">
                <a:tc>
                  <a:txBody>
                    <a:bodyPr wrap="square" lIns="36576" rIns="36576" tIns="18288" bIns="18288"/>
                    <a:lstStyle/>
                    <a:p>
                      <a:r>
                        <a:rPr sz="720" b="1">
                          <a:solidFill>
                            <a:srgbClr val="21242A"/>
                          </a:solidFill>
                          <a:latin typeface="Microsoft YaHei"/>
                        </a:rPr>
                        <a:t>中位总生存期</a:t>
                      </a:r>
                    </a:p>
                  </a:txBody>
                  <a:tcPr>
                    <a:solidFill>
                      <a:srgbClr val="FFFFFF"/>
                    </a:solidFill>
                  </a:tcPr>
                </a:tc>
                <a:tc>
                  <a:txBody>
                    <a:bodyPr wrap="square" lIns="36576" rIns="36576" tIns="18288" bIns="18288"/>
                    <a:lstStyle/>
                    <a:p>
                      <a:r>
                        <a:rPr sz="720" b="0">
                          <a:solidFill>
                            <a:srgbClr val="21242A"/>
                          </a:solidFill>
                          <a:latin typeface="Microsoft YaHei"/>
                        </a:rPr>
                        <a:t>axi-cel组77个月 vs SoC组15个月</a:t>
                      </a:r>
                    </a:p>
                  </a:txBody>
                  <a:tcPr>
                    <a:solidFill>
                      <a:srgbClr val="FFFFFF"/>
                    </a:solidFill>
                  </a:tcPr>
                </a:tc>
              </a:tr>
              <a:tr h="376428">
                <a:tc>
                  <a:txBody>
                    <a:bodyPr wrap="square" lIns="36576" rIns="36576" tIns="18288" bIns="18288"/>
                    <a:lstStyle/>
                    <a:p>
                      <a:r>
                        <a:rPr sz="720" b="1">
                          <a:solidFill>
                            <a:srgbClr val="21242A"/>
                          </a:solidFill>
                          <a:latin typeface="Microsoft YaHei"/>
                        </a:rPr>
                        <a:t>平均生命年增量</a:t>
                      </a:r>
                    </a:p>
                  </a:txBody>
                  <a:tcPr>
                    <a:solidFill>
                      <a:srgbClr val="F6F8FB"/>
                    </a:solidFill>
                  </a:tcPr>
                </a:tc>
                <a:tc>
                  <a:txBody>
                    <a:bodyPr wrap="square" lIns="36576" rIns="36576" tIns="18288" bIns="18288"/>
                    <a:lstStyle/>
                    <a:p>
                      <a:r>
                        <a:rPr sz="720" b="0">
                          <a:solidFill>
                            <a:srgbClr val="21242A"/>
                          </a:solidFill>
                          <a:latin typeface="Microsoft YaHei"/>
                        </a:rPr>
                        <a:t>7.30年（13.37 vs 6.07）</a:t>
                      </a:r>
                    </a:p>
                  </a:txBody>
                  <a:tcPr>
                    <a:solidFill>
                      <a:srgbClr val="F6F8FB"/>
                    </a:solidFill>
                  </a:tcPr>
                </a:tc>
              </a:tr>
              <a:tr h="376428">
                <a:tc>
                  <a:txBody>
                    <a:bodyPr wrap="square" lIns="36576" rIns="36576" tIns="18288" bIns="18288"/>
                    <a:lstStyle/>
                    <a:p>
                      <a:r>
                        <a:rPr sz="720" b="1">
                          <a:solidFill>
                            <a:srgbClr val="21242A"/>
                          </a:solidFill>
                          <a:latin typeface="Microsoft YaHei"/>
                        </a:rPr>
                        <a:t>平均质量调整生命年增量</a:t>
                      </a:r>
                    </a:p>
                  </a:txBody>
                  <a:tcPr>
                    <a:solidFill>
                      <a:srgbClr val="FFFFFF"/>
                    </a:solidFill>
                  </a:tcPr>
                </a:tc>
                <a:tc>
                  <a:txBody>
                    <a:bodyPr wrap="square" lIns="36576" rIns="36576" tIns="18288" bIns="18288"/>
                    <a:lstStyle/>
                    <a:p>
                      <a:r>
                        <a:rPr sz="720" b="0">
                          <a:solidFill>
                            <a:srgbClr val="21242A"/>
                          </a:solidFill>
                          <a:latin typeface="Microsoft YaHei"/>
                        </a:rPr>
                        <a:t>5.32 QALYs（9.83 vs 4.51）</a:t>
                      </a:r>
                    </a:p>
                  </a:txBody>
                  <a:tcPr>
                    <a:solidFill>
                      <a:srgbClr val="FFFFFF"/>
                    </a:solidFill>
                  </a:tcPr>
                </a:tc>
              </a:tr>
              <a:tr h="376428">
                <a:tc>
                  <a:txBody>
                    <a:bodyPr wrap="square" lIns="36576" rIns="36576" tIns="18288" bIns="18288"/>
                    <a:lstStyle/>
                    <a:p>
                      <a:r>
                        <a:rPr sz="720" b="1">
                          <a:solidFill>
                            <a:srgbClr val="21242A"/>
                          </a:solidFill>
                          <a:latin typeface="Microsoft YaHei"/>
                        </a:rPr>
                        <a:t>增量成本效果比</a:t>
                      </a:r>
                    </a:p>
                  </a:txBody>
                  <a:tcPr>
                    <a:solidFill>
                      <a:srgbClr val="F6F8FB"/>
                    </a:solidFill>
                  </a:tcPr>
                </a:tc>
                <a:tc>
                  <a:txBody>
                    <a:bodyPr wrap="square" lIns="36576" rIns="36576" tIns="18288" bIns="18288"/>
                    <a:lstStyle/>
                    <a:p>
                      <a:r>
                        <a:rPr sz="720" b="0">
                          <a:solidFill>
                            <a:srgbClr val="21242A"/>
                          </a:solidFill>
                          <a:latin typeface="Microsoft YaHei"/>
                        </a:rPr>
                        <a:t>NTD 1.56M（USD 52,125）每QALY</a:t>
                      </a:r>
                    </a:p>
                  </a:txBody>
                  <a:tcPr>
                    <a:solidFill>
                      <a:srgbClr val="F6F8FB"/>
                    </a:solidFill>
                  </a:tcPr>
                </a:tc>
              </a:tr>
            </a:tbl>
          </a:graphicData>
        </a:graphic>
      </p:graphicFrame>
      <p:sp>
        <p:nvSpPr>
          <p:cNvPr id="17" name="TextBox 16"/>
          <p:cNvSpPr txBox="1"/>
          <p:nvPr/>
        </p:nvSpPr>
        <p:spPr>
          <a:xfrm>
            <a:off x="576072" y="3922776"/>
            <a:ext cx="6345936" cy="146304"/>
          </a:xfrm>
          <a:prstGeom prst="rect">
            <a:avLst/>
          </a:prstGeom>
          <a:noFill/>
        </p:spPr>
        <p:txBody>
          <a:bodyPr wrap="square" lIns="73152" rIns="73152" tIns="36576" bIns="36576" anchor="t">
            <a:normAutofit/>
          </a:bodyPr>
          <a:lstStyle/>
          <a:p>
            <a:pPr algn="l"/>
            <a:r>
              <a:rPr sz="630" b="0">
                <a:solidFill>
                  <a:srgbClr val="5E6570"/>
                </a:solidFill>
                <a:latin typeface="Microsoft YaHei"/>
              </a:rPr>
              <a:t>注：表格直接来自原表中文结果字段，仅整理排版，不自动补充含义。</a:t>
            </a:r>
          </a:p>
        </p:txBody>
      </p:sp>
      <p:sp>
        <p:nvSpPr>
          <p:cNvPr id="18" name="TextBox 17"/>
          <p:cNvSpPr txBox="1"/>
          <p:nvPr/>
        </p:nvSpPr>
        <p:spPr>
          <a:xfrm>
            <a:off x="7360920" y="841248"/>
            <a:ext cx="1417320" cy="219456"/>
          </a:xfrm>
          <a:prstGeom prst="rect">
            <a:avLst/>
          </a:prstGeom>
          <a:solidFill>
            <a:srgbClr val="265E8F"/>
          </a:solidFill>
          <a:ln>
            <a:solidFill>
              <a:srgbClr val="265E8F"/>
            </a:solidFill>
          </a:ln>
        </p:spPr>
        <p:txBody>
          <a:bodyPr wrap="square" lIns="73152" rIns="73152" tIns="36576" bIns="36576" anchor="ctr">
            <a:normAutofit/>
          </a:bodyPr>
          <a:lstStyle/>
          <a:p>
            <a:pPr algn="ctr"/>
            <a:r>
              <a:rPr sz="819" b="1">
                <a:solidFill>
                  <a:srgbClr val="FFFFFF"/>
                </a:solidFill>
                <a:latin typeface="Microsoft YaHei"/>
              </a:rPr>
              <a:t>展示说明</a:t>
            </a:r>
          </a:p>
        </p:txBody>
      </p:sp>
      <p:sp>
        <p:nvSpPr>
          <p:cNvPr id="19" name="Rectangle 18"/>
          <p:cNvSpPr/>
          <p:nvPr/>
        </p:nvSpPr>
        <p:spPr>
          <a:xfrm>
            <a:off x="7360920" y="1115568"/>
            <a:ext cx="4251960" cy="171907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16368" y="1280160"/>
            <a:ext cx="3913632" cy="1316736"/>
          </a:xfrm>
          <a:prstGeom prst="rect">
            <a:avLst/>
          </a:prstGeom>
          <a:noFill/>
        </p:spPr>
        <p:txBody>
          <a:bodyPr wrap="square" rIns="73152" bIns="36576">
            <a:normAutofit/>
          </a:bodyPr>
          <a:lstStyle/>
          <a:p>
            <a:pPr>
              <a:lnSpc>
                <a:spcPct val="103000"/>
              </a:lnSpc>
              <a:spcAft>
                <a:spcPts val="300"/>
              </a:spcAft>
              <a:defRPr sz="800">
                <a:solidFill>
                  <a:srgbClr val="21242A"/>
                </a:solidFill>
                <a:latin typeface="Microsoft YaHei"/>
              </a:defRPr>
            </a:pPr>
            <a:r>
              <a:t>展示方式：数字/指标较多，已整理为数据表</a:t>
            </a:r>
          </a:p>
          <a:p>
            <a:pPr>
              <a:lnSpc>
                <a:spcPct val="103000"/>
              </a:lnSpc>
              <a:spcAft>
                <a:spcPts val="300"/>
              </a:spcAft>
              <a:defRPr sz="800">
                <a:solidFill>
                  <a:srgbClr val="21242A"/>
                </a:solidFill>
                <a:latin typeface="Microsoft YaHei"/>
              </a:defRPr>
            </a:pPr>
            <a:r>
              <a:t>来源字段：试验结果；若核对未通过则使用EHA页面原文</a:t>
            </a:r>
          </a:p>
          <a:p>
            <a:pPr>
              <a:lnSpc>
                <a:spcPct val="103000"/>
              </a:lnSpc>
              <a:spcAft>
                <a:spcPts val="300"/>
              </a:spcAft>
              <a:defRPr sz="800">
                <a:solidFill>
                  <a:srgbClr val="21242A"/>
                </a:solidFill>
                <a:latin typeface="Microsoft YaHei"/>
              </a:defRPr>
            </a:pPr>
            <a:r>
              <a:t>本页不根据关键词自动生成柱图，避免误读指标含义</a:t>
            </a:r>
          </a:p>
        </p:txBody>
      </p:sp>
      <p:sp>
        <p:nvSpPr>
          <p:cNvPr id="21" name="TextBox 20"/>
          <p:cNvSpPr txBox="1"/>
          <p:nvPr/>
        </p:nvSpPr>
        <p:spPr>
          <a:xfrm>
            <a:off x="7360920" y="2999232"/>
            <a:ext cx="1417320" cy="219456"/>
          </a:xfrm>
          <a:prstGeom prst="rect">
            <a:avLst/>
          </a:prstGeom>
          <a:solidFill>
            <a:srgbClr val="2A795B"/>
          </a:solidFill>
          <a:ln>
            <a:solidFill>
              <a:srgbClr val="2A795B"/>
            </a:solidFill>
          </a:ln>
        </p:spPr>
        <p:txBody>
          <a:bodyPr wrap="square" lIns="73152" rIns="73152" tIns="36576" bIns="36576" anchor="ctr">
            <a:normAutofit/>
          </a:bodyPr>
          <a:lstStyle/>
          <a:p>
            <a:pPr algn="ctr"/>
            <a:r>
              <a:rPr sz="819" b="1">
                <a:solidFill>
                  <a:srgbClr val="FFFFFF"/>
                </a:solidFill>
                <a:latin typeface="Microsoft YaHei"/>
              </a:rPr>
              <a:t>分类与核对</a:t>
            </a:r>
          </a:p>
        </p:txBody>
      </p:sp>
      <p:sp>
        <p:nvSpPr>
          <p:cNvPr id="22" name="Rectangle 21"/>
          <p:cNvSpPr/>
          <p:nvPr/>
        </p:nvSpPr>
        <p:spPr>
          <a:xfrm>
            <a:off x="7360920" y="3273552"/>
            <a:ext cx="4251960" cy="1435608"/>
          </a:xfrm>
          <a:prstGeom prst="rect">
            <a:avLst/>
          </a:prstGeom>
          <a:solidFill>
            <a:srgbClr val="FFFFFF"/>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16368" y="3419856"/>
            <a:ext cx="3913632" cy="1060704"/>
          </a:xfrm>
          <a:prstGeom prst="rect">
            <a:avLst/>
          </a:prstGeom>
          <a:noFill/>
        </p:spPr>
        <p:txBody>
          <a:bodyPr wrap="square" rIns="73152" bIns="36576">
            <a:normAutofit/>
          </a:bodyPr>
          <a:lstStyle/>
          <a:p>
            <a:pPr>
              <a:lnSpc>
                <a:spcPct val="103000"/>
              </a:lnSpc>
              <a:spcAft>
                <a:spcPts val="300"/>
              </a:spcAft>
              <a:defRPr sz="780">
                <a:solidFill>
                  <a:srgbClr val="21242A"/>
                </a:solidFill>
                <a:latin typeface="Microsoft YaHei"/>
              </a:defRPr>
            </a:pPr>
            <a:r>
              <a:t>研究类型：卫生经济/模型研究</a:t>
            </a:r>
          </a:p>
          <a:p>
            <a:pPr>
              <a:lnSpc>
                <a:spcPct val="103000"/>
              </a:lnSpc>
              <a:spcAft>
                <a:spcPts val="300"/>
              </a:spcAft>
              <a:defRPr sz="780">
                <a:solidFill>
                  <a:srgbClr val="21242A"/>
                </a:solidFill>
                <a:latin typeface="Microsoft YaHei"/>
              </a:defRPr>
            </a:pPr>
            <a:r>
              <a:t>疾病场景：LBCL/HGBL</a:t>
            </a:r>
          </a:p>
          <a:p>
            <a:pPr>
              <a:lnSpc>
                <a:spcPct val="103000"/>
              </a:lnSpc>
              <a:spcAft>
                <a:spcPts val="300"/>
              </a:spcAft>
              <a:defRPr sz="780">
                <a:solidFill>
                  <a:srgbClr val="21242A"/>
                </a:solidFill>
                <a:latin typeface="Microsoft YaHei"/>
              </a:defRPr>
            </a:pPr>
            <a:r>
              <a:t>药物/技术：CAR-T/细胞治疗</a:t>
            </a:r>
          </a:p>
          <a:p>
            <a:pPr>
              <a:lnSpc>
                <a:spcPct val="103000"/>
              </a:lnSpc>
              <a:spcAft>
                <a:spcPts val="300"/>
              </a:spcAft>
              <a:defRPr sz="780">
                <a:solidFill>
                  <a:srgbClr val="21242A"/>
                </a:solidFill>
                <a:latin typeface="Microsoft YaHei"/>
              </a:defRPr>
            </a:pPr>
            <a:r>
              <a:t>EHA链接：已打开EHA页面核对；标题可匹配</a:t>
            </a:r>
          </a:p>
        </p:txBody>
      </p:sp>
      <p:sp>
        <p:nvSpPr>
          <p:cNvPr id="24" name="TextBox 23"/>
          <p:cNvSpPr txBox="1"/>
          <p:nvPr/>
        </p:nvSpPr>
        <p:spPr>
          <a:xfrm>
            <a:off x="411480" y="4416552"/>
            <a:ext cx="1417320" cy="219456"/>
          </a:xfrm>
          <a:prstGeom prst="rect">
            <a:avLst/>
          </a:prstGeom>
          <a:solidFill>
            <a:srgbClr val="EC8832"/>
          </a:solidFill>
          <a:ln>
            <a:solidFill>
              <a:srgbClr val="EC8832"/>
            </a:solidFill>
          </a:ln>
        </p:spPr>
        <p:txBody>
          <a:bodyPr wrap="square" lIns="73152" rIns="73152" tIns="36576" bIns="36576" anchor="ctr">
            <a:normAutofit/>
          </a:bodyPr>
          <a:lstStyle/>
          <a:p>
            <a:pPr algn="ctr"/>
            <a:r>
              <a:rPr sz="819" b="1">
                <a:solidFill>
                  <a:srgbClr val="FFFFFF"/>
                </a:solidFill>
                <a:latin typeface="Microsoft YaHei"/>
              </a:rPr>
              <a:t>来源</a:t>
            </a:r>
          </a:p>
        </p:txBody>
      </p:sp>
      <p:sp>
        <p:nvSpPr>
          <p:cNvPr id="25" name="Rectangle 24"/>
          <p:cNvSpPr/>
          <p:nvPr/>
        </p:nvSpPr>
        <p:spPr>
          <a:xfrm>
            <a:off x="411480" y="4700016"/>
            <a:ext cx="11201400" cy="621792"/>
          </a:xfrm>
          <a:prstGeom prst="rect">
            <a:avLst/>
          </a:prstGeom>
          <a:solidFill>
            <a:srgbClr val="F6F8FB"/>
          </a:solidFill>
          <a:ln w="8890">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4773168"/>
            <a:ext cx="10927080" cy="420624"/>
          </a:xfrm>
          <a:prstGeom prst="rect">
            <a:avLst/>
          </a:prstGeom>
          <a:noFill/>
        </p:spPr>
        <p:txBody>
          <a:bodyPr wrap="square" rIns="73152" bIns="36576">
            <a:normAutofit/>
          </a:bodyPr>
          <a:lstStyle/>
          <a:p>
            <a:pPr>
              <a:lnSpc>
                <a:spcPct val="103000"/>
              </a:lnSpc>
              <a:spcAft>
                <a:spcPts val="300"/>
              </a:spcAft>
              <a:defRPr sz="740">
                <a:solidFill>
                  <a:srgbClr val="5E6570"/>
                </a:solidFill>
                <a:latin typeface="Microsoft YaHei"/>
              </a:defRPr>
            </a:pPr>
            <a:r>
              <a:t>摘要号：PS2514</a:t>
            </a:r>
          </a:p>
          <a:p>
            <a:pPr>
              <a:lnSpc>
                <a:spcPct val="103000"/>
              </a:lnSpc>
              <a:spcAft>
                <a:spcPts val="300"/>
              </a:spcAft>
              <a:defRPr sz="740">
                <a:solidFill>
                  <a:srgbClr val="5E6570"/>
                </a:solidFill>
                <a:latin typeface="Microsoft YaHei"/>
              </a:defRPr>
            </a:pPr>
            <a:r>
              <a:t>会议栏目：37. Health economics</a:t>
            </a:r>
          </a:p>
          <a:p>
            <a:pPr>
              <a:lnSpc>
                <a:spcPct val="103000"/>
              </a:lnSpc>
              <a:spcAft>
                <a:spcPts val="300"/>
              </a:spcAft>
              <a:defRPr sz="740">
                <a:solidFill>
                  <a:srgbClr val="5E6570"/>
                </a:solidFill>
                <a:latin typeface="Microsoft YaHei"/>
              </a:defRPr>
            </a:pPr>
            <a:r>
              <a:t>右下角按钮可跳转 EHA 原文；本页结果按中文原表字段展示</a:t>
            </a:r>
          </a:p>
        </p:txBody>
      </p:sp>
      <p:sp>
        <p:nvSpPr>
          <p:cNvPr id="27" name="Rounded Rectangle 26">
            <a:hlinkClick action="ppaction://hlinksldjump" r:id="rId3"/>
          </p:cNvPr>
          <p:cNvSpPr/>
          <p:nvPr/>
        </p:nvSpPr>
        <p:spPr>
          <a:xfrm>
            <a:off x="11000232" y="146304"/>
            <a:ext cx="566928" cy="219456"/>
          </a:xfrm>
          <a:prstGeom prst="roundRect">
            <a:avLst/>
          </a:prstGeom>
          <a:solidFill>
            <a:srgbClr val="F6F8FB"/>
          </a:solidFill>
          <a:ln>
            <a:solidFill>
              <a:srgbClr val="DADFE7"/>
            </a:solidFill>
          </a:ln>
        </p:spPr>
        <p:style>
          <a:lnRef idx="1">
            <a:schemeClr val="accent1"/>
          </a:lnRef>
          <a:fillRef idx="3">
            <a:schemeClr val="accent1"/>
          </a:fillRef>
          <a:effectRef idx="2">
            <a:schemeClr val="accent1"/>
          </a:effectRef>
          <a:fontRef idx="minor">
            <a:schemeClr val="lt1"/>
          </a:fontRef>
        </p:style>
        <p:txBody>
          <a:bodyPr rtlCol="0" anchor="ctr" lIns="18288" rIns="18288" tIns="9144" bIns="9144"/>
          <a:lstStyle/>
          <a:p>
            <a:pPr algn="ctr"/>
            <a:r>
              <a:rPr sz="720" b="1">
                <a:solidFill>
                  <a:srgbClr val="8B1F1F"/>
                </a:solidFill>
                <a:latin typeface="Microsoft YaHei"/>
              </a:rPr>
              <a:t>目录</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