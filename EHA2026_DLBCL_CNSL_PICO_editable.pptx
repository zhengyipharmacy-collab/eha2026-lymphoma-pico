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 id="457" r:id="rId208"/>
    <p:sldId id="458" r:id="rId209"/>
    <p:sldId id="459" r:id="rId210"/>
    <p:sldId id="460" r:id="rId211"/>
    <p:sldId id="461" r:id="rId212"/>
    <p:sldId id="462" r:id="rId213"/>
    <p:sldId id="463" r:id="rId214"/>
    <p:sldId id="464" r:id="rId215"/>
    <p:sldId id="465" r:id="rId216"/>
    <p:sldId id="466" r:id="rId217"/>
    <p:sldId id="467" r:id="rId218"/>
    <p:sldId id="468" r:id="rId219"/>
    <p:sldId id="469" r:id="rId220"/>
    <p:sldId id="470" r:id="rId221"/>
    <p:sldId id="471" r:id="rId222"/>
    <p:sldId id="472" r:id="rId223"/>
    <p:sldId id="473" r:id="rId224"/>
    <p:sldId id="474" r:id="rId225"/>
    <p:sldId id="475" r:id="rId226"/>
    <p:sldId id="476" r:id="rId227"/>
    <p:sldId id="477" r:id="rId228"/>
    <p:sldId id="478" r:id="rId229"/>
    <p:sldId id="479" r:id="rId230"/>
    <p:sldId id="480" r:id="rId231"/>
    <p:sldId id="481" r:id="rId232"/>
    <p:sldId id="482" r:id="rId233"/>
    <p:sldId id="483" r:id="rId234"/>
    <p:sldId id="484" r:id="rId235"/>
    <p:sldId id="485" r:id="rId236"/>
    <p:sldId id="486" r:id="rId237"/>
    <p:sldId id="487" r:id="rId238"/>
    <p:sldId id="488" r:id="rId239"/>
    <p:sldId id="489" r:id="rId240"/>
    <p:sldId id="490" r:id="rId241"/>
    <p:sldId id="491" r:id="rId242"/>
    <p:sldId id="492" r:id="rId243"/>
    <p:sldId id="493" r:id="rId244"/>
    <p:sldId id="494" r:id="rId245"/>
    <p:sldId id="495" r:id="rId246"/>
    <p:sldId id="496" r:id="rId247"/>
    <p:sldId id="497" r:id="rId248"/>
    <p:sldId id="498" r:id="rId249"/>
    <p:sldId id="499" r:id="rId250"/>
    <p:sldId id="500" r:id="rId251"/>
    <p:sldId id="501" r:id="rId252"/>
    <p:sldId id="502" r:id="rId253"/>
    <p:sldId id="503" r:id="rId254"/>
    <p:sldId id="504" r:id="rId255"/>
    <p:sldId id="505" r:id="rId256"/>
    <p:sldId id="506" r:id="rId257"/>
    <p:sldId id="507" r:id="rId258"/>
    <p:sldId id="508" r:id="rId259"/>
    <p:sldId id="509" r:id="rId260"/>
    <p:sldId id="510" r:id="rId261"/>
    <p:sldId id="511" r:id="rId262"/>
    <p:sldId id="512" r:id="rId263"/>
    <p:sldId id="513" r:id="rId264"/>
    <p:sldId id="514" r:id="rId265"/>
    <p:sldId id="515" r:id="rId266"/>
    <p:sldId id="516" r:id="rId267"/>
    <p:sldId id="517" r:id="rId268"/>
    <p:sldId id="518" r:id="rId269"/>
    <p:sldId id="519" r:id="rId270"/>
    <p:sldId id="520" r:id="rId271"/>
    <p:sldId id="521" r:id="rId272"/>
    <p:sldId id="522" r:id="rId273"/>
    <p:sldId id="523" r:id="rId274"/>
    <p:sldId id="524" r:id="rId275"/>
    <p:sldId id="525" r:id="rId276"/>
    <p:sldId id="526" r:id="rId277"/>
    <p:sldId id="527" r:id="rId278"/>
    <p:sldId id="528" r:id="rId279"/>
    <p:sldId id="529" r:id="rId280"/>
    <p:sldId id="530" r:id="rId281"/>
    <p:sldId id="531" r:id="rId282"/>
    <p:sldId id="532" r:id="rId283"/>
    <p:sldId id="533" r:id="rId284"/>
    <p:sldId id="534" r:id="rId285"/>
    <p:sldId id="535" r:id="rId286"/>
    <p:sldId id="536" r:id="rId287"/>
    <p:sldId id="537" r:id="rId288"/>
    <p:sldId id="538" r:id="rId289"/>
    <p:sldId id="539" r:id="rId290"/>
    <p:sldId id="540" r:id="rId291"/>
    <p:sldId id="541" r:id="rId292"/>
    <p:sldId id="542" r:id="rId293"/>
    <p:sldId id="543" r:id="rId294"/>
    <p:sldId id="544" r:id="rId295"/>
    <p:sldId id="545" r:id="rId296"/>
    <p:sldId id="546" r:id="rId297"/>
    <p:sldId id="547" r:id="rId298"/>
    <p:sldId id="548" r:id="rId299"/>
    <p:sldId id="549" r:id="rId300"/>
    <p:sldId id="550" r:id="rId301"/>
    <p:sldId id="551" r:id="rId302"/>
    <p:sldId id="552" r:id="rId303"/>
    <p:sldId id="553" r:id="rId304"/>
    <p:sldId id="554" r:id="rId305"/>
    <p:sldId id="555" r:id="rId306"/>
    <p:sldId id="556" r:id="rId307"/>
    <p:sldId id="557" r:id="rId308"/>
    <p:sldId id="558" r:id="rId309"/>
    <p:sldId id="559" r:id="rId310"/>
    <p:sldId id="560" r:id="rId311"/>
    <p:sldId id="561" r:id="rId312"/>
    <p:sldId id="562" r:id="rId313"/>
    <p:sldId id="563" r:id="rId314"/>
    <p:sldId id="564" r:id="rId315"/>
    <p:sldId id="565" r:id="rId316"/>
    <p:sldId id="566" r:id="rId317"/>
    <p:sldId id="567" r:id="rId318"/>
    <p:sldId id="568" r:id="rId319"/>
    <p:sldId id="569" r:id="rId320"/>
    <p:sldId id="570" r:id="rId321"/>
    <p:sldId id="571" r:id="rId322"/>
    <p:sldId id="572" r:id="rId323"/>
    <p:sldId id="573" r:id="rId324"/>
    <p:sldId id="574" r:id="rId325"/>
    <p:sldId id="575" r:id="rId326"/>
    <p:sldId id="576" r:id="rId327"/>
    <p:sldId id="577" r:id="rId328"/>
    <p:sldId id="578" r:id="rId329"/>
    <p:sldId id="579" r:id="rId330"/>
    <p:sldId id="580" r:id="rId331"/>
    <p:sldId id="581" r:id="rId332"/>
    <p:sldId id="582" r:id="rId333"/>
    <p:sldId id="583" r:id="rId334"/>
    <p:sldId id="584" r:id="rId335"/>
    <p:sldId id="585" r:id="rId336"/>
    <p:sldId id="586" r:id="rId337"/>
    <p:sldId id="587" r:id="rId338"/>
    <p:sldId id="588" r:id="rId339"/>
    <p:sldId id="589" r:id="rId340"/>
    <p:sldId id="590" r:id="rId341"/>
    <p:sldId id="591" r:id="rId342"/>
    <p:sldId id="592" r:id="rId343"/>
    <p:sldId id="593" r:id="rId344"/>
    <p:sldId id="594" r:id="rId345"/>
    <p:sldId id="595" r:id="rId346"/>
    <p:sldId id="596" r:id="rId347"/>
    <p:sldId id="597" r:id="rId348"/>
    <p:sldId id="598" r:id="rId349"/>
    <p:sldId id="599" r:id="rId350"/>
    <p:sldId id="600" r:id="rId351"/>
    <p:sldId id="601" r:id="rId352"/>
    <p:sldId id="602" r:id="rId353"/>
    <p:sldId id="603" r:id="rId354"/>
    <p:sldId id="604" r:id="rId355"/>
    <p:sldId id="605" r:id="rId356"/>
    <p:sldId id="606" r:id="rId357"/>
    <p:sldId id="607" r:id="rId358"/>
    <p:sldId id="608" r:id="rId359"/>
    <p:sldId id="609" r:id="rId360"/>
    <p:sldId id="610" r:id="rId361"/>
    <p:sldId id="611" r:id="rId362"/>
    <p:sldId id="612" r:id="rId363"/>
    <p:sldId id="613" r:id="rId364"/>
    <p:sldId id="614" r:id="rId365"/>
    <p:sldId id="615" r:id="rId366"/>
    <p:sldId id="616" r:id="rId367"/>
    <p:sldId id="617" r:id="rId368"/>
    <p:sldId id="618" r:id="rId369"/>
    <p:sldId id="619" r:id="rId370"/>
    <p:sldId id="620" r:id="rId371"/>
    <p:sldId id="621" r:id="rId372"/>
    <p:sldId id="622" r:id="rId373"/>
    <p:sldId id="623" r:id="rId374"/>
    <p:sldId id="624" r:id="rId375"/>
    <p:sldId id="625" r:id="rId376"/>
    <p:sldId id="626" r:id="rId377"/>
    <p:sldId id="627" r:id="rId378"/>
    <p:sldId id="628" r:id="rId379"/>
    <p:sldId id="629" r:id="rId380"/>
    <p:sldId id="630" r:id="rId381"/>
    <p:sldId id="631" r:id="rId382"/>
    <p:sldId id="632" r:id="rId383"/>
    <p:sldId id="633" r:id="rId384"/>
    <p:sldId id="634" r:id="rId385"/>
    <p:sldId id="635" r:id="rId386"/>
    <p:sldId id="636" r:id="rId38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slide" Target="slides/slide250.xml"/><Relationship Id="rId257" Type="http://schemas.openxmlformats.org/officeDocument/2006/relationships/slide" Target="slides/slide251.xml"/><Relationship Id="rId258" Type="http://schemas.openxmlformats.org/officeDocument/2006/relationships/slide" Target="slides/slide252.xml"/><Relationship Id="rId259" Type="http://schemas.openxmlformats.org/officeDocument/2006/relationships/slide" Target="slides/slide253.xml"/><Relationship Id="rId260" Type="http://schemas.openxmlformats.org/officeDocument/2006/relationships/slide" Target="slides/slide254.xml"/><Relationship Id="rId261" Type="http://schemas.openxmlformats.org/officeDocument/2006/relationships/slide" Target="slides/slide255.xml"/><Relationship Id="rId262" Type="http://schemas.openxmlformats.org/officeDocument/2006/relationships/slide" Target="slides/slide256.xml"/><Relationship Id="rId263" Type="http://schemas.openxmlformats.org/officeDocument/2006/relationships/slide" Target="slides/slide257.xml"/><Relationship Id="rId264" Type="http://schemas.openxmlformats.org/officeDocument/2006/relationships/slide" Target="slides/slide258.xml"/><Relationship Id="rId265" Type="http://schemas.openxmlformats.org/officeDocument/2006/relationships/slide" Target="slides/slide259.xml"/><Relationship Id="rId266" Type="http://schemas.openxmlformats.org/officeDocument/2006/relationships/slide" Target="slides/slide260.xml"/><Relationship Id="rId267" Type="http://schemas.openxmlformats.org/officeDocument/2006/relationships/slide" Target="slides/slide261.xml"/><Relationship Id="rId268" Type="http://schemas.openxmlformats.org/officeDocument/2006/relationships/slide" Target="slides/slide262.xml"/><Relationship Id="rId269" Type="http://schemas.openxmlformats.org/officeDocument/2006/relationships/slide" Target="slides/slide263.xml"/><Relationship Id="rId270" Type="http://schemas.openxmlformats.org/officeDocument/2006/relationships/slide" Target="slides/slide264.xml"/><Relationship Id="rId271" Type="http://schemas.openxmlformats.org/officeDocument/2006/relationships/slide" Target="slides/slide265.xml"/><Relationship Id="rId272" Type="http://schemas.openxmlformats.org/officeDocument/2006/relationships/slide" Target="slides/slide266.xml"/><Relationship Id="rId273" Type="http://schemas.openxmlformats.org/officeDocument/2006/relationships/slide" Target="slides/slide267.xml"/><Relationship Id="rId274" Type="http://schemas.openxmlformats.org/officeDocument/2006/relationships/slide" Target="slides/slide268.xml"/><Relationship Id="rId275" Type="http://schemas.openxmlformats.org/officeDocument/2006/relationships/slide" Target="slides/slide269.xml"/><Relationship Id="rId276" Type="http://schemas.openxmlformats.org/officeDocument/2006/relationships/slide" Target="slides/slide270.xml"/><Relationship Id="rId277" Type="http://schemas.openxmlformats.org/officeDocument/2006/relationships/slide" Target="slides/slide271.xml"/><Relationship Id="rId278" Type="http://schemas.openxmlformats.org/officeDocument/2006/relationships/slide" Target="slides/slide272.xml"/><Relationship Id="rId279" Type="http://schemas.openxmlformats.org/officeDocument/2006/relationships/slide" Target="slides/slide273.xml"/><Relationship Id="rId280" Type="http://schemas.openxmlformats.org/officeDocument/2006/relationships/slide" Target="slides/slide274.xml"/><Relationship Id="rId281" Type="http://schemas.openxmlformats.org/officeDocument/2006/relationships/slide" Target="slides/slide275.xml"/><Relationship Id="rId282" Type="http://schemas.openxmlformats.org/officeDocument/2006/relationships/slide" Target="slides/slide276.xml"/><Relationship Id="rId283" Type="http://schemas.openxmlformats.org/officeDocument/2006/relationships/slide" Target="slides/slide277.xml"/><Relationship Id="rId284" Type="http://schemas.openxmlformats.org/officeDocument/2006/relationships/slide" Target="slides/slide278.xml"/><Relationship Id="rId285" Type="http://schemas.openxmlformats.org/officeDocument/2006/relationships/slide" Target="slides/slide279.xml"/><Relationship Id="rId286" Type="http://schemas.openxmlformats.org/officeDocument/2006/relationships/slide" Target="slides/slide280.xml"/><Relationship Id="rId287" Type="http://schemas.openxmlformats.org/officeDocument/2006/relationships/slide" Target="slides/slide281.xml"/><Relationship Id="rId288" Type="http://schemas.openxmlformats.org/officeDocument/2006/relationships/slide" Target="slides/slide282.xml"/><Relationship Id="rId289" Type="http://schemas.openxmlformats.org/officeDocument/2006/relationships/slide" Target="slides/slide283.xml"/><Relationship Id="rId290" Type="http://schemas.openxmlformats.org/officeDocument/2006/relationships/slide" Target="slides/slide284.xml"/><Relationship Id="rId291" Type="http://schemas.openxmlformats.org/officeDocument/2006/relationships/slide" Target="slides/slide285.xml"/><Relationship Id="rId292" Type="http://schemas.openxmlformats.org/officeDocument/2006/relationships/slide" Target="slides/slide286.xml"/><Relationship Id="rId293" Type="http://schemas.openxmlformats.org/officeDocument/2006/relationships/slide" Target="slides/slide287.xml"/><Relationship Id="rId294" Type="http://schemas.openxmlformats.org/officeDocument/2006/relationships/slide" Target="slides/slide288.xml"/><Relationship Id="rId295" Type="http://schemas.openxmlformats.org/officeDocument/2006/relationships/slide" Target="slides/slide289.xml"/><Relationship Id="rId296" Type="http://schemas.openxmlformats.org/officeDocument/2006/relationships/slide" Target="slides/slide290.xml"/><Relationship Id="rId297" Type="http://schemas.openxmlformats.org/officeDocument/2006/relationships/slide" Target="slides/slide291.xml"/><Relationship Id="rId298" Type="http://schemas.openxmlformats.org/officeDocument/2006/relationships/slide" Target="slides/slide292.xml"/><Relationship Id="rId299" Type="http://schemas.openxmlformats.org/officeDocument/2006/relationships/slide" Target="slides/slide293.xml"/><Relationship Id="rId300" Type="http://schemas.openxmlformats.org/officeDocument/2006/relationships/slide" Target="slides/slide294.xml"/><Relationship Id="rId301" Type="http://schemas.openxmlformats.org/officeDocument/2006/relationships/slide" Target="slides/slide295.xml"/><Relationship Id="rId302" Type="http://schemas.openxmlformats.org/officeDocument/2006/relationships/slide" Target="slides/slide296.xml"/><Relationship Id="rId303" Type="http://schemas.openxmlformats.org/officeDocument/2006/relationships/slide" Target="slides/slide297.xml"/><Relationship Id="rId304" Type="http://schemas.openxmlformats.org/officeDocument/2006/relationships/slide" Target="slides/slide298.xml"/><Relationship Id="rId305" Type="http://schemas.openxmlformats.org/officeDocument/2006/relationships/slide" Target="slides/slide299.xml"/><Relationship Id="rId306" Type="http://schemas.openxmlformats.org/officeDocument/2006/relationships/slide" Target="slides/slide300.xml"/><Relationship Id="rId307" Type="http://schemas.openxmlformats.org/officeDocument/2006/relationships/slide" Target="slides/slide301.xml"/><Relationship Id="rId308" Type="http://schemas.openxmlformats.org/officeDocument/2006/relationships/slide" Target="slides/slide302.xml"/><Relationship Id="rId309" Type="http://schemas.openxmlformats.org/officeDocument/2006/relationships/slide" Target="slides/slide303.xml"/><Relationship Id="rId310" Type="http://schemas.openxmlformats.org/officeDocument/2006/relationships/slide" Target="slides/slide304.xml"/><Relationship Id="rId311" Type="http://schemas.openxmlformats.org/officeDocument/2006/relationships/slide" Target="slides/slide305.xml"/><Relationship Id="rId312" Type="http://schemas.openxmlformats.org/officeDocument/2006/relationships/slide" Target="slides/slide306.xml"/><Relationship Id="rId313" Type="http://schemas.openxmlformats.org/officeDocument/2006/relationships/slide" Target="slides/slide307.xml"/><Relationship Id="rId314" Type="http://schemas.openxmlformats.org/officeDocument/2006/relationships/slide" Target="slides/slide308.xml"/><Relationship Id="rId315" Type="http://schemas.openxmlformats.org/officeDocument/2006/relationships/slide" Target="slides/slide309.xml"/><Relationship Id="rId316" Type="http://schemas.openxmlformats.org/officeDocument/2006/relationships/slide" Target="slides/slide310.xml"/><Relationship Id="rId317" Type="http://schemas.openxmlformats.org/officeDocument/2006/relationships/slide" Target="slides/slide311.xml"/><Relationship Id="rId318" Type="http://schemas.openxmlformats.org/officeDocument/2006/relationships/slide" Target="slides/slide312.xml"/><Relationship Id="rId319" Type="http://schemas.openxmlformats.org/officeDocument/2006/relationships/slide" Target="slides/slide313.xml"/><Relationship Id="rId320" Type="http://schemas.openxmlformats.org/officeDocument/2006/relationships/slide" Target="slides/slide314.xml"/><Relationship Id="rId321" Type="http://schemas.openxmlformats.org/officeDocument/2006/relationships/slide" Target="slides/slide315.xml"/><Relationship Id="rId322" Type="http://schemas.openxmlformats.org/officeDocument/2006/relationships/slide" Target="slides/slide316.xml"/><Relationship Id="rId323" Type="http://schemas.openxmlformats.org/officeDocument/2006/relationships/slide" Target="slides/slide317.xml"/><Relationship Id="rId324" Type="http://schemas.openxmlformats.org/officeDocument/2006/relationships/slide" Target="slides/slide318.xml"/><Relationship Id="rId325" Type="http://schemas.openxmlformats.org/officeDocument/2006/relationships/slide" Target="slides/slide319.xml"/><Relationship Id="rId326" Type="http://schemas.openxmlformats.org/officeDocument/2006/relationships/slide" Target="slides/slide320.xml"/><Relationship Id="rId327" Type="http://schemas.openxmlformats.org/officeDocument/2006/relationships/slide" Target="slides/slide321.xml"/><Relationship Id="rId328" Type="http://schemas.openxmlformats.org/officeDocument/2006/relationships/slide" Target="slides/slide322.xml"/><Relationship Id="rId329" Type="http://schemas.openxmlformats.org/officeDocument/2006/relationships/slide" Target="slides/slide323.xml"/><Relationship Id="rId330" Type="http://schemas.openxmlformats.org/officeDocument/2006/relationships/slide" Target="slides/slide324.xml"/><Relationship Id="rId331" Type="http://schemas.openxmlformats.org/officeDocument/2006/relationships/slide" Target="slides/slide325.xml"/><Relationship Id="rId332" Type="http://schemas.openxmlformats.org/officeDocument/2006/relationships/slide" Target="slides/slide326.xml"/><Relationship Id="rId333" Type="http://schemas.openxmlformats.org/officeDocument/2006/relationships/slide" Target="slides/slide327.xml"/><Relationship Id="rId334" Type="http://schemas.openxmlformats.org/officeDocument/2006/relationships/slide" Target="slides/slide328.xml"/><Relationship Id="rId335" Type="http://schemas.openxmlformats.org/officeDocument/2006/relationships/slide" Target="slides/slide329.xml"/><Relationship Id="rId336" Type="http://schemas.openxmlformats.org/officeDocument/2006/relationships/slide" Target="slides/slide330.xml"/><Relationship Id="rId337" Type="http://schemas.openxmlformats.org/officeDocument/2006/relationships/slide" Target="slides/slide331.xml"/><Relationship Id="rId338" Type="http://schemas.openxmlformats.org/officeDocument/2006/relationships/slide" Target="slides/slide332.xml"/><Relationship Id="rId339" Type="http://schemas.openxmlformats.org/officeDocument/2006/relationships/slide" Target="slides/slide333.xml"/><Relationship Id="rId340" Type="http://schemas.openxmlformats.org/officeDocument/2006/relationships/slide" Target="slides/slide334.xml"/><Relationship Id="rId341" Type="http://schemas.openxmlformats.org/officeDocument/2006/relationships/slide" Target="slides/slide335.xml"/><Relationship Id="rId342" Type="http://schemas.openxmlformats.org/officeDocument/2006/relationships/slide" Target="slides/slide336.xml"/><Relationship Id="rId343" Type="http://schemas.openxmlformats.org/officeDocument/2006/relationships/slide" Target="slides/slide337.xml"/><Relationship Id="rId344" Type="http://schemas.openxmlformats.org/officeDocument/2006/relationships/slide" Target="slides/slide338.xml"/><Relationship Id="rId345" Type="http://schemas.openxmlformats.org/officeDocument/2006/relationships/slide" Target="slides/slide339.xml"/><Relationship Id="rId346" Type="http://schemas.openxmlformats.org/officeDocument/2006/relationships/slide" Target="slides/slide340.xml"/><Relationship Id="rId347" Type="http://schemas.openxmlformats.org/officeDocument/2006/relationships/slide" Target="slides/slide341.xml"/><Relationship Id="rId348" Type="http://schemas.openxmlformats.org/officeDocument/2006/relationships/slide" Target="slides/slide342.xml"/><Relationship Id="rId349" Type="http://schemas.openxmlformats.org/officeDocument/2006/relationships/slide" Target="slides/slide343.xml"/><Relationship Id="rId350" Type="http://schemas.openxmlformats.org/officeDocument/2006/relationships/slide" Target="slides/slide344.xml"/><Relationship Id="rId351" Type="http://schemas.openxmlformats.org/officeDocument/2006/relationships/slide" Target="slides/slide345.xml"/><Relationship Id="rId352" Type="http://schemas.openxmlformats.org/officeDocument/2006/relationships/slide" Target="slides/slide346.xml"/><Relationship Id="rId353" Type="http://schemas.openxmlformats.org/officeDocument/2006/relationships/slide" Target="slides/slide347.xml"/><Relationship Id="rId354" Type="http://schemas.openxmlformats.org/officeDocument/2006/relationships/slide" Target="slides/slide348.xml"/><Relationship Id="rId355" Type="http://schemas.openxmlformats.org/officeDocument/2006/relationships/slide" Target="slides/slide349.xml"/><Relationship Id="rId356" Type="http://schemas.openxmlformats.org/officeDocument/2006/relationships/slide" Target="slides/slide350.xml"/><Relationship Id="rId357" Type="http://schemas.openxmlformats.org/officeDocument/2006/relationships/slide" Target="slides/slide351.xml"/><Relationship Id="rId358" Type="http://schemas.openxmlformats.org/officeDocument/2006/relationships/slide" Target="slides/slide352.xml"/><Relationship Id="rId359" Type="http://schemas.openxmlformats.org/officeDocument/2006/relationships/slide" Target="slides/slide353.xml"/><Relationship Id="rId360" Type="http://schemas.openxmlformats.org/officeDocument/2006/relationships/slide" Target="slides/slide354.xml"/><Relationship Id="rId361" Type="http://schemas.openxmlformats.org/officeDocument/2006/relationships/slide" Target="slides/slide355.xml"/><Relationship Id="rId362" Type="http://schemas.openxmlformats.org/officeDocument/2006/relationships/slide" Target="slides/slide356.xml"/><Relationship Id="rId363" Type="http://schemas.openxmlformats.org/officeDocument/2006/relationships/slide" Target="slides/slide357.xml"/><Relationship Id="rId364" Type="http://schemas.openxmlformats.org/officeDocument/2006/relationships/slide" Target="slides/slide358.xml"/><Relationship Id="rId365" Type="http://schemas.openxmlformats.org/officeDocument/2006/relationships/slide" Target="slides/slide359.xml"/><Relationship Id="rId366" Type="http://schemas.openxmlformats.org/officeDocument/2006/relationships/slide" Target="slides/slide360.xml"/><Relationship Id="rId367" Type="http://schemas.openxmlformats.org/officeDocument/2006/relationships/slide" Target="slides/slide361.xml"/><Relationship Id="rId368" Type="http://schemas.openxmlformats.org/officeDocument/2006/relationships/slide" Target="slides/slide362.xml"/><Relationship Id="rId369" Type="http://schemas.openxmlformats.org/officeDocument/2006/relationships/slide" Target="slides/slide363.xml"/><Relationship Id="rId370" Type="http://schemas.openxmlformats.org/officeDocument/2006/relationships/slide" Target="slides/slide364.xml"/><Relationship Id="rId371" Type="http://schemas.openxmlformats.org/officeDocument/2006/relationships/slide" Target="slides/slide365.xml"/><Relationship Id="rId372" Type="http://schemas.openxmlformats.org/officeDocument/2006/relationships/slide" Target="slides/slide366.xml"/><Relationship Id="rId373" Type="http://schemas.openxmlformats.org/officeDocument/2006/relationships/slide" Target="slides/slide367.xml"/><Relationship Id="rId374" Type="http://schemas.openxmlformats.org/officeDocument/2006/relationships/slide" Target="slides/slide368.xml"/><Relationship Id="rId375" Type="http://schemas.openxmlformats.org/officeDocument/2006/relationships/slide" Target="slides/slide369.xml"/><Relationship Id="rId376" Type="http://schemas.openxmlformats.org/officeDocument/2006/relationships/slide" Target="slides/slide370.xml"/><Relationship Id="rId377" Type="http://schemas.openxmlformats.org/officeDocument/2006/relationships/slide" Target="slides/slide371.xml"/><Relationship Id="rId378" Type="http://schemas.openxmlformats.org/officeDocument/2006/relationships/slide" Target="slides/slide372.xml"/><Relationship Id="rId379" Type="http://schemas.openxmlformats.org/officeDocument/2006/relationships/slide" Target="slides/slide373.xml"/><Relationship Id="rId380" Type="http://schemas.openxmlformats.org/officeDocument/2006/relationships/slide" Target="slides/slide374.xml"/><Relationship Id="rId381" Type="http://schemas.openxmlformats.org/officeDocument/2006/relationships/slide" Target="slides/slide375.xml"/><Relationship Id="rId382" Type="http://schemas.openxmlformats.org/officeDocument/2006/relationships/slide" Target="slides/slide376.xml"/><Relationship Id="rId383" Type="http://schemas.openxmlformats.org/officeDocument/2006/relationships/slide" Target="slides/slide377.xml"/><Relationship Id="rId384" Type="http://schemas.openxmlformats.org/officeDocument/2006/relationships/slide" Target="slides/slide378.xml"/><Relationship Id="rId385" Type="http://schemas.openxmlformats.org/officeDocument/2006/relationships/slide" Target="slides/slide379.xml"/><Relationship Id="rId386" Type="http://schemas.openxmlformats.org/officeDocument/2006/relationships/slide" Target="slides/slide380.xml"/><Relationship Id="rId387" Type="http://schemas.openxmlformats.org/officeDocument/2006/relationships/slide" Target="slides/slide3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xml"/><Relationship Id="rId3" Type="http://schemas.openxmlformats.org/officeDocument/2006/relationships/slide" Target="slide216.xml"/><Relationship Id="rId4" Type="http://schemas.openxmlformats.org/officeDocument/2006/relationships/slide" Target="slide37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184.xml"/><Relationship Id="rId5" Type="http://schemas.openxmlformats.org/officeDocument/2006/relationships/slide" Target="slide152.xml"/><Relationship Id="rId6" Type="http://schemas.openxmlformats.org/officeDocument/2006/relationships/slide" Target="slide188.xml"/><Relationship Id="rId7" Type="http://schemas.openxmlformats.org/officeDocument/2006/relationships/slide" Target="slide214.xml"/><Relationship Id="rId8" Type="http://schemas.openxmlformats.org/officeDocument/2006/relationships/slide" Target="slide17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 Id="rId3" Type="http://schemas.openxmlformats.org/officeDocument/2006/relationships/slide" Target="slide6.xml"/><Relationship Id="rId4" Type="http://schemas.openxmlformats.org/officeDocument/2006/relationships/slide" Target="slide58.xml"/><Relationship Id="rId5" Type="http://schemas.openxmlformats.org/officeDocument/2006/relationships/slide" Target="slide80.xml"/><Relationship Id="rId6" Type="http://schemas.openxmlformats.org/officeDocument/2006/relationships/slide" Target="slide92.xml"/><Relationship Id="rId7" Type="http://schemas.openxmlformats.org/officeDocument/2006/relationships/slide" Target="slide108.xml"/><Relationship Id="rId8" Type="http://schemas.openxmlformats.org/officeDocument/2006/relationships/slide" Target="slide128.xml"/><Relationship Id="rId9" Type="http://schemas.openxmlformats.org/officeDocument/2006/relationships/slide" Target="slide1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40/liang.wang.cd19.cd22.bispecific.car-t.cell.therapy.for.relapsed.refractory.html?f=menu%3D6%2Abrowseby%3D8%2Asortby%3D6%2Amedia%3D3%2Ace_id%3D2934%2Aot_id%3D115601%2Amarker%3D6765%2Afeatured%3D20138" TargetMode="External"/><Relationship Id="rId3" Type="http://schemas.openxmlformats.org/officeDocument/2006/relationships/slide" Target="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40/liang.wang.cd19.cd22.bispecific.car-t.cell.therapy.for.relapsed.refractory.html?f=menu%3D6%2Abrowseby%3D8%2Asortby%3D6%2Amedia%3D3%2Ace_id%3D2934%2Aot_id%3D115601%2Amarker%3D6765%2Afeatured%3D20138" TargetMode="External"/><Relationship Id="rId3" Type="http://schemas.openxmlformats.org/officeDocument/2006/relationships/slide" Target="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38/sylvain.lamure.branched-chain.amino.acid.bioavailability.during.cd19.car.html?f=menu%3D6%2Abrowseby%3D8%2Asortby%3D6%2Amedia%3D3%2Ace_id%3D2934%2Aot_id%3D115600%2Amarker%3D6765%2Afeatured%3D20138" TargetMode="Externa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38/sylvain.lamure.branched-chain.amino.acid.bioavailability.during.cd19.car.html?f=menu%3D6%2Abrowseby%3D8%2Asortby%3D6%2Amedia%3D3%2Ace_id%3D2934%2Aot_id%3D115600%2Amarker%3D6765%2Afeatured%3D20138" TargetMode="External"/><Relationship Id="rId3" Type="http://schemas.openxmlformats.org/officeDocument/2006/relationships/slide" Target="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0/stephen.schuster.vispa-cel.an.allogeneic.anti-cd19.car-t.cell.therapy.with.a.html?f=menu%3D6%2Abrowseby%3D8%2Asortby%3D6%2Amedia%3D3%2Ace_id%3D2934%2Aot_id%3D115576%2Amarker%3D6765%2Afeatured%3D20138" TargetMode="External"/><Relationship Id="rId3" Type="http://schemas.openxmlformats.org/officeDocument/2006/relationships/slide" Target="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0/stephen.schuster.vispa-cel.an.allogeneic.anti-cd19.car-t.cell.therapy.with.a.html?f=menu%3D6%2Abrowseby%3D8%2Asortby%3D6%2Amedia%3D3%2Ace_id%3D2934%2Aot_id%3D115576%2Amarker%3D6765%2Afeatured%3D20138" TargetMode="External"/><Relationship Id="rId3"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89/christopher.p.fox.results.from.epcore.dlbcl-1.randomized.phase.3.study.of.html?f=menu%3D6%2Abrowseby%3D8%2Asortby%3D6%2Amedia%3D3%2Ace_id%3D2934%2Aot_id%3D115576%2Amarker%3D6765%2Afeatured%3D20138" TargetMode="External"/><Relationship Id="rId3" Type="http://schemas.openxmlformats.org/officeDocument/2006/relationships/slide" Target="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89/christopher.p.fox.results.from.epcore.dlbcl-1.randomized.phase.3.study.of.html?f=menu%3D6%2Abrowseby%3D8%2Asortby%3D6%2Amedia%3D3%2Ace_id%3D2934%2Aot_id%3D115576%2Amarker%3D6765%2Afeatured%3D20138" TargetMode="External"/><Relationship Id="rId3" Type="http://schemas.openxmlformats.org/officeDocument/2006/relationships/slide" Target="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93/liang.wang.maintenance.therapy.with.pd-1.inhibitor.and.selinexor.following.html?f=menu%3D6%2Abrowseby%3D8%2Asortby%3D6%2Amedia%3D3%2Ace_id%3D2934%2Aot_id%3D115601%2Amarker%3D6766%2Afeatured%3D20138" TargetMode="External"/><Relationship Id="rId3" Type="http://schemas.openxmlformats.org/officeDocument/2006/relationships/slide" Target="slid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93/liang.wang.maintenance.therapy.with.pd-1.inhibitor.and.selinexor.following.html?f=menu%3D6%2Abrowseby%3D8%2Asortby%3D6%2Amedia%3D3%2Ace_id%3D2934%2Aot_id%3D115601%2Amarker%3D6766%2Afeatured%3D20138" TargetMode="Externa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86/bo.peng.pd-1ab21-expressing.anti-cd19.car.t.cells.for.patients.with.relapsed.html?f=menu%3D6%2Abrowseby%3D8%2Asortby%3D6%2Amedia%3D3%2Ace_id%3D2934%2Aot_id%3D115601%2Amarker%3D6766%2Afeatured%3D20138" TargetMode="External"/><Relationship Id="rId3" Type="http://schemas.openxmlformats.org/officeDocument/2006/relationships/slide" Target="slide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86/bo.peng.pd-1ab21-expressing.anti-cd19.car.t.cells.for.patients.with.relapsed.html?f=menu%3D6%2Abrowseby%3D8%2Asortby%3D6%2Amedia%3D3%2Ace_id%3D2934%2Aot_id%3D115601%2Amarker%3D6766%2Afeatured%3D20138" TargetMode="External"/><Relationship Id="rId3" Type="http://schemas.openxmlformats.org/officeDocument/2006/relationships/slide" Target="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74/ludovic.gabellier.cd4.cd8.balance.in.circulating.car.t-cells.shows.biphasic.html?f=menu%3D6%2Abrowseby%3D8%2Asortby%3D6%2Amedia%3D3%2Ace_id%3D2934%2Aot_id%3D115600%2Amarker%3D6766%2Afeatured%3D20138" TargetMode="External"/><Relationship Id="rId3" Type="http://schemas.openxmlformats.org/officeDocument/2006/relationships/slide" Target="slide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74/ludovic.gabellier.cd4.cd8.balance.in.circulating.car.t-cells.shows.biphasic.html?f=menu%3D6%2Abrowseby%3D8%2Asortby%3D6%2Amedia%3D3%2Ace_id%3D2934%2Aot_id%3D115600%2Amarker%3D6766%2Afeatured%3D20138" TargetMode="External"/><Relationship Id="rId3" Type="http://schemas.openxmlformats.org/officeDocument/2006/relationships/slide" Target="slide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18/mariana.bastos-oreiro.early.tumor-informed.ctdna.monitoring.improves.risk.html?f=menu%3D6%2Abrowseby%3D8%2Asortby%3D6%2Amedia%3D3%2Ace_id%3D2934%2Aot_id%3D115595%2Amarker%3D6766%2Afeatured%3D20138" TargetMode="Externa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18/mariana.bastos-oreiro.early.tumor-informed.ctdna.monitoring.improves.risk.html?f=menu%3D6%2Abrowseby%3D8%2Asortby%3D6%2Amedia%3D3%2Ace_id%3D2934%2Aot_id%3D115595%2Amarker%3D6766%2Afeatured%3D20138" TargetMode="External"/><Relationship Id="rId3" Type="http://schemas.openxmlformats.org/officeDocument/2006/relationships/slide" Target="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903/danielle.decicco.later.cart.infusions.increase.cytokine.release.syndrome.28crs29.html?f=menu%3D6%2Abrowseby%3D8%2Asortby%3D6%2Amedia%3D3%2Ace_id%3D2934%2Aot_id%3D115601%2Amarker%3D6766%2Afeatured%3D20138" TargetMode="External"/><Relationship Id="rId3" Type="http://schemas.openxmlformats.org/officeDocument/2006/relationships/slide" Target="slide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903/danielle.decicco.later.cart.infusions.increase.cytokine.release.syndrome.28crs29.html?f=menu%3D6%2Abrowseby%3D8%2Asortby%3D6%2Amedia%3D3%2Ace_id%3D2934%2Aot_id%3D115601%2Amarker%3D6766%2Afeatured%3D20138" TargetMode="External"/><Relationship Id="rId3" Type="http://schemas.openxmlformats.org/officeDocument/2006/relationships/slide" Target="slid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8/gil.fridberg.outcomes.of.second-line.car-t.therapy.in.starglo-eligible.html?f=menu%3D6%2Abrowseby%3D8%2Asortby%3D6%2Amedia%3D3%2Ace_id%3D2934%2Aot_id%3D115576%2Amarker%3D6766%2Afeatured%3D20138" TargetMode="External"/><Relationship Id="rId3" Type="http://schemas.openxmlformats.org/officeDocument/2006/relationships/slide" Target="slide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8/gil.fridberg.outcomes.of.second-line.car-t.therapy.in.starglo-eligible.html?f=menu%3D6%2Abrowseby%3D8%2Asortby%3D6%2Amedia%3D3%2Ace_id%3D2934%2Aot_id%3D115576%2Amarker%3D6766%2Afeatured%3D20138" TargetMode="External"/><Relationship Id="rId3" Type="http://schemas.openxmlformats.org/officeDocument/2006/relationships/slide" Target="slid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4/xiangrui.meng.safety.and.efficacy.of.relmacabtagene.autoleucel.28relma-cel29.in.html?f=menu%3D6%2Abrowseby%3D8%2Asortby%3D6%2Amedia%3D3%2Ace_id%3D2934%2Aot_id%3D115576%2Amarker%3D6766%2Afeatured%3D20138" TargetMode="External"/><Relationship Id="rId3"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4/xiangrui.meng.safety.and.efficacy.of.relmacabtagene.autoleucel.28relma-cel29.in.html?f=menu%3D6%2Abrowseby%3D8%2Asortby%3D6%2Amedia%3D3%2Ace_id%3D2934%2Aot_id%3D115576%2Amarker%3D6766%2Afeatured%3D20138" TargetMode="External"/><Relationship Id="rId3" Type="http://schemas.openxmlformats.org/officeDocument/2006/relationships/slide" Target="slide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2/ying.he.single-target.28cd1929.versus.dual-target.28cd19.cd22.or.cd19.cd2029.car.html?f=menu%3D6%2Abrowseby%3D8%2Asortby%3D6%2Amedia%3D3%2Ace_id%3D2934%2Aot_id%3D115576%2Amarker%3D6766%2Afeatured%3D20138" TargetMode="External"/><Relationship Id="rId3" Type="http://schemas.openxmlformats.org/officeDocument/2006/relationships/slide" Target="slide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2/ying.he.single-target.28cd1929.versus.dual-target.28cd19.cd22.or.cd19.cd2029.car.html?f=menu%3D6%2Abrowseby%3D8%2Asortby%3D6%2Amedia%3D3%2Ace_id%3D2934%2Aot_id%3D115576%2Amarker%3D6766%2Afeatured%3D20138" TargetMode="External"/><Relationship Id="rId3" Type="http://schemas.openxmlformats.org/officeDocument/2006/relationships/slide" Target="slide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3/karan.chohan.a.real-world.comparison.of.cd3xcd20.bispecific.antibody.28bsab29.html?f=menu%3D6%2Abrowseby%3D8%2Asortby%3D6%2Amedia%3D3%2Ace_id%3D2934%2Aot_id%3D115576%2Amarker%3D6766%2Afeatured%3D20138" TargetMode="External"/><Relationship Id="rId3" Type="http://schemas.openxmlformats.org/officeDocument/2006/relationships/slide" Target="slide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3/karan.chohan.a.real-world.comparison.of.cd3xcd20.bispecific.antibody.28bsab29.html?f=menu%3D6%2Abrowseby%3D8%2Asortby%3D6%2Amedia%3D3%2Ace_id%3D2934%2Aot_id%3D115576%2Amarker%3D6766%2Afeatured%3D20138" TargetMode="External"/><Relationship Id="rId3" Type="http://schemas.openxmlformats.org/officeDocument/2006/relationships/slide" Target="slide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0/mariana.bastos-oreiro.effectiveness.and.safety.of.chimeric.antigen.receptor.html?f=menu%3D6%2Abrowseby%3D8%2Asortby%3D6%2Amedia%3D3%2Ace_id%3D2934%2Aot_id%3D115576%2Amarker%3D6766%2Afeatured%3D20138" TargetMode="External"/><Relationship Id="rId3" Type="http://schemas.openxmlformats.org/officeDocument/2006/relationships/slide" Target="slide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0/mariana.bastos-oreiro.effectiveness.and.safety.of.chimeric.antigen.receptor.html?f=menu%3D6%2Abrowseby%3D8%2Asortby%3D6%2Amedia%3D3%2Ace_id%3D2934%2Aot_id%3D115576%2Amarker%3D6766%2Afeatured%3D20138" TargetMode="External"/><Relationship Id="rId3" Type="http://schemas.openxmlformats.org/officeDocument/2006/relationships/slide" Target="slide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9/sairah.ahmed.a.phase.1.study.of.kite-753.in.patients.28pts29.with.relapsed.html?f=menu%3D6%2Abrowseby%3D8%2Asortby%3D6%2Amedia%3D3%2Ace_id%3D2934%2Aot_id%3D115576%2Amarker%3D6766%2Afeatured%3D20138" TargetMode="External"/><Relationship Id="rId3" Type="http://schemas.openxmlformats.org/officeDocument/2006/relationships/slide" Target="slide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9/sairah.ahmed.a.phase.1.study.of.kite-753.in.patients.28pts29.with.relapsed.html?f=menu%3D6%2Abrowseby%3D8%2Asortby%3D6%2Amedia%3D3%2Ace_id%3D2934%2Aot_id%3D115576%2Amarker%3D6766%2Afeatured%3D20138" TargetMode="External"/><Relationship Id="rId3" Type="http://schemas.openxmlformats.org/officeDocument/2006/relationships/slide" Target="slide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4/celine.liem.feasibility.and.safety.of.rapid.glofitamab.ramp-up.for.the.html?f=menu%3D6%2Abrowseby%3D8%2Asortby%3D6%2Amedia%3D3%2Ace_id%3D2934%2Aot_id%3D115576%2Amarker%3D6766%2Afeatured%3D20138" TargetMode="External"/><Relationship Id="rId3" Type="http://schemas.openxmlformats.org/officeDocument/2006/relationships/slide" Target="slide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4/celine.liem.feasibility.and.safety.of.rapid.glofitamab.ramp-up.for.the.html?f=menu%3D6%2Abrowseby%3D8%2Asortby%3D6%2Amedia%3D3%2Ace_id%3D2934%2Aot_id%3D115576%2Amarker%3D6766%2Afeatured%3D20138" TargetMode="External"/><Relationship Id="rId3" Type="http://schemas.openxmlformats.org/officeDocument/2006/relationships/slide" Target="slide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8/prokop.vodicka.introduction.of.car-t.cell.therapy.dramatically.improved.html?f=menu%3D6%2Abrowseby%3D8%2Asortby%3D6%2Amedia%3D3%2Ace_id%3D2934%2Aot_id%3D115576%2Amarker%3D6766%2Afeatured%3D20138" TargetMode="External"/><Relationship Id="rId3" Type="http://schemas.openxmlformats.org/officeDocument/2006/relationships/slide" Target="slide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8/prokop.vodicka.introduction.of.car-t.cell.therapy.dramatically.improved.html?f=menu%3D6%2Abrowseby%3D8%2Asortby%3D6%2Amedia%3D3%2Ace_id%3D2934%2Aot_id%3D115576%2Amarker%3D6766%2Afeatured%3D20138" TargetMode="External"/><Relationship Id="rId3" Type="http://schemas.openxmlformats.org/officeDocument/2006/relationships/slide" Target="slide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3/peter.vandenberghe.zamtocabtagene.autoleucel.a.tandem.cd20-cd19.directed.car-t.html?f=menu%3D6%2Abrowseby%3D8%2Asortby%3D6%2Amedia%3D3%2Ace_id%3D2934%2Aot_id%3D115576%2Amarker%3D6766%2Afeatured%3D20138" TargetMode="External"/><Relationship Id="rId3" Type="http://schemas.openxmlformats.org/officeDocument/2006/relationships/slide" Target="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3/peter.vandenberghe.zamtocabtagene.autoleucel.a.tandem.cd20-cd19.directed.car-t.html?f=menu%3D6%2Abrowseby%3D8%2Asortby%3D6%2Amedia%3D3%2Ace_id%3D2934%2Aot_id%3D115576%2Amarker%3D6766%2Afeatured%3D20138" TargetMode="External"/><Relationship Id="rId3" Type="http://schemas.openxmlformats.org/officeDocument/2006/relationships/slide" Target="sl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7/lixia.sheng.time-defined.pd-1.blockade.during.early.car-t.contraction.of.il-7.html?f=menu%3D6%2Abrowseby%3D8%2Asortby%3D6%2Amedia%3D3%2Ace_id%3D2934%2Aot_id%3D115576%2Amarker%3D6766%2Afeatured%3D20138" TargetMode="External"/><Relationship Id="rId3" Type="http://schemas.openxmlformats.org/officeDocument/2006/relationships/slide" Target="slide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7/lixia.sheng.time-defined.pd-1.blockade.during.early.car-t.contraction.of.il-7.html?f=menu%3D6%2Abrowseby%3D8%2Asortby%3D6%2Amedia%3D3%2Ace_id%3D2934%2Aot_id%3D115576%2Amarker%3D6766%2Afeatured%3D20138" TargetMode="External"/><Relationship Id="rId3" Type="http://schemas.openxmlformats.org/officeDocument/2006/relationships/slide" Target="slide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4/anna.dodero.impact.of.prior.lines.of.therapy.on.progression.risk.and.html?f=menu%3D6%2Abrowseby%3D8%2Asortby%3D6%2Amedia%3D3%2Ace_id%3D2934%2Aot_id%3D115576%2Amarker%3D6766%2Afeatured%3D20138" TargetMode="External"/><Relationship Id="rId3" Type="http://schemas.openxmlformats.org/officeDocument/2006/relationships/slide" Target="slide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4/anna.dodero.impact.of.prior.lines.of.therapy.on.progression.risk.and.html?f=menu%3D6%2Abrowseby%3D8%2Asortby%3D6%2Amedia%3D3%2Ace_id%3D2934%2Aot_id%3D115576%2Amarker%3D6766%2Afeatured%3D20138" TargetMode="External"/><Relationship Id="rId3" Type="http://schemas.openxmlformats.org/officeDocument/2006/relationships/slide" Target="slide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1/krish.patel.five-year.follow-up.of.patients.with.relapsed.refractory.large.html?f=menu%3D6%2Abrowseby%3D8%2Asortby%3D6%2Amedia%3D3%2Ace_id%3D2934%2Aot_id%3D115576%2Amarker%3D6766%2Afeatured%3D20138" TargetMode="External"/><Relationship Id="rId3" Type="http://schemas.openxmlformats.org/officeDocument/2006/relationships/slide" Target="slide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1/krish.patel.five-year.follow-up.of.patients.with.relapsed.refractory.large.html?f=menu%3D6%2Abrowseby%3D8%2Asortby%3D6%2Amedia%3D3%2Ace_id%3D2934%2Aot_id%3D115576%2Amarker%3D6766%2Afeatured%3D20138" TargetMode="External"/><Relationship Id="rId3" Type="http://schemas.openxmlformats.org/officeDocument/2006/relationships/slide" Target="slide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298/cme.bommier.epcoritamab.home-based.care.pathways.in.relapsed.refractory.dlbcl.html?f=menu%3D6%2Abrowseby%3D8%2Asortby%3D6%2Amedia%3D3%2Ace_id%3D2934%2Aot_id%3D115611%2Amarker%3D6766%2Afeatured%3D20138" TargetMode="External"/><Relationship Id="rId3" Type="http://schemas.openxmlformats.org/officeDocument/2006/relationships/slide" Target="slide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298/cme.bommier.epcoritamab.home-based.care.pathways.in.relapsed.refractory.dlbcl.html?f=menu%3D6%2Abrowseby%3D8%2Asortby%3D6%2Amedia%3D3%2Ace_id%3D2934%2Aot_id%3D115611%2Amarker%3D6766%2Afeatured%3D20138" TargetMode="External"/><Relationship Id="rId3" Type="http://schemas.openxmlformats.org/officeDocument/2006/relationships/slide" Target="slide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28/jing.ruan.hyper-fractionated.radiotherapy.as.a.bridging.strategy.attenuates.html?f=menu%3D6%2Abrowseby%3D8%2Asortby%3D6%2Amedia%3D3%2Ace_id%3D2934%2Aot_id%3D115601%2Amarker%3D6766%2Afeatured%3D20138" TargetMode="External"/><Relationship Id="rId3" Type="http://schemas.openxmlformats.org/officeDocument/2006/relationships/slide" Target="slide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28/jing.ruan.hyper-fractionated.radiotherapy.as.a.bridging.strategy.attenuates.html?f=menu%3D6%2Abrowseby%3D8%2Asortby%3D6%2Amedia%3D3%2Ace_id%3D2934%2Aot_id%3D115601%2Amarker%3D6766%2Afeatured%3D20138" TargetMode="External"/><Relationship Id="rId3" Type="http://schemas.openxmlformats.org/officeDocument/2006/relationships/slide" Target="slide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3/alessandro.broccoli.large.b-cell.lymphoma.treatment.with.loncastuximab.html?f=menu%3D6%2Abrowseby%3D8%2Asortby%3D6%2Amedia%3D3%2Ace_id%3D2934%2Aot_id%3D115576%2Amarker%3D6766%2Afeatured%3D20138" TargetMode="External"/><Relationship Id="rId3" Type="http://schemas.openxmlformats.org/officeDocument/2006/relationships/slide" Target="slide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3/alessandro.broccoli.large.b-cell.lymphoma.treatment.with.loncastuximab.html?f=menu%3D6%2Abrowseby%3D8%2Asortby%3D6%2Amedia%3D3%2Ace_id%3D2934%2Aot_id%3D115576%2Amarker%3D6766%2Afeatured%3D20138" TargetMode="External"/><Relationship Id="rId3" Type="http://schemas.openxmlformats.org/officeDocument/2006/relationships/slide" Target="slide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768/yanli.feng.a.preliminary.study.on.the.safety.and.efficacy.of.intrathecal.html?f=menu%3D6%2Abrowseby%3D8%2Asortby%3D6%2Amedia%3D3%2Ace_id%3D2934%2Aot_id%3D115575%2Amarker%3D6766%2Afeatured%3D20138" TargetMode="External"/><Relationship Id="rId3" Type="http://schemas.openxmlformats.org/officeDocument/2006/relationships/slide" Target="slide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768/yanli.feng.a.preliminary.study.on.the.safety.and.efficacy.of.intrathecal.html?f=menu%3D6%2Abrowseby%3D8%2Asortby%3D6%2Amedia%3D3%2Ace_id%3D2934%2Aot_id%3D115575%2Amarker%3D6766%2Afeatured%3D20138" TargetMode="External"/><Relationship Id="rId3" Type="http://schemas.openxmlformats.org/officeDocument/2006/relationships/slide" Target="slide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89/dok.hyun.yoon.outpatient.treatment.with.glofitamab.plus.gemcitabine.and.html?f=menu%3D6%2Abrowseby%3D8%2Asortby%3D6%2Amedia%3D3%2Ace_id%3D2934%2Aot_id%3D115576%2Amarker%3D6766%2Afeatured%3D20138" TargetMode="External"/><Relationship Id="rId3" Type="http://schemas.openxmlformats.org/officeDocument/2006/relationships/slide" Target="slid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89/dok.hyun.yoon.outpatient.treatment.with.glofitamab.plus.gemcitabine.and.html?f=menu%3D6%2Abrowseby%3D8%2Asortby%3D6%2Amedia%3D3%2Ace_id%3D2934%2Aot_id%3D115576%2Amarker%3D6766%2Afeatured%3D20138" TargetMode="External"/><Relationship Id="rId3" Type="http://schemas.openxmlformats.org/officeDocument/2006/relationships/slide" Target="slide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8/thiago.m.steiner.tumour.microenvironment.archetypes.that.support.anti-tumour.html?f=menu%3D6%2Abrowseby%3D8%2Asortby%3D6%2Amedia%3D3%2Ace_id%3D2934%2Aot_id%3D115595%2Amarker%3D6765%2Afeatured%3D20138" TargetMode="External"/><Relationship Id="rId3" Type="http://schemas.openxmlformats.org/officeDocument/2006/relationships/slide" Target="slide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8/thiago.m.steiner.tumour.microenvironment.archetypes.that.support.anti-tumour.html?f=menu%3D6%2Abrowseby%3D8%2Asortby%3D6%2Amedia%3D3%2Ace_id%3D2934%2Aot_id%3D115595%2Amarker%3D6765%2Afeatured%3D20138" TargetMode="External"/><Relationship Id="rId3" Type="http://schemas.openxmlformats.org/officeDocument/2006/relationships/slide" Target="slide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9055/rebecca.wurm-kuczera.longitudinal.patient-reported.outcomes.highlight.improved.html?f=menu%3D6%2Abrowseby%3D8%2Asortby%3D6%2Amedia%3D3%2Ace_id%3D2934%2Aot_id%3D115610%2Amarker%3D6766%2Afeatured%3D20138" TargetMode="External"/><Relationship Id="rId3" Type="http://schemas.openxmlformats.org/officeDocument/2006/relationships/slide" Target="slide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9055/rebecca.wurm-kuczera.longitudinal.patient-reported.outcomes.highlight.improved.html?f=menu%3D6%2Abrowseby%3D8%2Asortby%3D6%2Amedia%3D3%2Ace_id%3D2934%2Aot_id%3D115610%2Amarker%3D6766%2Afeatured%3D20138" TargetMode="External"/><Relationship Id="rId3" Type="http://schemas.openxmlformats.org/officeDocument/2006/relationships/slide" Target="slide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1/jiayin.he.glofitamab.in.relapsed.refractory.large.b-cell.lymphoma.html?f=menu%3D6%2Abrowseby%3D8%2Asortby%3D6%2Amedia%3D3%2Ace_id%3D2934%2Aot_id%3D115576%2Amarker%3D6766%2Afeatured%3D20138" TargetMode="External"/><Relationship Id="rId3" Type="http://schemas.openxmlformats.org/officeDocument/2006/relationships/slide" Target="slide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1/jiayin.he.glofitamab.in.relapsed.refractory.large.b-cell.lymphoma.html?f=menu%3D6%2Abrowseby%3D8%2Asortby%3D6%2Amedia%3D3%2Ace_id%3D2934%2Aot_id%3D115576%2Amarker%3D6766%2Afeatured%3D20138" TargetMode="External"/><Relationship Id="rId3" Type="http://schemas.openxmlformats.org/officeDocument/2006/relationships/slide" Target="slide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8/yuhong.ren.phase.2.trial.of.glofitamab.polatuzumab.vedotin.and.zanubrutinib.in.html?f=menu%3D6%2Abrowseby%3D8%2Asortby%3D6%2Amedia%3D3%2Ace_id%3D2934%2Aot_id%3D115576%2Amarker%3D6766%2Afeatured%3D20138" TargetMode="External"/><Relationship Id="rId3" Type="http://schemas.openxmlformats.org/officeDocument/2006/relationships/slide" Target="slide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8/yuhong.ren.phase.2.trial.of.glofitamab.polatuzumab.vedotin.and.zanubrutinib.in.html?f=menu%3D6%2Abrowseby%3D8%2Asortby%3D6%2Amedia%3D3%2Ace_id%3D2934%2Aot_id%3D115576%2Amarker%3D6766%2Afeatured%3D20138" TargetMode="External"/><Relationship Id="rId3" Type="http://schemas.openxmlformats.org/officeDocument/2006/relationships/slide" Target="slide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8/zachary.hunzeker.identification.of.an.optimal.absolute.lymphocyte.count.before.html?f=menu%3D6%2Abrowseby%3D8%2Asortby%3D6%2Amedia%3D3%2Ace_id%3D2934%2Aot_id%3D115576%2Amarker%3D6766%2Afeatured%3D20138" TargetMode="External"/><Relationship Id="rId3" Type="http://schemas.openxmlformats.org/officeDocument/2006/relationships/slide" Target="slide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8/zachary.hunzeker.identification.of.an.optimal.absolute.lymphocyte.count.before.html?f=menu%3D6%2Abrowseby%3D8%2Asortby%3D6%2Amedia%3D3%2Ace_id%3D2934%2Aot_id%3D115576%2Amarker%3D6766%2Afeatured%3D20138" TargetMode="External"/><Relationship Id="rId3" Type="http://schemas.openxmlformats.org/officeDocument/2006/relationships/slide" Target="slide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3/umberto.vitolo.fixed-duration.epcoritamab.monotherapy.induces.high.response.html?f=menu%3D6%2Abrowseby%3D8%2Asortby%3D6%2Amedia%3D3%2Ace_id%3D2934%2Aot_id%3D115576%2Amarker%3D6766%2Afeatured%3D20138" TargetMode="External"/><Relationship Id="rId3" Type="http://schemas.openxmlformats.org/officeDocument/2006/relationships/slide" Target="slide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3/umberto.vitolo.fixed-duration.epcoritamab.monotherapy.induces.high.response.html?f=menu%3D6%2Abrowseby%3D8%2Asortby%3D6%2Amedia%3D3%2Ace_id%3D2934%2Aot_id%3D115576%2Amarker%3D6766%2Afeatured%3D20138" TargetMode="External"/><Relationship Id="rId3" Type="http://schemas.openxmlformats.org/officeDocument/2006/relationships/slide" Target="slide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4/giuseppe.gritti.durable.remissions.with.glofitamab.plus.polatuzumab.vedotin.in.html?f=menu%3D6%2Abrowseby%3D8%2Asortby%3D6%2Amedia%3D3%2Ace_id%3D2934%2Aot_id%3D115576%2Amarker%3D6766%2Afeatured%3D20138" TargetMode="External"/><Relationship Id="rId3" Type="http://schemas.openxmlformats.org/officeDocument/2006/relationships/slide" Target="slide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4/giuseppe.gritti.durable.remissions.with.glofitamab.plus.polatuzumab.vedotin.in.html?f=menu%3D6%2Abrowseby%3D8%2Asortby%3D6%2Amedia%3D3%2Ace_id%3D2934%2Aot_id%3D115576%2Amarker%3D6766%2Afeatured%3D20138" TargetMode="External"/><Relationship Id="rId3" Type="http://schemas.openxmlformats.org/officeDocument/2006/relationships/slide" Target="slide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77/stefano.luminari.peripheral.proteomic.signatures.associated.with.cytokine.html?f=menu%3D6%2Abrowseby%3D8%2Asortby%3D6%2Amedia%3D3%2Ace_id%3D2934%2Aot_id%3D115595%2Amarker%3D6766%2Afeatured%3D20138" TargetMode="External"/><Relationship Id="rId3" Type="http://schemas.openxmlformats.org/officeDocument/2006/relationships/slide" Target="slide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77/stefano.luminari.peripheral.proteomic.signatures.associated.with.cytokine.html?f=menu%3D6%2Abrowseby%3D8%2Asortby%3D6%2Amedia%3D3%2Ace_id%3D2934%2Aot_id%3D115595%2Amarker%3D6766%2Afeatured%3D20138" TargetMode="External"/><Relationship Id="rId3" Type="http://schemas.openxmlformats.org/officeDocument/2006/relationships/slide" Target="slide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8/monica.wielgos-bonvallet.reduced.cd20.expression.and.intratumoral.cd32B.t.cells.html?f=menu%3D6%2Abrowseby%3D8%2Asortby%3D6%2Amedia%3D3%2Ace_id%3D2934%2Aot_id%3D115595%2Amarker%3D6766%2Afeatured%3D20138" TargetMode="External"/><Relationship Id="rId3" Type="http://schemas.openxmlformats.org/officeDocument/2006/relationships/slide" Target="slide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8/monica.wielgos-bonvallet.reduced.cd20.expression.and.intratumoral.cd32B.t.cells.html?f=menu%3D6%2Abrowseby%3D8%2Asortby%3D6%2Amedia%3D3%2Ace_id%3D2934%2Aot_id%3D115595%2Amarker%3D6766%2Afeatured%3D20138" TargetMode="External"/><Relationship Id="rId3" Type="http://schemas.openxmlformats.org/officeDocument/2006/relationships/slide" Target="slide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0/william.townsend.total.metabolic.tumor.volume.and.circulating.tumor.dna.as.html?f=menu%3D6%2Abrowseby%3D8%2Asortby%3D6%2Amedia%3D3%2Ace_id%3D2934%2Aot_id%3D115595%2Amarker%3D6766%2Afeatured%3D20138" TargetMode="External"/><Relationship Id="rId3" Type="http://schemas.openxmlformats.org/officeDocument/2006/relationships/slide" Target="slide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0/william.townsend.total.metabolic.tumor.volume.and.circulating.tumor.dna.as.html?f=menu%3D6%2Abrowseby%3D8%2Asortby%3D6%2Amedia%3D3%2Ace_id%3D2934%2Aot_id%3D115595%2Amarker%3D6766%2Afeatured%3D20138" TargetMode="External"/><Relationship Id="rId3" Type="http://schemas.openxmlformats.org/officeDocument/2006/relationships/slide" Target="slide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6/david.belada.epcoritamab.2B.r-mini-chop.results.in.2-year.remissions.and.high.html?f=menu%3D6%2Abrowseby%3D8%2Asortby%3D6%2Amedia%3D3%2Ace_id%3D2934%2Aot_id%3D115576%2Amarker%3D6766%2Afeatured%3D20138" TargetMode="External"/><Relationship Id="rId3" Type="http://schemas.openxmlformats.org/officeDocument/2006/relationships/slide" Target="slide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6/david.belada.epcoritamab.2B.r-mini-chop.results.in.2-year.remissions.and.high.html?f=menu%3D6%2Abrowseby%3D8%2Asortby%3D6%2Amedia%3D3%2Ace_id%3D2934%2Aot_id%3D115576%2Amarker%3D6766%2Afeatured%3D20138" TargetMode="External"/><Relationship Id="rId3" Type="http://schemas.openxmlformats.org/officeDocument/2006/relationships/slide" Target="slide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2/mats.jerkeman.safety.data.and.initial.pooled.efficacy.data.from.the.nordic.html?f=menu%3D6%2Abrowseby%3D8%2Asortby%3D6%2Amedia%3D3%2Ace_id%3D2934%2Aot_id%3D115576%2Amarker%3D6765%2Afeatured%3D20138" TargetMode="External"/><Relationship Id="rId3" Type="http://schemas.openxmlformats.org/officeDocument/2006/relationships/slide" Target="slide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2/mats.jerkeman.safety.data.and.initial.pooled.efficacy.data.from.the.nordic.html?f=menu%3D6%2Abrowseby%3D8%2Asortby%3D6%2Amedia%3D3%2Ace_id%3D2934%2Aot_id%3D115576%2Amarker%3D6765%2Afeatured%3D20138" TargetMode="External"/><Relationship Id="rId3" Type="http://schemas.openxmlformats.org/officeDocument/2006/relationships/slide" Target="slide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5/simon.husby.clonal.hematopoiesis.is.associated.with.persisting.anemia.in.html?f=menu%3D6%2Abrowseby%3D8%2Asortby%3D6%2Amedia%3D3%2Ace_id%3D2934%2Aot_id%3D115595%2Amarker%3D6766%2Afeatured%3D20138" TargetMode="External"/><Relationship Id="rId3" Type="http://schemas.openxmlformats.org/officeDocument/2006/relationships/slide" Target="slide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5/simon.husby.clonal.hematopoiesis.is.associated.with.persisting.anemia.in.html?f=menu%3D6%2Abrowseby%3D8%2Asortby%3D6%2Amedia%3D3%2Ace_id%3D2934%2Aot_id%3D115595%2Amarker%3D6766%2Afeatured%3D20138" TargetMode="External"/><Relationship Id="rId3" Type="http://schemas.openxmlformats.org/officeDocument/2006/relationships/slide" Target="slide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1/liang.wang.real-world.efficacy.safety.and.molecular.characterization.of.html?f=menu%3D6%2Abrowseby%3D8%2Asortby%3D6%2Amedia%3D3%2Ace_id%3D2934%2Aot_id%3D115576%2Amarker%3D6766%2Afeatured%3D20138" TargetMode="External"/><Relationship Id="rId3" Type="http://schemas.openxmlformats.org/officeDocument/2006/relationships/slide" Target="slide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1/liang.wang.real-world.efficacy.safety.and.molecular.characterization.of.html?f=menu%3D6%2Abrowseby%3D8%2Asortby%3D6%2Amedia%3D3%2Ace_id%3D2934%2Aot_id%3D115576%2Amarker%3D6766%2Afeatured%3D20138" TargetMode="External"/><Relationship Id="rId3" Type="http://schemas.openxmlformats.org/officeDocument/2006/relationships/slide" Target="slide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3/wenyu.shi.polatuzumab.vedotin.combined.with.orelabrutinib.and.rituximab.28pro.html?f=menu%3D6%2Abrowseby%3D8%2Asortby%3D6%2Amedia%3D3%2Ace_id%3D2934%2Aot_id%3D115576%2Amarker%3D6766%2Afeatured%3D20138" TargetMode="External"/><Relationship Id="rId3" Type="http://schemas.openxmlformats.org/officeDocument/2006/relationships/slide" Target="slide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3/wenyu.shi.polatuzumab.vedotin.combined.with.orelabrutinib.and.rituximab.28pro.html?f=menu%3D6%2Abrowseby%3D8%2Asortby%3D6%2Amedia%3D3%2Ace_id%3D2934%2Aot_id%3D115576%2Amarker%3D6766%2Afeatured%3D20138" TargetMode="External"/><Relationship Id="rId3" Type="http://schemas.openxmlformats.org/officeDocument/2006/relationships/slide" Target="slide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0/hua-jay.cherng.preliminary.results.from.shorten-ctdna.measurable.residual.html?f=menu%3D6%2Abrowseby%3D8%2Asortby%3D6%2Amedia%3D3%2Ace_id%3D2934%2Aot_id%3D115576%2Amarker%3D6766%2Afeatured%3D20138" TargetMode="External"/><Relationship Id="rId3" Type="http://schemas.openxmlformats.org/officeDocument/2006/relationships/slide" Target="slide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0/hua-jay.cherng.preliminary.results.from.shorten-ctdna.measurable.residual.html?f=menu%3D6%2Abrowseby%3D8%2Asortby%3D6%2Amedia%3D3%2Ace_id%3D2934%2Aot_id%3D115576%2Amarker%3D6766%2Afeatured%3D20138" TargetMode="External"/><Relationship Id="rId3" Type="http://schemas.openxmlformats.org/officeDocument/2006/relationships/slide" Target="slide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1/xi.chen.pola-rchp.for.dlbclpatients.with.extranodal.involvement.real-world.html?f=menu%3D6%2Abrowseby%3D8%2Asortby%3D6%2Amedia%3D3%2Ace_id%3D2934%2Aot_id%3D115576%2Amarker%3D6766%2Afeatured%3D20138" TargetMode="External"/><Relationship Id="rId3" Type="http://schemas.openxmlformats.org/officeDocument/2006/relationships/slide" Target="slide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1/xi.chen.pola-rchp.for.dlbclpatients.with.extranodal.involvement.real-world.html?f=menu%3D6%2Abrowseby%3D8%2Asortby%3D6%2Amedia%3D3%2Ace_id%3D2934%2Aot_id%3D115576%2Amarker%3D6766%2Afeatured%3D20138" TargetMode="External"/><Relationship Id="rId3" Type="http://schemas.openxmlformats.org/officeDocument/2006/relationships/slide" Target="slide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8/na.yao.bruton.tyrosine.kinase.inhibitor.maintenance.therapy.in.first-line.html?f=menu%3D6%2Abrowseby%3D8%2Asortby%3D6%2Amedia%3D3%2Ace_id%3D2934%2Aot_id%3D115576%2Amarker%3D6766%2Afeatured%3D20138" TargetMode="External"/><Relationship Id="rId3" Type="http://schemas.openxmlformats.org/officeDocument/2006/relationships/slide" Target="slide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8/na.yao.bruton.tyrosine.kinase.inhibitor.maintenance.therapy.in.first-line.html?f=menu%3D6%2Abrowseby%3D8%2Asortby%3D6%2Amedia%3D3%2Ace_id%3D2934%2Aot_id%3D115576%2Amarker%3D6766%2Afeatured%3D20138" TargetMode="External"/><Relationship Id="rId3" Type="http://schemas.openxmlformats.org/officeDocument/2006/relationships/slide" Target="slide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4/pengpeng.xu.clinical.characteristics.and.efficacy.of.myc.bcl-2.html?f=menu%3D6%2Abrowseby%3D8%2Asortby%3D6%2Amedia%3D3%2Ace_id%3D2934%2Aot_id%3D115576%2Amarker%3D6766%2Afeatured%3D20138" TargetMode="External"/><Relationship Id="rId3" Type="http://schemas.openxmlformats.org/officeDocument/2006/relationships/slide" Target="slide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4/pengpeng.xu.clinical.characteristics.and.efficacy.of.myc.bcl-2.html?f=menu%3D6%2Abrowseby%3D8%2Asortby%3D6%2Amedia%3D3%2Ace_id%3D2934%2Aot_id%3D115576%2Amarker%3D6766%2Afeatured%3D20138" TargetMode="External"/><Relationship Id="rId3" Type="http://schemas.openxmlformats.org/officeDocument/2006/relationships/slide" Target="slide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6/yang.yang.orelabrutinib.plus.r-chop.for.the.treatment.of.newly.diagnosed.html?f=menu%3D6%2Abrowseby%3D8%2Asortby%3D6%2Amedia%3D3%2Ace_id%3D2934%2Aot_id%3D115576%2Amarker%3D6766%2Afeatured%3D20138" TargetMode="External"/><Relationship Id="rId3" Type="http://schemas.openxmlformats.org/officeDocument/2006/relationships/slide" Target="slide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6/yang.yang.orelabrutinib.plus.r-chop.for.the.treatment.of.newly.diagnosed.html?f=menu%3D6%2Abrowseby%3D8%2Asortby%3D6%2Amedia%3D3%2Ace_id%3D2934%2Aot_id%3D115576%2Amarker%3D6766%2Afeatured%3D20138" TargetMode="External"/><Relationship Id="rId3" Type="http://schemas.openxmlformats.org/officeDocument/2006/relationships/slide" Target="slide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0/mengyuan.liu.reevaluating.the.role.of.autologous.stem.cell.transplantation.in.html?f=menu%3D6%2Abrowseby%3D8%2Asortby%3D6%2Amedia%3D3%2Ace_id%3D2934%2Aot_id%3D115576%2Amarker%3D6766%2Afeatured%3D20138" TargetMode="External"/><Relationship Id="rId3" Type="http://schemas.openxmlformats.org/officeDocument/2006/relationships/slide" Target="slide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0/mengyuan.liu.reevaluating.the.role.of.autologous.stem.cell.transplantation.in.html?f=menu%3D6%2Abrowseby%3D8%2Asortby%3D6%2Amedia%3D3%2Ace_id%3D2934%2Aot_id%3D115576%2Amarker%3D6766%2Afeatured%3D20138" TargetMode="External"/><Relationship Id="rId3" Type="http://schemas.openxmlformats.org/officeDocument/2006/relationships/slide" Target="slide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1/lugui.qiu.birelentinib.demonstrates.manageable.safety.profile.and.universal.html?f=menu%3D6%2Abrowseby%3D8%2Asortby%3D6%2Amedia%3D3%2Ace_id%3D2934%2Aot_id%3D115576%2Amarker%3D6766%2Afeatured%3D20138" TargetMode="External"/><Relationship Id="rId3" Type="http://schemas.openxmlformats.org/officeDocument/2006/relationships/slide" Target="slide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1/lugui.qiu.birelentinib.demonstrates.manageable.safety.profile.and.universal.html?f=menu%3D6%2Abrowseby%3D8%2Asortby%3D6%2Amedia%3D3%2Ace_id%3D2934%2Aot_id%3D115576%2Amarker%3D6766%2Afeatured%3D20138" TargetMode="External"/><Relationship Id="rId3" Type="http://schemas.openxmlformats.org/officeDocument/2006/relationships/slide" Target="slide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0/hyungwoo.cho.phase.i.ii.study.of.zanubrutinib.in.combination.with.rituximab.html?f=menu%3D6%2Abrowseby%3D8%2Asortby%3D6%2Amedia%3D3%2Ace_id%3D2934%2Aot_id%3D115576%2Amarker%3D6766%2Afeatured%3D20138" TargetMode="External"/><Relationship Id="rId3" Type="http://schemas.openxmlformats.org/officeDocument/2006/relationships/slide" Target="slide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0/hyungwoo.cho.phase.i.ii.study.of.zanubrutinib.in.combination.with.rituximab.html?f=menu%3D6%2Abrowseby%3D8%2Asortby%3D6%2Amedia%3D3%2Ace_id%3D2934%2Aot_id%3D115576%2Amarker%3D6766%2Afeatured%3D20138" TargetMode="External"/><Relationship Id="rId3" Type="http://schemas.openxmlformats.org/officeDocument/2006/relationships/slide" Target="slide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2/chunmei.yang.zanubrutinib.plus.r-chop.as.frontline.therapy.for.myd88l265p.html?f=menu%3D6%2Abrowseby%3D8%2Asortby%3D6%2Amedia%3D3%2Ace_id%3D2934%2Aot_id%3D115576%2Amarker%3D6766%2Afeatured%3D20138" TargetMode="External"/><Relationship Id="rId3" Type="http://schemas.openxmlformats.org/officeDocument/2006/relationships/slide" Target="slide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2/chunmei.yang.zanubrutinib.plus.r-chop.as.frontline.therapy.for.myd88l265p.html?f=menu%3D6%2Abrowseby%3D8%2Asortby%3D6%2Amedia%3D3%2Ace_id%3D2934%2Aot_id%3D115576%2Amarker%3D6766%2Afeatured%3D20138" TargetMode="External"/><Relationship Id="rId3" Type="http://schemas.openxmlformats.org/officeDocument/2006/relationships/slide" Target="slide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6/jie.wang.zanubrutinib.plus.r-chop.28zr-chop29.in.non-germinal.center.b-cell-like.html?f=menu%3D6%2Abrowseby%3D8%2Asortby%3D6%2Amedia%3D3%2Ace_id%3D2934%2Aot_id%3D115576%2Amarker%3D6766%2Afeatured%3D20138" TargetMode="External"/><Relationship Id="rId3" Type="http://schemas.openxmlformats.org/officeDocument/2006/relationships/slide" Target="slide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6/jie.wang.zanubrutinib.plus.r-chop.28zr-chop29.in.non-germinal.center.b-cell-like.html?f=menu%3D6%2Abrowseby%3D8%2Asortby%3D6%2Amedia%3D3%2Ace_id%3D2934%2Aot_id%3D115576%2Amarker%3D6766%2Afeatured%3D20138" TargetMode="External"/><Relationship Id="rId3" Type="http://schemas.openxmlformats.org/officeDocument/2006/relationships/slide" Target="slide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3/sirpa.lepp.molecular.surveillance.of.aggressive.large.b-cell.lymphoma.using.html?f=menu%3D6%2Abrowseby%3D8%2Asortby%3D6%2Amedia%3D3%2Ace_id%3D2934%2Aot_id%3D115576%2Amarker%3D6765%2Afeatured%3D20138" TargetMode="External"/><Relationship Id="rId3" Type="http://schemas.openxmlformats.org/officeDocument/2006/relationships/slide" Target="slide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3/sirpa.lepp.molecular.surveillance.of.aggressive.large.b-cell.lymphoma.using.html?f=menu%3D6%2Abrowseby%3D8%2Asortby%3D6%2Amedia%3D3%2Ace_id%3D2934%2Aot_id%3D115576%2Amarker%3D6765%2Afeatured%3D20138" TargetMode="External"/><Relationship Id="rId3" Type="http://schemas.openxmlformats.org/officeDocument/2006/relationships/slide" Target="slide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58/li.li.peripheral.circulating.immune.cell.subsets.prognostic.value.and.html?f=menu%3D6%2Abrowseby%3D8%2Asortby%3D6%2Amedia%3D3%2Ace_id%3D2934%2Aot_id%3D115595%2Amarker%3D6766%2Afeatured%3D20138" TargetMode="External"/><Relationship Id="rId3" Type="http://schemas.openxmlformats.org/officeDocument/2006/relationships/slide" Target="slide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58/li.li.peripheral.circulating.immune.cell.subsets.prognostic.value.and.html?f=menu%3D6%2Abrowseby%3D8%2Asortby%3D6%2Amedia%3D3%2Ace_id%3D2934%2Aot_id%3D115595%2Amarker%3D6766%2Afeatured%3D20138" TargetMode="External"/><Relationship Id="rId3" Type="http://schemas.openxmlformats.org/officeDocument/2006/relationships/slide" Target="slide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41/seok.jin.kim.cd20-positive.extracellular.vesicles.act.as.antigen.decoys.and.html?f=menu%3D6%2Abrowseby%3D8%2Asortby%3D6%2Amedia%3D3%2Ace_id%3D2934%2Aot_id%3D115595%2Amarker%3D6766%2Afeatured%3D20138" TargetMode="External"/><Relationship Id="rId3" Type="http://schemas.openxmlformats.org/officeDocument/2006/relationships/slide" Target="slide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41/seok.jin.kim.cd20-positive.extracellular.vesicles.act.as.antigen.decoys.and.html?f=menu%3D6%2Abrowseby%3D8%2Asortby%3D6%2Amedia%3D3%2Ace_id%3D2934%2Aot_id%3D115595%2Amarker%3D6766%2Afeatured%3D20138" TargetMode="External"/><Relationship Id="rId3" Type="http://schemas.openxmlformats.org/officeDocument/2006/relationships/slide" Target="slide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6/na.yao.contiguous.spread.not.hematogenous.dissemination.rethinking.cns.risk.html?f=menu%3D6%2Abrowseby%3D8%2Asortby%3D6%2Amedia%3D3%2Ace_id%3D2934%2Aot_id%3D115576%2Amarker%3D6766%2Afeatured%3D20138" TargetMode="External"/><Relationship Id="rId3" Type="http://schemas.openxmlformats.org/officeDocument/2006/relationships/slide" Target="slide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6/na.yao.contiguous.spread.not.hematogenous.dissemination.rethinking.cns.risk.html?f=menu%3D6%2Abrowseby%3D8%2Asortby%3D6%2Amedia%3D3%2Ace_id%3D2934%2Aot_id%3D115576%2Amarker%3D6766%2Afeatured%3D20138" TargetMode="External"/><Relationship Id="rId3" Type="http://schemas.openxmlformats.org/officeDocument/2006/relationships/slide" Target="slide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0/andreas-epameinondas.koumpis.serum.mir-155-3p.mir-142-3p.and.mir-22-3p.as.html?f=menu%3D6%2Abrowseby%3D8%2Asortby%3D6%2Amedia%3D3%2Ace_id%3D2934%2Aot_id%3D115576%2Amarker%3D6766%2Afeatured%3D20138" TargetMode="External"/><Relationship Id="rId3" Type="http://schemas.openxmlformats.org/officeDocument/2006/relationships/slide" Target="slide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0/andreas-epameinondas.koumpis.serum.mir-155-3p.mir-142-3p.and.mir-22-3p.as.html?f=menu%3D6%2Abrowseby%3D8%2Asortby%3D6%2Amedia%3D3%2Ace_id%3D2934%2Aot_id%3D115576%2Amarker%3D6766%2Afeatured%3D20138" TargetMode="External"/><Relationship Id="rId3" Type="http://schemas.openxmlformats.org/officeDocument/2006/relationships/slide" Target="slide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4/qingqing.cai.first-line.selinexor.in.combination.with.r-chop.for.ebv-positive.html?f=menu%3D6%2Abrowseby%3D8%2Asortby%3D6%2Amedia%3D3%2Ace_id%3D2934%2Aot_id%3D115576%2Amarker%3D6766%2Afeatured%3D20138" TargetMode="External"/><Relationship Id="rId3" Type="http://schemas.openxmlformats.org/officeDocument/2006/relationships/slide" Target="slide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4/qingqing.cai.first-line.selinexor.in.combination.with.r-chop.for.ebv-positive.html?f=menu%3D6%2Abrowseby%3D8%2Asortby%3D6%2Amedia%3D3%2Ace_id%3D2934%2Aot_id%3D115576%2Amarker%3D6766%2Afeatured%3D20138" TargetMode="External"/><Relationship Id="rId3" Type="http://schemas.openxmlformats.org/officeDocument/2006/relationships/slide" Target="slide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6/zhiming.li.selinexor.in.combination.with.the.r-chop.regimen.as.a.first-line.html?f=menu%3D6%2Abrowseby%3D8%2Asortby%3D6%2Amedia%3D3%2Ace_id%3D2934%2Aot_id%3D115576%2Amarker%3D6766%2Afeatured%3D20138" TargetMode="External"/><Relationship Id="rId3" Type="http://schemas.openxmlformats.org/officeDocument/2006/relationships/slide" Target="slide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6/zhiming.li.selinexor.in.combination.with.the.r-chop.regimen.as.a.first-line.html?f=menu%3D6%2Abrowseby%3D8%2Asortby%3D6%2Amedia%3D3%2Ace_id%3D2934%2Aot_id%3D115576%2Amarker%3D6766%2Afeatured%3D20138" TargetMode="External"/><Relationship Id="rId3" Type="http://schemas.openxmlformats.org/officeDocument/2006/relationships/slide" Target="slide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3/jinhua.liang.profiling.the.csf-ctdna.mutational.landscape.in.a.largecohort.html?f=menu%3D6%2Abrowseby%3D8%2Asortby%3D6%2Amedia%3D3%2Ace_id%3D2934%2Aot_id%3D115576%2Amarker%3D6766%2Afeatured%3D20138" TargetMode="External"/><Relationship Id="rId3" Type="http://schemas.openxmlformats.org/officeDocument/2006/relationships/slide" Target="slide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13/jinhua.liang.profiling.the.csf-ctdna.mutational.landscape.in.a.largecohort.html?f=menu%3D6%2Abrowseby%3D8%2Asortby%3D6%2Amedia%3D3%2Ace_id%3D2934%2Aot_id%3D115576%2Amarker%3D6766%2Afeatured%3D20138" TargetMode="External"/><Relationship Id="rId3" Type="http://schemas.openxmlformats.org/officeDocument/2006/relationships/slide" Target="slide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1/gerhard.held.r-gemox2Bnivolumab.vs.r-gemox.as.2nd-line.therapy.for.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1/gerhard.held.r-gemox2Bnivolumab.vs.r-gemox.as.2nd-line.therapy.for.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9/pengpeng.xu.large-scale.real-world.clinical.characteristics.and.efficacy.of.html?f=menu%3D6%2Abrowseby%3D8%2Asortby%3D6%2Amedia%3D3%2Ace_id%3D2934%2Aot_id%3D115576%2Amarker%3D6766%2Afeatured%3D20138" TargetMode="External"/><Relationship Id="rId3" Type="http://schemas.openxmlformats.org/officeDocument/2006/relationships/slide" Target="slide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9/pengpeng.xu.large-scale.real-world.clinical.characteristics.and.efficacy.of.html?f=menu%3D6%2Abrowseby%3D8%2Asortby%3D6%2Amedia%3D3%2Ace_id%3D2934%2Aot_id%3D115576%2Amarker%3D6766%2Afeatured%3D20138" TargetMode="External"/><Relationship Id="rId3" Type="http://schemas.openxmlformats.org/officeDocument/2006/relationships/slide" Target="slide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3/matthew.r.wilson.high-dose.methotrexate.does.not.reduce.risk.of.cns.relapse.in.html?f=menu%3D6%2Abrowseby%3D8%2Asortby%3D6%2Amedia%3D3%2Ace_id%3D2934%2Aot_id%3D115576%2Amarker%3D6765%2Afeatured%3D20138" TargetMode="External"/><Relationship Id="rId3" Type="http://schemas.openxmlformats.org/officeDocument/2006/relationships/slide" Target="slide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3/matthew.r.wilson.high-dose.methotrexate.does.not.reduce.risk.of.cns.relapse.in.html?f=menu%3D6%2Abrowseby%3D8%2Asortby%3D6%2Amedia%3D3%2Ace_id%3D2934%2Aot_id%3D115576%2Amarker%3D6765%2Afeatured%3D20138" TargetMode="External"/><Relationship Id="rId3" Type="http://schemas.openxmlformats.org/officeDocument/2006/relationships/slide" Target="slide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9085/zahra.haider.evaluating.the.diagnostic.potential.of.comprehensive.plasma.ctdna.html?f=menu%3D6%2Abrowseby%3D8%2Asortby%3D6%2Amedia%3D3%2Ace_id%3D2934%2Aot_id%3D115612%2Amarker%3D6766%2Afeatured%3D20138" TargetMode="External"/><Relationship Id="rId3" Type="http://schemas.openxmlformats.org/officeDocument/2006/relationships/slide" Target="slide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9085/zahra.haider.evaluating.the.diagnostic.potential.of.comprehensive.plasma.ctdna.html?f=menu%3D6%2Abrowseby%3D8%2Asortby%3D6%2Amedia%3D3%2Ace_id%3D2934%2Aot_id%3D115612%2Amarker%3D6766%2Afeatured%3D20138" TargetMode="External"/><Relationship Id="rId3" Type="http://schemas.openxmlformats.org/officeDocument/2006/relationships/slide" Target="slide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0/sven.borchmann.ctdna.sequencing.reveals.mutational.signatures.with.prognostic.html?f=menu%3D6%2Abrowseby%3D8%2Asortby%3D6%2Amedia%3D3%2Ace_id%3D2934%2Aot_id%3D115595%2Amarker%3D6766%2Afeatured%3D20138" TargetMode="External"/><Relationship Id="rId3" Type="http://schemas.openxmlformats.org/officeDocument/2006/relationships/slide" Target="slide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0/sven.borchmann.ctdna.sequencing.reveals.mutational.signatures.with.prognostic.html?f=menu%3D6%2Abrowseby%3D8%2Asortby%3D6%2Amedia%3D3%2Ace_id%3D2934%2Aot_id%3D115595%2Amarker%3D6766%2Afeatured%3D20138" TargetMode="External"/><Relationship Id="rId3" Type="http://schemas.openxmlformats.org/officeDocument/2006/relationships/slide" Target="slide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3/jinghan.wang.plasma.copper.as.prognostic.biomarker.in.diffuse.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3/jinghan.wang.plasma.copper.as.prognostic.biomarker.in.diffuse.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2/massimiliano.marinoni.age-independent.outcomes.and.competing.risk.dynamics.in.html?f=menu%3D6%2Abrowseby%3D8%2Asortby%3D6%2Amedia%3D3%2Ace_id%3D2934%2Aot_id%3D115576%2Amarker%3D6766%2Afeatured%3D20138" TargetMode="External"/><Relationship Id="rId3" Type="http://schemas.openxmlformats.org/officeDocument/2006/relationships/slide" Target="slide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2/massimiliano.marinoni.age-independent.outcomes.and.competing.risk.dynamics.in.html?f=menu%3D6%2Abrowseby%3D8%2Asortby%3D6%2Amedia%3D3%2Ace_id%3D2934%2Aot_id%3D115576%2Amarker%3D6766%2Afeatured%3D20138" TargetMode="External"/><Relationship Id="rId3" Type="http://schemas.openxmlformats.org/officeDocument/2006/relationships/slide" Target="slide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0/amos.bonsdorff.dynamic.changes.in.mononucleosomal.cfdna.profiles.identify.html?f=menu%3D6%2Abrowseby%3D8%2Asortby%3D6%2Amedia%3D3%2Ace_id%3D2934%2Aot_id%3D115576%2Amarker%3D6766%2Afeatured%3D20138" TargetMode="External"/><Relationship Id="rId3" Type="http://schemas.openxmlformats.org/officeDocument/2006/relationships/slide" Target="slide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0/amos.bonsdorff.dynamic.changes.in.mononucleosomal.cfdna.profiles.identify.html?f=menu%3D6%2Abrowseby%3D8%2Asortby%3D6%2Amedia%3D3%2Ace_id%3D2934%2Aot_id%3D115576%2Amarker%3D6766%2Afeatured%3D20138" TargetMode="External"/><Relationship Id="rId3" Type="http://schemas.openxmlformats.org/officeDocument/2006/relationships/slide" Target="slide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9/salvatrice.mancuso.nutritional.parameters.as.prognostic.markers.in.older.html?f=menu%3D6%2Abrowseby%3D8%2Asortby%3D6%2Amedia%3D3%2Ace_id%3D2934%2Aot_id%3D115576%2Amarker%3D6766%2Afeatured%3D20138" TargetMode="External"/><Relationship Id="rId3" Type="http://schemas.openxmlformats.org/officeDocument/2006/relationships/slide" Target="slide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9/salvatrice.mancuso.nutritional.parameters.as.prognostic.markers.in.older.html?f=menu%3D6%2Abrowseby%3D8%2Asortby%3D6%2Amedia%3D3%2Ace_id%3D2934%2Aot_id%3D115576%2Amarker%3D6766%2Afeatured%3D20138" TargetMode="External"/><Relationship Id="rId3" Type="http://schemas.openxmlformats.org/officeDocument/2006/relationships/slide" Target="slide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002/zhengchang.he.earlier.emergence.of.proliferative.cd82B.t.cells.is.associated.html?f=menu%3D6%2Abrowseby%3D8%2Asortby%3D6%2Amedia%3D3%2Ace_id%3D2934%2Aot_id%3D115597%2Amarker%3D6766%2Afeatured%3D20138" TargetMode="External"/><Relationship Id="rId3" Type="http://schemas.openxmlformats.org/officeDocument/2006/relationships/slide" Target="slide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002/zhengchang.he.earlier.emergence.of.proliferative.cd82B.t.cells.is.associated.html?f=menu%3D6%2Abrowseby%3D8%2Asortby%3D6%2Amedia%3D3%2Ace_id%3D2934%2Aot_id%3D115597%2Amarker%3D6766%2Afeatured%3D20138" TargetMode="External"/><Relationship Id="rId3" Type="http://schemas.openxmlformats.org/officeDocument/2006/relationships/slide" Target="slide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95/luca.varga.phased.variants.reveal.proto-oncogene.promoter.hypermutation.and.html?f=menu%3D6%2Abrowseby%3D8%2Asortby%3D6%2Amedia%3D3%2Ace_id%3D2934%2Aot_id%3D115595%2Amarker%3D6766%2Afeatured%3D20138" TargetMode="External"/><Relationship Id="rId3" Type="http://schemas.openxmlformats.org/officeDocument/2006/relationships/slide" Target="slide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95/luca.varga.phased.variants.reveal.proto-oncogene.promoter.hypermutation.and.html?f=menu%3D6%2Abrowseby%3D8%2Asortby%3D6%2Amedia%3D3%2Ace_id%3D2934%2Aot_id%3D115595%2Amarker%3D6766%2Afeatured%3D20138" TargetMode="External"/><Relationship Id="rId3" Type="http://schemas.openxmlformats.org/officeDocument/2006/relationships/slide" Target="slide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78/rebecca.goodhew.pretreatment.ctdna-based.risk.prediction.in.dlbcl.html?f=menu%3D6%2Abrowseby%3D8%2Asortby%3D6%2Amedia%3D3%2Ace_id%3D2934%2Aot_id%3D115595%2Amarker%3D6766%2Afeatured%3D20138" TargetMode="External"/><Relationship Id="rId3" Type="http://schemas.openxmlformats.org/officeDocument/2006/relationships/slide" Target="slide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78/rebecca.goodhew.pretreatment.ctdna-based.risk.prediction.in.dlbcl.html?f=menu%3D6%2Abrowseby%3D8%2Asortby%3D6%2Amedia%3D3%2Ace_id%3D2934%2Aot_id%3D115595%2Amarker%3D6766%2Afeatured%3D20138" TargetMode="External"/><Relationship Id="rId3" Type="http://schemas.openxmlformats.org/officeDocument/2006/relationships/slide" Target="slide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4/sai.huang.metagenomic.study.on.the.dynamic.changes.of.gut.html?f=menu%3D6%2Abrowseby%3D8%2Asortby%3D6%2Amedia%3D3%2Ace_id%3D2934%2Aot_id%3D115576%2Amarker%3D6766%2Afeatured%3D20138" TargetMode="External"/><Relationship Id="rId3" Type="http://schemas.openxmlformats.org/officeDocument/2006/relationships/slide" Target="slide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4/sai.huang.metagenomic.study.on.the.dynamic.changes.of.gut.html?f=menu%3D6%2Abrowseby%3D8%2Asortby%3D6%2Amedia%3D3%2Ace_id%3D2934%2Aot_id%3D115576%2Amarker%3D6766%2Afeatured%3D20138" TargetMode="External"/><Relationship Id="rId3" Type="http://schemas.openxmlformats.org/officeDocument/2006/relationships/slide" Target="slide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1/giulia.bassi.the.predic-to.study.an.international.real-world.cohort.study.of.html?f=menu%3D6%2Abrowseby%3D8%2Asortby%3D6%2Amedia%3D3%2Ace_id%3D2934%2Aot_id%3D115576%2Amarker%3D6766%2Afeatured%3D20138" TargetMode="External"/><Relationship Id="rId3" Type="http://schemas.openxmlformats.org/officeDocument/2006/relationships/slide" Target="slide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1/giulia.bassi.the.predic-to.study.an.international.real-world.cohort.study.of.html?f=menu%3D6%2Abrowseby%3D8%2Asortby%3D6%2Amedia%3D3%2Ace_id%3D2934%2Aot_id%3D115576%2Amarker%3D6766%2Afeatured%3D20138" TargetMode="External"/><Relationship Id="rId3" Type="http://schemas.openxmlformats.org/officeDocument/2006/relationships/slide" Target="slide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1/bertram.glass.polatuzumab.vedotin.plus.rituximab.ifosfamide.carboplatin.html?f=menu%3D6%2Abrowseby%3D8%2Asortby%3D6%2Amedia%3D3%2Ace_id%3D2934%2Aot_id%3D115576%2Amarker%3D6765%2Afeatured%3D20138" TargetMode="External"/><Relationship Id="rId3" Type="http://schemas.openxmlformats.org/officeDocument/2006/relationships/slide" Target="slide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1/bertram.glass.polatuzumab.vedotin.plus.rituximab.ifosfamide.carboplatin.html?f=menu%3D6%2Abrowseby%3D8%2Asortby%3D6%2Amedia%3D3%2Ace_id%3D2934%2Aot_id%3D115576%2Amarker%3D6765%2Afeatured%3D20138" TargetMode="External"/><Relationship Id="rId3" Type="http://schemas.openxmlformats.org/officeDocument/2006/relationships/slide" Target="slide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5/catherine.thieblemont.sustained.remissions.beyond.4.years.with.epcoritamab.html?f=menu%3D6%2Abrowseby%3D8%2Asortby%3D6%2Amedia%3D3%2Ace_id%3D2934%2Aot_id%3D115576%2Amarker%3D6766%2Afeatured%3D20138" TargetMode="External"/><Relationship Id="rId3" Type="http://schemas.openxmlformats.org/officeDocument/2006/relationships/slide" Target="slide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5/catherine.thieblemont.sustained.remissions.beyond.4.years.with.epcoritamab.html?f=menu%3D6%2Abrowseby%3D8%2Asortby%3D6%2Amedia%3D3%2Ace_id%3D2934%2Aot_id%3D115576%2Amarker%3D6766%2Afeatured%3D20138" TargetMode="External"/><Relationship Id="rId3" Type="http://schemas.openxmlformats.org/officeDocument/2006/relationships/slide" Target="slide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0/sarah.m.larson.low-grade.crs.and.icans.with.rondecabtagene.autoleucel.a.html?f=menu%3D6%2Abrowseby%3D8%2Asortby%3D6%2Amedia%3D3%2Ace_id%3D2934%2Aot_id%3D115576%2Amarker%3D6766%2Afeatured%3D20138" TargetMode="External"/><Relationship Id="rId3" Type="http://schemas.openxmlformats.org/officeDocument/2006/relationships/slide" Target="slide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0/sarah.m.larson.low-grade.crs.and.icans.with.rondecabtagene.autoleucel.a.html?f=menu%3D6%2Abrowseby%3D8%2Asortby%3D6%2Amedia%3D3%2Ace_id%3D2934%2Aot_id%3D115576%2Amarker%3D6766%2Afeatured%3D20138" TargetMode="External"/><Relationship Id="rId3" Type="http://schemas.openxmlformats.org/officeDocument/2006/relationships/slide" Target="slide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36/sanfang.tu.a.prospective.single-arm.clinical.study.of.ctdna-guided.early.html?f=menu%3D6%2Abrowseby%3D8%2Asortby%3D6%2Amedia%3D3%2Ace_id%3D2934%2Aot_id%3D115601%2Amarker%3D6766%2Afeatured%3D20138" TargetMode="External"/><Relationship Id="rId3" Type="http://schemas.openxmlformats.org/officeDocument/2006/relationships/slide" Target="slide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36/sanfang.tu.a.prospective.single-arm.clinical.study.of.ctdna-guided.early.html?f=menu%3D6%2Abrowseby%3D8%2Asortby%3D6%2Amedia%3D3%2Ace_id%3D2934%2Aot_id%3D115601%2Amarker%3D6766%2Afeatured%3D20138" TargetMode="External"/><Relationship Id="rId3" Type="http://schemas.openxmlformats.org/officeDocument/2006/relationships/slide" Target="slide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86/akil.merchant.durable.responses.with.rondecabtagene.autoleucel.28dual-targeting.html?f=menu%3D6%2Abrowseby%3D8%2Asortby%3D6%2Amedia%3D3%2Ace_id%3D2934%2Aot_id%3D115595%2Amarker%3D6766%2Afeatured%3D20138" TargetMode="External"/><Relationship Id="rId3" Type="http://schemas.openxmlformats.org/officeDocument/2006/relationships/slide" Target="slide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86/akil.merchant.durable.responses.with.rondecabtagene.autoleucel.28dual-targeting.html?f=menu%3D6%2Abrowseby%3D8%2Asortby%3D6%2Amedia%3D3%2Ace_id%3D2934%2Aot_id%3D115595%2Amarker%3D6766%2Afeatured%3D20138" TargetMode="External"/><Relationship Id="rId3" Type="http://schemas.openxmlformats.org/officeDocument/2006/relationships/slide" Target="slide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3/loic.renaud.real-world.management.and.outcomes.of.pts.with.primary.mediastinal.html?f=menu%3D6%2Abrowseby%3D8%2Asortby%3D6%2Amedia%3D3%2Ace_id%3D2934%2Aot_id%3D115596%2Amarker%3D6766%2Afeatured%3D20138" TargetMode="External"/><Relationship Id="rId3" Type="http://schemas.openxmlformats.org/officeDocument/2006/relationships/slide" Target="slide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3/loic.renaud.real-world.management.and.outcomes.of.pts.with.primary.mediastinal.html?f=menu%3D6%2Abrowseby%3D8%2Asortby%3D6%2Amedia%3D3%2Ace_id%3D2934%2Aot_id%3D115596%2Amarker%3D6766%2Afeatured%3D20138" TargetMode="External"/><Relationship Id="rId3" Type="http://schemas.openxmlformats.org/officeDocument/2006/relationships/slide" Target="slide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9/andrs.jos.mara.ferreri.management.and.outcome.of.secondary.central.nervous.html?f=menu%3D6%2Abrowseby%3D8%2Asortby%3D6%2Amedia%3D3%2Ace_id%3D2934%2Aot_id%3D115596%2Amarker%3D6766%2Afeatured%3D20138" TargetMode="External"/><Relationship Id="rId3" Type="http://schemas.openxmlformats.org/officeDocument/2006/relationships/slide" Target="slide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9/andrs.jos.mara.ferreri.management.and.outcome.of.secondary.central.nervous.html?f=menu%3D6%2Abrowseby%3D8%2Asortby%3D6%2Amedia%3D3%2Ace_id%3D2934%2Aot_id%3D115596%2Amarker%3D6766%2Afeatured%3D20138" TargetMode="External"/><Relationship Id="rId3" Type="http://schemas.openxmlformats.org/officeDocument/2006/relationships/slide" Target="slide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572/alejandro.berkovits.pharmacokinetics.efficacy.and.safety.of.subcutaneous.html?f=menu%3D6%2Abrowseby%3D8%2Asortby%3D6%2Amedia%3D3%2Ace_id%3D2934%2Aot_id%3D115593%2Amarker%3D6766%2Afeatured%3D20138" TargetMode="External"/><Relationship Id="rId3" Type="http://schemas.openxmlformats.org/officeDocument/2006/relationships/slide" Target="slide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572/alejandro.berkovits.pharmacokinetics.efficacy.and.safety.of.subcutaneous.html?f=menu%3D6%2Abrowseby%3D8%2Asortby%3D6%2Amedia%3D3%2Ace_id%3D2934%2Aot_id%3D115593%2Amarker%3D6766%2Afeatured%3D20138" TargetMode="External"/><Relationship Id="rId3" Type="http://schemas.openxmlformats.org/officeDocument/2006/relationships/slide" Target="slide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6/oguzhan.koca.development.and.external.validation.of.a.simple.prognostic.index.html?f=menu%3D6%2Abrowseby%3D8%2Asortby%3D6%2Amedia%3D3%2Ace_id%3D2934%2Aot_id%3D115576%2Amarker%3D6766%2Afeatured%3D20138" TargetMode="External"/><Relationship Id="rId3" Type="http://schemas.openxmlformats.org/officeDocument/2006/relationships/slide" Target="slide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6/oguzhan.koca.development.and.external.validation.of.a.simple.prognostic.index.html?f=menu%3D6%2Abrowseby%3D8%2Asortby%3D6%2Amedia%3D3%2Ace_id%3D2934%2Aot_id%3D115576%2Amarker%3D6766%2Afeatured%3D20138" TargetMode="External"/><Relationship Id="rId3" Type="http://schemas.openxmlformats.org/officeDocument/2006/relationships/slide" Target="slide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2/nathalie.johnson.feasibility.of.prospective.real-time.ctdna.monitoring.in.html?f=menu%3D6%2Abrowseby%3D8%2Asortby%3D6%2Amedia%3D3%2Ace_id%3D2934%2Aot_id%3D115576%2Amarker%3D6766%2Afeatured%3D20138" TargetMode="External"/><Relationship Id="rId3" Type="http://schemas.openxmlformats.org/officeDocument/2006/relationships/slide" Target="slide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2/nathalie.johnson.feasibility.of.prospective.real-time.ctdna.monitoring.in.html?f=menu%3D6%2Abrowseby%3D8%2Asortby%3D6%2Amedia%3D3%2Ace_id%3D2934%2Aot_id%3D115576%2Amarker%3D6766%2Afeatured%3D20138" TargetMode="External"/><Relationship Id="rId3" Type="http://schemas.openxmlformats.org/officeDocument/2006/relationships/slide" Target="slide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9/mariana.bastos-oreiro.axicabtagene.ciloleucel.as.second-line.treatment.in.html?f=menu%3D6%2Abrowseby%3D8%2Asortby%3D6%2Amedia%3D3%2Ace_id%3D2934%2Aot_id%3D115576%2Amarker%3D6766%2Afeatured%3D20138" TargetMode="External"/><Relationship Id="rId3" Type="http://schemas.openxmlformats.org/officeDocument/2006/relationships/slide" Target="slide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9/mariana.bastos-oreiro.axicabtagene.ciloleucel.as.second-line.treatment.in.html?f=menu%3D6%2Abrowseby%3D8%2Asortby%3D6%2Amedia%3D3%2Ace_id%3D2934%2Aot_id%3D115576%2Amarker%3D6766%2Afeatured%3D20138" TargetMode="External"/><Relationship Id="rId3" Type="http://schemas.openxmlformats.org/officeDocument/2006/relationships/slide" Target="slide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13/akhil.khera.baseline.t-cell.repertoire.skewing.and.effector.cd8.t-cell.html?f=menu%3D6%2Abrowseby%3D8%2Asortby%3D6%2Amedia%3D3%2Ace_id%3D2934%2Aot_id%3D115600%2Amarker%3D6766%2Afeatured%3D20138" TargetMode="External"/><Relationship Id="rId3" Type="http://schemas.openxmlformats.org/officeDocument/2006/relationships/slide" Target="slide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13/akhil.khera.baseline.t-cell.repertoire.skewing.and.effector.cd8.t-cell.html?f=menu%3D6%2Abrowseby%3D8%2Asortby%3D6%2Amedia%3D3%2Ace_id%3D2934%2Aot_id%3D115600%2Amarker%3D6766%2Afeatured%3D20138" TargetMode="External"/><Relationship Id="rId3" Type="http://schemas.openxmlformats.org/officeDocument/2006/relationships/slide" Target="slide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7/vt.prochzka.the.phs.w-index.a.novel.prognostic.framework.integrating.html?f=menu%3D6%2Abrowseby%3D8%2Asortby%3D6%2Amedia%3D3%2Ace_id%3D2934%2Aot_id%3D115576%2Amarker%3D6766%2Afeatured%3D20138" TargetMode="External"/><Relationship Id="rId3" Type="http://schemas.openxmlformats.org/officeDocument/2006/relationships/slide" Target="slide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7/vt.prochzka.the.phs.w-index.a.novel.prognostic.framework.integrating.html?f=menu%3D6%2Abrowseby%3D8%2Asortby%3D6%2Amedia%3D3%2Ace_id%3D2934%2Aot_id%3D115576%2Amarker%3D6766%2Afeatured%3D20138" TargetMode="External"/><Relationship Id="rId3" Type="http://schemas.openxmlformats.org/officeDocument/2006/relationships/slide" Target="slide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2/james.paterson.real-world.efficacy.and.safety.of.polatuzumab.vedotin.with.html?f=menu%3D6%2Abrowseby%3D8%2Asortby%3D6%2Amedia%3D3%2Ace_id%3D2934%2Aot_id%3D115576%2Amarker%3D6766%2Afeatured%3D20138" TargetMode="External"/><Relationship Id="rId3" Type="http://schemas.openxmlformats.org/officeDocument/2006/relationships/slide" Target="slide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2/james.paterson.real-world.efficacy.and.safety.of.polatuzumab.vedotin.with.html?f=menu%3D6%2Abrowseby%3D8%2Asortby%3D6%2Amedia%3D3%2Ace_id%3D2934%2Aot_id%3D115576%2Amarker%3D6766%2Afeatured%3D20138" TargetMode="External"/><Relationship Id="rId3" Type="http://schemas.openxmlformats.org/officeDocument/2006/relationships/slide" Target="slide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5/marco.ladetto.primary.analysis.of.the.polatuzumab.vedotin.plus.r-chp.html?f=menu%3D6%2Abrowseby%3D8%2Asortby%3D6%2Amedia%3D3%2Ace_id%3D2934%2Aot_id%3D115576%2Amarker%3D6766%2Afeatured%3D20138" TargetMode="External"/><Relationship Id="rId3" Type="http://schemas.openxmlformats.org/officeDocument/2006/relationships/slide" Target="slide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5/marco.ladetto.primary.analysis.of.the.polatuzumab.vedotin.plus.r-chp.html?f=menu%3D6%2Abrowseby%3D8%2Asortby%3D6%2Amedia%3D3%2Ace_id%3D2934%2Aot_id%3D115576%2Amarker%3D6766%2Afeatured%3D20138" TargetMode="External"/><Relationship Id="rId3" Type="http://schemas.openxmlformats.org/officeDocument/2006/relationships/slide" Target="slide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201/stefan.deneberg.interim.results.of.the.phase.i.ii.study.investigating.html?f=menu%3D6%2Abrowseby%3D8%2Asortby%3D6%2Amedia%3D3%2Ace_id%3D2934%2Aot_id%3D115581%2Amarker%3D6766%2Afeatured%3D20138" TargetMode="External"/><Relationship Id="rId3" Type="http://schemas.openxmlformats.org/officeDocument/2006/relationships/slide" Target="slide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201/stefan.deneberg.interim.results.of.the.phase.i.ii.study.investigating.html?f=menu%3D6%2Abrowseby%3D8%2Asortby%3D6%2Amedia%3D3%2Ace_id%3D2934%2Aot_id%3D115581%2Amarker%3D6766%2Afeatured%3D20138" TargetMode="External"/><Relationship Id="rId3" Type="http://schemas.openxmlformats.org/officeDocument/2006/relationships/slide" Target="slide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0/mengyuan.liu.reevaluating.the.role.of.autologous.stem.cell.transplantation.in.html?f=menu%3D6%2Abrowseby%3D8%2Asortby%3D6%2Amedia%3D3%2Ace_id%3D2934%2Aot_id%3D115576%2Amarker%3D6766%2Afeatured%3D20138" TargetMode="External"/><Relationship Id="rId3" Type="http://schemas.openxmlformats.org/officeDocument/2006/relationships/slide" Target="slide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0/mengyuan.liu.reevaluating.the.role.of.autologous.stem.cell.transplantation.in.html?f=menu%3D6%2Abrowseby%3D8%2Asortby%3D6%2Amedia%3D3%2Ace_id%3D2934%2Aot_id%3D115576%2Amarker%3D6766%2Afeatured%3D20138" TargetMode="External"/><Relationship Id="rId3" Type="http://schemas.openxmlformats.org/officeDocument/2006/relationships/slide" Target="slide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1/josephus.van.rooij.diagnosing.primary.central.nervous.system.lymphoma.through.html?f=menu%3D6%2Abrowseby%3D8%2Asortby%3D6%2Amedia%3D3%2Ace_id%3D2934%2Aot_id%3D115576%2Amarker%3D6765%2Afeatured%3D20138" TargetMode="External"/><Relationship Id="rId3" Type="http://schemas.openxmlformats.org/officeDocument/2006/relationships/slide" Target="slide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1/josephus.van.rooij.diagnosing.primary.central.nervous.system.lymphoma.through.html?f=menu%3D6%2Abrowseby%3D8%2Asortby%3D6%2Amedia%3D3%2Ace_id%3D2934%2Aot_id%3D115576%2Amarker%3D6765%2Afeatured%3D20138" TargetMode="External"/><Relationship Id="rId3" Type="http://schemas.openxmlformats.org/officeDocument/2006/relationships/slide" Target="slide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1/fan.yang.postcar-t.relapse.in.cns-involved.lymphoma.treatment.patterns.and.html?f=menu%3D6%2Abrowseby%3D8%2Asortby%3D6%2Amedia%3D3%2Ace_id%3D2934%2Aot_id%3D115576%2Amarker%3D6766%2Afeatured%3D20138" TargetMode="External"/><Relationship Id="rId3" Type="http://schemas.openxmlformats.org/officeDocument/2006/relationships/slide" Target="slide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1/fan.yang.postcar-t.relapse.in.cns-involved.lymphoma.treatment.patterns.and.html?f=menu%3D6%2Abrowseby%3D8%2Asortby%3D6%2Amedia%3D3%2Ace_id%3D2934%2Aot_id%3D115576%2Amarker%3D6766%2Afeatured%3D20138" TargetMode="External"/><Relationship Id="rId3" Type="http://schemas.openxmlformats.org/officeDocument/2006/relationships/slide" Target="slide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9/andrs.jos.mara.ferreri.management.and.outcome.of.secondary.central.nervous.html?f=menu%3D6%2Abrowseby%3D8%2Asortby%3D6%2Amedia%3D3%2Ace_id%3D2934%2Aot_id%3D115596%2Amarker%3D6766%2Afeatured%3D20138" TargetMode="External"/><Relationship Id="rId3" Type="http://schemas.openxmlformats.org/officeDocument/2006/relationships/slide" Target="slide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9/andrs.jos.mara.ferreri.management.and.outcome.of.secondary.central.nervous.html?f=menu%3D6%2Abrowseby%3D8%2Asortby%3D6%2Amedia%3D3%2Ace_id%3D2934%2Aot_id%3D115596%2Amarker%3D6766%2Afeatured%3D20138" TargetMode="External"/><Relationship Id="rId3" Type="http://schemas.openxmlformats.org/officeDocument/2006/relationships/slide" Target="slide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8/donatella.talotta.genomic.determinants.of.response.and.resistance.to.html?f=menu%3D6%2Abrowseby%3D8%2Asortby%3D6%2Amedia%3D3%2Ace_id%3D2934%2Aot_id%3D115595%2Amarker%3D6766%2Afeatured%3D20138" TargetMode="External"/><Relationship Id="rId3" Type="http://schemas.openxmlformats.org/officeDocument/2006/relationships/slide" Target="slide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8/donatella.talotta.genomic.determinants.of.response.and.resistance.to.html?f=menu%3D6%2Abrowseby%3D8%2Asortby%3D6%2Amedia%3D3%2Ace_id%3D2934%2Aot_id%3D115595%2Amarker%3D6766%2Afeatured%3D20138" TargetMode="External"/><Relationship Id="rId3" Type="http://schemas.openxmlformats.org/officeDocument/2006/relationships/slide" Target="slide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02/liang-tsai.hsiao.real-world.durable.clinical.benefits.of.tirabrutinib.and.its.html?f=menu%3D6%2Abrowseby%3D8%2Asortby%3D6%2Amedia%3D3%2Ace_id%3D2934%2Aot_id%3D115596%2Amarker%3D6766%2Afeatured%3D20138" TargetMode="External"/><Relationship Id="rId3" Type="http://schemas.openxmlformats.org/officeDocument/2006/relationships/slide" Target="slide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02/liang-tsai.hsiao.real-world.durable.clinical.benefits.of.tirabrutinib.and.its.html?f=menu%3D6%2Abrowseby%3D8%2Asortby%3D6%2Amedia%3D3%2Ace_id%3D2934%2Aot_id%3D115596%2Amarker%3D6766%2Afeatured%3D20138" TargetMode="External"/><Relationship Id="rId3" Type="http://schemas.openxmlformats.org/officeDocument/2006/relationships/slide" Target="slide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81/yan.zhang.efficacy.and.safety.of.orelabrutinib.combined.with.sintilimab.in.html?f=menu%3D6%2Abrowseby%3D8%2Asortby%3D6%2Amedia%3D3%2Ace_id%3D2934%2Aot_id%3D115596%2Amarker%3D6766%2Afeatured%3D20138" TargetMode="External"/><Relationship Id="rId3" Type="http://schemas.openxmlformats.org/officeDocument/2006/relationships/slide" Target="slide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81/yan.zhang.efficacy.and.safety.of.orelabrutinib.combined.with.sintilimab.in.html?f=menu%3D6%2Abrowseby%3D8%2Asortby%3D6%2Amedia%3D3%2Ace_id%3D2934%2Aot_id%3D115596%2Amarker%3D6766%2Afeatured%3D20138" TargetMode="External"/><Relationship Id="rId3" Type="http://schemas.openxmlformats.org/officeDocument/2006/relationships/slide" Target="slide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1/lijuan.deng.orelabrutinib.in.patients.with.relapsed.or.refractory.primary.or.html?f=menu%3D6%2Abrowseby%3D8%2Asortby%3D6%2Amedia%3D3%2Ace_id%3D2934%2Aot_id%3D115576%2Amarker%3D6766%2Afeatured%3D20138" TargetMode="External"/><Relationship Id="rId3" Type="http://schemas.openxmlformats.org/officeDocument/2006/relationships/slide" Target="slide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1/lijuan.deng.orelabrutinib.in.patients.with.relapsed.or.refractory.primary.or.html?f=menu%3D6%2Abrowseby%3D8%2Asortby%3D6%2Amedia%3D3%2Ace_id%3D2934%2Aot_id%3D115576%2Amarker%3D6766%2Afeatured%3D20138" TargetMode="External"/><Relationship Id="rId3" Type="http://schemas.openxmlformats.org/officeDocument/2006/relationships/slide" Target="slide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9/chunmei.yang.orelabrutinib.rituximab.and.thiotepa.28ort29.in.combination.with.or.html?f=menu%3D6%2Abrowseby%3D8%2Asortby%3D6%2Amedia%3D3%2Ace_id%3D2934%2Aot_id%3D115576%2Amarker%3D6766%2Afeatured%3D20138" TargetMode="External"/><Relationship Id="rId3" Type="http://schemas.openxmlformats.org/officeDocument/2006/relationships/slide" Target="slide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9/chunmei.yang.orelabrutinib.rituximab.and.thiotepa.28ort29.in.combination.with.or.html?f=menu%3D6%2Abrowseby%3D8%2Asortby%3D6%2Amedia%3D3%2Ace_id%3D2934%2Aot_id%3D115576%2Amarker%3D6766%2Afeatured%3D20138" TargetMode="External"/><Relationship Id="rId3" Type="http://schemas.openxmlformats.org/officeDocument/2006/relationships/slide" Target="slide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5/noriko.fukuhara.efficacy.and.safety.of.tirabrutinib.for.relapsed.or.refractory.html?f=menu%3D6%2Abrowseby%3D8%2Asortby%3D6%2Amedia%3D3%2Ace_id%3D2934%2Aot_id%3D115576%2Amarker%3D6766%2Afeatured%3D20138" TargetMode="External"/><Relationship Id="rId3" Type="http://schemas.openxmlformats.org/officeDocument/2006/relationships/slide" Target="slide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5/noriko.fukuhara.efficacy.and.safety.of.tirabrutinib.for.relapsed.or.refractory.html?f=menu%3D6%2Abrowseby%3D8%2Asortby%3D6%2Amedia%3D3%2Ace_id%3D2934%2Aot_id%3D115576%2Amarker%3D6766%2Afeatured%3D20138" TargetMode="External"/><Relationship Id="rId3" Type="http://schemas.openxmlformats.org/officeDocument/2006/relationships/slide" Target="slide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0/hyungwoo.cho.phase.i.ii.study.of.zanubrutinib.in.combination.with.rituximab.html?f=menu%3D6%2Abrowseby%3D8%2Asortby%3D6%2Amedia%3D3%2Ace_id%3D2934%2Aot_id%3D115576%2Amarker%3D6766%2Afeatured%3D20138" TargetMode="External"/><Relationship Id="rId3" Type="http://schemas.openxmlformats.org/officeDocument/2006/relationships/slide" Target="slide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0/hyungwoo.cho.phase.i.ii.study.of.zanubrutinib.in.combination.with.rituximab.html?f=menu%3D6%2Abrowseby%3D8%2Asortby%3D6%2Amedia%3D3%2Ace_id%3D2934%2Aot_id%3D115576%2Amarker%3D6766%2Afeatured%3D20138" TargetMode="External"/><Relationship Id="rId3" Type="http://schemas.openxmlformats.org/officeDocument/2006/relationships/slide" Target="slide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0/liqun.zou.real-world.efficacy.and.safety.of.the.medz-r.regimen.as.induction.html?f=menu%3D6%2Abrowseby%3D8%2Asortby%3D6%2Amedia%3D3%2Ace_id%3D2934%2Aot_id%3D115576%2Amarker%3D6766%2Afeatured%3D20138" TargetMode="External"/><Relationship Id="rId3" Type="http://schemas.openxmlformats.org/officeDocument/2006/relationships/slide" Target="slide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0/liqun.zou.real-world.efficacy.and.safety.of.the.medz-r.regimen.as.induction.html?f=menu%3D6%2Abrowseby%3D8%2Asortby%3D6%2Amedia%3D3%2Ace_id%3D2934%2Aot_id%3D115576%2Amarker%3D6766%2Afeatured%3D20138" TargetMode="External"/><Relationship Id="rId3" Type="http://schemas.openxmlformats.org/officeDocument/2006/relationships/slide" Target="slide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08/maher.salamoon.12.years.update.on.overall.survival.in.patients.with.primary.html?f=menu%3D6%2Abrowseby%3D8%2Asortby%3D6%2Amedia%3D3%2Ace_id%3D2934%2Aot_id%3D115596%2Amarker%3D6766%2Afeatured%3D20138" TargetMode="External"/><Relationship Id="rId3" Type="http://schemas.openxmlformats.org/officeDocument/2006/relationships/slide" Target="slide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08/maher.salamoon.12.years.update.on.overall.survival.in.patients.with.primary.html?f=menu%3D6%2Abrowseby%3D8%2Asortby%3D6%2Amedia%3D3%2Ace_id%3D2934%2Aot_id%3D115596%2Amarker%3D6766%2Afeatured%3D20138" TargetMode="External"/><Relationship Id="rId3" Type="http://schemas.openxmlformats.org/officeDocument/2006/relationships/slide" Target="slide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5/ji.yun.lee.phase.ii.study.of.lenalidomide.maintenance.after.html?f=menu%3D6%2Abrowseby%3D8%2Asortby%3D6%2Amedia%3D3%2Ace_id%3D2934%2Aot_id%3D115576%2Amarker%3D6766%2Afeatured%3D20138" TargetMode="External"/><Relationship Id="rId3" Type="http://schemas.openxmlformats.org/officeDocument/2006/relationships/slide" Target="slide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5/ji.yun.lee.phase.ii.study.of.lenalidomide.maintenance.after.html?f=menu%3D6%2Abrowseby%3D8%2Asortby%3D6%2Amedia%3D3%2Ace_id%3D2934%2Aot_id%3D115576%2Amarker%3D6766%2Afeatured%3D20138" TargetMode="External"/><Relationship Id="rId3" Type="http://schemas.openxmlformats.org/officeDocument/2006/relationships/slide" Target="slide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3/gerald.illerhaus.the.optimate-trial.an.investigator-initiated.randomized.phase.html?f=menu%3D6%2Abrowseby%3D8%2Asortby%3D6%2Amedia%3D3%2Ace_id%3D2934%2Aot_id%3D115576%2Amarker%3D6766%2Afeatured%3D20138" TargetMode="External"/><Relationship Id="rId3" Type="http://schemas.openxmlformats.org/officeDocument/2006/relationships/slide" Target="slide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3/gerald.illerhaus.the.optimate-trial.an.investigator-initiated.randomized.phase.html?f=menu%3D6%2Abrowseby%3D8%2Asortby%3D6%2Amedia%3D3%2Ace_id%3D2934%2Aot_id%3D115576%2Amarker%3D6766%2Afeatured%3D20138" TargetMode="External"/><Relationship Id="rId3" Type="http://schemas.openxmlformats.org/officeDocument/2006/relationships/slide" Target="slide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5/teresa.calimeri.high.doses.of.methotrexate.and.cytarabine.with.or.without.html?f=menu%3D6%2Abrowseby%3D8%2Asortby%3D6%2Amedia%3D3%2Ace_id%3D2934%2Aot_id%3D115576%2Amarker%3D6766%2Afeatured%3D20138" TargetMode="External"/><Relationship Id="rId3" Type="http://schemas.openxmlformats.org/officeDocument/2006/relationships/slide" Target="slide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5/teresa.calimeri.high.doses.of.methotrexate.and.cytarabine.with.or.without.html?f=menu%3D6%2Abrowseby%3D8%2Asortby%3D6%2Amedia%3D3%2Ace_id%3D2934%2Aot_id%3D115576%2Amarker%3D6766%2Afeatured%3D20138" TargetMode="External"/><Relationship Id="rId3" Type="http://schemas.openxmlformats.org/officeDocument/2006/relationships/slide" Target="slide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37/silvia.escribano.serrat.integrated.multi-omic.profiling.identifies.genomic.html?f=menu%3D6%2Abrowseby%3D8%2Asortby%3D6%2Amedia%3D3%2Ace_id%3D2934%2Aot_id%3D115600%2Amarker%3D6765%2Afeatured%3D20138" TargetMode="External"/><Relationship Id="rId3" Type="http://schemas.openxmlformats.org/officeDocument/2006/relationships/slide" Target="slide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37/silvia.escribano.serrat.integrated.multi-omic.profiling.identifies.genomic.html?f=menu%3D6%2Abrowseby%3D8%2Asortby%3D6%2Amedia%3D3%2Ace_id%3D2934%2Aot_id%3D115600%2Amarker%3D6765%2Afeatured%3D20138" TargetMode="External"/><Relationship Id="rId3" Type="http://schemas.openxmlformats.org/officeDocument/2006/relationships/slide" Target="slide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7/igor.age.kos.favorable.real-world.outcomes.after.cd19.car.t.cell.treatment.in.html?f=menu%3D6%2Abrowseby%3D8%2Asortby%3D6%2Amedia%3D3%2Ace_id%3D2934%2Aot_id%3D115576%2Amarker%3D6765%2Afeatured%3D20138" TargetMode="External"/><Relationship Id="rId3" Type="http://schemas.openxmlformats.org/officeDocument/2006/relationships/slide" Target="slide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7/igor.age.kos.favorable.real-world.outcomes.after.cd19.car.t.cell.treatment.in.html?f=menu%3D6%2Abrowseby%3D8%2Asortby%3D6%2Amedia%3D3%2Ace_id%3D2934%2Aot_id%3D115576%2Amarker%3D6765%2Afeatured%3D20138" TargetMode="External"/><Relationship Id="rId3" Type="http://schemas.openxmlformats.org/officeDocument/2006/relationships/slide" Target="slide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5/ruth.fluemann.comprehensive.analysis.of.bridging.to.car.t-cell.therapy.in.html?f=menu%3D6%2Abrowseby%3D8%2Asortby%3D6%2Amedia%3D3%2Ace_id%3D2934%2Aot_id%3D115576%2Amarker%3D6765%2Afeatured%3D20138" TargetMode="External"/><Relationship Id="rId3" Type="http://schemas.openxmlformats.org/officeDocument/2006/relationships/slide" Target="slide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5/ruth.fluemann.comprehensive.analysis.of.bridging.to.car.t-cell.therapy.in.html?f=menu%3D6%2Abrowseby%3D8%2Asortby%3D6%2Amedia%3D3%2Ace_id%3D2934%2Aot_id%3D115576%2Amarker%3D6765%2Afeatured%3D20138" TargetMode="External"/><Relationship Id="rId3" Type="http://schemas.openxmlformats.org/officeDocument/2006/relationships/slide" Target="slide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4/william.townsend.real.world.experience.of.glofitamab.and.epcoritamab.for.large.html?f=menu%3D6%2Abrowseby%3D8%2Asortby%3D6%2Amedia%3D3%2Ace_id%3D2934%2Aot_id%3D115576%2Amarker%3D6765%2Afeatured%3D20138" TargetMode="External"/><Relationship Id="rId3" Type="http://schemas.openxmlformats.org/officeDocument/2006/relationships/slide" Target="slide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794/william.townsend.real.world.experience.of.glofitamab.and.epcoritamab.for.large.html?f=menu%3D6%2Abrowseby%3D8%2Asortby%3D6%2Amedia%3D3%2Ace_id%3D2934%2Aot_id%3D115576%2Amarker%3D6765%2Afeatured%3D20138" TargetMode="External"/><Relationship Id="rId3" Type="http://schemas.openxmlformats.org/officeDocument/2006/relationships/slide" Target="slide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900/justin.desroches.time.from.car-t.evaluation.to.leukapheresis.in.b-cell.html?f=menu%3D6%2Abrowseby%3D8%2Asortby%3D6%2Amedia%3D3%2Ace_id%3D2934%2Aot_id%3D115601%2Amarker%3D6766%2Afeatured%3D20138" TargetMode="External"/><Relationship Id="rId3" Type="http://schemas.openxmlformats.org/officeDocument/2006/relationships/slide" Target="slide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900/justin.desroches.time.from.car-t.evaluation.to.leukapheresis.in.b-cell.html?f=menu%3D6%2Abrowseby%3D8%2Asortby%3D6%2Amedia%3D3%2Ace_id%3D2934%2Aot_id%3D115601%2Amarker%3D6766%2Afeatured%3D20138" TargetMode="External"/><Relationship Id="rId3" Type="http://schemas.openxmlformats.org/officeDocument/2006/relationships/slide" Target="slide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89/yue.chun.paired.single-cell.analysis.of.starting.material.and.car.t.product.html?f=menu%3D6%2Abrowseby%3D8%2Asortby%3D6%2Amedia%3D3%2Ace_id%3D2934%2Aot_id%3D115601%2Amarker%3D6766%2Afeatured%3D20138" TargetMode="External"/><Relationship Id="rId3" Type="http://schemas.openxmlformats.org/officeDocument/2006/relationships/slide" Target="slide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889/yue.chun.paired.single-cell.analysis.of.starting.material.and.car.t.product.html?f=menu%3D6%2Abrowseby%3D8%2Asortby%3D6%2Amedia%3D3%2Ace_id%3D2934%2Aot_id%3D115601%2Amarker%3D6766%2Afeatured%3D20138" TargetMode="External"/><Relationship Id="rId3" Type="http://schemas.openxmlformats.org/officeDocument/2006/relationships/slide" Target="slide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19/carolina.martinez.laperche.longitudinal.ctdna.dynamics.around.car-t.cell.html?f=menu%3D6%2Abrowseby%3D8%2Asortby%3D6%2Amedia%3D3%2Ace_id%3D2934%2Aot_id%3D115595%2Amarker%3D6766%2Afeatured%3D20138" TargetMode="External"/><Relationship Id="rId3" Type="http://schemas.openxmlformats.org/officeDocument/2006/relationships/slide" Target="slide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19/carolina.martinez.laperche.longitudinal.ctdna.dynamics.around.car-t.cell.html?f=menu%3D6%2Abrowseby%3D8%2Asortby%3D6%2Amedia%3D3%2Ace_id%3D2934%2Aot_id%3D115595%2Amarker%3D6766%2Afeatured%3D20138" TargetMode="External"/><Relationship Id="rId3" Type="http://schemas.openxmlformats.org/officeDocument/2006/relationships/slide" Target="slide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0/giulia.gabrielli.effects.of.antibiotic-exposure.and.levofloxacin-prophylaxis.html?f=menu%3D6%2Abrowseby%3D8%2Asortby%3D6%2Amedia%3D3%2Ace_id%3D2934%2Aot_id%3D115576%2Amarker%3D6766%2Afeatured%3D20138" TargetMode="External"/><Relationship Id="rId3" Type="http://schemas.openxmlformats.org/officeDocument/2006/relationships/slide" Target="slide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0/giulia.gabrielli.effects.of.antibiotic-exposure.and.levofloxacin-prophylaxis.html?f=menu%3D6%2Abrowseby%3D8%2Asortby%3D6%2Amedia%3D3%2Ace_id%3D2934%2Aot_id%3D115576%2Amarker%3D6766%2Afeatured%3D20138" TargetMode="External"/><Relationship Id="rId3" Type="http://schemas.openxmlformats.org/officeDocument/2006/relationships/slide" Target="slide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5/adolfo.jesus.saez.marin.early.siltuximab.rescue.for.persistent.crs.in.patients.html?f=menu%3D6%2Abrowseby%3D8%2Asortby%3D6%2Amedia%3D3%2Ace_id%3D2934%2Aot_id%3D115576%2Amarker%3D6766%2Afeatured%3D20138" TargetMode="External"/><Relationship Id="rId3" Type="http://schemas.openxmlformats.org/officeDocument/2006/relationships/slide" Target="slide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5/adolfo.jesus.saez.marin.early.siltuximab.rescue.for.persistent.crs.in.patients.html?f=menu%3D6%2Abrowseby%3D8%2Asortby%3D6%2Amedia%3D3%2Ace_id%3D2934%2Aot_id%3D115576%2Amarker%3D6766%2Afeatured%3D20138" TargetMode="External"/><Relationship Id="rId3" Type="http://schemas.openxmlformats.org/officeDocument/2006/relationships/slide" Target="slide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2/sara.harrysson.incidence.and.outcome.of.relapsed.refractory.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2/sara.harrysson.incidence.and.outcome.of.relapsed.refractory.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1/lina.kolloch.outcomes.of.second-line.axicabtagene.ciloleucel.and.comparison.to.html?f=menu%3D6%2Abrowseby%3D8%2Asortby%3D6%2Amedia%3D3%2Ace_id%3D2934%2Aot_id%3D115576%2Amarker%3D6766%2Afeatured%3D20138" TargetMode="External"/><Relationship Id="rId3" Type="http://schemas.openxmlformats.org/officeDocument/2006/relationships/slide" Target="slide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1/lina.kolloch.outcomes.of.second-line.axicabtagene.ciloleucel.and.comparison.to.html?f=menu%3D6%2Abrowseby%3D8%2Asortby%3D6%2Amedia%3D3%2Ace_id%3D2934%2Aot_id%3D115576%2Amarker%3D6766%2Afeatured%3D20138" TargetMode="External"/><Relationship Id="rId3" Type="http://schemas.openxmlformats.org/officeDocument/2006/relationships/slide" Target="slide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0/florian.colrat.length.of.stay.healthcare.resourceutilization28hcru29and.html?f=menu%3D6%2Abrowseby%3D8%2Asortby%3D6%2Amedia%3D3%2Ace_id%3D2934%2Aot_id%3D115576%2Amarker%3D6766%2Afeatured%3D20138" TargetMode="External"/><Relationship Id="rId3" Type="http://schemas.openxmlformats.org/officeDocument/2006/relationships/slide" Target="slide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50/florian.colrat.length.of.stay.healthcare.resourceutilization28hcru29and.html?f=menu%3D6%2Abrowseby%3D8%2Asortby%3D6%2Amedia%3D3%2Ace_id%3D2934%2Aot_id%3D115576%2Amarker%3D6766%2Afeatured%3D20138" TargetMode="External"/><Relationship Id="rId3" Type="http://schemas.openxmlformats.org/officeDocument/2006/relationships/slide" Target="slide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7/yumeng.zhang.epcoritamab.in.relapsed.refractory.diffuse.large.b-cell.lymphoma.html?f=menu%3D6%2Abrowseby%3D8%2Asortby%3D6%2Amedia%3D3%2Ace_id%3D2934%2Aot_id%3D115576%2Amarker%3D6766%2Afeatured%3D20138" TargetMode="External"/><Relationship Id="rId3" Type="http://schemas.openxmlformats.org/officeDocument/2006/relationships/slide" Target="slide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7/yumeng.zhang.epcoritamab.in.relapsed.refractory.diffuse.large.b-cell.lymphoma.html?f=menu%3D6%2Abrowseby%3D8%2Asortby%3D6%2Amedia%3D3%2Ace_id%3D2934%2Aot_id%3D115576%2Amarker%3D6766%2Afeatured%3D20138" TargetMode="External"/><Relationship Id="rId3" Type="http://schemas.openxmlformats.org/officeDocument/2006/relationships/slide" Target="slide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2/lingshuang.sheng.impact.of.tp53.mutation.on.cd19-chimeric.antigen.receptor.html?f=menu%3D6%2Abrowseby%3D8%2Asortby%3D6%2Amedia%3D3%2Ace_id%3D2934%2Aot_id%3D115576%2Amarker%3D6766%2Afeatured%3D20138" TargetMode="External"/><Relationship Id="rId3" Type="http://schemas.openxmlformats.org/officeDocument/2006/relationships/slide" Target="slide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2/lingshuang.sheng.impact.of.tp53.mutation.on.cd19-chimeric.antigen.receptor.html?f=menu%3D6%2Abrowseby%3D8%2Asortby%3D6%2Amedia%3D3%2Ace_id%3D2934%2Aot_id%3D115576%2Amarker%3D6766%2Afeatured%3D20138" TargetMode="External"/><Relationship Id="rId3" Type="http://schemas.openxmlformats.org/officeDocument/2006/relationships/slide" Target="slide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3/vladimir.otasevic.comparative.realworld.overall.survival.in.diffuse.large.html?f=menu%3D6%2Abrowseby%3D8%2Asortby%3D6%2Amedia%3D3%2Ace_id%3D2934%2Aot_id%3D115576%2Amarker%3D6766%2Afeatured%3D20138" TargetMode="External"/><Relationship Id="rId3" Type="http://schemas.openxmlformats.org/officeDocument/2006/relationships/slide" Target="slide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3/vladimir.otasevic.comparative.realworld.overall.survival.in.diffuse.large.html?f=menu%3D6%2Abrowseby%3D8%2Asortby%3D6%2Amedia%3D3%2Ace_id%3D2934%2Aot_id%3D115576%2Amarker%3D6766%2Afeatured%3D20138" TargetMode="External"/><Relationship Id="rId3" Type="http://schemas.openxmlformats.org/officeDocument/2006/relationships/slide" Target="slide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2/magdalena.olszewska-szopa.polatuzumab-br.vs.tafasitamab-lenalidomide.in.html?f=menu%3D6%2Abrowseby%3D8%2Asortby%3D6%2Amedia%3D3%2Ace_id%3D2934%2Aot_id%3D115576%2Amarker%3D6766%2Afeatured%3D20138" TargetMode="External"/><Relationship Id="rId3" Type="http://schemas.openxmlformats.org/officeDocument/2006/relationships/slide" Target="slide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2/magdalena.olszewska-szopa.polatuzumab-br.vs.tafasitamab-lenalidomide.in.html?f=menu%3D6%2Abrowseby%3D8%2Asortby%3D6%2Amedia%3D3%2Ace_id%3D2934%2Aot_id%3D115576%2Amarker%3D6766%2Afeatured%3D20138" TargetMode="External"/><Relationship Id="rId3" Type="http://schemas.openxmlformats.org/officeDocument/2006/relationships/slide" Target="slide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3/narendranath.epperla.real-world.comparative.study.of.the.effectiveness.safety.html?f=menu%3D6%2Abrowseby%3D8%2Asortby%3D6%2Amedia%3D3%2Ace_id%3D2934%2Aot_id%3D115576%2Amarker%3D6766%2Afeatured%3D20138" TargetMode="External"/><Relationship Id="rId3" Type="http://schemas.openxmlformats.org/officeDocument/2006/relationships/slide" Target="slide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3/narendranath.epperla.real-world.comparative.study.of.the.effectiveness.safety.html?f=menu%3D6%2Abrowseby%3D8%2Asortby%3D6%2Amedia%3D3%2Ace_id%3D2934%2Aot_id%3D115576%2Amarker%3D6766%2Afeatured%3D20138" TargetMode="External"/><Relationship Id="rId3" Type="http://schemas.openxmlformats.org/officeDocument/2006/relationships/slide" Target="slide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4/mariana.bastos-oreiro.real-world.outcomes.of.axicabtagene.ciloleucel.versus.html?f=menu%3D6%2Abrowseby%3D8%2Asortby%3D6%2Amedia%3D3%2Ace_id%3D2934%2Aot_id%3D115576%2Amarker%3D6766%2Afeatured%3D20138" TargetMode="External"/><Relationship Id="rId3" Type="http://schemas.openxmlformats.org/officeDocument/2006/relationships/slide" Target="slide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4/mariana.bastos-oreiro.real-world.outcomes.of.axicabtagene.ciloleucel.versus.html?f=menu%3D6%2Abrowseby%3D8%2Asortby%3D6%2Amedia%3D3%2Ace_id%3D2934%2Aot_id%3D115576%2Amarker%3D6766%2Afeatured%3D20138" TargetMode="External"/><Relationship Id="rId3" Type="http://schemas.openxmlformats.org/officeDocument/2006/relationships/slide" Target="slide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319/francesco.malaspina.same.ai.different.doctors.expertise.determines.response.to.html?f=menu%3D6%2Abrowseby%3D8%2Asortby%3D6%2Amedia%3D3%2Ace_id%3D2934%2Aot_id%3D115612%2Amarker%3D6766%2Afeatured%3D20138" TargetMode="External"/><Relationship Id="rId3" Type="http://schemas.openxmlformats.org/officeDocument/2006/relationships/slide" Target="slide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319/francesco.malaspina.same.ai.different.doctors.expertise.determines.response.to.html?f=menu%3D6%2Abrowseby%3D8%2Asortby%3D6%2Amedia%3D3%2Ace_id%3D2934%2Aot_id%3D115612%2Amarker%3D6766%2Afeatured%3D20138" TargetMode="External"/><Relationship Id="rId3" Type="http://schemas.openxmlformats.org/officeDocument/2006/relationships/slide" Target="slide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296/emil.kumar.access.and.outcomes.for.2nd.line.axicabtagene.ciloleucel.in.html?f=menu%3D6%2Abrowseby%3D8%2Asortby%3D6%2Amedia%3D3%2Ace_id%3D2934%2Aot_id%3D115611%2Amarker%3D6766%2Afeatured%3D20138" TargetMode="External"/><Relationship Id="rId3" Type="http://schemas.openxmlformats.org/officeDocument/2006/relationships/slide" Target="slide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296/emil.kumar.access.and.outcomes.for.2nd.line.axicabtagene.ciloleucel.in.html?f=menu%3D6%2Abrowseby%3D8%2Asortby%3D6%2Amedia%3D3%2Ace_id%3D2934%2Aot_id%3D115611%2Amarker%3D6766%2Afeatured%3D20138" TargetMode="External"/><Relationship Id="rId3" Type="http://schemas.openxmlformats.org/officeDocument/2006/relationships/slide" Target="slide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205/risa.nishiyama.hbv-dnaguided.monitoring.for.hepatitis.b.virus.reactivation.html?f=menu%3D6%2Abrowseby%3D8%2Asortby%3D6%2Amedia%3D3%2Ace_id%3D2934%2Aot_id%3D115606%2Amarker%3D6766%2Afeatured%3D20138" TargetMode="External"/><Relationship Id="rId3" Type="http://schemas.openxmlformats.org/officeDocument/2006/relationships/slide" Target="slide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205/risa.nishiyama.hbv-dnaguided.monitoring.for.hepatitis.b.virus.reactivation.html?f=menu%3D6%2Abrowseby%3D8%2Asortby%3D6%2Amedia%3D3%2Ace_id%3D2934%2Aot_id%3D115606%2Amarker%3D6766%2Afeatured%3D20138" TargetMode="External"/><Relationship Id="rId3" Type="http://schemas.openxmlformats.org/officeDocument/2006/relationships/slide" Target="slide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41/kye.ling.wong.car-t.fitness.index.28car-fit29.integrating.comorbidity.and.html?f=menu%3D6%2Abrowseby%3D8%2Asortby%3D6%2Amedia%3D3%2Ace_id%3D2934%2Aot_id%3D115601%2Amarker%3D6766%2Afeatured%3D20138" TargetMode="External"/><Relationship Id="rId3" Type="http://schemas.openxmlformats.org/officeDocument/2006/relationships/slide" Target="slide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41/kye.ling.wong.car-t.fitness.index.28car-fit29.integrating.comorbidity.and.html?f=menu%3D6%2Abrowseby%3D8%2Asortby%3D6%2Amedia%3D3%2Ace_id%3D2934%2Aot_id%3D115601%2Amarker%3D6766%2Afeatured%3D20138" TargetMode="External"/><Relationship Id="rId3" Type="http://schemas.openxmlformats.org/officeDocument/2006/relationships/slide" Target="slide2.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37/tomohiro.nagano.pre-treatment.white.matter.changes.on.brain.mri.suggesting.html?f=menu%3D6%2Abrowseby%3D8%2Asortby%3D6%2Amedia%3D3%2Ace_id%3D2934%2Aot_id%3D115601%2Amarker%3D6766%2Afeatured%3D20138" TargetMode="External"/><Relationship Id="rId3" Type="http://schemas.openxmlformats.org/officeDocument/2006/relationships/slide" Target="slide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37/tomohiro.nagano.pre-treatment.white.matter.changes.on.brain.mri.suggesting.html?f=menu%3D6%2Abrowseby%3D8%2Asortby%3D6%2Amedia%3D3%2Ace_id%3D2934%2Aot_id%3D115601%2Amarker%3D6766%2Afeatured%3D20138" TargetMode="External"/><Relationship Id="rId3" Type="http://schemas.openxmlformats.org/officeDocument/2006/relationships/slide" Target="slide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7/shihui.ren.efficacy.of.car-t.cell.therapy.in.double-expressor.tp53-positive.html?f=menu%3D6%2Abrowseby%3D8%2Asortby%3D6%2Amedia%3D3%2Ace_id%3D2934%2Aot_id%3D115576%2Amarker%3D6766%2Afeatured%3D20138" TargetMode="External"/><Relationship Id="rId3" Type="http://schemas.openxmlformats.org/officeDocument/2006/relationships/slide" Target="slide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7/shihui.ren.efficacy.of.car-t.cell.therapy.in.double-expressor.tp53-positive.html?f=menu%3D6%2Abrowseby%3D8%2Asortby%3D6%2Amedia%3D3%2Ace_id%3D2934%2Aot_id%3D115576%2Amarker%3D6766%2Afeatured%3D20138" TargetMode="External"/><Relationship Id="rId3" Type="http://schemas.openxmlformats.org/officeDocument/2006/relationships/slide" Target="slide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5/rebeca.bailen.early.toxicity.of.axicabtagene.ciloleucel.by.line.of.therapy.in.html?f=menu%3D6%2Abrowseby%3D8%2Asortby%3D6%2Amedia%3D3%2Ace_id%3D2934%2Aot_id%3D115576%2Amarker%3D6766%2Afeatured%3D20138" TargetMode="External"/><Relationship Id="rId3" Type="http://schemas.openxmlformats.org/officeDocument/2006/relationships/slide" Target="slide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5/rebeca.bailen.early.toxicity.of.axicabtagene.ciloleucel.by.line.of.therapy.in.html?f=menu%3D6%2Abrowseby%3D8%2Asortby%3D6%2Amedia%3D3%2Ace_id%3D2934%2Aot_id%3D115576%2Amarker%3D6766%2Afeatured%3D20138" TargetMode="External"/><Relationship Id="rId3" Type="http://schemas.openxmlformats.org/officeDocument/2006/relationships/slide" Target="slide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2/catherine.thieblemont.international.expert.consensus.on.real-world.car.t-cell.html?f=menu%3D6%2Abrowseby%3D8%2Asortby%3D6%2Amedia%3D3%2Ace_id%3D2934%2Aot_id%3D115576%2Amarker%3D6766%2Afeatured%3D20138" TargetMode="External"/><Relationship Id="rId3" Type="http://schemas.openxmlformats.org/officeDocument/2006/relationships/slide" Target="slide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2/catherine.thieblemont.international.expert.consensus.on.real-world.car.t-cell.html?f=menu%3D6%2Abrowseby%3D8%2Asortby%3D6%2Amedia%3D3%2Ace_id%3D2934%2Aot_id%3D115576%2Amarker%3D6766%2Afeatured%3D20138" TargetMode="External"/><Relationship Id="rId3" Type="http://schemas.openxmlformats.org/officeDocument/2006/relationships/slide" Target="slide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8/mohamad.sabbah.immune.deficiency.and.infection.risk.following.second.line.html?f=menu%3D6%2Abrowseby%3D8%2Asortby%3D6%2Amedia%3D3%2Ace_id%3D2934%2Aot_id%3D115576%2Amarker%3D6766%2Afeatured%3D20138" TargetMode="External"/><Relationship Id="rId3" Type="http://schemas.openxmlformats.org/officeDocument/2006/relationships/slide" Target="slide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8/mohamad.sabbah.immune.deficiency.and.infection.risk.following.second.line.html?f=menu%3D6%2Abrowseby%3D8%2Asortby%3D6%2Amedia%3D3%2Ace_id%3D2934%2Aot_id%3D115576%2Amarker%3D6766%2Afeatured%3D20138" TargetMode="External"/><Relationship Id="rId3" Type="http://schemas.openxmlformats.org/officeDocument/2006/relationships/slide" Target="slide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4/inna.gong.receipt.of.holding.therapy.is.associated.with.inferior.outcomes.html?f=menu%3D6%2Abrowseby%3D8%2Asortby%3D6%2Amedia%3D3%2Ace_id%3D2934%2Aot_id%3D115576%2Amarker%3D6766%2Afeatured%3D20138" TargetMode="External"/><Relationship Id="rId3" Type="http://schemas.openxmlformats.org/officeDocument/2006/relationships/slide" Target="slide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4/inna.gong.receipt.of.holding.therapy.is.associated.with.inferior.outcomes.html?f=menu%3D6%2Abrowseby%3D8%2Asortby%3D6%2Amedia%3D3%2Ace_id%3D2934%2Aot_id%3D115576%2Amarker%3D6766%2Afeatured%3D20138" TargetMode="External"/><Relationship Id="rId3" Type="http://schemas.openxmlformats.org/officeDocument/2006/relationships/slide" Target="slide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3/javier.munoz.real-world.28rw29.treatment.patterns.and.survival.outcomes.in.html?f=menu%3D6%2Abrowseby%3D8%2Asortby%3D6%2Amedia%3D3%2Ace_id%3D2934%2Aot_id%3D115576%2Amarker%3D6766%2Afeatured%3D20138" TargetMode="External"/><Relationship Id="rId3" Type="http://schemas.openxmlformats.org/officeDocument/2006/relationships/slide" Target="slide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3/javier.munoz.real-world.28rw29.treatment.patterns.and.survival.outcomes.in.html?f=menu%3D6%2Abrowseby%3D8%2Asortby%3D6%2Amedia%3D3%2Ace_id%3D2934%2Aot_id%3D115576%2Amarker%3D6766%2Afeatured%3D20138" TargetMode="External"/><Relationship Id="rId3" Type="http://schemas.openxmlformats.org/officeDocument/2006/relationships/slide" Target="slide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5/filippa.wikstrm.spatial.profiling.of.t.cell.subsets.reveals.distinct.immune.html?f=menu%3D6%2Abrowseby%3D8%2Asortby%3D6%2Amedia%3D3%2Ace_id%3D2934%2Aot_id%3D115595%2Amarker%3D6766%2Afeatured%3D20138" TargetMode="External"/><Relationship Id="rId3" Type="http://schemas.openxmlformats.org/officeDocument/2006/relationships/slide" Target="slide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5/filippa.wikstrm.spatial.profiling.of.t.cell.subsets.reveals.distinct.immune.html?f=menu%3D6%2Abrowseby%3D8%2Asortby%3D6%2Amedia%3D3%2Ace_id%3D2934%2Aot_id%3D115595%2Amarker%3D6766%2Afeatured%3D20138" TargetMode="External"/><Relationship Id="rId3" Type="http://schemas.openxmlformats.org/officeDocument/2006/relationships/slide" Target="slide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8/jia.liu.real-world.efficacy.and.genomic.landscape.of.polatuzuma.vedotin-based.html?f=menu%3D6%2Abrowseby%3D8%2Asortby%3D6%2Amedia%3D3%2Ace_id%3D2934%2Aot_id%3D115576%2Amarker%3D6766%2Afeatured%3D20138" TargetMode="External"/><Relationship Id="rId3" Type="http://schemas.openxmlformats.org/officeDocument/2006/relationships/slide" Target="slide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8/jia.liu.real-world.efficacy.and.genomic.landscape.of.polatuzuma.vedotin-based.html?f=menu%3D6%2Abrowseby%3D8%2Asortby%3D6%2Amedia%3D3%2Ace_id%3D2934%2Aot_id%3D115576%2Amarker%3D6766%2Afeatured%3D20138" TargetMode="External"/><Relationship Id="rId3" Type="http://schemas.openxmlformats.org/officeDocument/2006/relationships/slide" Target="slide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85/ciro.maria.improta.integrated.molecular.and.metabolic.profiling.identifies.html?f=menu%3D6%2Abrowseby%3D8%2Asortby%3D6%2Amedia%3D3%2Ace_id%3D2934%2Aot_id%3D115595%2Amarker%3D6766%2Afeatured%3D20138" TargetMode="External"/><Relationship Id="rId3" Type="http://schemas.openxmlformats.org/officeDocument/2006/relationships/slide" Target="slide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85/ciro.maria.improta.integrated.molecular.and.metabolic.profiling.identifies.html?f=menu%3D6%2Abrowseby%3D8%2Asortby%3D6%2Amedia%3D3%2Ace_id%3D2934%2Aot_id%3D115595%2Amarker%3D6766%2Afeatured%3D20138" TargetMode="External"/><Relationship Id="rId3" Type="http://schemas.openxmlformats.org/officeDocument/2006/relationships/slide" Target="slide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6/li.bao.pola-r-chp.vs.r-epoch.for.frontline.therapy.in.dlbcl.with.extranodal.html?f=menu%3D6%2Abrowseby%3D8%2Asortby%3D6%2Amedia%3D3%2Ace_id%3D2934%2Aot_id%3D115576%2Amarker%3D6766%2Afeatured%3D20138" TargetMode="External"/><Relationship Id="rId3" Type="http://schemas.openxmlformats.org/officeDocument/2006/relationships/slide" Target="slide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6/li.bao.pola-r-chp.vs.r-epoch.for.frontline.therapy.in.dlbcl.with.extranodal.html?f=menu%3D6%2Abrowseby%3D8%2Asortby%3D6%2Amedia%3D3%2Ace_id%3D2934%2Aot_id%3D115576%2Amarker%3D6766%2Afeatured%3D20138" TargetMode="External"/><Relationship Id="rId3" Type="http://schemas.openxmlformats.org/officeDocument/2006/relationships/slide" Target="slide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1/hajime.sakuma.extranodal.metabolic.tumor.volume.identifies.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1/hajime.sakuma.extranodal.metabolic.tumor.volume.identifies.large.bcell.html?f=menu%3D6%2Abrowseby%3D8%2Asortby%3D6%2Amedia%3D3%2Ace_id%3D2934%2Aot_id%3D115576%2Amarker%3D6766%2Afeatured%3D20138" TargetMode="External"/><Relationship Id="rId3" Type="http://schemas.openxmlformats.org/officeDocument/2006/relationships/slide" Target="slide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7/hongyan.tong.risk.factors.for.early.death.and.poor.survival.in.hemophagocytic.html?f=menu%3D6%2Abrowseby%3D8%2Asortby%3D6%2Amedia%3D3%2Ace_id%3D2934%2Aot_id%3D115576%2Amarker%3D6766%2Afeatured%3D20138" TargetMode="External"/><Relationship Id="rId3" Type="http://schemas.openxmlformats.org/officeDocument/2006/relationships/slide" Target="slide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87/hongyan.tong.risk.factors.for.early.death.and.poor.survival.in.hemophagocytic.html?f=menu%3D6%2Abrowseby%3D8%2Asortby%3D6%2Amedia%3D3%2Ace_id%3D2934%2Aot_id%3D115576%2Amarker%3D6766%2Afeatured%3D20138" TargetMode="External"/><Relationship Id="rId3" Type="http://schemas.openxmlformats.org/officeDocument/2006/relationships/slide" Target="slide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15/christina.schniederjohann.spatially.organized.macrophage.phenotypes.define.html?f=menu%3D6%2Abrowseby%3D8%2Asortby%3D6%2Amedia%3D3%2Ace_id%3D2934%2Aot_id%3D115595%2Amarker%3D6766%2Afeatured%3D20138" TargetMode="External"/><Relationship Id="rId3" Type="http://schemas.openxmlformats.org/officeDocument/2006/relationships/slide" Target="slide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15/christina.schniederjohann.spatially.organized.macrophage.phenotypes.define.html?f=menu%3D6%2Abrowseby%3D8%2Asortby%3D6%2Amedia%3D3%2Ace_id%3D2934%2Aot_id%3D115595%2Amarker%3D6766%2Afeatured%3D20138" TargetMode="External"/><Relationship Id="rId3" Type="http://schemas.openxmlformats.org/officeDocument/2006/relationships/slide" Target="slide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9/paw.jensen.impact.ofvincristinedosemodificationsor.html?f=menu%3D6%2Abrowseby%3D8%2Asortby%3D6%2Amedia%3D3%2Ace_id%3D2934%2Aot_id%3D115576%2Amarker%3D6766%2Afeatured%3D20138" TargetMode="External"/><Relationship Id="rId3" Type="http://schemas.openxmlformats.org/officeDocument/2006/relationships/slide" Target="slide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9/paw.jensen.impact.ofvincristinedosemodificationsor.html?f=menu%3D6%2Abrowseby%3D8%2Asortby%3D6%2Amedia%3D3%2Ace_id%3D2934%2Aot_id%3D115576%2Amarker%3D6766%2Afeatured%3D20138" TargetMode="External"/><Relationship Id="rId3" Type="http://schemas.openxmlformats.org/officeDocument/2006/relationships/slide" Target="slide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6/david.j.andorsky.realworld.treatment.patterns.and.outcomes.of.first-line.281l29.html?f=menu%3D6%2Abrowseby%3D8%2Asortby%3D6%2Amedia%3D3%2Ace_id%3D2934%2Aot_id%3D115576%2Amarker%3D6766%2Afeatured%3D20138" TargetMode="External"/><Relationship Id="rId3" Type="http://schemas.openxmlformats.org/officeDocument/2006/relationships/slide" Target="slide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6/david.j.andorsky.realworld.treatment.patterns.and.outcomes.of.first-line.281l29.html?f=menu%3D6%2Abrowseby%3D8%2Asortby%3D6%2Amedia%3D3%2Ace_id%3D2934%2Aot_id%3D115576%2Amarker%3D6766%2Afeatured%3D20138" TargetMode="External"/><Relationship Id="rId3" Type="http://schemas.openxmlformats.org/officeDocument/2006/relationships/slide" Target="slide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8/yingyu.dong.low.expression.of.zfp36l1.predicts.poor.outcomes.and.associates.html?f=menu%3D6%2Abrowseby%3D8%2Asortby%3D6%2Amedia%3D3%2Ace_id%3D2934%2Aot_id%3D115576%2Amarker%3D6766%2Afeatured%3D20138" TargetMode="External"/><Relationship Id="rId3" Type="http://schemas.openxmlformats.org/officeDocument/2006/relationships/slide" Target="slide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8/yingyu.dong.low.expression.of.zfp36l1.predicts.poor.outcomes.and.associates.html?f=menu%3D6%2Abrowseby%3D8%2Asortby%3D6%2Amedia%3D3%2Ace_id%3D2934%2Aot_id%3D115576%2Amarker%3D6766%2Afeatured%3D20138" TargetMode="External"/><Relationship Id="rId3" Type="http://schemas.openxmlformats.org/officeDocument/2006/relationships/slide" Target="slide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2/tom.van.den.bosch.early.outcome.prediction.of.diffuse.large.b-cell.lymphoma.html?f=menu%3D6%2Abrowseby%3D8%2Asortby%3D6%2Amedia%3D3%2Ace_id%3D2934%2Aot_id%3D115595%2Amarker%3D6766%2Afeatured%3D20138" TargetMode="External"/><Relationship Id="rId3" Type="http://schemas.openxmlformats.org/officeDocument/2006/relationships/slide" Target="slide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52/tom.van.den.bosch.early.outcome.prediction.of.diffuse.large.b-cell.lymphoma.html?f=menu%3D6%2Abrowseby%3D8%2Asortby%3D6%2Amedia%3D3%2Ace_id%3D2934%2Aot_id%3D115595%2Amarker%3D6766%2Afeatured%3D20138" TargetMode="External"/><Relationship Id="rId3" Type="http://schemas.openxmlformats.org/officeDocument/2006/relationships/slide" Target="slide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0/natalia.sunarto.outcomes.of.consolidative.radiotherapy.and.survival.in.html?f=menu%3D6%2Abrowseby%3D8%2Asortby%3D6%2Amedia%3D3%2Ace_id%3D2934%2Aot_id%3D115576%2Amarker%3D6766%2Afeatured%3D20138" TargetMode="External"/><Relationship Id="rId3" Type="http://schemas.openxmlformats.org/officeDocument/2006/relationships/slide" Target="slide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10/natalia.sunarto.outcomes.of.consolidative.radiotherapy.and.survival.in.html?f=menu%3D6%2Abrowseby%3D8%2Asortby%3D6%2Amedia%3D3%2Ace_id%3D2934%2Aot_id%3D115576%2Amarker%3D6766%2Afeatured%3D20138" TargetMode="External"/><Relationship Id="rId3" Type="http://schemas.openxmlformats.org/officeDocument/2006/relationships/slide" Target="slide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7/silje.post.strm.addition.of.high-dose.methotrexate.to.standard.first-line.html?f=menu%3D6%2Abrowseby%3D8%2Asortby%3D6%2Amedia%3D3%2Ace_id%3D2934%2Aot_id%3D115576%2Amarker%3D6766%2Afeatured%3D20138" TargetMode="External"/><Relationship Id="rId3" Type="http://schemas.openxmlformats.org/officeDocument/2006/relationships/slide" Target="slide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7/silje.post.strm.addition.of.high-dose.methotrexate.to.standard.first-line.html?f=menu%3D6%2Abrowseby%3D8%2Asortby%3D6%2Amedia%3D3%2Ace_id%3D2934%2Aot_id%3D115576%2Amarker%3D6766%2Afeatured%3D20138" TargetMode="External"/><Relationship Id="rId3" Type="http://schemas.openxmlformats.org/officeDocument/2006/relationships/slide" Target="slide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5/shivam.patel.treatment.access.eliminates.racial.disparities.but.cannot.html?f=menu%3D6%2Abrowseby%3D8%2Asortby%3D6%2Amedia%3D3%2Ace_id%3D2934%2Aot_id%3D115576%2Amarker%3D6766%2Afeatured%3D20138" TargetMode="External"/><Relationship Id="rId3" Type="http://schemas.openxmlformats.org/officeDocument/2006/relationships/slide" Target="slide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5/shivam.patel.treatment.access.eliminates.racial.disparities.but.cannot.html?f=menu%3D6%2Abrowseby%3D8%2Asortby%3D6%2Amedia%3D3%2Ace_id%3D2934%2Aot_id%3D115576%2Amarker%3D6766%2Afeatured%3D20138" TargetMode="External"/><Relationship Id="rId3" Type="http://schemas.openxmlformats.org/officeDocument/2006/relationships/slide" Target="slide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7/henry.kouva.prognostic.value.of.deauville.5-point.scale.assessed.on.pet-ct.html?f=menu%3D6%2Abrowseby%3D8%2Asortby%3D6%2Amedia%3D3%2Ace_id%3D2934%2Aot_id%3D115576%2Amarker%3D6766%2Afeatured%3D20138" TargetMode="External"/><Relationship Id="rId3" Type="http://schemas.openxmlformats.org/officeDocument/2006/relationships/slide" Target="slide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67/henry.kouva.prognostic.value.of.deauville.5-point.scale.assessed.on.pet-ct.html?f=menu%3D6%2Abrowseby%3D8%2Asortby%3D6%2Amedia%3D3%2Ace_id%3D2934%2Aot_id%3D115576%2Amarker%3D6766%2Afeatured%3D20138" TargetMode="External"/><Relationship Id="rId3" Type="http://schemas.openxmlformats.org/officeDocument/2006/relationships/slide" Target="slide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2/jinhua.liang.integrated.clinical.and.genetic.scoring.refines.prognosis.in.dark.html?f=menu%3D6%2Abrowseby%3D8%2Asortby%3D6%2Amedia%3D3%2Ace_id%3D2934%2Aot_id%3D115576%2Amarker%3D6765%2Afeatured%3D20138" TargetMode="External"/><Relationship Id="rId3" Type="http://schemas.openxmlformats.org/officeDocument/2006/relationships/slide" Target="slide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2/jinhua.liang.integrated.clinical.and.genetic.scoring.refines.prognosis.in.dark.html?f=menu%3D6%2Abrowseby%3D8%2Asortby%3D6%2Amedia%3D3%2Ace_id%3D2934%2Aot_id%3D115576%2Amarker%3D6765%2Afeatured%3D20138" TargetMode="External"/><Relationship Id="rId3" Type="http://schemas.openxmlformats.org/officeDocument/2006/relationships/slide" Target="slide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0/nick.veltmaat.circulating.tumor.dna.reveals.lymphoma-associated.mutations.long.html?f=menu%3D6%2Abrowseby%3D8%2Asortby%3D6%2Amedia%3D3%2Ace_id%3D2934%2Aot_id%3D115595%2Amarker%3D6765%2Afeatured%3D20138" TargetMode="External"/><Relationship Id="rId3" Type="http://schemas.openxmlformats.org/officeDocument/2006/relationships/slide" Target="slide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10/nick.veltmaat.circulating.tumor.dna.reveals.lymphoma-associated.mutations.long.html?f=menu%3D6%2Abrowseby%3D8%2Asortby%3D6%2Amedia%3D3%2Ace_id%3D2934%2Aot_id%3D115595%2Amarker%3D6765%2Afeatured%3D20138" TargetMode="External"/><Relationship Id="rId3" Type="http://schemas.openxmlformats.org/officeDocument/2006/relationships/slide" Target="slide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98/lotta.ravattinen.factors.predicting.relapse.after.autologous.hematopoietic.html?f=menu%3D6%2Abrowseby%3D8%2Asortby%3D6%2Amedia%3D3%2Ace_id%3D2934%2Aot_id%3D115598%2Amarker%3D6766%2Afeatured%3D20138" TargetMode="External"/><Relationship Id="rId3" Type="http://schemas.openxmlformats.org/officeDocument/2006/relationships/slide" Target="slide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98/lotta.ravattinen.factors.predicting.relapse.after.autologous.hematopoietic.html?f=menu%3D6%2Abrowseby%3D8%2Asortby%3D6%2Amedia%3D3%2Ace_id%3D2934%2Aot_id%3D115598%2Amarker%3D6766%2Afeatured%3D20138" TargetMode="External"/><Relationship Id="rId3" Type="http://schemas.openxmlformats.org/officeDocument/2006/relationships/slide" Target="slide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57/sarah.elkorashy.the.microbiome-lymphoma.axis.a.systematic.review.and.html?f=menu%3D6%2Abrowseby%3D8%2Asortby%3D6%2Amedia%3D3%2Ace_id%3D2934%2Aot_id%3D115595%2Amarker%3D6766%2Afeatured%3D20138" TargetMode="External"/><Relationship Id="rId3" Type="http://schemas.openxmlformats.org/officeDocument/2006/relationships/slide" Target="slide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57/sarah.elkorashy.the.microbiome-lymphoma.axis.a.systematic.review.and.html?f=menu%3D6%2Abrowseby%3D8%2Asortby%3D6%2Amedia%3D3%2Ace_id%3D2934%2Aot_id%3D115595%2Amarker%3D6766%2Afeatured%3D20138" TargetMode="External"/><Relationship Id="rId3" Type="http://schemas.openxmlformats.org/officeDocument/2006/relationships/slide" Target="slide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9/nikita.kotlov.overlaying.tp53.loss.and.aneuploidy.with.distinct.diffuse.large.html?f=menu%3D6%2Abrowseby%3D8%2Asortby%3D6%2Amedia%3D3%2Ace_id%3D2934%2Aot_id%3D115595%2Amarker%3D6766%2Afeatured%3D20138" TargetMode="External"/><Relationship Id="rId3" Type="http://schemas.openxmlformats.org/officeDocument/2006/relationships/slide" Target="slide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39/nikita.kotlov.overlaying.tp53.loss.and.aneuploidy.with.distinct.diffuse.large.html?f=menu%3D6%2Abrowseby%3D8%2Asortby%3D6%2Amedia%3D3%2Ace_id%3D2934%2Aot_id%3D115595%2Amarker%3D6766%2Afeatured%3D20138" TargetMode="External"/><Relationship Id="rId3" Type="http://schemas.openxmlformats.org/officeDocument/2006/relationships/slide" Target="slide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93/luis.villela.differences.in.outcomes.for.elderly.patients.with.dlbcl.treated.html?f=menu%3D6%2Abrowseby%3D8%2Asortby%3D6%2Amedia%3D3%2Ace_id%3D2934%2Aot_id%3D115596%2Amarker%3D6766%2Afeatured%3D20138" TargetMode="External"/><Relationship Id="rId3" Type="http://schemas.openxmlformats.org/officeDocument/2006/relationships/slide" Target="slide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93/luis.villela.differences.in.outcomes.for.elderly.patients.with.dlbcl.treated.html?f=menu%3D6%2Abrowseby%3D8%2Asortby%3D6%2Amedia%3D3%2Ace_id%3D2934%2Aot_id%3D115596%2Amarker%3D6766%2Afeatured%3D20138" TargetMode="External"/><Relationship Id="rId3" Type="http://schemas.openxmlformats.org/officeDocument/2006/relationships/slide" Target="slide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4/antonios.balantinakis.extranodal.involvement.and.site-specific.survival.in.html?f=menu%3D6%2Abrowseby%3D8%2Asortby%3D6%2Amedia%3D3%2Ace_id%3D2934%2Aot_id%3D115576%2Amarker%3D6766%2Afeatured%3D20138" TargetMode="External"/><Relationship Id="rId3" Type="http://schemas.openxmlformats.org/officeDocument/2006/relationships/slide" Target="slide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4/antonios.balantinakis.extranodal.involvement.and.site-specific.survival.in.html?f=menu%3D6%2Abrowseby%3D8%2Asortby%3D6%2Amedia%3D3%2Ace_id%3D2934%2Aot_id%3D115576%2Amarker%3D6766%2Afeatured%3D20138" TargetMode="External"/><Relationship Id="rId3" Type="http://schemas.openxmlformats.org/officeDocument/2006/relationships/slide" Target="slide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7/yoshimasa.kamoda.a.fully.objective.3variable.prognostic.score.for.diffuse.html?f=menu%3D6%2Abrowseby%3D8%2Asortby%3D6%2Amedia%3D3%2Ace_id%3D2934%2Aot_id%3D115576%2Amarker%3D6766%2Afeatured%3D20138" TargetMode="External"/><Relationship Id="rId3" Type="http://schemas.openxmlformats.org/officeDocument/2006/relationships/slide" Target="slide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7/yoshimasa.kamoda.a.fully.objective.3variable.prognostic.score.for.diffuse.html?f=menu%3D6%2Abrowseby%3D8%2Asortby%3D6%2Amedia%3D3%2Ace_id%3D2934%2Aot_id%3D115576%2Amarker%3D6766%2Afeatured%3D20138" TargetMode="External"/><Relationship Id="rId3" Type="http://schemas.openxmlformats.org/officeDocument/2006/relationships/slide" Target="slide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1/junlei.jia.clinical.genetic.and.immune.microenvironmental.landscapes.of.html?f=menu%3D6%2Abrowseby%3D8%2Asortby%3D6%2Amedia%3D3%2Ace_id%3D2934%2Aot_id%3D115596%2Amarker%3D6765%2Afeatured%3D20138" TargetMode="External"/><Relationship Id="rId3" Type="http://schemas.openxmlformats.org/officeDocument/2006/relationships/slide" Target="slide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1/junlei.jia.clinical.genetic.and.immune.microenvironmental.landscapes.of.html?f=menu%3D6%2Abrowseby%3D8%2Asortby%3D6%2Amedia%3D3%2Ace_id%3D2934%2Aot_id%3D115596%2Amarker%3D6765%2Afeatured%3D20138" TargetMode="External"/><Relationship Id="rId3" Type="http://schemas.openxmlformats.org/officeDocument/2006/relationships/slide" Target="slide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93/takahiro.haeno.clonal.complexity.defines.distinct.tumor-intrinsic.biology.and.html?f=menu%3D6%2Abrowseby%3D8%2Asortby%3D6%2Amedia%3D3%2Ace_id%3D2934%2Aot_id%3D115595%2Amarker%3D6766%2Afeatured%3D20138" TargetMode="External"/><Relationship Id="rId3" Type="http://schemas.openxmlformats.org/officeDocument/2006/relationships/slide" Target="slide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93/takahiro.haeno.clonal.complexity.defines.distinct.tumor-intrinsic.biology.and.html?f=menu%3D6%2Abrowseby%3D8%2Asortby%3D6%2Amedia%3D3%2Ace_id%3D2934%2Aot_id%3D115595%2Amarker%3D6766%2Afeatured%3D20138" TargetMode="External"/><Relationship Id="rId3" Type="http://schemas.openxmlformats.org/officeDocument/2006/relationships/slide" Target="slide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63/ariadna.colmenero.genomic.architecture.of.irf4.rearrangements.in.children.and.html?f=menu%3D6%2Abrowseby%3D8%2Asortby%3D6%2Amedia%3D3%2Ace_id%3D2934%2Aot_id%3D115595%2Amarker%3D6766%2Afeatured%3D20138" TargetMode="External"/><Relationship Id="rId3" Type="http://schemas.openxmlformats.org/officeDocument/2006/relationships/slide" Target="slide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63/ariadna.colmenero.genomic.architecture.of.irf4.rearrangements.in.children.and.html?f=menu%3D6%2Abrowseby%3D8%2Asortby%3D6%2Amedia%3D3%2Ace_id%3D2934%2Aot_id%3D115595%2Amarker%3D6766%2Afeatured%3D20138" TargetMode="External"/><Relationship Id="rId3" Type="http://schemas.openxmlformats.org/officeDocument/2006/relationships/slide" Target="slide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60/tom.van.den.bosch.chromosome.8q.copy.number.gain.predicts.early.relapse.in.html?f=menu%3D6%2Abrowseby%3D8%2Asortby%3D6%2Amedia%3D3%2Ace_id%3D2934%2Aot_id%3D115595%2Amarker%3D6766%2Afeatured%3D20138" TargetMode="External"/><Relationship Id="rId3" Type="http://schemas.openxmlformats.org/officeDocument/2006/relationships/slide" Target="slide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60/tom.van.den.bosch.chromosome.8q.copy.number.gain.predicts.early.relapse.in.html?f=menu%3D6%2Abrowseby%3D8%2Asortby%3D6%2Amedia%3D3%2Ace_id%3D2934%2Aot_id%3D115595%2Amarker%3D6766%2Afeatured%3D20138" TargetMode="External"/><Relationship Id="rId3" Type="http://schemas.openxmlformats.org/officeDocument/2006/relationships/slide" Target="slide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5/shaoying.li.the.clinical.significance.of.myc.bcl6.fusion.in.myc.bcl6.double.html?f=menu%3D6%2Abrowseby%3D8%2Asortby%3D6%2Amedia%3D3%2Ace_id%3D2934%2Aot_id%3D115576%2Amarker%3D6766%2Afeatured%3D20138" TargetMode="External"/><Relationship Id="rId3" Type="http://schemas.openxmlformats.org/officeDocument/2006/relationships/slide" Target="slide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5/shaoying.li.the.clinical.significance.of.myc.bcl6.fusion.in.myc.bcl6.double.html?f=menu%3D6%2Abrowseby%3D8%2Asortby%3D6%2Amedia%3D3%2Ace_id%3D2934%2Aot_id%3D115576%2Amarker%3D6766%2Afeatured%3D20138" TargetMode="External"/><Relationship Id="rId3" Type="http://schemas.openxmlformats.org/officeDocument/2006/relationships/slide" Target="slide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64/william.mlgaard.ullahammer.temporal.trends.in.infection-related.proportional.html?f=menu%3D6%2Abrowseby%3D8%2Asortby%3D6%2Amedia%3D3%2Ace_id%3D2934%2Aot_id%3D115606%2Amarker%3D6765%2Afeatured%3D20138" TargetMode="External"/><Relationship Id="rId3" Type="http://schemas.openxmlformats.org/officeDocument/2006/relationships/slide" Target="slide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64/william.mlgaard.ullahammer.temporal.trends.in.infection-related.proportional.html?f=menu%3D6%2Abrowseby%3D8%2Asortby%3D6%2Amedia%3D3%2Ace_id%3D2934%2Aot_id%3D115606%2Amarker%3D6765%2Afeatured%3D20138" TargetMode="External"/><Relationship Id="rId3" Type="http://schemas.openxmlformats.org/officeDocument/2006/relationships/slide" Target="slide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4/federico.erbella.allogeneic.hematopoietic.stem.cell.transplant.as.html?f=menu%3D6%2Abrowseby%3D8%2Asortby%3D6%2Amedia%3D3%2Ace_id%3D2934%2Aot_id%3D115576%2Amarker%3D6766%2Afeatured%3D20138" TargetMode="External"/><Relationship Id="rId3" Type="http://schemas.openxmlformats.org/officeDocument/2006/relationships/slide" Target="slide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74/federico.erbella.allogeneic.hematopoietic.stem.cell.transplant.as.html?f=menu%3D6%2Abrowseby%3D8%2Asortby%3D6%2Amedia%3D3%2Ace_id%3D2934%2Aot_id%3D115576%2Amarker%3D6766%2Afeatured%3D20138" TargetMode="External"/><Relationship Id="rId3" Type="http://schemas.openxmlformats.org/officeDocument/2006/relationships/slide" Target="slide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302/kuan-der.lee.cost-effectiveness.of.axicabtagene.ciloleucel.in.taiwanese.html?f=menu%3D6%2Abrowseby%3D8%2Asortby%3D6%2Amedia%3D3%2Ace_id%3D2934%2Aot_id%3D115611%2Amarker%3D6766%2Afeatured%3D20138" TargetMode="External"/><Relationship Id="rId3" Type="http://schemas.openxmlformats.org/officeDocument/2006/relationships/slide" Target="slide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302/kuan-der.lee.cost-effectiveness.of.axicabtagene.ciloleucel.in.taiwanese.html?f=menu%3D6%2Abrowseby%3D8%2Asortby%3D6%2Amedia%3D3%2Ace_id%3D2934%2Aot_id%3D115611%2Amarker%3D6766%2Afeatured%3D20138" TargetMode="External"/><Relationship Id="rId3" Type="http://schemas.openxmlformats.org/officeDocument/2006/relationships/slide" Target="slide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8/giuseppe.gritti.risk.for.cytokine.release.syndrome.in.patients.with.large.html?f=menu%3D6%2Abrowseby%3D8%2Asortby%3D6%2Amedia%3D3%2Ace_id%3D2934%2Aot_id%3D115576%2Amarker%3D6766%2Afeatured%3D20138" TargetMode="External"/><Relationship Id="rId3" Type="http://schemas.openxmlformats.org/officeDocument/2006/relationships/slide" Target="slide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8/giuseppe.gritti.risk.for.cytokine.release.syndrome.in.patients.with.large.html?f=menu%3D6%2Abrowseby%3D8%2Asortby%3D6%2Amedia%3D3%2Ace_id%3D2934%2Aot_id%3D115576%2Amarker%3D6766%2Afeatured%3D20138" TargetMode="External"/><Relationship Id="rId3" Type="http://schemas.openxmlformats.org/officeDocument/2006/relationships/slide" Target="slide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4/xia.zhao.high.proportion.of.intratumoral.tcf12B.t-cells.predicts.favorable.html?f=menu%3D6%2Abrowseby%3D8%2Asortby%3D6%2Amedia%3D3%2Ace_id%3D2934%2Aot_id%3D115576%2Amarker%3D6766%2Afeatured%3D20138" TargetMode="External"/><Relationship Id="rId3" Type="http://schemas.openxmlformats.org/officeDocument/2006/relationships/slide" Target="slide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74/xia.zhao.high.proportion.of.intratumoral.tcf12B.t-cells.predicts.favorable.html?f=menu%3D6%2Abrowseby%3D8%2Asortby%3D6%2Amedia%3D3%2Ace_id%3D2934%2Aot_id%3D115576%2Amarker%3D6766%2Afeatured%3D20138" TargetMode="External"/><Relationship Id="rId3" Type="http://schemas.openxmlformats.org/officeDocument/2006/relationships/slide" Target="slide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51/yasuhiro.suzuki.clinical.and.biological.characteristics.of.mature.aggressive.html?f=menu%3D6%2Abrowseby%3D8%2Asortby%3D6%2Amedia%3D3%2Ace_id%3D2934%2Aot_id%3D115595%2Amarker%3D6766%2Afeatured%3D20138" TargetMode="External"/><Relationship Id="rId3" Type="http://schemas.openxmlformats.org/officeDocument/2006/relationships/slide" Target="slide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51/yasuhiro.suzuki.clinical.and.biological.characteristics.of.mature.aggressive.html?f=menu%3D6%2Abrowseby%3D8%2Asortby%3D6%2Amedia%3D3%2Ace_id%3D2934%2Aot_id%3D115595%2Amarker%3D6766%2Afeatured%3D20138" TargetMode="External"/><Relationship Id="rId3" Type="http://schemas.openxmlformats.org/officeDocument/2006/relationships/slide" Target="slide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45/kayleen.shi.going.for.seconds.clinical.outcomes.and.response.predictors.html?f=menu%3D6%2Abrowseby%3D8%2Asortby%3D6%2Amedia%3D3%2Ace_id%3D2934%2Aot_id%3D115601%2Amarker%3D6766%2Afeatured%3D20138" TargetMode="External"/><Relationship Id="rId3" Type="http://schemas.openxmlformats.org/officeDocument/2006/relationships/slide" Target="slide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45/kayleen.shi.going.for.seconds.clinical.outcomes.and.response.predictors.html?f=menu%3D6%2Abrowseby%3D8%2Asortby%3D6%2Amedia%3D3%2Ace_id%3D2934%2Aot_id%3D115601%2Amarker%3D6766%2Afeatured%3D20138" TargetMode="External"/><Relationship Id="rId3" Type="http://schemas.openxmlformats.org/officeDocument/2006/relationships/slide" Target="slide2.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9/allison.bock.impact.of.baseline.neutrophil-to-lymphocyte.ratio.28nlr29.on.html?f=menu%3D6%2Abrowseby%3D8%2Asortby%3D6%2Amedia%3D3%2Ace_id%3D2934%2Aot_id%3D115576%2Amarker%3D6766%2Afeatured%3D20138" TargetMode="External"/><Relationship Id="rId3" Type="http://schemas.openxmlformats.org/officeDocument/2006/relationships/slide" Target="slide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9/allison.bock.impact.of.baseline.neutrophil-to-lymphocyte.ratio.28nlr29.on.html?f=menu%3D6%2Abrowseby%3D8%2Asortby%3D6%2Amedia%3D3%2Ace_id%3D2934%2Aot_id%3D115576%2Amarker%3D6766%2Afeatured%3D20138" TargetMode="External"/><Relationship Id="rId3" Type="http://schemas.openxmlformats.org/officeDocument/2006/relationships/slide" Target="slide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6/kristina.noring.infection.rates.in.patients.treated.with.car-t.versus.html?f=menu%3D6%2Abrowseby%3D8%2Asortby%3D6%2Amedia%3D3%2Ace_id%3D2934%2Aot_id%3D115576%2Amarker%3D6766%2Afeatured%3D20138" TargetMode="External"/><Relationship Id="rId3" Type="http://schemas.openxmlformats.org/officeDocument/2006/relationships/slide" Target="slide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36/kristina.noring.infection.rates.in.patients.treated.with.car-t.versus.html?f=menu%3D6%2Abrowseby%3D8%2Asortby%3D6%2Amedia%3D3%2Ace_id%3D2934%2Aot_id%3D115576%2Amarker%3D6766%2Afeatured%3D20138" TargetMode="External"/><Relationship Id="rId3" Type="http://schemas.openxmlformats.org/officeDocument/2006/relationships/slide" Target="slide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5/thomas.melchardt.real-world.outcomes.of.glofitamab.plus.gemcitabine.and.html?f=menu%3D6%2Abrowseby%3D8%2Asortby%3D6%2Amedia%3D3%2Ace_id%3D2934%2Aot_id%3D115576%2Amarker%3D6766%2Afeatured%3D20138" TargetMode="External"/><Relationship Id="rId3" Type="http://schemas.openxmlformats.org/officeDocument/2006/relationships/slide" Target="slide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25/thomas.melchardt.real-world.outcomes.of.glofitamab.plus.gemcitabine.and.html?f=menu%3D6%2Abrowseby%3D8%2Asortby%3D6%2Amedia%3D3%2Ace_id%3D2934%2Aot_id%3D115576%2Amarker%3D6766%2Afeatured%3D20138" TargetMode="External"/><Relationship Id="rId3" Type="http://schemas.openxmlformats.org/officeDocument/2006/relationships/slide" Target="slide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6/emmanuel.bachy.development.and.validation.of.car-ipi.a.machine.learningderived.html?f=menu%3D6%2Abrowseby%3D8%2Asortby%3D6%2Amedia%3D3%2Ace_id%3D2934%2Aot_id%3D115576%2Amarker%3D6766%2Afeatured%3D20138" TargetMode="External"/><Relationship Id="rId3" Type="http://schemas.openxmlformats.org/officeDocument/2006/relationships/slide" Target="slide2.xml"/></Relationships>
</file>

<file path=ppt/slides/_rels/slide3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66/emmanuel.bachy.development.and.validation.of.car-ipi.a.machine.learningderived.html?f=menu%3D6%2Abrowseby%3D8%2Asortby%3D6%2Amedia%3D3%2Ace_id%3D2934%2Aot_id%3D115576%2Amarker%3D6766%2Afeatured%3D20138" TargetMode="External"/><Relationship Id="rId3" Type="http://schemas.openxmlformats.org/officeDocument/2006/relationships/slide" Target="slide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34/liang.wang.secondary.peripheral.t-cell.lymphoma.in.a.patient.of.dlbcl.html?f=menu%3D6%2Abrowseby%3D8%2Asortby%3D6%2Amedia%3D3%2Ace_id%3D2934%2Aot_id%3D115601%2Amarker%3D6766%2Afeatured%3D20138" TargetMode="External"/><Relationship Id="rId3" Type="http://schemas.openxmlformats.org/officeDocument/2006/relationships/slide" Target="slide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134/liang.wang.secondary.peripheral.t-cell.lymphoma.in.a.patient.of.dlbcl.html?f=menu%3D6%2Abrowseby%3D8%2Asortby%3D6%2Amedia%3D3%2Ace_id%3D2934%2Aot_id%3D115601%2Amarker%3D6766%2Afeatured%3D20138" TargetMode="External"/><Relationship Id="rId3" Type="http://schemas.openxmlformats.org/officeDocument/2006/relationships/slide" Target="slide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3/nicole-ann.lim.real-world.asian.multi-centre.cohort.study.on.outcomes.of.html?f=menu%3D6%2Abrowseby%3D8%2Asortby%3D6%2Amedia%3D3%2Ace_id%3D2934%2Aot_id%3D115576%2Amarker%3D6766%2Afeatured%3D20138" TargetMode="External"/><Relationship Id="rId3" Type="http://schemas.openxmlformats.org/officeDocument/2006/relationships/slide" Target="slide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93/nicole-ann.lim.real-world.asian.multi-centre.cohort.study.on.outcomes.of.html?f=menu%3D6%2Abrowseby%3D8%2Asortby%3D6%2Amedia%3D3%2Ace_id%3D2934%2Aot_id%3D115576%2Amarker%3D6766%2Afeatured%3D20138" TargetMode="External"/><Relationship Id="rId3" Type="http://schemas.openxmlformats.org/officeDocument/2006/relationships/slide" Target="slide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9/nawar.maher.dynamics.and.clinical.impact.of.clonal.hematopoiesis.in.diffuse.html?f=menu%3D6%2Abrowseby%3D8%2Asortby%3D6%2Amedia%3D3%2Ace_id%3D2934%2Aot_id%3D115595%2Amarker%3D6765%2Afeatured%3D20138" TargetMode="External"/><Relationship Id="rId3" Type="http://schemas.openxmlformats.org/officeDocument/2006/relationships/slide" Target="slide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9/nawar.maher.dynamics.and.clinical.impact.of.clonal.hematopoiesis.in.diffuse.html?f=menu%3D6%2Abrowseby%3D8%2Asortby%3D6%2Amedia%3D3%2Ace_id%3D2934%2Aot_id%3D115595%2Amarker%3D6765%2Afeatured%3D20138" TargetMode="External"/><Relationship Id="rId3" Type="http://schemas.openxmlformats.org/officeDocument/2006/relationships/slide" Target="slide2.xml"/></Relationships>
</file>

<file path=ppt/slides/_rels/slide3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2/xinzhu.tang.development.of.a.prognostic.model.incorporating.plasma.ebv-dna.html?f=menu%3D6%2Abrowseby%3D8%2Asortby%3D6%2Amedia%3D3%2Ace_id%3D2934%2Aot_id%3D115576%2Amarker%3D6766%2Afeatured%3D20138" TargetMode="External"/><Relationship Id="rId3" Type="http://schemas.openxmlformats.org/officeDocument/2006/relationships/slide" Target="slide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2/xinzhu.tang.development.of.a.prognostic.model.incorporating.plasma.ebv-dna.html?f=menu%3D6%2Abrowseby%3D8%2Asortby%3D6%2Amedia%3D3%2Ace_id%3D2934%2Aot_id%3D115576%2Amarker%3D6766%2Afeatured%3D20138" TargetMode="External"/><Relationship Id="rId3" Type="http://schemas.openxmlformats.org/officeDocument/2006/relationships/slide" Target="slide2.xml"/></Relationships>
</file>

<file path=ppt/slides/_rels/slide3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4/he.huang.the.real-world.efficacy.ofbrutons.tyrosine.kinaseinhibitors.plus.html?f=menu%3D6%2Abrowseby%3D8%2Asortby%3D6%2Amedia%3D3%2Ace_id%3D2934%2Aot_id%3D115596%2Amarker%3D6766%2Afeatured%3D20138" TargetMode="External"/><Relationship Id="rId3" Type="http://schemas.openxmlformats.org/officeDocument/2006/relationships/slide" Target="slide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24/he.huang.the.real-world.efficacy.ofbrutons.tyrosine.kinaseinhibitors.plus.html?f=menu%3D6%2Abrowseby%3D8%2Asortby%3D6%2Amedia%3D3%2Ace_id%3D2934%2Aot_id%3D115596%2Amarker%3D6766%2Afeatured%3D20138" TargetMode="External"/><Relationship Id="rId3" Type="http://schemas.openxmlformats.org/officeDocument/2006/relationships/slide" Target="slide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5/leon.d.kaulen.a.disease.specific.prognostic.score.for.html?f=menu%3D6%2Abrowseby%3D8%2Asortby%3D6%2Amedia%3D3%2Ace_id%3D2934%2Aot_id%3D115576%2Amarker%3D6766%2Afeatured%3D20138" TargetMode="External"/><Relationship Id="rId3" Type="http://schemas.openxmlformats.org/officeDocument/2006/relationships/slide" Target="slide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7955/leon.d.kaulen.a.disease.specific.prognostic.score.for.html?f=menu%3D6%2Abrowseby%3D8%2Asortby%3D6%2Amedia%3D3%2Ace_id%3D2934%2Aot_id%3D115576%2Amarker%3D6766%2Afeatured%3D20138" TargetMode="External"/><Relationship Id="rId3" Type="http://schemas.openxmlformats.org/officeDocument/2006/relationships/slide" Target="slide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36/rosa.rios.facility-level.differences.translate.into.lives.lost.elderly.primary.html?f=menu%3D6%2Abrowseby%3D8%2Asortby%3D6%2Amedia%3D3%2Ace_id%3D2934%2Aot_id%3D115596%2Amarker%3D6766%2Afeatured%3D20138" TargetMode="External"/><Relationship Id="rId3" Type="http://schemas.openxmlformats.org/officeDocument/2006/relationships/slide" Target="slide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36/rosa.rios.facility-level.differences.translate.into.lives.lost.elderly.primary.html?f=menu%3D6%2Abrowseby%3D8%2Asortby%3D6%2Amedia%3D3%2Ace_id%3D2934%2Aot_id%3D115596%2Amarker%3D6766%2Afeatured%3D20138" TargetMode="External"/><Relationship Id="rId3" Type="http://schemas.openxmlformats.org/officeDocument/2006/relationships/slide" Target="slide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4/fleur.de.groot.brain-lym.defining.immune-molecular.phenotypes.in.primary.cns.html?f=menu%3D6%2Abrowseby%3D8%2Asortby%3D6%2Amedia%3D3%2Ace_id%3D2934%2Aot_id%3D115595%2Amarker%3D6765%2Afeatured%3D20138" TargetMode="External"/><Relationship Id="rId3" Type="http://schemas.openxmlformats.org/officeDocument/2006/relationships/slide" Target="slide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804/fleur.de.groot.brain-lym.defining.immune-molecular.phenotypes.in.primary.cns.html?f=menu%3D6%2Abrowseby%3D8%2Asortby%3D6%2Amedia%3D3%2Ace_id%3D2934%2Aot_id%3D115595%2Amarker%3D6765%2Afeatured%3D20138" TargetMode="External"/><Relationship Id="rId3" Type="http://schemas.openxmlformats.org/officeDocument/2006/relationships/slide" Target="slide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86/xudong.zhang.autologous.hematopoietic.stem.cell.transplantation.combined.with.html?f=menu%3D6%2Abrowseby%3D8%2Asortby%3D6%2Amedia%3D3%2Ace_id%3D2934%2Aot_id%3D115598%2Amarker%3D6766%2Afeatured%3D20138" TargetMode="External"/><Relationship Id="rId3" Type="http://schemas.openxmlformats.org/officeDocument/2006/relationships/slide" Target="slide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86/xudong.zhang.autologous.hematopoietic.stem.cell.transplantation.combined.with.html?f=menu%3D6%2Abrowseby%3D8%2Asortby%3D6%2Amedia%3D3%2Ace_id%3D2934%2Aot_id%3D115598%2Amarker%3D6766%2Afeatured%3D20138" TargetMode="External"/><Relationship Id="rId3" Type="http://schemas.openxmlformats.org/officeDocument/2006/relationships/slide" Target="slide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3/lin.fu.glofitamab.monotherapy.or.combination.therapy.in.patients.with.relapsed.html?f=menu%3D6%2Abrowseby%3D8%2Asortby%3D6%2Amedia%3D3%2Ace_id%3D2934%2Aot_id%3D115576%2Amarker%3D6766%2Afeatured%3D20138" TargetMode="External"/><Relationship Id="rId3" Type="http://schemas.openxmlformats.org/officeDocument/2006/relationships/slide" Target="slide2.xml"/></Relationships>
</file>

<file path=ppt/slides/_rels/slide3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643/lin.fu.glofitamab.monotherapy.or.combination.therapy.in.patients.with.relapsed.html?f=menu%3D6%2Abrowseby%3D8%2Asortby%3D6%2Amedia%3D3%2Ace_id%3D2934%2Aot_id%3D115576%2Amarker%3D6766%2Afeatured%3D20138" TargetMode="External"/><Relationship Id="rId3" Type="http://schemas.openxmlformats.org/officeDocument/2006/relationships/slide" Target="slide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0/yupiao.feng.development.and.validation.of.a.clinicopathological.prognostic.html?f=menu%3D6%2Abrowseby%3D8%2Asortby%3D6%2Amedia%3D3%2Ace_id%3D2934%2Aot_id%3D115576%2Amarker%3D6766%2Afeatured%3D20138" TargetMode="External"/><Relationship Id="rId3" Type="http://schemas.openxmlformats.org/officeDocument/2006/relationships/slide" Target="slide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0/yupiao.feng.development.and.validation.of.a.clinicopathological.prognostic.html?f=menu%3D6%2Abrowseby%3D8%2Asortby%3D6%2Amedia%3D3%2Ace_id%3D2934%2Aot_id%3D115576%2Amarker%3D6766%2Afeatured%3D20138" TargetMode="External"/><Relationship Id="rId3" Type="http://schemas.openxmlformats.org/officeDocument/2006/relationships/slide" Target="slide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98/lotta.ravattinen.factors.predicting.relapse.after.autologous.hematopoietic.html?f=menu%3D6%2Abrowseby%3D8%2Asortby%3D6%2Amedia%3D3%2Ace_id%3D2934%2Aot_id%3D115598%2Amarker%3D6766%2Afeatured%3D20138" TargetMode="External"/><Relationship Id="rId3" Type="http://schemas.openxmlformats.org/officeDocument/2006/relationships/slide" Target="slide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8798/lotta.ravattinen.factors.predicting.relapse.after.autologous.hematopoietic.html?f=menu%3D6%2Abrowseby%3D8%2Asortby%3D6%2Amedia%3D3%2Ace_id%3D2934%2Aot_id%3D115598%2Amarker%3D6766%2Afeatured%3D20138" TargetMode="External"/><Relationship Id="rId3" Type="http://schemas.openxmlformats.org/officeDocument/2006/relationships/slide" Target="slide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9/lena-marie.poczka.flow.cytometry.of.vitrectomy.samples.as.a.diagnostic.tool.in.html?f=menu%3D6%2Abrowseby%3D8%2Asortby%3D6%2Amedia%3D3%2Ace_id%3D2934%2Aot_id%3D115576%2Amarker%3D6766%2Afeatured%3D20138" TargetMode="External"/><Relationship Id="rId3" Type="http://schemas.openxmlformats.org/officeDocument/2006/relationships/slide" Target="slide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6909/lena-marie.poczka.flow.cytometry.of.vitrectomy.samples.as.a.diagnostic.tool.in.html?f=menu%3D6%2Abrowseby%3D8%2Asortby%3D6%2Amedia%3D3%2Ace_id%3D2934%2Aot_id%3D115576%2Amarker%3D6766%2Afeatured%3D20138" TargetMode="External"/><Relationship Id="rId3" Type="http://schemas.openxmlformats.org/officeDocument/2006/relationships/slide" Target="slide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9065/bor-sheng.ko.cost-effectiveness.of.axicabtagene.ciloleucel.for.treating.html?f=menu%3D6%2Abrowseby%3D8%2Asortby%3D6%2Amedia%3D3%2Ace_id%3D2934%2Aot_id%3D115611%2Amarker%3D6766%2Afeatured%3D20138" TargetMode="External"/><Relationship Id="rId3" Type="http://schemas.openxmlformats.org/officeDocument/2006/relationships/slide" Target="slide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ibrary.ehaweb.org/eha/2026/eha-2026/4209065/bor-sheng.ko.cost-effectiveness.of.axicabtagene.ciloleucel.for.treating.html?f=menu%3D6%2Abrowseby%3D8%2Asortby%3D6%2Amedia%3D3%2Ace_id%3D2934%2Aot_id%3D115611%2Amarker%3D6766%2Afeatured%3D20138" TargetMode="External"/><Relationship Id="rId3" Type="http://schemas.openxmlformats.org/officeDocument/2006/relationships/slide" Target="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566928"/>
            <a:ext cx="18288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1100" b="1">
                <a:solidFill>
                  <a:srgbClr val="FFFFFF"/>
                </a:solidFill>
                <a:latin typeface="Microsoft YaHei"/>
              </a:rPr>
              <a:t>EHA 2026</a:t>
            </a:r>
          </a:p>
        </p:txBody>
      </p:sp>
      <p:sp>
        <p:nvSpPr>
          <p:cNvPr id="3" name="TextBox 2"/>
          <p:cNvSpPr txBox="1"/>
          <p:nvPr/>
        </p:nvSpPr>
        <p:spPr>
          <a:xfrm>
            <a:off x="640080" y="1078992"/>
            <a:ext cx="9966960" cy="658368"/>
          </a:xfrm>
          <a:prstGeom prst="rect">
            <a:avLst/>
          </a:prstGeom>
          <a:noFill/>
        </p:spPr>
        <p:txBody>
          <a:bodyPr wrap="square" lIns="73152" rIns="73152" tIns="36576" bIns="36576" anchor="t">
            <a:normAutofit/>
          </a:bodyPr>
          <a:lstStyle/>
          <a:p>
            <a:pPr algn="l"/>
            <a:r>
              <a:rPr sz="2500" b="1">
                <a:solidFill>
                  <a:srgbClr val="21242A"/>
                </a:solidFill>
                <a:latin typeface="Microsoft YaHei"/>
              </a:rPr>
              <a:t>DLBCL/LBCL 与 CNSL 临床研究分层清单</a:t>
            </a:r>
          </a:p>
        </p:txBody>
      </p:sp>
      <p:sp>
        <p:nvSpPr>
          <p:cNvPr id="4" name="TextBox 3"/>
          <p:cNvSpPr txBox="1"/>
          <p:nvPr/>
        </p:nvSpPr>
        <p:spPr>
          <a:xfrm>
            <a:off x="676656" y="1874519"/>
            <a:ext cx="9875520" cy="384048"/>
          </a:xfrm>
          <a:prstGeom prst="rect">
            <a:avLst/>
          </a:prstGeom>
          <a:noFill/>
        </p:spPr>
        <p:txBody>
          <a:bodyPr wrap="square" lIns="73152" rIns="73152" tIns="36576" bIns="36576" anchor="t">
            <a:normAutofit/>
          </a:bodyPr>
          <a:lstStyle/>
          <a:p>
            <a:pPr algn="l"/>
            <a:r>
              <a:rPr sz="1200" b="0">
                <a:solidFill>
                  <a:srgbClr val="5E6570"/>
                </a:solidFill>
                <a:latin typeface="Microsoft YaHei"/>
              </a:rPr>
              <a:t>已去掉基础研究、动物研究和非目标病种研究；按研究类型、疾病场景、药物/技术类别重新组织。</a:t>
            </a:r>
          </a:p>
        </p:txBody>
      </p:sp>
      <p:sp>
        <p:nvSpPr>
          <p:cNvPr id="5" name="Rectangle 4"/>
          <p:cNvSpPr/>
          <p:nvPr/>
        </p:nvSpPr>
        <p:spPr>
          <a:xfrm>
            <a:off x="713232" y="2788920"/>
            <a:ext cx="2304288" cy="987552"/>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889504"/>
            <a:ext cx="1920240" cy="347472"/>
          </a:xfrm>
          <a:prstGeom prst="rect">
            <a:avLst/>
          </a:prstGeom>
          <a:noFill/>
        </p:spPr>
        <p:txBody>
          <a:bodyPr wrap="square" lIns="73152" rIns="73152" tIns="36576" bIns="36576" anchor="t">
            <a:normAutofit/>
          </a:bodyPr>
          <a:lstStyle/>
          <a:p>
            <a:pPr algn="l"/>
            <a:r>
              <a:rPr sz="2100" b="1">
                <a:solidFill>
                  <a:srgbClr val="C5362D"/>
                </a:solidFill>
                <a:latin typeface="Microsoft YaHei"/>
              </a:rPr>
              <a:t>187</a:t>
            </a:r>
          </a:p>
        </p:txBody>
      </p:sp>
      <p:sp>
        <p:nvSpPr>
          <p:cNvPr id="7" name="TextBox 6"/>
          <p:cNvSpPr txBox="1"/>
          <p:nvPr/>
        </p:nvSpPr>
        <p:spPr>
          <a:xfrm>
            <a:off x="859536" y="3383280"/>
            <a:ext cx="1920240" cy="201168"/>
          </a:xfrm>
          <a:prstGeom prst="rect">
            <a:avLst/>
          </a:prstGeom>
          <a:noFill/>
        </p:spPr>
        <p:txBody>
          <a:bodyPr wrap="square" lIns="73152" rIns="73152" tIns="36576" bIns="36576" anchor="t">
            <a:normAutofit/>
          </a:bodyPr>
          <a:lstStyle/>
          <a:p>
            <a:pPr algn="l"/>
            <a:r>
              <a:rPr sz="819" b="1">
                <a:solidFill>
                  <a:srgbClr val="5E6570"/>
                </a:solidFill>
                <a:latin typeface="Microsoft YaHei"/>
              </a:rPr>
              <a:t>研究总数</a:t>
            </a:r>
          </a:p>
        </p:txBody>
      </p:sp>
      <p:sp>
        <p:nvSpPr>
          <p:cNvPr id="8" name="Rectangle 7"/>
          <p:cNvSpPr/>
          <p:nvPr/>
        </p:nvSpPr>
        <p:spPr>
          <a:xfrm>
            <a:off x="3456432" y="2788920"/>
            <a:ext cx="2304288" cy="987552"/>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2889504"/>
            <a:ext cx="1920240" cy="347472"/>
          </a:xfrm>
          <a:prstGeom prst="rect">
            <a:avLst/>
          </a:prstGeom>
          <a:noFill/>
        </p:spPr>
        <p:txBody>
          <a:bodyPr wrap="square" lIns="73152" rIns="73152" tIns="36576" bIns="36576" anchor="t">
            <a:normAutofit/>
          </a:bodyPr>
          <a:lstStyle/>
          <a:p>
            <a:pPr algn="l"/>
            <a:r>
              <a:rPr sz="2100" b="1">
                <a:solidFill>
                  <a:srgbClr val="265E8F"/>
                </a:solidFill>
                <a:latin typeface="Microsoft YaHei"/>
              </a:rPr>
              <a:t>162</a:t>
            </a:r>
          </a:p>
        </p:txBody>
      </p:sp>
      <p:sp>
        <p:nvSpPr>
          <p:cNvPr id="10" name="TextBox 9"/>
          <p:cNvSpPr txBox="1"/>
          <p:nvPr/>
        </p:nvSpPr>
        <p:spPr>
          <a:xfrm>
            <a:off x="3602736" y="3383280"/>
            <a:ext cx="1920240" cy="201168"/>
          </a:xfrm>
          <a:prstGeom prst="rect">
            <a:avLst/>
          </a:prstGeom>
          <a:noFill/>
        </p:spPr>
        <p:txBody>
          <a:bodyPr wrap="square" lIns="73152" rIns="73152" tIns="36576" bIns="36576" anchor="t">
            <a:normAutofit/>
          </a:bodyPr>
          <a:lstStyle/>
          <a:p>
            <a:pPr algn="l"/>
            <a:r>
              <a:rPr sz="819" b="1">
                <a:solidFill>
                  <a:srgbClr val="5E6570"/>
                </a:solidFill>
                <a:latin typeface="Microsoft YaHei"/>
              </a:rPr>
              <a:t>DLBCL/LBCL</a:t>
            </a:r>
          </a:p>
        </p:txBody>
      </p:sp>
      <p:sp>
        <p:nvSpPr>
          <p:cNvPr id="11" name="Rectangle 10"/>
          <p:cNvSpPr/>
          <p:nvPr/>
        </p:nvSpPr>
        <p:spPr>
          <a:xfrm>
            <a:off x="6199632" y="2788920"/>
            <a:ext cx="2304288" cy="987552"/>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45936" y="2889504"/>
            <a:ext cx="1920240" cy="347472"/>
          </a:xfrm>
          <a:prstGeom prst="rect">
            <a:avLst/>
          </a:prstGeom>
          <a:noFill/>
        </p:spPr>
        <p:txBody>
          <a:bodyPr wrap="square" lIns="73152" rIns="73152" tIns="36576" bIns="36576" anchor="t">
            <a:normAutofit/>
          </a:bodyPr>
          <a:lstStyle/>
          <a:p>
            <a:pPr algn="l"/>
            <a:r>
              <a:rPr sz="2100" b="1">
                <a:solidFill>
                  <a:srgbClr val="2A795B"/>
                </a:solidFill>
                <a:latin typeface="Microsoft YaHei"/>
              </a:rPr>
              <a:t>25</a:t>
            </a:r>
          </a:p>
        </p:txBody>
      </p:sp>
      <p:sp>
        <p:nvSpPr>
          <p:cNvPr id="13" name="TextBox 12"/>
          <p:cNvSpPr txBox="1"/>
          <p:nvPr/>
        </p:nvSpPr>
        <p:spPr>
          <a:xfrm>
            <a:off x="6345936" y="3383280"/>
            <a:ext cx="1920240" cy="201168"/>
          </a:xfrm>
          <a:prstGeom prst="rect">
            <a:avLst/>
          </a:prstGeom>
          <a:noFill/>
        </p:spPr>
        <p:txBody>
          <a:bodyPr wrap="square" lIns="73152" rIns="73152" tIns="36576" bIns="36576" anchor="t">
            <a:normAutofit/>
          </a:bodyPr>
          <a:lstStyle/>
          <a:p>
            <a:pPr algn="l"/>
            <a:r>
              <a:rPr sz="819" b="1">
                <a:solidFill>
                  <a:srgbClr val="5E6570"/>
                </a:solidFill>
                <a:latin typeface="Microsoft YaHei"/>
              </a:rPr>
              <a:t>CNSL</a:t>
            </a:r>
          </a:p>
        </p:txBody>
      </p:sp>
      <p:sp>
        <p:nvSpPr>
          <p:cNvPr id="14" name="Rectangle 13"/>
          <p:cNvSpPr/>
          <p:nvPr/>
        </p:nvSpPr>
        <p:spPr>
          <a:xfrm>
            <a:off x="8942832" y="2788920"/>
            <a:ext cx="2304288" cy="987552"/>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089136" y="2889504"/>
            <a:ext cx="1920240" cy="347472"/>
          </a:xfrm>
          <a:prstGeom prst="rect">
            <a:avLst/>
          </a:prstGeom>
          <a:noFill/>
        </p:spPr>
        <p:txBody>
          <a:bodyPr wrap="square" lIns="73152" rIns="73152" tIns="36576" bIns="36576" anchor="t">
            <a:normAutofit/>
          </a:bodyPr>
          <a:lstStyle/>
          <a:p>
            <a:pPr algn="l"/>
            <a:r>
              <a:rPr sz="2100" b="1">
                <a:solidFill>
                  <a:srgbClr val="EC8832"/>
                </a:solidFill>
                <a:latin typeface="Microsoft YaHei"/>
              </a:rPr>
              <a:t>187</a:t>
            </a:r>
          </a:p>
        </p:txBody>
      </p:sp>
      <p:sp>
        <p:nvSpPr>
          <p:cNvPr id="16" name="TextBox 15"/>
          <p:cNvSpPr txBox="1"/>
          <p:nvPr/>
        </p:nvSpPr>
        <p:spPr>
          <a:xfrm>
            <a:off x="9089136" y="3383280"/>
            <a:ext cx="1920240" cy="201168"/>
          </a:xfrm>
          <a:prstGeom prst="rect">
            <a:avLst/>
          </a:prstGeom>
          <a:noFill/>
        </p:spPr>
        <p:txBody>
          <a:bodyPr wrap="square" lIns="73152" rIns="73152" tIns="36576" bIns="36576" anchor="t">
            <a:normAutofit/>
          </a:bodyPr>
          <a:lstStyle/>
          <a:p>
            <a:pPr algn="l"/>
            <a:r>
              <a:rPr sz="819" b="1">
                <a:solidFill>
                  <a:srgbClr val="5E6570"/>
                </a:solidFill>
                <a:latin typeface="Microsoft YaHei"/>
              </a:rPr>
              <a:t>已打开核对EHA链接</a:t>
            </a:r>
          </a:p>
        </p:txBody>
      </p:sp>
      <p:sp>
        <p:nvSpPr>
          <p:cNvPr id="17" name="Rectangle 16"/>
          <p:cNvSpPr/>
          <p:nvPr/>
        </p:nvSpPr>
        <p:spPr>
          <a:xfrm>
            <a:off x="713232" y="4343400"/>
            <a:ext cx="10652760" cy="768096"/>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498848"/>
            <a:ext cx="10241280" cy="411480"/>
          </a:xfrm>
          <a:prstGeom prst="rect">
            <a:avLst/>
          </a:prstGeom>
          <a:noFill/>
        </p:spPr>
        <p:txBody>
          <a:bodyPr wrap="square" rIns="73152" bIns="36576">
            <a:normAutofit/>
          </a:bodyPr>
          <a:lstStyle/>
          <a:p>
            <a:pPr>
              <a:lnSpc>
                <a:spcPct val="103000"/>
              </a:lnSpc>
              <a:spcAft>
                <a:spcPts val="300"/>
              </a:spcAft>
              <a:defRPr sz="819">
                <a:solidFill>
                  <a:srgbClr val="21242A"/>
                </a:solidFill>
                <a:latin typeface="Microsoft YaHei"/>
              </a:defRPr>
            </a:pPr>
            <a:r>
              <a:t>已排除基础/动物研究：39项；已排除非目标病种研究：20项。</a:t>
            </a:r>
          </a:p>
          <a:p>
            <a:pPr>
              <a:lnSpc>
                <a:spcPct val="103000"/>
              </a:lnSpc>
              <a:spcAft>
                <a:spcPts val="300"/>
              </a:spcAft>
              <a:defRPr sz="819">
                <a:solidFill>
                  <a:srgbClr val="21242A"/>
                </a:solidFill>
                <a:latin typeface="Microsoft YaHei"/>
              </a:defRPr>
            </a:pPr>
            <a:r>
              <a:t>当前仅保留 DLBCL/LBCL 与 CNSL 相关临床研究；结果页以原表中文结果为准。</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20040"/>
            <a:ext cx="9875520" cy="384048"/>
          </a:xfrm>
          <a:prstGeom prst="rect">
            <a:avLst/>
          </a:prstGeom>
          <a:noFill/>
        </p:spPr>
        <p:txBody>
          <a:bodyPr wrap="square" lIns="73152" rIns="73152" tIns="36576" bIns="36576" anchor="t">
            <a:normAutofit/>
          </a:bodyPr>
          <a:lstStyle/>
          <a:p>
            <a:pPr algn="l"/>
            <a:r>
              <a:rPr sz="2000" b="1">
                <a:solidFill>
                  <a:srgbClr val="21242A"/>
                </a:solidFill>
                <a:latin typeface="Microsoft YaHei"/>
              </a:rPr>
              <a:t>总目录：按研究类型进入</a:t>
            </a:r>
          </a:p>
        </p:txBody>
      </p:sp>
      <p:sp>
        <p:nvSpPr>
          <p:cNvPr id="3" name="TextBox 2"/>
          <p:cNvSpPr txBox="1"/>
          <p:nvPr/>
        </p:nvSpPr>
        <p:spPr>
          <a:xfrm>
            <a:off x="548640" y="804672"/>
            <a:ext cx="9875520" cy="219456"/>
          </a:xfrm>
          <a:prstGeom prst="rect">
            <a:avLst/>
          </a:prstGeom>
          <a:noFill/>
        </p:spPr>
        <p:txBody>
          <a:bodyPr wrap="square" lIns="73152" rIns="73152" tIns="36576" bIns="36576" anchor="t">
            <a:normAutofit/>
          </a:bodyPr>
          <a:lstStyle/>
          <a:p>
            <a:pPr algn="l"/>
            <a:r>
              <a:rPr sz="850" b="0">
                <a:solidFill>
                  <a:srgbClr val="5E6570"/>
                </a:solidFill>
                <a:latin typeface="Microsoft YaHei"/>
              </a:rPr>
              <a:t>当前版本已排除基础/动物研究，保留前瞻、回顾、病例和经济学等临床相关研究。</a:t>
            </a:r>
          </a:p>
        </p:txBody>
      </p:sp>
      <p:sp>
        <p:nvSpPr>
          <p:cNvPr id="4" name="Rounded Rectangle 3">
            <a:hlinkClick action="ppaction://hlinksldjump" r:id="rId2"/>
          </p:cNvPr>
          <p:cNvSpPr/>
          <p:nvPr/>
        </p:nvSpPr>
        <p:spPr>
          <a:xfrm>
            <a:off x="594360"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action="ppaction://hlinksldjump" r:id="rId2"/>
          </p:cNvPr>
          <p:cNvSpPr/>
          <p:nvPr/>
        </p:nvSpPr>
        <p:spPr>
          <a:xfrm>
            <a:off x="594360" y="1325880"/>
            <a:ext cx="91440" cy="786384"/>
          </a:xfrm>
          <a:prstGeom prst="rect">
            <a:avLst/>
          </a:prstGeom>
          <a:solidFill>
            <a:srgbClr val="C5362D"/>
          </a:solidFill>
          <a:ln w="8890">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2"/>
          </p:cNvPr>
          <p:cNvSpPr txBox="1"/>
          <p:nvPr/>
        </p:nvSpPr>
        <p:spPr>
          <a:xfrm>
            <a:off x="777240"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前瞻性临床试验</a:t>
            </a:r>
          </a:p>
        </p:txBody>
      </p:sp>
      <p:sp>
        <p:nvSpPr>
          <p:cNvPr id="7" name="TextBox 6">
            <a:hlinkClick action="ppaction://hlinksldjump" r:id="rId2"/>
          </p:cNvPr>
          <p:cNvSpPr txBox="1"/>
          <p:nvPr/>
        </p:nvSpPr>
        <p:spPr>
          <a:xfrm>
            <a:off x="777240"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点击进入该研究类型章节</a:t>
            </a:r>
          </a:p>
        </p:txBody>
      </p:sp>
      <p:sp>
        <p:nvSpPr>
          <p:cNvPr id="8" name="TextBox 7">
            <a:hlinkClick action="ppaction://hlinksldjump" r:id="rId2"/>
          </p:cNvPr>
          <p:cNvSpPr txBox="1"/>
          <p:nvPr/>
        </p:nvSpPr>
        <p:spPr>
          <a:xfrm>
            <a:off x="3172968" y="1810512"/>
            <a:ext cx="621792" cy="164592"/>
          </a:xfrm>
          <a:prstGeom prst="rect">
            <a:avLst/>
          </a:prstGeom>
          <a:noFill/>
        </p:spPr>
        <p:txBody>
          <a:bodyPr wrap="square" lIns="73152" rIns="73152" tIns="36576" bIns="36576" anchor="t">
            <a:normAutofit/>
          </a:bodyPr>
          <a:lstStyle/>
          <a:p>
            <a:pPr algn="r"/>
            <a:r>
              <a:rPr sz="740" b="1">
                <a:solidFill>
                  <a:srgbClr val="C5362D"/>
                </a:solidFill>
                <a:latin typeface="Microsoft YaHei"/>
              </a:rPr>
              <a:t>105项</a:t>
            </a:r>
          </a:p>
        </p:txBody>
      </p:sp>
      <p:sp>
        <p:nvSpPr>
          <p:cNvPr id="9" name="Rounded Rectangle 8">
            <a:hlinkClick action="ppaction://hlinksldjump" r:id="rId3"/>
          </p:cNvPr>
          <p:cNvSpPr/>
          <p:nvPr/>
        </p:nvSpPr>
        <p:spPr>
          <a:xfrm>
            <a:off x="4325112"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action="ppaction://hlinksldjump" r:id="rId3"/>
          </p:cNvPr>
          <p:cNvSpPr/>
          <p:nvPr/>
        </p:nvSpPr>
        <p:spPr>
          <a:xfrm>
            <a:off x="4325112" y="1325880"/>
            <a:ext cx="91440" cy="786384"/>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3"/>
          </p:cNvPr>
          <p:cNvSpPr txBox="1"/>
          <p:nvPr/>
        </p:nvSpPr>
        <p:spPr>
          <a:xfrm>
            <a:off x="4507992"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回顾性/真实世界研究</a:t>
            </a:r>
          </a:p>
        </p:txBody>
      </p:sp>
      <p:sp>
        <p:nvSpPr>
          <p:cNvPr id="12" name="TextBox 11">
            <a:hlinkClick action="ppaction://hlinksldjump" r:id="rId3"/>
          </p:cNvPr>
          <p:cNvSpPr txBox="1"/>
          <p:nvPr/>
        </p:nvSpPr>
        <p:spPr>
          <a:xfrm>
            <a:off x="4507992"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点击进入该研究类型章节</a:t>
            </a:r>
          </a:p>
        </p:txBody>
      </p:sp>
      <p:sp>
        <p:nvSpPr>
          <p:cNvPr id="13" name="TextBox 12">
            <a:hlinkClick action="ppaction://hlinksldjump" r:id="rId3"/>
          </p:cNvPr>
          <p:cNvSpPr txBox="1"/>
          <p:nvPr/>
        </p:nvSpPr>
        <p:spPr>
          <a:xfrm>
            <a:off x="6903720" y="1810512"/>
            <a:ext cx="621792" cy="164592"/>
          </a:xfrm>
          <a:prstGeom prst="rect">
            <a:avLst/>
          </a:prstGeom>
          <a:noFill/>
        </p:spPr>
        <p:txBody>
          <a:bodyPr wrap="square" lIns="73152" rIns="73152" tIns="36576" bIns="36576" anchor="t">
            <a:normAutofit/>
          </a:bodyPr>
          <a:lstStyle/>
          <a:p>
            <a:pPr algn="r"/>
            <a:r>
              <a:rPr sz="740" b="1">
                <a:solidFill>
                  <a:srgbClr val="265E8F"/>
                </a:solidFill>
                <a:latin typeface="Microsoft YaHei"/>
              </a:rPr>
              <a:t>81项</a:t>
            </a:r>
          </a:p>
        </p:txBody>
      </p:sp>
      <p:sp>
        <p:nvSpPr>
          <p:cNvPr id="14" name="Rounded Rectangle 13">
            <a:hlinkClick action="ppaction://hlinksldjump" r:id="rId4"/>
          </p:cNvPr>
          <p:cNvSpPr/>
          <p:nvPr/>
        </p:nvSpPr>
        <p:spPr>
          <a:xfrm>
            <a:off x="8055864"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a:hlinkClick action="ppaction://hlinksldjump" r:id="rId4"/>
          </p:cNvPr>
          <p:cNvSpPr/>
          <p:nvPr/>
        </p:nvSpPr>
        <p:spPr>
          <a:xfrm>
            <a:off x="8055864" y="1325880"/>
            <a:ext cx="91440" cy="786384"/>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4"/>
          </p:cNvPr>
          <p:cNvSpPr txBox="1"/>
          <p:nvPr/>
        </p:nvSpPr>
        <p:spPr>
          <a:xfrm>
            <a:off x="8238744"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卫生经济/模型研究</a:t>
            </a:r>
          </a:p>
        </p:txBody>
      </p:sp>
      <p:sp>
        <p:nvSpPr>
          <p:cNvPr id="17" name="TextBox 16">
            <a:hlinkClick action="ppaction://hlinksldjump" r:id="rId4"/>
          </p:cNvPr>
          <p:cNvSpPr txBox="1"/>
          <p:nvPr/>
        </p:nvSpPr>
        <p:spPr>
          <a:xfrm>
            <a:off x="8238744"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点击进入该研究类型章节</a:t>
            </a:r>
          </a:p>
        </p:txBody>
      </p:sp>
      <p:sp>
        <p:nvSpPr>
          <p:cNvPr id="18" name="TextBox 17">
            <a:hlinkClick action="ppaction://hlinksldjump" r:id="rId4"/>
          </p:cNvPr>
          <p:cNvSpPr txBox="1"/>
          <p:nvPr/>
        </p:nvSpPr>
        <p:spPr>
          <a:xfrm>
            <a:off x="10634472" y="1810512"/>
            <a:ext cx="621792" cy="164592"/>
          </a:xfrm>
          <a:prstGeom prst="rect">
            <a:avLst/>
          </a:prstGeom>
          <a:noFill/>
        </p:spPr>
        <p:txBody>
          <a:bodyPr wrap="square" lIns="73152" rIns="73152" tIns="36576" bIns="36576" anchor="t">
            <a:normAutofit/>
          </a:bodyPr>
          <a:lstStyle/>
          <a:p>
            <a:pPr algn="r"/>
            <a:r>
              <a:rPr sz="740" b="1">
                <a:solidFill>
                  <a:srgbClr val="2A795B"/>
                </a:solidFill>
                <a:latin typeface="Microsoft YaHei"/>
              </a:rPr>
              <a:t>1项</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20040"/>
            <a:ext cx="9875520" cy="384048"/>
          </a:xfrm>
          <a:prstGeom prst="rect">
            <a:avLst/>
          </a:prstGeom>
          <a:noFill/>
        </p:spPr>
        <p:txBody>
          <a:bodyPr wrap="square" lIns="73152" rIns="73152" tIns="36576" bIns="36576" anchor="t">
            <a:normAutofit/>
          </a:bodyPr>
          <a:lstStyle/>
          <a:p>
            <a:pPr algn="l"/>
            <a:r>
              <a:rPr sz="2000" b="1">
                <a:solidFill>
                  <a:srgbClr val="21242A"/>
                </a:solidFill>
                <a:latin typeface="Microsoft YaHei"/>
              </a:rPr>
              <a:t>疾病目录：DLBCL/LBCL 与 CNSL 场景</a:t>
            </a:r>
          </a:p>
        </p:txBody>
      </p:sp>
      <p:sp>
        <p:nvSpPr>
          <p:cNvPr id="3" name="TextBox 2"/>
          <p:cNvSpPr txBox="1"/>
          <p:nvPr/>
        </p:nvSpPr>
        <p:spPr>
          <a:xfrm>
            <a:off x="548640" y="804672"/>
            <a:ext cx="9875520" cy="219456"/>
          </a:xfrm>
          <a:prstGeom prst="rect">
            <a:avLst/>
          </a:prstGeom>
          <a:noFill/>
        </p:spPr>
        <p:txBody>
          <a:bodyPr wrap="square" lIns="73152" rIns="73152" tIns="36576" bIns="36576" anchor="t">
            <a:normAutofit/>
          </a:bodyPr>
          <a:lstStyle/>
          <a:p>
            <a:pPr algn="l"/>
            <a:r>
              <a:rPr sz="850" b="0">
                <a:solidFill>
                  <a:srgbClr val="5E6570"/>
                </a:solidFill>
                <a:latin typeface="Microsoft YaHei"/>
              </a:rPr>
              <a:t>疾病口径进一步拆到 DLBCL、LBCL/HGBL、PCNSL、SCNSL 等场景。</a:t>
            </a:r>
          </a:p>
        </p:txBody>
      </p:sp>
      <p:sp>
        <p:nvSpPr>
          <p:cNvPr id="4" name="Rounded Rectangle 3">
            <a:hlinkClick action="ppaction://hlinksldjump" r:id="rId3"/>
          </p:cNvPr>
          <p:cNvSpPr/>
          <p:nvPr/>
        </p:nvSpPr>
        <p:spPr>
          <a:xfrm>
            <a:off x="594360"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action="ppaction://hlinksldjump" r:id="rId3"/>
          </p:cNvPr>
          <p:cNvSpPr/>
          <p:nvPr/>
        </p:nvSpPr>
        <p:spPr>
          <a:xfrm>
            <a:off x="594360" y="1325880"/>
            <a:ext cx="91440" cy="786384"/>
          </a:xfrm>
          <a:prstGeom prst="rect">
            <a:avLst/>
          </a:prstGeom>
          <a:solidFill>
            <a:srgbClr val="C5362D"/>
          </a:solidFill>
          <a:ln w="8890">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777240"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LBCL/HGBL</a:t>
            </a:r>
          </a:p>
        </p:txBody>
      </p:sp>
      <p:sp>
        <p:nvSpPr>
          <p:cNvPr id="7" name="TextBox 6">
            <a:hlinkClick action="ppaction://hlinksldjump" r:id="rId3"/>
          </p:cNvPr>
          <p:cNvSpPr txBox="1"/>
          <p:nvPr/>
        </p:nvSpPr>
        <p:spPr>
          <a:xfrm>
            <a:off x="777240"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点击跳到该疾病场景首项研究</a:t>
            </a:r>
          </a:p>
        </p:txBody>
      </p:sp>
      <p:sp>
        <p:nvSpPr>
          <p:cNvPr id="8" name="TextBox 7">
            <a:hlinkClick action="ppaction://hlinksldjump" r:id="rId3"/>
          </p:cNvPr>
          <p:cNvSpPr txBox="1"/>
          <p:nvPr/>
        </p:nvSpPr>
        <p:spPr>
          <a:xfrm>
            <a:off x="3172968" y="1810512"/>
            <a:ext cx="621792" cy="164592"/>
          </a:xfrm>
          <a:prstGeom prst="rect">
            <a:avLst/>
          </a:prstGeom>
          <a:noFill/>
        </p:spPr>
        <p:txBody>
          <a:bodyPr wrap="square" lIns="73152" rIns="73152" tIns="36576" bIns="36576" anchor="t">
            <a:normAutofit/>
          </a:bodyPr>
          <a:lstStyle/>
          <a:p>
            <a:pPr algn="r"/>
            <a:r>
              <a:rPr sz="740" b="1">
                <a:solidFill>
                  <a:srgbClr val="C5362D"/>
                </a:solidFill>
                <a:latin typeface="Microsoft YaHei"/>
              </a:rPr>
              <a:t>132项</a:t>
            </a:r>
          </a:p>
        </p:txBody>
      </p:sp>
      <p:sp>
        <p:nvSpPr>
          <p:cNvPr id="9" name="Rounded Rectangle 8">
            <a:hlinkClick action="ppaction://hlinksldjump" r:id="rId4"/>
          </p:cNvPr>
          <p:cNvSpPr/>
          <p:nvPr/>
        </p:nvSpPr>
        <p:spPr>
          <a:xfrm>
            <a:off x="4325112"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action="ppaction://hlinksldjump" r:id="rId4"/>
          </p:cNvPr>
          <p:cNvSpPr/>
          <p:nvPr/>
        </p:nvSpPr>
        <p:spPr>
          <a:xfrm>
            <a:off x="4325112" y="1325880"/>
            <a:ext cx="91440" cy="786384"/>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4"/>
          </p:cNvPr>
          <p:cNvSpPr txBox="1"/>
          <p:nvPr/>
        </p:nvSpPr>
        <p:spPr>
          <a:xfrm>
            <a:off x="4507992"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PCNSL</a:t>
            </a:r>
          </a:p>
        </p:txBody>
      </p:sp>
      <p:sp>
        <p:nvSpPr>
          <p:cNvPr id="12" name="TextBox 11">
            <a:hlinkClick action="ppaction://hlinksldjump" r:id="rId4"/>
          </p:cNvPr>
          <p:cNvSpPr txBox="1"/>
          <p:nvPr/>
        </p:nvSpPr>
        <p:spPr>
          <a:xfrm>
            <a:off x="4507992"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点击跳到该疾病场景首项研究</a:t>
            </a:r>
          </a:p>
        </p:txBody>
      </p:sp>
      <p:sp>
        <p:nvSpPr>
          <p:cNvPr id="13" name="TextBox 12">
            <a:hlinkClick action="ppaction://hlinksldjump" r:id="rId4"/>
          </p:cNvPr>
          <p:cNvSpPr txBox="1"/>
          <p:nvPr/>
        </p:nvSpPr>
        <p:spPr>
          <a:xfrm>
            <a:off x="6903720" y="1810512"/>
            <a:ext cx="621792" cy="164592"/>
          </a:xfrm>
          <a:prstGeom prst="rect">
            <a:avLst/>
          </a:prstGeom>
          <a:noFill/>
        </p:spPr>
        <p:txBody>
          <a:bodyPr wrap="square" lIns="73152" rIns="73152" tIns="36576" bIns="36576" anchor="t">
            <a:normAutofit/>
          </a:bodyPr>
          <a:lstStyle/>
          <a:p>
            <a:pPr algn="r"/>
            <a:r>
              <a:rPr sz="740" b="1">
                <a:solidFill>
                  <a:srgbClr val="265E8F"/>
                </a:solidFill>
                <a:latin typeface="Microsoft YaHei"/>
              </a:rPr>
              <a:t>5项</a:t>
            </a:r>
          </a:p>
        </p:txBody>
      </p:sp>
      <p:sp>
        <p:nvSpPr>
          <p:cNvPr id="14" name="Rounded Rectangle 13">
            <a:hlinkClick action="ppaction://hlinksldjump" r:id="rId5"/>
          </p:cNvPr>
          <p:cNvSpPr/>
          <p:nvPr/>
        </p:nvSpPr>
        <p:spPr>
          <a:xfrm>
            <a:off x="8055864"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a:hlinkClick action="ppaction://hlinksldjump" r:id="rId5"/>
          </p:cNvPr>
          <p:cNvSpPr/>
          <p:nvPr/>
        </p:nvSpPr>
        <p:spPr>
          <a:xfrm>
            <a:off x="8055864" y="1325880"/>
            <a:ext cx="91440" cy="786384"/>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5"/>
          </p:cNvPr>
          <p:cNvSpPr txBox="1"/>
          <p:nvPr/>
        </p:nvSpPr>
        <p:spPr>
          <a:xfrm>
            <a:off x="8238744"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PMBCL/特殊亚型</a:t>
            </a:r>
          </a:p>
        </p:txBody>
      </p:sp>
      <p:sp>
        <p:nvSpPr>
          <p:cNvPr id="17" name="TextBox 16">
            <a:hlinkClick action="ppaction://hlinksldjump" r:id="rId5"/>
          </p:cNvPr>
          <p:cNvSpPr txBox="1"/>
          <p:nvPr/>
        </p:nvSpPr>
        <p:spPr>
          <a:xfrm>
            <a:off x="8238744"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点击跳到该疾病场景首项研究</a:t>
            </a:r>
          </a:p>
        </p:txBody>
      </p:sp>
      <p:sp>
        <p:nvSpPr>
          <p:cNvPr id="18" name="TextBox 17">
            <a:hlinkClick action="ppaction://hlinksldjump" r:id="rId5"/>
          </p:cNvPr>
          <p:cNvSpPr txBox="1"/>
          <p:nvPr/>
        </p:nvSpPr>
        <p:spPr>
          <a:xfrm>
            <a:off x="10634472" y="1810512"/>
            <a:ext cx="621792" cy="164592"/>
          </a:xfrm>
          <a:prstGeom prst="rect">
            <a:avLst/>
          </a:prstGeom>
          <a:noFill/>
        </p:spPr>
        <p:txBody>
          <a:bodyPr wrap="square" lIns="73152" rIns="73152" tIns="36576" bIns="36576" anchor="t">
            <a:normAutofit/>
          </a:bodyPr>
          <a:lstStyle/>
          <a:p>
            <a:pPr algn="r"/>
            <a:r>
              <a:rPr sz="740" b="1">
                <a:solidFill>
                  <a:srgbClr val="2A795B"/>
                </a:solidFill>
                <a:latin typeface="Microsoft YaHei"/>
              </a:rPr>
              <a:t>14项</a:t>
            </a:r>
          </a:p>
        </p:txBody>
      </p:sp>
      <p:sp>
        <p:nvSpPr>
          <p:cNvPr id="19" name="Rounded Rectangle 18">
            <a:hlinkClick action="ppaction://hlinksldjump" r:id="rId6"/>
          </p:cNvPr>
          <p:cNvSpPr/>
          <p:nvPr/>
        </p:nvSpPr>
        <p:spPr>
          <a:xfrm>
            <a:off x="594360" y="2350008"/>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a:hlinkClick action="ppaction://hlinksldjump" r:id="rId6"/>
          </p:cNvPr>
          <p:cNvSpPr/>
          <p:nvPr/>
        </p:nvSpPr>
        <p:spPr>
          <a:xfrm>
            <a:off x="594360" y="2350008"/>
            <a:ext cx="91440" cy="786384"/>
          </a:xfrm>
          <a:prstGeom prst="rect">
            <a:avLst/>
          </a:prstGeom>
          <a:solidFill>
            <a:srgbClr val="EC8832"/>
          </a:solidFill>
          <a:ln w="8890">
            <a:solidFill>
              <a:srgbClr val="EC88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6"/>
          </p:cNvPr>
          <p:cNvSpPr txBox="1"/>
          <p:nvPr/>
        </p:nvSpPr>
        <p:spPr>
          <a:xfrm>
            <a:off x="777240" y="2478024"/>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SCNSL/CNS复发或预防</a:t>
            </a:r>
          </a:p>
        </p:txBody>
      </p:sp>
      <p:sp>
        <p:nvSpPr>
          <p:cNvPr id="22" name="TextBox 21">
            <a:hlinkClick action="ppaction://hlinksldjump" r:id="rId6"/>
          </p:cNvPr>
          <p:cNvSpPr txBox="1"/>
          <p:nvPr/>
        </p:nvSpPr>
        <p:spPr>
          <a:xfrm>
            <a:off x="777240" y="2798064"/>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点击跳到该疾病场景首项研究</a:t>
            </a:r>
          </a:p>
        </p:txBody>
      </p:sp>
      <p:sp>
        <p:nvSpPr>
          <p:cNvPr id="23" name="TextBox 22">
            <a:hlinkClick action="ppaction://hlinksldjump" r:id="rId6"/>
          </p:cNvPr>
          <p:cNvSpPr txBox="1"/>
          <p:nvPr/>
        </p:nvSpPr>
        <p:spPr>
          <a:xfrm>
            <a:off x="3172968" y="2834640"/>
            <a:ext cx="621792" cy="164592"/>
          </a:xfrm>
          <a:prstGeom prst="rect">
            <a:avLst/>
          </a:prstGeom>
          <a:noFill/>
        </p:spPr>
        <p:txBody>
          <a:bodyPr wrap="square" lIns="73152" rIns="73152" tIns="36576" bIns="36576" anchor="t">
            <a:normAutofit/>
          </a:bodyPr>
          <a:lstStyle/>
          <a:p>
            <a:pPr algn="r"/>
            <a:r>
              <a:rPr sz="740" b="1">
                <a:solidFill>
                  <a:srgbClr val="EC8832"/>
                </a:solidFill>
                <a:latin typeface="Microsoft YaHei"/>
              </a:rPr>
              <a:t>18项</a:t>
            </a:r>
          </a:p>
        </p:txBody>
      </p:sp>
      <p:sp>
        <p:nvSpPr>
          <p:cNvPr id="24" name="Rounded Rectangle 23">
            <a:hlinkClick action="ppaction://hlinksldjump" r:id="rId7"/>
          </p:cNvPr>
          <p:cNvSpPr/>
          <p:nvPr/>
        </p:nvSpPr>
        <p:spPr>
          <a:xfrm>
            <a:off x="4325112" y="2350008"/>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a:hlinkClick action="ppaction://hlinksldjump" r:id="rId7"/>
          </p:cNvPr>
          <p:cNvSpPr/>
          <p:nvPr/>
        </p:nvSpPr>
        <p:spPr>
          <a:xfrm>
            <a:off x="4325112" y="2350008"/>
            <a:ext cx="91440" cy="786384"/>
          </a:xfrm>
          <a:prstGeom prst="rect">
            <a:avLst/>
          </a:prstGeom>
          <a:solidFill>
            <a:srgbClr val="65489B"/>
          </a:solidFill>
          <a:ln w="8890">
            <a:solidFill>
              <a:srgbClr val="654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7"/>
          </p:cNvPr>
          <p:cNvSpPr txBox="1"/>
          <p:nvPr/>
        </p:nvSpPr>
        <p:spPr>
          <a:xfrm>
            <a:off x="4507992" y="2478024"/>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眼内/玻璃体视网膜淋巴瘤</a:t>
            </a:r>
          </a:p>
        </p:txBody>
      </p:sp>
      <p:sp>
        <p:nvSpPr>
          <p:cNvPr id="27" name="TextBox 26">
            <a:hlinkClick action="ppaction://hlinksldjump" r:id="rId7"/>
          </p:cNvPr>
          <p:cNvSpPr txBox="1"/>
          <p:nvPr/>
        </p:nvSpPr>
        <p:spPr>
          <a:xfrm>
            <a:off x="4507992" y="2798064"/>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点击跳到该疾病场景首项研究</a:t>
            </a:r>
          </a:p>
        </p:txBody>
      </p:sp>
      <p:sp>
        <p:nvSpPr>
          <p:cNvPr id="28" name="TextBox 27">
            <a:hlinkClick action="ppaction://hlinksldjump" r:id="rId7"/>
          </p:cNvPr>
          <p:cNvSpPr txBox="1"/>
          <p:nvPr/>
        </p:nvSpPr>
        <p:spPr>
          <a:xfrm>
            <a:off x="6903720" y="2834640"/>
            <a:ext cx="621792" cy="164592"/>
          </a:xfrm>
          <a:prstGeom prst="rect">
            <a:avLst/>
          </a:prstGeom>
          <a:noFill/>
        </p:spPr>
        <p:txBody>
          <a:bodyPr wrap="square" lIns="73152" rIns="73152" tIns="36576" bIns="36576" anchor="t">
            <a:normAutofit/>
          </a:bodyPr>
          <a:lstStyle/>
          <a:p>
            <a:pPr algn="r"/>
            <a:r>
              <a:rPr sz="740" b="1">
                <a:solidFill>
                  <a:srgbClr val="65489B"/>
                </a:solidFill>
                <a:latin typeface="Microsoft YaHei"/>
              </a:rPr>
              <a:t>2项</a:t>
            </a:r>
          </a:p>
        </p:txBody>
      </p:sp>
      <p:sp>
        <p:nvSpPr>
          <p:cNvPr id="29" name="Rounded Rectangle 28">
            <a:hlinkClick action="ppaction://hlinksldjump" r:id="rId8"/>
          </p:cNvPr>
          <p:cNvSpPr/>
          <p:nvPr/>
        </p:nvSpPr>
        <p:spPr>
          <a:xfrm>
            <a:off x="8055864" y="2350008"/>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hlinkClick action="ppaction://hlinksldjump" r:id="rId8"/>
          </p:cNvPr>
          <p:cNvSpPr/>
          <p:nvPr/>
        </p:nvSpPr>
        <p:spPr>
          <a:xfrm>
            <a:off x="8055864" y="2350008"/>
            <a:ext cx="91440" cy="786384"/>
          </a:xfrm>
          <a:prstGeom prst="rect">
            <a:avLst/>
          </a:prstGeom>
          <a:solidFill>
            <a:srgbClr val="C5362D"/>
          </a:solidFill>
          <a:ln w="8890">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8"/>
          </p:cNvPr>
          <p:cNvSpPr txBox="1"/>
          <p:nvPr/>
        </p:nvSpPr>
        <p:spPr>
          <a:xfrm>
            <a:off x="8238744" y="2478024"/>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转化/Richter</a:t>
            </a:r>
          </a:p>
        </p:txBody>
      </p:sp>
      <p:sp>
        <p:nvSpPr>
          <p:cNvPr id="32" name="TextBox 31">
            <a:hlinkClick action="ppaction://hlinksldjump" r:id="rId8"/>
          </p:cNvPr>
          <p:cNvSpPr txBox="1"/>
          <p:nvPr/>
        </p:nvSpPr>
        <p:spPr>
          <a:xfrm>
            <a:off x="8238744" y="2798064"/>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点击跳到该疾病场景首项研究</a:t>
            </a:r>
          </a:p>
        </p:txBody>
      </p:sp>
      <p:sp>
        <p:nvSpPr>
          <p:cNvPr id="33" name="TextBox 32">
            <a:hlinkClick action="ppaction://hlinksldjump" r:id="rId8"/>
          </p:cNvPr>
          <p:cNvSpPr txBox="1"/>
          <p:nvPr/>
        </p:nvSpPr>
        <p:spPr>
          <a:xfrm>
            <a:off x="10634472" y="2834640"/>
            <a:ext cx="621792" cy="164592"/>
          </a:xfrm>
          <a:prstGeom prst="rect">
            <a:avLst/>
          </a:prstGeom>
          <a:noFill/>
        </p:spPr>
        <p:txBody>
          <a:bodyPr wrap="square" lIns="73152" rIns="73152" tIns="36576" bIns="36576" anchor="t">
            <a:normAutofit/>
          </a:bodyPr>
          <a:lstStyle/>
          <a:p>
            <a:pPr algn="r"/>
            <a:r>
              <a:rPr sz="740" b="1">
                <a:solidFill>
                  <a:srgbClr val="C5362D"/>
                </a:solidFill>
                <a:latin typeface="Microsoft YaHei"/>
              </a:rPr>
              <a:t>16项</a:t>
            </a:r>
          </a:p>
        </p:txBody>
      </p:sp>
      <p:sp>
        <p:nvSpPr>
          <p:cNvPr id="34" name="Rounded Rectangle 33">
            <a:hlinkClick action="ppaction://hlinksldjump" r:id="rId2"/>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20040"/>
            <a:ext cx="9875520" cy="384048"/>
          </a:xfrm>
          <a:prstGeom prst="rect">
            <a:avLst/>
          </a:prstGeom>
          <a:noFill/>
        </p:spPr>
        <p:txBody>
          <a:bodyPr wrap="square" lIns="73152" rIns="73152" tIns="36576" bIns="36576" anchor="t">
            <a:normAutofit/>
          </a:bodyPr>
          <a:lstStyle/>
          <a:p>
            <a:pPr algn="l"/>
            <a:r>
              <a:rPr sz="2000" b="1">
                <a:solidFill>
                  <a:srgbClr val="21242A"/>
                </a:solidFill>
                <a:latin typeface="Microsoft YaHei"/>
              </a:rPr>
              <a:t>药物/技术目录</a:t>
            </a:r>
          </a:p>
        </p:txBody>
      </p:sp>
      <p:sp>
        <p:nvSpPr>
          <p:cNvPr id="3" name="TextBox 2"/>
          <p:cNvSpPr txBox="1"/>
          <p:nvPr/>
        </p:nvSpPr>
        <p:spPr>
          <a:xfrm>
            <a:off x="548640" y="804672"/>
            <a:ext cx="9875520" cy="219456"/>
          </a:xfrm>
          <a:prstGeom prst="rect">
            <a:avLst/>
          </a:prstGeom>
          <a:noFill/>
        </p:spPr>
        <p:txBody>
          <a:bodyPr wrap="square" lIns="73152" rIns="73152" tIns="36576" bIns="36576" anchor="t">
            <a:normAutofit/>
          </a:bodyPr>
          <a:lstStyle/>
          <a:p>
            <a:pPr algn="l"/>
            <a:r>
              <a:rPr sz="850" b="0">
                <a:solidFill>
                  <a:srgbClr val="5E6570"/>
                </a:solidFill>
                <a:latin typeface="Microsoft YaHei"/>
              </a:rPr>
              <a:t>按 CAR-T、双抗、ADC、BTKi、免疫化疗、CNS策略和标志物等快速定位。</a:t>
            </a:r>
          </a:p>
        </p:txBody>
      </p:sp>
      <p:sp>
        <p:nvSpPr>
          <p:cNvPr id="4" name="Rounded Rectangle 3">
            <a:hlinkClick action="ppaction://hlinksldjump" r:id="rId3"/>
          </p:cNvPr>
          <p:cNvSpPr/>
          <p:nvPr/>
        </p:nvSpPr>
        <p:spPr>
          <a:xfrm>
            <a:off x="594360"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a:hlinkClick action="ppaction://hlinksldjump" r:id="rId3"/>
          </p:cNvPr>
          <p:cNvSpPr/>
          <p:nvPr/>
        </p:nvSpPr>
        <p:spPr>
          <a:xfrm>
            <a:off x="594360" y="1325880"/>
            <a:ext cx="91440" cy="786384"/>
          </a:xfrm>
          <a:prstGeom prst="rect">
            <a:avLst/>
          </a:prstGeom>
          <a:solidFill>
            <a:srgbClr val="C5362D"/>
          </a:solidFill>
          <a:ln w="8890">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a:hlinkClick action="ppaction://hlinksldjump" r:id="rId3"/>
          </p:cNvPr>
          <p:cNvSpPr txBox="1"/>
          <p:nvPr/>
        </p:nvSpPr>
        <p:spPr>
          <a:xfrm>
            <a:off x="777240"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CAR-T/细胞治疗</a:t>
            </a:r>
          </a:p>
        </p:txBody>
      </p:sp>
      <p:sp>
        <p:nvSpPr>
          <p:cNvPr id="7" name="TextBox 6">
            <a:hlinkClick action="ppaction://hlinksldjump" r:id="rId3"/>
          </p:cNvPr>
          <p:cNvSpPr txBox="1"/>
          <p:nvPr/>
        </p:nvSpPr>
        <p:spPr>
          <a:xfrm>
            <a:off x="777240"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8" name="TextBox 7">
            <a:hlinkClick action="ppaction://hlinksldjump" r:id="rId3"/>
          </p:cNvPr>
          <p:cNvSpPr txBox="1"/>
          <p:nvPr/>
        </p:nvSpPr>
        <p:spPr>
          <a:xfrm>
            <a:off x="3172968" y="1810512"/>
            <a:ext cx="621792" cy="164592"/>
          </a:xfrm>
          <a:prstGeom prst="rect">
            <a:avLst/>
          </a:prstGeom>
          <a:noFill/>
        </p:spPr>
        <p:txBody>
          <a:bodyPr wrap="square" lIns="73152" rIns="73152" tIns="36576" bIns="36576" anchor="t">
            <a:normAutofit/>
          </a:bodyPr>
          <a:lstStyle/>
          <a:p>
            <a:pPr algn="r"/>
            <a:r>
              <a:rPr sz="740" b="1">
                <a:solidFill>
                  <a:srgbClr val="C5362D"/>
                </a:solidFill>
                <a:latin typeface="Microsoft YaHei"/>
              </a:rPr>
              <a:t>79项</a:t>
            </a:r>
          </a:p>
        </p:txBody>
      </p:sp>
      <p:sp>
        <p:nvSpPr>
          <p:cNvPr id="9" name="Rounded Rectangle 8">
            <a:hlinkClick action="ppaction://hlinksldjump" r:id="rId4"/>
          </p:cNvPr>
          <p:cNvSpPr/>
          <p:nvPr/>
        </p:nvSpPr>
        <p:spPr>
          <a:xfrm>
            <a:off x="4325112"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a:hlinkClick action="ppaction://hlinksldjump" r:id="rId4"/>
          </p:cNvPr>
          <p:cNvSpPr/>
          <p:nvPr/>
        </p:nvSpPr>
        <p:spPr>
          <a:xfrm>
            <a:off x="4325112" y="1325880"/>
            <a:ext cx="91440" cy="786384"/>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a:hlinkClick action="ppaction://hlinksldjump" r:id="rId4"/>
          </p:cNvPr>
          <p:cNvSpPr txBox="1"/>
          <p:nvPr/>
        </p:nvSpPr>
        <p:spPr>
          <a:xfrm>
            <a:off x="4507992"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双抗</a:t>
            </a:r>
          </a:p>
        </p:txBody>
      </p:sp>
      <p:sp>
        <p:nvSpPr>
          <p:cNvPr id="12" name="TextBox 11">
            <a:hlinkClick action="ppaction://hlinksldjump" r:id="rId4"/>
          </p:cNvPr>
          <p:cNvSpPr txBox="1"/>
          <p:nvPr/>
        </p:nvSpPr>
        <p:spPr>
          <a:xfrm>
            <a:off x="4507992"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13" name="TextBox 12">
            <a:hlinkClick action="ppaction://hlinksldjump" r:id="rId4"/>
          </p:cNvPr>
          <p:cNvSpPr txBox="1"/>
          <p:nvPr/>
        </p:nvSpPr>
        <p:spPr>
          <a:xfrm>
            <a:off x="6903720" y="1810512"/>
            <a:ext cx="621792" cy="164592"/>
          </a:xfrm>
          <a:prstGeom prst="rect">
            <a:avLst/>
          </a:prstGeom>
          <a:noFill/>
        </p:spPr>
        <p:txBody>
          <a:bodyPr wrap="square" lIns="73152" rIns="73152" tIns="36576" bIns="36576" anchor="t">
            <a:normAutofit/>
          </a:bodyPr>
          <a:lstStyle/>
          <a:p>
            <a:pPr algn="r"/>
            <a:r>
              <a:rPr sz="740" b="1">
                <a:solidFill>
                  <a:srgbClr val="265E8F"/>
                </a:solidFill>
                <a:latin typeface="Microsoft YaHei"/>
              </a:rPr>
              <a:t>14项</a:t>
            </a:r>
          </a:p>
        </p:txBody>
      </p:sp>
      <p:sp>
        <p:nvSpPr>
          <p:cNvPr id="14" name="Rounded Rectangle 13">
            <a:hlinkClick action="ppaction://hlinksldjump" r:id="rId5"/>
          </p:cNvPr>
          <p:cNvSpPr/>
          <p:nvPr/>
        </p:nvSpPr>
        <p:spPr>
          <a:xfrm>
            <a:off x="8055864" y="1325880"/>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a:hlinkClick action="ppaction://hlinksldjump" r:id="rId5"/>
          </p:cNvPr>
          <p:cNvSpPr/>
          <p:nvPr/>
        </p:nvSpPr>
        <p:spPr>
          <a:xfrm>
            <a:off x="8055864" y="1325880"/>
            <a:ext cx="91440" cy="786384"/>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a:hlinkClick action="ppaction://hlinksldjump" r:id="rId5"/>
          </p:cNvPr>
          <p:cNvSpPr txBox="1"/>
          <p:nvPr/>
        </p:nvSpPr>
        <p:spPr>
          <a:xfrm>
            <a:off x="8238744" y="1453895"/>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ADC</a:t>
            </a:r>
          </a:p>
        </p:txBody>
      </p:sp>
      <p:sp>
        <p:nvSpPr>
          <p:cNvPr id="17" name="TextBox 16">
            <a:hlinkClick action="ppaction://hlinksldjump" r:id="rId5"/>
          </p:cNvPr>
          <p:cNvSpPr txBox="1"/>
          <p:nvPr/>
        </p:nvSpPr>
        <p:spPr>
          <a:xfrm>
            <a:off x="8238744" y="1773936"/>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18" name="TextBox 17">
            <a:hlinkClick action="ppaction://hlinksldjump" r:id="rId5"/>
          </p:cNvPr>
          <p:cNvSpPr txBox="1"/>
          <p:nvPr/>
        </p:nvSpPr>
        <p:spPr>
          <a:xfrm>
            <a:off x="10634472" y="1810512"/>
            <a:ext cx="621792" cy="164592"/>
          </a:xfrm>
          <a:prstGeom prst="rect">
            <a:avLst/>
          </a:prstGeom>
          <a:noFill/>
        </p:spPr>
        <p:txBody>
          <a:bodyPr wrap="square" lIns="73152" rIns="73152" tIns="36576" bIns="36576" anchor="t">
            <a:normAutofit/>
          </a:bodyPr>
          <a:lstStyle/>
          <a:p>
            <a:pPr algn="r"/>
            <a:r>
              <a:rPr sz="740" b="1">
                <a:solidFill>
                  <a:srgbClr val="2A795B"/>
                </a:solidFill>
                <a:latin typeface="Microsoft YaHei"/>
              </a:rPr>
              <a:t>13项</a:t>
            </a:r>
          </a:p>
        </p:txBody>
      </p:sp>
      <p:sp>
        <p:nvSpPr>
          <p:cNvPr id="19" name="Rounded Rectangle 18">
            <a:hlinkClick action="ppaction://hlinksldjump" r:id="rId6"/>
          </p:cNvPr>
          <p:cNvSpPr/>
          <p:nvPr/>
        </p:nvSpPr>
        <p:spPr>
          <a:xfrm>
            <a:off x="594360" y="2350008"/>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a:hlinkClick action="ppaction://hlinksldjump" r:id="rId6"/>
          </p:cNvPr>
          <p:cNvSpPr/>
          <p:nvPr/>
        </p:nvSpPr>
        <p:spPr>
          <a:xfrm>
            <a:off x="594360" y="2350008"/>
            <a:ext cx="91440" cy="786384"/>
          </a:xfrm>
          <a:prstGeom prst="rect">
            <a:avLst/>
          </a:prstGeom>
          <a:solidFill>
            <a:srgbClr val="EC8832"/>
          </a:solidFill>
          <a:ln w="8890">
            <a:solidFill>
              <a:srgbClr val="EC88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a:hlinkClick action="ppaction://hlinksldjump" r:id="rId6"/>
          </p:cNvPr>
          <p:cNvSpPr txBox="1"/>
          <p:nvPr/>
        </p:nvSpPr>
        <p:spPr>
          <a:xfrm>
            <a:off x="777240" y="2478024"/>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BTKi</a:t>
            </a:r>
          </a:p>
        </p:txBody>
      </p:sp>
      <p:sp>
        <p:nvSpPr>
          <p:cNvPr id="22" name="TextBox 21">
            <a:hlinkClick action="ppaction://hlinksldjump" r:id="rId6"/>
          </p:cNvPr>
          <p:cNvSpPr txBox="1"/>
          <p:nvPr/>
        </p:nvSpPr>
        <p:spPr>
          <a:xfrm>
            <a:off x="777240" y="2798064"/>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23" name="TextBox 22">
            <a:hlinkClick action="ppaction://hlinksldjump" r:id="rId6"/>
          </p:cNvPr>
          <p:cNvSpPr txBox="1"/>
          <p:nvPr/>
        </p:nvSpPr>
        <p:spPr>
          <a:xfrm>
            <a:off x="3172968" y="2834640"/>
            <a:ext cx="621792" cy="164592"/>
          </a:xfrm>
          <a:prstGeom prst="rect">
            <a:avLst/>
          </a:prstGeom>
          <a:noFill/>
        </p:spPr>
        <p:txBody>
          <a:bodyPr wrap="square" lIns="73152" rIns="73152" tIns="36576" bIns="36576" anchor="t">
            <a:normAutofit/>
          </a:bodyPr>
          <a:lstStyle/>
          <a:p>
            <a:pPr algn="r"/>
            <a:r>
              <a:rPr sz="740" b="1">
                <a:solidFill>
                  <a:srgbClr val="EC8832"/>
                </a:solidFill>
                <a:latin typeface="Microsoft YaHei"/>
              </a:rPr>
              <a:t>19项</a:t>
            </a:r>
          </a:p>
        </p:txBody>
      </p:sp>
      <p:sp>
        <p:nvSpPr>
          <p:cNvPr id="24" name="Rounded Rectangle 23">
            <a:hlinkClick action="ppaction://hlinksldjump" r:id="rId7"/>
          </p:cNvPr>
          <p:cNvSpPr/>
          <p:nvPr/>
        </p:nvSpPr>
        <p:spPr>
          <a:xfrm>
            <a:off x="4325112" y="2350008"/>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a:hlinkClick action="ppaction://hlinksldjump" r:id="rId7"/>
          </p:cNvPr>
          <p:cNvSpPr/>
          <p:nvPr/>
        </p:nvSpPr>
        <p:spPr>
          <a:xfrm>
            <a:off x="4325112" y="2350008"/>
            <a:ext cx="91440" cy="786384"/>
          </a:xfrm>
          <a:prstGeom prst="rect">
            <a:avLst/>
          </a:prstGeom>
          <a:solidFill>
            <a:srgbClr val="65489B"/>
          </a:solidFill>
          <a:ln w="8890">
            <a:solidFill>
              <a:srgbClr val="6548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a:hlinkClick action="ppaction://hlinksldjump" r:id="rId7"/>
          </p:cNvPr>
          <p:cNvSpPr txBox="1"/>
          <p:nvPr/>
        </p:nvSpPr>
        <p:spPr>
          <a:xfrm>
            <a:off x="4507992" y="2478024"/>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化疗/免疫化疗</a:t>
            </a:r>
          </a:p>
        </p:txBody>
      </p:sp>
      <p:sp>
        <p:nvSpPr>
          <p:cNvPr id="27" name="TextBox 26">
            <a:hlinkClick action="ppaction://hlinksldjump" r:id="rId7"/>
          </p:cNvPr>
          <p:cNvSpPr txBox="1"/>
          <p:nvPr/>
        </p:nvSpPr>
        <p:spPr>
          <a:xfrm>
            <a:off x="4507992" y="2798064"/>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28" name="TextBox 27">
            <a:hlinkClick action="ppaction://hlinksldjump" r:id="rId7"/>
          </p:cNvPr>
          <p:cNvSpPr txBox="1"/>
          <p:nvPr/>
        </p:nvSpPr>
        <p:spPr>
          <a:xfrm>
            <a:off x="6903720" y="2834640"/>
            <a:ext cx="621792" cy="164592"/>
          </a:xfrm>
          <a:prstGeom prst="rect">
            <a:avLst/>
          </a:prstGeom>
          <a:noFill/>
        </p:spPr>
        <p:txBody>
          <a:bodyPr wrap="square" lIns="73152" rIns="73152" tIns="36576" bIns="36576" anchor="t">
            <a:normAutofit/>
          </a:bodyPr>
          <a:lstStyle/>
          <a:p>
            <a:pPr algn="r"/>
            <a:r>
              <a:rPr sz="740" b="1">
                <a:solidFill>
                  <a:srgbClr val="65489B"/>
                </a:solidFill>
                <a:latin typeface="Microsoft YaHei"/>
              </a:rPr>
              <a:t>24项</a:t>
            </a:r>
          </a:p>
        </p:txBody>
      </p:sp>
      <p:sp>
        <p:nvSpPr>
          <p:cNvPr id="29" name="Rounded Rectangle 28">
            <a:hlinkClick action="ppaction://hlinksldjump" r:id="rId8"/>
          </p:cNvPr>
          <p:cNvSpPr/>
          <p:nvPr/>
        </p:nvSpPr>
        <p:spPr>
          <a:xfrm>
            <a:off x="8055864" y="2350008"/>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a:hlinkClick action="ppaction://hlinksldjump" r:id="rId8"/>
          </p:cNvPr>
          <p:cNvSpPr/>
          <p:nvPr/>
        </p:nvSpPr>
        <p:spPr>
          <a:xfrm>
            <a:off x="8055864" y="2350008"/>
            <a:ext cx="91440" cy="786384"/>
          </a:xfrm>
          <a:prstGeom prst="rect">
            <a:avLst/>
          </a:prstGeom>
          <a:solidFill>
            <a:srgbClr val="C5362D"/>
          </a:solidFill>
          <a:ln w="8890">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a:hlinkClick action="ppaction://hlinksldjump" r:id="rId8"/>
          </p:cNvPr>
          <p:cNvSpPr txBox="1"/>
          <p:nvPr/>
        </p:nvSpPr>
        <p:spPr>
          <a:xfrm>
            <a:off x="8238744" y="2478024"/>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CNS穿透/放疗/MTX策略</a:t>
            </a:r>
          </a:p>
        </p:txBody>
      </p:sp>
      <p:sp>
        <p:nvSpPr>
          <p:cNvPr id="32" name="TextBox 31">
            <a:hlinkClick action="ppaction://hlinksldjump" r:id="rId8"/>
          </p:cNvPr>
          <p:cNvSpPr txBox="1"/>
          <p:nvPr/>
        </p:nvSpPr>
        <p:spPr>
          <a:xfrm>
            <a:off x="8238744" y="2798064"/>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33" name="TextBox 32">
            <a:hlinkClick action="ppaction://hlinksldjump" r:id="rId8"/>
          </p:cNvPr>
          <p:cNvSpPr txBox="1"/>
          <p:nvPr/>
        </p:nvSpPr>
        <p:spPr>
          <a:xfrm>
            <a:off x="10634472" y="2834640"/>
            <a:ext cx="621792" cy="164592"/>
          </a:xfrm>
          <a:prstGeom prst="rect">
            <a:avLst/>
          </a:prstGeom>
          <a:noFill/>
        </p:spPr>
        <p:txBody>
          <a:bodyPr wrap="square" lIns="73152" rIns="73152" tIns="36576" bIns="36576" anchor="t">
            <a:normAutofit/>
          </a:bodyPr>
          <a:lstStyle/>
          <a:p>
            <a:pPr algn="r"/>
            <a:r>
              <a:rPr sz="740" b="1">
                <a:solidFill>
                  <a:srgbClr val="C5362D"/>
                </a:solidFill>
                <a:latin typeface="Microsoft YaHei"/>
              </a:rPr>
              <a:t>4项</a:t>
            </a:r>
          </a:p>
        </p:txBody>
      </p:sp>
      <p:sp>
        <p:nvSpPr>
          <p:cNvPr id="34" name="Rounded Rectangle 33">
            <a:hlinkClick action="ppaction://hlinksldjump" r:id="rId9"/>
          </p:cNvPr>
          <p:cNvSpPr/>
          <p:nvPr/>
        </p:nvSpPr>
        <p:spPr>
          <a:xfrm>
            <a:off x="594360" y="3374136"/>
            <a:ext cx="3383280" cy="786384"/>
          </a:xfrm>
          <a:prstGeom prst="round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a:hlinkClick action="ppaction://hlinksldjump" r:id="rId9"/>
          </p:cNvPr>
          <p:cNvSpPr/>
          <p:nvPr/>
        </p:nvSpPr>
        <p:spPr>
          <a:xfrm>
            <a:off x="594360" y="3374136"/>
            <a:ext cx="91440" cy="786384"/>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a:hlinkClick action="ppaction://hlinksldjump" r:id="rId9"/>
          </p:cNvPr>
          <p:cNvSpPr txBox="1"/>
          <p:nvPr/>
        </p:nvSpPr>
        <p:spPr>
          <a:xfrm>
            <a:off x="777240" y="3502152"/>
            <a:ext cx="3035808" cy="256032"/>
          </a:xfrm>
          <a:prstGeom prst="rect">
            <a:avLst/>
          </a:prstGeom>
          <a:noFill/>
        </p:spPr>
        <p:txBody>
          <a:bodyPr wrap="square" lIns="73152" rIns="73152" tIns="36576" bIns="36576" anchor="t">
            <a:normAutofit/>
          </a:bodyPr>
          <a:lstStyle/>
          <a:p>
            <a:pPr algn="l"/>
            <a:r>
              <a:rPr sz="1140" b="1">
                <a:solidFill>
                  <a:srgbClr val="21242A"/>
                </a:solidFill>
                <a:latin typeface="Microsoft YaHei"/>
              </a:rPr>
              <a:t>其他/未明确药物</a:t>
            </a:r>
          </a:p>
        </p:txBody>
      </p:sp>
      <p:sp>
        <p:nvSpPr>
          <p:cNvPr id="37" name="TextBox 36">
            <a:hlinkClick action="ppaction://hlinksldjump" r:id="rId9"/>
          </p:cNvPr>
          <p:cNvSpPr txBox="1"/>
          <p:nvPr/>
        </p:nvSpPr>
        <p:spPr>
          <a:xfrm>
            <a:off x="777240" y="3822192"/>
            <a:ext cx="3035808" cy="256032"/>
          </a:xfrm>
          <a:prstGeom prst="rect">
            <a:avLst/>
          </a:prstGeom>
          <a:noFill/>
        </p:spPr>
        <p:txBody>
          <a:bodyPr wrap="square" lIns="73152" rIns="73152" tIns="36576" bIns="36576" anchor="t">
            <a:normAutofit/>
          </a:bodyPr>
          <a:lstStyle/>
          <a:p>
            <a:pPr algn="l"/>
            <a:r>
              <a:rPr sz="740" b="0">
                <a:solidFill>
                  <a:srgbClr val="5E6570"/>
                </a:solidFill>
                <a:latin typeface="Microsoft YaHei"/>
              </a:rPr>
              <a:t>点击跳到该药物/技术首项研究</a:t>
            </a:r>
          </a:p>
        </p:txBody>
      </p:sp>
      <p:sp>
        <p:nvSpPr>
          <p:cNvPr id="38" name="TextBox 37">
            <a:hlinkClick action="ppaction://hlinksldjump" r:id="rId9"/>
          </p:cNvPr>
          <p:cNvSpPr txBox="1"/>
          <p:nvPr/>
        </p:nvSpPr>
        <p:spPr>
          <a:xfrm>
            <a:off x="3172968" y="3858768"/>
            <a:ext cx="621792" cy="164592"/>
          </a:xfrm>
          <a:prstGeom prst="rect">
            <a:avLst/>
          </a:prstGeom>
          <a:noFill/>
        </p:spPr>
        <p:txBody>
          <a:bodyPr wrap="square" lIns="73152" rIns="73152" tIns="36576" bIns="36576" anchor="t">
            <a:normAutofit/>
          </a:bodyPr>
          <a:lstStyle/>
          <a:p>
            <a:pPr algn="r"/>
            <a:r>
              <a:rPr sz="740" b="1">
                <a:solidFill>
                  <a:srgbClr val="265E8F"/>
                </a:solidFill>
                <a:latin typeface="Microsoft YaHei"/>
              </a:rPr>
              <a:t>34项</a:t>
            </a:r>
          </a:p>
        </p:txBody>
      </p:sp>
      <p:sp>
        <p:nvSpPr>
          <p:cNvPr id="39" name="Rounded Rectangle 38">
            <a:hlinkClick action="ppaction://hlinksldjump" r:id="rId2"/>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84048"/>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章节</a:t>
            </a:r>
          </a:p>
        </p:txBody>
      </p:sp>
      <p:sp>
        <p:nvSpPr>
          <p:cNvPr id="3" name="TextBox 2"/>
          <p:cNvSpPr txBox="1"/>
          <p:nvPr/>
        </p:nvSpPr>
        <p:spPr>
          <a:xfrm>
            <a:off x="1600200" y="274320"/>
            <a:ext cx="9326880" cy="502920"/>
          </a:xfrm>
          <a:prstGeom prst="rect">
            <a:avLst/>
          </a:prstGeom>
          <a:noFill/>
        </p:spPr>
        <p:txBody>
          <a:bodyPr wrap="square" lIns="73152" rIns="73152" tIns="36576" bIns="36576" anchor="t">
            <a:normAutofit/>
          </a:bodyPr>
          <a:lstStyle/>
          <a:p>
            <a:pPr algn="l"/>
            <a:r>
              <a:rPr sz="2200" b="1">
                <a:solidFill>
                  <a:srgbClr val="21242A"/>
                </a:solidFill>
                <a:latin typeface="Microsoft YaHei"/>
              </a:rPr>
              <a:t>前瞻性临床试验</a:t>
            </a:r>
          </a:p>
        </p:txBody>
      </p:sp>
      <p:sp>
        <p:nvSpPr>
          <p:cNvPr id="4" name="TextBox 3"/>
          <p:cNvSpPr txBox="1"/>
          <p:nvPr/>
        </p:nvSpPr>
        <p:spPr>
          <a:xfrm>
            <a:off x="1627632" y="859536"/>
            <a:ext cx="9144000" cy="228600"/>
          </a:xfrm>
          <a:prstGeom prst="rect">
            <a:avLst/>
          </a:prstGeom>
          <a:noFill/>
        </p:spPr>
        <p:txBody>
          <a:bodyPr wrap="square" lIns="73152" rIns="73152" tIns="36576" bIns="36576" anchor="t">
            <a:normAutofit/>
          </a:bodyPr>
          <a:lstStyle/>
          <a:p>
            <a:pPr algn="l"/>
            <a:r>
              <a:rPr sz="919" b="0">
                <a:solidFill>
                  <a:srgbClr val="5E6570"/>
                </a:solidFill>
                <a:latin typeface="Microsoft YaHei"/>
              </a:rPr>
              <a:t>105项研究；以下按疾病场景和药物/技术继续细分。</a:t>
            </a:r>
          </a:p>
        </p:txBody>
      </p:sp>
      <p:sp>
        <p:nvSpPr>
          <p:cNvPr id="5" name="TextBox 4"/>
          <p:cNvSpPr txBox="1"/>
          <p:nvPr/>
        </p:nvSpPr>
        <p:spPr>
          <a:xfrm>
            <a:off x="640080" y="148132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疾病场景</a:t>
            </a:r>
          </a:p>
        </p:txBody>
      </p:sp>
      <p:sp>
        <p:nvSpPr>
          <p:cNvPr id="6" name="TextBox 5"/>
          <p:cNvSpPr txBox="1"/>
          <p:nvPr/>
        </p:nvSpPr>
        <p:spPr>
          <a:xfrm>
            <a:off x="768096" y="182880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LBCL/HGBL：73项</a:t>
            </a:r>
          </a:p>
        </p:txBody>
      </p:sp>
      <p:sp>
        <p:nvSpPr>
          <p:cNvPr id="7" name="Rectangle 6"/>
          <p:cNvSpPr/>
          <p:nvPr/>
        </p:nvSpPr>
        <p:spPr>
          <a:xfrm>
            <a:off x="4297680" y="1874519"/>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874519"/>
            <a:ext cx="2011680"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4884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SCNSL/CNS复发或预防：13项</a:t>
            </a:r>
          </a:p>
        </p:txBody>
      </p:sp>
      <p:sp>
        <p:nvSpPr>
          <p:cNvPr id="10" name="Rectangle 9"/>
          <p:cNvSpPr/>
          <p:nvPr/>
        </p:nvSpPr>
        <p:spPr>
          <a:xfrm>
            <a:off x="4297680" y="219456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2194560"/>
            <a:ext cx="358244"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46888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PMBCL/特殊亚型：9项</a:t>
            </a:r>
          </a:p>
        </p:txBody>
      </p:sp>
      <p:sp>
        <p:nvSpPr>
          <p:cNvPr id="13" name="Rectangle 12"/>
          <p:cNvSpPr/>
          <p:nvPr/>
        </p:nvSpPr>
        <p:spPr>
          <a:xfrm>
            <a:off x="4297680" y="251460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514600"/>
            <a:ext cx="248015"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8892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转化/Richter：7项</a:t>
            </a:r>
          </a:p>
        </p:txBody>
      </p:sp>
      <p:sp>
        <p:nvSpPr>
          <p:cNvPr id="16" name="Rectangle 15"/>
          <p:cNvSpPr/>
          <p:nvPr/>
        </p:nvSpPr>
        <p:spPr>
          <a:xfrm>
            <a:off x="4297680" y="283464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834640"/>
            <a:ext cx="192900"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10896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PCNSL：2项</a:t>
            </a:r>
          </a:p>
        </p:txBody>
      </p:sp>
      <p:sp>
        <p:nvSpPr>
          <p:cNvPr id="19" name="Rectangle 18"/>
          <p:cNvSpPr/>
          <p:nvPr/>
        </p:nvSpPr>
        <p:spPr>
          <a:xfrm>
            <a:off x="4297680" y="315468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3154680"/>
            <a:ext cx="55114"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42900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眼内/玻璃体视网膜淋巴瘤：1项</a:t>
            </a:r>
          </a:p>
        </p:txBody>
      </p:sp>
      <p:sp>
        <p:nvSpPr>
          <p:cNvPr id="22" name="Rectangle 21"/>
          <p:cNvSpPr/>
          <p:nvPr/>
        </p:nvSpPr>
        <p:spPr>
          <a:xfrm>
            <a:off x="4297680" y="347472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3474720"/>
            <a:ext cx="27557"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481328"/>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药物/技术</a:t>
            </a:r>
          </a:p>
        </p:txBody>
      </p:sp>
      <p:sp>
        <p:nvSpPr>
          <p:cNvPr id="25" name="TextBox 24"/>
          <p:cNvSpPr txBox="1"/>
          <p:nvPr/>
        </p:nvSpPr>
        <p:spPr>
          <a:xfrm>
            <a:off x="6720840" y="182880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CAR-T/细胞治疗：38项</a:t>
            </a:r>
          </a:p>
        </p:txBody>
      </p:sp>
      <p:sp>
        <p:nvSpPr>
          <p:cNvPr id="26" name="Rectangle 25"/>
          <p:cNvSpPr/>
          <p:nvPr/>
        </p:nvSpPr>
        <p:spPr>
          <a:xfrm>
            <a:off x="9893808" y="1874519"/>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93808" y="1874519"/>
            <a:ext cx="1508760"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214884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BTKi：17项</a:t>
            </a:r>
          </a:p>
        </p:txBody>
      </p:sp>
      <p:sp>
        <p:nvSpPr>
          <p:cNvPr id="29" name="Rectangle 28"/>
          <p:cNvSpPr/>
          <p:nvPr/>
        </p:nvSpPr>
        <p:spPr>
          <a:xfrm>
            <a:off x="9893808" y="219456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93808" y="2194560"/>
            <a:ext cx="674971"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246888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化疗/免疫化疗：14项</a:t>
            </a:r>
          </a:p>
        </p:txBody>
      </p:sp>
      <p:sp>
        <p:nvSpPr>
          <p:cNvPr id="32" name="Rectangle 31"/>
          <p:cNvSpPr/>
          <p:nvPr/>
        </p:nvSpPr>
        <p:spPr>
          <a:xfrm>
            <a:off x="9893808" y="251460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93808" y="2514600"/>
            <a:ext cx="555858"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278892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其他/未明确药物：14项</a:t>
            </a:r>
          </a:p>
        </p:txBody>
      </p:sp>
      <p:sp>
        <p:nvSpPr>
          <p:cNvPr id="35" name="Rectangle 34"/>
          <p:cNvSpPr/>
          <p:nvPr/>
        </p:nvSpPr>
        <p:spPr>
          <a:xfrm>
            <a:off x="9893808" y="283464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93808" y="2834640"/>
            <a:ext cx="555858"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310896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双抗：12项</a:t>
            </a:r>
          </a:p>
        </p:txBody>
      </p:sp>
      <p:sp>
        <p:nvSpPr>
          <p:cNvPr id="38" name="Rectangle 37"/>
          <p:cNvSpPr/>
          <p:nvPr/>
        </p:nvSpPr>
        <p:spPr>
          <a:xfrm>
            <a:off x="9893808" y="315468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93808" y="3154680"/>
            <a:ext cx="476450"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0840" y="342900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ADC：8项</a:t>
            </a:r>
          </a:p>
        </p:txBody>
      </p:sp>
      <p:sp>
        <p:nvSpPr>
          <p:cNvPr id="41" name="Rectangle 40"/>
          <p:cNvSpPr/>
          <p:nvPr/>
        </p:nvSpPr>
        <p:spPr>
          <a:xfrm>
            <a:off x="9893808" y="347472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93808" y="3474720"/>
            <a:ext cx="317633"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919472"/>
            <a:ext cx="10744200" cy="74980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 y="5065776"/>
            <a:ext cx="10332720" cy="384048"/>
          </a:xfrm>
          <a:prstGeom prst="rect">
            <a:avLst/>
          </a:prstGeom>
          <a:noFill/>
        </p:spPr>
        <p:txBody>
          <a:bodyPr wrap="square" rIns="73152" bIns="36576">
            <a:normAutofit/>
          </a:bodyPr>
          <a:lstStyle/>
          <a:p>
            <a:pPr>
              <a:lnSpc>
                <a:spcPct val="103000"/>
              </a:lnSpc>
              <a:spcAft>
                <a:spcPts val="300"/>
              </a:spcAft>
              <a:defRPr sz="800">
                <a:solidFill>
                  <a:srgbClr val="5E6570"/>
                </a:solidFill>
                <a:latin typeface="Microsoft YaHei"/>
              </a:defRPr>
            </a:pPr>
            <a:r>
              <a:t>章节内每项研究固定两页：研究设计/PICO、证据摘要（摘要/结论/结果/来源）。</a:t>
            </a:r>
          </a:p>
          <a:p>
            <a:pPr>
              <a:lnSpc>
                <a:spcPct val="103000"/>
              </a:lnSpc>
              <a:spcAft>
                <a:spcPts val="300"/>
              </a:spcAft>
              <a:defRPr sz="800">
                <a:solidFill>
                  <a:srgbClr val="5E6570"/>
                </a:solidFill>
                <a:latin typeface="Microsoft YaHei"/>
              </a:defRPr>
            </a:pPr>
            <a:r>
              <a:t>所有证据字段来自EHA页面或已核对原表字段；右下角可跳转EHA原文。</a:t>
            </a:r>
          </a:p>
        </p:txBody>
      </p:sp>
      <p:sp>
        <p:nvSpPr>
          <p:cNvPr id="45" name="Rounded Rectangle 44">
            <a:hlinkClick action="ppaction://hlinksldjump" r:id="rId2"/>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cd19/cd22双特异性car-t细胞治疗复发/难治性大b细胞淋巴瘤及其机制研究：一项前瞻性、单臂、单中心、2期临床...</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cd19/cd22 bispecific car-t cell therapy for relapsed/refractory large b-cell...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S286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B细胞非霍奇金淋巴瘤</a:t>
            </a:r>
          </a:p>
          <a:p>
            <a:pPr>
              <a:lnSpc>
                <a:spcPct val="103000"/>
              </a:lnSpc>
              <a:spcAft>
                <a:spcPts val="300"/>
              </a:spcAft>
              <a:defRPr sz="800">
                <a:solidFill>
                  <a:srgbClr val="21242A"/>
                </a:solidFill>
                <a:latin typeface="Microsoft YaHei"/>
              </a:defRPr>
            </a:pPr>
            <a:r>
              <a:t>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试验药/方案：CD19/CD22靶向CAR-T(同仁医院)</a:t>
            </a:r>
          </a:p>
          <a:p>
            <a:pPr>
              <a:lnSpc>
                <a:spcPct val="103000"/>
              </a:lnSpc>
              <a:spcAft>
                <a:spcPts val="300"/>
              </a:spcAft>
              <a:defRPr sz="800">
                <a:solidFill>
                  <a:srgbClr val="21242A"/>
                </a:solidFill>
                <a:latin typeface="Microsoft YaHei"/>
              </a:defRPr>
            </a:pPr>
            <a:r>
              <a:t>靶点：CD19，CD22</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最佳客观缓解率(ORR): 95.9%</a:t>
            </a:r>
          </a:p>
          <a:p>
            <a:pPr>
              <a:lnSpc>
                <a:spcPct val="103000"/>
              </a:lnSpc>
              <a:spcAft>
                <a:spcPts val="300"/>
              </a:spcAft>
              <a:defRPr sz="800">
                <a:solidFill>
                  <a:srgbClr val="21242A"/>
                </a:solidFill>
                <a:latin typeface="Microsoft YaHei"/>
              </a:defRPr>
            </a:pPr>
            <a:r>
              <a:t>最佳完全缓解率(CRR): 56.2%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人数：73</a:t>
            </a:r>
          </a:p>
          <a:p>
            <a:pPr>
              <a:lnSpc>
                <a:spcPct val="103000"/>
              </a:lnSpc>
              <a:spcAft>
                <a:spcPts val="300"/>
              </a:spcAft>
              <a:defRPr sz="810">
                <a:solidFill>
                  <a:srgbClr val="21242A"/>
                </a:solidFill>
                <a:latin typeface="Microsoft YaHei"/>
              </a:defRPr>
            </a:pPr>
            <a:r>
              <a:t>适应症：B细胞非霍奇金淋巴瘤、大B细胞淋巴瘤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登记号：NCT06081478</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试验药/方案：CD19/CD22靶向CAR-T(同仁医院)</a:t>
            </a:r>
          </a:p>
          <a:p>
            <a:pPr>
              <a:lnSpc>
                <a:spcPct val="103000"/>
              </a:lnSpc>
              <a:spcAft>
                <a:spcPts val="300"/>
              </a:spcAft>
              <a:defRPr sz="810">
                <a:solidFill>
                  <a:srgbClr val="21242A"/>
                </a:solidFill>
                <a:latin typeface="Microsoft YaHei"/>
              </a:defRPr>
            </a:pPr>
            <a:r>
              <a:t>靶点：CD19、CD22</a:t>
            </a:r>
          </a:p>
          <a:p>
            <a:pPr>
              <a:lnSpc>
                <a:spcPct val="103000"/>
              </a:lnSpc>
              <a:spcAft>
                <a:spcPts val="300"/>
              </a:spcAft>
              <a:defRPr sz="810">
                <a:solidFill>
                  <a:srgbClr val="21242A"/>
                </a:solidFill>
                <a:latin typeface="Microsoft YaHei"/>
              </a:defRPr>
            </a:pPr>
            <a:r>
              <a:t>药物/技术类别：CAR-T、自体细胞、经基因修饰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cd19/cd22双特异性car-t细胞治疗复发/难治性大b细胞淋巴瘤及其机制研究：一项前瞻性、单臂、单中心、2期临床...</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cd19/cd22 bispecific car-t cell therapy for relapsed/refractory large b-cell...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S286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背景：靶向CD19的嵌合抗原受体T细胞（CAR-T）对复发或难治性大B细胞淋巴瘤（R/R LBCL）患者显示出良好的疗效，但只有三分之一的患者获得持久缓解，且耐药机制复杂。研究发现，针对 CD22 的 CAR-T 细胞对先前抗 CD19 CAR-T 细胞治疗失败的患者有效。目的：在这项前瞻性研究中，我们旨在评估 CD1</a:t>
            </a:r>
          </a:p>
          <a:p>
            <a:pPr>
              <a:lnSpc>
                <a:spcPct val="103000"/>
              </a:lnSpc>
              <a:spcAft>
                <a:spcPts val="300"/>
              </a:spcAft>
              <a:defRPr sz="550">
                <a:solidFill>
                  <a:srgbClr val="21242A"/>
                </a:solidFill>
                <a:latin typeface="Microsoft YaHei"/>
              </a:defRPr>
            </a:pPr>
            <a:r>
              <a:t>9/CD22 双特异性 CAR-T 细胞疗法 (CAR2219) 对 R/R LBCL 患者的疗效和安全性，并利用单细胞测序和体外实验探讨与治疗反应相关的潜在机制。方法：截至 2026 年 2 月 10 日，这项正在进行的 2 期临床试验已入组 73 名 R/R LBCL 患者，所有患者的疗效和安全性均可进行评估。允许</a:t>
            </a:r>
          </a:p>
          <a:p>
            <a:pPr>
              <a:lnSpc>
                <a:spcPct val="103000"/>
              </a:lnSpc>
              <a:spcAft>
                <a:spcPts val="300"/>
              </a:spcAft>
              <a:defRPr sz="550">
                <a:solidFill>
                  <a:srgbClr val="21242A"/>
                </a:solidFill>
                <a:latin typeface="Microsoft YaHei"/>
              </a:defRPr>
            </a:pPr>
            <a:r>
              <a:t>进行桥接治疗。</a:t>
            </a:r>
          </a:p>
          <a:p>
            <a:pPr>
              <a:lnSpc>
                <a:spcPct val="103000"/>
              </a:lnSpc>
              <a:spcAft>
                <a:spcPts val="300"/>
              </a:spcAft>
              <a:defRPr sz="550">
                <a:solidFill>
                  <a:srgbClr val="21242A"/>
                </a:solidFill>
                <a:latin typeface="Microsoft YaHei"/>
              </a:defRPr>
            </a:pPr>
            <a:r>
              <a:t>3 天的淋巴清除（环磷酰胺：250 mg/m2/d；氟达拉滨：25 mg/m2/d）后静脉注射 CAR2219（2×10e6/kg）。对于对 CAR2219 治疗有反应的患者，还允许使用 PD-1 抑制剂、XPO1 抑制剂、BTK 抑制剂或 HDAC 抑制剂进行维持治疗。主要终点是 CAR-T 细胞输注后 3 个月的最</a:t>
            </a:r>
          </a:p>
          <a:p>
            <a:pPr>
              <a:lnSpc>
                <a:spcPct val="103000"/>
              </a:lnSpc>
              <a:spcAft>
                <a:spcPts val="300"/>
              </a:spcAft>
              <a:defRPr sz="550">
                <a:solidFill>
                  <a:srgbClr val="21242A"/>
                </a:solidFill>
                <a:latin typeface="Microsoft YaHei"/>
              </a:defRPr>
            </a:pPr>
            <a:r>
              <a:t>佳总体缓解率 (ORR)。次要终点包括最佳完全缓解率（CRR）、无进展生存期（PFS）、总生存期（OS）和不良事件（AE）。</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CD19/CD22 双特异性 CAR-T 细胞疗法在 R/R LBCL 患者中表现出令人鼓舞的疗效和良好的安全性。特定CD4⁺ T细胞亚群的富集、干扰素途径的激活以及病毒拟态的激活可能与该疗法的疗效密切相关。 （ClinicalTrials.gov 标识符：NCT06081478）</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最佳客观缓解率(ORR)</a:t>
                      </a:r>
                    </a:p>
                  </a:txBody>
                  <a:tcPr>
                    <a:solidFill>
                      <a:srgbClr val="F6F8FB"/>
                    </a:solidFill>
                  </a:tcPr>
                </a:tc>
                <a:tc>
                  <a:txBody>
                    <a:bodyPr wrap="square" lIns="36576" rIns="36576" tIns="18288" bIns="18288"/>
                    <a:lstStyle/>
                    <a:p>
                      <a:r>
                        <a:rPr sz="540" b="0">
                          <a:solidFill>
                            <a:srgbClr val="21242A"/>
                          </a:solidFill>
                          <a:latin typeface="Microsoft YaHei"/>
                        </a:rPr>
                        <a:t>95.9%</a:t>
                      </a:r>
                    </a:p>
                  </a:txBody>
                  <a:tcPr>
                    <a:solidFill>
                      <a:srgbClr val="F6F8FB"/>
                    </a:solidFill>
                  </a:tcPr>
                </a:tc>
              </a:tr>
              <a:tr h="214230">
                <a:tc>
                  <a:txBody>
                    <a:bodyPr wrap="square" lIns="36576" rIns="36576" tIns="18288" bIns="18288"/>
                    <a:lstStyle/>
                    <a:p>
                      <a:r>
                        <a:rPr sz="540" b="1">
                          <a:solidFill>
                            <a:srgbClr val="21242A"/>
                          </a:solidFill>
                          <a:latin typeface="Microsoft YaHei"/>
                        </a:rPr>
                        <a:t>最佳完全缓解率(CRR)</a:t>
                      </a:r>
                    </a:p>
                  </a:txBody>
                  <a:tcPr>
                    <a:solidFill>
                      <a:srgbClr val="FFFFFF"/>
                    </a:solidFill>
                  </a:tcPr>
                </a:tc>
                <a:tc>
                  <a:txBody>
                    <a:bodyPr wrap="square" lIns="36576" rIns="36576" tIns="18288" bIns="18288"/>
                    <a:lstStyle/>
                    <a:p>
                      <a:r>
                        <a:rPr sz="540" b="0">
                          <a:solidFill>
                            <a:srgbClr val="21242A"/>
                          </a:solidFill>
                          <a:latin typeface="Microsoft YaHei"/>
                        </a:rPr>
                        <a:t>56.2%</a:t>
                      </a:r>
                    </a:p>
                  </a:txBody>
                  <a:tcPr>
                    <a:solidFill>
                      <a:srgbClr val="FFFFFF"/>
                    </a:solidFill>
                  </a:tcPr>
                </a:tc>
              </a:tr>
              <a:tr h="214230">
                <a:tc>
                  <a:txBody>
                    <a:bodyPr wrap="square" lIns="36576" rIns="36576" tIns="18288" bIns="18288"/>
                    <a:lstStyle/>
                    <a:p>
                      <a:r>
                        <a:rPr sz="540" b="1">
                          <a:solidFill>
                            <a:srgbClr val="21242A"/>
                          </a:solidFill>
                          <a:latin typeface="Microsoft YaHei"/>
                        </a:rPr>
                        <a:t>中位无进展生存期(PFS)</a:t>
                      </a:r>
                    </a:p>
                  </a:txBody>
                  <a:tcPr>
                    <a:solidFill>
                      <a:srgbClr val="F6F8FB"/>
                    </a:solidFill>
                  </a:tcPr>
                </a:tc>
                <a:tc>
                  <a:txBody>
                    <a:bodyPr wrap="square" lIns="36576" rIns="36576" tIns="18288" bIns="18288"/>
                    <a:lstStyle/>
                    <a:p>
                      <a:r>
                        <a:rPr sz="540" b="0">
                          <a:solidFill>
                            <a:srgbClr val="21242A"/>
                          </a:solidFill>
                          <a:latin typeface="Microsoft YaHei"/>
                        </a:rPr>
                        <a:t>未达到</a:t>
                      </a:r>
                    </a:p>
                  </a:txBody>
                  <a:tcPr>
                    <a:solidFill>
                      <a:srgbClr val="F6F8FB"/>
                    </a:solidFill>
                  </a:tcPr>
                </a:tc>
              </a:tr>
              <a:tr h="214230">
                <a:tc>
                  <a:txBody>
                    <a:bodyPr wrap="square" lIns="36576" rIns="36576" tIns="18288" bIns="18288"/>
                    <a:lstStyle/>
                    <a:p>
                      <a:r>
                        <a:rPr sz="540" b="1">
                          <a:solidFill>
                            <a:srgbClr val="21242A"/>
                          </a:solidFill>
                          <a:latin typeface="Microsoft YaHei"/>
                        </a:rPr>
                        <a:t>中位总生存期(OS)</a:t>
                      </a:r>
                    </a:p>
                  </a:txBody>
                  <a:tcPr>
                    <a:solidFill>
                      <a:srgbClr val="FFFFFF"/>
                    </a:solidFill>
                  </a:tcPr>
                </a:tc>
                <a:tc>
                  <a:txBody>
                    <a:bodyPr wrap="square" lIns="36576" rIns="36576" tIns="18288" bIns="18288"/>
                    <a:lstStyle/>
                    <a:p>
                      <a:r>
                        <a:rPr sz="540" b="0">
                          <a:solidFill>
                            <a:srgbClr val="21242A"/>
                          </a:solidFill>
                          <a:latin typeface="Microsoft YaHei"/>
                        </a:rPr>
                        <a:t>未达到</a:t>
                      </a:r>
                    </a:p>
                  </a:txBody>
                  <a:tcPr>
                    <a:solidFill>
                      <a:srgbClr val="FFFFFF"/>
                    </a:solidFill>
                  </a:tcPr>
                </a:tc>
              </a:tr>
              <a:tr h="214230">
                <a:tc>
                  <a:txBody>
                    <a:bodyPr wrap="square" lIns="36576" rIns="36576" tIns="18288" bIns="18288"/>
                    <a:lstStyle/>
                    <a:p>
                      <a:r>
                        <a:rPr sz="540" b="1">
                          <a:solidFill>
                            <a:srgbClr val="21242A"/>
                          </a:solidFill>
                          <a:latin typeface="Microsoft YaHei"/>
                        </a:rPr>
                        <a:t>估计24个月PFS率</a:t>
                      </a:r>
                    </a:p>
                  </a:txBody>
                  <a:tcPr>
                    <a:solidFill>
                      <a:srgbClr val="F6F8FB"/>
                    </a:solidFill>
                  </a:tcPr>
                </a:tc>
                <a:tc>
                  <a:txBody>
                    <a:bodyPr wrap="square" lIns="36576" rIns="36576" tIns="18288" bIns="18288"/>
                    <a:lstStyle/>
                    <a:p>
                      <a:r>
                        <a:rPr sz="540" b="0">
                          <a:solidFill>
                            <a:srgbClr val="21242A"/>
                          </a:solidFill>
                          <a:latin typeface="Microsoft YaHei"/>
                        </a:rPr>
                        <a:t>68.5% [95%CI: 57.2-79.8%]</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摘要号：S286</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cd19car t细胞扩增过程中支链氨基酸的生物利用度与lbcl中有利的t细胞状态和临床反应有关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branched-chain amino acid bioavailability during cd19 car t-cell expansion as...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S284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N=66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Tisagenlecleucel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支链氨基酸（缬氨酸和异亮氨酸）升高与完全缓解率及生存期延长显著相关</a:t>
            </a:r>
          </a:p>
          <a:p>
            <a:pPr>
              <a:lnSpc>
                <a:spcPct val="103000"/>
              </a:lnSpc>
              <a:spcAft>
                <a:spcPts val="300"/>
              </a:spcAft>
              <a:defRPr sz="800">
                <a:solidFill>
                  <a:srgbClr val="21242A"/>
                </a:solidFill>
                <a:latin typeface="Microsoft YaHei"/>
              </a:defRPr>
            </a:pPr>
            <a:r>
              <a:t>Profile A患者（氨基酸、葡萄糖、胰岛素、乳酸普遍升高）表现出更高的CD4和CD8 CAR-T细胞水平，以及平衡的CAR...</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人数：66</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试验药/方案：阿基仑赛、Tisagenlecleucel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cd19car t细胞扩增过程中支链氨基酸的生物利用度与lbcl中有利的t细胞状态和临床反应有关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branched-chain amino acid bioavailability during cd19 car t-cell expansion as...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S284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背景：代谢环境关键性地调节 T 细胞的激活、分化和效应功能。不同的 T 细胞亚群表现出特定的代谢程序：效应 T 细胞主要是糖酵解甚至脂肪生成，而调节性 T 细胞 (T REG) 更依赖于氧化和脂质代谢途径。营养剥夺会损害效应器功能并促进功能失调状态。因此，宿主代谢环境可能是 CAR T 细胞扩增和抗肿瘤功效的一个未被充</a:t>
            </a:r>
          </a:p>
          <a:p>
            <a:pPr>
              <a:lnSpc>
                <a:spcPct val="103000"/>
              </a:lnSpc>
              <a:spcAft>
                <a:spcPts val="300"/>
              </a:spcAft>
              <a:defRPr sz="550">
                <a:solidFill>
                  <a:srgbClr val="21242A"/>
                </a:solidFill>
                <a:latin typeface="Microsoft YaHei"/>
              </a:defRPr>
            </a:pPr>
            <a:r>
              <a:t>分认识的决定因素。目的：我们试图确定 CD19 CAR T 细胞输注后血浆营养可用性的动态变化是否与大 B 细胞淋巴瘤 (LBCL) 患者的 T 细胞亚群和临床结果相关。方法：从 CeVi_Collection 向 LBCL 患者输注 axicabtagene ciloleucel (axi-cel) 或 tisage</a:t>
            </a:r>
          </a:p>
          <a:p>
            <a:pPr>
              <a:lnSpc>
                <a:spcPct val="103000"/>
              </a:lnSpc>
              <a:spcAft>
                <a:spcPts val="300"/>
              </a:spcAft>
              <a:defRPr sz="550">
                <a:solidFill>
                  <a:srgbClr val="21242A"/>
                </a:solidFill>
                <a:latin typeface="Microsoft YaHei"/>
              </a:defRPr>
            </a:pPr>
            <a:r>
              <a:t>nlecleucel 后，在基线 (D0) 和第 7 天 (D7) 收集血浆和冷冻保存的外周血单核细胞。葡萄糖、乳酸和胰岛素在 Roche Cobas 8000 平台上进行定量。通过超高效液相色谱-串联质谱法（Waters Xevo-TQD）测量氨基酸浓度，并通过带有火焰离子化检测的气相色谱法评估血浆脂肪酸组成。</a:t>
            </a:r>
          </a:p>
          <a:p>
            <a:pPr>
              <a:lnSpc>
                <a:spcPct val="103000"/>
              </a:lnSpc>
              <a:spcAft>
                <a:spcPts val="300"/>
              </a:spcAft>
              <a:defRPr sz="550">
                <a:solidFill>
                  <a:srgbClr val="21242A"/>
                </a:solidFill>
                <a:latin typeface="Microsoft YaHei"/>
              </a:defRPr>
            </a:pPr>
            <a:r>
              <a:t>D0-D7 变异的无监督层次聚类用于定义代谢谱。</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CD19 CAR T 细胞治疗后血浆营养可用性的动态变化定义了与 T 细胞分化状态和 LBCL 临床结果相关的独特代谢轨迹。特别是，支链氨基酸生物利用度的增加与有利的 CAR T 细胞表型和治疗反应相关。这些发现支持代谢或营养干预措施的开发，以优化 CAR T 细胞扩增和抗肿瘤功效。</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374904">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374904">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支链氨基酸（缬氨酸和异亮氨酸）升高与完全缓解率及生存期延长显著相关</a:t>
                      </a:r>
                    </a:p>
                  </a:txBody>
                  <a:tcPr>
                    <a:solidFill>
                      <a:srgbClr val="F6F8FB"/>
                    </a:solidFill>
                  </a:tcPr>
                </a:tc>
              </a:tr>
              <a:tr h="374904">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Profile A患者（氨基酸、葡萄糖、胰岛素、乳酸普遍升高）表现出更高的CD4和CD8 CAR-T细胞水平，以及平衡的CAR+和CAR- CD4中央记忆细胞和CD8效应记忆细胞比例，活化CD4 T细胞占优势</a:t>
                      </a:r>
                    </a:p>
                  </a:txBody>
                  <a:tcPr>
                    <a:solidFill>
                      <a:srgbClr val="FFFFFF"/>
                    </a:solidFill>
                  </a:tcPr>
                </a:tc>
              </a:tr>
              <a:tr h="374904">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Profile B（饱和脂肪酸升高、氨基酸下降）和Profile C（普遍营养物质下降）患者CD4中央记忆细胞频率降低，Treg细胞富集，活化CD4 T细胞减少；Profile C还表现出活化CD8 T细胞增加</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摘要号：S284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vispa-cel，一种pd-1敲除的异基因抗cd19car-t细胞疗法，用于复发/难治性b细胞非霍奇金淋巴瘤患者（鹿...</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vispa-cel, an allogeneic anti-cd19 car-t cell therapy with a pd-1 knockout, 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N=84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试验药/方案：Vispacabtagene regedleucel</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多组/多方案比较：所有患者均接受淋巴细胞清除化疗（环磷酰胺+氟达拉滨）后输注vispa-cel，剂量分为40×10^6、80×...</a:t>
            </a:r>
          </a:p>
          <a:p>
            <a:pPr>
              <a:lnSpc>
                <a:spcPct val="103000"/>
              </a:lnSpc>
              <a:spcAft>
                <a:spcPts val="300"/>
              </a:spcAft>
              <a:defRPr sz="800">
                <a:solidFill>
                  <a:srgbClr val="21242A"/>
                </a:solidFill>
                <a:latin typeface="Microsoft YaHei"/>
              </a:defRPr>
            </a:pPr>
            <a:r>
              <a:t>推荐剂量（RP2D）为80×10^6，并设有2L LBCL确认队列（80×10^6）</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总有效率（ORR）：82%（确认队列）</a:t>
            </a:r>
          </a:p>
          <a:p>
            <a:pPr>
              <a:lnSpc>
                <a:spcPct val="103000"/>
              </a:lnSpc>
              <a:spcAft>
                <a:spcPts val="300"/>
              </a:spcAft>
              <a:defRPr sz="800">
                <a:solidFill>
                  <a:srgbClr val="21242A"/>
                </a:solidFill>
                <a:latin typeface="Microsoft YaHei"/>
              </a:defRPr>
            </a:pPr>
            <a:r>
              <a:t>完全缓解率（CR）：64%（确认队列）</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人数：84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登记号：NCT04637763</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试验药/方案：Vispacabtagene regedleucel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药物/技术类别：CAR-T、异体细胞、腺相关病毒载体AAV</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vispa-cel，一种pd-1敲除的异基因抗cd19car-t细胞疗法，用于复发/难治性b细胞非霍奇金淋巴瘤患者（鹿...</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vispa-cel, an allogeneic anti-cd19 car-t cell therapy with a pd-1 knockout, 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背景：Vispacabtagene regedleucel（vispa-cel，以前称为 CB-010）是一种由健康供体 T 细胞制成的同种异体抗 CD19 CAR-T 细胞疗法。</a:t>
            </a:r>
          </a:p>
          <a:p>
            <a:pPr>
              <a:lnSpc>
                <a:spcPct val="103000"/>
              </a:lnSpc>
              <a:spcAft>
                <a:spcPts val="300"/>
              </a:spcAft>
              <a:defRPr sz="550">
                <a:solidFill>
                  <a:srgbClr val="21242A"/>
                </a:solidFill>
                <a:latin typeface="Microsoft YaHei"/>
              </a:defRPr>
            </a:pPr>
            <a:r>
              <a:t>Cas9 chRDNA 基因组编辑技术用于三种基因组编辑：(1) 敲除 TRAC 以降低 GvHD 风险，(2) 插入 CD19 特异性 CAR (FMC63 scFv，4-1BB)，以及 (3) 敲除 PD-1 以防止 CAR-T 细胞过早耗竭并可能增强抗肿瘤活性。</a:t>
            </a:r>
          </a:p>
          <a:p>
            <a:pPr>
              <a:lnSpc>
                <a:spcPct val="103000"/>
              </a:lnSpc>
              <a:spcAft>
                <a:spcPts val="300"/>
              </a:spcAft>
              <a:defRPr sz="550">
                <a:solidFill>
                  <a:srgbClr val="21242A"/>
                </a:solidFill>
                <a:latin typeface="Microsoft YaHei"/>
              </a:defRPr>
            </a:pPr>
            <a:r>
              <a:t>目标：ANTLER 是一项 1 期试验 (NCT04637763)，具有 3+3 剂量递增和扩展，旨在评估 vispa-cel 在 r/r B-NHL 患者 (pts) 中的安全性和有效性，并确定 RP2D。</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Vispa-cel 是一种同种异体 CAR-T 细胞疗法，可在 2L LBCL 患者中产生与已批准的自体 CAR-T 细胞疗法相当的深度和持久的反应，并且具有支持门诊给药的普遍耐受性良好的安全性。在接受年轻捐赠者生产的 vipa-cel 治疗的患者中观察到 PFS 有所改善（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1. 总有效率（ORR）</a:t>
                      </a:r>
                    </a:p>
                  </a:txBody>
                  <a:tcPr>
                    <a:solidFill>
                      <a:srgbClr val="F6F8FB"/>
                    </a:solidFill>
                  </a:tcPr>
                </a:tc>
                <a:tc>
                  <a:txBody>
                    <a:bodyPr wrap="square" lIns="36576" rIns="36576" tIns="18288" bIns="18288"/>
                    <a:lstStyle/>
                    <a:p>
                      <a:r>
                        <a:rPr sz="540" b="0">
                          <a:solidFill>
                            <a:srgbClr val="21242A"/>
                          </a:solidFill>
                          <a:latin typeface="Microsoft YaHei"/>
                        </a:rPr>
                        <a:t>82%（确认队列）</a:t>
                      </a:r>
                    </a:p>
                  </a:txBody>
                  <a:tcPr>
                    <a:solidFill>
                      <a:srgbClr val="F6F8FB"/>
                    </a:solidFill>
                  </a:tcPr>
                </a:tc>
              </a:tr>
              <a:tr h="249936">
                <a:tc>
                  <a:txBody>
                    <a:bodyPr wrap="square" lIns="36576" rIns="36576" tIns="18288" bIns="18288"/>
                    <a:lstStyle/>
                    <a:p>
                      <a:r>
                        <a:rPr sz="540" b="1">
                          <a:solidFill>
                            <a:srgbClr val="21242A"/>
                          </a:solidFill>
                          <a:latin typeface="Microsoft YaHei"/>
                        </a:rPr>
                        <a:t>2. 完全缓解率（CR）</a:t>
                      </a:r>
                    </a:p>
                  </a:txBody>
                  <a:tcPr>
                    <a:solidFill>
                      <a:srgbClr val="FFFFFF"/>
                    </a:solidFill>
                  </a:tcPr>
                </a:tc>
                <a:tc>
                  <a:txBody>
                    <a:bodyPr wrap="square" lIns="36576" rIns="36576" tIns="18288" bIns="18288"/>
                    <a:lstStyle/>
                    <a:p>
                      <a:r>
                        <a:rPr sz="540" b="0">
                          <a:solidFill>
                            <a:srgbClr val="21242A"/>
                          </a:solidFill>
                          <a:latin typeface="Microsoft YaHei"/>
                        </a:rPr>
                        <a:t>64%（确认队列）</a:t>
                      </a:r>
                    </a:p>
                  </a:txBody>
                  <a:tcPr>
                    <a:solidFill>
                      <a:srgbClr val="FFFFFF"/>
                    </a:solidFill>
                  </a:tcPr>
                </a:tc>
              </a:tr>
              <a:tr h="249936">
                <a:tc>
                  <a:txBody>
                    <a:bodyPr wrap="square" lIns="36576" rIns="36576" tIns="18288" bIns="18288"/>
                    <a:lstStyle/>
                    <a:p>
                      <a:r>
                        <a:rPr sz="540" b="1">
                          <a:solidFill>
                            <a:srgbClr val="21242A"/>
                          </a:solidFill>
                          <a:latin typeface="Microsoft YaHei"/>
                        </a:rPr>
                        <a:t>3. 中位无进展生存期（PFS）和缓解持续时间（DOR）</a:t>
                      </a:r>
                    </a:p>
                  </a:txBody>
                  <a:tcPr>
                    <a:solidFill>
                      <a:srgbClr val="F6F8FB"/>
                    </a:solidFill>
                  </a:tcPr>
                </a:tc>
                <a:tc>
                  <a:txBody>
                    <a:bodyPr wrap="square" lIns="36576" rIns="36576" tIns="18288" bIns="18288"/>
                    <a:lstStyle/>
                    <a:p>
                      <a:r>
                        <a:rPr sz="540" b="0">
                          <a:solidFill>
                            <a:srgbClr val="21242A"/>
                          </a:solidFill>
                          <a:latin typeface="Microsoft YaHei"/>
                        </a:rPr>
                        <a:t>未达到</a:t>
                      </a:r>
                    </a:p>
                  </a:txBody>
                  <a:tcPr>
                    <a:solidFill>
                      <a:srgbClr val="F6F8FB"/>
                    </a:solidFill>
                  </a:tcPr>
                </a:tc>
              </a:tr>
              <a:tr h="249936">
                <a:tc>
                  <a:txBody>
                    <a:bodyPr wrap="square" lIns="36576" rIns="36576" tIns="18288" bIns="18288"/>
                    <a:lstStyle/>
                    <a:p>
                      <a:r>
                        <a:rPr sz="540" b="1">
                          <a:solidFill>
                            <a:srgbClr val="21242A"/>
                          </a:solidFill>
                          <a:latin typeface="Microsoft YaHei"/>
                        </a:rPr>
                        <a:t>4. 12个月PFS率</a:t>
                      </a:r>
                    </a:p>
                  </a:txBody>
                  <a:tcPr>
                    <a:solidFill>
                      <a:srgbClr val="FFFFFF"/>
                    </a:solidFill>
                  </a:tcPr>
                </a:tc>
                <a:tc>
                  <a:txBody>
                    <a:bodyPr wrap="square" lIns="36576" rIns="36576" tIns="18288" bIns="18288"/>
                    <a:lstStyle/>
                    <a:p>
                      <a:r>
                        <a:rPr sz="540" b="0">
                          <a:solidFill>
                            <a:srgbClr val="21242A"/>
                          </a:solidFill>
                          <a:latin typeface="Microsoft YaHei"/>
                        </a:rPr>
                        <a:t>51%</a:t>
                      </a:r>
                    </a:p>
                  </a:txBody>
                  <a:tcPr>
                    <a:solidFill>
                      <a:srgbClr val="FFFFFF"/>
                    </a:solidFill>
                  </a:tcPr>
                </a:tc>
              </a:tr>
              <a:tr h="249936">
                <a:tc>
                  <a:txBody>
                    <a:bodyPr wrap="square" lIns="36576" rIns="36576" tIns="18288" bIns="18288"/>
                    <a:lstStyle/>
                    <a:p>
                      <a:r>
                        <a:rPr sz="540" b="1">
                          <a:solidFill>
                            <a:srgbClr val="21242A"/>
                          </a:solidFill>
                          <a:latin typeface="Microsoft YaHei"/>
                        </a:rPr>
                        <a:t>5. 安全性</a:t>
                      </a:r>
                    </a:p>
                  </a:txBody>
                  <a:tcPr>
                    <a:solidFill>
                      <a:srgbClr val="F6F8FB"/>
                    </a:solidFill>
                  </a:tcPr>
                </a:tc>
                <a:tc>
                  <a:txBody>
                    <a:bodyPr wrap="square" lIns="36576" rIns="36576" tIns="18288" bIns="18288"/>
                    <a:lstStyle/>
                    <a:p>
                      <a:r>
                        <a:rPr sz="540" b="0">
                          <a:solidFill>
                            <a:srgbClr val="21242A"/>
                          </a:solidFill>
                          <a:latin typeface="Microsoft YaHei"/>
                        </a:rPr>
                        <a:t>CRS发生率55%（≥3级1%），ICANS发生率14%（≥3级4%），感染发生率51%（≥3级25%），≥3级持续血细胞减少28%，IEC-HS发生率2%（均≥3级）；5例死亡（1例相关，1例可能相关，3例无关）</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摘要号：S236</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epcore dlbcl-1的结果：epcoritamab（epcor）与研究者选择的化学免疫疗法（cit）在复发/难...</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results from epcore dlbcl-1: randomized phase 3 study of epcoritamab (epcor)...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N=483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对照/比较：试验组：Epcoritamab单药治疗</a:t>
            </a:r>
          </a:p>
          <a:p>
            <a:pPr>
              <a:lnSpc>
                <a:spcPct val="103000"/>
              </a:lnSpc>
              <a:spcAft>
                <a:spcPts val="300"/>
              </a:spcAft>
              <a:defRPr sz="800">
                <a:solidFill>
                  <a:srgbClr val="21242A"/>
                </a:solidFill>
                <a:latin typeface="Microsoft YaHei"/>
              </a:defRPr>
            </a:pPr>
            <a:r>
              <a:t>对照组：研究者选择的化学免疫治疗（包括R-GemOx和BR）</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主要终点PFS：HR 0.74 (95% CI 0.60-0.92</a:t>
            </a:r>
          </a:p>
          <a:p>
            <a:pPr>
              <a:lnSpc>
                <a:spcPct val="103000"/>
              </a:lnSpc>
              <a:spcAft>
                <a:spcPts val="300"/>
              </a:spcAft>
              <a:defRPr sz="800">
                <a:solidFill>
                  <a:srgbClr val="21242A"/>
                </a:solidFill>
                <a:latin typeface="Microsoft YaHei"/>
              </a:defRPr>
            </a:pPr>
            <a:r>
              <a:t>P=0.0059)，24个月PFS率：30% vs 13%</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人数：483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登记号：NCT07226752</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epcore dlbcl-1的结果：epcoritamab（epcor）与研究者选择的化学免疫疗法（cit）在复发/难...</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results from epcore dlbcl-1: randomized phase 3 study of epcoritamab (epcor)...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背景：Epcor 是一种 CD3×CD20 双特异性抗体 (bsAb)，在 ≥ 2 线全身治疗 (pLOT) 后被批准作为 R/R DLBCL 的单一疗法。</a:t>
            </a:r>
          </a:p>
          <a:p>
            <a:pPr>
              <a:lnSpc>
                <a:spcPct val="103000"/>
              </a:lnSpc>
              <a:spcAft>
                <a:spcPts val="300"/>
              </a:spcAft>
              <a:defRPr sz="550">
                <a:solidFill>
                  <a:srgbClr val="21242A"/>
                </a:solidFill>
                <a:latin typeface="Microsoft YaHei"/>
              </a:defRPr>
            </a:pPr>
            <a:r>
              <a:t>3 期 EPCORE DLBCL-1 试验（EudraCT 编号 2020-003016-27）评估了 R/R LBCL 中的 epcor 单一疗法与研究者选择的 CIT（利妥昔单抗 + 吉西他滨/奥沙利铂 [R-GemOx] 或苯达莫司汀 + 利妥昔单抗 [BR]）。</a:t>
            </a:r>
          </a:p>
          <a:p>
            <a:pPr>
              <a:lnSpc>
                <a:spcPct val="103000"/>
              </a:lnSpc>
              <a:spcAft>
                <a:spcPts val="300"/>
              </a:spcAft>
              <a:defRPr sz="550">
                <a:solidFill>
                  <a:srgbClr val="21242A"/>
                </a:solidFill>
                <a:latin typeface="Microsoft YaHei"/>
              </a:defRPr>
            </a:pPr>
            <a:r>
              <a:t>目的：报告 EPCORE DLBCL-1 的主要结果。 方法：符合条件的患者 (pts) 患有 CD20+ R/R LBCL，不适合 ASCT 或 ASCT 后复发，并且具有 ≥ 1 个全身性 pLOT（1 个 pLOT 上限为 25%）。患者以 1:1 的比例随机接受 epcor 单药治疗或 CIT。</a:t>
            </a:r>
          </a:p>
          <a:p>
            <a:pPr>
              <a:lnSpc>
                <a:spcPct val="103000"/>
              </a:lnSpc>
              <a:spcAft>
                <a:spcPts val="300"/>
              </a:spcAft>
              <a:defRPr sz="550">
                <a:solidFill>
                  <a:srgbClr val="21242A"/>
                </a:solidFill>
                <a:latin typeface="Microsoft YaHei"/>
              </a:defRPr>
            </a:pPr>
            <a:r>
              <a:t>Epcor 以 28 天为一个周期（2 个递增剂量，然后 C1-3 中 QW 48 mg 全剂量，C4-9 Q2W，C10+ Q4W，直到疾病进展或不可接受的毒性）。 R-GemOx 作为标准 Q2W 进行四个 28 天循环，BR Q3W 进行六个 21 天循环。双重主要终点是 PFS（卢加诺标准；IRC）和 OS。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EPCORE DLBCL-1 是 R/R LBCL 中规模最大的随机 3 期试验，也是第一个证明 CD3×CD20 bsAb 单药治疗与 CIT 联合治疗相比 PFS 有统计学显着改善的试验。此外，与 CIT 相比，epcor 在 CRR、DOR、DOCR 方面产生了具有临床意义的改善，并减少了后续 tx 的使用频率，</a:t>
            </a:r>
          </a:p>
          <a:p>
            <a:pPr>
              <a:lnSpc>
                <a:spcPct val="103000"/>
              </a:lnSpc>
              <a:spcAft>
                <a:spcPts val="300"/>
              </a:spcAft>
              <a:defRPr sz="570">
                <a:solidFill>
                  <a:srgbClr val="21242A"/>
                </a:solidFill>
                <a:latin typeface="Microsoft YaHei"/>
              </a:defRPr>
            </a:pPr>
            <a:r>
              <a:t>显示出深度和持久的反应。由于受到 COVID-19 死亡率和新型后续治疗的使用的影响，OS 没有显着差异。观察到的 AE 与已建立的 epcor 安全性特征和 CD3×CD20 bsAb 的预期特征一致。</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结果：483 名患者（epcor 241；CIT 242 [R-GemOx 174；BR 68]）被随机分组​​； 67% 的患者在 2022 年或之后进行随机分组，恰逢 COVID-19 Omicron 时期。中位随访时间为 43.2 个月 (epcor) 和 42.3 个月 (CIT)。中位年龄为 71 </a:t>
            </a:r>
          </a:p>
          <a:p>
            <a:pPr>
              <a:lnSpc>
                <a:spcPct val="103000"/>
              </a:lnSpc>
              <a:spcAft>
                <a:spcPts val="300"/>
              </a:spcAft>
              <a:defRPr sz="560">
                <a:solidFill>
                  <a:srgbClr val="21242A"/>
                </a:solidFill>
                <a:latin typeface="Microsoft YaHei"/>
              </a:defRPr>
            </a:pPr>
            <a:r>
              <a:t>岁（范围 28-89 岁）； 53% 的患者来自北美/西欧； 73% 具有 ≥ 2 pLOT，34% 具有 ≥ 3 pLOT； 69% 对最后一线治疗 (tx) 耐药； 15% 之前接受过 SCT，11% 之前接受过 CAR-T。</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摘要号：S235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cd19/cd22双特异性car-t细胞治疗复发/难治性弥漫性大b细胞淋巴瘤后pd-1抑制剂和selinexor的维持...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maintenance therapy with pd-1 inhibitor and selinexor following cd19/cd22 bis...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PS2342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B细胞非霍奇金淋巴瘤</a:t>
            </a:r>
          </a:p>
          <a:p>
            <a:pPr>
              <a:lnSpc>
                <a:spcPct val="103000"/>
              </a:lnSpc>
              <a:spcAft>
                <a:spcPts val="300"/>
              </a:spcAft>
              <a:defRPr sz="800">
                <a:solidFill>
                  <a:srgbClr val="21242A"/>
                </a:solidFill>
                <a:latin typeface="Microsoft YaHei"/>
              </a:defRPr>
            </a:pPr>
            <a:r>
              <a:t>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分组：维持治疗组：PD-1抑制剂（tislelizumab或serplulimab）+ selinexor</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中位随访时间：260天（范围59-529）</a:t>
            </a:r>
          </a:p>
          <a:p>
            <a:pPr>
              <a:lnSpc>
                <a:spcPct val="103000"/>
              </a:lnSpc>
              <a:spcAft>
                <a:spcPts val="300"/>
              </a:spcAft>
              <a:defRPr sz="800">
                <a:solidFill>
                  <a:srgbClr val="21242A"/>
                </a:solidFill>
                <a:latin typeface="Microsoft YaHei"/>
              </a:defRPr>
            </a:pPr>
            <a:r>
              <a:t>维持治疗前完全缓解率：38%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人数：32</a:t>
            </a:r>
          </a:p>
          <a:p>
            <a:pPr>
              <a:lnSpc>
                <a:spcPct val="103000"/>
              </a:lnSpc>
              <a:spcAft>
                <a:spcPts val="300"/>
              </a:spcAft>
              <a:defRPr sz="810">
                <a:solidFill>
                  <a:srgbClr val="21242A"/>
                </a:solidFill>
                <a:latin typeface="Microsoft YaHei"/>
              </a:defRPr>
            </a:pPr>
            <a:r>
              <a:t>适应症：B细胞非霍奇金淋巴瘤、大B细胞淋巴瘤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登记号：NCT06081478</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分组/治疗流程：维持治疗组：PD-1抑制剂（tislelizumab或serplulimab）+ selinexor</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cd19/cd22双特异性car-t细胞治疗复发/难治性弥漫性大b细胞淋巴瘤后pd-1抑制剂和selinexor的维持...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maintenance therapy with pd-1 inhibitor and selinexor following cd19/cd22 bis...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PS2342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背景：靶向 CD19 的嵌合抗原受体 T 细胞 (CAR-T) 疗法彻底改变了复发/难治性弥漫性大 B 细胞淋巴瘤 (R/R DLBCL) 的治疗格局。尽管初始缓解率令人印象深刻，但疾病复发仍然是一个重大挑战，通常归因于 CAR-T 细胞耗竭和免疫逃避机制。在我们的前瞻性 2 期试验中，CD19/CD22 双特异性 C</a:t>
            </a:r>
          </a:p>
          <a:p>
            <a:pPr>
              <a:lnSpc>
                <a:spcPct val="103000"/>
              </a:lnSpc>
              <a:spcAft>
                <a:spcPts val="300"/>
              </a:spcAft>
              <a:defRPr sz="550">
                <a:solidFill>
                  <a:srgbClr val="21242A"/>
                </a:solidFill>
                <a:latin typeface="Microsoft YaHei"/>
              </a:defRPr>
            </a:pPr>
            <a:r>
              <a:t>AR-T (CAR2219) 表现出显着的 100% 最佳总体缓解率；然而，迫切需要延长缓解持续时间和防止复发的策略。维持治疗是一种通过针对治疗失败的潜在机制来增强反应持久性的有前途的方法。程序性细胞死亡蛋白 1 (PD-1) 抑制剂已显示出逆转 CAR-T 细胞耗竭和恢复抗肿瘤免疫的潜力，而输出蛋白 1 (XPO1)</a:t>
            </a:r>
          </a:p>
          <a:p>
            <a:pPr>
              <a:lnSpc>
                <a:spcPct val="103000"/>
              </a:lnSpc>
              <a:spcAft>
                <a:spcPts val="300"/>
              </a:spcAft>
              <a:defRPr sz="550">
                <a:solidFill>
                  <a:srgbClr val="21242A"/>
                </a:solidFill>
                <a:latin typeface="Microsoft YaHei"/>
              </a:defRPr>
            </a:pPr>
            <a:r>
              <a:t> 抑制剂 selinexor 在与免疫调节剂联合使用时表现出直接的抗淋巴瘤活性和协同作用。目的：评估 CAR2219 治疗后联合 PD-1 抑制剂与 selinexor 维持治疗对 R/R DLBCL 患者的疗效、安全性和免疫调节作用。方法：这项回顾性分析纳入了参加我们的前瞻性 2 期临床试验 (NCT06081478</a:t>
            </a:r>
          </a:p>
          <a:p>
            <a:pPr>
              <a:lnSpc>
                <a:spcPct val="103000"/>
              </a:lnSpc>
              <a:spcAft>
                <a:spcPts val="300"/>
              </a:spcAft>
              <a:defRPr sz="550">
                <a:solidFill>
                  <a:srgbClr val="21242A"/>
                </a:solidFill>
                <a:latin typeface="Microsoft YaHei"/>
              </a:defRPr>
            </a:pPr>
            <a:r>
              <a:t>) 的 32 名患者，他们在 CAR2219 输注后实现了疾病控制，随后接受了计划的维持治疗。</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CD19/CD22 双特异性 CAR-T 细胞治疗后结合 PD-1 抑制剂和 selinexor 的维持治疗在 R/R DLBCL 中表现出有希望的临床活性，其特点是随着时间的推移加深反应和持久的疾病控制。观察到的 PD-1+ T 细胞减少支持免疫调节作用机制。这些发现值得在前瞻性随机试验中进行进一步研究，以确定 CA</a:t>
            </a:r>
          </a:p>
          <a:p>
            <a:pPr>
              <a:lnSpc>
                <a:spcPct val="103000"/>
              </a:lnSpc>
              <a:spcAft>
                <a:spcPts val="300"/>
              </a:spcAft>
              <a:defRPr sz="570">
                <a:solidFill>
                  <a:srgbClr val="21242A"/>
                </a:solidFill>
                <a:latin typeface="Microsoft YaHei"/>
              </a:defRPr>
            </a:pPr>
            <a:r>
              <a:t>R-T 治疗后的最佳维持策略。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中位随访时间</a:t>
                      </a:r>
                    </a:p>
                  </a:txBody>
                  <a:tcPr>
                    <a:solidFill>
                      <a:srgbClr val="F6F8FB"/>
                    </a:solidFill>
                  </a:tcPr>
                </a:tc>
                <a:tc>
                  <a:txBody>
                    <a:bodyPr wrap="square" lIns="36576" rIns="36576" tIns="18288" bIns="18288"/>
                    <a:lstStyle/>
                    <a:p>
                      <a:r>
                        <a:rPr sz="540" b="0">
                          <a:solidFill>
                            <a:srgbClr val="21242A"/>
                          </a:solidFill>
                          <a:latin typeface="Microsoft YaHei"/>
                        </a:rPr>
                        <a:t>260天（范围59-529）</a:t>
                      </a:r>
                    </a:p>
                  </a:txBody>
                  <a:tcPr>
                    <a:solidFill>
                      <a:srgbClr val="F6F8FB"/>
                    </a:solidFill>
                  </a:tcPr>
                </a:tc>
              </a:tr>
              <a:tr h="214230">
                <a:tc>
                  <a:txBody>
                    <a:bodyPr wrap="square" lIns="36576" rIns="36576" tIns="18288" bIns="18288"/>
                    <a:lstStyle/>
                    <a:p>
                      <a:r>
                        <a:rPr sz="540" b="1">
                          <a:solidFill>
                            <a:srgbClr val="21242A"/>
                          </a:solidFill>
                          <a:latin typeface="Microsoft YaHei"/>
                        </a:rPr>
                        <a:t>维持治疗前完全缓解率</a:t>
                      </a:r>
                    </a:p>
                  </a:txBody>
                  <a:tcPr>
                    <a:solidFill>
                      <a:srgbClr val="FFFFFF"/>
                    </a:solidFill>
                  </a:tcPr>
                </a:tc>
                <a:tc>
                  <a:txBody>
                    <a:bodyPr wrap="square" lIns="36576" rIns="36576" tIns="18288" bIns="18288"/>
                    <a:lstStyle/>
                    <a:p>
                      <a:r>
                        <a:rPr sz="540" b="0">
                          <a:solidFill>
                            <a:srgbClr val="21242A"/>
                          </a:solidFill>
                          <a:latin typeface="Microsoft YaHei"/>
                        </a:rPr>
                        <a:t>38%</a:t>
                      </a:r>
                    </a:p>
                  </a:txBody>
                  <a:tcPr>
                    <a:solidFill>
                      <a:srgbClr val="FFFFFF"/>
                    </a:solidFill>
                  </a:tcPr>
                </a:tc>
              </a:tr>
              <a:tr h="214230">
                <a:tc>
                  <a:txBody>
                    <a:bodyPr wrap="square" lIns="36576" rIns="36576" tIns="18288" bIns="18288"/>
                    <a:lstStyle/>
                    <a:p>
                      <a:r>
                        <a:rPr sz="540" b="1">
                          <a:solidFill>
                            <a:srgbClr val="21242A"/>
                          </a:solidFill>
                          <a:latin typeface="Microsoft YaHei"/>
                        </a:rPr>
                        <a:t>第1个月总缓解率</a:t>
                      </a:r>
                    </a:p>
                  </a:txBody>
                  <a:tcPr>
                    <a:solidFill>
                      <a:srgbClr val="F6F8FB"/>
                    </a:solidFill>
                  </a:tcPr>
                </a:tc>
                <a:tc>
                  <a:txBody>
                    <a:bodyPr wrap="square" lIns="36576" rIns="36576" tIns="18288" bIns="18288"/>
                    <a:lstStyle/>
                    <a:p>
                      <a:r>
                        <a:rPr sz="540" b="0">
                          <a:solidFill>
                            <a:srgbClr val="21242A"/>
                          </a:solidFill>
                          <a:latin typeface="Microsoft YaHei"/>
                        </a:rPr>
                        <a:t>56%（完全缓解率38%）</a:t>
                      </a:r>
                    </a:p>
                  </a:txBody>
                  <a:tcPr>
                    <a:solidFill>
                      <a:srgbClr val="F6F8FB"/>
                    </a:solidFill>
                  </a:tcPr>
                </a:tc>
              </a:tr>
              <a:tr h="214230">
                <a:tc>
                  <a:txBody>
                    <a:bodyPr wrap="square" lIns="36576" rIns="36576" tIns="18288" bIns="18288"/>
                    <a:lstStyle/>
                    <a:p>
                      <a:r>
                        <a:rPr sz="540" b="1">
                          <a:solidFill>
                            <a:srgbClr val="21242A"/>
                          </a:solidFill>
                          <a:latin typeface="Microsoft YaHei"/>
                        </a:rPr>
                        <a:t>第3个月总缓解率</a:t>
                      </a:r>
                    </a:p>
                  </a:txBody>
                  <a:tcPr>
                    <a:solidFill>
                      <a:srgbClr val="FFFFFF"/>
                    </a:solidFill>
                  </a:tcPr>
                </a:tc>
                <a:tc>
                  <a:txBody>
                    <a:bodyPr wrap="square" lIns="36576" rIns="36576" tIns="18288" bIns="18288"/>
                    <a:lstStyle/>
                    <a:p>
                      <a:r>
                        <a:rPr sz="540" b="0">
                          <a:solidFill>
                            <a:srgbClr val="21242A"/>
                          </a:solidFill>
                          <a:latin typeface="Microsoft YaHei"/>
                        </a:rPr>
                        <a:t>83%（完全缓解率57%）</a:t>
                      </a:r>
                    </a:p>
                  </a:txBody>
                  <a:tcPr>
                    <a:solidFill>
                      <a:srgbClr val="FFFFFF"/>
                    </a:solidFill>
                  </a:tcPr>
                </a:tc>
              </a:tr>
              <a:tr h="214230">
                <a:tc>
                  <a:txBody>
                    <a:bodyPr wrap="square" lIns="36576" rIns="36576" tIns="18288" bIns="18288"/>
                    <a:lstStyle/>
                    <a:p>
                      <a:r>
                        <a:rPr sz="540" b="1">
                          <a:solidFill>
                            <a:srgbClr val="21242A"/>
                          </a:solidFill>
                          <a:latin typeface="Microsoft YaHei"/>
                        </a:rPr>
                        <a:t>第6个月总缓解率</a:t>
                      </a:r>
                    </a:p>
                  </a:txBody>
                  <a:tcPr>
                    <a:solidFill>
                      <a:srgbClr val="F6F8FB"/>
                    </a:solidFill>
                  </a:tcPr>
                </a:tc>
                <a:tc>
                  <a:txBody>
                    <a:bodyPr wrap="square" lIns="36576" rIns="36576" tIns="18288" bIns="18288"/>
                    <a:lstStyle/>
                    <a:p>
                      <a:r>
                        <a:rPr sz="540" b="0">
                          <a:solidFill>
                            <a:srgbClr val="21242A"/>
                          </a:solidFill>
                          <a:latin typeface="Microsoft YaHei"/>
                        </a:rPr>
                        <a:t>81%（完全缓解率71%）</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摘要号：PS2342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pd-1ab21-表达、抗cd19-cart细胞治疗复发/难治性弥漫性大b细胞淋巴瘤：一项开放标签、单臂、1期研究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pd-1ab21-expressing, anti-cd19 car t cells for patients with relapsed/refract...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PS2335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分组：试验组：PD-1Ab21-CD19 CAR-T细胞（剂量0.3、1、3、9×10^6 cells/kg）</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细胞因子释放综合征（CRS）发生率78.6%（3级7.1%），中位发生时间10天</a:t>
            </a:r>
          </a:p>
          <a:p>
            <a:pPr>
              <a:lnSpc>
                <a:spcPct val="103000"/>
              </a:lnSpc>
              <a:spcAft>
                <a:spcPts val="300"/>
              </a:spcAft>
              <a:defRPr sz="800">
                <a:solidFill>
                  <a:srgbClr val="21242A"/>
                </a:solidFill>
                <a:latin typeface="Microsoft YaHei"/>
              </a:defRPr>
            </a:pPr>
            <a:r>
              <a:t>免疫效应细胞相关神经毒性综合征（ICANS）发生率7.1%（3级）</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分组/治疗流程：试验组：PD-1Ab21-CD19 CAR-T细胞（剂量0.3、1、3</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pd-1ab21-表达、抗cd19-cart细胞治疗复发/难治性弥漫性大b细胞淋巴瘤：一项开放标签、单臂、1期研究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pd-1ab21-expressing, anti-cd19 car t cells for patients with relapsed/refract...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PS2335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背景：虽然 CD19 定向嵌合抗原受体 (CAR) T 细胞疗法改善了复发/难治性弥漫性大 B 细胞淋巴瘤 (R/R DLBCL) 的预后，但原发性耐药、复发和有限的反应持久性仍然是重大挑战。克服这些限制的策略，包括与 PD-1 阻断联合使用，通常面临系统毒性和疗效可变的问题。</a:t>
            </a:r>
          </a:p>
          <a:p>
            <a:pPr>
              <a:lnSpc>
                <a:spcPct val="103000"/>
              </a:lnSpc>
              <a:spcAft>
                <a:spcPts val="300"/>
              </a:spcAft>
              <a:defRPr sz="550">
                <a:solidFill>
                  <a:srgbClr val="21242A"/>
                </a:solidFill>
                <a:latin typeface="Microsoft YaHei"/>
              </a:defRPr>
            </a:pPr>
            <a:r>
              <a:t>目的：我们旨在评估一种新型 CD19 定向 CAR T 细胞产品的安全性、可行性和初步疗效，该产品被设计用于在 R/R DLBCL 患者中表达靶向 PD-1 和白细胞介素 21 的双功能融合蛋白 (PD-1Ab21-CD19 CAR-T)。</a:t>
            </a:r>
          </a:p>
          <a:p>
            <a:pPr>
              <a:lnSpc>
                <a:spcPct val="103000"/>
              </a:lnSpc>
              <a:spcAft>
                <a:spcPts val="300"/>
              </a:spcAft>
              <a:defRPr sz="550">
                <a:solidFill>
                  <a:srgbClr val="21242A"/>
                </a:solidFill>
                <a:latin typeface="Microsoft YaHei"/>
              </a:defRPr>
            </a:pPr>
            <a:r>
              <a:t>方法：在这项开放标签、单臂、I 期试验中，CD19 阳性 R/R DLBCL 患者（年龄 14-75 岁）接受氟达拉滨/环磷酰胺淋巴清除，然后以 0.3、1、3 或 9×10⁶ 细胞/kg 的剂量单次输注 PD-1Ab21-CD19 CAR-T 细胞。主要终点是PD-1Ab21-CD19 CAR-T细胞的安全性和可行性</a:t>
            </a:r>
          </a:p>
          <a:p>
            <a:pPr>
              <a:lnSpc>
                <a:spcPct val="103000"/>
              </a:lnSpc>
              <a:spcAft>
                <a:spcPts val="300"/>
              </a:spcAft>
              <a:defRPr sz="550">
                <a:solidFill>
                  <a:srgbClr val="21242A"/>
                </a:solidFill>
                <a:latin typeface="Microsoft YaHei"/>
              </a:defRPr>
            </a:pPr>
            <a:r>
              <a:t>。次要终点包括疗效、CAR-T 持久性、无进展生存期 (PFS) 和总生存期 (OS)。</a:t>
            </a:r>
          </a:p>
          <a:p>
            <a:pPr>
              <a:lnSpc>
                <a:spcPct val="103000"/>
              </a:lnSpc>
              <a:spcAft>
                <a:spcPts val="300"/>
              </a:spcAft>
              <a:defRPr sz="550">
                <a:solidFill>
                  <a:srgbClr val="21242A"/>
                </a:solidFill>
                <a:latin typeface="Microsoft YaHei"/>
              </a:defRPr>
            </a:pPr>
            <a:r>
              <a:t>\n</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PD-1Ab21-CD19 CAR-T 疗法在接受过多次治疗的 R/R DLBCL 患者中表现出可控的安全性和良好的抗肿瘤活性。通过工程化 CAR-T 细胞局部递送 PD-1 阻断剂和 IL-21 可以减轻全身毒性，同时提高疗效。这些发现进一步证明</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细胞因子释放综合征（CRS）发生率78.6%（3级7.1%），中位发生时间10天</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免疫效应细胞相关神经毒性综合征（ICANS）发生率7.1%（3级）</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总缓解率（ORR）71.4%</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完全代谢缓解（CMR）率57.1%</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6个月无进展生存（PFS）率64.3%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摘要号：PS2335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循环car t细胞中cd4/cd8平衡对大b细胞淋巴瘤总生存率的双相预后影响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cd4/cd8 balance in circulating car t-cells shows biphasic prognostic impact 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PS2323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N=139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总CAR-T细胞水平与达到完全代谢反应(CMR)的关系：HR 1.12 per doubling (95%CI 1.04-1....</a:t>
            </a:r>
          </a:p>
          <a:p>
            <a:pPr>
              <a:lnSpc>
                <a:spcPct val="103000"/>
              </a:lnSpc>
              <a:spcAft>
                <a:spcPts val="300"/>
              </a:spcAft>
              <a:defRPr sz="800">
                <a:solidFill>
                  <a:srgbClr val="21242A"/>
                </a:solidFill>
                <a:latin typeface="Microsoft YaHei"/>
              </a:defRPr>
            </a:pPr>
            <a:r>
              <a:t>DiffNorm与总生存期(OS)的早期关系：HR 1.31 per +0.1 DiffNorm increase (95%C...</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人数：139</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循环car t细胞中cd4/cd8平衡对大b细胞淋巴瘤总生存率的双相预后影响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cd4/cd8 balance in circulating car t-cells shows biphasic prognostic impact 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PS2323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背景：抗 CD19 CAR-T 扩增/持续性以及 CD4+ 与 CD8+ CAR T 细胞的平衡可能会影响大 B 细胞淋巴瘤 (LBCL) 的预后，但其时间动态和阶段依赖性预后价值仍不清楚。</a:t>
            </a:r>
          </a:p>
          <a:p>
            <a:pPr>
              <a:lnSpc>
                <a:spcPct val="103000"/>
              </a:lnSpc>
              <a:spcAft>
                <a:spcPts val="300"/>
              </a:spcAft>
              <a:defRPr sz="550">
                <a:solidFill>
                  <a:srgbClr val="21242A"/>
                </a:solidFill>
                <a:latin typeface="Microsoft YaHei"/>
              </a:defRPr>
            </a:pPr>
            <a:r>
              <a:t>目的：评估 (i) CAR T 细胞在 24 个月内的持久性，以及 (ii) CAR-T 水平和 DiffNorm 与反应动力学和生存的关联。</a:t>
            </a:r>
          </a:p>
          <a:p>
            <a:pPr>
              <a:lnSpc>
                <a:spcPct val="103000"/>
              </a:lnSpc>
              <a:spcAft>
                <a:spcPts val="300"/>
              </a:spcAft>
              <a:defRPr sz="550">
                <a:solidFill>
                  <a:srgbClr val="21242A"/>
                </a:solidFill>
                <a:latin typeface="Microsoft YaHei"/>
              </a:defRPr>
            </a:pPr>
            <a:r>
              <a:t>方法：在一个由 139 名连续接受抗 CD19 CAR T 细胞治疗 R/R LBCL 的患者组成的单中心队列中，通过流式细胞术对 M1 至 M24（淋巴细胞的 LOD 0.1%）外周血中的 CAR T 细胞水平（总计、CAR-CD4、CAR-CD8）进行定量。使用时变 Cox 模型分析完成代谢反应时间 (CMR)、P</a:t>
            </a:r>
          </a:p>
          <a:p>
            <a:pPr>
              <a:lnSpc>
                <a:spcPct val="103000"/>
              </a:lnSpc>
              <a:spcAft>
                <a:spcPts val="300"/>
              </a:spcAft>
              <a:defRPr sz="550">
                <a:solidFill>
                  <a:srgbClr val="21242A"/>
                </a:solidFill>
                <a:latin typeface="Microsoft YaHei"/>
              </a:defRPr>
            </a:pPr>
            <a:r>
              <a:t>FS 和 OS。使用分段时变 Cox 方法（第 21 天切点）对 DiffNorm ((CAR-CD4 - CAR-CD8)/(CAR-CD4 + CAR-CD8)) 进行分析，以解释时间点分析中峰值和 M3 之间观察到的符号反转，反映早期扩张阶段与扩张后阶段。对于 CMR 时间和 PFS 分析，排除了疾病进展后获得的</a:t>
            </a:r>
          </a:p>
          <a:p>
            <a:pPr>
              <a:lnSpc>
                <a:spcPct val="103000"/>
              </a:lnSpc>
              <a:spcAft>
                <a:spcPts val="300"/>
              </a:spcAft>
              <a:defRPr sz="550">
                <a:solidFill>
                  <a:srgbClr val="21242A"/>
                </a:solidFill>
                <a:latin typeface="Microsoft YaHei"/>
              </a:defRPr>
            </a:pPr>
            <a:r>
              <a:t> CAR T 细胞测量结果。应用霍尔姆校正进行多重比较。</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 2 年的随访中，90% 以上的患者仍然可以检测到 CAR T 细胞。</a:t>
            </a:r>
          </a:p>
          <a:p>
            <a:pPr>
              <a:lnSpc>
                <a:spcPct val="103000"/>
              </a:lnSpc>
              <a:spcAft>
                <a:spcPts val="300"/>
              </a:spcAft>
              <a:defRPr sz="570">
                <a:solidFill>
                  <a:srgbClr val="21242A"/>
                </a:solidFill>
                <a:latin typeface="Microsoft YaHei"/>
              </a:defRPr>
            </a:pPr>
            <a:r>
              <a:t>CAR-CD4/CD8 平衡经历了具有生物学意义的反转，从早期 CD8 占主导地位的扩张到逐渐 CD4 占主导地位。绝对 CAR T 细胞水平加速 CMR 的实现，而 DiffNorm 显示与 OS 相反的阶段依赖性关联 - 早期 CAR-CD8 优势有利于细胞毒性扩展，晚期 CAR-CD4 优势有利于免疫记忆 - 独</a:t>
            </a:r>
          </a:p>
          <a:p>
            <a:pPr>
              <a:lnSpc>
                <a:spcPct val="103000"/>
              </a:lnSpc>
              <a:spcAft>
                <a:spcPts val="300"/>
              </a:spcAft>
              <a:defRPr sz="570">
                <a:solidFill>
                  <a:srgbClr val="21242A"/>
                </a:solidFill>
                <a:latin typeface="Microsoft YaHei"/>
              </a:defRPr>
            </a:pPr>
            <a:r>
              <a:t>立于基线免疫状态。淋巴细胞清除前 CD4 淋巴细胞计数成为独立的预后因素。这些发现值得外部验证，并可能为风险分层和产品优化提供信息。</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总CAR-T细胞水平与达到完全代谢反应(CMR)的关系</a:t>
                      </a:r>
                    </a:p>
                  </a:txBody>
                  <a:tcPr>
                    <a:solidFill>
                      <a:srgbClr val="F6F8FB"/>
                    </a:solidFill>
                  </a:tcPr>
                </a:tc>
                <a:tc>
                  <a:txBody>
                    <a:bodyPr wrap="square" lIns="36576" rIns="36576" tIns="18288" bIns="18288"/>
                    <a:lstStyle/>
                    <a:p>
                      <a:r>
                        <a:rPr sz="540" b="0">
                          <a:solidFill>
                            <a:srgbClr val="21242A"/>
                          </a:solidFill>
                          <a:latin typeface="Microsoft YaHei"/>
                        </a:rPr>
                        <a:t>HR 1.12 per doubling (95%CI 1.04-1.21, Holm-adjusted p=0.022)</a:t>
                      </a:r>
                    </a:p>
                  </a:txBody>
                  <a:tcPr>
                    <a:solidFill>
                      <a:srgbClr val="F6F8FB"/>
                    </a:solidFill>
                  </a:tcPr>
                </a:tc>
              </a:tr>
              <a:tr h="214230">
                <a:tc>
                  <a:txBody>
                    <a:bodyPr wrap="square" lIns="36576" rIns="36576" tIns="18288" bIns="18288"/>
                    <a:lstStyle/>
                    <a:p>
                      <a:r>
                        <a:rPr sz="540" b="1">
                          <a:solidFill>
                            <a:srgbClr val="21242A"/>
                          </a:solidFill>
                          <a:latin typeface="Microsoft YaHei"/>
                        </a:rPr>
                        <a:t>DiffNorm与总生存期(OS)的早期关系</a:t>
                      </a:r>
                    </a:p>
                  </a:txBody>
                  <a:tcPr>
                    <a:solidFill>
                      <a:srgbClr val="FFFFFF"/>
                    </a:solidFill>
                  </a:tcPr>
                </a:tc>
                <a:tc>
                  <a:txBody>
                    <a:bodyPr wrap="square" lIns="36576" rIns="36576" tIns="18288" bIns="18288"/>
                    <a:lstStyle/>
                    <a:p>
                      <a:r>
                        <a:rPr sz="540" b="0">
                          <a:solidFill>
                            <a:srgbClr val="21242A"/>
                          </a:solidFill>
                          <a:latin typeface="Microsoft YaHei"/>
                        </a:rPr>
                        <a:t>HR 1.31 per +0.1 DiffNorm increase (95%CI 1.10-1.56, Holm-adjusted p=0.006)</a:t>
                      </a:r>
                    </a:p>
                  </a:txBody>
                  <a:tcPr>
                    <a:solidFill>
                      <a:srgbClr val="FFFFFF"/>
                    </a:solidFill>
                  </a:tcPr>
                </a:tc>
              </a:tr>
              <a:tr h="214230">
                <a:tc>
                  <a:txBody>
                    <a:bodyPr wrap="square" lIns="36576" rIns="36576" tIns="18288" bIns="18288"/>
                    <a:lstStyle/>
                    <a:p>
                      <a:r>
                        <a:rPr sz="540" b="1">
                          <a:solidFill>
                            <a:srgbClr val="21242A"/>
                          </a:solidFill>
                          <a:latin typeface="Microsoft YaHei"/>
                        </a:rPr>
                        <a:t>DiffNorm与总生存期(OS)的晚期关系</a:t>
                      </a:r>
                    </a:p>
                  </a:txBody>
                  <a:tcPr>
                    <a:solidFill>
                      <a:srgbClr val="F6F8FB"/>
                    </a:solidFill>
                  </a:tcPr>
                </a:tc>
                <a:tc>
                  <a:txBody>
                    <a:bodyPr wrap="square" lIns="36576" rIns="36576" tIns="18288" bIns="18288"/>
                    <a:lstStyle/>
                    <a:p>
                      <a:r>
                        <a:rPr sz="540" b="0">
                          <a:solidFill>
                            <a:srgbClr val="21242A"/>
                          </a:solidFill>
                          <a:latin typeface="Microsoft YaHei"/>
                        </a:rPr>
                        <a:t>HR 0.91 (0.85-0.97, p=0.006)</a:t>
                      </a:r>
                    </a:p>
                  </a:txBody>
                  <a:tcPr>
                    <a:solidFill>
                      <a:srgbClr val="F6F8FB"/>
                    </a:solidFill>
                  </a:tcPr>
                </a:tc>
              </a:tr>
              <a:tr h="214230">
                <a:tc>
                  <a:txBody>
                    <a:bodyPr wrap="square" lIns="36576" rIns="36576" tIns="18288" bIns="18288"/>
                    <a:lstStyle/>
                    <a:p>
                      <a:r>
                        <a:rPr sz="540" b="1">
                          <a:solidFill>
                            <a:srgbClr val="21242A"/>
                          </a:solidFill>
                          <a:latin typeface="Microsoft YaHei"/>
                        </a:rPr>
                        <a:t>CMR率</a:t>
                      </a:r>
                    </a:p>
                  </a:txBody>
                  <a:tcPr>
                    <a:solidFill>
                      <a:srgbClr val="FFFFFF"/>
                    </a:solidFill>
                  </a:tcPr>
                </a:tc>
                <a:tc>
                  <a:txBody>
                    <a:bodyPr wrap="square" lIns="36576" rIns="36576" tIns="18288" bIns="18288"/>
                    <a:lstStyle/>
                    <a:p>
                      <a:r>
                        <a:rPr sz="540" b="0">
                          <a:solidFill>
                            <a:srgbClr val="21242A"/>
                          </a:solidFill>
                          <a:latin typeface="Microsoft YaHei"/>
                        </a:rPr>
                        <a:t>74.1% (103/139)</a:t>
                      </a:r>
                    </a:p>
                  </a:txBody>
                  <a:tcPr>
                    <a:solidFill>
                      <a:srgbClr val="FFFFFF"/>
                    </a:solidFill>
                  </a:tcPr>
                </a:tc>
              </a:tr>
              <a:tr h="214230">
                <a:tc>
                  <a:txBody>
                    <a:bodyPr wrap="square" lIns="36576" rIns="36576" tIns="18288" bIns="18288"/>
                    <a:lstStyle/>
                    <a:p>
                      <a:r>
                        <a:rPr sz="540" b="1">
                          <a:solidFill>
                            <a:srgbClr val="21242A"/>
                          </a:solidFill>
                          <a:latin typeface="Microsoft YaHei"/>
                        </a:rPr>
                        <a:t>ORR</a:t>
                      </a:r>
                    </a:p>
                  </a:txBody>
                  <a:tcPr>
                    <a:solidFill>
                      <a:srgbClr val="F6F8FB"/>
                    </a:solidFill>
                  </a:tcPr>
                </a:tc>
                <a:tc>
                  <a:txBody>
                    <a:bodyPr wrap="square" lIns="36576" rIns="36576" tIns="18288" bIns="18288"/>
                    <a:lstStyle/>
                    <a:p>
                      <a:r>
                        <a:rPr sz="540" b="0">
                          <a:solidFill>
                            <a:srgbClr val="21242A"/>
                          </a:solidFill>
                          <a:latin typeface="Microsoft YaHei"/>
                        </a:rPr>
                        <a:t>86.3%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摘要号：PS2323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早期肿瘤知情ctdna监测改善大b细胞淋巴瘤car-t治疗后的风险分层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tumor-informed ctdna monitoring improves risk stratification after car-...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PS2167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N=63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回顾性临床研究结果：early tumor-informed ctdna monitoring improves risk s...</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早期MRD评估（day +7/+14）：ctDNA阳性患者1年PFS为23%，ctDNA阴性患者1年PFS为100%（HR=1...</a:t>
            </a:r>
          </a:p>
          <a:p>
            <a:pPr>
              <a:lnSpc>
                <a:spcPct val="103000"/>
              </a:lnSpc>
              <a:spcAft>
                <a:spcPts val="300"/>
              </a:spcAft>
              <a:defRPr sz="800">
                <a:solidFill>
                  <a:srgbClr val="21242A"/>
                </a:solidFill>
                <a:latin typeface="Microsoft YaHei"/>
              </a:defRPr>
            </a:pPr>
            <a:r>
              <a:t>Day+30：ctDNA MRD阳性患者HR=4.5（95%CI 1.03-19.37，p=0.02），PET/CT阳性HR=...</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研究主题：early tumor-informed ctdna monitoring improves risk stratification after car-t therapy in large b-cell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早期肿瘤知情ctdna监测改善大b细胞淋巴瘤car-t治疗后的风险分层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tumor-informed ctdna monitoring improves risk stratification after car-...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PS2167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背景：用 CAR-T 疗法治疗的复发或难治性大 B 细胞淋巴瘤 (LBCL) 显示出异质性结果，早期识别有进展风险的患者仍然具有挑战性。肿瘤信息循环肿瘤 DNA (ctDNA) 检测可实现高度灵敏的微小残留病 (MRD) 检测，并提供动态监测的无创策略。</a:t>
            </a:r>
          </a:p>
          <a:p>
            <a:pPr>
              <a:lnSpc>
                <a:spcPct val="103000"/>
              </a:lnSpc>
              <a:spcAft>
                <a:spcPts val="300"/>
              </a:spcAft>
              <a:defRPr sz="550">
                <a:solidFill>
                  <a:srgbClr val="21242A"/>
                </a:solidFill>
                <a:latin typeface="Microsoft YaHei"/>
              </a:defRPr>
            </a:pPr>
            <a:r>
              <a:t>目的：我们的目的是评估早期和纵向患者特异性 ctDNA 评估对接受 CAR-T 治疗的 LBCL 患者的预后影响及其与 PET/CT 的补充作用。 方法：纳入了 79 名接受 CD19 CAR-T 治疗并在第 +7、+14 或 +30 天进行液体活检的 LBCL 患者。</a:t>
            </a:r>
          </a:p>
          <a:p>
            <a:pPr>
              <a:lnSpc>
                <a:spcPct val="103000"/>
              </a:lnSpc>
              <a:spcAft>
                <a:spcPts val="300"/>
              </a:spcAft>
              <a:defRPr sz="550">
                <a:solidFill>
                  <a:srgbClr val="21242A"/>
                </a:solidFill>
                <a:latin typeface="Microsoft YaHei"/>
              </a:defRPr>
            </a:pPr>
            <a:r>
              <a:t>6 个缺乏适合 MRD 分析的分子标记，其余 73 个中的 10 个因 cfDNA 输入不足而被排除（</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肿瘤相关的 ctDNA 监测能够在 LBCL 的 CAR-T 治疗后进行非常早期的风险分层，在输注后的前两周内、放射学评估之前识别高风险患者。在第 +30 天，ctDNA MRD 阳性显示出很强的预后价值，分子和代谢反应的整合改善了结果辨别力。当 PET 结果产生不确定性时，ctDNA 分析特别有用，可以澄清疾病状态。</a:t>
            </a:r>
          </a:p>
          <a:p>
            <a:pPr>
              <a:lnSpc>
                <a:spcPct val="103000"/>
              </a:lnSpc>
              <a:spcAft>
                <a:spcPts val="300"/>
              </a:spcAft>
              <a:defRPr sz="570">
                <a:solidFill>
                  <a:srgbClr val="21242A"/>
                </a:solidFill>
                <a:latin typeface="Microsoft YaHei"/>
              </a:defRPr>
            </a:pPr>
            <a:r>
              <a:t>这些结果支持将纵向 ctDNA 监测纳入前瞻性 CAR-T 试验中，以实现更早的、生物学驱动的、风险适应的策略。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结果：最终队列的中位年龄为 57 岁； 41% 是女性，患者接受过两种既往治疗的中位数。在基线时，确定了 401 个可追踪的体细胞突变用于 MRD 监测（平均：每名患者 6 个）。最常见的突变基因是 TP53 (44%)、CREBBP (30%)、KMT2D (24%)、IGLL5 (22%) 和 BCL2 </a:t>
            </a:r>
          </a:p>
          <a:p>
            <a:pPr>
              <a:lnSpc>
                <a:spcPct val="103000"/>
              </a:lnSpc>
              <a:spcAft>
                <a:spcPts val="300"/>
              </a:spcAft>
              <a:defRPr sz="560">
                <a:solidFill>
                  <a:srgbClr val="21242A"/>
                </a:solidFill>
                <a:latin typeface="Microsoft YaHei"/>
              </a:defRPr>
            </a:pPr>
            <a:r>
              <a:t>(20%)。早期 MRD 评估（+7/+14 天）发现患者进展风险增加，ctDNA 阳性显示出显着的预后影响（一年 PFS：23% vs 100%；HR，10；95% CI，1.37–72.48；p=0.02），表明分子动力学先于传统成像（图 A）。在第 +30 天，ctDNA MRD 阳性保留独立的预后价值</a:t>
            </a:r>
          </a:p>
          <a:p>
            <a:pPr>
              <a:lnSpc>
                <a:spcPct val="103000"/>
              </a:lnSpc>
              <a:spcAft>
                <a:spcPts val="300"/>
              </a:spcAft>
              <a:defRPr sz="560">
                <a:solidFill>
                  <a:srgbClr val="21242A"/>
                </a:solidFill>
                <a:latin typeface="Microsoft YaHei"/>
              </a:defRPr>
            </a:pPr>
            <a:r>
              <a:t>（HR 4.5，95% CI 1.03–19.37；p=0.02），与 PET/CT 相当（HR 8.3，95% CI 4.41–15.6；p</a:t>
            </a:r>
          </a:p>
          <a:p>
            <a:pPr>
              <a:lnSpc>
                <a:spcPct val="103000"/>
              </a:lnSpc>
              <a:spcAft>
                <a:spcPts val="300"/>
              </a:spcAft>
              <a:defRPr sz="560">
                <a:solidFill>
                  <a:srgbClr val="21242A"/>
                </a:solidFill>
                <a:latin typeface="Microsoft YaHei"/>
              </a:defRPr>
            </a:pPr>
            <a:r>
              <a:t>结论：基于肿瘤的 ctDNA 监测能够在 LBCL 的 CAR-T 治疗后进行非常早期的风险分层，在输注后的前两周内、放射学评估之前识别出高风险患者。在第 +30 天，ctDNA MRD 阳性显示出很强的预后价值，分子和代谢反应的整合改善了结果辨别力。当 PET 结果产生不确定性时，ctDNA 分析特别有用，</a:t>
            </a:r>
          </a:p>
          <a:p>
            <a:pPr>
              <a:lnSpc>
                <a:spcPct val="103000"/>
              </a:lnSpc>
              <a:spcAft>
                <a:spcPts val="300"/>
              </a:spcAft>
              <a:defRPr sz="560">
                <a:solidFill>
                  <a:srgbClr val="21242A"/>
                </a:solidFill>
                <a:latin typeface="Microsoft YaHei"/>
              </a:defRPr>
            </a:pPr>
            <a:r>
              <a:t>可以澄清疾病状态。这些结果支持将纵向 ctDNA 监测纳入前瞻性 CAR-T 试验中，以实现更早的、生物学驱动的、风险适应的策略。</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摘要号：PS2167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晚些时候输注car‑t会增加细胞因子释放综合征（crs）：免疫治疗相关毒性昼夜节律调节的证据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later car‑t infusions increase cytokine release syndrome (crs): evidence for...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PS2352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多发性骨髓瘤，弥漫性大B细胞淋巴瘤</a:t>
            </a:r>
          </a:p>
          <a:p>
            <a:pPr>
              <a:lnSpc>
                <a:spcPct val="103000"/>
              </a:lnSpc>
              <a:spcAft>
                <a:spcPts val="300"/>
              </a:spcAft>
              <a:defRPr sz="800">
                <a:solidFill>
                  <a:srgbClr val="21242A"/>
                </a:solidFill>
                <a:latin typeface="Microsoft YaHei"/>
              </a:defRPr>
            </a:pPr>
            <a:r>
              <a:t>N=96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分组：上午输注组：CAR-T细胞</a:t>
            </a:r>
          </a:p>
          <a:p>
            <a:pPr>
              <a:lnSpc>
                <a:spcPct val="103000"/>
              </a:lnSpc>
              <a:spcAft>
                <a:spcPts val="300"/>
              </a:spcAft>
              <a:defRPr sz="800">
                <a:solidFill>
                  <a:srgbClr val="21242A"/>
                </a:solidFill>
                <a:latin typeface="Microsoft YaHei"/>
              </a:defRPr>
            </a:pPr>
            <a:r>
              <a:t>下午输注组：CAR-T细胞</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多组/多方案比较：上午输注组：CAR-T细胞</a:t>
            </a:r>
          </a:p>
          <a:p>
            <a:pPr>
              <a:lnSpc>
                <a:spcPct val="103000"/>
              </a:lnSpc>
              <a:spcAft>
                <a:spcPts val="300"/>
              </a:spcAft>
              <a:defRPr sz="800">
                <a:solidFill>
                  <a:srgbClr val="21242A"/>
                </a:solidFill>
                <a:latin typeface="Microsoft YaHei"/>
              </a:defRPr>
            </a:pPr>
            <a:r>
              <a:t>下午输注组：CAR-T细胞</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任何级别CRS发生率：AM组55%，PM组88%（p=0.013）</a:t>
            </a:r>
          </a:p>
          <a:p>
            <a:pPr>
              <a:lnSpc>
                <a:spcPct val="103000"/>
              </a:lnSpc>
              <a:spcAft>
                <a:spcPts val="300"/>
              </a:spcAft>
              <a:defRPr sz="800">
                <a:solidFill>
                  <a:srgbClr val="21242A"/>
                </a:solidFill>
                <a:latin typeface="Microsoft YaHei"/>
              </a:defRPr>
            </a:pPr>
            <a:r>
              <a:t>调整后OR (PM vs AM)：aOR 8.15 (95%CI 1.45-45.78, p=0.017)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人数：96</a:t>
            </a:r>
          </a:p>
          <a:p>
            <a:pPr>
              <a:lnSpc>
                <a:spcPct val="103000"/>
              </a:lnSpc>
              <a:spcAft>
                <a:spcPts val="300"/>
              </a:spcAft>
              <a:defRPr sz="810">
                <a:solidFill>
                  <a:srgbClr val="21242A"/>
                </a:solidFill>
                <a:latin typeface="Microsoft YaHei"/>
              </a:defRPr>
            </a:pPr>
            <a:r>
              <a:t>适应症：多发性骨髓瘤、弥漫性大B细胞淋巴瘤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分组/治疗流程：上午输注组：CAR-T细胞、下午输注组：CAR-T细胞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晚些时候输注car‑t会增加细胞因子释放综合征（crs）：免疫治疗相关毒性昼夜节律调节的证据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later car‑t infusions increase cytokine release syndrome (crs): evidence for...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PS2352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背景：昼夜节律通过 T 细胞和巨噬细胞中的细胞固有分子时钟调节适应性和先天性免疫反应，核心时钟基因调节 T 细胞激活、细胞因子产生和炎症转录程序。</a:t>
            </a:r>
          </a:p>
          <a:p>
            <a:pPr>
              <a:lnSpc>
                <a:spcPct val="103000"/>
              </a:lnSpc>
              <a:spcAft>
                <a:spcPts val="300"/>
              </a:spcAft>
              <a:defRPr sz="550">
                <a:solidFill>
                  <a:srgbClr val="21242A"/>
                </a:solidFill>
                <a:latin typeface="Microsoft YaHei"/>
              </a:defRPr>
            </a:pPr>
            <a:r>
              <a:t>CRS 的核心促炎介质表现出昼夜振荡，巨噬细胞细胞因子转录受到昼夜节律控制。新出现的临床证据表明，嵌合抗原受体 (CAR)-T 细胞输注时机可能会影响结果：较晚的输注时间与较差的无进展生存期 (PFS) 和较高的炎症标志物相关 (Luan, Blood 2025)，并增加死亡和神经毒性风险 (Lyons, JCI In</a:t>
            </a:r>
          </a:p>
          <a:p>
            <a:pPr>
              <a:lnSpc>
                <a:spcPct val="103000"/>
              </a:lnSpc>
              <a:spcAft>
                <a:spcPts val="300"/>
              </a:spcAft>
              <a:defRPr sz="550">
                <a:solidFill>
                  <a:srgbClr val="21242A"/>
                </a:solidFill>
                <a:latin typeface="Microsoft YaHei"/>
              </a:defRPr>
            </a:pPr>
            <a:r>
              <a:t>sight 2025)。机制研究进一步证明 CD8⁺ T 细胞运输和功能的昼夜节律调节可以改变免疫治疗效果 (Wang, Cell 2024)。输注时机是否直接调节 CRS 或免疫效应细胞相关神经毒性综合征 (ICANS) 目前尚不清楚。我们假设 CAR-T 给药的昼夜节律时间会影响治疗相关的炎症毒性。目的：评估接受商</a:t>
            </a:r>
          </a:p>
          <a:p>
            <a:pPr>
              <a:lnSpc>
                <a:spcPct val="103000"/>
              </a:lnSpc>
              <a:spcAft>
                <a:spcPts val="300"/>
              </a:spcAft>
              <a:defRPr sz="550">
                <a:solidFill>
                  <a:srgbClr val="21242A"/>
                </a:solidFill>
                <a:latin typeface="Microsoft YaHei"/>
              </a:defRPr>
            </a:pPr>
            <a:r>
              <a:t>业 CAR-T 的成人中 CAR-T 输注时间（和血浆分离术时间）是否与 CRS/ICANS 相关。方法：我们对在三级中心接受市售 CAR-T 的 96 名成年人进行了一项经 IRB 批准的回顾性研究（2018 年 1 月至 2025 年 12 月）。</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较晚的 CAR-T 输注时间与 CRS 发生率增加独立相关，且具有与昼夜节律调节一致的小时依赖性梯度。由于输注时间是可修改的，因此前瞻性时间疗法试验应测试更早的安排是否可以减少炎症毒性而不损害临床益处。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任何级别CRS发生率</a:t>
                      </a:r>
                    </a:p>
                  </a:txBody>
                  <a:tcPr>
                    <a:solidFill>
                      <a:srgbClr val="F6F8FB"/>
                    </a:solidFill>
                  </a:tcPr>
                </a:tc>
                <a:tc>
                  <a:txBody>
                    <a:bodyPr wrap="square" lIns="36576" rIns="36576" tIns="18288" bIns="18288"/>
                    <a:lstStyle/>
                    <a:p>
                      <a:r>
                        <a:rPr sz="540" b="0">
                          <a:solidFill>
                            <a:srgbClr val="21242A"/>
                          </a:solidFill>
                          <a:latin typeface="Microsoft YaHei"/>
                        </a:rPr>
                        <a:t>AM组55%，PM组88%（p=0.013）</a:t>
                      </a:r>
                    </a:p>
                  </a:txBody>
                  <a:tcPr>
                    <a:solidFill>
                      <a:srgbClr val="F6F8FB"/>
                    </a:solidFill>
                  </a:tcPr>
                </a:tc>
              </a:tr>
              <a:tr h="214230">
                <a:tc>
                  <a:txBody>
                    <a:bodyPr wrap="square" lIns="36576" rIns="36576" tIns="18288" bIns="18288"/>
                    <a:lstStyle/>
                    <a:p>
                      <a:r>
                        <a:rPr sz="540" b="1">
                          <a:solidFill>
                            <a:srgbClr val="21242A"/>
                          </a:solidFill>
                          <a:latin typeface="Microsoft YaHei"/>
                        </a:rPr>
                        <a:t>调整后OR (PM vs AM)</a:t>
                      </a:r>
                    </a:p>
                  </a:txBody>
                  <a:tcPr>
                    <a:solidFill>
                      <a:srgbClr val="FFFFFF"/>
                    </a:solidFill>
                  </a:tcPr>
                </a:tc>
                <a:tc>
                  <a:txBody>
                    <a:bodyPr wrap="square" lIns="36576" rIns="36576" tIns="18288" bIns="18288"/>
                    <a:lstStyle/>
                    <a:p>
                      <a:r>
                        <a:rPr sz="540" b="0">
                          <a:solidFill>
                            <a:srgbClr val="21242A"/>
                          </a:solidFill>
                          <a:latin typeface="Microsoft YaHei"/>
                        </a:rPr>
                        <a:t>aOR 8.15 (95%CI 1.45-45.78, p=0.017)</a:t>
                      </a:r>
                    </a:p>
                  </a:txBody>
                  <a:tcPr>
                    <a:solidFill>
                      <a:srgbClr val="FFFFFF"/>
                    </a:solidFill>
                  </a:tcPr>
                </a:tc>
              </a:tr>
              <a:tr h="214230">
                <a:tc>
                  <a:txBody>
                    <a:bodyPr wrap="square" lIns="36576" rIns="36576" tIns="18288" bIns="18288"/>
                    <a:lstStyle/>
                    <a:p>
                      <a:r>
                        <a:rPr sz="540" b="1">
                          <a:solidFill>
                            <a:srgbClr val="21242A"/>
                          </a:solidFill>
                          <a:latin typeface="Microsoft YaHei"/>
                        </a:rPr>
                        <a:t>托珠单抗和/或类固醇使用率</a:t>
                      </a:r>
                    </a:p>
                  </a:txBody>
                  <a:tcPr>
                    <a:solidFill>
                      <a:srgbClr val="F6F8FB"/>
                    </a:solidFill>
                  </a:tcPr>
                </a:tc>
                <a:tc>
                  <a:txBody>
                    <a:bodyPr wrap="square" lIns="36576" rIns="36576" tIns="18288" bIns="18288"/>
                    <a:lstStyle/>
                    <a:p>
                      <a:r>
                        <a:rPr sz="540" b="0">
                          <a:solidFill>
                            <a:srgbClr val="21242A"/>
                          </a:solidFill>
                          <a:latin typeface="Microsoft YaHei"/>
                        </a:rPr>
                        <a:t>AM组59%，PM组88%（aOR 5.11, 95%CI 1.09-23.97, p=0.027）</a:t>
                      </a:r>
                    </a:p>
                  </a:txBody>
                  <a:tcPr>
                    <a:solidFill>
                      <a:srgbClr val="F6F8FB"/>
                    </a:solidFill>
                  </a:tcPr>
                </a:tc>
              </a:tr>
              <a:tr h="214230">
                <a:tc>
                  <a:txBody>
                    <a:bodyPr wrap="square" lIns="36576" rIns="36576" tIns="18288" bIns="18288"/>
                    <a:lstStyle/>
                    <a:p>
                      <a:r>
                        <a:rPr sz="540" b="1">
                          <a:solidFill>
                            <a:srgbClr val="21242A"/>
                          </a:solidFill>
                          <a:latin typeface="Microsoft YaHei"/>
                        </a:rPr>
                        <a:t>每小时晚输注的CRS风险</a:t>
                      </a:r>
                    </a:p>
                  </a:txBody>
                  <a:tcPr>
                    <a:solidFill>
                      <a:srgbClr val="FFFFFF"/>
                    </a:solidFill>
                  </a:tcPr>
                </a:tc>
                <a:tc>
                  <a:txBody>
                    <a:bodyPr wrap="square" lIns="36576" rIns="36576" tIns="18288" bIns="18288"/>
                    <a:lstStyle/>
                    <a:p>
                      <a:r>
                        <a:rPr sz="540" b="0">
                          <a:solidFill>
                            <a:srgbClr val="21242A"/>
                          </a:solidFill>
                          <a:latin typeface="Microsoft YaHei"/>
                        </a:rPr>
                        <a:t>aOR 1.82 (95%CI 1.14-2.90, p=0.012)</a:t>
                      </a:r>
                    </a:p>
                  </a:txBody>
                  <a:tcPr>
                    <a:solidFill>
                      <a:srgbClr val="FFFFFF"/>
                    </a:solidFill>
                  </a:tcPr>
                </a:tc>
              </a:tr>
              <a:tr h="214230">
                <a:tc>
                  <a:txBody>
                    <a:bodyPr wrap="square" lIns="36576" rIns="36576" tIns="18288" bIns="18288"/>
                    <a:lstStyle/>
                    <a:p>
                      <a:r>
                        <a:rPr sz="540" b="1">
                          <a:solidFill>
                            <a:srgbClr val="21242A"/>
                          </a:solidFill>
                          <a:latin typeface="Microsoft YaHei"/>
                        </a:rPr>
                        <a:t>30或60天完全缓解率</a:t>
                      </a:r>
                    </a:p>
                  </a:txBody>
                  <a:tcPr>
                    <a:solidFill>
                      <a:srgbClr val="F6F8FB"/>
                    </a:solidFill>
                  </a:tcPr>
                </a:tc>
                <a:tc>
                  <a:txBody>
                    <a:bodyPr wrap="square" lIns="36576" rIns="36576" tIns="18288" bIns="18288"/>
                    <a:lstStyle/>
                    <a:p>
                      <a:r>
                        <a:rPr sz="540" b="0">
                          <a:solidFill>
                            <a:srgbClr val="21242A"/>
                          </a:solidFill>
                          <a:latin typeface="Microsoft YaHei"/>
                        </a:rPr>
                        <a:t>AM组60%，PM组31%（OR 0.30, 95%CI 0.083-1.09, p=0.072）</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其余4条结果见HTML完整清单及EHA原文。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摘要号：PS2352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starglo合格患者二线car-t治疗的疗效比较分析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outcomes of second-line car-t therapy in starglo-eligible patients: a compara...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分组：试验组1：二线CAR-T治疗（CAR-T）</a:t>
            </a:r>
          </a:p>
          <a:p>
            <a:pPr>
              <a:lnSpc>
                <a:spcPct val="103000"/>
              </a:lnSpc>
              <a:spcAft>
                <a:spcPts val="300"/>
              </a:spcAft>
              <a:defRPr sz="800">
                <a:solidFill>
                  <a:srgbClr val="21242A"/>
                </a:solidFill>
                <a:latin typeface="Microsoft YaHei"/>
              </a:defRPr>
            </a:pPr>
            <a:r>
              <a:t>对照组：STARGLO二线亚组（glofitamab, gemcitabine, oxaliplatin）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对照/比较：试验组1：二线CAR-T治疗（CAR-T）</a:t>
            </a:r>
          </a:p>
          <a:p>
            <a:pPr>
              <a:lnSpc>
                <a:spcPct val="103000"/>
              </a:lnSpc>
              <a:spcAft>
                <a:spcPts val="300"/>
              </a:spcAft>
              <a:defRPr sz="800">
                <a:solidFill>
                  <a:srgbClr val="21242A"/>
                </a:solidFill>
                <a:latin typeface="Microsoft YaHei"/>
              </a:defRPr>
            </a:pPr>
            <a:r>
              <a:t>对照组：STARGLO二线亚组（glofitamab, gemcitabine, oxaliplatin）</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2L CAR-T队列完全缓解率：65.8%</a:t>
            </a:r>
          </a:p>
          <a:p>
            <a:pPr>
              <a:lnSpc>
                <a:spcPct val="103000"/>
              </a:lnSpc>
              <a:spcAft>
                <a:spcPts val="300"/>
              </a:spcAft>
              <a:defRPr sz="800">
                <a:solidFill>
                  <a:srgbClr val="21242A"/>
                </a:solidFill>
                <a:latin typeface="Microsoft YaHei"/>
              </a:defRPr>
            </a:pPr>
            <a:r>
              <a:t>STARGLO 2L完全缓解率：63.5%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分组/治疗流程：试验组1：二线CAR-T治疗（CAR-T）、对照组：STARGLO二线亚组（glofitamab、gemcitabine</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starglo合格患者二线car-t治疗的疗效比较分析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outcomes of second-line car-t therapy in starglo-eligible patients: a compara...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背景：CAR-T 疗法重新定义了复发或难治性 (R/R) DLBCL 的治疗模式，并且是既定的二线 (2L) 护理标准。然而，这是基于比较 CAR-T 与化学免疫疗法而不是双特异性抗体 (bsAb) 的关键试验。</a:t>
            </a:r>
          </a:p>
          <a:p>
            <a:pPr>
              <a:lnSpc>
                <a:spcPct val="103000"/>
              </a:lnSpc>
              <a:spcAft>
                <a:spcPts val="300"/>
              </a:spcAft>
              <a:defRPr sz="550">
                <a:solidFill>
                  <a:srgbClr val="21242A"/>
                </a:solidFill>
                <a:latin typeface="Microsoft YaHei"/>
              </a:defRPr>
            </a:pPr>
            <a:r>
              <a:t>III 期 STARGLO 试验证明了格洛菲他滨联合吉西他滨和奥沙利铂 (Glofit-GemOx) 在 2L 治疗中对不符合自体干细胞移植 (ASCT) 条件的患者的疗效。目的：在缺乏直接比较数据的情况下，我们旨在评估符合 STARGLO 纳入标准的 2L CAR-T 患者是否取得了与 Glofit-GemOx 组基</a:t>
            </a:r>
          </a:p>
          <a:p>
            <a:pPr>
              <a:lnSpc>
                <a:spcPct val="103000"/>
              </a:lnSpc>
              <a:spcAft>
                <a:spcPts val="300"/>
              </a:spcAft>
              <a:defRPr sz="550">
                <a:solidFill>
                  <a:srgbClr val="21242A"/>
                </a:solidFill>
                <a:latin typeface="Microsoft YaHei"/>
              </a:defRPr>
            </a:pPr>
            <a:r>
              <a:t>准相当的结果。方法：我们分析了在 2022 年 12 月至 2025 年 9 月期间接受 2L CAR-T 治疗的真实世界患者队列。根据 III 期 STARGLO 试验的具体纳入和排除标准选择患者。为了便于进行严格比较，使用 Guyot 迭代算法根据已发表的 STARGLO 2L 子分析 Kaplan-Meier 曲</a:t>
            </a:r>
          </a:p>
          <a:p>
            <a:pPr>
              <a:lnSpc>
                <a:spcPct val="103000"/>
              </a:lnSpc>
              <a:spcAft>
                <a:spcPts val="300"/>
              </a:spcAft>
              <a:defRPr sz="550">
                <a:solidFill>
                  <a:srgbClr val="21242A"/>
                </a:solidFill>
                <a:latin typeface="Microsoft YaHei"/>
              </a:defRPr>
            </a:pPr>
            <a:r>
              <a:t>线重建了个体患者数据 (IPD)。通过 WebPlotDigitizer 使用自动提取过程和高密度坐标采样（ΔX 和 ΔY 为 1 像素）对曲线进行数字化，以捕获生存轨迹中的所有粒度阶跃变化。</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在这个“符合 STARGLO 资格”的现实世界队列中，2L CAR-T 实现了较高的初始缓解率。</a:t>
            </a:r>
          </a:p>
          <a:p>
            <a:pPr>
              <a:lnSpc>
                <a:spcPct val="103000"/>
              </a:lnSpc>
              <a:spcAft>
                <a:spcPts val="300"/>
              </a:spcAft>
              <a:defRPr sz="570">
                <a:solidFill>
                  <a:srgbClr val="21242A"/>
                </a:solidFill>
                <a:latin typeface="Microsoft YaHei"/>
              </a:defRPr>
            </a:pPr>
            <a:r>
              <a:t>24 个月时，一般人群中 PFS 和 OS 的数值差异有利于 STARGLO，而在高风险早期复发亚人群中，CAR-T 队列的 24 个月 PFS 和 OS 较高。重叠的置信区间表明该样本中这些方案之间的生存结果具有可比性。这些信号值得在更大的前瞻性队列中进行探索，以更好地定义 2L 治疗前景并完善患者选择。</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2L CAR-T队列完全缓解率</a:t>
                      </a:r>
                    </a:p>
                  </a:txBody>
                  <a:tcPr>
                    <a:solidFill>
                      <a:srgbClr val="F6F8FB"/>
                    </a:solidFill>
                  </a:tcPr>
                </a:tc>
                <a:tc>
                  <a:txBody>
                    <a:bodyPr wrap="square" lIns="36576" rIns="36576" tIns="18288" bIns="18288"/>
                    <a:lstStyle/>
                    <a:p>
                      <a:r>
                        <a:rPr sz="540" b="0">
                          <a:solidFill>
                            <a:srgbClr val="21242A"/>
                          </a:solidFill>
                          <a:latin typeface="Microsoft YaHei"/>
                        </a:rPr>
                        <a:t>65.8%</a:t>
                      </a:r>
                    </a:p>
                  </a:txBody>
                  <a:tcPr>
                    <a:solidFill>
                      <a:srgbClr val="F6F8FB"/>
                    </a:solidFill>
                  </a:tcPr>
                </a:tc>
              </a:tr>
              <a:tr h="214230">
                <a:tc>
                  <a:txBody>
                    <a:bodyPr wrap="square" lIns="36576" rIns="36576" tIns="18288" bIns="18288"/>
                    <a:lstStyle/>
                    <a:p>
                      <a:r>
                        <a:rPr sz="540" b="1">
                          <a:solidFill>
                            <a:srgbClr val="21242A"/>
                          </a:solidFill>
                          <a:latin typeface="Microsoft YaHei"/>
                        </a:rPr>
                        <a:t>STARGLO 2L完全缓解率</a:t>
                      </a:r>
                    </a:p>
                  </a:txBody>
                  <a:tcPr>
                    <a:solidFill>
                      <a:srgbClr val="FFFFFF"/>
                    </a:solidFill>
                  </a:tcPr>
                </a:tc>
                <a:tc>
                  <a:txBody>
                    <a:bodyPr wrap="square" lIns="36576" rIns="36576" tIns="18288" bIns="18288"/>
                    <a:lstStyle/>
                    <a:p>
                      <a:r>
                        <a:rPr sz="540" b="0">
                          <a:solidFill>
                            <a:srgbClr val="21242A"/>
                          </a:solidFill>
                          <a:latin typeface="Microsoft YaHei"/>
                        </a:rPr>
                        <a:t>63.5%</a:t>
                      </a:r>
                    </a:p>
                  </a:txBody>
                  <a:tcPr>
                    <a:solidFill>
                      <a:srgbClr val="FFFFFF"/>
                    </a:solidFill>
                  </a:tcPr>
                </a:tc>
              </a:tr>
              <a:tr h="214230">
                <a:tc>
                  <a:txBody>
                    <a:bodyPr wrap="square" lIns="36576" rIns="36576" tIns="18288" bIns="18288"/>
                    <a:lstStyle/>
                    <a:p>
                      <a:r>
                        <a:rPr sz="540" b="1">
                          <a:solidFill>
                            <a:srgbClr val="21242A"/>
                          </a:solidFill>
                          <a:latin typeface="Microsoft YaHei"/>
                        </a:rPr>
                        <a:t>2L CAR-T队列24个月无进展生存率</a:t>
                      </a:r>
                    </a:p>
                  </a:txBody>
                  <a:tcPr>
                    <a:solidFill>
                      <a:srgbClr val="F6F8FB"/>
                    </a:solidFill>
                  </a:tcPr>
                </a:tc>
                <a:tc>
                  <a:txBody>
                    <a:bodyPr wrap="square" lIns="36576" rIns="36576" tIns="18288" bIns="18288"/>
                    <a:lstStyle/>
                    <a:p>
                      <a:r>
                        <a:rPr sz="540" b="0">
                          <a:solidFill>
                            <a:srgbClr val="21242A"/>
                          </a:solidFill>
                          <a:latin typeface="Microsoft YaHei"/>
                        </a:rPr>
                        <a:t>38.9%（95% CI: 24.9-60.6）</a:t>
                      </a:r>
                    </a:p>
                  </a:txBody>
                  <a:tcPr>
                    <a:solidFill>
                      <a:srgbClr val="F6F8FB"/>
                    </a:solidFill>
                  </a:tcPr>
                </a:tc>
              </a:tr>
              <a:tr h="214230">
                <a:tc>
                  <a:txBody>
                    <a:bodyPr wrap="square" lIns="36576" rIns="36576" tIns="18288" bIns="18288"/>
                    <a:lstStyle/>
                    <a:p>
                      <a:r>
                        <a:rPr sz="540" b="1">
                          <a:solidFill>
                            <a:srgbClr val="21242A"/>
                          </a:solidFill>
                          <a:latin typeface="Microsoft YaHei"/>
                        </a:rPr>
                        <a:t>STARGLO 2L</a:t>
                      </a:r>
                    </a:p>
                  </a:txBody>
                  <a:tcPr>
                    <a:solidFill>
                      <a:srgbClr val="FFFFFF"/>
                    </a:solidFill>
                  </a:tcPr>
                </a:tc>
                <a:tc>
                  <a:txBody>
                    <a:bodyPr wrap="square" lIns="36576" rIns="36576" tIns="18288" bIns="18288"/>
                    <a:lstStyle/>
                    <a:p>
                      <a:r>
                        <a:rPr sz="540" b="0">
                          <a:solidFill>
                            <a:srgbClr val="21242A"/>
                          </a:solidFill>
                          <a:latin typeface="Microsoft YaHei"/>
                        </a:rPr>
                        <a:t>49.9%（95% CI: 38.8-61.0）</a:t>
                      </a:r>
                    </a:p>
                  </a:txBody>
                  <a:tcPr>
                    <a:solidFill>
                      <a:srgbClr val="FFFFFF"/>
                    </a:solidFill>
                  </a:tcPr>
                </a:tc>
              </a:tr>
              <a:tr h="214230">
                <a:tc>
                  <a:txBody>
                    <a:bodyPr wrap="square" lIns="36576" rIns="36576" tIns="18288" bIns="18288"/>
                    <a:lstStyle/>
                    <a:p>
                      <a:r>
                        <a:rPr sz="540" b="1">
                          <a:solidFill>
                            <a:srgbClr val="21242A"/>
                          </a:solidFill>
                          <a:latin typeface="Microsoft YaHei"/>
                        </a:rPr>
                        <a:t>2L CAR-T队列24个月总生存率</a:t>
                      </a:r>
                    </a:p>
                  </a:txBody>
                  <a:tcPr>
                    <a:solidFill>
                      <a:srgbClr val="F6F8FB"/>
                    </a:solidFill>
                  </a:tcPr>
                </a:tc>
                <a:tc>
                  <a:txBody>
                    <a:bodyPr wrap="square" lIns="36576" rIns="36576" tIns="18288" bIns="18288"/>
                    <a:lstStyle/>
                    <a:p>
                      <a:r>
                        <a:rPr sz="540" b="0">
                          <a:solidFill>
                            <a:srgbClr val="21242A"/>
                          </a:solidFill>
                          <a:latin typeface="Microsoft YaHei"/>
                        </a:rPr>
                        <a:t>50.1%（95% CI: 34.2-73.4）</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relmacabtagene autoleucel（relma-cel）治疗成人复发/难治性大b细胞淋巴瘤的安全性和有...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safety and efficacy of relmacabtagene autoleucel (relma-cel) in adult patient...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试验药/方案：瑞基奥仑赛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3个月ORR（研究者评估）：58.33%</a:t>
            </a:r>
          </a:p>
          <a:p>
            <a:pPr>
              <a:lnSpc>
                <a:spcPct val="103000"/>
              </a:lnSpc>
              <a:spcAft>
                <a:spcPts val="300"/>
              </a:spcAft>
              <a:defRPr sz="800">
                <a:solidFill>
                  <a:srgbClr val="21242A"/>
                </a:solidFill>
                <a:latin typeface="Microsoft YaHei"/>
              </a:defRPr>
            </a:pPr>
            <a:r>
              <a:t>3个月CRR（研究者评估）：41.67%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人数：12</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试验药/方案：瑞基奥仑赛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药物/技术类别：CAR-T、外周血单个核细胞PBMC、自体细胞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relmacabtagene autoleucel（relma-cel）治疗成人复发/难治性大b细胞淋巴瘤的安全性和有...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safety and efficacy of relmacabtagene autoleucel (relma-cel) in adult patient...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背景：Relma-cel 是一种 CD19 定向 CAR-T 疗法，是一种批准的治疗复发/难治性 (R/R) 大 B 细胞淋巴瘤 (LBCL) 的疗法。为了降低制造成本并增强供应链稳定性，建立了内部慢病毒载体制造工艺。本研究是一项批准后桥接研究，旨在评估使用国产慢病毒载体（JWLV011）生产的relma-cel。</a:t>
            </a:r>
          </a:p>
          <a:p>
            <a:pPr>
              <a:lnSpc>
                <a:spcPct val="103000"/>
              </a:lnSpc>
              <a:spcAft>
                <a:spcPts val="300"/>
              </a:spcAft>
              <a:defRPr sz="550">
                <a:solidFill>
                  <a:srgbClr val="21242A"/>
                </a:solidFill>
                <a:latin typeface="Microsoft YaHei"/>
              </a:defRPr>
            </a:pPr>
            <a:r>
              <a:t>目的：评估用 JWLV011 制造的 relma-cel 在成人 R/R LBCL 患者中的疗效、安全性和药代动力学 (PK)/药效学 (PD) 特征。</a:t>
            </a:r>
          </a:p>
          <a:p>
            <a:pPr>
              <a:lnSpc>
                <a:spcPct val="103000"/>
              </a:lnSpc>
              <a:spcAft>
                <a:spcPts val="300"/>
              </a:spcAft>
              <a:defRPr sz="550">
                <a:solidFill>
                  <a:srgbClr val="21242A"/>
                </a:solidFill>
                <a:latin typeface="Microsoft YaHei"/>
              </a:defRPr>
            </a:pPr>
            <a:r>
              <a:t>方法：这项 II 期研究纳入了经组织学证实的 R/R LBCL 成人（≥18 岁），他们在 ≥2 次既往全身治疗（包括含蒽环类药物治疗方案和抗 CD20 单克隆抗体）或自体干细胞移植后复发或进展。随后进行环磷酰胺（250 mg/m 2 /天×3天）和氟达拉滨（25 mg/m 2 /天×3天）的淋巴细胞清除化疗，然后接受</a:t>
            </a:r>
          </a:p>
          <a:p>
            <a:pPr>
              <a:lnSpc>
                <a:spcPct val="103000"/>
              </a:lnSpc>
              <a:spcAft>
                <a:spcPts val="300"/>
              </a:spcAft>
              <a:defRPr sz="550">
                <a:solidFill>
                  <a:srgbClr val="21242A"/>
                </a:solidFill>
                <a:latin typeface="Microsoft YaHei"/>
              </a:defRPr>
            </a:pPr>
            <a:r>
              <a:t>单次输注relma-cel，剂量为100 × 10 6 CAR + T细胞。主要终点是输注后 3 个月时研究者评估的客观缓解率 (ORR)。</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使用国产慢病毒载体生产的Relma-cel在成人R/R LBCL患者中表现出良好的疗效和可控的安全性。这些发现支持了内部慢病毒载体制造的可行性，且不影响临床表现。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结果：截至 2025 年 7 月 15 日，14 名患者接受了白细胞分离术，12 名患者接受了 relma-cel。中位年龄为 61.5 岁（范围为 46-76 岁；41.7% ≥65 岁），其中 58.3% 为男性。高风险疾病特征很常见：50.0% 的国际预后指数≥3，83.3% 患有安娜堡 III/IV </a:t>
            </a:r>
          </a:p>
          <a:p>
            <a:pPr>
              <a:lnSpc>
                <a:spcPct val="103000"/>
              </a:lnSpc>
              <a:spcAft>
                <a:spcPts val="300"/>
              </a:spcAft>
              <a:defRPr sz="560">
                <a:solidFill>
                  <a:srgbClr val="21242A"/>
                </a:solidFill>
                <a:latin typeface="Microsoft YaHei"/>
              </a:defRPr>
            </a:pPr>
            <a:r>
              <a:t>期疾病，41.7% 基线乳酸脱氢酶升高，83.3% 患有非生发中心 B 细胞样亚型。</a:t>
            </a:r>
          </a:p>
          <a:p>
            <a:pPr>
              <a:lnSpc>
                <a:spcPct val="103000"/>
              </a:lnSpc>
              <a:spcAft>
                <a:spcPts val="300"/>
              </a:spcAft>
              <a:defRPr sz="560">
                <a:solidFill>
                  <a:srgbClr val="21242A"/>
                </a:solidFill>
                <a:latin typeface="Microsoft YaHei"/>
              </a:defRPr>
            </a:pPr>
            <a:r>
              <a:t>41.7% 的患者既往接受过 3 种以上的治疗； 25.0%接受了polatuzumab vedotin，25.0%接受了CD3/CD20双特异性抗体（1名患者为原发难治性，2名患者在一线治疗12个月内复发，3名患者随后接受双特异性抗体治疗，均为双特异性抗体难治性）。总体而言，33.3% 的患者病情复发，66</a:t>
            </a:r>
          </a:p>
          <a:p>
            <a:pPr>
              <a:lnSpc>
                <a:spcPct val="103000"/>
              </a:lnSpc>
              <a:spcAft>
                <a:spcPts val="300"/>
              </a:spcAft>
              <a:defRPr sz="560">
                <a:solidFill>
                  <a:srgbClr val="21242A"/>
                </a:solidFill>
                <a:latin typeface="Microsoft YaHei"/>
              </a:defRPr>
            </a:pPr>
            <a:r>
              <a:t>.7% 的患者对其最近的治疗无效。</a:t>
            </a:r>
          </a:p>
          <a:p>
            <a:pPr>
              <a:lnSpc>
                <a:spcPct val="103000"/>
              </a:lnSpc>
              <a:spcAft>
                <a:spcPts val="300"/>
              </a:spcAft>
              <a:defRPr sz="560">
                <a:solidFill>
                  <a:srgbClr val="21242A"/>
                </a:solidFill>
                <a:latin typeface="Microsoft YaHei"/>
              </a:defRPr>
            </a:pPr>
            <a:r>
              <a:t>41.7%的患者接受了桥接治疗。中位随访时间为 4.6 个月（范围为 2.79-5.85），在改良意向治疗 (mITT) 人群 (n=12) 中，研究者评估的 3 个月 ORR 为 58.33%，CRR 为 41.67%，达到主要终点。研究者评估的最佳 ORR 为 66.67%，最佳 CRR 为 41.67%</a:t>
            </a:r>
          </a:p>
          <a:p>
            <a:pPr>
              <a:lnSpc>
                <a:spcPct val="103000"/>
              </a:lnSpc>
              <a:spcAft>
                <a:spcPts val="300"/>
              </a:spcAft>
              <a:defRPr sz="560">
                <a:solidFill>
                  <a:srgbClr val="21242A"/>
                </a:solidFill>
                <a:latin typeface="Microsoft YaHei"/>
              </a:defRPr>
            </a:pPr>
            <a:r>
              <a:t>。独立审查委员会 (IRC) 评估的 3 个月 ORR 为 58.33%，CRR 为 58.33%。最佳 ORR 为 75.00%，最佳 CRR 为 58.33%（图 1）。</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复发/难治性弥漫性大b细胞淋巴瘤单靶（cd19）与双靶（cd19/cd22或cd19/cd20）car t细胞治疗的系...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single-target (cd19) versus dual-target (cd19/cd22 or cd19/cd20) car t-cell 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N=1425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分组：试验组1：单靶点(CD19) CAR-T细胞治疗</a:t>
            </a:r>
          </a:p>
          <a:p>
            <a:pPr>
              <a:lnSpc>
                <a:spcPct val="103000"/>
              </a:lnSpc>
              <a:spcAft>
                <a:spcPts val="300"/>
              </a:spcAft>
              <a:defRPr sz="800">
                <a:solidFill>
                  <a:srgbClr val="21242A"/>
                </a:solidFill>
                <a:latin typeface="Microsoft YaHei"/>
              </a:defRPr>
            </a:pPr>
            <a:r>
              <a:t>试验组2：双靶点(CD19/CD22或CD19/CD20) CAR-T细胞治疗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多组/多方案比较：试验组1：单靶点(CD19) CAR-T细胞治疗</a:t>
            </a:r>
          </a:p>
          <a:p>
            <a:pPr>
              <a:lnSpc>
                <a:spcPct val="103000"/>
              </a:lnSpc>
              <a:spcAft>
                <a:spcPts val="300"/>
              </a:spcAft>
              <a:defRPr sz="800">
                <a:solidFill>
                  <a:srgbClr val="21242A"/>
                </a:solidFill>
                <a:latin typeface="Microsoft YaHei"/>
              </a:defRPr>
            </a:pPr>
            <a:r>
              <a:t>试验组2：双靶点(CD19/CD22或CD19/CD20) CAR-T细胞治疗</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 双靶点86% vs 单靶点75% (P=0.06)</a:t>
            </a:r>
          </a:p>
          <a:p>
            <a:pPr>
              <a:lnSpc>
                <a:spcPct val="103000"/>
              </a:lnSpc>
              <a:spcAft>
                <a:spcPts val="300"/>
              </a:spcAft>
              <a:defRPr sz="800">
                <a:solidFill>
                  <a:srgbClr val="21242A"/>
                </a:solidFill>
                <a:latin typeface="Microsoft YaHei"/>
              </a:defRPr>
            </a:pPr>
            <a:r>
              <a:t>完全缓解率(CR): 62% vs 53% (P=0.22)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研究类型：系统综述和荟萃分析</a:t>
            </a:r>
          </a:p>
          <a:p>
            <a:pPr>
              <a:lnSpc>
                <a:spcPct val="103000"/>
              </a:lnSpc>
              <a:spcAft>
                <a:spcPts val="300"/>
              </a:spcAft>
              <a:defRPr sz="810">
                <a:solidFill>
                  <a:srgbClr val="21242A"/>
                </a:solidFill>
                <a:latin typeface="Microsoft YaHei"/>
              </a:defRPr>
            </a:pPr>
            <a:r>
              <a:t>人数：1425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分组/治疗流程：试验组1：单靶点(CD19) CAR-T细胞治疗、试验组2：双靶点(CD19/CD22或CD19/CD20) CAR-T细胞治疗</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复发/难治性弥漫性大b细胞淋巴瘤单靶（cd19）与双靶（cd19/cd22或cd19/cd20）car t细胞治疗的系...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single-target (cd19) versus dual-target (cd19/cd22 or cd19/cd20) car t-cell 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背景：嵌合抗原受体（CAR）T细胞疗法已成为复发/难治性弥漫性大B细胞淋巴瘤（R/R DLBCL）患者的关键治疗选择。虽然单靶点 CD19 CAR T 细胞疗法在临床实践中广泛使用，但双靶点策略（例如 CD19/CD22 或 CD19/CD20）已被开发出来，以减少抗原逃逸并可能提高治疗耐久性。然而，这些方法之间的直接</a:t>
            </a:r>
          </a:p>
          <a:p>
            <a:pPr>
              <a:lnSpc>
                <a:spcPct val="103000"/>
              </a:lnSpc>
              <a:spcAft>
                <a:spcPts val="300"/>
              </a:spcAft>
              <a:defRPr sz="550">
                <a:solidFill>
                  <a:srgbClr val="21242A"/>
                </a:solidFill>
                <a:latin typeface="Microsoft YaHei"/>
              </a:defRPr>
            </a:pPr>
            <a:r>
              <a:t>比较仍然有限。目的：本荟萃分析旨在系统比较单靶点（CD19）与双靶点（CD19/CD22 或 CD19/CD20）CAR T 细胞疗法对 R/R DLBCL 患者的疗效和安全性。方法：按照预先确定的纳入标准进行系统评价和荟萃分析。检索了从数据库建立到 2025 年 12 月 31 日的 PubMed、Embase、Co</a:t>
            </a:r>
          </a:p>
          <a:p>
            <a:pPr>
              <a:lnSpc>
                <a:spcPct val="103000"/>
              </a:lnSpc>
              <a:spcAft>
                <a:spcPts val="300"/>
              </a:spcAft>
              <a:defRPr sz="550">
                <a:solidFill>
                  <a:srgbClr val="21242A"/>
                </a:solidFill>
                <a:latin typeface="Microsoft YaHei"/>
              </a:defRPr>
            </a:pPr>
            <a:r>
              <a:t>chrane Library、Web of Science 和主要会议论文集（ASH、EHA、ASCO、ICML）。其中包括评估单靶点（CD19）或双靶点（CD19/CD22 或 CD19/CD20）CAR T 细胞疗法治疗 R/R DLBCL 的临床研究。主要疗效结局包括总缓解率（ORR）、完全缓解（CR）率和1年无</a:t>
            </a:r>
          </a:p>
          <a:p>
            <a:pPr>
              <a:lnSpc>
                <a:spcPct val="103000"/>
              </a:lnSpc>
              <a:spcAft>
                <a:spcPts val="300"/>
              </a:spcAft>
              <a:defRPr sz="550">
                <a:solidFill>
                  <a:srgbClr val="21242A"/>
                </a:solidFill>
                <a:latin typeface="Microsoft YaHei"/>
              </a:defRPr>
            </a:pPr>
            <a:r>
              <a:t>进展生存期（PFS）。安全性结果包括≥3级细胞因子释放综合征（CRS）、免疫效应细胞相关神经毒性综合征（ICANS）、感染和血液毒性。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这项荟萃分析表明，与单靶点 CD19 治疗相比，双靶点（CD19/CD22 或 CD19/CD20）CAR T 细胞治疗在 R/R DLBCL 中可能会在数值上提高缓解率，尽管 CR 和 1 年 PFS 差异不具有统计学意义。双靶点治疗与较高的≥3级血液毒性发生率相关，但严重感染的发生率较低，而其他主要不良事件在组间具</a:t>
            </a:r>
          </a:p>
          <a:p>
            <a:pPr>
              <a:lnSpc>
                <a:spcPct val="103000"/>
              </a:lnSpc>
              <a:spcAft>
                <a:spcPts val="300"/>
              </a:spcAft>
              <a:defRPr sz="570">
                <a:solidFill>
                  <a:srgbClr val="21242A"/>
                </a:solidFill>
                <a:latin typeface="Microsoft YaHei"/>
              </a:defRPr>
            </a:pPr>
            <a:r>
              <a:t>有可比性。鉴于比较的间接性质和研究之间潜在的异质性，应谨慎解释这些发现。有必要进行前瞻性随机试验来确定 R/R DLBCL 的最佳 CAR T 细胞策略。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双靶点86% vs 单靶点75% (P=0.06)</a:t>
                      </a:r>
                    </a:p>
                  </a:txBody>
                  <a:tcPr>
                    <a:solidFill>
                      <a:srgbClr val="F6F8FB"/>
                    </a:solidFill>
                  </a:tcPr>
                </a:tc>
              </a:tr>
              <a:tr h="249936">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62% vs 53% (P=0.22)</a:t>
                      </a:r>
                    </a:p>
                  </a:txBody>
                  <a:tcPr>
                    <a:solidFill>
                      <a:srgbClr val="FFFFFF"/>
                    </a:solidFill>
                  </a:tcPr>
                </a:tc>
              </a:tr>
              <a:tr h="249936">
                <a:tc>
                  <a:txBody>
                    <a:bodyPr wrap="square" lIns="36576" rIns="36576" tIns="18288" bIns="18288"/>
                    <a:lstStyle/>
                    <a:p>
                      <a:r>
                        <a:rPr sz="540" b="1">
                          <a:solidFill>
                            <a:srgbClr val="21242A"/>
                          </a:solidFill>
                          <a:latin typeface="Microsoft YaHei"/>
                        </a:rPr>
                        <a:t>1年无进展生存率(PFS)</a:t>
                      </a:r>
                    </a:p>
                  </a:txBody>
                  <a:tcPr>
                    <a:solidFill>
                      <a:srgbClr val="F6F8FB"/>
                    </a:solidFill>
                  </a:tcPr>
                </a:tc>
                <a:tc>
                  <a:txBody>
                    <a:bodyPr wrap="square" lIns="36576" rIns="36576" tIns="18288" bIns="18288"/>
                    <a:lstStyle/>
                    <a:p>
                      <a:r>
                        <a:rPr sz="540" b="0">
                          <a:solidFill>
                            <a:srgbClr val="21242A"/>
                          </a:solidFill>
                          <a:latin typeface="Microsoft YaHei"/>
                        </a:rPr>
                        <a:t>67% vs 48% (P=0.23)</a:t>
                      </a:r>
                    </a:p>
                  </a:txBody>
                  <a:tcPr>
                    <a:solidFill>
                      <a:srgbClr val="F6F8FB"/>
                    </a:solidFill>
                  </a:tcPr>
                </a:tc>
              </a:tr>
              <a:tr h="249936">
                <a:tc>
                  <a:txBody>
                    <a:bodyPr wrap="square" lIns="36576" rIns="36576" tIns="18288" bIns="18288"/>
                    <a:lstStyle/>
                    <a:p>
                      <a:r>
                        <a:rPr sz="540" b="1">
                          <a:solidFill>
                            <a:srgbClr val="21242A"/>
                          </a:solidFill>
                          <a:latin typeface="Microsoft YaHei"/>
                        </a:rPr>
                        <a:t>≥3级血液学毒性</a:t>
                      </a:r>
                    </a:p>
                  </a:txBody>
                  <a:tcPr>
                    <a:solidFill>
                      <a:srgbClr val="FFFFFF"/>
                    </a:solidFill>
                  </a:tcPr>
                </a:tc>
                <a:tc>
                  <a:txBody>
                    <a:bodyPr wrap="square" lIns="36576" rIns="36576" tIns="18288" bIns="18288"/>
                    <a:lstStyle/>
                    <a:p>
                      <a:r>
                        <a:rPr sz="540" b="0">
                          <a:solidFill>
                            <a:srgbClr val="21242A"/>
                          </a:solidFill>
                          <a:latin typeface="Microsoft YaHei"/>
                        </a:rPr>
                        <a:t>81% vs 55% (P=0.02)</a:t>
                      </a:r>
                    </a:p>
                  </a:txBody>
                  <a:tcPr>
                    <a:solidFill>
                      <a:srgbClr val="FFFFFF"/>
                    </a:solidFill>
                  </a:tcPr>
                </a:tc>
              </a:tr>
              <a:tr h="249936">
                <a:tc>
                  <a:txBody>
                    <a:bodyPr wrap="square" lIns="36576" rIns="36576" tIns="18288" bIns="18288"/>
                    <a:lstStyle/>
                    <a:p>
                      <a:r>
                        <a:rPr sz="540" b="1">
                          <a:solidFill>
                            <a:srgbClr val="21242A"/>
                          </a:solidFill>
                          <a:latin typeface="Microsoft YaHei"/>
                        </a:rPr>
                        <a:t>≥3级感染</a:t>
                      </a:r>
                    </a:p>
                  </a:txBody>
                  <a:tcPr>
                    <a:solidFill>
                      <a:srgbClr val="F6F8FB"/>
                    </a:solidFill>
                  </a:tcPr>
                </a:tc>
                <a:tc>
                  <a:txBody>
                    <a:bodyPr wrap="square" lIns="36576" rIns="36576" tIns="18288" bIns="18288"/>
                    <a:lstStyle/>
                    <a:p>
                      <a:r>
                        <a:rPr sz="540" b="0">
                          <a:solidFill>
                            <a:srgbClr val="21242A"/>
                          </a:solidFill>
                          <a:latin typeface="Microsoft YaHei"/>
                        </a:rPr>
                        <a:t>4% vs 13%</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cd3xcd20双特异性抗体（bsab）单药治疗与bsab联合治疗复发/难治性大b细胞淋巴瘤的现实世界比较：美国双特异...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real-world comparison of cd3xcd20 bispecific antibody (bsab) monotherapy vs...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N=352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多组/多方案比较：试验组1：BsAb单药（glofitamab, epcoritamab, mosunetuzumab）</a:t>
            </a:r>
          </a:p>
          <a:p>
            <a:pPr>
              <a:lnSpc>
                <a:spcPct val="103000"/>
              </a:lnSpc>
              <a:spcAft>
                <a:spcPts val="300"/>
              </a:spcAft>
              <a:defRPr sz="800">
                <a:solidFill>
                  <a:srgbClr val="21242A"/>
                </a:solidFill>
                <a:latin typeface="Microsoft YaHei"/>
              </a:defRPr>
            </a:pPr>
            <a:r>
              <a:t>试验组2：BsAb联合治疗（包括BsAb-化疗、BsAb-ADC、BsAb-其他组合）</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总体缓解率（ORR）：BsAb单药组54.0%，BsAb联合组63.9%（p=0.12）</a:t>
            </a:r>
          </a:p>
          <a:p>
            <a:pPr>
              <a:lnSpc>
                <a:spcPct val="103000"/>
              </a:lnSpc>
              <a:spcAft>
                <a:spcPts val="300"/>
              </a:spcAft>
              <a:defRPr sz="800">
                <a:solidFill>
                  <a:srgbClr val="21242A"/>
                </a:solidFill>
                <a:latin typeface="Microsoft YaHei"/>
              </a:defRPr>
            </a:pPr>
            <a:r>
              <a:t>完全缓解率（CR）：BsAb单药组35.0%，BsAb联合组44.6%（p=0.12）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人数：352</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试验药/方案：艾可瑞妥单抗、格菲妥单抗、莫妥珠单抗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cd3xcd20双特异性抗体（bsab）单药治疗与bsab联合治疗复发/难治性大b细胞淋巴瘤的现实世界比较：美国双特异...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real-world comparison of cd3xcd20 bispecific antibody (bsab) monotherapy vs...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背景：CD3xCD20 双特异性抗体 (BsAb) 在复发/难治性 (R/R) 大 B 细胞淋巴瘤 (LBCL) 中表现出显着活性，并且正在与化疗、抗体药物偶联物 (ADC) 和靶向药物联合使用；然而，如果没有前瞻性比较，就需要真实世界的数据来比较疗效、安全性和方案选择。</a:t>
            </a:r>
          </a:p>
          <a:p>
            <a:pPr>
              <a:lnSpc>
                <a:spcPct val="103000"/>
              </a:lnSpc>
              <a:spcAft>
                <a:spcPts val="300"/>
              </a:spcAft>
              <a:defRPr sz="550">
                <a:solidFill>
                  <a:srgbClr val="21242A"/>
                </a:solidFill>
                <a:latin typeface="Microsoft YaHei"/>
              </a:defRPr>
            </a:pPr>
            <a:r>
              <a:t>目的：比较 R/R LBCL 患者 (pts) 中 BsAb 单一疗法与基于 BsAb 的联合疗法的实际疗效和安全性结果。</a:t>
            </a:r>
          </a:p>
          <a:p>
            <a:pPr>
              <a:lnSpc>
                <a:spcPct val="103000"/>
              </a:lnSpc>
              <a:spcAft>
                <a:spcPts val="300"/>
              </a:spcAft>
              <a:defRPr sz="550">
                <a:solidFill>
                  <a:srgbClr val="21242A"/>
                </a:solidFill>
                <a:latin typeface="Microsoft YaHei"/>
              </a:defRPr>
            </a:pPr>
            <a:r>
              <a:t>方法：这项 CUBIC 多中心回顾性联合研究包括 9 个中心单独使用 BsAb 或联合使用 BsAb 治疗的成人 R/R LBCL 患者。终点包括总体缓解率（ORR）、完全缓解（CR）、无进展生存期（PFS）、总体生存期（OS）以及细胞因子释放综合征（CRS）和免疫效应细胞相关神经毒性综合征（ICANS）的安全性结果。</a:t>
            </a:r>
          </a:p>
          <a:p>
            <a:pPr>
              <a:lnSpc>
                <a:spcPct val="103000"/>
              </a:lnSpc>
              <a:spcAft>
                <a:spcPts val="300"/>
              </a:spcAft>
              <a:defRPr sz="550">
                <a:solidFill>
                  <a:srgbClr val="21242A"/>
                </a:solidFill>
                <a:latin typeface="Microsoft YaHei"/>
              </a:defRPr>
            </a:pPr>
            <a:r>
              <a:t>根据年龄、性别、ECOG 状态、分期、结外受累、乳酸脱氢酶 (LDH)、治疗方案、既往嵌合抗原受体 T 细胞 (CAR-T) 和治疗方案调整多变量逻辑回归和 Cox 比例风险模型。</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在这项大型的真实世界多中心联合分析中，BsAb 组合方法在数值上显示出更高的缓解率，在调整基线因素后，与单一疗法相比，BsAb-ADC 组合的 CR 显着更高。不同治疗策略的安全性和早期生存率具有可比性。局限性包括 BsAb 组合亚组的随访时间短和样本量小。</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总体缓解率（ORR）</a:t>
                      </a:r>
                    </a:p>
                  </a:txBody>
                  <a:tcPr>
                    <a:solidFill>
                      <a:srgbClr val="F6F8FB"/>
                    </a:solidFill>
                  </a:tcPr>
                </a:tc>
                <a:tc>
                  <a:txBody>
                    <a:bodyPr wrap="square" lIns="36576" rIns="36576" tIns="18288" bIns="18288"/>
                    <a:lstStyle/>
                    <a:p>
                      <a:r>
                        <a:rPr sz="540" b="0">
                          <a:solidFill>
                            <a:srgbClr val="21242A"/>
                          </a:solidFill>
                          <a:latin typeface="Microsoft YaHei"/>
                        </a:rPr>
                        <a:t>BsAb单药组54.0%，BsAb联合组63.9%（p=0.12）</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BsAb单药组35.0%，BsAb联合组44.6%（p=0.12）；多因素分析中BsAb-ADC组较单药组CR优势显著（OR 3.21, p=0.026）</a:t>
                      </a:r>
                    </a:p>
                  </a:txBody>
                  <a:tcPr>
                    <a:solidFill>
                      <a:srgbClr val="FFFFFF"/>
                    </a:solidFill>
                  </a:tcPr>
                </a:tc>
              </a:tr>
              <a:tr h="214230">
                <a:tc>
                  <a:txBody>
                    <a:bodyPr wrap="square" lIns="36576" rIns="36576" tIns="18288" bIns="18288"/>
                    <a:lstStyle/>
                    <a:p>
                      <a:r>
                        <a:rPr sz="540" b="1">
                          <a:solidFill>
                            <a:srgbClr val="21242A"/>
                          </a:solidFill>
                          <a:latin typeface="Microsoft YaHei"/>
                        </a:rPr>
                        <a:t>无进展生存期（PFS）</a:t>
                      </a:r>
                    </a:p>
                  </a:txBody>
                  <a:tcPr>
                    <a:solidFill>
                      <a:srgbClr val="F6F8FB"/>
                    </a:solidFill>
                  </a:tcPr>
                </a:tc>
                <a:tc>
                  <a:txBody>
                    <a:bodyPr wrap="square" lIns="36576" rIns="36576" tIns="18288" bIns="18288"/>
                    <a:lstStyle/>
                    <a:p>
                      <a:r>
                        <a:rPr sz="540" b="0">
                          <a:solidFill>
                            <a:srgbClr val="21242A"/>
                          </a:solidFill>
                          <a:latin typeface="Microsoft YaHei"/>
                        </a:rPr>
                        <a:t>未报告具体数值，多因素分析显示治疗策略与PFS无独立关联</a:t>
                      </a:r>
                    </a:p>
                  </a:txBody>
                  <a:tcPr>
                    <a:solidFill>
                      <a:srgbClr val="F6F8FB"/>
                    </a:solidFill>
                  </a:tcPr>
                </a:tc>
              </a:tr>
              <a:tr h="214230">
                <a:tc>
                  <a:txBody>
                    <a:bodyPr wrap="square" lIns="36576" rIns="36576" tIns="18288" bIns="18288"/>
                    <a:lstStyle/>
                    <a:p>
                      <a:r>
                        <a:rPr sz="540" b="1">
                          <a:solidFill>
                            <a:srgbClr val="21242A"/>
                          </a:solidFill>
                          <a:latin typeface="Microsoft YaHei"/>
                        </a:rPr>
                        <a:t>总生存期（OS）</a:t>
                      </a:r>
                    </a:p>
                  </a:txBody>
                  <a:tcPr>
                    <a:solidFill>
                      <a:srgbClr val="FFFFFF"/>
                    </a:solidFill>
                  </a:tcPr>
                </a:tc>
                <a:tc>
                  <a:txBody>
                    <a:bodyPr wrap="square" lIns="36576" rIns="36576" tIns="18288" bIns="18288"/>
                    <a:lstStyle/>
                    <a:p>
                      <a:r>
                        <a:rPr sz="540" b="0">
                          <a:solidFill>
                            <a:srgbClr val="21242A"/>
                          </a:solidFill>
                          <a:latin typeface="Microsoft YaHei"/>
                        </a:rPr>
                        <a:t>未报告具体数值，多因素分析显示治疗策略与OS无独立关联</a:t>
                      </a:r>
                    </a:p>
                  </a:txBody>
                  <a:tcPr>
                    <a:solidFill>
                      <a:srgbClr val="FFFFFF"/>
                    </a:solidFill>
                  </a:tcPr>
                </a:tc>
              </a:tr>
              <a:tr h="214230">
                <a:tc>
                  <a:txBody>
                    <a:bodyPr wrap="square" lIns="36576" rIns="36576" tIns="18288" bIns="18288"/>
                    <a:lstStyle/>
                    <a:p>
                      <a:r>
                        <a:rPr sz="540" b="1">
                          <a:solidFill>
                            <a:srgbClr val="21242A"/>
                          </a:solidFill>
                          <a:latin typeface="Microsoft YaHei"/>
                        </a:rPr>
                        <a:t>细胞因子释放综合征（CRS）</a:t>
                      </a:r>
                    </a:p>
                  </a:txBody>
                  <a:tcPr>
                    <a:solidFill>
                      <a:srgbClr val="F6F8FB"/>
                    </a:solidFill>
                  </a:tcPr>
                </a:tc>
                <a:tc>
                  <a:txBody>
                    <a:bodyPr wrap="square" lIns="36576" rIns="36576" tIns="18288" bIns="18288"/>
                    <a:lstStyle/>
                    <a:p>
                      <a:r>
                        <a:rPr sz="540" b="0">
                          <a:solidFill>
                            <a:srgbClr val="21242A"/>
                          </a:solidFill>
                          <a:latin typeface="Microsoft YaHei"/>
                        </a:rPr>
                        <a:t>BsAb单药组38.8%，BsAb联合组31.5%（p&gt;0.05）</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tafasitamab（tafa）治疗复发/难治性弥漫性大b细胞淋巴瘤（r/r dlbcl）后嵌合抗原受体t细胞（ca...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effectiveness and safety of chimeric antigen receptor t-cell (car-t) therapy...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N=338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多组/多方案比较：试验组1：总体，药物：tafasitamab、axicabtagene ciloleucel、lisocab...</a:t>
            </a:r>
          </a:p>
          <a:p>
            <a:pPr>
              <a:lnSpc>
                <a:spcPct val="103000"/>
              </a:lnSpc>
              <a:spcAft>
                <a:spcPts val="300"/>
              </a:spcAft>
              <a:defRPr sz="800">
                <a:solidFill>
                  <a:srgbClr val="21242A"/>
                </a:solidFill>
                <a:latin typeface="Microsoft YaHei"/>
              </a:defRPr>
            </a:pPr>
            <a:r>
              <a:t>试验组2：二线CAR-T（tafa作为桥接），药物：tafasitamab、CAR-T</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客观缓解率（ORR）：81.1%（338例中274例）</a:t>
            </a:r>
          </a:p>
          <a:p>
            <a:pPr>
              <a:lnSpc>
                <a:spcPct val="103000"/>
              </a:lnSpc>
              <a:spcAft>
                <a:spcPts val="300"/>
              </a:spcAft>
              <a:defRPr sz="800">
                <a:solidFill>
                  <a:srgbClr val="21242A"/>
                </a:solidFill>
                <a:latin typeface="Microsoft YaHei"/>
              </a:defRPr>
            </a:pPr>
            <a:r>
              <a:t>完全缓解率（CR）：58.6%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人数：338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maraleucel、Tisagenlecleucel、坦昔妥单抗</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tafasitamab（tafa）治疗复发/难治性弥漫性大b细胞淋巴瘤（r/r dlbcl）后嵌合抗原受体t细胞（ca...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effectiveness and safety of chimeric antigen receptor t-cell (car-t) therapy...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背景：针对 DLBCL 的 CD19 导向疗法（包括 tafa 和 CAR-T）不断扩大，为患者 (pts) 带来了希望。然而，理论上存在担忧，即先前接受抗 CD19 治疗可能会损害后续 CAR-T 治疗的疗效。多项研究表明，使用 tafa 后 CD19 表达保留，但关于 tafa 后序贯使用 CAR-T 的有效性和安</a:t>
            </a:r>
          </a:p>
          <a:p>
            <a:pPr>
              <a:lnSpc>
                <a:spcPct val="103000"/>
              </a:lnSpc>
              <a:spcAft>
                <a:spcPts val="300"/>
              </a:spcAft>
              <a:defRPr sz="550">
                <a:solidFill>
                  <a:srgbClr val="21242A"/>
                </a:solidFill>
                <a:latin typeface="Microsoft YaHei"/>
              </a:defRPr>
            </a:pPr>
            <a:r>
              <a:t>全性的证据有限。</a:t>
            </a:r>
          </a:p>
          <a:p>
            <a:pPr>
              <a:lnSpc>
                <a:spcPct val="103000"/>
              </a:lnSpc>
              <a:spcAft>
                <a:spcPts val="300"/>
              </a:spcAft>
              <a:defRPr sz="550">
                <a:solidFill>
                  <a:srgbClr val="21242A"/>
                </a:solidFill>
                <a:latin typeface="Microsoft YaHei"/>
              </a:defRPr>
            </a:pPr>
            <a:r>
              <a:t>目的：评估 CAR-T 后 tafa 对成人 R/R DLBCL 患者的有效性和安全性。</a:t>
            </a:r>
          </a:p>
          <a:p>
            <a:pPr>
              <a:lnSpc>
                <a:spcPct val="103000"/>
              </a:lnSpc>
              <a:spcAft>
                <a:spcPts val="300"/>
              </a:spcAft>
              <a:defRPr sz="550">
                <a:solidFill>
                  <a:srgbClr val="21242A"/>
                </a:solidFill>
                <a:latin typeface="Microsoft YaHei"/>
              </a:defRPr>
            </a:pPr>
            <a:r>
              <a:t>方法：一项基于美国和欧盟小组的回顾性图表审查收集了接受 tafa（± 来那度胺）以及后续二线 (2L)/3L/4L CAR-T（索引日期）治疗的 R/R DLBCL 成人患者的数据。除死亡外，患者在 CAR-T 后必须进行至少 6 个月的随访；对患者进行随访，直至 CAR-T 后开始新的抗癌治疗、数据可用性结束或死亡，</a:t>
            </a:r>
          </a:p>
          <a:p>
            <a:pPr>
              <a:lnSpc>
                <a:spcPct val="103000"/>
              </a:lnSpc>
              <a:spcAft>
                <a:spcPts val="300"/>
              </a:spcAft>
              <a:defRPr sz="550">
                <a:solidFill>
                  <a:srgbClr val="21242A"/>
                </a:solidFill>
                <a:latin typeface="Microsoft YaHei"/>
              </a:defRPr>
            </a:pPr>
            <a:r>
              <a:t>以较早者为准。结果是CAR-T的总体缓解率（ORR，医生评估的完全/部分缓解[CR/PR]的患者比例）、CAR-T后6周内出现细胞因子释放综合征（CRS）的患者比例以及CAR-T后3个月内免疫效应细胞相关神经毒性综合征（ICANS）的患者比例。按 CAR-T 系和 tafa/CAR-T 治疗顺序报告总体结果。</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这项大型、全球性、真实世界的研究表明，先前接触 tafa 似乎不会对 R/R DLBCL 患者后续 CAR-T 治疗的有效性和安全性产生不利影响。这些结果与 tafa 在 DLBCL 一线治疗中的最新 3 期数据特别相关。虽然这些现实世界的研究结果应该在观察队列的背景下进行解释，但它们支持 tafa 和 CAR-T 疗</a:t>
            </a:r>
          </a:p>
          <a:p>
            <a:pPr>
              <a:lnSpc>
                <a:spcPct val="103000"/>
              </a:lnSpc>
              <a:spcAft>
                <a:spcPts val="300"/>
              </a:spcAft>
              <a:defRPr sz="570">
                <a:solidFill>
                  <a:srgbClr val="21242A"/>
                </a:solidFill>
                <a:latin typeface="Microsoft YaHei"/>
              </a:defRPr>
            </a:pPr>
            <a:r>
              <a:t>法作为一种可行且可能有利的测序策略。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结果：145 名医生（美国：73 [50.3%]；欧盟：72 [49.7%]）总共提取了 338 份图表（美国：168 [49.7%]；欧盟：170 [50.3%]）。患者中 66.0% 为男性，CAR-T 输注时中位 (IQR) 年龄为 61.5 (55.1, 67.4) 岁，51.2% 患有双重/三重打击</a:t>
            </a:r>
          </a:p>
          <a:p>
            <a:pPr>
              <a:lnSpc>
                <a:spcPct val="103000"/>
              </a:lnSpc>
              <a:spcAft>
                <a:spcPts val="300"/>
              </a:spcAft>
              <a:defRPr sz="560">
                <a:solidFill>
                  <a:srgbClr val="21242A"/>
                </a:solidFill>
                <a:latin typeface="Microsoft YaHei"/>
              </a:defRPr>
            </a:pPr>
            <a:r>
              <a:t>疾病，72.8% 为原发难治性，53.0% 修订后的国际预后指数评分≥3。</a:t>
            </a:r>
          </a:p>
          <a:p>
            <a:pPr>
              <a:lnSpc>
                <a:spcPct val="103000"/>
              </a:lnSpc>
              <a:spcAft>
                <a:spcPts val="300"/>
              </a:spcAft>
              <a:defRPr sz="560">
                <a:solidFill>
                  <a:srgbClr val="21242A"/>
                </a:solidFill>
                <a:latin typeface="Microsoft YaHei"/>
              </a:defRPr>
            </a:pPr>
            <a:r>
              <a:t>\n 大多数患者接受了 axicabtagene ciloleucel (65.1%)，其次是 lisocabtagene maraleucel (21.9%) 和 tisagenlecleucel (13.0%) CAR-T。从最后一次 tafa 剂量到 CAR-T 的中位时间 (IQR) 为 1.2 (0</a:t>
            </a:r>
          </a:p>
          <a:p>
            <a:pPr>
              <a:lnSpc>
                <a:spcPct val="103000"/>
              </a:lnSpc>
              <a:spcAft>
                <a:spcPts val="300"/>
              </a:spcAft>
              <a:defRPr sz="560">
                <a:solidFill>
                  <a:srgbClr val="21242A"/>
                </a:solidFill>
                <a:latin typeface="Microsoft YaHei"/>
              </a:defRPr>
            </a:pPr>
            <a:r>
              <a:t>.6-2.3) 个月； CAR-T后随访时间为7.4（3.3-10.6）个月；最后一次接触时，73.1% 的人还活着。总体而言，CAR-T 的 ORR 为 81.1%，≥3 级（严重）CRS 和 ICANS 的发生率分别为 7.4% 和 3.8%。表中报告了 CAR-T 系的 ORR 和观察到的 tafa/C</a:t>
            </a:r>
          </a:p>
          <a:p>
            <a:pPr>
              <a:lnSpc>
                <a:spcPct val="103000"/>
              </a:lnSpc>
              <a:spcAft>
                <a:spcPts val="300"/>
              </a:spcAft>
              <a:defRPr sz="560">
                <a:solidFill>
                  <a:srgbClr val="21242A"/>
                </a:solidFill>
                <a:latin typeface="Microsoft YaHei"/>
              </a:defRPr>
            </a:pPr>
            <a:r>
              <a:t>AR-T 治疗序列。图中报告了 CAR-T 线的 CRS 和 ICANS。</a:t>
            </a:r>
          </a:p>
          <a:p>
            <a:pPr>
              <a:lnSpc>
                <a:spcPct val="103000"/>
              </a:lnSpc>
              <a:spcAft>
                <a:spcPts val="300"/>
              </a:spcAft>
              <a:defRPr sz="560">
                <a:solidFill>
                  <a:srgbClr val="21242A"/>
                </a:solidFill>
                <a:latin typeface="Microsoft YaHei"/>
              </a:defRPr>
            </a:pPr>
            <a:r>
              <a:t>\n 表。</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kite-753治疗复发/难治性b细胞淋巴瘤患者的1期研究：最新的安全性和疗效结果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phase 1 study of kite-753 in patients (pts) with relapsed/refractory (r/r)...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大B细胞淋巴瘤，非霍奇金淋巴瘤</a:t>
            </a:r>
          </a:p>
          <a:p>
            <a:pPr>
              <a:lnSpc>
                <a:spcPct val="103000"/>
              </a:lnSpc>
              <a:spcAft>
                <a:spcPts val="300"/>
              </a:spcAft>
              <a:defRPr sz="800">
                <a:solidFill>
                  <a:srgbClr val="21242A"/>
                </a:solidFill>
                <a:latin typeface="Microsoft YaHei"/>
              </a:defRPr>
            </a:pPr>
            <a:r>
              <a:t>N=33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试验药/方案：KITE-753</a:t>
            </a:r>
          </a:p>
          <a:p>
            <a:pPr>
              <a:lnSpc>
                <a:spcPct val="103000"/>
              </a:lnSpc>
              <a:spcAft>
                <a:spcPts val="300"/>
              </a:spcAft>
              <a:defRPr sz="800">
                <a:solidFill>
                  <a:srgbClr val="21242A"/>
                </a:solidFill>
                <a:latin typeface="Microsoft YaHei"/>
              </a:defRPr>
            </a:pPr>
            <a:r>
              <a:t>靶点：CD19，CD20</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多组/多方案比较：试验组1：KITE-753 (0.3×10^5 CAR T cells/kg)</a:t>
            </a:r>
          </a:p>
          <a:p>
            <a:pPr>
              <a:lnSpc>
                <a:spcPct val="103000"/>
              </a:lnSpc>
              <a:spcAft>
                <a:spcPts val="300"/>
              </a:spcAft>
              <a:defRPr sz="800">
                <a:solidFill>
                  <a:srgbClr val="21242A"/>
                </a:solidFill>
                <a:latin typeface="Microsoft YaHei"/>
              </a:defRPr>
            </a:pPr>
            <a:r>
              <a:t>试验组2：KITE-753 (1×10^5 CAR T cells/kg)</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总体反应率（ORR）在CAR-naive患者最高剂量组（DL3，n=17）为88%</a:t>
            </a:r>
          </a:p>
          <a:p>
            <a:pPr>
              <a:lnSpc>
                <a:spcPct val="103000"/>
              </a:lnSpc>
              <a:spcAft>
                <a:spcPts val="300"/>
              </a:spcAft>
              <a:defRPr sz="800">
                <a:solidFill>
                  <a:srgbClr val="21242A"/>
                </a:solidFill>
                <a:latin typeface="Microsoft YaHei"/>
              </a:defRPr>
            </a:pPr>
            <a:r>
              <a:t>完全缓解率（CR）在数据截止时71%，数据截止后76%（1例从PR转为CR）</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人数：33</a:t>
            </a:r>
          </a:p>
          <a:p>
            <a:pPr>
              <a:lnSpc>
                <a:spcPct val="103000"/>
              </a:lnSpc>
              <a:spcAft>
                <a:spcPts val="300"/>
              </a:spcAft>
              <a:defRPr sz="810">
                <a:solidFill>
                  <a:srgbClr val="21242A"/>
                </a:solidFill>
                <a:latin typeface="Microsoft YaHei"/>
              </a:defRPr>
            </a:pPr>
            <a:r>
              <a:t>适应症：大B细胞淋巴瘤、非霍奇金淋巴瘤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登记号：NCT04989803</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试验药/方案：KITE-753</a:t>
            </a:r>
          </a:p>
          <a:p>
            <a:pPr>
              <a:lnSpc>
                <a:spcPct val="103000"/>
              </a:lnSpc>
              <a:spcAft>
                <a:spcPts val="300"/>
              </a:spcAft>
              <a:defRPr sz="810">
                <a:solidFill>
                  <a:srgbClr val="21242A"/>
                </a:solidFill>
                <a:latin typeface="Microsoft YaHei"/>
              </a:defRPr>
            </a:pPr>
            <a:r>
              <a:t>靶点：CD19、CD20</a:t>
            </a:r>
          </a:p>
          <a:p>
            <a:pPr>
              <a:lnSpc>
                <a:spcPct val="103000"/>
              </a:lnSpc>
              <a:spcAft>
                <a:spcPts val="300"/>
              </a:spcAft>
              <a:defRPr sz="810">
                <a:solidFill>
                  <a:srgbClr val="21242A"/>
                </a:solidFill>
                <a:latin typeface="Microsoft YaHei"/>
              </a:defRPr>
            </a:pPr>
            <a:r>
              <a:t>药物/技术类别：CAR-T、自体细胞、经基因修饰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kite-753治疗复发/难治性b细胞淋巴瘤患者的1期研究：最新的安全性和疗效结果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phase 1 study of kite-753 in patients (pts) with relapsed/refractory (r/r)...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背景：KITE-753 是一种自体 CD19/CD20 嵌合抗原受体 (CAR) T 细胞疗法，正在研究用于 R/R B 细胞淋巴瘤 (BCL) 患者。</a:t>
            </a:r>
          </a:p>
          <a:p>
            <a:pPr>
              <a:lnSpc>
                <a:spcPct val="103000"/>
              </a:lnSpc>
              <a:spcAft>
                <a:spcPts val="300"/>
              </a:spcAft>
              <a:defRPr sz="550">
                <a:solidFill>
                  <a:srgbClr val="21242A"/>
                </a:solidFill>
                <a:latin typeface="Microsoft YaHei"/>
              </a:defRPr>
            </a:pPr>
            <a:r>
              <a:t>KITE-753采用独特的双顺反子设计来最佳地结合CD19和CD20，协同CD28/4-1BB共刺激来增强T细胞功能，以及保留初始和干细胞记忆T细胞的快速制造过程。在一项针对 R/R BCL 患者的多中心 1 期研究中（中位随访 4.0 个月），KITE-753 在最高剂量水平（DL；n=14）的 CAR 初治患者中显</a:t>
            </a:r>
          </a:p>
          <a:p>
            <a:pPr>
              <a:lnSpc>
                <a:spcPct val="103000"/>
              </a:lnSpc>
              <a:spcAft>
                <a:spcPts val="300"/>
              </a:spcAft>
              <a:defRPr sz="550">
                <a:solidFill>
                  <a:srgbClr val="21242A"/>
                </a:solidFill>
                <a:latin typeface="Microsoft YaHei"/>
              </a:defRPr>
            </a:pPr>
            <a:r>
              <a:t>示总体缓解率（ORR）为 86%，完全缓解（CR）率为 79%，安全性为低度细胞因子释放综合征（CRS）和 2 例低度免疫效应细胞相关综合征最高 DL 的神经毒性综合征 (ICANS)（n=19；Dahiya 等人，ASH 2025）。</a:t>
            </a:r>
          </a:p>
          <a:p>
            <a:pPr>
              <a:lnSpc>
                <a:spcPct val="103000"/>
              </a:lnSpc>
              <a:spcAft>
                <a:spcPts val="300"/>
              </a:spcAft>
              <a:defRPr sz="550">
                <a:solidFill>
                  <a:srgbClr val="21242A"/>
                </a:solidFill>
                <a:latin typeface="Microsoft YaHei"/>
              </a:defRPr>
            </a:pPr>
            <a:r>
              <a:t>目的：报告 KITE-753 1 期研究的最新安全性和有效性结果。</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KITE-753 具有独特的 CAR 设计和快速制造工艺，保留了原始 T 细胞表型，在最高 DL 下，在 CAR 原始患者中显示出高 CR 率，并且仅具有低等级 CRS 和 ICANS 的良好安全性。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结果：截至 25 年 3 月 12 日，33 名患者接受了 KITE-753（DL 1 中 3 例，DL 2 中 8 例，DL 3 中 22 例）。中位随访时间为 7.4 个月（范围：5.8-12.7）。分析时的中位年龄为 59.0 岁（范围：25-84 岁）； 88% 的患者患有 LBCL，12% 患有惰性</a:t>
            </a:r>
          </a:p>
          <a:p>
            <a:pPr>
              <a:lnSpc>
                <a:spcPct val="103000"/>
              </a:lnSpc>
              <a:spcAft>
                <a:spcPts val="300"/>
              </a:spcAft>
              <a:defRPr sz="560">
                <a:solidFill>
                  <a:srgbClr val="21242A"/>
                </a:solidFill>
                <a:latin typeface="Microsoft YaHei"/>
              </a:defRPr>
            </a:pPr>
            <a:r>
              <a:t>非霍奇金淋巴瘤，76% 患有 III/IV 期疾病。</a:t>
            </a:r>
          </a:p>
          <a:p>
            <a:pPr>
              <a:lnSpc>
                <a:spcPct val="103000"/>
              </a:lnSpc>
              <a:spcAft>
                <a:spcPts val="300"/>
              </a:spcAft>
              <a:defRPr sz="560">
                <a:solidFill>
                  <a:srgbClr val="21242A"/>
                </a:solidFill>
                <a:latin typeface="Microsoft YaHei"/>
              </a:defRPr>
            </a:pPr>
            <a:r>
              <a:t>9 名患者（占全部患者的 27%；LBCL 的 31%）为原发性难治性患者，10 名患者（30%）之前接受过 CAR T 细胞治疗。剂量递增过程中没有发生 DLT。 85% 的患者（DL 3 中 91%）发生≥3 级不良事件，主要是血细胞减少。</a:t>
            </a:r>
          </a:p>
          <a:p>
            <a:pPr>
              <a:lnSpc>
                <a:spcPct val="103000"/>
              </a:lnSpc>
              <a:spcAft>
                <a:spcPts val="300"/>
              </a:spcAft>
              <a:defRPr sz="560">
                <a:solidFill>
                  <a:srgbClr val="21242A"/>
                </a:solidFill>
                <a:latin typeface="Microsoft YaHei"/>
              </a:defRPr>
            </a:pPr>
            <a:r>
              <a:t>8 名患者 (24%) 具有最高 1 级 CRS，8 名患者 (24%) 具有最高 2 级 CRS，1 名患者具有最高 3 级 CRS（LBCL，DL 2），没有人具有 4/5 级 CRS。</a:t>
            </a:r>
          </a:p>
          <a:p>
            <a:pPr>
              <a:lnSpc>
                <a:spcPct val="103000"/>
              </a:lnSpc>
              <a:spcAft>
                <a:spcPts val="300"/>
              </a:spcAft>
              <a:defRPr sz="560">
                <a:solidFill>
                  <a:srgbClr val="21242A"/>
                </a:solidFill>
                <a:latin typeface="Microsoft YaHei"/>
              </a:defRPr>
            </a:pPr>
            <a:r>
              <a:t>CRS 发病的中位时间为 6.0 天；中位持续时间为 6.0 天。两名患者具有 1 级 ICANS（DL 2 和 DL 3 各 1 名），4 名患者具有 2 级 ICANS（DL 2 1 名，DL 3 3 名），没有人具有 ≥ 3 级 ICANS。</a:t>
            </a:r>
          </a:p>
          <a:p>
            <a:pPr>
              <a:lnSpc>
                <a:spcPct val="103000"/>
              </a:lnSpc>
              <a:spcAft>
                <a:spcPts val="300"/>
              </a:spcAft>
              <a:defRPr sz="560">
                <a:solidFill>
                  <a:srgbClr val="21242A"/>
                </a:solidFill>
                <a:latin typeface="Microsoft YaHei"/>
              </a:defRPr>
            </a:pPr>
            <a:r>
              <a:t>ICANS 发病的中位时间为 10.5 天；中位持续时间为 3.5 天。 5 名患者死亡：根据研究者评估，2 名患者因与 KITE-753 无关的感染而死亡，3 名患者因疾病进展而死亡。</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摘要号：PS2068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快速增加glofitamab治疗复发难治性大b细胞淋巴瘤的可行性和安全性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feasibility and safety of rapid glofitamab ramp-up for the treatment of relap...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N=83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多组/多方案比较：试验组1：BiCAR样组（obinutuzumab预处理，glofitamab在8-14天内加速给药）</a:t>
            </a:r>
          </a:p>
          <a:p>
            <a:pPr>
              <a:lnSpc>
                <a:spcPct val="103000"/>
              </a:lnSpc>
              <a:spcAft>
                <a:spcPts val="300"/>
              </a:spcAft>
              <a:defRPr sz="800">
                <a:solidFill>
                  <a:srgbClr val="21242A"/>
                </a:solidFill>
                <a:latin typeface="Microsoft YaHei"/>
              </a:defRPr>
            </a:pPr>
            <a:r>
              <a:t>试验组2：快速glofitamab组（obinutuzumab预处理，glofitamab在4-7天内加速给药）</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细胞因子释放综合征（CRS）发生率：47%（39/83），其中多数为1级（36%[30/39]），3级以上CRS未发生</a:t>
            </a:r>
          </a:p>
          <a:p>
            <a:pPr>
              <a:lnSpc>
                <a:spcPct val="103000"/>
              </a:lnSpc>
              <a:spcAft>
                <a:spcPts val="300"/>
              </a:spcAft>
              <a:defRPr sz="800">
                <a:solidFill>
                  <a:srgbClr val="21242A"/>
                </a:solidFill>
                <a:latin typeface="Microsoft YaHei"/>
              </a:defRPr>
            </a:pPr>
            <a:r>
              <a:t>免疫效应细胞相关神经毒性综合征（ICANS）发生率：持续较低，3级以上未发生</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人数：83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快速增加glofitamab治疗复发难治性大b细胞淋巴瘤的可行性和安全性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feasibility and safety of rapid glofitamab ramp-up for the treatment of relap...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背景：大 B 细胞淋巴瘤 (LBCL) 在生物学和临床上具有异质性。免疫化疗可以治愈 75% 的患者，但高增殖率和临床对速效治疗的需求往往是化疗难治性或复发性疾病 (r/rLBCL) 的特征。尽管使用了 CD19 定向嵌合抗原受体 T 细胞 (CAR-T)，r/rLBCL 的预后仍显着降低，并且大约 50% 的患者在 </a:t>
            </a:r>
          </a:p>
          <a:p>
            <a:pPr>
              <a:lnSpc>
                <a:spcPct val="103000"/>
              </a:lnSpc>
              <a:spcAft>
                <a:spcPts val="300"/>
              </a:spcAft>
              <a:defRPr sz="550">
                <a:solidFill>
                  <a:srgbClr val="21242A"/>
                </a:solidFill>
                <a:latin typeface="Microsoft YaHei"/>
              </a:defRPr>
            </a:pPr>
            <a:r>
              <a:t>CAR-T 后复发或对 CAR-T 耐药，这凸显了 CAR-T 后进一步优化治疗的医疗需求。</a:t>
            </a:r>
          </a:p>
          <a:p>
            <a:pPr>
              <a:lnSpc>
                <a:spcPct val="103000"/>
              </a:lnSpc>
              <a:spcAft>
                <a:spcPts val="300"/>
              </a:spcAft>
              <a:defRPr sz="550">
                <a:solidFill>
                  <a:srgbClr val="21242A"/>
                </a:solidFill>
                <a:latin typeface="Microsoft YaHei"/>
              </a:defRPr>
            </a:pPr>
            <a:r>
              <a:t>Glofitamab 是一种 CD20xCD3 双特异性、T 细胞接合单克隆抗体，被批准用于治疗 r/rLBCL。格洛菲他玛的标准给药方案需要进行奥比妥珠单抗预处理以减轻 CRS，并在治疗开始后三周达到完全治疗剂量之前逐步增加格洛菲他玛的剂量（2.5 毫克、10 毫克）。格洛菲他玛在加速阶段延迟的疾病控制与诊断 r/r</a:t>
            </a:r>
          </a:p>
          <a:p>
            <a:pPr>
              <a:lnSpc>
                <a:spcPct val="103000"/>
              </a:lnSpc>
              <a:spcAft>
                <a:spcPts val="300"/>
              </a:spcAft>
              <a:defRPr sz="550">
                <a:solidFill>
                  <a:srgbClr val="21242A"/>
                </a:solidFill>
                <a:latin typeface="Microsoft YaHei"/>
              </a:defRPr>
            </a:pPr>
            <a:r>
              <a:t>LBCL 时的高增殖和通常高肿瘤负荷形成鲜明对比，限制了单药格洛菲他玛的使用并导致发展BiCAR 试验和其他临床实践中的标签外加速方案。目的：评估是否可以在不影响患者安全的情况下更快速地给予全剂量的格洛菲他玛，从而加速 r/rLBCL 患者的疾病控制。</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对 r/rLBCL 患者加速给予格洛菲他玛是可行的，不会影响患者的安全性或反应，支持其在 r/rLBCL 患者的临床实践中使用。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细胞因子释放综合征（CRS）发生率</a:t>
                      </a:r>
                    </a:p>
                  </a:txBody>
                  <a:tcPr>
                    <a:solidFill>
                      <a:srgbClr val="F6F8FB"/>
                    </a:solidFill>
                  </a:tcPr>
                </a:tc>
                <a:tc>
                  <a:txBody>
                    <a:bodyPr wrap="square" lIns="36576" rIns="36576" tIns="18288" bIns="18288"/>
                    <a:lstStyle/>
                    <a:p>
                      <a:r>
                        <a:rPr sz="540" b="0">
                          <a:solidFill>
                            <a:srgbClr val="21242A"/>
                          </a:solidFill>
                          <a:latin typeface="Microsoft YaHei"/>
                        </a:rPr>
                        <a:t>47%（39/83），其中多数为1级（36%[30/39]），3级以上CRS未发生</a:t>
                      </a:r>
                    </a:p>
                  </a:txBody>
                  <a:tcPr>
                    <a:solidFill>
                      <a:srgbClr val="F6F8FB"/>
                    </a:solidFill>
                  </a:tcPr>
                </a:tc>
              </a:tr>
              <a:tr h="249936">
                <a:tc>
                  <a:txBody>
                    <a:bodyPr wrap="square" lIns="36576" rIns="36576" tIns="18288" bIns="18288"/>
                    <a:lstStyle/>
                    <a:p>
                      <a:r>
                        <a:rPr sz="540" b="1">
                          <a:solidFill>
                            <a:srgbClr val="21242A"/>
                          </a:solidFill>
                          <a:latin typeface="Microsoft YaHei"/>
                        </a:rPr>
                        <a:t>免疫效应细胞相关神经毒性综合征（ICANS）发生率</a:t>
                      </a:r>
                    </a:p>
                  </a:txBody>
                  <a:tcPr>
                    <a:solidFill>
                      <a:srgbClr val="FFFFFF"/>
                    </a:solidFill>
                  </a:tcPr>
                </a:tc>
                <a:tc>
                  <a:txBody>
                    <a:bodyPr wrap="square" lIns="36576" rIns="36576" tIns="18288" bIns="18288"/>
                    <a:lstStyle/>
                    <a:p>
                      <a:r>
                        <a:rPr sz="540" b="0">
                          <a:solidFill>
                            <a:srgbClr val="21242A"/>
                          </a:solidFill>
                          <a:latin typeface="Microsoft YaHei"/>
                        </a:rPr>
                        <a:t>持续较低，3级以上未发生</a:t>
                      </a:r>
                    </a:p>
                  </a:txBody>
                  <a:tcPr>
                    <a:solidFill>
                      <a:srgbClr val="FFFFFF"/>
                    </a:solidFill>
                  </a:tcPr>
                </a:tc>
              </a:tr>
              <a:tr h="249936">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53%（44/83），其中完全缓解/代谢完全缓解（CR/CMR）12%，部分缓解（PR）41%</a:t>
                      </a:r>
                    </a:p>
                  </a:txBody>
                  <a:tcPr>
                    <a:solidFill>
                      <a:srgbClr val="F6F8FB"/>
                    </a:solidFill>
                  </a:tcPr>
                </a:tc>
              </a:tr>
              <a:tr h="249936">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6.3个月</a:t>
                      </a:r>
                    </a:p>
                  </a:txBody>
                  <a:tcPr>
                    <a:solidFill>
                      <a:srgbClr val="FFFFFF"/>
                    </a:solidFill>
                  </a:tcPr>
                </a:tc>
              </a:tr>
              <a:tr h="249936">
                <a:tc>
                  <a:txBody>
                    <a:bodyPr wrap="square" lIns="36576" rIns="36576" tIns="18288" bIns="18288"/>
                    <a:lstStyle/>
                    <a:p>
                      <a:r>
                        <a:rPr sz="540" b="1">
                          <a:solidFill>
                            <a:srgbClr val="21242A"/>
                          </a:solidFill>
                          <a:latin typeface="Microsoft YaHei"/>
                        </a:rPr>
                        <a:t>中位总生存期（OS）</a:t>
                      </a:r>
                    </a:p>
                  </a:txBody>
                  <a:tcPr>
                    <a:solidFill>
                      <a:srgbClr val="F6F8FB"/>
                    </a:solidFill>
                  </a:tcPr>
                </a:tc>
                <a:tc>
                  <a:txBody>
                    <a:bodyPr wrap="square" lIns="36576" rIns="36576" tIns="18288" bIns="18288"/>
                    <a:lstStyle/>
                    <a:p>
                      <a:r>
                        <a:rPr sz="540" b="0">
                          <a:solidFill>
                            <a:srgbClr val="21242A"/>
                          </a:solidFill>
                          <a:latin typeface="Microsoft YaHei"/>
                        </a:rPr>
                        <a:t>21.5个月</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摘要号：PF996</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car-t细胞疗法的引入显著改善了在人群水平上接受二线治疗的复发/难治性大b细胞淋巴瘤患者的预后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introduction of car-t cell therapy dramatically improved outcomes of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N=524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试验药/方案：CAR-T(达博生物)</a:t>
            </a:r>
          </a:p>
          <a:p>
            <a:pPr>
              <a:lnSpc>
                <a:spcPct val="103000"/>
              </a:lnSpc>
              <a:spcAft>
                <a:spcPts val="300"/>
              </a:spcAft>
              <a:defRPr sz="800">
                <a:solidFill>
                  <a:srgbClr val="21242A"/>
                </a:solidFill>
                <a:latin typeface="Microsoft YaHei"/>
              </a:defRPr>
            </a:pPr>
            <a:r>
              <a:t>类别：CAR-T，经基因修饰</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总生存期（OS）：Era2相比于Era1的HR=0.71（95%CI 0.56-0.91，P=0.01）</a:t>
            </a:r>
          </a:p>
          <a:p>
            <a:pPr>
              <a:lnSpc>
                <a:spcPct val="103000"/>
              </a:lnSpc>
              <a:spcAft>
                <a:spcPts val="300"/>
              </a:spcAft>
              <a:defRPr sz="800">
                <a:solidFill>
                  <a:srgbClr val="21242A"/>
                </a:solidFill>
                <a:latin typeface="Microsoft YaHei"/>
              </a:defRPr>
            </a:pPr>
            <a:r>
              <a:t>2年OS率：Era2为56%，Era1为41%||淋巴瘤相关死亡率累积发生率（CIF of LRM）：2年LRM率Era2为3...</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人数：524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登记号：NCT03199066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试验药/方案：CAR-T(达博生物)</a:t>
            </a:r>
          </a:p>
          <a:p>
            <a:pPr>
              <a:lnSpc>
                <a:spcPct val="103000"/>
              </a:lnSpc>
              <a:spcAft>
                <a:spcPts val="300"/>
              </a:spcAft>
              <a:defRPr sz="810">
                <a:solidFill>
                  <a:srgbClr val="21242A"/>
                </a:solidFill>
                <a:latin typeface="Microsoft YaHei"/>
              </a:defRPr>
            </a:pPr>
            <a:r>
              <a:t>药物/技术类别：CAR-T、经基因修饰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car-t细胞疗法的引入显著改善了在人群水平上接受二线治疗的复发/难治性大b细胞淋巴瘤患者的预后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introduction of car-t cell therapy dramatically improved outcomes of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背景：CAR-T 和其他创新疗法的引入改变了复发/难治性 (r/r) 大 B 细胞淋巴瘤 (LBCL) 患者的治疗格局。我们之前已经证明，这些新疗法近年来在三线环境中改善了复发/难治性 LBCL 患者的预后（EHA 2025，PF939）。随后，CAR-T 于 2022 年在我们地区获得二线 (L2) 批准，为类似的生</a:t>
            </a:r>
          </a:p>
          <a:p>
            <a:pPr>
              <a:lnSpc>
                <a:spcPct val="103000"/>
              </a:lnSpc>
              <a:spcAft>
                <a:spcPts val="300"/>
              </a:spcAft>
              <a:defRPr sz="550">
                <a:solidFill>
                  <a:srgbClr val="21242A"/>
                </a:solidFill>
                <a:latin typeface="Microsoft YaHei"/>
              </a:defRPr>
            </a:pPr>
            <a:r>
              <a:t>存改善创造了潜力。目的：我们的目的是评估 L2 中 r/r LBCL 不断发展的治疗模式，并评估新疗法对全国范围内真实世界患者群体中总生存期 (OS) 的影响。方法：我们分析了来自前瞻性 NiHiL 注册中心 (NCT03199066) 的 524 名连续复发/难治 LBCL 患者的数据，这些患者在 2020 年至 2</a:t>
            </a:r>
          </a:p>
          <a:p>
            <a:pPr>
              <a:lnSpc>
                <a:spcPct val="103000"/>
              </a:lnSpc>
              <a:spcAft>
                <a:spcPts val="300"/>
              </a:spcAft>
              <a:defRPr sz="550">
                <a:solidFill>
                  <a:srgbClr val="21242A"/>
                </a:solidFill>
                <a:latin typeface="Microsoft YaHei"/>
              </a:defRPr>
            </a:pPr>
            <a:r>
              <a:t>024 年期间接受了 L2 治疗。根据 CAR-T 获取情况将患者分为两个时代：时代 1（2020-2021；n=239）和时代 2（2023-2024；n=285），排除 2022 年（过渡年）。无论患者最终是否接受了 CAR-T 治疗，他们都被纳入其中。主要终点是 OS；次要终点包括淋巴瘤相关死亡率（LRM）的累积</a:t>
            </a:r>
          </a:p>
          <a:p>
            <a:pPr>
              <a:lnSpc>
                <a:spcPct val="103000"/>
              </a:lnSpc>
              <a:spcAft>
                <a:spcPts val="300"/>
              </a:spcAft>
              <a:defRPr sz="550">
                <a:solidFill>
                  <a:srgbClr val="21242A"/>
                </a:solidFill>
                <a:latin typeface="Microsoft YaHei"/>
              </a:defRPr>
            </a:pPr>
            <a:r>
              <a:t>发生率（CIF）和治疗模式的转变。对“早期 r/r”患者进行亚组分析，定义为进展性 (PD)、难治性疾病（稳定（完整内容见HTML/EHA原文）</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近年来，CAR-T 和创新治疗策略的采用显着提高了 L2 治疗的复发/难治 LBCL 患者的 OS，将总体人群的死亡风险降低了 29%，将早期复发/难治亚组的死亡风险降低了 24%。这些真实世界的数据证实，将新疗法转向早期治疗可以转化为巨大的临床益处并减少 LRM。</a:t>
            </a:r>
          </a:p>
          <a:p>
            <a:pPr>
              <a:lnSpc>
                <a:spcPct val="103000"/>
              </a:lnSpc>
              <a:spcAft>
                <a:spcPts val="300"/>
              </a:spcAft>
              <a:defRPr sz="570">
                <a:solidFill>
                  <a:srgbClr val="21242A"/>
                </a:solidFill>
                <a:latin typeface="Microsoft YaHei"/>
              </a:defRPr>
            </a:pPr>
            <a:r>
              <a:t>\n 支持：NU23-03-00127、CU Hem-Onc Cooper、BBMRI_CZ LM2023033。 \n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总生存期（OS）：Era2相比于Era1的HR=0.71（95%CI 0.56-0.91，P=0.01）；2年OS率：Era2为56%，Era1为41%||淋巴瘤相关死亡率累积发生率（CIF of LRM）：2年LRM率Era2为33%，Era1为41%（P=0.09）</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zamtocabtagene autoleucel，一种串联cd20-cd19导向的car-t细胞治疗复发/难治性大b...</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zamtocabtagene autoleucel, a tandem cd20-cd19 directed car-t cell therapy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试验药/方案：zamtocabtagene autoleucel</a:t>
            </a:r>
          </a:p>
          <a:p>
            <a:pPr>
              <a:lnSpc>
                <a:spcPct val="103000"/>
              </a:lnSpc>
              <a:spcAft>
                <a:spcPts val="300"/>
              </a:spcAft>
              <a:defRPr sz="800">
                <a:solidFill>
                  <a:srgbClr val="21242A"/>
                </a:solidFill>
                <a:latin typeface="Microsoft YaHei"/>
              </a:defRPr>
            </a:pPr>
            <a:r>
              <a:t>靶点：CD20，CD19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对照/比较：试验组1：zamto-cel组，zamtocabtagene autoleucel</a:t>
            </a:r>
          </a:p>
          <a:p>
            <a:pPr>
              <a:lnSpc>
                <a:spcPct val="103000"/>
              </a:lnSpc>
              <a:spcAft>
                <a:spcPts val="300"/>
              </a:spcAft>
              <a:defRPr sz="800">
                <a:solidFill>
                  <a:srgbClr val="21242A"/>
                </a:solidFill>
                <a:latin typeface="Microsoft YaHei"/>
              </a:defRPr>
            </a:pPr>
            <a:r>
              <a:t>对照组：标准治疗组，R-GemOx, Pola-BR</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最佳总体缓解率（BOR）：79.3%</a:t>
            </a:r>
          </a:p>
          <a:p>
            <a:pPr>
              <a:lnSpc>
                <a:spcPct val="103000"/>
              </a:lnSpc>
              <a:spcAft>
                <a:spcPts val="300"/>
              </a:spcAft>
              <a:defRPr sz="800">
                <a:solidFill>
                  <a:srgbClr val="21242A"/>
                </a:solidFill>
                <a:latin typeface="Microsoft YaHei"/>
              </a:defRPr>
            </a:pPr>
            <a:r>
              <a:t>完全缓解率（CR）：65.5%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人数：29</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登记号：NCT04844866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试验药/方案：zamtocabtagene autoleucel</a:t>
            </a:r>
          </a:p>
          <a:p>
            <a:pPr>
              <a:lnSpc>
                <a:spcPct val="103000"/>
              </a:lnSpc>
              <a:spcAft>
                <a:spcPts val="300"/>
              </a:spcAft>
              <a:defRPr sz="810">
                <a:solidFill>
                  <a:srgbClr val="21242A"/>
                </a:solidFill>
                <a:latin typeface="Microsoft YaHei"/>
              </a:defRPr>
            </a:pPr>
            <a:r>
              <a:t>靶点：CD20、CD19</a:t>
            </a:r>
          </a:p>
          <a:p>
            <a:pPr>
              <a:lnSpc>
                <a:spcPct val="103000"/>
              </a:lnSpc>
              <a:spcAft>
                <a:spcPts val="300"/>
              </a:spcAft>
              <a:defRPr sz="810">
                <a:solidFill>
                  <a:srgbClr val="21242A"/>
                </a:solidFill>
                <a:latin typeface="Microsoft YaHei"/>
              </a:defRPr>
            </a:pPr>
            <a:r>
              <a:t>药物/技术类别：CAR-T、自体细胞、慢病毒载体LV</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zamtocabtagene autoleucel，一种串联cd20-cd19导向的car-t细胞治疗复发/难治性大b...</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zamtocabtagene autoleucel, a tandem cd20-cd19 directed car-t cell therapy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背景：Zamtocabtagene autoleucel (zamto-cel) 是一种自体、非冷冻保存的串联 CD20-CD19 定向 CAR-T 细胞疗法。在对患有复发/难治性 (r/r) 大 B 细胞淋巴瘤 (LBCL) 的不适合移植 (TI) 成人的 DALY 2-EU 试验 (NCT04844866) 进行的</a:t>
            </a:r>
          </a:p>
          <a:p>
            <a:pPr>
              <a:lnSpc>
                <a:spcPct val="103000"/>
              </a:lnSpc>
              <a:spcAft>
                <a:spcPts val="300"/>
              </a:spcAft>
              <a:defRPr sz="550">
                <a:solidFill>
                  <a:srgbClr val="21242A"/>
                </a:solidFill>
                <a:latin typeface="Microsoft YaHei"/>
              </a:defRPr>
            </a:pPr>
            <a:r>
              <a:t>初步分析中，zamto-cel 表现出优异的无事件生存期（EFS；中位 6.2 个月与 2.5 个月）、改善的最佳总体缓解（BOR；72.0% vs 44.9%）和完全缓解（CR； 53.7 vs 14.1%）与 R-GemOx（护理标准 [SoC]）相比，由独立审查委员会评估。</a:t>
            </a:r>
          </a:p>
          <a:p>
            <a:pPr>
              <a:lnSpc>
                <a:spcPct val="103000"/>
              </a:lnSpc>
              <a:spcAft>
                <a:spcPts val="300"/>
              </a:spcAft>
              <a:defRPr sz="550">
                <a:solidFill>
                  <a:srgbClr val="21242A"/>
                </a:solidFill>
                <a:latin typeface="Microsoft YaHei"/>
              </a:defRPr>
            </a:pPr>
            <a:r>
              <a:t>Zamto-cel 的安全性可控，≥3 级免疫细胞相关神经毒性综合征（ICANS；1.3%）和细胞因子释放综合征（CRS；5.3%）的发生率较低。目的：评估 zamto-cel 对于 DALY 2-EU 中 SoC 交叉患者 (pts) 的疗效和安全性。方法：DALY 2-EU 是一项随机、欧洲、开放标签试验。获得 r</a:t>
            </a:r>
          </a:p>
          <a:p>
            <a:pPr>
              <a:lnSpc>
                <a:spcPct val="103000"/>
              </a:lnSpc>
              <a:spcAft>
                <a:spcPts val="300"/>
              </a:spcAft>
              <a:defRPr sz="550">
                <a:solidFill>
                  <a:srgbClr val="21242A"/>
                </a:solidFill>
                <a:latin typeface="Microsoft YaHei"/>
              </a:defRPr>
            </a:pPr>
            <a:r>
              <a:t>/r（一线治疗开始后 ≤ 24 个月）LBCL 且东部肿瘤合作组表现状态≤2、满足一项 TI 标准（年龄≥65 岁且器官功能受损或年龄≥70 岁）的成人（≥18 岁[y]）患者的知情同意书。</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在此 3L 设置中，大多数预期患者都接受了 zamto-cel。对这一主要难治性 3L pt 人群的分析显示，zamto-cel 具有临床意义的疗效，且严重 CRS 和 ICANS 发生率较低，这与 zamto-cel 的二线治疗一致。</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最佳总体缓解率（BOR）</a:t>
                      </a:r>
                    </a:p>
                  </a:txBody>
                  <a:tcPr>
                    <a:solidFill>
                      <a:srgbClr val="F6F8FB"/>
                    </a:solidFill>
                  </a:tcPr>
                </a:tc>
                <a:tc>
                  <a:txBody>
                    <a:bodyPr wrap="square" lIns="36576" rIns="36576" tIns="18288" bIns="18288"/>
                    <a:lstStyle/>
                    <a:p>
                      <a:r>
                        <a:rPr sz="540" b="0">
                          <a:solidFill>
                            <a:srgbClr val="21242A"/>
                          </a:solidFill>
                          <a:latin typeface="Microsoft YaHei"/>
                        </a:rPr>
                        <a:t>79.3%</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65.5%</a:t>
                      </a:r>
                    </a:p>
                  </a:txBody>
                  <a:tcPr>
                    <a:solidFill>
                      <a:srgbClr val="FFFFFF"/>
                    </a:solidFill>
                  </a:tcPr>
                </a:tc>
              </a:tr>
              <a:tr h="214230">
                <a:tc>
                  <a:txBody>
                    <a:bodyPr wrap="square" lIns="36576" rIns="36576" tIns="18288" bIns="18288"/>
                    <a:lstStyle/>
                    <a:p>
                      <a:r>
                        <a:rPr sz="540" b="1">
                          <a:solidFill>
                            <a:srgbClr val="21242A"/>
                          </a:solidFill>
                          <a:latin typeface="Microsoft YaHei"/>
                        </a:rPr>
                        <a:t>6个月无事件生存率</a:t>
                      </a:r>
                    </a:p>
                  </a:txBody>
                  <a:tcPr>
                    <a:solidFill>
                      <a:srgbClr val="F6F8FB"/>
                    </a:solidFill>
                  </a:tcPr>
                </a:tc>
                <a:tc>
                  <a:txBody>
                    <a:bodyPr wrap="square" lIns="36576" rIns="36576" tIns="18288" bIns="18288"/>
                    <a:lstStyle/>
                    <a:p>
                      <a:r>
                        <a:rPr sz="540" b="0">
                          <a:solidFill>
                            <a:srgbClr val="21242A"/>
                          </a:solidFill>
                          <a:latin typeface="Microsoft YaHei"/>
                        </a:rPr>
                        <a:t>79%（95% CI 53%-92%）</a:t>
                      </a:r>
                    </a:p>
                  </a:txBody>
                  <a:tcPr>
                    <a:solidFill>
                      <a:srgbClr val="F6F8FB"/>
                    </a:solidFill>
                  </a:tcPr>
                </a:tc>
              </a:tr>
              <a:tr h="214230">
                <a:tc>
                  <a:txBody>
                    <a:bodyPr wrap="square" lIns="36576" rIns="36576" tIns="18288" bIns="18288"/>
                    <a:lstStyle/>
                    <a:p>
                      <a:r>
                        <a:rPr sz="540" b="1">
                          <a:solidFill>
                            <a:srgbClr val="21242A"/>
                          </a:solidFill>
                          <a:latin typeface="Microsoft YaHei"/>
                        </a:rPr>
                        <a:t>6个月无进展生存率</a:t>
                      </a:r>
                    </a:p>
                  </a:txBody>
                  <a:tcPr>
                    <a:solidFill>
                      <a:srgbClr val="FFFFFF"/>
                    </a:solidFill>
                  </a:tcPr>
                </a:tc>
                <a:tc>
                  <a:txBody>
                    <a:bodyPr wrap="square" lIns="36576" rIns="36576" tIns="18288" bIns="18288"/>
                    <a:lstStyle/>
                    <a:p>
                      <a:r>
                        <a:rPr sz="540" b="0">
                          <a:solidFill>
                            <a:srgbClr val="21242A"/>
                          </a:solidFill>
                          <a:latin typeface="Microsoft YaHei"/>
                        </a:rPr>
                        <a:t>79%（95% CI 53%-92%）</a:t>
                      </a:r>
                    </a:p>
                  </a:txBody>
                  <a:tcPr>
                    <a:solidFill>
                      <a:srgbClr val="FFFFFF"/>
                    </a:solidFill>
                  </a:tcPr>
                </a:tc>
              </a:tr>
              <a:tr h="214230">
                <a:tc>
                  <a:txBody>
                    <a:bodyPr wrap="square" lIns="36576" rIns="36576" tIns="18288" bIns="18288"/>
                    <a:lstStyle/>
                    <a:p>
                      <a:r>
                        <a:rPr sz="540" b="1">
                          <a:solidFill>
                            <a:srgbClr val="21242A"/>
                          </a:solidFill>
                          <a:latin typeface="Microsoft YaHei"/>
                        </a:rPr>
                        <a:t>≥3级细胞因子释放综合征（CRS）</a:t>
                      </a:r>
                    </a:p>
                  </a:txBody>
                  <a:tcPr>
                    <a:solidFill>
                      <a:srgbClr val="F6F8FB"/>
                    </a:solidFill>
                  </a:tcPr>
                </a:tc>
                <a:tc>
                  <a:txBody>
                    <a:bodyPr wrap="square" lIns="36576" rIns="36576" tIns="18288" bIns="18288"/>
                    <a:lstStyle/>
                    <a:p>
                      <a:r>
                        <a:rPr sz="540" b="0">
                          <a:solidFill>
                            <a:srgbClr val="21242A"/>
                          </a:solidFill>
                          <a:latin typeface="Microsoft YaHei"/>
                        </a:rPr>
                        <a:t>6.9%</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il-7/ccl19装甲car-t细胞早期car-t收缩期间时间限定的pd-1阻断与高危复发/难治性lbcl标志的反应...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time-defined pd-1 blockade during early car-t contraction of il-7/ccl19–armor...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试验药/方案：替雷利珠单抗</a:t>
            </a:r>
          </a:p>
          <a:p>
            <a:pPr>
              <a:lnSpc>
                <a:spcPct val="103000"/>
              </a:lnSpc>
              <a:spcAft>
                <a:spcPts val="300"/>
              </a:spcAft>
              <a:defRPr sz="800">
                <a:solidFill>
                  <a:srgbClr val="21242A"/>
                </a:solidFill>
                <a:latin typeface="Microsoft YaHei"/>
              </a:defRPr>
            </a:pPr>
            <a:r>
              <a:t>靶点：PD-1</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3个月客观缓解率(ORR): 85%</a:t>
            </a:r>
          </a:p>
          <a:p>
            <a:pPr>
              <a:lnSpc>
                <a:spcPct val="103000"/>
              </a:lnSpc>
              <a:spcAft>
                <a:spcPts val="300"/>
              </a:spcAft>
              <a:defRPr sz="800">
                <a:solidFill>
                  <a:srgbClr val="21242A"/>
                </a:solidFill>
                <a:latin typeface="Microsoft YaHei"/>
              </a:defRPr>
            </a:pPr>
            <a:r>
              <a:t>累积完全缓解率(CR): 70%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登记号：NCT04381741</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试验药/方案：替雷利珠单抗</a:t>
            </a:r>
          </a:p>
          <a:p>
            <a:pPr>
              <a:lnSpc>
                <a:spcPct val="103000"/>
              </a:lnSpc>
              <a:spcAft>
                <a:spcPts val="300"/>
              </a:spcAft>
              <a:defRPr sz="810">
                <a:solidFill>
                  <a:srgbClr val="21242A"/>
                </a:solidFill>
                <a:latin typeface="Microsoft YaHei"/>
              </a:defRPr>
            </a:pPr>
            <a:r>
              <a:t>靶点：PD-1</a:t>
            </a:r>
          </a:p>
          <a:p>
            <a:pPr>
              <a:lnSpc>
                <a:spcPct val="103000"/>
              </a:lnSpc>
              <a:spcAft>
                <a:spcPts val="300"/>
              </a:spcAft>
              <a:defRPr sz="810">
                <a:solidFill>
                  <a:srgbClr val="21242A"/>
                </a:solidFill>
                <a:latin typeface="Microsoft YaHei"/>
              </a:defRPr>
            </a:pPr>
            <a:r>
              <a:t>药物/技术类别：单特异性抗体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il-7/ccl19装甲car-t细胞早期car-t收缩期间时间限定的pd-1阻断与高危复发/难治性lbcl标志的反应...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time-defined pd-1 blockade during early car-t contraction of il-7/ccl19–armor...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背景：CD19 导向的 CAR-T 疗法对复发/难治性大 B 细胞淋巴瘤 (R/R LBCL) 具有较高的缓解率，但对于患有大块疾病或富含 PD-L1 的肿瘤微环境的患者来说，持久缓解仍然不够理想。 CAR-T 功能状态在峰值扩张后动态演变，但早期收缩阶段是否代表检查点调节的临床可操作窗口仍不确定。</a:t>
            </a:r>
          </a:p>
          <a:p>
            <a:pPr>
              <a:lnSpc>
                <a:spcPct val="103000"/>
              </a:lnSpc>
              <a:spcAft>
                <a:spcPts val="300"/>
              </a:spcAft>
              <a:defRPr sz="550">
                <a:solidFill>
                  <a:srgbClr val="21242A"/>
                </a:solidFill>
                <a:latin typeface="Microsoft YaHei"/>
              </a:defRPr>
            </a:pPr>
            <a:r>
              <a:t>目的：评估早期 CAR-T 收缩期间给予 PD-1 阻断的安全性和初步疗效，并探讨其与生物学高风险 R/R LBCL 反应加深的关系。</a:t>
            </a:r>
          </a:p>
          <a:p>
            <a:pPr>
              <a:lnSpc>
                <a:spcPct val="103000"/>
              </a:lnSpc>
              <a:spcAft>
                <a:spcPts val="300"/>
              </a:spcAft>
              <a:defRPr sz="550">
                <a:solidFill>
                  <a:srgbClr val="21242A"/>
                </a:solidFill>
                <a:latin typeface="Microsoft YaHei"/>
              </a:defRPr>
            </a:pPr>
            <a:r>
              <a:t>方法：在这项由研究者发起的 I 期研究 (NCT04381​​741) 中，20 名 R/R LBCL 患者接受了淋巴细胞清除，随后接受了 IL-7/CCL19 装甲 CD19 CAR-T 细胞 (2×10⁶/kg)。根据纵向 CAR-T 动力学，PD-1 阻断（替雷利珠单抗 200 mg）在第 +30 天 (±2) </a:t>
            </a:r>
          </a:p>
          <a:p>
            <a:pPr>
              <a:lnSpc>
                <a:spcPct val="103000"/>
              </a:lnSpc>
              <a:spcAft>
                <a:spcPts val="300"/>
              </a:spcAft>
              <a:defRPr sz="550">
                <a:solidFill>
                  <a:srgbClr val="21242A"/>
                </a:solidFill>
                <a:latin typeface="Microsoft YaHei"/>
              </a:defRPr>
            </a:pPr>
            <a:r>
              <a:t>开始，对应于早期收缩。主要终点是安全性和 3 个月客观缓解率 (ORR)。次要终点包括完全缓解（CR）、无进展生存期（PFS）、总生存期（OS）和缓解持续时间。免疫分析包括 CAR 转基因监测、多参数流式细胞术、单细胞 RNA 测序和 TCR 克隆型分析。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CAR-T 细胞经历早期收缩阶段，其标志是检查点敏感的功能限制，而不是最终衰竭。在此窗口定时的 PD-1 阻断可重新编程功能失调的 CAR-T 细胞，加深反应，并克服 PD-L1 高表达和大体积疾病的负面预后影响，而不会增加免疫相关毒性。这些结果强调了时机作为 CAR-T 治疗中的关键治疗变量，并支持将内在 IL-7/</a:t>
            </a:r>
          </a:p>
          <a:p>
            <a:pPr>
              <a:lnSpc>
                <a:spcPct val="103000"/>
              </a:lnSpc>
              <a:spcAft>
                <a:spcPts val="300"/>
              </a:spcAft>
              <a:defRPr sz="570">
                <a:solidFill>
                  <a:srgbClr val="21242A"/>
                </a:solidFill>
                <a:latin typeface="Microsoft YaHei"/>
              </a:defRPr>
            </a:pPr>
            <a:r>
              <a:t>CCL19 装甲与阶段特异性检查点抑制相结合的双轴策略，以增强免疫抵抗 LBCL 的耐久性。鉴于单臂设计和小样本量，研究结果是假设生成并需要在前瞻性对照试验中进行验证。</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1. 3个月客观缓解率(ORR)</a:t>
                      </a:r>
                    </a:p>
                  </a:txBody>
                  <a:tcPr>
                    <a:solidFill>
                      <a:srgbClr val="F6F8FB"/>
                    </a:solidFill>
                  </a:tcPr>
                </a:tc>
                <a:tc>
                  <a:txBody>
                    <a:bodyPr wrap="square" lIns="36576" rIns="36576" tIns="18288" bIns="18288"/>
                    <a:lstStyle/>
                    <a:p>
                      <a:r>
                        <a:rPr sz="540" b="0">
                          <a:solidFill>
                            <a:srgbClr val="21242A"/>
                          </a:solidFill>
                          <a:latin typeface="Microsoft YaHei"/>
                        </a:rPr>
                        <a:t>85%</a:t>
                      </a:r>
                    </a:p>
                  </a:txBody>
                  <a:tcPr>
                    <a:solidFill>
                      <a:srgbClr val="F6F8FB"/>
                    </a:solidFill>
                  </a:tcPr>
                </a:tc>
              </a:tr>
              <a:tr h="214230">
                <a:tc>
                  <a:txBody>
                    <a:bodyPr wrap="square" lIns="36576" rIns="36576" tIns="18288" bIns="18288"/>
                    <a:lstStyle/>
                    <a:p>
                      <a:r>
                        <a:rPr sz="540" b="1">
                          <a:solidFill>
                            <a:srgbClr val="21242A"/>
                          </a:solidFill>
                          <a:latin typeface="Microsoft YaHei"/>
                        </a:rPr>
                        <a:t>2. 累积完全缓解率(CR)</a:t>
                      </a:r>
                    </a:p>
                  </a:txBody>
                  <a:tcPr>
                    <a:solidFill>
                      <a:srgbClr val="FFFFFF"/>
                    </a:solidFill>
                  </a:tcPr>
                </a:tc>
                <a:tc>
                  <a:txBody>
                    <a:bodyPr wrap="square" lIns="36576" rIns="36576" tIns="18288" bIns="18288"/>
                    <a:lstStyle/>
                    <a:p>
                      <a:r>
                        <a:rPr sz="540" b="0">
                          <a:solidFill>
                            <a:srgbClr val="21242A"/>
                          </a:solidFill>
                          <a:latin typeface="Microsoft YaHei"/>
                        </a:rPr>
                        <a:t>70%</a:t>
                      </a:r>
                    </a:p>
                  </a:txBody>
                  <a:tcPr>
                    <a:solidFill>
                      <a:srgbClr val="FFFFFF"/>
                    </a:solidFill>
                  </a:tcPr>
                </a:tc>
              </a:tr>
              <a:tr h="214230">
                <a:tc>
                  <a:txBody>
                    <a:bodyPr wrap="square" lIns="36576" rIns="36576" tIns="18288" bIns="18288"/>
                    <a:lstStyle/>
                    <a:p>
                      <a:r>
                        <a:rPr sz="540" b="1">
                          <a:solidFill>
                            <a:srgbClr val="21242A"/>
                          </a:solidFill>
                          <a:latin typeface="Microsoft YaHei"/>
                        </a:rPr>
                        <a:t>3. 2年无进展生存期(PFS)</a:t>
                      </a:r>
                    </a:p>
                  </a:txBody>
                  <a:tcPr>
                    <a:solidFill>
                      <a:srgbClr val="F6F8FB"/>
                    </a:solidFill>
                  </a:tcPr>
                </a:tc>
                <a:tc>
                  <a:txBody>
                    <a:bodyPr wrap="square" lIns="36576" rIns="36576" tIns="18288" bIns="18288"/>
                    <a:lstStyle/>
                    <a:p>
                      <a:r>
                        <a:rPr sz="540" b="0">
                          <a:solidFill>
                            <a:srgbClr val="21242A"/>
                          </a:solidFill>
                          <a:latin typeface="Microsoft YaHei"/>
                        </a:rPr>
                        <a:t>60.0%</a:t>
                      </a:r>
                    </a:p>
                  </a:txBody>
                  <a:tcPr>
                    <a:solidFill>
                      <a:srgbClr val="F6F8FB"/>
                    </a:solidFill>
                  </a:tcPr>
                </a:tc>
              </a:tr>
              <a:tr h="214230">
                <a:tc>
                  <a:txBody>
                    <a:bodyPr wrap="square" lIns="36576" rIns="36576" tIns="18288" bIns="18288"/>
                    <a:lstStyle/>
                    <a:p>
                      <a:r>
                        <a:rPr sz="540" b="1">
                          <a:solidFill>
                            <a:srgbClr val="21242A"/>
                          </a:solidFill>
                          <a:latin typeface="Microsoft YaHei"/>
                        </a:rPr>
                        <a:t>4. 2年总生存期(OS)</a:t>
                      </a:r>
                    </a:p>
                  </a:txBody>
                  <a:tcPr>
                    <a:solidFill>
                      <a:srgbClr val="FFFFFF"/>
                    </a:solidFill>
                  </a:tcPr>
                </a:tc>
                <a:tc>
                  <a:txBody>
                    <a:bodyPr wrap="square" lIns="36576" rIns="36576" tIns="18288" bIns="18288"/>
                    <a:lstStyle/>
                    <a:p>
                      <a:r>
                        <a:rPr sz="540" b="0">
                          <a:solidFill>
                            <a:srgbClr val="21242A"/>
                          </a:solidFill>
                          <a:latin typeface="Microsoft YaHei"/>
                        </a:rPr>
                        <a:t>71.1%</a:t>
                      </a:r>
                    </a:p>
                  </a:txBody>
                  <a:tcPr>
                    <a:solidFill>
                      <a:srgbClr val="FFFFFF"/>
                    </a:solidFill>
                  </a:tcPr>
                </a:tc>
              </a:tr>
              <a:tr h="214230">
                <a:tc>
                  <a:txBody>
                    <a:bodyPr wrap="square" lIns="36576" rIns="36576" tIns="18288" bIns="18288"/>
                    <a:lstStyle/>
                    <a:p>
                      <a:r>
                        <a:rPr sz="540" b="1">
                          <a:solidFill>
                            <a:srgbClr val="21242A"/>
                          </a:solidFill>
                          <a:latin typeface="Microsoft YaHei"/>
                        </a:rPr>
                        <a:t>5. 中位随访时间</a:t>
                      </a:r>
                    </a:p>
                  </a:txBody>
                  <a:tcPr>
                    <a:solidFill>
                      <a:srgbClr val="F6F8FB"/>
                    </a:solidFill>
                  </a:tcPr>
                </a:tc>
                <a:tc>
                  <a:txBody>
                    <a:bodyPr wrap="square" lIns="36576" rIns="36576" tIns="18288" bIns="18288"/>
                    <a:lstStyle/>
                    <a:p>
                      <a:r>
                        <a:rPr sz="540" b="0">
                          <a:solidFill>
                            <a:srgbClr val="21242A"/>
                          </a:solidFill>
                          <a:latin typeface="Microsoft YaHei"/>
                        </a:rPr>
                        <a:t>21.8个月</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先前的治疗方案对阿昔布他加烯-西洛卢塞或利沙他加烯maraleucel car t细胞治疗后进展风险和失败后总生存率的...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prior lines of therapy on progression risk and post-failure overall...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N=627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6个月进展累积发生率：2L组38%，3L组40%，4L+组47%</a:t>
            </a:r>
          </a:p>
          <a:p>
            <a:pPr>
              <a:lnSpc>
                <a:spcPct val="103000"/>
              </a:lnSpc>
              <a:spcAft>
                <a:spcPts val="300"/>
              </a:spcAft>
              <a:defRPr sz="800">
                <a:solidFill>
                  <a:srgbClr val="21242A"/>
                </a:solidFill>
                <a:latin typeface="Microsoft YaHei"/>
              </a:defRPr>
            </a:pPr>
            <a:r>
              <a:t>1年进展后总生存率：2L组35%，3L组36%，4L+组26%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人数：627</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先前的治疗方案对阿昔布他加烯-西洛卢塞或利沙他加烯maraleucel car t细胞治疗后进展风险和失败后总生存率的...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prior lines of therapy on progression risk and post-failure overall...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背景：CAR T 细胞改善了复发/难治性侵袭性大 B 细胞淋巴瘤的预后。在过去的十年中，Axicabtagene ciloleucel (Axicel) 和 Lisocabtagene maraleucel (Lisocel) 被批准用于治疗两种或多种治疗失败的患者，5 年 OS 为 38% - 42%。最近，基于 Z</a:t>
            </a:r>
          </a:p>
          <a:p>
            <a:pPr>
              <a:lnSpc>
                <a:spcPct val="103000"/>
              </a:lnSpc>
              <a:spcAft>
                <a:spcPts val="300"/>
              </a:spcAft>
              <a:defRPr sz="550">
                <a:solidFill>
                  <a:srgbClr val="21242A"/>
                </a:solidFill>
                <a:latin typeface="Microsoft YaHei"/>
              </a:defRPr>
            </a:pPr>
            <a:r>
              <a:t>uma-7 和 Transform 试验，它们的使用范围扩大到第二（2L），3 年 OS 为 50%。</a:t>
            </a:r>
          </a:p>
          <a:p>
            <a:pPr>
              <a:lnSpc>
                <a:spcPct val="103000"/>
              </a:lnSpc>
              <a:spcAft>
                <a:spcPts val="300"/>
              </a:spcAft>
              <a:defRPr sz="550">
                <a:solidFill>
                  <a:srgbClr val="21242A"/>
                </a:solidFill>
                <a:latin typeface="Microsoft YaHei"/>
              </a:defRPr>
            </a:pPr>
            <a:r>
              <a:t>\n 目的：我们的研究评估了先前的治疗如何影响现实环境中的进展风险和失败后 OS (OS2)。</a:t>
            </a:r>
          </a:p>
          <a:p>
            <a:pPr>
              <a:lnSpc>
                <a:spcPct val="103000"/>
              </a:lnSpc>
              <a:spcAft>
                <a:spcPts val="300"/>
              </a:spcAft>
              <a:defRPr sz="550">
                <a:solidFill>
                  <a:srgbClr val="21242A"/>
                </a:solidFill>
                <a:latin typeface="Microsoft YaHei"/>
              </a:defRPr>
            </a:pPr>
            <a:r>
              <a:t>方法：CART-SIE 是一项针对在 22 个意大利中心接受抗 CD19 CAR T 细胞治疗的患者 (pts) 的前瞻性观察性研究。总共有 627 名患者接受了治疗：其中 604 人接受了 Axicel，23 人接受了 Lisocel。进展时间是从输注到首次记录的进展计算的，并使用竞争风险框架进行分析，以死亡作为竞争</a:t>
            </a:r>
          </a:p>
          <a:p>
            <a:pPr>
              <a:lnSpc>
                <a:spcPct val="103000"/>
              </a:lnSpc>
              <a:spcAft>
                <a:spcPts val="300"/>
              </a:spcAft>
              <a:defRPr sz="550">
                <a:solidFill>
                  <a:srgbClr val="21242A"/>
                </a:solidFill>
                <a:latin typeface="Microsoft YaHei"/>
              </a:defRPr>
            </a:pPr>
            <a:r>
              <a:t>事件。估计累积发生函数，并使用单变量和多变量精细和灰色模型进行组间比较。六个月进展估计来自协变量组合的最终多变量模型，以确定与早期复发/进展相关的因素。失败后总生存期 (OS2) 是从复发/进展到死亡进行测量，并使用 Kaplan-Meier 方法进行估计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尽管我们的人群存在固有的局限性，并且 2L 治疗的原发性难治性患者数量较多，但这项研究表明，2L+ 治疗后 6 个月内发生 PD 的概率比 4L+ 低 20%。尽管 2L CAR T 细胞失败后双特异性治疗显着增加，但 1 年 OS2 仍然很差，这突显了临床需求未得到满足。</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结果：627 例患者中，221 例 (35%) 在 2L 中接受了 CAR T 细胞，282 例 (45%) 在第三代 (3L) 中接受了 CAR T 细胞，124 例 (20%) 在第四代或更高系列 (4L+) 中接受了 CAR T 细胞。由于以下因素，各组患者特征存在显着差异：1) 高级别 B 细胞淋巴瘤</a:t>
            </a:r>
          </a:p>
          <a:p>
            <a:pPr>
              <a:lnSpc>
                <a:spcPct val="103000"/>
              </a:lnSpc>
              <a:spcAft>
                <a:spcPts val="300"/>
              </a:spcAft>
              <a:defRPr sz="560">
                <a:solidFill>
                  <a:srgbClr val="21242A"/>
                </a:solidFill>
                <a:latin typeface="Microsoft YaHei"/>
              </a:defRPr>
            </a:pPr>
            <a:r>
              <a:t>在 4L+ 和 3L 中比在 2L 中更常见（20% vs 17% vs 9%，p</a:t>
            </a:r>
          </a:p>
          <a:p>
            <a:pPr>
              <a:lnSpc>
                <a:spcPct val="103000"/>
              </a:lnSpc>
              <a:spcAft>
                <a:spcPts val="300"/>
              </a:spcAft>
              <a:defRPr sz="560">
                <a:solidFill>
                  <a:srgbClr val="21242A"/>
                </a:solidFill>
                <a:latin typeface="Microsoft YaHei"/>
              </a:defRPr>
            </a:pPr>
            <a:r>
              <a:t>结论：尽管我们的人群存在固有的局限性，并且 2L 治疗的原发难治性患者数量较多，但本研究表明，2L+ 治疗后 6 个月内发生 PD 的概率比 4L+ 低 20%。尽管 2L CAR T 细胞失败后双特异性治疗显着增加，但 1 年 OS2 仍然很差，这突显了临床需求未得到满足。</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摘要号：PF966</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glofitamab单药治疗完全缓解的复发/难治性大b细胞淋巴瘤患者的五年随访</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five-year follow-up of patients with relapsed/refractory large b-cell lymphom...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中位完全缓解持续时间（DOCR）：60.0个月（95% CI: 24.9–NE）</a:t>
            </a:r>
          </a:p>
          <a:p>
            <a:pPr>
              <a:lnSpc>
                <a:spcPct val="103000"/>
              </a:lnSpc>
              <a:spcAft>
                <a:spcPts val="300"/>
              </a:spcAft>
              <a:defRPr sz="800">
                <a:solidFill>
                  <a:srgbClr val="21242A"/>
                </a:solidFill>
                <a:latin typeface="Microsoft YaHei"/>
              </a:defRPr>
            </a:pPr>
            <a:r>
              <a:t>中位无进展生存期（PFS）：61.4个月（95% CI: 26.3–NE）</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人数：107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登记号：NCT03075696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glofitamab单药治疗完全缓解的复发/难治性大b细胞淋巴瘤患者的五年随访</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five-year follow-up of patients with relapsed/refractory large b-cell lymphom...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背景：长期随访数据表明，嵌合抗原受体（CAR）T细胞疗法是复发/难治性（R/R）大B细胞淋巴瘤（LBCL）患者的一种治疗选择，特别是那些获得完全缓解（CR）的患者。</a:t>
            </a:r>
          </a:p>
          <a:p>
            <a:pPr>
              <a:lnSpc>
                <a:spcPct val="103000"/>
              </a:lnSpc>
              <a:spcAft>
                <a:spcPts val="300"/>
              </a:spcAft>
              <a:defRPr sz="550">
                <a:solidFill>
                  <a:srgbClr val="21242A"/>
                </a:solidFill>
                <a:latin typeface="Microsoft YaHei"/>
              </a:defRPr>
            </a:pPr>
            <a:r>
              <a:t>CD20xCD3 双特异性抗体（例如 Glofitamab）已在 R/R LBCL 中表现出持久的反应和良好的安全性。然而，迄今为止，CD20xCD3 双特异性抗体的治疗潜力尚未明确。</a:t>
            </a:r>
          </a:p>
          <a:p>
            <a:pPr>
              <a:lnSpc>
                <a:spcPct val="103000"/>
              </a:lnSpc>
              <a:spcAft>
                <a:spcPts val="300"/>
              </a:spcAft>
              <a:defRPr sz="550">
                <a:solidFill>
                  <a:srgbClr val="21242A"/>
                </a:solidFill>
                <a:latin typeface="Microsoft YaHei"/>
              </a:defRPr>
            </a:pPr>
            <a:r>
              <a:t>目的：评估 glofitamab 单药治疗在 1/2 期 NP30179 (NCT03075696) 试验中获得 CR 的 R/R LBCL 患者的长期结局（随访约 5 年）。</a:t>
            </a:r>
          </a:p>
          <a:p>
            <a:pPr>
              <a:lnSpc>
                <a:spcPct val="103000"/>
              </a:lnSpc>
              <a:spcAft>
                <a:spcPts val="300"/>
              </a:spcAft>
              <a:defRPr sz="550">
                <a:solidFill>
                  <a:srgbClr val="21242A"/>
                </a:solidFill>
                <a:latin typeface="Microsoft YaHei"/>
              </a:defRPr>
            </a:pPr>
            <a:r>
              <a:t>方法：接受过 ≥1 种既往 LBCL 治疗的患者在首次服用格洛菲他单抗前 7 天接受 obinutuzumab 预处理 (1000mg)。格洛菲他单抗以固定剂量（0.6-25mg）或逐步给药（2.5/10/16或30mg）静脉注射，最多12个周期。这项探索性分析评估了研究者评估的 CR 患者的 CR 持续时间 (DOC</a:t>
            </a:r>
          </a:p>
          <a:p>
            <a:pPr>
              <a:lnSpc>
                <a:spcPct val="103000"/>
              </a:lnSpc>
              <a:spcAft>
                <a:spcPts val="300"/>
              </a:spcAft>
              <a:defRPr sz="550">
                <a:solidFill>
                  <a:srgbClr val="21242A"/>
                </a:solidFill>
                <a:latin typeface="Microsoft YaHei"/>
              </a:defRPr>
            </a:pPr>
            <a:r>
              <a:t>R)、无进展生存期 (PFS) 和总生存期 (OS)，以及格洛菲他单药治疗的安全性和耐受性。所有患者均提供了书面知情同意书。</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经过约 5 年的随访，固定期限的格洛菲他单抗单药疗法对达到 CR 的 R/R LBCL 患者显示出持续的益处、持久的长期缓解和可控的安全性。总体而言，在达到 CR 的患者中观察到格洛菲他单抗治疗的持久缓解表明部分患者具有治愈潜力。</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中位完全缓解持续时间（DOCR）</a:t>
                      </a:r>
                    </a:p>
                  </a:txBody>
                  <a:tcPr>
                    <a:solidFill>
                      <a:srgbClr val="F6F8FB"/>
                    </a:solidFill>
                  </a:tcPr>
                </a:tc>
                <a:tc>
                  <a:txBody>
                    <a:bodyPr wrap="square" lIns="36576" rIns="36576" tIns="18288" bIns="18288"/>
                    <a:lstStyle/>
                    <a:p>
                      <a:r>
                        <a:rPr sz="540" b="0">
                          <a:solidFill>
                            <a:srgbClr val="21242A"/>
                          </a:solidFill>
                          <a:latin typeface="Microsoft YaHei"/>
                        </a:rPr>
                        <a:t>60.0个月（95% CI: 24.9–NE）</a:t>
                      </a:r>
                    </a:p>
                  </a:txBody>
                  <a:tcPr>
                    <a:solidFill>
                      <a:srgbClr val="F6F8FB"/>
                    </a:solidFill>
                  </a:tcPr>
                </a:tc>
              </a:tr>
              <a:tr h="214230">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61.4个月（95% CI: 26.3–NE）</a:t>
                      </a:r>
                    </a:p>
                  </a:txBody>
                  <a:tcPr>
                    <a:solidFill>
                      <a:srgbClr val="FFFFFF"/>
                    </a:solidFill>
                  </a:tcPr>
                </a:tc>
              </a:tr>
              <a:tr h="214230">
                <a:tc>
                  <a:txBody>
                    <a:bodyPr wrap="square" lIns="36576" rIns="36576" tIns="18288" bIns="18288"/>
                    <a:lstStyle/>
                    <a:p>
                      <a:r>
                        <a:rPr sz="540" b="1">
                          <a:solidFill>
                            <a:srgbClr val="21242A"/>
                          </a:solidFill>
                          <a:latin typeface="Microsoft YaHei"/>
                        </a:rPr>
                        <a:t>5年PFS率</a:t>
                      </a:r>
                    </a:p>
                  </a:txBody>
                  <a:tcPr>
                    <a:solidFill>
                      <a:srgbClr val="F6F8FB"/>
                    </a:solidFill>
                  </a:tcPr>
                </a:tc>
                <a:tc>
                  <a:txBody>
                    <a:bodyPr wrap="square" lIns="36576" rIns="36576" tIns="18288" bIns="18288"/>
                    <a:lstStyle/>
                    <a:p>
                      <a:r>
                        <a:rPr sz="540" b="0">
                          <a:solidFill>
                            <a:srgbClr val="21242A"/>
                          </a:solidFill>
                          <a:latin typeface="Microsoft YaHei"/>
                        </a:rPr>
                        <a:t>51.5%（95% CI: 41.2–61.8）</a:t>
                      </a:r>
                    </a:p>
                  </a:txBody>
                  <a:tcPr>
                    <a:solidFill>
                      <a:srgbClr val="F6F8FB"/>
                    </a:solidFill>
                  </a:tcPr>
                </a:tc>
              </a:tr>
              <a:tr h="214230">
                <a:tc>
                  <a:txBody>
                    <a:bodyPr wrap="square" lIns="36576" rIns="36576" tIns="18288" bIns="18288"/>
                    <a:lstStyle/>
                    <a:p>
                      <a:r>
                        <a:rPr sz="540" b="1">
                          <a:solidFill>
                            <a:srgbClr val="21242A"/>
                          </a:solidFill>
                          <a:latin typeface="Microsoft YaHei"/>
                        </a:rPr>
                        <a:t>中位总生存期（OS）</a:t>
                      </a:r>
                    </a:p>
                  </a:txBody>
                  <a:tcPr>
                    <a:solidFill>
                      <a:srgbClr val="FFFFFF"/>
                    </a:solidFill>
                  </a:tcPr>
                </a:tc>
                <a:tc>
                  <a:txBody>
                    <a:bodyPr wrap="square" lIns="36576" rIns="36576" tIns="18288" bIns="18288"/>
                    <a:lstStyle/>
                    <a:p>
                      <a:r>
                        <a:rPr sz="540" b="0">
                          <a:solidFill>
                            <a:srgbClr val="21242A"/>
                          </a:solidFill>
                          <a:latin typeface="Microsoft YaHei"/>
                        </a:rPr>
                        <a:t>未达到（95% CI: NE）</a:t>
                      </a:r>
                    </a:p>
                  </a:txBody>
                  <a:tcPr>
                    <a:solidFill>
                      <a:srgbClr val="FFFFFF"/>
                    </a:solidFill>
                  </a:tcPr>
                </a:tc>
              </a:tr>
              <a:tr h="214230">
                <a:tc>
                  <a:txBody>
                    <a:bodyPr wrap="square" lIns="36576" rIns="36576" tIns="18288" bIns="18288"/>
                    <a:lstStyle/>
                    <a:p>
                      <a:r>
                        <a:rPr sz="540" b="1">
                          <a:solidFill>
                            <a:srgbClr val="21242A"/>
                          </a:solidFill>
                          <a:latin typeface="Microsoft YaHei"/>
                        </a:rPr>
                        <a:t>5年OS率</a:t>
                      </a:r>
                    </a:p>
                  </a:txBody>
                  <a:tcPr>
                    <a:solidFill>
                      <a:srgbClr val="F6F8FB"/>
                    </a:solidFill>
                  </a:tcPr>
                </a:tc>
                <a:tc>
                  <a:txBody>
                    <a:bodyPr wrap="square" lIns="36576" rIns="36576" tIns="18288" bIns="18288"/>
                    <a:lstStyle/>
                    <a:p>
                      <a:r>
                        <a:rPr sz="540" b="0">
                          <a:solidFill>
                            <a:srgbClr val="21242A"/>
                          </a:solidFill>
                          <a:latin typeface="Microsoft YaHei"/>
                        </a:rPr>
                        <a:t>67.5%（95% CI: 57.8–77.1）</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复发/难治性dlbcl中epcoritamab家庭护理途径与常规epcoritamad和glofitamab医院护理方...</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epcoritamab home-based care pathways in relapsed/refractory dlbcl versus conv...</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PF1410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治疗线数/场景：三线，末线</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分组：护理路径1：Epcoritamab在医院护理中心给药</a:t>
            </a:r>
          </a:p>
          <a:p>
            <a:pPr>
              <a:lnSpc>
                <a:spcPct val="103000"/>
              </a:lnSpc>
              <a:spcAft>
                <a:spcPts val="300"/>
              </a:spcAft>
              <a:defRPr sz="800">
                <a:solidFill>
                  <a:srgbClr val="21242A"/>
                </a:solidFill>
                <a:latin typeface="Microsoft YaHei"/>
              </a:defRPr>
            </a:pPr>
            <a:r>
              <a:t>护理路径2：Epcoritamab从第2周期开始家庭住院给药</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多组/多方案比较：护理路径1：Epcoritamab在医院护理中心给药</a:t>
            </a:r>
          </a:p>
          <a:p>
            <a:pPr>
              <a:lnSpc>
                <a:spcPct val="103000"/>
              </a:lnSpc>
              <a:spcAft>
                <a:spcPts val="300"/>
              </a:spcAft>
              <a:defRPr sz="800">
                <a:solidFill>
                  <a:srgbClr val="21242A"/>
                </a:solidFill>
                <a:latin typeface="Microsoft YaHei"/>
              </a:defRPr>
            </a:pPr>
            <a:r>
              <a:t>护理路径2：Epcoritamab从第2周期开始家庭住院给药</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Epcoritamab医院护理路径总成本：12,922€</a:t>
            </a:r>
          </a:p>
          <a:p>
            <a:pPr>
              <a:lnSpc>
                <a:spcPct val="103000"/>
              </a:lnSpc>
              <a:spcAft>
                <a:spcPts val="300"/>
              </a:spcAft>
              <a:defRPr sz="800">
                <a:solidFill>
                  <a:srgbClr val="21242A"/>
                </a:solidFill>
                <a:latin typeface="Microsoft YaHei"/>
              </a:defRPr>
            </a:pPr>
            <a:r>
              <a:t>Epcoritamab从第2周期家庭住院路径总成本：10,145€（节省21.5%）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研究类型：卫生经济学分析</a:t>
            </a:r>
          </a:p>
          <a:p>
            <a:pPr>
              <a:lnSpc>
                <a:spcPct val="103000"/>
              </a:lnSpc>
              <a:spcAft>
                <a:spcPts val="300"/>
              </a:spcAft>
              <a:defRPr sz="810">
                <a:solidFill>
                  <a:srgbClr val="21242A"/>
                </a:solidFill>
                <a:latin typeface="Microsoft YaHei"/>
              </a:defRPr>
            </a:pPr>
            <a:r>
              <a:t>人数：未提取</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登记号：NCT03625037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分组/治疗流程：护理路径1：Epcoritamab在医院护理中心给药、护理路径2：Epcoritamab从第2周期开始家庭住院给药、护理路径3：Epcoritamab从第1周期开始家庭住...</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复发/难治性dlbcl中epcoritamab家庭护理途径与常规epcoritamad和glofitamab医院护理方...</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epcoritamab home-based care pathways in relapsed/refractory dlbcl versus conv...</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PF1410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在法国，epcoritamab和glofitamab单药治疗已获得法国国家卫生局（HAS）的有利报销意见，目前可通过早期获取计划用于治疗患有复发性或难治性（R/R）弥漫性大B细胞淋巴瘤（DLBCL）的成人患者，这些患者经过至少两次全身治疗后，不符合所有可用治疗的条件或CAR-T细胞治疗失败。这些 CD3xCD20</a:t>
            </a:r>
          </a:p>
          <a:p>
            <a:pPr>
              <a:lnSpc>
                <a:spcPct val="103000"/>
              </a:lnSpc>
              <a:spcAft>
                <a:spcPts val="300"/>
              </a:spcAft>
              <a:defRPr sz="550">
                <a:solidFill>
                  <a:srgbClr val="21242A"/>
                </a:solidFill>
                <a:latin typeface="Microsoft YaHei"/>
              </a:defRPr>
            </a:pPr>
            <a:r>
              <a:t> 双特异性抗体的主要区别在于其给药方式和持续时间：epcoritamab 皮下给药，直至疾病进展和/或出现不可接受的毒性，而 glofitamab 则静脉内给药，持续 12 个周期的固定持续时间。两种治疗均在医疗保健中心 (HCC) 进行；然而，由于给药时间较短，只有 epcoritamab 符合在家住院 (HaH) </a:t>
            </a:r>
          </a:p>
          <a:p>
            <a:pPr>
              <a:lnSpc>
                <a:spcPct val="103000"/>
              </a:lnSpc>
              <a:spcAft>
                <a:spcPts val="300"/>
              </a:spcAft>
              <a:defRPr sz="550">
                <a:solidFill>
                  <a:srgbClr val="21242A"/>
                </a:solidFill>
                <a:latin typeface="Microsoft YaHei"/>
              </a:defRPr>
            </a:pPr>
            <a:r>
              <a:t>给药途径的条件。在能力和预算限制以及预计双特异性抗体的使用不断增加的背景下，HCC 需要开发替代护理途径。此外，允许患者在整个护理过程中留在自己的家庭环境中可能会提高生活质量。目的：评估 epcoritamab HaH 护理途径与 epcoritamab 和 glofitamab 常规 HCC 护理途径对治疗 R/R </a:t>
            </a:r>
          </a:p>
          <a:p>
            <a:pPr>
              <a:lnSpc>
                <a:spcPct val="103000"/>
              </a:lnSpc>
              <a:spcAft>
                <a:spcPts val="300"/>
              </a:spcAft>
              <a:defRPr sz="550">
                <a:solidFill>
                  <a:srgbClr val="21242A"/>
                </a:solidFill>
                <a:latin typeface="Microsoft YaHei"/>
              </a:defRPr>
            </a:pPr>
            <a:r>
              <a:t>DLBCL 患者的经济影响。</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与基于 HCC 的护理相比，在 R/R DLBCL 患者中使用 epcoritamab 的 HaH 成本降低了 21-39%，尽管 glofitamab 涉及的给药次数较少，但总途径成本与院内 glofitamab 处于同一范围（7,858 欧元 vs 7,268 欧元）。这些发现支持 HaH 在可行的情况下对于接受 </a:t>
            </a:r>
          </a:p>
          <a:p>
            <a:pPr>
              <a:lnSpc>
                <a:spcPct val="103000"/>
              </a:lnSpc>
              <a:spcAft>
                <a:spcPts val="300"/>
              </a:spcAft>
              <a:defRPr sz="570">
                <a:solidFill>
                  <a:srgbClr val="21242A"/>
                </a:solidFill>
                <a:latin typeface="Microsoft YaHei"/>
              </a:defRPr>
            </a:pPr>
            <a:r>
              <a:t>epcoritamab 的 R/R DLBCL 患者的组织和经济相关性，强调了患者生活质量和医疗保健系统效率的潜在收益</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Epcoritamab医院护理路径总成本</a:t>
                      </a:r>
                    </a:p>
                  </a:txBody>
                  <a:tcPr>
                    <a:solidFill>
                      <a:srgbClr val="F6F8FB"/>
                    </a:solidFill>
                  </a:tcPr>
                </a:tc>
                <a:tc>
                  <a:txBody>
                    <a:bodyPr wrap="square" lIns="36576" rIns="36576" tIns="18288" bIns="18288"/>
                    <a:lstStyle/>
                    <a:p>
                      <a:r>
                        <a:rPr sz="540" b="0">
                          <a:solidFill>
                            <a:srgbClr val="21242A"/>
                          </a:solidFill>
                          <a:latin typeface="Microsoft YaHei"/>
                        </a:rPr>
                        <a:t>12,922€</a:t>
                      </a:r>
                    </a:p>
                  </a:txBody>
                  <a:tcPr>
                    <a:solidFill>
                      <a:srgbClr val="F6F8FB"/>
                    </a:solidFill>
                  </a:tcPr>
                </a:tc>
              </a:tr>
              <a:tr h="249936">
                <a:tc>
                  <a:txBody>
                    <a:bodyPr wrap="square" lIns="36576" rIns="36576" tIns="18288" bIns="18288"/>
                    <a:lstStyle/>
                    <a:p>
                      <a:r>
                        <a:rPr sz="540" b="1">
                          <a:solidFill>
                            <a:srgbClr val="21242A"/>
                          </a:solidFill>
                          <a:latin typeface="Microsoft YaHei"/>
                        </a:rPr>
                        <a:t>Epcoritamab从第2周期家庭住院路径总成本</a:t>
                      </a:r>
                    </a:p>
                  </a:txBody>
                  <a:tcPr>
                    <a:solidFill>
                      <a:srgbClr val="FFFFFF"/>
                    </a:solidFill>
                  </a:tcPr>
                </a:tc>
                <a:tc>
                  <a:txBody>
                    <a:bodyPr wrap="square" lIns="36576" rIns="36576" tIns="18288" bIns="18288"/>
                    <a:lstStyle/>
                    <a:p>
                      <a:r>
                        <a:rPr sz="540" b="0">
                          <a:solidFill>
                            <a:srgbClr val="21242A"/>
                          </a:solidFill>
                          <a:latin typeface="Microsoft YaHei"/>
                        </a:rPr>
                        <a:t>10,145€（节省21.5%）</a:t>
                      </a:r>
                    </a:p>
                  </a:txBody>
                  <a:tcPr>
                    <a:solidFill>
                      <a:srgbClr val="FFFFFF"/>
                    </a:solidFill>
                  </a:tcPr>
                </a:tc>
              </a:tr>
              <a:tr h="249936">
                <a:tc>
                  <a:txBody>
                    <a:bodyPr wrap="square" lIns="36576" rIns="36576" tIns="18288" bIns="18288"/>
                    <a:lstStyle/>
                    <a:p>
                      <a:r>
                        <a:rPr sz="540" b="1">
                          <a:solidFill>
                            <a:srgbClr val="21242A"/>
                          </a:solidFill>
                          <a:latin typeface="Microsoft YaHei"/>
                        </a:rPr>
                        <a:t>Epcoritamab从第1周期家庭住院路径总成本</a:t>
                      </a:r>
                    </a:p>
                  </a:txBody>
                  <a:tcPr>
                    <a:solidFill>
                      <a:srgbClr val="F6F8FB"/>
                    </a:solidFill>
                  </a:tcPr>
                </a:tc>
                <a:tc>
                  <a:txBody>
                    <a:bodyPr wrap="square" lIns="36576" rIns="36576" tIns="18288" bIns="18288"/>
                    <a:lstStyle/>
                    <a:p>
                      <a:r>
                        <a:rPr sz="540" b="0">
                          <a:solidFill>
                            <a:srgbClr val="21242A"/>
                          </a:solidFill>
                          <a:latin typeface="Microsoft YaHei"/>
                        </a:rPr>
                        <a:t>7,858€（节省39.1%）</a:t>
                      </a:r>
                    </a:p>
                  </a:txBody>
                  <a:tcPr>
                    <a:solidFill>
                      <a:srgbClr val="F6F8FB"/>
                    </a:solidFill>
                  </a:tcPr>
                </a:tc>
              </a:tr>
              <a:tr h="249936">
                <a:tc>
                  <a:txBody>
                    <a:bodyPr wrap="square" lIns="36576" rIns="36576" tIns="18288" bIns="18288"/>
                    <a:lstStyle/>
                    <a:p>
                      <a:r>
                        <a:rPr sz="540" b="1">
                          <a:solidFill>
                            <a:srgbClr val="21242A"/>
                          </a:solidFill>
                          <a:latin typeface="Microsoft YaHei"/>
                        </a:rPr>
                        <a:t>Glofitamab医院护理路径总成本</a:t>
                      </a:r>
                    </a:p>
                  </a:txBody>
                  <a:tcPr>
                    <a:solidFill>
                      <a:srgbClr val="FFFFFF"/>
                    </a:solidFill>
                  </a:tcPr>
                </a:tc>
                <a:tc>
                  <a:txBody>
                    <a:bodyPr wrap="square" lIns="36576" rIns="36576" tIns="18288" bIns="18288"/>
                    <a:lstStyle/>
                    <a:p>
                      <a:r>
                        <a:rPr sz="540" b="0">
                          <a:solidFill>
                            <a:srgbClr val="21242A"/>
                          </a:solidFill>
                          <a:latin typeface="Microsoft YaHei"/>
                        </a:rPr>
                        <a:t>7,268€</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对于管理50名患者的医院，逐步转为第1周期家庭住院五年累计节省约673,000€</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摘要号：PF1410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超分割放疗作为一种桥接策略，减轻t细胞耗竭，增强cd19car-t在复发/难治性弥漫性大b细胞淋巴瘤中的疗效</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hyper-fractionated radiotherapy as a bridging strategy attenuates t-cell exha...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试验药/方案：CD19靶向CAR-T(北京大学人民医院)</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1个月CR率：64%（16/25）</a:t>
            </a:r>
          </a:p>
          <a:p>
            <a:pPr>
              <a:lnSpc>
                <a:spcPct val="103000"/>
              </a:lnSpc>
              <a:spcAft>
                <a:spcPts val="300"/>
              </a:spcAft>
              <a:defRPr sz="800">
                <a:solidFill>
                  <a:srgbClr val="21242A"/>
                </a:solidFill>
                <a:latin typeface="Microsoft YaHei"/>
              </a:defRPr>
            </a:pPr>
            <a:r>
              <a:t>6个月CR率：76%（19/25）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登记号：NCT05514327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试验药/方案：CD19靶向CAR-T(北京大学人民医院)</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超分割放疗作为一种桥接策略，减轻t细胞耗竭，增强cd19car-t在复发/难治性弥漫性大b细胞淋巴瘤中的疗效</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hyper-fractionated radiotherapy as a bridging strategy attenuates t-cell exha...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背景：最近的临床研究证实了放疗作为 R/R DLBCL 中 CAR-T 治疗之前的桥接策略的安全性和有效性。传统的分割方案仍然是最常用的，每次分割的每日剂量为 3-5 Gy。超分割放射治疗的特点是较低的分割剂量和较高的治疗频率，可以在更短的时间内有效地提供目标剂量，同时最大限度地减少放射相关的毒性。除了减轻肿瘤负荷之外</a:t>
            </a:r>
          </a:p>
          <a:p>
            <a:pPr>
              <a:lnSpc>
                <a:spcPct val="103000"/>
              </a:lnSpc>
              <a:spcAft>
                <a:spcPts val="300"/>
              </a:spcAft>
              <a:defRPr sz="550">
                <a:solidFill>
                  <a:srgbClr val="21242A"/>
                </a:solidFill>
                <a:latin typeface="Microsoft YaHei"/>
              </a:defRPr>
            </a:pPr>
            <a:r>
              <a:t>，这种方法还可以重塑肿瘤微环境并增强免疫疗法的疗效。</a:t>
            </a:r>
          </a:p>
          <a:p>
            <a:pPr>
              <a:lnSpc>
                <a:spcPct val="103000"/>
              </a:lnSpc>
              <a:spcAft>
                <a:spcPts val="300"/>
              </a:spcAft>
              <a:defRPr sz="550">
                <a:solidFill>
                  <a:srgbClr val="21242A"/>
                </a:solidFill>
                <a:latin typeface="Microsoft YaHei"/>
              </a:defRPr>
            </a:pPr>
            <a:r>
              <a:t>\n 目的：我们旨在研究桥接超分割放疗联合 CD19 CAR-T 疗法治疗 R/R DLBCL 的有效性和安全性。还将探讨潜在的机制。 方法：这是一项单中心、前瞻性临床研究 (NCT05514327)，招募具有可测量病变的 R/R DLBCL 患者。</a:t>
            </a:r>
          </a:p>
          <a:p>
            <a:pPr>
              <a:lnSpc>
                <a:spcPct val="103000"/>
              </a:lnSpc>
              <a:spcAft>
                <a:spcPts val="300"/>
              </a:spcAft>
              <a:defRPr sz="550">
                <a:solidFill>
                  <a:srgbClr val="21242A"/>
                </a:solidFill>
                <a:latin typeface="Microsoft YaHei"/>
              </a:defRPr>
            </a:pPr>
            <a:r>
              <a:t>T 细胞分离术后进行超分割放射治疗。所有患者均采用 1.5 Gy 的超分割治疗方案，每日两次，持续约 10 个治疗日（周末除外），总剂量为 30 Gy。放疗完成后1-2周内开始CAR-T细胞输注。监测并分析放疗和CAR-T细胞输注后不同时间点的疗效和不良反应。</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超分割放疗作为桥接治疗不仅可以减轻肿瘤负荷，还可以减少耗尽的T细胞（CD8+PD1+T）。较低的 T 细胞耗竭程度与较好的 PFS 和 OS 显着相关。这些研究结果表明，超分割放疗通过调节宿主免疫状态与CAR-T疗法发挥协同作用，从而促进R/R DLBCL患者的持久长期缓解。</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1个月CR率</a:t>
                      </a:r>
                    </a:p>
                  </a:txBody>
                  <a:tcPr>
                    <a:solidFill>
                      <a:srgbClr val="F6F8FB"/>
                    </a:solidFill>
                  </a:tcPr>
                </a:tc>
                <a:tc>
                  <a:txBody>
                    <a:bodyPr wrap="square" lIns="36576" rIns="36576" tIns="18288" bIns="18288"/>
                    <a:lstStyle/>
                    <a:p>
                      <a:r>
                        <a:rPr sz="540" b="0">
                          <a:solidFill>
                            <a:srgbClr val="21242A"/>
                          </a:solidFill>
                          <a:latin typeface="Microsoft YaHei"/>
                        </a:rPr>
                        <a:t>64%（16/25）</a:t>
                      </a:r>
                    </a:p>
                  </a:txBody>
                  <a:tcPr>
                    <a:solidFill>
                      <a:srgbClr val="F6F8FB"/>
                    </a:solidFill>
                  </a:tcPr>
                </a:tc>
              </a:tr>
              <a:tr h="214230">
                <a:tc>
                  <a:txBody>
                    <a:bodyPr wrap="square" lIns="36576" rIns="36576" tIns="18288" bIns="18288"/>
                    <a:lstStyle/>
                    <a:p>
                      <a:r>
                        <a:rPr sz="540" b="1">
                          <a:solidFill>
                            <a:srgbClr val="21242A"/>
                          </a:solidFill>
                          <a:latin typeface="Microsoft YaHei"/>
                        </a:rPr>
                        <a:t>6个月CR率</a:t>
                      </a:r>
                    </a:p>
                  </a:txBody>
                  <a:tcPr>
                    <a:solidFill>
                      <a:srgbClr val="FFFFFF"/>
                    </a:solidFill>
                  </a:tcPr>
                </a:tc>
                <a:tc>
                  <a:txBody>
                    <a:bodyPr wrap="square" lIns="36576" rIns="36576" tIns="18288" bIns="18288"/>
                    <a:lstStyle/>
                    <a:p>
                      <a:r>
                        <a:rPr sz="540" b="0">
                          <a:solidFill>
                            <a:srgbClr val="21242A"/>
                          </a:solidFill>
                          <a:latin typeface="Microsoft YaHei"/>
                        </a:rPr>
                        <a:t>76%（19/25）</a:t>
                      </a:r>
                    </a:p>
                  </a:txBody>
                  <a:tcPr>
                    <a:solidFill>
                      <a:srgbClr val="FFFFFF"/>
                    </a:solidFill>
                  </a:tcPr>
                </a:tc>
              </a:tr>
              <a:tr h="214230">
                <a:tc>
                  <a:txBody>
                    <a:bodyPr wrap="square" lIns="36576" rIns="36576" tIns="18288" bIns="18288"/>
                    <a:lstStyle/>
                    <a:p>
                      <a:r>
                        <a:rPr sz="540" b="1">
                          <a:solidFill>
                            <a:srgbClr val="21242A"/>
                          </a:solidFill>
                          <a:latin typeface="Microsoft YaHei"/>
                        </a:rPr>
                        <a:t>2年PFS率</a:t>
                      </a:r>
                    </a:p>
                  </a:txBody>
                  <a:tcPr>
                    <a:solidFill>
                      <a:srgbClr val="F6F8FB"/>
                    </a:solidFill>
                  </a:tcPr>
                </a:tc>
                <a:tc>
                  <a:txBody>
                    <a:bodyPr wrap="square" lIns="36576" rIns="36576" tIns="18288" bIns="18288"/>
                    <a:lstStyle/>
                    <a:p>
                      <a:r>
                        <a:rPr sz="540" b="0">
                          <a:solidFill>
                            <a:srgbClr val="21242A"/>
                          </a:solidFill>
                          <a:latin typeface="Microsoft YaHei"/>
                        </a:rPr>
                        <a:t>63.3%</a:t>
                      </a:r>
                    </a:p>
                  </a:txBody>
                  <a:tcPr>
                    <a:solidFill>
                      <a:srgbClr val="F6F8FB"/>
                    </a:solidFill>
                  </a:tcPr>
                </a:tc>
              </a:tr>
              <a:tr h="214230">
                <a:tc>
                  <a:txBody>
                    <a:bodyPr wrap="square" lIns="36576" rIns="36576" tIns="18288" bIns="18288"/>
                    <a:lstStyle/>
                    <a:p>
                      <a:r>
                        <a:rPr sz="540" b="1">
                          <a:solidFill>
                            <a:srgbClr val="21242A"/>
                          </a:solidFill>
                          <a:latin typeface="Microsoft YaHei"/>
                        </a:rPr>
                        <a:t>2年OS率</a:t>
                      </a:r>
                    </a:p>
                  </a:txBody>
                  <a:tcPr>
                    <a:solidFill>
                      <a:srgbClr val="FFFFFF"/>
                    </a:solidFill>
                  </a:tcPr>
                </a:tc>
                <a:tc>
                  <a:txBody>
                    <a:bodyPr wrap="square" lIns="36576" rIns="36576" tIns="18288" bIns="18288"/>
                    <a:lstStyle/>
                    <a:p>
                      <a:r>
                        <a:rPr sz="540" b="0">
                          <a:solidFill>
                            <a:srgbClr val="21242A"/>
                          </a:solidFill>
                          <a:latin typeface="Microsoft YaHei"/>
                        </a:rPr>
                        <a:t>75%</a:t>
                      </a:r>
                    </a:p>
                  </a:txBody>
                  <a:tcPr>
                    <a:solidFill>
                      <a:srgbClr val="FFFFFF"/>
                    </a:solidFill>
                  </a:tcPr>
                </a:tc>
              </a:tr>
              <a:tr h="214230">
                <a:tc>
                  <a:txBody>
                    <a:bodyPr wrap="square" lIns="36576" rIns="36576" tIns="18288" bIns="18288"/>
                    <a:lstStyle/>
                    <a:p>
                      <a:r>
                        <a:rPr sz="540" b="1">
                          <a:solidFill>
                            <a:srgbClr val="21242A"/>
                          </a:solidFill>
                          <a:latin typeface="Microsoft YaHei"/>
                        </a:rPr>
                        <a:t>CRS</a:t>
                      </a:r>
                    </a:p>
                  </a:txBody>
                  <a:tcPr>
                    <a:solidFill>
                      <a:srgbClr val="F6F8FB"/>
                    </a:solidFill>
                  </a:tcPr>
                </a:tc>
                <a:tc>
                  <a:txBody>
                    <a:bodyPr wrap="square" lIns="36576" rIns="36576" tIns="18288" bIns="18288"/>
                    <a:lstStyle/>
                    <a:p>
                      <a:r>
                        <a:rPr sz="540" b="0">
                          <a:solidFill>
                            <a:srgbClr val="21242A"/>
                          </a:solidFill>
                          <a:latin typeface="Microsoft YaHei"/>
                        </a:rPr>
                        <a:t>44% 1级，24% 2级，16% 3级</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摘要号：PF1240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意大利现实生活中使用loncastuximab tesirine治疗大b细胞淋巴瘤的经验</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large b-cell lymphoma treatment with loncastuximab tesirine in an italian rea...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N=37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试验药/方案：泰朗妥昔单抗</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完全缓解率：32.4%</a:t>
            </a:r>
          </a:p>
          <a:p>
            <a:pPr>
              <a:lnSpc>
                <a:spcPct val="103000"/>
              </a:lnSpc>
              <a:spcAft>
                <a:spcPts val="300"/>
              </a:spcAft>
              <a:defRPr sz="800">
                <a:solidFill>
                  <a:srgbClr val="21242A"/>
                </a:solidFill>
                <a:latin typeface="Microsoft YaHei"/>
              </a:defRPr>
            </a:pPr>
            <a:r>
              <a:t>部分缓解率：10.8%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人数：37</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试验药/方案：泰朗妥昔单抗</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药物/技术类别：缬氨酸-丙氨酸 VA、PBD二聚体：SG3199、抗体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意大利现实生活中使用loncastuximab tesirine治疗大b细胞淋巴瘤的经验</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large b-cell lymphoma treatment with loncastuximab tesirine in an italian rea...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背景：Loncastuximab tesirine (LT) 是一种抗 CD19 吡咯并苯二氮卓结合的单克隆抗体，现已被批准用于治疗三线及以上的大 B 细胞淋巴瘤 (LBCL) 患者。根据2期注册试验的结果，接受过至少2次先前治疗（包括嵌合抗原受体T（CART）细胞）的患者迅速出现反应并持续一年多。</a:t>
            </a:r>
          </a:p>
          <a:p>
            <a:pPr>
              <a:lnSpc>
                <a:spcPct val="103000"/>
              </a:lnSpc>
              <a:spcAft>
                <a:spcPts val="300"/>
              </a:spcAft>
              <a:defRPr sz="550">
                <a:solidFill>
                  <a:srgbClr val="21242A"/>
                </a:solidFill>
                <a:latin typeface="Microsoft YaHei"/>
              </a:defRPr>
            </a:pPr>
            <a:r>
              <a:t>目的：一项观察性研究，报告了意大利作为同情使用 LT 的现实经验，目的是评估其在反应率和反应时间方面的有效性。次要终点是 LBCL 患者队列中的无进展、总生存期、缓解持续时间和安全性，这些患者在至少 2 种先前的治疗后复发或难治。</a:t>
            </a:r>
          </a:p>
          <a:p>
            <a:pPr>
              <a:lnSpc>
                <a:spcPct val="103000"/>
              </a:lnSpc>
              <a:spcAft>
                <a:spcPts val="300"/>
              </a:spcAft>
              <a:defRPr sz="550">
                <a:solidFill>
                  <a:srgbClr val="21242A"/>
                </a:solidFill>
                <a:latin typeface="Microsoft YaHei"/>
              </a:defRPr>
            </a:pPr>
            <a:r>
              <a:t>方法：按照处方适应症给予 LT，直至疾病进展或出现不可接受的毒性（以先发生者为准）。研究中的患者没有接受正常实践之外的任何程序，收集的变量是从患者的医疗记录中检索的。</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LT 在经过高度治疗且病情严重的 LBCL 患者群体中显示出快速的疾病控制效果。与登记研究相比，由于更不利的疾病特征，我们的人群中记录了更令人失望的生存结果。血液外毒性仍然是一个问题。</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完全缓解率</a:t>
                      </a:r>
                    </a:p>
                  </a:txBody>
                  <a:tcPr>
                    <a:solidFill>
                      <a:srgbClr val="F6F8FB"/>
                    </a:solidFill>
                  </a:tcPr>
                </a:tc>
                <a:tc>
                  <a:txBody>
                    <a:bodyPr wrap="square" lIns="36576" rIns="36576" tIns="18288" bIns="18288"/>
                    <a:lstStyle/>
                    <a:p>
                      <a:r>
                        <a:rPr sz="540" b="0">
                          <a:solidFill>
                            <a:srgbClr val="21242A"/>
                          </a:solidFill>
                          <a:latin typeface="Microsoft YaHei"/>
                        </a:rPr>
                        <a:t>32.4%</a:t>
                      </a:r>
                    </a:p>
                  </a:txBody>
                  <a:tcPr>
                    <a:solidFill>
                      <a:srgbClr val="F6F8FB"/>
                    </a:solidFill>
                  </a:tcPr>
                </a:tc>
              </a:tr>
              <a:tr h="214230">
                <a:tc>
                  <a:txBody>
                    <a:bodyPr wrap="square" lIns="36576" rIns="36576" tIns="18288" bIns="18288"/>
                    <a:lstStyle/>
                    <a:p>
                      <a:r>
                        <a:rPr sz="540" b="1">
                          <a:solidFill>
                            <a:srgbClr val="21242A"/>
                          </a:solidFill>
                          <a:latin typeface="Microsoft YaHei"/>
                        </a:rPr>
                        <a:t>部分缓解率</a:t>
                      </a:r>
                    </a:p>
                  </a:txBody>
                  <a:tcPr>
                    <a:solidFill>
                      <a:srgbClr val="FFFFFF"/>
                    </a:solidFill>
                  </a:tcPr>
                </a:tc>
                <a:tc>
                  <a:txBody>
                    <a:bodyPr wrap="square" lIns="36576" rIns="36576" tIns="18288" bIns="18288"/>
                    <a:lstStyle/>
                    <a:p>
                      <a:r>
                        <a:rPr sz="540" b="0">
                          <a:solidFill>
                            <a:srgbClr val="21242A"/>
                          </a:solidFill>
                          <a:latin typeface="Microsoft YaHei"/>
                        </a:rPr>
                        <a:t>10.8%</a:t>
                      </a:r>
                    </a:p>
                  </a:txBody>
                  <a:tcPr>
                    <a:solidFill>
                      <a:srgbClr val="FFFFFF"/>
                    </a:solidFill>
                  </a:tcPr>
                </a:tc>
              </a:tr>
              <a:tr h="214230">
                <a:tc>
                  <a:txBody>
                    <a:bodyPr wrap="square" lIns="36576" rIns="36576" tIns="18288" bIns="18288"/>
                    <a:lstStyle/>
                    <a:p>
                      <a:r>
                        <a:rPr sz="540" b="1">
                          <a:solidFill>
                            <a:srgbClr val="21242A"/>
                          </a:solidFill>
                          <a:latin typeface="Microsoft YaHei"/>
                        </a:rPr>
                        <a:t>中位至缓解时间</a:t>
                      </a:r>
                    </a:p>
                  </a:txBody>
                  <a:tcPr>
                    <a:solidFill>
                      <a:srgbClr val="F6F8FB"/>
                    </a:solidFill>
                  </a:tcPr>
                </a:tc>
                <a:tc>
                  <a:txBody>
                    <a:bodyPr wrap="square" lIns="36576" rIns="36576" tIns="18288" bIns="18288"/>
                    <a:lstStyle/>
                    <a:p>
                      <a:r>
                        <a:rPr sz="540" b="0">
                          <a:solidFill>
                            <a:srgbClr val="21242A"/>
                          </a:solidFill>
                          <a:latin typeface="Microsoft YaHei"/>
                        </a:rPr>
                        <a:t>3.3个月</a:t>
                      </a:r>
                    </a:p>
                  </a:txBody>
                  <a:tcPr>
                    <a:solidFill>
                      <a:srgbClr val="F6F8FB"/>
                    </a:solidFill>
                  </a:tcPr>
                </a:tc>
              </a:tr>
              <a:tr h="214230">
                <a:tc>
                  <a:txBody>
                    <a:bodyPr wrap="square" lIns="36576" rIns="36576" tIns="18288" bIns="18288"/>
                    <a:lstStyle/>
                    <a:p>
                      <a:r>
                        <a:rPr sz="540" b="1">
                          <a:solidFill>
                            <a:srgbClr val="21242A"/>
                          </a:solidFill>
                          <a:latin typeface="Microsoft YaHei"/>
                        </a:rPr>
                        <a:t>中位无进展生存期</a:t>
                      </a:r>
                    </a:p>
                  </a:txBody>
                  <a:tcPr>
                    <a:solidFill>
                      <a:srgbClr val="FFFFFF"/>
                    </a:solidFill>
                  </a:tcPr>
                </a:tc>
                <a:tc>
                  <a:txBody>
                    <a:bodyPr wrap="square" lIns="36576" rIns="36576" tIns="18288" bIns="18288"/>
                    <a:lstStyle/>
                    <a:p>
                      <a:r>
                        <a:rPr sz="540" b="0">
                          <a:solidFill>
                            <a:srgbClr val="21242A"/>
                          </a:solidFill>
                          <a:latin typeface="Microsoft YaHei"/>
                        </a:rPr>
                        <a:t>2.7个月</a:t>
                      </a:r>
                    </a:p>
                  </a:txBody>
                  <a:tcPr>
                    <a:solidFill>
                      <a:srgbClr val="FFFFFF"/>
                    </a:solidFill>
                  </a:tcPr>
                </a:tc>
              </a:tr>
              <a:tr h="214230">
                <a:tc>
                  <a:txBody>
                    <a:bodyPr wrap="square" lIns="36576" rIns="36576" tIns="18288" bIns="18288"/>
                    <a:lstStyle/>
                    <a:p>
                      <a:r>
                        <a:rPr sz="540" b="1">
                          <a:solidFill>
                            <a:srgbClr val="21242A"/>
                          </a:solidFill>
                          <a:latin typeface="Microsoft YaHei"/>
                        </a:rPr>
                        <a:t>中位总生存期</a:t>
                      </a:r>
                    </a:p>
                  </a:txBody>
                  <a:tcPr>
                    <a:solidFill>
                      <a:srgbClr val="F6F8FB"/>
                    </a:solidFill>
                  </a:tcPr>
                </a:tc>
                <a:tc>
                  <a:txBody>
                    <a:bodyPr wrap="square" lIns="36576" rIns="36576" tIns="18288" bIns="18288"/>
                    <a:lstStyle/>
                    <a:p>
                      <a:r>
                        <a:rPr sz="540" b="0">
                          <a:solidFill>
                            <a:srgbClr val="21242A"/>
                          </a:solidFill>
                          <a:latin typeface="Microsoft YaHei"/>
                        </a:rPr>
                        <a:t>5.5个月</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其余6条结果见HTML完整清单及EHA原文。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鞘内注射联合静脉注射car-t细胞治疗中枢神经系统b细胞恶性肿瘤的安全性和有效性初步研究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preliminary study on the safety and efficacy of intrathecal combined with 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PF780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B细胞急性淋巴细胞白血病，多发性骨髓瘤，弥漫性大B细胞淋巴瘤</a:t>
            </a:r>
          </a:p>
          <a:p>
            <a:pPr>
              <a:lnSpc>
                <a:spcPct val="103000"/>
              </a:lnSpc>
              <a:spcAft>
                <a:spcPts val="300"/>
              </a:spcAft>
              <a:defRPr sz="800">
                <a:solidFill>
                  <a:srgbClr val="21242A"/>
                </a:solidFill>
                <a:latin typeface="Microsoft YaHei"/>
              </a:defRPr>
            </a:pPr>
            <a:r>
              <a:t>N=8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试验药/方案：CAR-T(达博生物)</a:t>
            </a:r>
          </a:p>
          <a:p>
            <a:pPr>
              <a:lnSpc>
                <a:spcPct val="103000"/>
              </a:lnSpc>
              <a:spcAft>
                <a:spcPts val="300"/>
              </a:spcAft>
              <a:defRPr sz="800">
                <a:solidFill>
                  <a:srgbClr val="21242A"/>
                </a:solidFill>
                <a:latin typeface="Microsoft YaHei"/>
              </a:defRPr>
            </a:pPr>
            <a:r>
              <a:t>类别：CAR-T，经基因修饰</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总体客观缓解率（ORR）为100%</a:t>
            </a:r>
          </a:p>
          <a:p>
            <a:pPr>
              <a:lnSpc>
                <a:spcPct val="103000"/>
              </a:lnSpc>
              <a:spcAft>
                <a:spcPts val="300"/>
              </a:spcAft>
              <a:defRPr sz="800">
                <a:solidFill>
                  <a:srgbClr val="21242A"/>
                </a:solidFill>
                <a:latin typeface="Microsoft YaHei"/>
              </a:defRPr>
            </a:pPr>
            <a:r>
              <a:t>完全缓解（CR）5例</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人数：8</a:t>
            </a:r>
          </a:p>
          <a:p>
            <a:pPr>
              <a:lnSpc>
                <a:spcPct val="103000"/>
              </a:lnSpc>
              <a:spcAft>
                <a:spcPts val="300"/>
              </a:spcAft>
              <a:defRPr sz="810">
                <a:solidFill>
                  <a:srgbClr val="21242A"/>
                </a:solidFill>
                <a:latin typeface="Microsoft YaHei"/>
              </a:defRPr>
            </a:pPr>
            <a:r>
              <a:t>适应症：B细胞急性淋巴细胞白血病、多发性骨髓瘤、弥漫性大B细胞淋巴瘤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试验药/方案：CAR-T(达博生物)</a:t>
            </a:r>
          </a:p>
          <a:p>
            <a:pPr>
              <a:lnSpc>
                <a:spcPct val="103000"/>
              </a:lnSpc>
              <a:spcAft>
                <a:spcPts val="300"/>
              </a:spcAft>
              <a:defRPr sz="810">
                <a:solidFill>
                  <a:srgbClr val="21242A"/>
                </a:solidFill>
                <a:latin typeface="Microsoft YaHei"/>
              </a:defRPr>
            </a:pPr>
            <a:r>
              <a:t>药物/技术类别：CAR-T、经基因修饰</a:t>
            </a:r>
          </a:p>
          <a:p>
            <a:pPr>
              <a:lnSpc>
                <a:spcPct val="103000"/>
              </a:lnSpc>
              <a:spcAft>
                <a:spcPts val="300"/>
              </a:spcAft>
              <a:defRPr sz="810">
                <a:solidFill>
                  <a:srgbClr val="21242A"/>
                </a:solidFill>
                <a:latin typeface="Microsoft YaHei"/>
              </a:defRPr>
            </a:pPr>
            <a:r>
              <a:t>分组/治疗流程：所有患者接受鞘内联合静脉CAR-T治疗</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鞘内注射联合静脉注射car-t细胞治疗中枢神经系统b细胞恶性肿瘤的安全性和有效性初步研究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preliminary study on the safety and efficacy of intrathecal combined with 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PF780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背景：CAR-T细胞疗法已在复发/难治性B细胞恶性肿瘤中显示出明显的疗效，包括B细胞急性淋巴细胞白血病（B-ALL）、弥漫性大B细胞淋巴瘤（DLBCL）和多发性骨髓瘤（MM）。</a:t>
            </a:r>
          </a:p>
          <a:p>
            <a:pPr>
              <a:lnSpc>
                <a:spcPct val="103000"/>
              </a:lnSpc>
              <a:spcAft>
                <a:spcPts val="300"/>
              </a:spcAft>
              <a:defRPr sz="550">
                <a:solidFill>
                  <a:srgbClr val="21242A"/>
                </a:solidFill>
                <a:latin typeface="Microsoft YaHei"/>
              </a:defRPr>
            </a:pPr>
            <a:r>
              <a:t>CAR-T细胞可以穿透血脑屏障，对中枢神经系统（CNS）受累的患者有效。目前，CAR-T的输注主要是通过静脉注射。对鞘内和静脉 CAR-T 联合输注的安全性和有效性的评估仍然很少。 目的：评估鞘内联合静脉 CAR-T 治疗伴 CNS 受累的复发/难治性 B 细胞恶性肿瘤患者的安全性和临床疗效。</a:t>
            </a:r>
          </a:p>
          <a:p>
            <a:pPr>
              <a:lnSpc>
                <a:spcPct val="103000"/>
              </a:lnSpc>
              <a:spcAft>
                <a:spcPts val="300"/>
              </a:spcAft>
              <a:defRPr sz="550">
                <a:solidFill>
                  <a:srgbClr val="21242A"/>
                </a:solidFill>
                <a:latin typeface="Microsoft YaHei"/>
              </a:defRPr>
            </a:pPr>
            <a:r>
              <a:t>方法：本研究分析了2025年1月至2026年2月在我中心接受鞘内联合静脉CAR-T治疗的B细胞恶性肿瘤和CNS受累患者。采用流式细胞术检测脑脊液（CSF）和外周血（PB）中CAR-T细胞扩增和细胞因子水平。通过脑脊液微小残留病检测和 MRI 成像评估疗效。收集患者人口统计数据和不良事件，并随访至 2025 年 2 月 </a:t>
            </a:r>
          </a:p>
          <a:p>
            <a:pPr>
              <a:lnSpc>
                <a:spcPct val="103000"/>
              </a:lnSpc>
              <a:spcAft>
                <a:spcPts val="300"/>
              </a:spcAft>
              <a:defRPr sz="550">
                <a:solidFill>
                  <a:srgbClr val="21242A"/>
                </a:solidFill>
                <a:latin typeface="Microsoft YaHei"/>
              </a:defRPr>
            </a:pPr>
            <a:r>
              <a:t>28 日。</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鞘内结合静脉CAR-T细胞治疗能够快速清除累及CNS的B细胞恶性肿瘤，且安全性良好。这些发现表明鞘内 CAR-T 是治疗 CNS 局限性 B 细胞肿瘤的一种有前景的策略。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总体客观缓解率（ORR）为100%</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完全缓解（CR）5例</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非常好的部分缓解（VGPR）1例</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部分缓解（PR）2例</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中位随访4个月，50%复发</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其余4条结果见HTML完整清单及EHA原文。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摘要号：PF780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glofitamab联合吉西他滨和奥沙利铂（gemox）治疗复发/难治性（r/r）弥漫性大b细胞淋巴瘤（dlbcl）的...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outpatient treatment with glofitamab plus gemcitabine and oxaliplatin (gemox)...</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CRS发生率：44%（Grade1 32%，Grade2 12%，无Grade≥3）</a:t>
            </a:r>
          </a:p>
          <a:p>
            <a:pPr>
              <a:lnSpc>
                <a:spcPct val="103000"/>
              </a:lnSpc>
              <a:spcAft>
                <a:spcPts val="300"/>
              </a:spcAft>
              <a:defRPr sz="800">
                <a:solidFill>
                  <a:srgbClr val="21242A"/>
                </a:solidFill>
                <a:latin typeface="Microsoft YaHei"/>
              </a:defRPr>
            </a:pPr>
            <a:r>
              <a:t>严重CRS事件：16%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登记号：NCT06806033</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glofitamab联合吉西他滨和奥沙利铂（gemox）治疗复发/难治性（r/r）弥漫性大b细胞淋巴瘤（dlbcl）的...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outpatient treatment with glofitamab plus gemcitabine and oxaliplatin (gemox)...</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背景：在随机 3 期 STARGLO 试验 (NCT04408638) 中，在不适合自体干细胞移植 (ASCT) 的 R/R DLBCL 中，Glofitamab（一种 CD20xCD3 双特异性抗体）加上 GemOx (Glofit-GemOx) 与利妥昔单抗-GemOx 相比，在总生存期和无进展生存期方面显示出显着</a:t>
            </a:r>
          </a:p>
          <a:p>
            <a:pPr>
              <a:lnSpc>
                <a:spcPct val="103000"/>
              </a:lnSpc>
              <a:spcAft>
                <a:spcPts val="300"/>
              </a:spcAft>
              <a:defRPr sz="550">
                <a:solidFill>
                  <a:srgbClr val="21242A"/>
                </a:solidFill>
                <a:latin typeface="Microsoft YaHei"/>
              </a:defRPr>
            </a:pPr>
            <a:r>
              <a:t>改善。在 STARGLO 中使用 Glofit-GemOx 观察到的细胞因子释放综合征 (CRS) 特征允许无需强制住院即可进行治疗。实施门诊策略可以进一步提高患者便利性并优化医疗资源利用率。目的：展示正在进行的 2 期试验 (GO45434；NCT06806033) 的初步安全性结果，通过增强类固醇术前用药来评估门诊</a:t>
            </a:r>
          </a:p>
          <a:p>
            <a:pPr>
              <a:lnSpc>
                <a:spcPct val="103000"/>
              </a:lnSpc>
              <a:spcAft>
                <a:spcPts val="300"/>
              </a:spcAft>
              <a:defRPr sz="550">
                <a:solidFill>
                  <a:srgbClr val="21242A"/>
                </a:solidFill>
                <a:latin typeface="Microsoft YaHei"/>
              </a:defRPr>
            </a:pPr>
            <a:r>
              <a:t> Glofit-GemOx 治疗的 CRS 概况优化，以及针对 R/R DLBCL 治疗患者 (pts) 的修订监测方案。方法：患者患有 R/R DLBCL；既往接受过 1 种治疗 (LOT) 的患者必须不符合 ASCT 资格。</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在这项初步分析中，在 C1 中输注 Glofitamab 之前和之后一天接受额外的口服 Dex 后，在门诊环境中对接受 Glofit-GemOx 的 R/R DLBCL 患者进行监测。</a:t>
            </a:r>
          </a:p>
          <a:p>
            <a:pPr>
              <a:lnSpc>
                <a:spcPct val="103000"/>
              </a:lnSpc>
              <a:spcAft>
                <a:spcPts val="300"/>
              </a:spcAft>
              <a:defRPr sz="570">
                <a:solidFill>
                  <a:srgbClr val="21242A"/>
                </a:solidFill>
                <a:latin typeface="Microsoft YaHei"/>
              </a:defRPr>
            </a:pPr>
            <a:r>
              <a:t>CRS 事件的发生率和严重程度与 STARGLO 中报告的相似。数据令人鼓舞并支持进一步优化门诊 Glofit-GemOx 治疗。将呈现更新的数据。</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CRS发生率</a:t>
                      </a:r>
                    </a:p>
                  </a:txBody>
                  <a:tcPr>
                    <a:solidFill>
                      <a:srgbClr val="F6F8FB"/>
                    </a:solidFill>
                  </a:tcPr>
                </a:tc>
                <a:tc>
                  <a:txBody>
                    <a:bodyPr wrap="square" lIns="36576" rIns="36576" tIns="18288" bIns="18288"/>
                    <a:lstStyle/>
                    <a:p>
                      <a:r>
                        <a:rPr sz="540" b="0">
                          <a:solidFill>
                            <a:srgbClr val="21242A"/>
                          </a:solidFill>
                          <a:latin typeface="Microsoft YaHei"/>
                        </a:rPr>
                        <a:t>44%（Grade1 32%，Grade2 12%，无Grade≥3）</a:t>
                      </a:r>
                    </a:p>
                  </a:txBody>
                  <a:tcPr>
                    <a:solidFill>
                      <a:srgbClr val="F6F8FB"/>
                    </a:solidFill>
                  </a:tcPr>
                </a:tc>
              </a:tr>
              <a:tr h="214230">
                <a:tc>
                  <a:txBody>
                    <a:bodyPr wrap="square" lIns="36576" rIns="36576" tIns="18288" bIns="18288"/>
                    <a:lstStyle/>
                    <a:p>
                      <a:r>
                        <a:rPr sz="540" b="1">
                          <a:solidFill>
                            <a:srgbClr val="21242A"/>
                          </a:solidFill>
                          <a:latin typeface="Microsoft YaHei"/>
                        </a:rPr>
                        <a:t>严重CRS事件</a:t>
                      </a:r>
                    </a:p>
                  </a:txBody>
                  <a:tcPr>
                    <a:solidFill>
                      <a:srgbClr val="FFFFFF"/>
                    </a:solidFill>
                  </a:tcPr>
                </a:tc>
                <a:tc>
                  <a:txBody>
                    <a:bodyPr wrap="square" lIns="36576" rIns="36576" tIns="18288" bIns="18288"/>
                    <a:lstStyle/>
                    <a:p>
                      <a:r>
                        <a:rPr sz="540" b="0">
                          <a:solidFill>
                            <a:srgbClr val="21242A"/>
                          </a:solidFill>
                          <a:latin typeface="Microsoft YaHei"/>
                        </a:rPr>
                        <a:t>16%</a:t>
                      </a:r>
                    </a:p>
                  </a:txBody>
                  <a:tcPr>
                    <a:solidFill>
                      <a:srgbClr val="FFFFFF"/>
                    </a:solidFill>
                  </a:tcPr>
                </a:tc>
              </a:tr>
              <a:tr h="214230">
                <a:tc>
                  <a:txBody>
                    <a:bodyPr wrap="square" lIns="36576" rIns="36576" tIns="18288" bIns="18288"/>
                    <a:lstStyle/>
                    <a:p>
                      <a:r>
                        <a:rPr sz="540" b="1">
                          <a:solidFill>
                            <a:srgbClr val="21242A"/>
                          </a:solidFill>
                          <a:latin typeface="Microsoft YaHei"/>
                        </a:rPr>
                        <a:t>CRS缓解中位时间</a:t>
                      </a:r>
                    </a:p>
                  </a:txBody>
                  <a:tcPr>
                    <a:solidFill>
                      <a:srgbClr val="F6F8FB"/>
                    </a:solidFill>
                  </a:tcPr>
                </a:tc>
                <a:tc>
                  <a:txBody>
                    <a:bodyPr wrap="square" lIns="36576" rIns="36576" tIns="18288" bIns="18288"/>
                    <a:lstStyle/>
                    <a:p>
                      <a:r>
                        <a:rPr sz="540" b="0">
                          <a:solidFill>
                            <a:srgbClr val="21242A"/>
                          </a:solidFill>
                          <a:latin typeface="Microsoft YaHei"/>
                        </a:rPr>
                        <a:t>2天</a:t>
                      </a:r>
                    </a:p>
                  </a:txBody>
                  <a:tcPr>
                    <a:solidFill>
                      <a:srgbClr val="F6F8FB"/>
                    </a:solidFill>
                  </a:tcPr>
                </a:tc>
              </a:tr>
              <a:tr h="214230">
                <a:tc>
                  <a:txBody>
                    <a:bodyPr wrap="square" lIns="36576" rIns="36576" tIns="18288" bIns="18288"/>
                    <a:lstStyle/>
                    <a:p>
                      <a:r>
                        <a:rPr sz="540" b="1">
                          <a:solidFill>
                            <a:srgbClr val="21242A"/>
                          </a:solidFill>
                          <a:latin typeface="Microsoft YaHei"/>
                        </a:rPr>
                        <a:t>CRS导致治疗终止</a:t>
                      </a:r>
                    </a:p>
                  </a:txBody>
                  <a:tcPr>
                    <a:solidFill>
                      <a:srgbClr val="FFFFFF"/>
                    </a:solidFill>
                  </a:tcPr>
                </a:tc>
                <a:tc>
                  <a:txBody>
                    <a:bodyPr wrap="square" lIns="36576" rIns="36576" tIns="18288" bIns="18288"/>
                    <a:lstStyle/>
                    <a:p>
                      <a:r>
                        <a:rPr sz="540" b="0">
                          <a:solidFill>
                            <a:srgbClr val="21242A"/>
                          </a:solidFill>
                          <a:latin typeface="Microsoft YaHei"/>
                        </a:rPr>
                        <a:t>0</a:t>
                      </a:r>
                    </a:p>
                  </a:txBody>
                  <a:tcPr>
                    <a:solidFill>
                      <a:srgbClr val="FFFFFF"/>
                    </a:solidFill>
                  </a:tcPr>
                </a:tc>
              </a:tr>
              <a:tr h="214230">
                <a:tc>
                  <a:txBody>
                    <a:bodyPr wrap="square" lIns="36576" rIns="36576" tIns="18288" bIns="18288"/>
                    <a:lstStyle/>
                    <a:p>
                      <a:r>
                        <a:rPr sz="540" b="1">
                          <a:solidFill>
                            <a:srgbClr val="21242A"/>
                          </a:solidFill>
                          <a:latin typeface="Microsoft YaHei"/>
                        </a:rPr>
                        <a:t>最常见的3/4级AE</a:t>
                      </a:r>
                    </a:p>
                  </a:txBody>
                  <a:tcPr>
                    <a:solidFill>
                      <a:srgbClr val="F6F8FB"/>
                    </a:solidFill>
                  </a:tcPr>
                </a:tc>
                <a:tc>
                  <a:txBody>
                    <a:bodyPr wrap="square" lIns="36576" rIns="36576" tIns="18288" bIns="18288"/>
                    <a:lstStyle/>
                    <a:p>
                      <a:r>
                        <a:rPr sz="540" b="0">
                          <a:solidFill>
                            <a:srgbClr val="21242A"/>
                          </a:solidFill>
                          <a:latin typeface="Microsoft YaHei"/>
                        </a:rPr>
                        <a:t>贫血24%，中性粒细胞减少20%，发热性中性粒细胞减少12%，血小板减少12%</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支持抗肿瘤t细胞免疫和cd4的肿瘤微环境原型⁺ 弥漫性大b细胞淋巴瘤中t细胞细胞毒性分化支持对glofitamab的反应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tumour microenvironment archetypes that support anti-tumour t-cell immunity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治疗线数/场景：一线</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应答者肿瘤微环境显示IFNγ和IL-2-STAT5信号最佳</a:t>
            </a:r>
          </a:p>
          <a:p>
            <a:pPr>
              <a:lnSpc>
                <a:spcPct val="103000"/>
              </a:lnSpc>
              <a:spcAft>
                <a:spcPts val="300"/>
              </a:spcAft>
              <a:defRPr sz="800">
                <a:solidFill>
                  <a:srgbClr val="21242A"/>
                </a:solidFill>
                <a:latin typeface="Microsoft YaHei"/>
              </a:defRPr>
            </a:pPr>
            <a:r>
              <a:t>应答者肿瘤微环境富含CD4/CD8 T细胞-肿瘤互作</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人数：未提取</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登记号：NCT04914741</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支持抗肿瘤t细胞免疫和cd4的肿瘤微环境原型⁺ 弥漫性大b细胞淋巴瘤中t细胞细胞毒性分化支持对glofitamab的反应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tumour microenvironment archetypes that support anti-tumour t-cell immunity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背景：Glofitamab，CD20×CD3 T 细胞接合剂 (TCE)，可重定向 T 细胞以杀死肿瘤细胞。我们发现，格洛菲他单抗与标准一线 (1L) 化疗 (RCHOP/Pola-R-CHP) 相结合治疗 DLBCL 产生了历史上最高的完全缓解率，并且在超高负担人群中保持持久[COALITION 研究 (NCT049</a:t>
            </a:r>
          </a:p>
          <a:p>
            <a:pPr>
              <a:lnSpc>
                <a:spcPct val="103000"/>
              </a:lnSpc>
              <a:spcAft>
                <a:spcPts val="300"/>
              </a:spcAft>
              <a:defRPr sz="550">
                <a:solidFill>
                  <a:srgbClr val="21242A"/>
                </a:solidFill>
                <a:latin typeface="Microsoft YaHei"/>
              </a:defRPr>
            </a:pPr>
            <a:r>
              <a:t>14741/Minson 等人，JCO-2025)]。尽管总体治疗取得了成功，但一些患者复发或难治（10%）。了解耐药性背后的机制将为正在进行的 1L TCE 发展提供信息，该耐药性可能源于肿瘤内在、微环境 (TME) 因素或 T 细胞内在功能障碍。</a:t>
            </a:r>
          </a:p>
          <a:p>
            <a:pPr>
              <a:lnSpc>
                <a:spcPct val="103000"/>
              </a:lnSpc>
              <a:spcAft>
                <a:spcPts val="300"/>
              </a:spcAft>
              <a:defRPr sz="550">
                <a:solidFill>
                  <a:srgbClr val="21242A"/>
                </a:solidFill>
                <a:latin typeface="Microsoft YaHei"/>
              </a:defRPr>
            </a:pPr>
            <a:r>
              <a:t>目的：阐明限制一线 DLBCL 中格洛菲他单抗治疗反应的 TME 和 T 细胞内在机制。</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总体而言，我们的结果表明，支持高效 T 细胞与肿瘤细胞接触以及 CD4-CTL 分化的治疗前 TME 是对格洛菲他玛的成功反应的基础。我们还发现 CD20 的下调以及粘附分子和共刺激途径是潜在的免疫逃逸机制。 \n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1. 应答者肿瘤微环境显示IFNγ和IL-2-STAT5信号最佳；</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2. 应答者肿瘤微环境富含CD4/CD8 T细胞-肿瘤互作；</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3. T细胞在glofitamab治疗后显著扩增；</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4. CD4 T细胞获得细胞毒性功能并杀伤肿瘤细胞；</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5. 非应答者基线时MHCII、CD2、ICOS和CD6下调。</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摘要号：S244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纵向患者报告结果强调，在一线ii期r-pola-glo试验中治疗的r-chop阴性侵袭性b细胞淋巴瘤患者的生活质量得到...</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longitudinal patient-reported outcomes highlight improved quality of life for...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PS2504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N=80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全球健康状况（QLQ-C30 GHS）：治疗期间改善+10.7分，具有临床意义</a:t>
            </a:r>
          </a:p>
          <a:p>
            <a:pPr>
              <a:lnSpc>
                <a:spcPct val="103000"/>
              </a:lnSpc>
              <a:spcAft>
                <a:spcPts val="300"/>
              </a:spcAft>
              <a:defRPr sz="800">
                <a:solidFill>
                  <a:srgbClr val="21242A"/>
                </a:solidFill>
                <a:latin typeface="Microsoft YaHei"/>
              </a:defRPr>
            </a:pPr>
            <a:r>
              <a:t>44%患者在C4时改善≥10分</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人数：80</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登记号：NCT05798156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试验药/方案：维泊妥珠单抗、格菲妥单抗、利妥昔单抗</a:t>
            </a:r>
          </a:p>
          <a:p>
            <a:pPr>
              <a:lnSpc>
                <a:spcPct val="103000"/>
              </a:lnSpc>
              <a:spcAft>
                <a:spcPts val="300"/>
              </a:spcAft>
              <a:defRPr sz="810">
                <a:solidFill>
                  <a:srgbClr val="21242A"/>
                </a:solidFill>
                <a:latin typeface="Microsoft YaHei"/>
              </a:defRPr>
            </a:pPr>
            <a:r>
              <a:t>靶点：CD79B、CD20、CD3</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纵向患者报告结果强调，在一线ii期r-pola-glo试验中治疗的r-chop阴性侵袭性b细胞淋巴瘤患者的生活质量得到...</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longitudinal patient-reported outcomes highlight improved quality of life for...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PS2504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主要影响老年人，其中许多人体弱且不适合标准 R-CHOP。虽然 R-CHOP 在健康患者中实现了较高的治愈率，但老年、虚弱和身体状况不佳的患者通常需要疗效较差的减毒方案。这一未满足的需求促使 R-Pola-Glo 试验的开发，该试验整合了利妥昔单抗 (R)、polatuz</a:t>
            </a:r>
          </a:p>
          <a:p>
            <a:pPr>
              <a:lnSpc>
                <a:spcPct val="103000"/>
              </a:lnSpc>
              <a:spcAft>
                <a:spcPts val="300"/>
              </a:spcAft>
              <a:defRPr sz="550">
                <a:solidFill>
                  <a:srgbClr val="21242A"/>
                </a:solidFill>
                <a:latin typeface="Microsoft YaHei"/>
              </a:defRPr>
            </a:pPr>
            <a:r>
              <a:t>umab vedotin (Pola) 和 CD20×CD3 双特异性抗体 glofitamab (Glo)。</a:t>
            </a:r>
          </a:p>
          <a:p>
            <a:pPr>
              <a:lnSpc>
                <a:spcPct val="103000"/>
              </a:lnSpc>
              <a:spcAft>
                <a:spcPts val="300"/>
              </a:spcAft>
              <a:defRPr sz="550">
                <a:solidFill>
                  <a:srgbClr val="21242A"/>
                </a:solidFill>
                <a:latin typeface="Microsoft YaHei"/>
              </a:defRPr>
            </a:pPr>
            <a:r>
              <a:t>R-Pola-Glo II 期试验实现了较高的总体和完全代谢缓解率（治疗结束时 [EOT] 为 90% 和 81%），1 年无进展生存率和总体生存率分别为 85% 和 90%。除了疗效之外，保持健康相关的生活质量 (HRQoL) 也至关重要，患者报告的结果 (PRO) 提供了补充见解。目的：评估入组初始 II 期队列 </a:t>
            </a:r>
          </a:p>
          <a:p>
            <a:pPr>
              <a:lnSpc>
                <a:spcPct val="103000"/>
              </a:lnSpc>
              <a:spcAft>
                <a:spcPts val="300"/>
              </a:spcAft>
              <a:defRPr sz="550">
                <a:solidFill>
                  <a:srgbClr val="21242A"/>
                </a:solidFill>
                <a:latin typeface="Microsoft YaHei"/>
              </a:defRPr>
            </a:pPr>
            <a:r>
              <a:t>(n=80) 的不符合 R-CHOP 条件的 DLBCL 患者在一线 R-Pola-Glo 治疗期间的纵向 HRQoL。方法：纵向评估 PRO（基线；第 1 天周期 (C) 2、4、6、8、10、12、EOT 和 3 个月随访）。</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在这个虚弱的高风险人群中，R-Pola-Glo 在 HRQoL 方面表现出保留的或有临床意义的改善，同时也实现了高疾病控制。整体和情绪功能得到改善，身体功能得到维持，淋巴瘤相关症状得到早期和持久的改善。这些研究结果支持了患者报告的 R-Pola-Glo 作为一种针对选择有限的患者的轻化疗、基于免疫的一线策略的耐受性。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全球健康状况（QLQ-C30 GHS）</a:t>
                      </a:r>
                    </a:p>
                  </a:txBody>
                  <a:tcPr>
                    <a:solidFill>
                      <a:srgbClr val="F6F8FB"/>
                    </a:solidFill>
                  </a:tcPr>
                </a:tc>
                <a:tc>
                  <a:txBody>
                    <a:bodyPr wrap="square" lIns="36576" rIns="36576" tIns="18288" bIns="18288"/>
                    <a:lstStyle/>
                    <a:p>
                      <a:r>
                        <a:rPr sz="540" b="0">
                          <a:solidFill>
                            <a:srgbClr val="21242A"/>
                          </a:solidFill>
                          <a:latin typeface="Microsoft YaHei"/>
                        </a:rPr>
                        <a:t>治疗期间改善+10.7分，具有临床意义；44%患者在C4时改善≥10分</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至EOT和随访时仍高于基线</a:t>
                      </a:r>
                    </a:p>
                  </a:txBody>
                  <a:tcPr>
                    <a:solidFill>
                      <a:srgbClr val="FFFFFF"/>
                    </a:solidFill>
                  </a:tcPr>
                </a:tc>
              </a:tr>
              <a:tr h="214230">
                <a:tc>
                  <a:txBody>
                    <a:bodyPr wrap="square" lIns="36576" rIns="36576" tIns="18288" bIns="18288"/>
                    <a:lstStyle/>
                    <a:p>
                      <a:r>
                        <a:rPr sz="540" b="1">
                          <a:solidFill>
                            <a:srgbClr val="21242A"/>
                          </a:solidFill>
                          <a:latin typeface="Microsoft YaHei"/>
                        </a:rPr>
                        <a:t>身体功能</a:t>
                      </a:r>
                    </a:p>
                  </a:txBody>
                  <a:tcPr>
                    <a:solidFill>
                      <a:srgbClr val="F6F8FB"/>
                    </a:solidFill>
                  </a:tcPr>
                </a:tc>
                <a:tc>
                  <a:txBody>
                    <a:bodyPr wrap="square" lIns="36576" rIns="36576" tIns="18288" bIns="18288"/>
                    <a:lstStyle/>
                    <a:p>
                      <a:r>
                        <a:rPr sz="540" b="0">
                          <a:solidFill>
                            <a:srgbClr val="21242A"/>
                          </a:solidFill>
                          <a:latin typeface="Microsoft YaHei"/>
                        </a:rPr>
                        <a:t>维持治疗前水平</a:t>
                      </a:r>
                    </a:p>
                  </a:txBody>
                  <a:tcPr>
                    <a:solidFill>
                      <a:srgbClr val="F6F8FB"/>
                    </a:solidFill>
                  </a:tcPr>
                </a:tc>
              </a:tr>
              <a:tr h="214230">
                <a:tc>
                  <a:txBody>
                    <a:bodyPr wrap="square" lIns="36576" rIns="36576" tIns="18288" bIns="18288"/>
                    <a:lstStyle/>
                    <a:p>
                      <a:r>
                        <a:rPr sz="540" b="1">
                          <a:solidFill>
                            <a:srgbClr val="21242A"/>
                          </a:solidFill>
                          <a:latin typeface="Microsoft YaHei"/>
                        </a:rPr>
                        <a:t>疲劳</a:t>
                      </a:r>
                    </a:p>
                  </a:txBody>
                  <a:tcPr>
                    <a:solidFill>
                      <a:srgbClr val="FFFFFF"/>
                    </a:solidFill>
                  </a:tcPr>
                </a:tc>
                <a:tc>
                  <a:txBody>
                    <a:bodyPr wrap="square" lIns="36576" rIns="36576" tIns="18288" bIns="18288"/>
                    <a:lstStyle/>
                    <a:p>
                      <a:r>
                        <a:rPr sz="540" b="0">
                          <a:solidFill>
                            <a:srgbClr val="21242A"/>
                          </a:solidFill>
                          <a:latin typeface="Microsoft YaHei"/>
                        </a:rPr>
                        <a:t>未增加负担</a:t>
                      </a:r>
                    </a:p>
                  </a:txBody>
                  <a:tcPr>
                    <a:solidFill>
                      <a:srgbClr val="FFFFFF"/>
                    </a:solidFill>
                  </a:tcPr>
                </a:tc>
              </a:tr>
              <a:tr h="214230">
                <a:tc>
                  <a:txBody>
                    <a:bodyPr wrap="square" lIns="36576" rIns="36576" tIns="18288" bIns="18288"/>
                    <a:lstStyle/>
                    <a:p>
                      <a:r>
                        <a:rPr sz="540" b="1">
                          <a:solidFill>
                            <a:srgbClr val="21242A"/>
                          </a:solidFill>
                          <a:latin typeface="Microsoft YaHei"/>
                        </a:rPr>
                        <a:t>情绪功能</a:t>
                      </a:r>
                    </a:p>
                  </a:txBody>
                  <a:tcPr>
                    <a:solidFill>
                      <a:srgbClr val="F6F8FB"/>
                    </a:solidFill>
                  </a:tcPr>
                </a:tc>
                <a:tc>
                  <a:txBody>
                    <a:bodyPr wrap="square" lIns="36576" rIns="36576" tIns="18288" bIns="18288"/>
                    <a:lstStyle/>
                    <a:p>
                      <a:r>
                        <a:rPr sz="540" b="0">
                          <a:solidFill>
                            <a:srgbClr val="21242A"/>
                          </a:solidFill>
                          <a:latin typeface="Microsoft YaHei"/>
                        </a:rPr>
                        <a:t>持续改善</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摘要号：PS2504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glofitamab治疗复发/难治性大b细胞淋巴瘤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glofitamab in relapsed/refractory large b-cell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N=114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最佳客观缓解率（ORR）80%</a:t>
            </a:r>
          </a:p>
          <a:p>
            <a:pPr>
              <a:lnSpc>
                <a:spcPct val="103000"/>
              </a:lnSpc>
              <a:spcAft>
                <a:spcPts val="300"/>
              </a:spcAft>
              <a:defRPr sz="800">
                <a:solidFill>
                  <a:srgbClr val="21242A"/>
                </a:solidFill>
                <a:latin typeface="Microsoft YaHei"/>
              </a:defRPr>
            </a:pPr>
            <a:r>
              <a:t>完全缓解（CR）率42%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人数：114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glofitamab治疗复发/难治性大b细胞淋巴瘤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glofitamab in relapsed/refractory large b-cell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29/187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背景：Glofitamab 是一种 CD20×CD3 双特异性抗体，已在复发/难治性 (R/R) 大 B 细胞淋巴瘤 (LBCL) 中表现出令人鼓舞的疗效。我们进行了前瞻性单中心分析，以评估常规实践中的临床结果和探索性生物标志物。</a:t>
            </a:r>
          </a:p>
          <a:p>
            <a:pPr>
              <a:lnSpc>
                <a:spcPct val="103000"/>
              </a:lnSpc>
              <a:spcAft>
                <a:spcPts val="300"/>
              </a:spcAft>
              <a:defRPr sz="550">
                <a:solidFill>
                  <a:srgbClr val="21242A"/>
                </a:solidFill>
                <a:latin typeface="Microsoft YaHei"/>
              </a:defRPr>
            </a:pPr>
            <a:r>
              <a:t>目的：评估 glofitamab 在高风险 R/R LBCL 队列中的临床结果，并探索与治疗反应相关的早期循环肿瘤 DNA (ctDNA) 动态和免疫微环境特征。</a:t>
            </a:r>
          </a:p>
          <a:p>
            <a:pPr>
              <a:lnSpc>
                <a:spcPct val="103000"/>
              </a:lnSpc>
              <a:spcAft>
                <a:spcPts val="300"/>
              </a:spcAft>
              <a:defRPr sz="550">
                <a:solidFill>
                  <a:srgbClr val="21242A"/>
                </a:solidFill>
                <a:latin typeface="Microsoft YaHei"/>
              </a:defRPr>
            </a:pPr>
            <a:r>
              <a:t>方法：在基线和第 2 个周期第 1 天 (C2D1) 时，使用 152 基因 DLBCL 检测组对 48 名患者进行肿瘤相关 ctDNA 分析。计算基线和 C2D1 之间的对数倍数变化 (LFC)。使用 TIMER、CIBERSORT 和 xCell 对复发或进展时获得的肿瘤活检 (n=57) 进行批量 RNA 测序，</a:t>
            </a:r>
          </a:p>
          <a:p>
            <a:pPr>
              <a:lnSpc>
                <a:spcPct val="103000"/>
              </a:lnSpc>
              <a:spcAft>
                <a:spcPts val="300"/>
              </a:spcAft>
              <a:defRPr sz="550">
                <a:solidFill>
                  <a:srgbClr val="21242A"/>
                </a:solidFill>
                <a:latin typeface="Microsoft YaHei"/>
              </a:defRPr>
            </a:pPr>
            <a:r>
              <a:t>以评估免疫浸润模式。</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在这个高风险 R/R LBCL 队列中，包括临床试验中代表性不足的患者，格洛菲他单抗实现了有意义的缓解率和可控的毒性。一个治疗周期后早期 ctDNA 减少与无进展生存期改善相关。免疫分析进一步表明发炎的肿瘤微环境可能是双特异性抗体治疗敏感性的基础。总之，这些发现扩大了格洛菲他玛的临床适用性，并支持在未来的治疗策略中整合</a:t>
            </a:r>
          </a:p>
          <a:p>
            <a:pPr>
              <a:lnSpc>
                <a:spcPct val="103000"/>
              </a:lnSpc>
              <a:spcAft>
                <a:spcPts val="300"/>
              </a:spcAft>
              <a:defRPr sz="570">
                <a:solidFill>
                  <a:srgbClr val="21242A"/>
                </a:solidFill>
                <a:latin typeface="Microsoft YaHei"/>
              </a:defRPr>
            </a:pPr>
            <a:r>
              <a:t>早期分子监测和生物分层。</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最佳客观缓解率（ORR）80%</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完全缓解（CR）率42%</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早期（第2或3周期）ORR 78%</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中位既往治疗线数3线（范围2-9）</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细胞因子释放综合征（CRS）发生率43.2%（≥3级2.7%），主要发生在第1周期（任何级别35.1%，≥3级1.4%），第5周期后仅1例1级事件，无5级事件</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glofitamab、polatuzumab vedotin和zanubrutinib在未经治疗的老年dlbcl患者中...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2 trial of glofitamab, polatuzumab vedotin and zanubrutinib in untreate...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安全性：10例患者均完成28天安全导入期观察</a:t>
            </a:r>
          </a:p>
          <a:p>
            <a:pPr>
              <a:lnSpc>
                <a:spcPct val="103000"/>
              </a:lnSpc>
              <a:spcAft>
                <a:spcPts val="300"/>
              </a:spcAft>
              <a:defRPr sz="800">
                <a:solidFill>
                  <a:srgbClr val="21242A"/>
                </a:solidFill>
                <a:latin typeface="Microsoft YaHei"/>
              </a:defRPr>
            </a:pPr>
            <a:r>
              <a:t>90%发生1-2级CRS</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登记号：NCT07012980</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试验药/方案：维泊妥珠单抗、格菲妥单抗、泽布替尼</a:t>
            </a:r>
          </a:p>
          <a:p>
            <a:pPr>
              <a:lnSpc>
                <a:spcPct val="103000"/>
              </a:lnSpc>
              <a:spcAft>
                <a:spcPts val="300"/>
              </a:spcAft>
              <a:defRPr sz="810">
                <a:solidFill>
                  <a:srgbClr val="21242A"/>
                </a:solidFill>
                <a:latin typeface="Microsoft YaHei"/>
              </a:defRPr>
            </a:pPr>
            <a:r>
              <a:t>靶点：CD79B、CD20、CD3、BTK</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glofitamab、polatuzumab vedotin和zanubrutinib在未经治疗的老年dlbcl患者中...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2 trial of glofitamab, polatuzumab vedotin and zanubrutinib in untreate...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背景：R-miniCHOP 是当前老年弥漫性大 B 细胞淋巴瘤 (DLBCL) 的护理标准，然而，治疗相关的毒性仍然具有挑战性。老年患者对有效且安全的一线治疗方案的需求尚未得到满足。目前正在积极研究 Glofitamab 与标准免疫化疗联合治疗一线成人 DLBCL 的情况，并表现出较高的缓解率。因此，我们设计并启动了一</a:t>
            </a:r>
          </a:p>
          <a:p>
            <a:pPr>
              <a:lnSpc>
                <a:spcPct val="103000"/>
              </a:lnSpc>
              <a:spcAft>
                <a:spcPts val="300"/>
              </a:spcAft>
              <a:defRPr sz="550">
                <a:solidFill>
                  <a:srgbClr val="21242A"/>
                </a:solidFill>
                <a:latin typeface="Microsoft YaHei"/>
              </a:defRPr>
            </a:pPr>
            <a:r>
              <a:t>项前瞻性 2 期临床试验 (NCT07012980)，以研究 glofitamab、polatuzumab vedotin 和 zanubrutinib 在未经治疗的老年 DLBCL 患者中的疗效和安全性。目的：在本试验中，我们旨在研究 glofitamab、polatuzumab vedotin 和 zanubrut</a:t>
            </a:r>
          </a:p>
          <a:p>
            <a:pPr>
              <a:lnSpc>
                <a:spcPct val="103000"/>
              </a:lnSpc>
              <a:spcAft>
                <a:spcPts val="300"/>
              </a:spcAft>
              <a:defRPr sz="550">
                <a:solidFill>
                  <a:srgbClr val="21242A"/>
                </a:solidFill>
                <a:latin typeface="Microsoft YaHei"/>
              </a:defRPr>
            </a:pPr>
            <a:r>
              <a:t>inib 在未经治疗的老年 DLBCL 患者中的安全性和有效性。在这里，我们展示安全磨合的结果。方法：70岁以上未经治疗的DLBCL患者纳入本研究。排除中枢神经系统受累。所有患者将在第一个周期前 7 天接受 zanubrutinib 导入治疗。二十一天为一个周期。该方案由 12 个周期组成，分为三个阶段。在所有 12 </a:t>
            </a:r>
          </a:p>
          <a:p>
            <a:pPr>
              <a:lnSpc>
                <a:spcPct val="103000"/>
              </a:lnSpc>
              <a:spcAft>
                <a:spcPts val="300"/>
              </a:spcAft>
              <a:defRPr sz="550">
                <a:solidFill>
                  <a:srgbClr val="21242A"/>
                </a:solidFill>
                <a:latin typeface="Microsoft YaHei"/>
              </a:defRPr>
            </a:pPr>
            <a:r>
              <a:t>个周期中，从第 1 天到第 21 天，每天两次口服 zanubrutinib（160 毫克）。对于第 1 周期，即准备阶段（完整内容见HTML/EHA原文）</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一般来说，格洛菲他玛、polatuzumab vedotin 和 zanubrutinib 的组合对于未经治疗的老年 DLBCL 患者被认为是可耐受的。审判仍在进行中，后续将进一步更新。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安全性：10例患者均完成28天安全导入期观察；90%发生1-2级CRS；1例（10%）基线有小肠受累的患者出现3级下消化道出血和4级肿瘤溶解综合征，该患者停药；20%发生2级肺部感染，10%发生3级肺部感染；无肿瘤耀斑发生。</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大b细胞淋巴瘤双特异性抗体治疗前最佳绝对淋巴细胞计数的确定：美国双特异性联盟（cubic）的一项合作研究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identification of an optimal absolute lymphocyte count before bispecific anti...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N=317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多组/多方案比较：组别1：低ALC组（ALC &lt; 0.25×10³/µL）</a:t>
            </a:r>
          </a:p>
          <a:p>
            <a:pPr>
              <a:lnSpc>
                <a:spcPct val="103000"/>
              </a:lnSpc>
              <a:spcAft>
                <a:spcPts val="300"/>
              </a:spcAft>
              <a:defRPr sz="800">
                <a:solidFill>
                  <a:srgbClr val="21242A"/>
                </a:solidFill>
                <a:latin typeface="Microsoft YaHei"/>
              </a:defRPr>
            </a:pPr>
            <a:r>
              <a:t>组别2：高ALC组（ALC ≥ 0.25×10³/µL）</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总人群（317例）中：ORR 51%，CR 34%，中位PFS 3.9个月。</a:t>
            </a:r>
          </a:p>
          <a:p>
            <a:pPr>
              <a:lnSpc>
                <a:spcPct val="103000"/>
              </a:lnSpc>
              <a:spcAft>
                <a:spcPts val="300"/>
              </a:spcAft>
              <a:defRPr sz="800">
                <a:solidFill>
                  <a:srgbClr val="21242A"/>
                </a:solidFill>
                <a:latin typeface="Microsoft YaHei"/>
              </a:defRPr>
            </a:pPr>
            <a:r>
              <a:t>低ALC组（57例）vs 高ALC组（260例）：ORR 37% vs 52%（p=0.05）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人数：317</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大b细胞淋巴瘤双特异性抗体治疗前最佳绝对淋巴细胞计数的确定：美国双特异性联盟（cubic）的一项合作研究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identification of an optimal absolute lymphocyte count before bispecific anti...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背景：CD3xCD20 双特异性抗体 (BsAb) 被批准用于治疗复发/难治性 (R/R) 大 B 细胞淋巴瘤 (LBCL) 的三线或后续治疗，利用 CD3+ T 细胞靶向表达 CD20 的肿瘤细胞。因此，内源性 T 细胞的数量和功能损伤可能会影响其抗淋巴瘤功效。目的：我们假设治疗前绝对淋巴细胞计数 (ALC) 与接受</a:t>
            </a:r>
          </a:p>
          <a:p>
            <a:pPr>
              <a:lnSpc>
                <a:spcPct val="103000"/>
              </a:lnSpc>
              <a:spcAft>
                <a:spcPts val="300"/>
              </a:spcAft>
              <a:defRPr sz="550">
                <a:solidFill>
                  <a:srgbClr val="21242A"/>
                </a:solidFill>
                <a:latin typeface="Microsoft YaHei"/>
              </a:defRPr>
            </a:pPr>
            <a:r>
              <a:t> BsAb 治疗 R/R LBCL 的患者的临床结果相关，并旨在确定与优异的无进展生存期 (PFS) 相关的 ALC 阈值。方法：我们对 2023 年 1 月至 2025 年 7 月期间在美国双特异性联盟 (CUBIC) 的 10 个美国癌症中心接受商品化格洛菲他单抗 (glofit) 或 epcoritamab (e</a:t>
            </a:r>
          </a:p>
          <a:p>
            <a:pPr>
              <a:lnSpc>
                <a:spcPct val="103000"/>
              </a:lnSpc>
              <a:spcAft>
                <a:spcPts val="300"/>
              </a:spcAft>
              <a:defRPr sz="550">
                <a:solidFill>
                  <a:srgbClr val="21242A"/>
                </a:solidFill>
                <a:latin typeface="Microsoft YaHei"/>
              </a:defRPr>
            </a:pPr>
            <a:r>
              <a:t>pco) 的 R/R LBCL 成年患者进行了多中心回顾性研究。在 BsAb 启动之前收集基线特征，包括 ALC。细胞因子释放综合征（CRS）和免疫效应细胞相关神经毒性综合征（ICANS）按照 ASTCT 共识分级进行分级。根据 Lugano 2014 标准评估治疗反应和生存率。数据集被随机分为训练数据集（60%）和验</a:t>
            </a:r>
          </a:p>
          <a:p>
            <a:pPr>
              <a:lnSpc>
                <a:spcPct val="103000"/>
              </a:lnSpc>
              <a:spcAft>
                <a:spcPts val="300"/>
              </a:spcAft>
              <a:defRPr sz="550">
                <a:solidFill>
                  <a:srgbClr val="21242A"/>
                </a:solidFill>
                <a:latin typeface="Microsoft YaHei"/>
              </a:defRPr>
            </a:pPr>
            <a:r>
              <a:t>证数据集（40%）。使用最大选择的排名统计数据在训练数据集中确定了 PFS 的最佳 ALC 截止值，并使用带有引导重采样的单变量 Cox 回归进行了验证。</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0.25×10³/μL 的最佳 ALC 阈值可以识别 R/R LBCL 患者，这些患者可能会经历 BsAb 更深的反应和更长的 PFS。旨在研究临床相关 T 细胞亚群的生物学分析以及对这些发现的前瞻性验证是必要的。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结果：分析中共有 317 名患者：165 名患者（52%）接受了 glofit，152 名患者（48%）接受了 epco。开始使用 BsAb 时，中位年龄为 70 岁（范围，22-93），13% 患有双重打击 LBCL，69% 的国际预后指数评分≥3，既往治疗线 (LOT) 中位为 3（范围，1-9），中位 </a:t>
            </a:r>
          </a:p>
          <a:p>
            <a:pPr>
              <a:lnSpc>
                <a:spcPct val="103000"/>
              </a:lnSpc>
              <a:spcAft>
                <a:spcPts val="300"/>
              </a:spcAft>
              <a:defRPr sz="560">
                <a:solidFill>
                  <a:srgbClr val="21242A"/>
                </a:solidFill>
                <a:latin typeface="Microsoft YaHei"/>
              </a:defRPr>
            </a:pPr>
            <a:r>
              <a:t>ALC 为 0.6×10³/μL（IQR，0.3-1.0；范围， 0-39.1×10³/μL）。任何级别的 CRS 和 ICANS 分别发生在 112 名 (36%) 和 37 名 (12%) 患者中，其中 13 名 (4%) 名和 6 名 (2%) 名患者发生≥3 级。总缓解率 (ORR) 和完全缓解率 (</a:t>
            </a:r>
          </a:p>
          <a:p>
            <a:pPr>
              <a:lnSpc>
                <a:spcPct val="103000"/>
              </a:lnSpc>
              <a:spcAft>
                <a:spcPts val="300"/>
              </a:spcAft>
              <a:defRPr sz="560">
                <a:solidFill>
                  <a:srgbClr val="21242A"/>
                </a:solidFill>
                <a:latin typeface="Microsoft YaHei"/>
              </a:defRPr>
            </a:pPr>
            <a:r>
              <a:t>CR) 分别为 51% 和 34%。中位随访 12.1 个月后，中位 PFS 为 3.9 个月。训练数据集中的最佳 ALC 阈值为 0.25×10³/μL。在整个队列中，260 名患者 (82%) 具有高 ALC。与低治疗前 ALC 相比（</a:t>
            </a:r>
          </a:p>
          <a:p>
            <a:pPr>
              <a:lnSpc>
                <a:spcPct val="103000"/>
              </a:lnSpc>
              <a:spcAft>
                <a:spcPts val="300"/>
              </a:spcAft>
              <a:defRPr sz="560">
                <a:solidFill>
                  <a:srgbClr val="21242A"/>
                </a:solidFill>
                <a:latin typeface="Microsoft YaHei"/>
              </a:defRPr>
            </a:pPr>
            <a:r>
              <a:t>结论：0.25×10³/μL 的最佳 ALC 阈值可以识别 R/R LBCL 患者，这些患者可能会对 BsAb 产生更深的反应和更长的 PFS。旨在研究临床相关 T 细胞亚群的生物学分析以及对这些发现的前瞻性验证是必要的。</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固定持续时间epcoritamab单一疗法诱导老年新诊断大b细胞淋巴瘤及其合并症患者的高反应率和mrd阴性率：epco...</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fixed-duration epcoritamab monotherapy induces high response and mrd-negativi...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N=66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ORR: 73%</a:t>
            </a:r>
          </a:p>
          <a:p>
            <a:pPr>
              <a:lnSpc>
                <a:spcPct val="103000"/>
              </a:lnSpc>
              <a:spcAft>
                <a:spcPts val="300"/>
              </a:spcAft>
              <a:defRPr sz="800">
                <a:solidFill>
                  <a:srgbClr val="21242A"/>
                </a:solidFill>
                <a:latin typeface="Microsoft YaHei"/>
              </a:defRPr>
            </a:pPr>
            <a:r>
              <a:t>CR: 63%</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人数：66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登记号：NCT05660967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固定持续时间epcoritamab单一疗法诱导老年新诊断大b细胞淋巴瘤及其合并症患者的高反应率和mrd阴性率：epco...</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fixed-duration epcoritamab monotherapy induces high response and mrd-negativi...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背景：新诊断的 LBCL 患者中的一部分 (1L) 由于年龄或合并症而没有资格接受治疗性化疗。</a:t>
            </a:r>
          </a:p>
          <a:p>
            <a:pPr>
              <a:lnSpc>
                <a:spcPct val="103000"/>
              </a:lnSpc>
              <a:spcAft>
                <a:spcPts val="300"/>
              </a:spcAft>
              <a:defRPr sz="550">
                <a:solidFill>
                  <a:srgbClr val="21242A"/>
                </a:solidFill>
                <a:latin typeface="Microsoft YaHei"/>
              </a:defRPr>
            </a:pPr>
            <a:r>
              <a:t>EPCORE ® DLBCL-3 (NCT05660967) 是一项 2 期试验，旨在评估固定期限 epcoritamab (epcor)（一种 CD3×CD20 双特异性抗体）在患有 1L LBCL 和合并症的老年患者中的有效性和安全性。</a:t>
            </a:r>
          </a:p>
          <a:p>
            <a:pPr>
              <a:lnSpc>
                <a:spcPct val="103000"/>
              </a:lnSpc>
              <a:spcAft>
                <a:spcPts val="300"/>
              </a:spcAft>
              <a:defRPr sz="550">
                <a:solidFill>
                  <a:srgbClr val="21242A"/>
                </a:solidFill>
                <a:latin typeface="Microsoft YaHei"/>
              </a:defRPr>
            </a:pPr>
            <a:r>
              <a:t>目的：报告 EPCORE DLBCL-3 随访 22 个月后固定期限 epcor 单药疗法的疗效和安全性。</a:t>
            </a:r>
          </a:p>
          <a:p>
            <a:pPr>
              <a:lnSpc>
                <a:spcPct val="103000"/>
              </a:lnSpc>
              <a:spcAft>
                <a:spcPts val="300"/>
              </a:spcAft>
              <a:defRPr sz="550">
                <a:solidFill>
                  <a:srgbClr val="21242A"/>
                </a:solidFill>
                <a:latin typeface="Microsoft YaHei"/>
              </a:defRPr>
            </a:pPr>
            <a:r>
              <a:t>方法：因年龄 ≥ 80 岁或 ≥ 75 岁合并症而不适合接受基于蒽环类化疗的 1L CD20+ LBCL 患者接受 SC epcor 单药治疗：逐步给药（第 1 天第 1 天 0.16 mg [C1D1]；C1D8 0.8 mg），随后 C1-3 中 QW 48 mg，C1-3 Q4W 每周 48 mg。</a:t>
            </a:r>
          </a:p>
          <a:p>
            <a:pPr>
              <a:lnSpc>
                <a:spcPct val="103000"/>
              </a:lnSpc>
              <a:spcAft>
                <a:spcPts val="300"/>
              </a:spcAft>
              <a:defRPr sz="550">
                <a:solidFill>
                  <a:srgbClr val="21242A"/>
                </a:solidFill>
                <a:latin typeface="Microsoft YaHei"/>
              </a:defRPr>
            </a:pPr>
            <a:r>
              <a:t>C4–12，最长 1 年。主要终点是每位研究者评估的 CR 率（卢加诺标准）。通过循环肿瘤 DNA（截止值、</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固定期限 epcor 单药疗法显示出强大的疗效，对患有 1L LBCL 和合并症的老年患者具有早期、深度和持久的反应。安全结果（包括 CRS 和 ICANS 的发生率）与该老年人群的预期发生率一致。这些研究结果表明，epcor 为 1L DLBCL 患者提供了一种单药、免化疗的选择，这些患者因年龄或合并症而被排除在标准</a:t>
            </a:r>
          </a:p>
          <a:p>
            <a:pPr>
              <a:lnSpc>
                <a:spcPct val="103000"/>
              </a:lnSpc>
              <a:spcAft>
                <a:spcPts val="300"/>
              </a:spcAft>
              <a:defRPr sz="570">
                <a:solidFill>
                  <a:srgbClr val="21242A"/>
                </a:solidFill>
                <a:latin typeface="Microsoft YaHei"/>
              </a:defRPr>
            </a:pPr>
            <a:r>
              <a:t>化学免疫治疗方案之外。</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ORR</a:t>
                      </a:r>
                    </a:p>
                  </a:txBody>
                  <a:tcPr>
                    <a:solidFill>
                      <a:srgbClr val="F6F8FB"/>
                    </a:solidFill>
                  </a:tcPr>
                </a:tc>
                <a:tc>
                  <a:txBody>
                    <a:bodyPr wrap="square" lIns="36576" rIns="36576" tIns="18288" bIns="18288"/>
                    <a:lstStyle/>
                    <a:p>
                      <a:r>
                        <a:rPr sz="540" b="0">
                          <a:solidFill>
                            <a:srgbClr val="21242A"/>
                          </a:solidFill>
                          <a:latin typeface="Microsoft YaHei"/>
                        </a:rPr>
                        <a:t>73%</a:t>
                      </a:r>
                    </a:p>
                  </a:txBody>
                  <a:tcPr>
                    <a:solidFill>
                      <a:srgbClr val="F6F8FB"/>
                    </a:solidFill>
                  </a:tcPr>
                </a:tc>
              </a:tr>
              <a:tr h="214230">
                <a:tc>
                  <a:txBody>
                    <a:bodyPr wrap="square" lIns="36576" rIns="36576" tIns="18288" bIns="18288"/>
                    <a:lstStyle/>
                    <a:p>
                      <a:r>
                        <a:rPr sz="540" b="1">
                          <a:solidFill>
                            <a:srgbClr val="21242A"/>
                          </a:solidFill>
                          <a:latin typeface="Microsoft YaHei"/>
                        </a:rPr>
                        <a:t>CR</a:t>
                      </a:r>
                    </a:p>
                  </a:txBody>
                  <a:tcPr>
                    <a:solidFill>
                      <a:srgbClr val="FFFFFF"/>
                    </a:solidFill>
                  </a:tcPr>
                </a:tc>
                <a:tc>
                  <a:txBody>
                    <a:bodyPr wrap="square" lIns="36576" rIns="36576" tIns="18288" bIns="18288"/>
                    <a:lstStyle/>
                    <a:p>
                      <a:r>
                        <a:rPr sz="540" b="0">
                          <a:solidFill>
                            <a:srgbClr val="21242A"/>
                          </a:solidFill>
                          <a:latin typeface="Microsoft YaHei"/>
                        </a:rPr>
                        <a:t>63%</a:t>
                      </a:r>
                    </a:p>
                  </a:txBody>
                  <a:tcPr>
                    <a:solidFill>
                      <a:srgbClr val="FFFFFF"/>
                    </a:solidFill>
                  </a:tcPr>
                </a:tc>
              </a:tr>
              <a:tr h="214230">
                <a:tc>
                  <a:txBody>
                    <a:bodyPr wrap="square" lIns="36576" rIns="36576" tIns="18288" bIns="18288"/>
                    <a:lstStyle/>
                    <a:p>
                      <a:r>
                        <a:rPr sz="540" b="1">
                          <a:solidFill>
                            <a:srgbClr val="21242A"/>
                          </a:solidFill>
                          <a:latin typeface="Microsoft YaHei"/>
                        </a:rPr>
                        <a:t>中位至缓解时间</a:t>
                      </a:r>
                    </a:p>
                  </a:txBody>
                  <a:tcPr>
                    <a:solidFill>
                      <a:srgbClr val="F6F8FB"/>
                    </a:solidFill>
                  </a:tcPr>
                </a:tc>
                <a:tc>
                  <a:txBody>
                    <a:bodyPr wrap="square" lIns="36576" rIns="36576" tIns="18288" bIns="18288"/>
                    <a:lstStyle/>
                    <a:p>
                      <a:r>
                        <a:rPr sz="540" b="0">
                          <a:solidFill>
                            <a:srgbClr val="21242A"/>
                          </a:solidFill>
                          <a:latin typeface="Microsoft YaHei"/>
                        </a:rPr>
                        <a:t>1.5个月</a:t>
                      </a:r>
                    </a:p>
                  </a:txBody>
                  <a:tcPr>
                    <a:solidFill>
                      <a:srgbClr val="F6F8FB"/>
                    </a:solidFill>
                  </a:tcPr>
                </a:tc>
              </a:tr>
              <a:tr h="214230">
                <a:tc>
                  <a:txBody>
                    <a:bodyPr wrap="square" lIns="36576" rIns="36576" tIns="18288" bIns="18288"/>
                    <a:lstStyle/>
                    <a:p>
                      <a:r>
                        <a:rPr sz="540" b="1">
                          <a:solidFill>
                            <a:srgbClr val="21242A"/>
                          </a:solidFill>
                          <a:latin typeface="Microsoft YaHei"/>
                        </a:rPr>
                        <a:t>中位至CR时间</a:t>
                      </a:r>
                    </a:p>
                  </a:txBody>
                  <a:tcPr>
                    <a:solidFill>
                      <a:srgbClr val="FFFFFF"/>
                    </a:solidFill>
                  </a:tcPr>
                </a:tc>
                <a:tc>
                  <a:txBody>
                    <a:bodyPr wrap="square" lIns="36576" rIns="36576" tIns="18288" bIns="18288"/>
                    <a:lstStyle/>
                    <a:p>
                      <a:r>
                        <a:rPr sz="540" b="0">
                          <a:solidFill>
                            <a:srgbClr val="21242A"/>
                          </a:solidFill>
                          <a:latin typeface="Microsoft YaHei"/>
                        </a:rPr>
                        <a:t>2.2个月</a:t>
                      </a:r>
                    </a:p>
                  </a:txBody>
                  <a:tcPr>
                    <a:solidFill>
                      <a:srgbClr val="FFFFFF"/>
                    </a:solidFill>
                  </a:tcPr>
                </a:tc>
              </a:tr>
              <a:tr h="214230">
                <a:tc>
                  <a:txBody>
                    <a:bodyPr wrap="square" lIns="36576" rIns="36576" tIns="18288" bIns="18288"/>
                    <a:lstStyle/>
                    <a:p>
                      <a:r>
                        <a:rPr sz="540" b="1">
                          <a:solidFill>
                            <a:srgbClr val="21242A"/>
                          </a:solidFill>
                          <a:latin typeface="Microsoft YaHei"/>
                        </a:rPr>
                        <a:t>中位DOR</a:t>
                      </a:r>
                    </a:p>
                  </a:txBody>
                  <a:tcPr>
                    <a:solidFill>
                      <a:srgbClr val="F6F8FB"/>
                    </a:solidFill>
                  </a:tcPr>
                </a:tc>
                <a:tc>
                  <a:txBody>
                    <a:bodyPr wrap="square" lIns="36576" rIns="36576" tIns="18288" bIns="18288"/>
                    <a:lstStyle/>
                    <a:p>
                      <a:r>
                        <a:rPr sz="540" b="0">
                          <a:solidFill>
                            <a:srgbClr val="21242A"/>
                          </a:solidFill>
                          <a:latin typeface="Microsoft YaHei"/>
                        </a:rPr>
                        <a:t>未达到</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其余14条结果见HTML完整清单及EHA原文。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glofitamab联合polatuzumab vedotin治疗复发/难治性（r/r）大b细胞淋巴瘤（lbcl）的持...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durable remissions with glofitamab plus polatuzumab vedotin in relapsed/refra...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N=129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总缓解率（ORR）：79.1%（95%CI: 71.0-85.7）</a:t>
            </a:r>
          </a:p>
          <a:p>
            <a:pPr>
              <a:lnSpc>
                <a:spcPct val="103000"/>
              </a:lnSpc>
              <a:spcAft>
                <a:spcPts val="300"/>
              </a:spcAft>
              <a:defRPr sz="800">
                <a:solidFill>
                  <a:srgbClr val="21242A"/>
                </a:solidFill>
                <a:latin typeface="Microsoft YaHei"/>
              </a:defRPr>
            </a:pPr>
            <a:r>
              <a:t>完全缓解率（CR）：60.5%（95%CI: 51.5-69.0）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人数：129</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登记号：NCT03533283</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glofitamab联合polatuzumab vedotin治疗复发/难治性（r/r）大b细胞淋巴瘤（lbcl）的持...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durable remissions with glofitamab plus polatuzumab vedotin in relapsed/refra...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背景：尽管最近取得了进展，但 R/R LBCL 仍然具有临床挑战性，预后不佳，尤其是老年患者，因此需要持久的治疗选择。在一项开放标签、多中心、1b/2 期研究 (NCT03533283) 中，glofitamab 联合 polatuzumab vedotin（Glofit-Pola；一种研究方案）在 ≥1 种既往治疗 </a:t>
            </a:r>
          </a:p>
          <a:p>
            <a:pPr>
              <a:lnSpc>
                <a:spcPct val="103000"/>
              </a:lnSpc>
              <a:spcAft>
                <a:spcPts val="300"/>
              </a:spcAft>
              <a:defRPr sz="550">
                <a:solidFill>
                  <a:srgbClr val="21242A"/>
                </a:solidFill>
                <a:latin typeface="Microsoft YaHei"/>
              </a:defRPr>
            </a:pPr>
            <a:r>
              <a:t>(LOT) 后的 R/R LBCL 患者中表现出高缓解率、持久的临床获益和可控的安全性。</a:t>
            </a:r>
          </a:p>
          <a:p>
            <a:pPr>
              <a:lnSpc>
                <a:spcPct val="103000"/>
              </a:lnSpc>
              <a:spcAft>
                <a:spcPts val="300"/>
              </a:spcAft>
              <a:defRPr sz="550">
                <a:solidFill>
                  <a:srgbClr val="21242A"/>
                </a:solidFill>
                <a:latin typeface="Microsoft YaHei"/>
              </a:defRPr>
            </a:pPr>
            <a:r>
              <a:t>目的：研究 Glofit-Pola 对 R/R LBCL 患者的疗效（按年龄分层），包括 HGBCL 患者的结局。</a:t>
            </a:r>
          </a:p>
          <a:p>
            <a:pPr>
              <a:lnSpc>
                <a:spcPct val="103000"/>
              </a:lnSpc>
              <a:spcAft>
                <a:spcPts val="300"/>
              </a:spcAft>
              <a:defRPr sz="550">
                <a:solidFill>
                  <a:srgbClr val="21242A"/>
                </a:solidFill>
                <a:latin typeface="Microsoft YaHei"/>
              </a:defRPr>
            </a:pPr>
            <a:r>
              <a:t>方法：符合资格的患者年龄≥18岁，且在≥1次既往LOT后患有R/R LBCL。之前已描述过方法（Hutchings 等人，JCO 2025）。所有患者均提供知情同意书。疗效终点是独立审查委员会评估的总体反应、反应的持久性和生存结果。</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固定期限的 Glofit-Pola 治疗 R/R LBCL 患者在老年人群（包括 HGBCL 患者）中表现出高且持久的缓解率。结果与总体人口具有可比性。这些发现支持该药物组合作为治疗选择有限的老年患者的有效治疗选择的潜力。</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374904">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374904">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79.1%（95%CI: 71.0-85.7）</a:t>
                      </a:r>
                    </a:p>
                  </a:txBody>
                  <a:tcPr>
                    <a:solidFill>
                      <a:srgbClr val="F6F8FB"/>
                    </a:solidFill>
                  </a:tcPr>
                </a:tc>
              </a:tr>
              <a:tr h="374904">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60.5%（95%CI: 51.5-69.0）</a:t>
                      </a:r>
                    </a:p>
                  </a:txBody>
                  <a:tcPr>
                    <a:solidFill>
                      <a:srgbClr val="FFFFFF"/>
                    </a:solidFill>
                  </a:tcPr>
                </a:tc>
              </a:tr>
              <a:tr h="374904">
                <a:tc>
                  <a:txBody>
                    <a:bodyPr wrap="square" lIns="36576" rIns="36576" tIns="18288" bIns="18288"/>
                    <a:lstStyle/>
                    <a:p>
                      <a:r>
                        <a:rPr sz="540" b="1">
                          <a:solidFill>
                            <a:srgbClr val="21242A"/>
                          </a:solidFill>
                          <a:latin typeface="Microsoft YaHei"/>
                        </a:rPr>
                        <a:t>中位无进展生存期（mPFS）</a:t>
                      </a:r>
                    </a:p>
                  </a:txBody>
                  <a:tcPr>
                    <a:solidFill>
                      <a:srgbClr val="F6F8FB"/>
                    </a:solidFill>
                  </a:tcPr>
                </a:tc>
                <a:tc>
                  <a:txBody>
                    <a:bodyPr wrap="square" lIns="36576" rIns="36576" tIns="18288" bIns="18288"/>
                    <a:lstStyle/>
                    <a:p>
                      <a:r>
                        <a:rPr sz="540" b="0">
                          <a:solidFill>
                            <a:srgbClr val="21242A"/>
                          </a:solidFill>
                          <a:latin typeface="Microsoft YaHei"/>
                        </a:rPr>
                        <a:t>15.4个月（95%CI: 8.8-29.7）</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摘要号：PS2063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odronextamab治疗弥漫性大b细胞淋巴瘤（dlbcl）和滤泡性淋巴瘤（fl）患者与细胞因子释放综合征（crs）...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peripheral proteomic signatures associated with cytokine release syndrome (cr...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PF1088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滤泡性淋巴瘤</a:t>
            </a:r>
          </a:p>
          <a:p>
            <a:pPr>
              <a:lnSpc>
                <a:spcPct val="103000"/>
              </a:lnSpc>
              <a:spcAft>
                <a:spcPts val="300"/>
              </a:spcAft>
              <a:defRPr sz="800">
                <a:solidFill>
                  <a:srgbClr val="21242A"/>
                </a:solidFill>
                <a:latin typeface="Microsoft YaHei"/>
              </a:defRPr>
            </a:pPr>
            <a:r>
              <a:t>弥漫性大B细胞淋巴瘤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试验药/方案：奥德罗奈昔单抗</a:t>
            </a:r>
          </a:p>
          <a:p>
            <a:pPr>
              <a:lnSpc>
                <a:spcPct val="103000"/>
              </a:lnSpc>
              <a:spcAft>
                <a:spcPts val="300"/>
              </a:spcAft>
              <a:defRPr sz="800">
                <a:solidFill>
                  <a:srgbClr val="21242A"/>
                </a:solidFill>
                <a:latin typeface="Microsoft YaHei"/>
              </a:defRPr>
            </a:pPr>
            <a:r>
              <a:t>靶点：CD3，CD20</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基线（类固醇预处理后、odronextamab治疗前）：DLBCL患者细胞增殖和代谢激活相关蛋白表达显著更高</a:t>
            </a:r>
          </a:p>
          <a:p>
            <a:pPr>
              <a:lnSpc>
                <a:spcPct val="103000"/>
              </a:lnSpc>
              <a:spcAft>
                <a:spcPts val="300"/>
              </a:spcAft>
              <a:defRPr sz="800">
                <a:solidFill>
                  <a:srgbClr val="21242A"/>
                </a:solidFill>
                <a:latin typeface="Microsoft YaHei"/>
              </a:defRPr>
            </a:pPr>
            <a:r>
              <a:t>FL患者血清CD21、ADGRG2、CD1C表达更高。</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人数：78</a:t>
            </a:r>
          </a:p>
          <a:p>
            <a:pPr>
              <a:lnSpc>
                <a:spcPct val="103000"/>
              </a:lnSpc>
              <a:spcAft>
                <a:spcPts val="300"/>
              </a:spcAft>
              <a:defRPr sz="810">
                <a:solidFill>
                  <a:srgbClr val="21242A"/>
                </a:solidFill>
                <a:latin typeface="Microsoft YaHei"/>
              </a:defRPr>
            </a:pPr>
            <a:r>
              <a:t>适应症：滤泡性淋巴瘤、弥漫性大B细胞淋巴瘤、B细胞非霍奇金淋巴瘤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登记号：NCT03888105</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试验药/方案：奥德罗奈昔单抗</a:t>
            </a:r>
          </a:p>
          <a:p>
            <a:pPr>
              <a:lnSpc>
                <a:spcPct val="103000"/>
              </a:lnSpc>
              <a:spcAft>
                <a:spcPts val="300"/>
              </a:spcAft>
              <a:defRPr sz="810">
                <a:solidFill>
                  <a:srgbClr val="21242A"/>
                </a:solidFill>
                <a:latin typeface="Microsoft YaHei"/>
              </a:defRPr>
            </a:pPr>
            <a:r>
              <a:t>靶点：CD3、CD20</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odronextamab治疗弥漫性大b细胞淋巴瘤（dlbcl）和滤泡性淋巴瘤（fl）患者与细胞因子释放综合征（crs）...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peripheral proteomic signatures associated with cytokine release syndrome (cr...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PF1088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背景：CRS 是与双特异性抗体 (bsAb) 治疗相关的常见不良事件。</a:t>
            </a:r>
          </a:p>
          <a:p>
            <a:pPr>
              <a:lnSpc>
                <a:spcPct val="103000"/>
              </a:lnSpc>
              <a:spcAft>
                <a:spcPts val="300"/>
              </a:spcAft>
              <a:defRPr sz="550">
                <a:solidFill>
                  <a:srgbClr val="21242A"/>
                </a:solidFill>
                <a:latin typeface="Microsoft YaHei"/>
              </a:defRPr>
            </a:pPr>
            <a:r>
              <a:t>odronextamab（Odro；CD20×CD3 bsAb）的升级方案在 ELM-2 研究 (NCT03888105) 期间进行了修改，包括类固醇预处理 (Tx) 和中间剂量 (0.7/4/20 mg)，有助于降低 (Gr) ≥ 2 级 CRS 的风险 (Kim 等人，Blood 2022)。</a:t>
            </a:r>
          </a:p>
          <a:p>
            <a:pPr>
              <a:lnSpc>
                <a:spcPct val="103000"/>
              </a:lnSpc>
              <a:spcAft>
                <a:spcPts val="300"/>
              </a:spcAft>
              <a:defRPr sz="550">
                <a:solidFill>
                  <a:srgbClr val="21242A"/>
                </a:solidFill>
                <a:latin typeface="Microsoft YaHei"/>
              </a:defRPr>
            </a:pPr>
            <a:r>
              <a:t>目的：探索 ELM-2 中 Odro 治疗的复发/难治性 DLBCL 或 FL 患者的血清分析物，更好地表征与 CRS 相关的通路/蛋白质组特征，并阐明驱动 CRS 的生物学机制。</a:t>
            </a:r>
          </a:p>
          <a:p>
            <a:pPr>
              <a:lnSpc>
                <a:spcPct val="103000"/>
              </a:lnSpc>
              <a:spcAft>
                <a:spcPts val="300"/>
              </a:spcAft>
              <a:defRPr sz="550">
                <a:solidFill>
                  <a:srgbClr val="21242A"/>
                </a:solidFill>
                <a:latin typeface="Microsoft YaHei"/>
              </a:defRPr>
            </a:pPr>
            <a:r>
              <a:t>方法：使用高通量蛋白质组学方法（Olink Explore HT 测定）分析基线 (BL) 和 Tx 时的血清蛋白。根据疾病类型、升级方案和 CAR-HEMATOTOX 评分（CAR-HT 低 [0–1] 与 CAR-HT 高 [≥2]；仅限 DLBCL）对 CRS 严重程度（Gr≥2 与 Gr1/无 CRS）进行分析</a:t>
            </a:r>
          </a:p>
          <a:p>
            <a:pPr>
              <a:lnSpc>
                <a:spcPct val="103000"/>
              </a:lnSpc>
              <a:spcAft>
                <a:spcPts val="300"/>
              </a:spcAft>
              <a:defRPr sz="550">
                <a:solidFill>
                  <a:srgbClr val="21242A"/>
                </a:solidFill>
                <a:latin typeface="Microsoft YaHei"/>
              </a:defRPr>
            </a:pPr>
            <a:r>
              <a:t>。使用差异表达分析研究与 CRS 相关的蛋白质。来自标准多重测定的细胞因子数据用于比较。如果蛋白质满足最小倍数变化 (1.5) 和错误发现率 (FDR) 调整的 p 值标准 (p</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我们的分析表明，类固醇 pre-Tx 减弱了同种异体移植排斥途径和其他炎症标志物，可能有助于降低 FL 和 DLBCL 中 Gr≥2 CRS 的发生率。全身性 BL 蛋白质组发炎的 FL 患者发生 Gr≥2 CRS 的风险可能更高。需要进一步的研究来确定蛋白质组学分析是否可以识别严重 CRS 风险较高的患者。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1. 基线（类固醇预处理后、odronextamab治疗前）</a:t>
                      </a:r>
                    </a:p>
                  </a:txBody>
                  <a:tcPr>
                    <a:solidFill>
                      <a:srgbClr val="F6F8FB"/>
                    </a:solidFill>
                  </a:tcPr>
                </a:tc>
                <a:tc>
                  <a:txBody>
                    <a:bodyPr wrap="square" lIns="36576" rIns="36576" tIns="18288" bIns="18288"/>
                    <a:lstStyle/>
                    <a:p>
                      <a:r>
                        <a:rPr sz="540" b="0">
                          <a:solidFill>
                            <a:srgbClr val="21242A"/>
                          </a:solidFill>
                          <a:latin typeface="Microsoft YaHei"/>
                        </a:rPr>
                        <a:t>DLBCL患者细胞增殖和代谢激活相关蛋白表达显著更高；FL患者血清CD21、ADGRG2、CD1C表达更高。</a:t>
                      </a:r>
                    </a:p>
                  </a:txBody>
                  <a:tcPr>
                    <a:solidFill>
                      <a:srgbClr val="F6F8FB"/>
                    </a:solidFill>
                  </a:tcPr>
                </a:tc>
              </a:tr>
              <a:tr h="214230">
                <a:tc>
                  <a:txBody>
                    <a:bodyPr wrap="square" lIns="36576" rIns="36576" tIns="18288" bIns="18288"/>
                    <a:lstStyle/>
                    <a:p>
                      <a:r>
                        <a:rPr sz="540" b="1">
                          <a:solidFill>
                            <a:srgbClr val="21242A"/>
                          </a:solidFill>
                          <a:latin typeface="Microsoft YaHei"/>
                        </a:rPr>
                        <a:t>2. 改良方案与原始方案比较</a:t>
                      </a:r>
                    </a:p>
                  </a:txBody>
                  <a:tcPr>
                    <a:solidFill>
                      <a:srgbClr val="FFFFFF"/>
                    </a:solidFill>
                  </a:tcPr>
                </a:tc>
                <a:tc>
                  <a:txBody>
                    <a:bodyPr wrap="square" lIns="36576" rIns="36576" tIns="18288" bIns="18288"/>
                    <a:lstStyle/>
                    <a:p>
                      <a:r>
                        <a:rPr sz="540" b="0">
                          <a:solidFill>
                            <a:srgbClr val="21242A"/>
                          </a:solidFill>
                          <a:latin typeface="Microsoft YaHei"/>
                        </a:rPr>
                        <a:t>异体移植排斥通路显著下调，凝血通路富集；血清IFNγ和IL6水平降低。</a:t>
                      </a:r>
                    </a:p>
                  </a:txBody>
                  <a:tcPr>
                    <a:solidFill>
                      <a:srgbClr val="FFFFFF"/>
                    </a:solidFill>
                  </a:tcPr>
                </a:tc>
              </a:tr>
              <a:tr h="214230">
                <a:tc>
                  <a:txBody>
                    <a:bodyPr wrap="square" lIns="36576" rIns="36576" tIns="18288" bIns="18288"/>
                    <a:lstStyle/>
                    <a:p>
                      <a:r>
                        <a:rPr sz="540" b="1">
                          <a:solidFill>
                            <a:srgbClr val="21242A"/>
                          </a:solidFill>
                          <a:latin typeface="Microsoft YaHei"/>
                        </a:rPr>
                        <a:t>3. Gr≥2 CRS vs Gr1/no CRS基线比较</a:t>
                      </a:r>
                    </a:p>
                  </a:txBody>
                  <a:tcPr>
                    <a:solidFill>
                      <a:srgbClr val="F6F8FB"/>
                    </a:solidFill>
                  </a:tcPr>
                </a:tc>
                <a:tc>
                  <a:txBody>
                    <a:bodyPr wrap="square" lIns="36576" rIns="36576" tIns="18288" bIns="18288"/>
                    <a:lstStyle/>
                    <a:p>
                      <a:r>
                        <a:rPr sz="540" b="0">
                          <a:solidFill>
                            <a:srgbClr val="21242A"/>
                          </a:solidFill>
                          <a:latin typeface="Microsoft YaHei"/>
                        </a:rPr>
                        <a:t>FL患者中多种炎症通路富集（异体移植排斥、IFNγ、炎症反应、IL6/JAK/STAT3），DLBCL患者中无。</a:t>
                      </a:r>
                    </a:p>
                  </a:txBody>
                  <a:tcPr>
                    <a:solidFill>
                      <a:srgbClr val="F6F8FB"/>
                    </a:solidFill>
                  </a:tcPr>
                </a:tc>
              </a:tr>
              <a:tr h="214230">
                <a:tc>
                  <a:txBody>
                    <a:bodyPr wrap="square" lIns="36576" rIns="36576" tIns="18288" bIns="18288"/>
                    <a:lstStyle/>
                    <a:p>
                      <a:r>
                        <a:rPr sz="540" b="1">
                          <a:solidFill>
                            <a:srgbClr val="21242A"/>
                          </a:solidFill>
                          <a:latin typeface="Microsoft YaHei"/>
                        </a:rPr>
                        <a:t>4. CAR-HThigh vs CAR-HTlow的DLBCL基线样本</a:t>
                      </a:r>
                    </a:p>
                  </a:txBody>
                  <a:tcPr>
                    <a:solidFill>
                      <a:srgbClr val="FFFFFF"/>
                    </a:solidFill>
                  </a:tcPr>
                </a:tc>
                <a:tc>
                  <a:txBody>
                    <a:bodyPr wrap="square" lIns="36576" rIns="36576" tIns="18288" bIns="18288"/>
                    <a:lstStyle/>
                    <a:p>
                      <a:r>
                        <a:rPr sz="540" b="0">
                          <a:solidFill>
                            <a:srgbClr val="21242A"/>
                          </a:solidFill>
                          <a:latin typeface="Microsoft YaHei"/>
                        </a:rPr>
                        <a:t>异体移植排斥通路富集。</a:t>
                      </a:r>
                    </a:p>
                  </a:txBody>
                  <a:tcPr>
                    <a:solidFill>
                      <a:srgbClr val="FFFFFF"/>
                    </a:solidFill>
                  </a:tcPr>
                </a:tc>
              </a:tr>
              <a:tr h="214230">
                <a:tc>
                  <a:txBody>
                    <a:bodyPr wrap="square" lIns="36576" rIns="36576" tIns="18288" bIns="18288"/>
                    <a:lstStyle/>
                    <a:p>
                      <a:r>
                        <a:rPr sz="540" b="1">
                          <a:solidFill>
                            <a:srgbClr val="21242A"/>
                          </a:solidFill>
                          <a:latin typeface="Microsoft YaHei"/>
                        </a:rPr>
                        <a:t>5. 治疗期间</a:t>
                      </a:r>
                    </a:p>
                  </a:txBody>
                  <a:tcPr>
                    <a:solidFill>
                      <a:srgbClr val="F6F8FB"/>
                    </a:solidFill>
                  </a:tcPr>
                </a:tc>
                <a:tc>
                  <a:txBody>
                    <a:bodyPr wrap="square" lIns="36576" rIns="36576" tIns="18288" bIns="18288"/>
                    <a:lstStyle/>
                    <a:p>
                      <a:r>
                        <a:rPr sz="540" b="0">
                          <a:solidFill>
                            <a:srgbClr val="21242A"/>
                          </a:solidFill>
                          <a:latin typeface="Microsoft YaHei"/>
                        </a:rPr>
                        <a:t>DLBCL患者Gr≥2 CRS时炎症通路富集，FL患者更显著；FL患者Gr≥2 CRS还持续富集细胞/代谢应激反应通路（氧化磷酸化、脂肪酸代谢、血红素代谢）。</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摘要号：PF1088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epcoritamab治疗后cd20表达减少和瘤内cd3+t细胞与弥漫性大b细胞淋巴瘤和滤泡性淋巴瘤亚群的进展性疾病有关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reduced cd20 expression and intratumoral cd3+ t cells following epcoritamab 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滤泡性淋巴瘤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基线CD20高表达（&gt;80%阳性肿瘤细胞）比例：89%（319/357）</a:t>
            </a:r>
          </a:p>
          <a:p>
            <a:pPr>
              <a:lnSpc>
                <a:spcPct val="103000"/>
              </a:lnSpc>
              <a:spcAft>
                <a:spcPts val="300"/>
              </a:spcAft>
              <a:defRPr sz="800">
                <a:solidFill>
                  <a:srgbClr val="21242A"/>
                </a:solidFill>
                <a:latin typeface="Microsoft YaHei"/>
              </a:defRPr>
            </a:pPr>
            <a:r>
              <a:t>在进展性疾病（PD）患者中，69%（18/26）在C2D15或EOT出现CD20表达下降（相对基线减少≥50%）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人数：357</a:t>
            </a:r>
          </a:p>
          <a:p>
            <a:pPr>
              <a:lnSpc>
                <a:spcPct val="103000"/>
              </a:lnSpc>
              <a:spcAft>
                <a:spcPts val="300"/>
              </a:spcAft>
              <a:defRPr sz="810">
                <a:solidFill>
                  <a:srgbClr val="21242A"/>
                </a:solidFill>
                <a:latin typeface="Microsoft YaHei"/>
              </a:defRPr>
            </a:pPr>
            <a:r>
              <a:t>适应症：弥漫性大B细胞淋巴瘤、滤泡性淋巴瘤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登记号：NCT03625037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epcoritamab治疗后cd20表达减少和瘤内cd3+t细胞与弥漫性大b细胞淋巴瘤和滤泡性淋巴瘤亚群的进展性疾病有关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reduced cd20 expression and intratumoral cd3+ t cells following epcoritamab 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 Epcoritamab (epcor) 是一种皮下注射 CD3×CD20 双特异性抗体，已证明作为单一疗法和联合疗法对 DLBCL 和 FL 具有显着的临床益处。据报道，其他 CD3×CD20 双特异性抗体可调节 CD20 表达，最常见的是在疾病进展时，但这些变化的确切时间仍不清楚。</a:t>
            </a:r>
          </a:p>
          <a:p>
            <a:pPr>
              <a:lnSpc>
                <a:spcPct val="103000"/>
              </a:lnSpc>
              <a:spcAft>
                <a:spcPts val="300"/>
              </a:spcAft>
              <a:defRPr sz="550">
                <a:solidFill>
                  <a:srgbClr val="21242A"/>
                </a:solidFill>
                <a:latin typeface="Microsoft YaHei"/>
              </a:defRPr>
            </a:pPr>
            <a:r>
              <a:t>目的：描述 EPCORE NHL-1 试验 (NCT03625037) 中患者接受 epcor 治疗 (tx) 前和治疗后 (tx) 的 CD20 表达调节情况，评估突变和转录下调对 CD20 表达的影响，并评估瘤内 CD3+ T 细胞与进展性疾病之间的关联。</a:t>
            </a:r>
          </a:p>
          <a:p>
            <a:pPr>
              <a:lnSpc>
                <a:spcPct val="103000"/>
              </a:lnSpc>
              <a:spcAft>
                <a:spcPts val="300"/>
              </a:spcAft>
              <a:defRPr sz="550">
                <a:solidFill>
                  <a:srgbClr val="21242A"/>
                </a:solidFill>
                <a:latin typeface="Microsoft YaHei"/>
              </a:defRPr>
            </a:pPr>
            <a:r>
              <a:t>方法：收集 NHL-1 中接受 48 mg epcor 治疗的 R/R DLBCL 或 FL 患者的肿瘤活检。在基线、tx 时（周期 2 第 15 天 [C2D15]）或 tx 结束时 (EOT)，通过免疫组织化学对有或没有 PAX5 和 T 细胞 (CD3+) 的 CD20 蛋白表达进行定量。对现有患者样本进行全外显</a:t>
            </a:r>
          </a:p>
          <a:p>
            <a:pPr>
              <a:lnSpc>
                <a:spcPct val="103000"/>
              </a:lnSpc>
              <a:spcAft>
                <a:spcPts val="300"/>
              </a:spcAft>
              <a:defRPr sz="550">
                <a:solidFill>
                  <a:srgbClr val="21242A"/>
                </a:solidFill>
                <a:latin typeface="Microsoft YaHei"/>
              </a:defRPr>
            </a:pPr>
            <a:r>
              <a:t>子组测序和 EdgeSeq，以研究 CD20 表达减少的机制。研究者根据卢加诺标准评估第 6 周和 EOT 的临床反应。</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虽然大多数 DLBCL 和 FL 患者具有高基线 CD20 表达和对 epcor 的高反应率，但在一些基线 CD20 表达 MS4A1 突变和部分患者转录下调的患者中也观察到了临床反应。瘤内 T 细胞数量减少也被认为是潜在的耐药机制。其他 CD3xCD20 双特异性抗体也报道了进展时 CD20 表达的类似变化，表明抗原</a:t>
            </a:r>
          </a:p>
          <a:p>
            <a:pPr>
              <a:lnSpc>
                <a:spcPct val="103000"/>
              </a:lnSpc>
              <a:spcAft>
                <a:spcPts val="300"/>
              </a:spcAft>
              <a:defRPr sz="570">
                <a:solidFill>
                  <a:srgbClr val="21242A"/>
                </a:solidFill>
                <a:latin typeface="Microsoft YaHei"/>
              </a:defRPr>
            </a:pPr>
            <a:r>
              <a:t>调节可能导致某些患者产生耐药性。这些发现支持进一步探索克服抗原逃逸和恢复治疗敏感性的策略。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结果：在 DLBCL 和 FL 患者的生物标志物可评估活检中，89% (319/357) 观察到高基线 CD20 表达（&gt; 80% 阳性肿瘤细胞）； CD20 表达 10%（PR，n = 3；SD，n = 2；PD，n = 18）； CR 患者因 C2D15 时未检测到肿瘤而被排除，限制了普遍性。</a:t>
            </a:r>
          </a:p>
          <a:p>
            <a:pPr>
              <a:lnSpc>
                <a:spcPct val="103000"/>
              </a:lnSpc>
              <a:spcAft>
                <a:spcPts val="300"/>
              </a:spcAft>
              <a:defRPr sz="560">
                <a:solidFill>
                  <a:srgbClr val="21242A"/>
                </a:solidFill>
                <a:latin typeface="Microsoft YaHei"/>
              </a:defRPr>
            </a:pPr>
            <a:r>
              <a:t>5 名 PR/SD 患者中有 4 名在 tx 时维持 CD20 表达。</a:t>
            </a:r>
          </a:p>
          <a:p>
            <a:pPr>
              <a:lnSpc>
                <a:spcPct val="103000"/>
              </a:lnSpc>
              <a:spcAft>
                <a:spcPts val="300"/>
              </a:spcAft>
              <a:defRPr sz="560">
                <a:solidFill>
                  <a:srgbClr val="21242A"/>
                </a:solidFill>
                <a:latin typeface="Microsoft YaHei"/>
              </a:defRPr>
            </a:pPr>
            <a:r>
              <a:t>CD20 胞外域和跨膜域表达 MS4A1 突变；在 2 名 (17%) 患者中观察到转录下调。值得注意的是，1 名在 C2D15 维持 CD20 表达的 SD 患者在细胞外环 2 中存在预先存在的错义突变，该突变可能干扰 epcor 结合。在 18 名 PD 患者中，7 名维持 CD20 表达，其中 4 名显</a:t>
            </a:r>
          </a:p>
          <a:p>
            <a:pPr>
              <a:lnSpc>
                <a:spcPct val="103000"/>
              </a:lnSpc>
              <a:spcAft>
                <a:spcPts val="300"/>
              </a:spcAft>
              <a:defRPr sz="560">
                <a:solidFill>
                  <a:srgbClr val="21242A"/>
                </a:solidFill>
                <a:latin typeface="Microsoft YaHei"/>
              </a:defRPr>
            </a:pPr>
            <a:r>
              <a:t>示瘤内 CD3 T 细胞的 on-tx 和 EOT 减少。结论：虽然大多数 DLBCL 和 FL 患者具有高基线 CD20 表达和对 epcor 的高缓解率，但在一些基线 CD20 表达 MS4A1 突变和部分患者转录下调的患者中也观察到了临床缓解。瘤内 T 细胞数量减少也被认为是潜在的耐药机制。其他 CD3</a:t>
            </a:r>
          </a:p>
          <a:p>
            <a:pPr>
              <a:lnSpc>
                <a:spcPct val="103000"/>
              </a:lnSpc>
              <a:spcAft>
                <a:spcPts val="300"/>
              </a:spcAft>
              <a:defRPr sz="560">
                <a:solidFill>
                  <a:srgbClr val="21242A"/>
                </a:solidFill>
                <a:latin typeface="Microsoft YaHei"/>
              </a:defRPr>
            </a:pPr>
            <a:r>
              <a:t>xCD20 双特异性抗体也报道了进展时 CD20 表达的类似变化，表明抗原调节可能导致某些患者产生耐药性。</a:t>
            </a:r>
          </a:p>
          <a:p>
            <a:pPr>
              <a:lnSpc>
                <a:spcPct val="103000"/>
              </a:lnSpc>
              <a:spcAft>
                <a:spcPts val="300"/>
              </a:spcAft>
              <a:defRPr sz="560">
                <a:solidFill>
                  <a:srgbClr val="21242A"/>
                </a:solidFill>
                <a:latin typeface="Microsoft YaHei"/>
              </a:defRPr>
            </a:pPr>
            <a:r>
              <a:t>这些发现支持进一步探索克服抗原逃逸和恢复治疗敏感性的策略。</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摘要号：PF1069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总代谢肿瘤体积和循环肿瘤dna作为复发/难治性弥漫性大b细胞淋巴瘤早期预后因素：starglo 3期试验的结果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total metabolic tumor volume and circulating tumor dna as early prognostic fa...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N=246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对照/比较：试验组1：glofitamab, gemcitabine, oxaliplatin（Glofit-GemOx）</a:t>
            </a:r>
          </a:p>
          <a:p>
            <a:pPr>
              <a:lnSpc>
                <a:spcPct val="103000"/>
              </a:lnSpc>
              <a:spcAft>
                <a:spcPts val="300"/>
              </a:spcAft>
              <a:defRPr sz="800">
                <a:solidFill>
                  <a:srgbClr val="21242A"/>
                </a:solidFill>
                <a:latin typeface="Microsoft YaHei"/>
              </a:defRPr>
            </a:pPr>
            <a:r>
              <a:t>对照组：rituximab, gemcitabine, oxaliplatin（R-GemOx）</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基线高TMTV（≥125 cm³）与较差PFS相关：HR=1.49, p=0.004</a:t>
            </a:r>
          </a:p>
          <a:p>
            <a:pPr>
              <a:lnSpc>
                <a:spcPct val="103000"/>
              </a:lnSpc>
              <a:spcAft>
                <a:spcPts val="300"/>
              </a:spcAft>
              <a:defRPr sz="800">
                <a:solidFill>
                  <a:srgbClr val="21242A"/>
                </a:solidFill>
                <a:latin typeface="Microsoft YaHei"/>
              </a:defRPr>
            </a:pPr>
            <a:r>
              <a:t>Glofit-GemOx vs R-GemOx的PFS改善：高TMTV亚组HR=0.37, p&lt;0.001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人数：246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登记号：NCT04408638</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总代谢肿瘤体积和循环肿瘤dna作为复发/难治性弥漫性大b细胞淋巴瘤早期预后因素：starglo 3期试验的结果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total metabolic tumor volume and circulating tumor dna as early prognostic fa...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背景：3 期 STARGLO 试验 (NCT04408638) 证明，固定期限格洛菲他滨联合吉西他滨和奥沙利铂 (GemOx；Glofit-GemOx) 具有显着的 3 年总生存率和无进展生存率 (PFS) 益处，支持其在自体干细胞移植 (ASCT) 不合格的复发/难治性 (R/R) 弥漫性大 B 细胞中的治疗潜力淋巴</a:t>
            </a:r>
          </a:p>
          <a:p>
            <a:pPr>
              <a:lnSpc>
                <a:spcPct val="103000"/>
              </a:lnSpc>
              <a:spcAft>
                <a:spcPts val="300"/>
              </a:spcAft>
              <a:defRPr sz="550">
                <a:solidFill>
                  <a:srgbClr val="21242A"/>
                </a:solidFill>
                <a:latin typeface="Microsoft YaHei"/>
              </a:defRPr>
            </a:pPr>
            <a:r>
              <a:t>瘤（DLBCL）。尽管如此，确定可靠的基线和治疗中生物标志物来预测长期结果仍然是一个迫切需要。目的：评估基线总代谢肿瘤体积 (TMTV) 以及基线和纵向循环肿瘤 DNA (ctDNA) 的预后价值，以预测 STARGLO 试验中的长期结果。方法：患有 ASCT 不合格的 R/R DLBCL 患者 (pts) 以 2:1</a:t>
            </a:r>
          </a:p>
          <a:p>
            <a:pPr>
              <a:lnSpc>
                <a:spcPct val="103000"/>
              </a:lnSpc>
              <a:spcAft>
                <a:spcPts val="300"/>
              </a:spcAft>
              <a:defRPr sz="550">
                <a:solidFill>
                  <a:srgbClr val="21242A"/>
                </a:solidFill>
                <a:latin typeface="Microsoft YaHei"/>
              </a:defRPr>
            </a:pPr>
            <a:r>
              <a:t> 的比例随机分配至 Glofit-GemOx 或利妥昔单抗-GemOx (R-GemOx)。使用 AVENIO Oncology Assay NHL 测试和定制的连锁体细胞变异方法对 ctDNA 进行分析，其中鉴定出单个 DNA 片段上相距 175 个碱基对的共存体细胞变异。通过氟18氟脱氧葡萄糖正电子发射断层扫描-计</a:t>
            </a:r>
          </a:p>
          <a:p>
            <a:pPr>
              <a:lnSpc>
                <a:spcPct val="103000"/>
              </a:lnSpc>
              <a:spcAft>
                <a:spcPts val="300"/>
              </a:spcAft>
              <a:defRPr sz="550">
                <a:solidFill>
                  <a:srgbClr val="21242A"/>
                </a:solidFill>
                <a:latin typeface="Microsoft YaHei"/>
              </a:defRPr>
            </a:pPr>
            <a:r>
              <a:t>算机断层扫描（PET-CT）评估TMTV。使用卢加诺标准通过 PET-CT 评估疗效。多元 Kaplan-Meier 和（完整内容见HTML/EHA原文）</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这些结果证明了 TMTV 和 ctDNA 作为 R/R DLBCL 强大预后工具的潜力。无论肿瘤负荷（TMTV 或 ctDNA）如何，Glofit-GemOx 均表现出优于 R-GemOx 的功效。此外，纵向 ctDNA 监测支持早期反应评估，第 3 周期未检测到的 ctDNA 状态成为长期 PFS 的强有力预测指标。</a:t>
            </a:r>
          </a:p>
          <a:p>
            <a:pPr>
              <a:lnSpc>
                <a:spcPct val="103000"/>
              </a:lnSpc>
              <a:spcAft>
                <a:spcPts val="300"/>
              </a:spcAft>
              <a:defRPr sz="570">
                <a:solidFill>
                  <a:srgbClr val="21242A"/>
                </a:solidFill>
                <a:latin typeface="Microsoft YaHei"/>
              </a:defRPr>
            </a:pPr>
            <a:r>
              <a:t>与 R-GemOx 相比，Glofit-GemOx 观察到的 ctDNA 检测不到率更高，验证了其临床益处并支持 STARGLO 初步分析中观察到的卓越功效。</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结果：截至 2025 年 5 月 1 日，在 TMTV 可评估患者 (n=246) 中，高基线 TMTV（中位数≥125cm 3 ）是较差 PFS 的预后（风险比 [HR]，1.49，p=0.004）。无论 TMTV 负担如何，Glofit-GemOx 均显示出优于 R-GemOx 的 PFS 改善（高 TM</a:t>
            </a:r>
          </a:p>
          <a:p>
            <a:pPr>
              <a:lnSpc>
                <a:spcPct val="103000"/>
              </a:lnSpc>
              <a:spcAft>
                <a:spcPts val="300"/>
              </a:spcAft>
              <a:defRPr sz="560">
                <a:solidFill>
                  <a:srgbClr val="21242A"/>
                </a:solidFill>
                <a:latin typeface="Microsoft YaHei"/>
              </a:defRPr>
            </a:pPr>
            <a:r>
              <a:t>TV：HR，0.37，p \n 纵向 ctDNA 分析显示，在所有时间点上，Glofit-GemOx 与 R-GemOx 相比，未检测到 ctDNA 的比率更高：第 25-65 天（早期治疗）为 47.7% vs 9.5%，第 25-65 天（早期治疗）为 65.6%第 65-110 天（治疗中期）为 32.</a:t>
            </a:r>
          </a:p>
          <a:p>
            <a:pPr>
              <a:lnSpc>
                <a:spcPct val="103000"/>
              </a:lnSpc>
              <a:spcAft>
                <a:spcPts val="300"/>
              </a:spcAft>
              <a:defRPr sz="560">
                <a:solidFill>
                  <a:srgbClr val="21242A"/>
                </a:solidFill>
                <a:latin typeface="Microsoft YaHei"/>
              </a:defRPr>
            </a:pPr>
            <a:r>
              <a:t>1%，第 110-220 天为 70.0% vs 31.6%（图）。在接受 Glofit-GemOx 治疗的患者中，第 3 周期未检测到的 ctDNA 状态与延长 PFS 密切相关（p）。</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摘要号：PF1061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epcoritamab+r-mini-chop治疗老年新诊断dlbcl患者2年缓解和mrd阴性率高：epcore nh...</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epcoritamab + r-mini-chop results in 2-year remissions and high mrd-negativit...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总缓解率（ORR）：93%</a:t>
            </a:r>
          </a:p>
          <a:p>
            <a:pPr>
              <a:lnSpc>
                <a:spcPct val="103000"/>
              </a:lnSpc>
              <a:spcAft>
                <a:spcPts val="300"/>
              </a:spcAft>
              <a:defRPr sz="800">
                <a:solidFill>
                  <a:srgbClr val="21242A"/>
                </a:solidFill>
                <a:latin typeface="Microsoft YaHei"/>
              </a:defRPr>
            </a:pPr>
            <a:r>
              <a:t>完全缓解率（CR）：86%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治疗线数：一线、二线、三线</a:t>
            </a:r>
          </a:p>
          <a:p>
            <a:pPr>
              <a:lnSpc>
                <a:spcPct val="103000"/>
              </a:lnSpc>
              <a:spcAft>
                <a:spcPts val="300"/>
              </a:spcAft>
              <a:defRPr sz="810">
                <a:solidFill>
                  <a:srgbClr val="21242A"/>
                </a:solidFill>
                <a:latin typeface="Microsoft YaHei"/>
              </a:defRPr>
            </a:pPr>
            <a:r>
              <a:t>登记号：NCT04663347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epcoritamab+r-mini-chop治疗老年新诊断dlbcl患者2年缓解和mrd阴性率高：epcore nh...</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epcoritamab + r-mini-chop results in 2-year remissions and high mrd-negativit...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背景：剂量减毒利妥昔单抗联合环磷酰胺、阿霉素、长春新碱和泼尼松 (R-mini-CHOP) 是新诊断 (1L) DLBCL 因年龄或合并症而无法接受全剂量 R-CHOP 的患者 (pts) 的标准治疗 (SOC)。 R-mini-CHOP 的结果仍然不理想，2 年 PFS 和 OS 率分别为 47% 和 59%。</a:t>
            </a:r>
          </a:p>
          <a:p>
            <a:pPr>
              <a:lnSpc>
                <a:spcPct val="103000"/>
              </a:lnSpc>
              <a:spcAft>
                <a:spcPts val="300"/>
              </a:spcAft>
              <a:defRPr sz="550">
                <a:solidFill>
                  <a:srgbClr val="21242A"/>
                </a:solidFill>
                <a:latin typeface="Microsoft YaHei"/>
              </a:defRPr>
            </a:pPr>
            <a:r>
              <a:t>目的：报告 1b/2 期 EPCORE ® NHL-2 试验 (NCT04663347) 中不适合接受全剂量 R-CHOP 的 1L DLBCL 老年患者使用 epcoritamab（一种 CD3×CD20 双特异性抗体）加 R-mini-CHOP 的 2 年以上随访结果。</a:t>
            </a:r>
          </a:p>
          <a:p>
            <a:pPr>
              <a:lnSpc>
                <a:spcPct val="103000"/>
              </a:lnSpc>
              <a:spcAft>
                <a:spcPts val="300"/>
              </a:spcAft>
              <a:defRPr sz="550">
                <a:solidFill>
                  <a:srgbClr val="21242A"/>
                </a:solidFill>
                <a:latin typeface="Microsoft YaHei"/>
              </a:defRPr>
            </a:pPr>
            <a:r>
              <a:t>方法：患有 1L CD20+ DLBCL 的成人，由于年龄 ≥ 75 岁或 ≥ 65 岁有合并症而不适合接受全剂量 R-CHOP，接受固定持续时间 SC epcoritamab 48 mg（QW，周期 [C] 1-2 [每次 21 天]；Q3W，C3-6 [每次 21 天]；Q4W，C7-8 [每次 28 天]；C1 </a:t>
            </a:r>
          </a:p>
          <a:p>
            <a:pPr>
              <a:lnSpc>
                <a:spcPct val="103000"/>
              </a:lnSpc>
              <a:spcAft>
                <a:spcPts val="300"/>
              </a:spcAft>
              <a:defRPr sz="550">
                <a:solidFill>
                  <a:srgbClr val="21242A"/>
                </a:solidFill>
                <a:latin typeface="Microsoft YaHei"/>
              </a:defRPr>
            </a:pPr>
            <a:r>
              <a:t>逐步给药[C1 第 1 天（D1）0.16 mg，C1D8 0.8 mg]）+ R-mini-CHOP（Q3W，C1-6）。主要终点是根据卢加诺标准的 ORR。</a:t>
            </a:r>
          </a:p>
          <a:p>
            <a:pPr>
              <a:lnSpc>
                <a:spcPct val="103000"/>
              </a:lnSpc>
              <a:spcAft>
                <a:spcPts val="300"/>
              </a:spcAft>
              <a:defRPr sz="550">
                <a:solidFill>
                  <a:srgbClr val="21242A"/>
                </a:solidFill>
                <a:latin typeface="Microsoft YaHei"/>
              </a:defRPr>
            </a:pPr>
            <a:r>
              <a:t>MRD 阴性，定义为</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对于不适合接受全剂量 R-CHOP 的 1L DLBCL 老年患者，固定疗程 epcoritamab + R-mini-CHOP 可实现高 ORR 和 CR 率、快速且持续的 MRD 阴性以及持久缓解。这些结果与单独使用 R-mini-CHOP 的历史结果相比较。安全性与之前的报告以及 epcoritamab 和 R-</a:t>
            </a:r>
          </a:p>
          <a:p>
            <a:pPr>
              <a:lnSpc>
                <a:spcPct val="103000"/>
              </a:lnSpc>
              <a:spcAft>
                <a:spcPts val="300"/>
              </a:spcAft>
              <a:defRPr sz="570">
                <a:solidFill>
                  <a:srgbClr val="21242A"/>
                </a:solidFill>
                <a:latin typeface="Microsoft YaHei"/>
              </a:defRPr>
            </a:pPr>
            <a:r>
              <a:t>mini-CHOP 的已知安全性一致。这些结果与试验其他部分的结果一起，支持在一系列疾病环境和患者人群中将 epcoritamab 与 SOC 联合使用。</a:t>
            </a:r>
          </a:p>
          <a:p>
            <a:pPr>
              <a:lnSpc>
                <a:spcPct val="103000"/>
              </a:lnSpc>
              <a:spcAft>
                <a:spcPts val="300"/>
              </a:spcAft>
              <a:defRPr sz="570">
                <a:solidFill>
                  <a:srgbClr val="21242A"/>
                </a:solidFill>
                <a:latin typeface="Microsoft YaHei"/>
              </a:defRPr>
            </a:pPr>
            <a:r>
              <a:t>© 美国血液学会 (2025)。经许可重复使用。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93%</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86%</a:t>
                      </a:r>
                    </a:p>
                  </a:txBody>
                  <a:tcPr>
                    <a:solidFill>
                      <a:srgbClr val="FFFFFF"/>
                    </a:solidFill>
                  </a:tcPr>
                </a:tc>
              </a:tr>
              <a:tr h="214230">
                <a:tc>
                  <a:txBody>
                    <a:bodyPr wrap="square" lIns="36576" rIns="36576" tIns="18288" bIns="18288"/>
                    <a:lstStyle/>
                    <a:p>
                      <a:r>
                        <a:rPr sz="540" b="1">
                          <a:solidFill>
                            <a:srgbClr val="21242A"/>
                          </a:solidFill>
                          <a:latin typeface="Microsoft YaHei"/>
                        </a:rPr>
                        <a:t>2年缓解持续时间（DOR）率</a:t>
                      </a:r>
                    </a:p>
                  </a:txBody>
                  <a:tcPr>
                    <a:solidFill>
                      <a:srgbClr val="F6F8FB"/>
                    </a:solidFill>
                  </a:tcPr>
                </a:tc>
                <a:tc>
                  <a:txBody>
                    <a:bodyPr wrap="square" lIns="36576" rIns="36576" tIns="18288" bIns="18288"/>
                    <a:lstStyle/>
                    <a:p>
                      <a:r>
                        <a:rPr sz="540" b="0">
                          <a:solidFill>
                            <a:srgbClr val="21242A"/>
                          </a:solidFill>
                          <a:latin typeface="Microsoft YaHei"/>
                        </a:rPr>
                        <a:t>79%</a:t>
                      </a:r>
                    </a:p>
                  </a:txBody>
                  <a:tcPr>
                    <a:solidFill>
                      <a:srgbClr val="F6F8FB"/>
                    </a:solidFill>
                  </a:tcPr>
                </a:tc>
              </a:tr>
              <a:tr h="214230">
                <a:tc>
                  <a:txBody>
                    <a:bodyPr wrap="square" lIns="36576" rIns="36576" tIns="18288" bIns="18288"/>
                    <a:lstStyle/>
                    <a:p>
                      <a:r>
                        <a:rPr sz="540" b="1">
                          <a:solidFill>
                            <a:srgbClr val="21242A"/>
                          </a:solidFill>
                          <a:latin typeface="Microsoft YaHei"/>
                        </a:rPr>
                        <a:t>2年完全缓解持续时间（DOCR）率</a:t>
                      </a:r>
                    </a:p>
                  </a:txBody>
                  <a:tcPr>
                    <a:solidFill>
                      <a:srgbClr val="FFFFFF"/>
                    </a:solidFill>
                  </a:tcPr>
                </a:tc>
                <a:tc>
                  <a:txBody>
                    <a:bodyPr wrap="square" lIns="36576" rIns="36576" tIns="18288" bIns="18288"/>
                    <a:lstStyle/>
                    <a:p>
                      <a:r>
                        <a:rPr sz="540" b="0">
                          <a:solidFill>
                            <a:srgbClr val="21242A"/>
                          </a:solidFill>
                          <a:latin typeface="Microsoft YaHei"/>
                        </a:rPr>
                        <a:t>79%</a:t>
                      </a:r>
                    </a:p>
                  </a:txBody>
                  <a:tcPr>
                    <a:solidFill>
                      <a:srgbClr val="FFFFFF"/>
                    </a:solidFill>
                  </a:tcPr>
                </a:tc>
              </a:tr>
              <a:tr h="214230">
                <a:tc>
                  <a:txBody>
                    <a:bodyPr wrap="square" lIns="36576" rIns="36576" tIns="18288" bIns="18288"/>
                    <a:lstStyle/>
                    <a:p>
                      <a:r>
                        <a:rPr sz="540" b="1">
                          <a:solidFill>
                            <a:srgbClr val="21242A"/>
                          </a:solidFill>
                          <a:latin typeface="Microsoft YaHei"/>
                        </a:rPr>
                        <a:t>2年无进展生存（PFS）率</a:t>
                      </a:r>
                    </a:p>
                  </a:txBody>
                  <a:tcPr>
                    <a:solidFill>
                      <a:srgbClr val="F6F8FB"/>
                    </a:solidFill>
                  </a:tcPr>
                </a:tc>
                <a:tc>
                  <a:txBody>
                    <a:bodyPr wrap="square" lIns="36576" rIns="36576" tIns="18288" bIns="18288"/>
                    <a:lstStyle/>
                    <a:p>
                      <a:r>
                        <a:rPr sz="540" b="0">
                          <a:solidFill>
                            <a:srgbClr val="21242A"/>
                          </a:solidFill>
                          <a:latin typeface="Microsoft YaHei"/>
                        </a:rPr>
                        <a:t>76%</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北欧淋巴瘤组3期北极熊试验在老年或体弱弥漫性大细胞淋巴瘤患者中的安全性数据和初步合并疗效数据-r-polamini-c...</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safety data and initial pooled efficacy data from the nordic lymphoma group 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N=300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多组/多方案比较：试验组1：R-miniCHOP（标准治疗组）</a:t>
            </a:r>
          </a:p>
          <a:p>
            <a:pPr>
              <a:lnSpc>
                <a:spcPct val="103000"/>
              </a:lnSpc>
              <a:spcAft>
                <a:spcPts val="300"/>
              </a:spcAft>
              <a:defRPr sz="800">
                <a:solidFill>
                  <a:srgbClr val="21242A"/>
                </a:solidFill>
                <a:latin typeface="Microsoft YaHei"/>
              </a:defRPr>
            </a:pPr>
            <a:r>
              <a:t>试验组2：Pola-R-miniCHP（实验组，polatuzumab vedotin替代长春新碱）</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不良事件（AE）：任何等级AE发生率未明确给出，但报告了≥3级AE在Arm A为30%，Arm B为36%</a:t>
            </a:r>
          </a:p>
          <a:p>
            <a:pPr>
              <a:lnSpc>
                <a:spcPct val="103000"/>
              </a:lnSpc>
              <a:spcAft>
                <a:spcPts val="300"/>
              </a:spcAft>
              <a:defRPr sz="800">
                <a:solidFill>
                  <a:srgbClr val="21242A"/>
                </a:solidFill>
                <a:latin typeface="Microsoft YaHei"/>
              </a:defRPr>
            </a:pPr>
            <a:r>
              <a:t>感染≥3级：Arm A 7.3%，Arm B 12.7%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人数：300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登记号：NCT04332822</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北欧淋巴瘤组3期北极熊试验在老年或体弱弥漫性大细胞淋巴瘤患者中的安全性数据和初步合并疗效数据-r-polamini-c...</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safety data and initial pooled efficacy data from the nordic lymphoma group 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背景：对于弥漫性大 B 细胞淋巴瘤 (DLBCL) 患者来说，总生存期 (OS) 在过去十年中得到了显着改善。一个例外是80岁以上的患者群体，由于人口结构的变化，随着人口的逐渐老龄化，该群体在DLBCL患者中所占的比例也不断增加。对这一人群进行有效和安全的治疗是一个明显未得到满足的医疗需求。目的：在这项随机 3 期试验</a:t>
            </a:r>
          </a:p>
          <a:p>
            <a:pPr>
              <a:lnSpc>
                <a:spcPct val="103000"/>
              </a:lnSpc>
              <a:spcAft>
                <a:spcPts val="300"/>
              </a:spcAft>
              <a:defRPr sz="550">
                <a:solidFill>
                  <a:srgbClr val="21242A"/>
                </a:solidFill>
                <a:latin typeface="Microsoft YaHei"/>
              </a:defRPr>
            </a:pPr>
            <a:r>
              <a:t> (NCT04332822) 中，我们与当前的治疗标准 R-mini-CHOP 相比，评估了 Pola-R-mini-CHP 作为老年/体弱 DLBCL 患者一线治疗的耐受性和疗效。在此，我们提供了本试验中 300 名患者的安全性数据，以及各治疗组（包括亚组）的汇总疗效数据。方法：根据简化的综合老年评估，新诊断的 DL</a:t>
            </a:r>
          </a:p>
          <a:p>
            <a:pPr>
              <a:lnSpc>
                <a:spcPct val="103000"/>
              </a:lnSpc>
              <a:spcAft>
                <a:spcPts val="300"/>
              </a:spcAft>
              <a:defRPr sz="550">
                <a:solidFill>
                  <a:srgbClr val="21242A"/>
                </a:solidFill>
                <a:latin typeface="Microsoft YaHei"/>
              </a:defRPr>
            </a:pPr>
            <a:r>
              <a:t>BCL、&gt;80 岁或 75-80 岁且体弱的患者按 1:1 随机分配至该人群的标准治疗方案 R-miniCHOP（A 组）或实验方案 Pola-R-miniCHP（B 组），其中长春新碱被 polatuzumab vedotin 替代，1.8 mg/kg，第 1 天，均治疗 6 次循环。样本大小基于 PFS 的目标 H</a:t>
            </a:r>
          </a:p>
          <a:p>
            <a:pPr>
              <a:lnSpc>
                <a:spcPct val="103000"/>
              </a:lnSpc>
              <a:spcAft>
                <a:spcPts val="300"/>
              </a:spcAft>
              <a:defRPr sz="550">
                <a:solidFill>
                  <a:srgbClr val="21242A"/>
                </a:solidFill>
                <a:latin typeface="Microsoft YaHei"/>
              </a:defRPr>
            </a:pPr>
            <a:r>
              <a:t>R 0.64，并且在 I 类误差 α=0.05 的情况下实现至少 80% 功效所需的事件总数为 158。</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基于利妥昔单抗/蒽环类药物的化疗仍然是老年和体弱 DLBCL 患者的标准治疗方法，显示出良好的疗效和可接受的耐受性。与 R-mini-CHOP 的历史数据（Peyrade 2011）相比，显示 2 年 PFS 为 47%，OS 为 59%——我们观察到的汇总 2 年 PFS 为 67%，OS 为 76%，非常令人鼓舞。</a:t>
            </a:r>
          </a:p>
          <a:p>
            <a:pPr>
              <a:lnSpc>
                <a:spcPct val="103000"/>
              </a:lnSpc>
              <a:spcAft>
                <a:spcPts val="300"/>
              </a:spcAft>
              <a:defRPr sz="570">
                <a:solidFill>
                  <a:srgbClr val="21242A"/>
                </a:solidFill>
                <a:latin typeface="Microsoft YaHei"/>
              </a:defRPr>
            </a:pPr>
            <a:r>
              <a:t>感染性并发症、胃肠道毒性和周围神经病变通常是可以控制的，并且在 R-mini-CHOP 中用 polatuzumab vedotin 替代长春新碱不会导致毒性发生率或严重程度显着增加。</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不良事件（AE）</a:t>
                      </a:r>
                    </a:p>
                  </a:txBody>
                  <a:tcPr>
                    <a:solidFill>
                      <a:srgbClr val="F6F8FB"/>
                    </a:solidFill>
                  </a:tcPr>
                </a:tc>
                <a:tc>
                  <a:txBody>
                    <a:bodyPr wrap="square" lIns="36576" rIns="36576" tIns="18288" bIns="18288"/>
                    <a:lstStyle/>
                    <a:p>
                      <a:r>
                        <a:rPr sz="540" b="0">
                          <a:solidFill>
                            <a:srgbClr val="21242A"/>
                          </a:solidFill>
                          <a:latin typeface="Microsoft YaHei"/>
                        </a:rPr>
                        <a:t>任何等级AE发生率未明确给出，但报告了≥3级AE在Arm A为30%，Arm B为36%</a:t>
                      </a:r>
                    </a:p>
                  </a:txBody>
                  <a:tcPr>
                    <a:solidFill>
                      <a:srgbClr val="F6F8FB"/>
                    </a:solidFill>
                  </a:tcPr>
                </a:tc>
              </a:tr>
              <a:tr h="214230">
                <a:tc>
                  <a:txBody>
                    <a:bodyPr wrap="square" lIns="36576" rIns="36576" tIns="18288" bIns="18288"/>
                    <a:lstStyle/>
                    <a:p>
                      <a:r>
                        <a:rPr sz="540" b="1">
                          <a:solidFill>
                            <a:srgbClr val="21242A"/>
                          </a:solidFill>
                          <a:latin typeface="Microsoft YaHei"/>
                        </a:rPr>
                        <a:t>感染≥3级</a:t>
                      </a:r>
                    </a:p>
                  </a:txBody>
                  <a:tcPr>
                    <a:solidFill>
                      <a:srgbClr val="FFFFFF"/>
                    </a:solidFill>
                  </a:tcPr>
                </a:tc>
                <a:tc>
                  <a:txBody>
                    <a:bodyPr wrap="square" lIns="36576" rIns="36576" tIns="18288" bIns="18288"/>
                    <a:lstStyle/>
                    <a:p>
                      <a:r>
                        <a:rPr sz="540" b="0">
                          <a:solidFill>
                            <a:srgbClr val="21242A"/>
                          </a:solidFill>
                          <a:latin typeface="Microsoft YaHei"/>
                        </a:rPr>
                        <a:t>Arm A 7.3%，Arm B 12.7%</a:t>
                      </a:r>
                    </a:p>
                  </a:txBody>
                  <a:tcPr>
                    <a:solidFill>
                      <a:srgbClr val="FFFFFF"/>
                    </a:solidFill>
                  </a:tcPr>
                </a:tc>
              </a:tr>
              <a:tr h="214230">
                <a:tc>
                  <a:txBody>
                    <a:bodyPr wrap="square" lIns="36576" rIns="36576" tIns="18288" bIns="18288"/>
                    <a:lstStyle/>
                    <a:p>
                      <a:r>
                        <a:rPr sz="540" b="1">
                          <a:solidFill>
                            <a:srgbClr val="21242A"/>
                          </a:solidFill>
                          <a:latin typeface="Microsoft YaHei"/>
                        </a:rPr>
                        <a:t>胃肠道毒性&gt;2级</a:t>
                      </a:r>
                    </a:p>
                  </a:txBody>
                  <a:tcPr>
                    <a:solidFill>
                      <a:srgbClr val="F6F8FB"/>
                    </a:solidFill>
                  </a:tcPr>
                </a:tc>
                <a:tc>
                  <a:txBody>
                    <a:bodyPr wrap="square" lIns="36576" rIns="36576" tIns="18288" bIns="18288"/>
                    <a:lstStyle/>
                    <a:p>
                      <a:r>
                        <a:rPr sz="540" b="0">
                          <a:solidFill>
                            <a:srgbClr val="21242A"/>
                          </a:solidFill>
                          <a:latin typeface="Microsoft YaHei"/>
                        </a:rPr>
                        <a:t>Arm A 3.3%，Arm B 6%</a:t>
                      </a:r>
                    </a:p>
                  </a:txBody>
                  <a:tcPr>
                    <a:solidFill>
                      <a:srgbClr val="F6F8FB"/>
                    </a:solidFill>
                  </a:tcPr>
                </a:tc>
              </a:tr>
              <a:tr h="214230">
                <a:tc>
                  <a:txBody>
                    <a:bodyPr wrap="square" lIns="36576" rIns="36576" tIns="18288" bIns="18288"/>
                    <a:lstStyle/>
                    <a:p>
                      <a:r>
                        <a:rPr sz="540" b="1">
                          <a:solidFill>
                            <a:srgbClr val="21242A"/>
                          </a:solidFill>
                          <a:latin typeface="Microsoft YaHei"/>
                        </a:rPr>
                        <a:t>周围神经病变1-2级</a:t>
                      </a:r>
                    </a:p>
                  </a:txBody>
                  <a:tcPr>
                    <a:solidFill>
                      <a:srgbClr val="FFFFFF"/>
                    </a:solidFill>
                  </a:tcPr>
                </a:tc>
                <a:tc>
                  <a:txBody>
                    <a:bodyPr wrap="square" lIns="36576" rIns="36576" tIns="18288" bIns="18288"/>
                    <a:lstStyle/>
                    <a:p>
                      <a:r>
                        <a:rPr sz="540" b="0">
                          <a:solidFill>
                            <a:srgbClr val="21242A"/>
                          </a:solidFill>
                          <a:latin typeface="Microsoft YaHei"/>
                        </a:rPr>
                        <a:t>Arm A 10.7%，Arm B 17.3%，≥3级仅Arm B 2例</a:t>
                      </a:r>
                    </a:p>
                  </a:txBody>
                  <a:tcPr>
                    <a:solidFill>
                      <a:srgbClr val="FFFFFF"/>
                    </a:solidFill>
                  </a:tcPr>
                </a:tc>
              </a:tr>
              <a:tr h="214230">
                <a:tc>
                  <a:txBody>
                    <a:bodyPr wrap="square" lIns="36576" rIns="36576" tIns="18288" bIns="18288"/>
                    <a:lstStyle/>
                    <a:p>
                      <a:r>
                        <a:rPr sz="540" b="1">
                          <a:solidFill>
                            <a:srgbClr val="21242A"/>
                          </a:solidFill>
                          <a:latin typeface="Microsoft YaHei"/>
                        </a:rPr>
                        <a:t>5级AE</a:t>
                      </a:r>
                    </a:p>
                  </a:txBody>
                  <a:tcPr>
                    <a:solidFill>
                      <a:srgbClr val="F6F8FB"/>
                    </a:solidFill>
                  </a:tcPr>
                </a:tc>
                <a:tc>
                  <a:txBody>
                    <a:bodyPr wrap="square" lIns="36576" rIns="36576" tIns="18288" bIns="18288"/>
                    <a:lstStyle/>
                    <a:p>
                      <a:r>
                        <a:rPr sz="540" b="0">
                          <a:solidFill>
                            <a:srgbClr val="21242A"/>
                          </a:solidFill>
                          <a:latin typeface="Microsoft YaHei"/>
                        </a:rPr>
                        <a:t>Arm A 2例，Arm B 8例</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摘要号：S238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克隆性造血与接受dlbcl治疗的老年患者持续贫血有关：北极熊3期试验分析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clonal hematopoiesis is associated with persisting anemia in elderly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PS2184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N=228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多组/多方案比较：试验组1：R-miniCHOP</a:t>
            </a:r>
          </a:p>
          <a:p>
            <a:pPr>
              <a:lnSpc>
                <a:spcPct val="103000"/>
              </a:lnSpc>
              <a:spcAft>
                <a:spcPts val="300"/>
              </a:spcAft>
              <a:defRPr sz="800">
                <a:solidFill>
                  <a:srgbClr val="21242A"/>
                </a:solidFill>
                <a:latin typeface="Microsoft YaHei"/>
              </a:defRPr>
            </a:pPr>
            <a:r>
              <a:t>试验组2：R-miniCHP-polatuzumab vedotin</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基线CHIP检出率：40% (92/228)</a:t>
            </a:r>
          </a:p>
          <a:p>
            <a:pPr>
              <a:lnSpc>
                <a:spcPct val="103000"/>
              </a:lnSpc>
              <a:spcAft>
                <a:spcPts val="300"/>
              </a:spcAft>
              <a:defRPr sz="800">
                <a:solidFill>
                  <a:srgbClr val="21242A"/>
                </a:solidFill>
                <a:latin typeface="Microsoft YaHei"/>
              </a:defRPr>
            </a:pPr>
            <a:r>
              <a:t>常见突变基因：DNMT3A (n=55), TET2 (n=45), SF3B1 (n=15)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人数：228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登记号：NCT04332822</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克隆性造血与接受dlbcl治疗的老年患者持续贫血有关：北极熊3期试验分析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clonal hematopoiesis is associated with persisting anemia in elderly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PS2184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39/187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细胞减少在免疫化疗期间很常见，特别是在老年患者中，并且常常导致剂量减少，从而降低治疗效果。预测这些毒性的因素仍有待确定。不确定潜能克隆造血（CHIP），定义为淋巴瘤患者中骨髓细胞的体细胞突变等。白血病 2020）。特别是，DNA 修复途径基因的突变与生存率低有关。据我们所知，CHIP 对老年淋巴瘤患者的影响尚未得</a:t>
            </a:r>
          </a:p>
          <a:p>
            <a:pPr>
              <a:lnSpc>
                <a:spcPct val="103000"/>
              </a:lnSpc>
              <a:spcAft>
                <a:spcPts val="300"/>
              </a:spcAft>
              <a:defRPr sz="550">
                <a:solidFill>
                  <a:srgbClr val="21242A"/>
                </a:solidFill>
                <a:latin typeface="Microsoft YaHei"/>
              </a:defRPr>
            </a:pPr>
            <a:r>
              <a:t>到广泛研究。</a:t>
            </a:r>
          </a:p>
          <a:p>
            <a:pPr>
              <a:lnSpc>
                <a:spcPct val="103000"/>
              </a:lnSpc>
              <a:spcAft>
                <a:spcPts val="300"/>
              </a:spcAft>
              <a:defRPr sz="550">
                <a:solidFill>
                  <a:srgbClr val="21242A"/>
                </a:solidFill>
                <a:latin typeface="Microsoft YaHei"/>
              </a:defRPr>
            </a:pPr>
            <a:r>
              <a:t>目的：探讨克隆造血对接受治疗性化疗的老年侵袭性淋巴瘤患者毒性的影响。</a:t>
            </a:r>
          </a:p>
          <a:p>
            <a:pPr>
              <a:lnSpc>
                <a:spcPct val="103000"/>
              </a:lnSpc>
              <a:spcAft>
                <a:spcPts val="300"/>
              </a:spcAft>
              <a:defRPr sz="550">
                <a:solidFill>
                  <a:srgbClr val="21242A"/>
                </a:solidFill>
                <a:latin typeface="Microsoft YaHei"/>
              </a:defRPr>
            </a:pPr>
            <a:r>
              <a:t>方法：前瞻性收集来自 3 期 POLAR BEAR 试验（NCT04332822；患有 DLBCL 的老年患者，第一线，按 1:1 随机分配至 R-miniCHOP 或 R-miniCHP-polatuzumab vedotin）的 228 名患者的总共 393 份血液样本 - 外周粒细胞沉淀，并通过对与克隆相关的 3</a:t>
            </a:r>
          </a:p>
          <a:p>
            <a:pPr>
              <a:lnSpc>
                <a:spcPct val="103000"/>
              </a:lnSpc>
              <a:spcAft>
                <a:spcPts val="300"/>
              </a:spcAft>
              <a:defRPr sz="550">
                <a:solidFill>
                  <a:srgbClr val="21242A"/>
                </a:solidFill>
                <a:latin typeface="Microsoft YaHei"/>
              </a:defRPr>
            </a:pPr>
            <a:r>
              <a:t>1 个基因进行靶向下一代测序来分析 CHIP。造血（最小深度 1000X）。突变检测的截止值为变异等位基因频率 (VAF) 2.0%。</a:t>
            </a:r>
          </a:p>
          <a:p>
            <a:pPr>
              <a:lnSpc>
                <a:spcPct val="103000"/>
              </a:lnSpc>
              <a:spcAft>
                <a:spcPts val="300"/>
              </a:spcAft>
              <a:defRPr sz="550">
                <a:solidFill>
                  <a:srgbClr val="21242A"/>
                </a:solidFill>
                <a:latin typeface="Microsoft YaHei"/>
              </a:defRPr>
            </a:pPr>
            <a:r>
              <a:t>161 名患者获得了配对的基线和治疗后样本。研究组的患者尚未被揭盲。</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CHIP 在接受免疫化疗治疗的 DLBCL 老年患者中非常常见，大克隆与持续性贫血有关。在连续样本中，我们确定了克隆进化模式以及与治疗相关的白血病相关的突变的生长/增加。我们还发现 SF3B1 突变的 CHIP 克隆在免疫化疗期间缩小，据我们所知，以前从未对此进行过描述。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基线CHIP检出率：40% (92/228)；常见突变基因：DNMT3A (n=55), TET2 (n=45), SF3B1 (n=15)；大CHIP克隆(VAF≥10%, n=33)患者存在持续性贫血，治疗后未恢复；治疗后出现/增长与治疗相关白血病相关的突变 (TP53和PPM1D, n=7)；SF3B1</a:t>
            </a:r>
          </a:p>
          <a:p>
            <a:pPr>
              <a:lnSpc>
                <a:spcPct val="103000"/>
              </a:lnSpc>
              <a:spcAft>
                <a:spcPts val="300"/>
              </a:spcAft>
              <a:defRPr sz="560">
                <a:solidFill>
                  <a:srgbClr val="21242A"/>
                </a:solidFill>
                <a:latin typeface="Microsoft YaHei"/>
              </a:defRPr>
            </a:pPr>
            <a:r>
              <a:t>突变克隆在免疫化疗后迅速缩小(VAF下降≥40%, n=9)</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摘要号：PS2184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基于polatuzumab vedotin的弥漫性大b细胞淋巴瘤一线治疗的真实疗效、安全性和分子特征：一项具有综合gs...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safety, and molecular characterization of polatuzumab ve...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多组/多方案比较：试验组1：Pola-R-CHP（polatuzumab vedotin, rituximab, cyclop...</a:t>
            </a:r>
          </a:p>
          <a:p>
            <a:pPr>
              <a:lnSpc>
                <a:spcPct val="103000"/>
              </a:lnSpc>
              <a:spcAft>
                <a:spcPts val="300"/>
              </a:spcAft>
              <a:defRPr sz="800">
                <a:solidFill>
                  <a:srgbClr val="21242A"/>
                </a:solidFill>
                <a:latin typeface="Microsoft YaHei"/>
              </a:defRPr>
            </a:pPr>
            <a:r>
              <a:t>试验组2：Pola-R-miniCHP（polatuzumab vedotin, rituximab, cyclophosph...</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最佳总缓解率(ORR): 90.2%</a:t>
            </a:r>
          </a:p>
          <a:p>
            <a:pPr>
              <a:lnSpc>
                <a:spcPct val="103000"/>
              </a:lnSpc>
              <a:spcAft>
                <a:spcPts val="300"/>
              </a:spcAft>
              <a:defRPr sz="800">
                <a:solidFill>
                  <a:srgbClr val="21242A"/>
                </a:solidFill>
                <a:latin typeface="Microsoft YaHei"/>
              </a:defRPr>
            </a:pPr>
            <a:r>
              <a:t>完全缓解(CR): 84.3%</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基于polatuzumab vedotin的弥漫性大b细胞淋巴瘤一线治疗的真实疗效、安全性和分子特征：一项具有综合gs...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safety, and molecular characterization of polatuzumab ve...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背景：优化弥漫性大 B 细胞淋巴瘤 (DLBCL) 的一线治疗仍然具有临床挑战性，特别是对于在前瞻性临床试验中经常代表性不足的老年和体弱患者。虽然 POLARIX 试验将 polatuzumab vedotin (Pola) 联合 R-CHP 作为选定患者的新标准，但有关其在不同患者群体中的疗效以及分子亚型的预测价值的</a:t>
            </a:r>
          </a:p>
          <a:p>
            <a:pPr>
              <a:lnSpc>
                <a:spcPct val="103000"/>
              </a:lnSpc>
              <a:spcAft>
                <a:spcPts val="300"/>
              </a:spcAft>
              <a:defRPr sz="550">
                <a:solidFill>
                  <a:srgbClr val="21242A"/>
                </a:solidFill>
                <a:latin typeface="Microsoft YaHei"/>
              </a:defRPr>
            </a:pPr>
            <a:r>
              <a:t>现实证据仍然有限。下一代测序（NGS）的整合可以完善风险分层并识别治疗耐药性的遗传决定因素。目的：在未经选择的 DLBCL 队列中评估基于 Pola 的一线治疗方案的真实疗效、安全性和无进展生存期 (PFS)，并探讨遗传亚型、体细胞变异和治疗结果之间的关联。方法：我们对 2023 年 4 月至 2025 年 8 月期间</a:t>
            </a:r>
          </a:p>
          <a:p>
            <a:pPr>
              <a:lnSpc>
                <a:spcPct val="103000"/>
              </a:lnSpc>
              <a:spcAft>
                <a:spcPts val="300"/>
              </a:spcAft>
              <a:defRPr sz="550">
                <a:solidFill>
                  <a:srgbClr val="21242A"/>
                </a:solidFill>
                <a:latin typeface="Microsoft YaHei"/>
              </a:defRPr>
            </a:pPr>
            <a:r>
              <a:t>接受基于 Pola 的一线治疗的 51 名 DLBCL 患者进行了单中心回顾性分析。治疗分配根据年龄和老年评估进行分层：Pola-R-CHP 给予≤60 岁的患者和健康状况 &gt; 60 岁的患者，而不健康/体弱的老年患者接受 Pola-R-miniCHP 或 Pola-ZR。第 4 和第 6 周期后采用全身 18F-FD</a:t>
            </a:r>
          </a:p>
          <a:p>
            <a:pPr>
              <a:lnSpc>
                <a:spcPct val="103000"/>
              </a:lnSpc>
              <a:spcAft>
                <a:spcPts val="300"/>
              </a:spcAft>
              <a:defRPr sz="550">
                <a:solidFill>
                  <a:srgbClr val="21242A"/>
                </a:solidFill>
                <a:latin typeface="Microsoft YaHei"/>
              </a:defRPr>
            </a:pPr>
            <a:r>
              <a:t>G PET/CT 进行疗效评估，根据 Lugano 2014 标准进行分类。使用 CTCAE v5.0 对不良事件进行分级。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在这个现实世界队列中，基于 Pola 的一线治疗取得了高缓解率、持久的疾病控制和可控制的毒性，从而使传统上被排除在临床试验之外的患者受益。</a:t>
            </a:r>
          </a:p>
          <a:p>
            <a:pPr>
              <a:lnSpc>
                <a:spcPct val="103000"/>
              </a:lnSpc>
              <a:spcAft>
                <a:spcPts val="300"/>
              </a:spcAft>
              <a:defRPr sz="570">
                <a:solidFill>
                  <a:srgbClr val="21242A"/>
                </a:solidFill>
                <a:latin typeface="Microsoft YaHei"/>
              </a:defRPr>
            </a:pPr>
            <a:r>
              <a:t>A53 分子亚型可能预测较差的结果，而 CCND3 突变则成为原发性耐药的潜在生物标志物。这些发现支持将基因组分析整合到治疗算法中，并需要在更大的队列中进行前瞻性验证，以个性化基于 Pola 的 DLBCL 治疗。</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最佳总缓解率(ORR)</a:t>
                      </a:r>
                    </a:p>
                  </a:txBody>
                  <a:tcPr>
                    <a:solidFill>
                      <a:srgbClr val="F6F8FB"/>
                    </a:solidFill>
                  </a:tcPr>
                </a:tc>
                <a:tc>
                  <a:txBody>
                    <a:bodyPr wrap="square" lIns="36576" rIns="36576" tIns="18288" bIns="18288"/>
                    <a:lstStyle/>
                    <a:p>
                      <a:r>
                        <a:rPr sz="540" b="0">
                          <a:solidFill>
                            <a:srgbClr val="21242A"/>
                          </a:solidFill>
                          <a:latin typeface="Microsoft YaHei"/>
                        </a:rPr>
                        <a:t>90.2%</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完全缓解(CR)</a:t>
                      </a:r>
                    </a:p>
                  </a:txBody>
                  <a:tcPr>
                    <a:solidFill>
                      <a:srgbClr val="FFFFFF"/>
                    </a:solidFill>
                  </a:tcPr>
                </a:tc>
                <a:tc>
                  <a:txBody>
                    <a:bodyPr wrap="square" lIns="36576" rIns="36576" tIns="18288" bIns="18288"/>
                    <a:lstStyle/>
                    <a:p>
                      <a:r>
                        <a:rPr sz="540" b="0">
                          <a:solidFill>
                            <a:srgbClr val="21242A"/>
                          </a:solidFill>
                          <a:latin typeface="Microsoft YaHei"/>
                        </a:rPr>
                        <a:t>84.3%</a:t>
                      </a:r>
                    </a:p>
                  </a:txBody>
                  <a:tcPr>
                    <a:solidFill>
                      <a:srgbClr val="FFFFFF"/>
                    </a:solidFill>
                  </a:tcPr>
                </a:tc>
              </a:tr>
              <a:tr h="214230">
                <a:tc>
                  <a:txBody>
                    <a:bodyPr wrap="square" lIns="36576" rIns="36576" tIns="18288" bIns="18288"/>
                    <a:lstStyle/>
                    <a:p>
                      <a:r>
                        <a:rPr sz="540" b="1">
                          <a:solidFill>
                            <a:srgbClr val="21242A"/>
                          </a:solidFill>
                          <a:latin typeface="Microsoft YaHei"/>
                        </a:rPr>
                        <a:t>部分缓解(PR)</a:t>
                      </a:r>
                    </a:p>
                  </a:txBody>
                  <a:tcPr>
                    <a:solidFill>
                      <a:srgbClr val="F6F8FB"/>
                    </a:solidFill>
                  </a:tcPr>
                </a:tc>
                <a:tc>
                  <a:txBody>
                    <a:bodyPr wrap="square" lIns="36576" rIns="36576" tIns="18288" bIns="18288"/>
                    <a:lstStyle/>
                    <a:p>
                      <a:r>
                        <a:rPr sz="540" b="0">
                          <a:solidFill>
                            <a:srgbClr val="21242A"/>
                          </a:solidFill>
                          <a:latin typeface="Microsoft YaHei"/>
                        </a:rPr>
                        <a:t>5.9%</a:t>
                      </a:r>
                    </a:p>
                  </a:txBody>
                  <a:tcPr>
                    <a:solidFill>
                      <a:srgbClr val="F6F8FB"/>
                    </a:solidFill>
                  </a:tcPr>
                </a:tc>
              </a:tr>
              <a:tr h="214230">
                <a:tc>
                  <a:txBody>
                    <a:bodyPr wrap="square" lIns="36576" rIns="36576" tIns="18288" bIns="18288"/>
                    <a:lstStyle/>
                    <a:p>
                      <a:r>
                        <a:rPr sz="540" b="1">
                          <a:solidFill>
                            <a:srgbClr val="21242A"/>
                          </a:solidFill>
                          <a:latin typeface="Microsoft YaHei"/>
                        </a:rPr>
                        <a:t>疾病进展(PD)</a:t>
                      </a:r>
                    </a:p>
                  </a:txBody>
                  <a:tcPr>
                    <a:solidFill>
                      <a:srgbClr val="FFFFFF"/>
                    </a:solidFill>
                  </a:tcPr>
                </a:tc>
                <a:tc>
                  <a:txBody>
                    <a:bodyPr wrap="square" lIns="36576" rIns="36576" tIns="18288" bIns="18288"/>
                    <a:lstStyle/>
                    <a:p>
                      <a:r>
                        <a:rPr sz="540" b="0">
                          <a:solidFill>
                            <a:srgbClr val="21242A"/>
                          </a:solidFill>
                          <a:latin typeface="Microsoft YaHei"/>
                        </a:rPr>
                        <a:t>9.8%</a:t>
                      </a:r>
                    </a:p>
                  </a:txBody>
                  <a:tcPr>
                    <a:solidFill>
                      <a:srgbClr val="FFFFFF"/>
                    </a:solidFill>
                  </a:tcPr>
                </a:tc>
              </a:tr>
              <a:tr h="214230">
                <a:tc>
                  <a:txBody>
                    <a:bodyPr wrap="square" lIns="36576" rIns="36576" tIns="18288" bIns="18288"/>
                    <a:lstStyle/>
                    <a:p>
                      <a:r>
                        <a:rPr sz="540" b="1">
                          <a:solidFill>
                            <a:srgbClr val="21242A"/>
                          </a:solidFill>
                          <a:latin typeface="Microsoft YaHei"/>
                        </a:rPr>
                        <a:t>12个月无进展生存期(PFS)</a:t>
                      </a:r>
                    </a:p>
                  </a:txBody>
                  <a:tcPr>
                    <a:solidFill>
                      <a:srgbClr val="F6F8FB"/>
                    </a:solidFill>
                  </a:tcPr>
                </a:tc>
                <a:tc>
                  <a:txBody>
                    <a:bodyPr wrap="square" lIns="36576" rIns="36576" tIns="18288" bIns="18288"/>
                    <a:lstStyle/>
                    <a:p>
                      <a:r>
                        <a:rPr sz="540" b="0">
                          <a:solidFill>
                            <a:srgbClr val="21242A"/>
                          </a:solidFill>
                          <a:latin typeface="Microsoft YaHei"/>
                        </a:rPr>
                        <a:t>88.6%</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其余4条结果见HTML完整清单及EHA原文。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摘要号：PS2120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polatuzumab vedotin联合奥来拉替尼和利妥昔单抗（pro方案）作为一线治疗高龄体弱dlbcl患者：一项...</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polatuzumab vedotin combined with orelabrutinib and rituximab (pro regimen)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试验药/方案：奥布替尼</a:t>
            </a:r>
          </a:p>
          <a:p>
            <a:pPr>
              <a:lnSpc>
                <a:spcPct val="103000"/>
              </a:lnSpc>
              <a:spcAft>
                <a:spcPts val="300"/>
              </a:spcAft>
              <a:defRPr sz="800">
                <a:solidFill>
                  <a:srgbClr val="21242A"/>
                </a:solidFill>
                <a:latin typeface="Microsoft YaHei"/>
              </a:defRPr>
            </a:pPr>
            <a:r>
              <a:t>维泊妥珠单抗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完全缓解率（CR）: 58.6% (17/29)</a:t>
            </a:r>
          </a:p>
          <a:p>
            <a:pPr>
              <a:lnSpc>
                <a:spcPct val="103000"/>
              </a:lnSpc>
              <a:spcAft>
                <a:spcPts val="300"/>
              </a:spcAft>
              <a:defRPr sz="800">
                <a:solidFill>
                  <a:srgbClr val="21242A"/>
                </a:solidFill>
                <a:latin typeface="Microsoft YaHei"/>
              </a:defRPr>
            </a:pPr>
            <a:r>
              <a:t>客观缓解率（ORR）: 96.5%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人数：39</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登记号：NCT06530511</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试验药/方案：奥布替尼、维泊妥珠单抗、利妥昔单抗</a:t>
            </a:r>
          </a:p>
          <a:p>
            <a:pPr>
              <a:lnSpc>
                <a:spcPct val="103000"/>
              </a:lnSpc>
              <a:spcAft>
                <a:spcPts val="300"/>
              </a:spcAft>
              <a:defRPr sz="810">
                <a:solidFill>
                  <a:srgbClr val="21242A"/>
                </a:solidFill>
                <a:latin typeface="Microsoft YaHei"/>
              </a:defRPr>
            </a:pPr>
            <a:r>
              <a:t>靶点：BTK、CD79B、CD20</a:t>
            </a:r>
          </a:p>
          <a:p>
            <a:pPr>
              <a:lnSpc>
                <a:spcPct val="103000"/>
              </a:lnSpc>
              <a:spcAft>
                <a:spcPts val="300"/>
              </a:spcAft>
              <a:defRPr sz="810">
                <a:solidFill>
                  <a:srgbClr val="21242A"/>
                </a:solidFill>
                <a:latin typeface="Microsoft YaHei"/>
              </a:defRPr>
            </a:pPr>
            <a:r>
              <a:t>药物/技术类别：化药、缬氨酸-瓜氨酸 VC、MMAE</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polatuzumab vedotin联合奥来拉替尼和利妥昔单抗（pro方案）作为一线治疗高龄体弱dlbcl患者：一项...</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polatuzumab vedotin combined with orelabrutinib and rituximab (pro regimen)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背景：由于合并症、虚弱和对标准免疫化疗的耐受性差，高龄弥漫性大 B 细胞淋巴瘤 (DLBCL) 患者（年龄≥75-80 岁）的治疗仍然是一个重大的临床挑战。迫切需要有效的、降低强度的或免化疗的治疗方案。</a:t>
            </a:r>
          </a:p>
          <a:p>
            <a:pPr>
              <a:lnSpc>
                <a:spcPct val="103000"/>
              </a:lnSpc>
              <a:spcAft>
                <a:spcPts val="300"/>
              </a:spcAft>
              <a:defRPr sz="550">
                <a:solidFill>
                  <a:srgbClr val="21242A"/>
                </a:solidFill>
                <a:latin typeface="Microsoft YaHei"/>
              </a:defRPr>
            </a:pPr>
            <a:r>
              <a:t>目的：PRO 方案（Polatuzumab vedotin、Orelabrutinib 和 Rituximab）旨在解决这一未满足的需求。我们提供了一项正在进行的针对这一弱势群体的第二阶段研究的最新结果。</a:t>
            </a:r>
          </a:p>
          <a:p>
            <a:pPr>
              <a:lnSpc>
                <a:spcPct val="103000"/>
              </a:lnSpc>
              <a:spcAft>
                <a:spcPts val="300"/>
              </a:spcAft>
              <a:defRPr sz="550">
                <a:solidFill>
                  <a:srgbClr val="21242A"/>
                </a:solidFill>
                <a:latin typeface="Microsoft YaHei"/>
              </a:defRPr>
            </a:pPr>
            <a:r>
              <a:t>方法：这项开放标签、多中心 II 期研究纳入了先前未经治疗的老年和体弱 DLBCL 患者。患者每 3 周接受一次 Polatuzumab vedotin（1.8 mg/kg）、Orelabrutinib（每日 150 mg）和 Rituximab（375 mg/m²）治疗，最多 6 个周期，随后在应答者中再接受两个 R</a:t>
            </a:r>
          </a:p>
          <a:p>
            <a:pPr>
              <a:lnSpc>
                <a:spcPct val="103000"/>
              </a:lnSpc>
              <a:spcAft>
                <a:spcPts val="300"/>
              </a:spcAft>
              <a:defRPr sz="550">
                <a:solidFill>
                  <a:srgbClr val="21242A"/>
                </a:solidFill>
                <a:latin typeface="Microsoft YaHei"/>
              </a:defRPr>
            </a:pPr>
            <a:r>
              <a:t>ituximab 周期。根据 Lugano 2014 标准，每三个周期通过 PET/CT 或增强 CT 评估肿瘤反应。主要终点是治疗结束 CR 率；次要终点包括 ORR、PFS、DoR、OS 和安全性。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总之，尽管合并症负担较高（74.3%），但 39 名患者的最新数据表明，无化疗 PRO 方案对于老年和体弱的 DLBCL 患者来说是一种有效且可耐受的一线选择。它在治疗完成时实现了 91.7% 的 CR 率，预计 9 个月的 PFS 为 92.8%，MCD 亚型的 ORR 为 100%。这些结果支持 PRO 作为弱势患</a:t>
            </a:r>
          </a:p>
          <a:p>
            <a:pPr>
              <a:lnSpc>
                <a:spcPct val="103000"/>
              </a:lnSpc>
              <a:spcAft>
                <a:spcPts val="300"/>
              </a:spcAft>
              <a:defRPr sz="570">
                <a:solidFill>
                  <a:srgbClr val="21242A"/>
                </a:solidFill>
                <a:latin typeface="Microsoft YaHei"/>
              </a:defRPr>
            </a:pPr>
            <a:r>
              <a:t>者的可行策略，包括那些 80 岁以上不适合强化免疫化疗的患者。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结果：截至 2026 年 2 月，有 39 名中位年龄为 78.0 岁（IQR：75.0-84.0）的患者可进行评估，其中 43.6%（n=17）年龄≥80 岁。高风险特征很普遍：69.2% 的患者 IPI 评分为 3-5、III-IV 期疾病或 LDH 升高。组织学上，97.4% 患有 DLBCL，1 例 </a:t>
            </a:r>
          </a:p>
          <a:p>
            <a:pPr>
              <a:lnSpc>
                <a:spcPct val="103000"/>
              </a:lnSpc>
              <a:spcAft>
                <a:spcPts val="300"/>
              </a:spcAft>
              <a:defRPr sz="560">
                <a:solidFill>
                  <a:srgbClr val="21242A"/>
                </a:solidFill>
                <a:latin typeface="Microsoft YaHei"/>
              </a:defRPr>
            </a:pPr>
            <a:r>
              <a:t>(2.6%) 患有原发性皮肤 DLBCL，腿型 (PCDLBCL，LT)； 77.0% 属于非 GCB/ABC 亚型。</a:t>
            </a:r>
          </a:p>
          <a:p>
            <a:pPr>
              <a:lnSpc>
                <a:spcPct val="103000"/>
              </a:lnSpc>
              <a:spcAft>
                <a:spcPts val="300"/>
              </a:spcAft>
              <a:defRPr sz="560">
                <a:solidFill>
                  <a:srgbClr val="21242A"/>
                </a:solidFill>
                <a:latin typeface="Microsoft YaHei"/>
              </a:defRPr>
            </a:pPr>
            <a:r>
              <a:t>74.3% (29/39) 的超龄人群患有合并症，最常见的是心血管疾病 (41.0%)、高血压 (35.9%)、糖尿病 (15.4%)、脑血管疾病 (15.4%) 和前列腺肥大 (5.1%)。截至数据截止，39名入组患者中，29名已完成中期疗效评估，CR率为58.6%（17/29），ORR为96.5%。其中，</a:t>
            </a:r>
          </a:p>
          <a:p>
            <a:pPr>
              <a:lnSpc>
                <a:spcPct val="103000"/>
              </a:lnSpc>
              <a:spcAft>
                <a:spcPts val="300"/>
              </a:spcAft>
              <a:defRPr sz="560">
                <a:solidFill>
                  <a:srgbClr val="21242A"/>
                </a:solidFill>
                <a:latin typeface="Microsoft YaHei"/>
              </a:defRPr>
            </a:pPr>
            <a:r>
              <a:t>37.9%（11/29）获得部分缓解，3.4%（1/29）出现疾病进展。值得注意的是，在12例MCD亚型患者中，ORR率为100%（12/12），CR率为66.7%（8/12）。联合治疗完成时（C6缓解），CR率为91.7%（22/24），ORR率为95.8%（23/24）。中位随访时间为 7.0 个月（范围</a:t>
            </a:r>
          </a:p>
          <a:p>
            <a:pPr>
              <a:lnSpc>
                <a:spcPct val="103000"/>
              </a:lnSpc>
              <a:spcAft>
                <a:spcPts val="300"/>
              </a:spcAft>
              <a:defRPr sz="560">
                <a:solidFill>
                  <a:srgbClr val="21242A"/>
                </a:solidFill>
                <a:latin typeface="Microsoft YaHei"/>
              </a:defRPr>
            </a:pPr>
            <a:r>
              <a:t>为 0.4-21.5），但中位无进展生存期 (PFS) 和中位总生存期 (OS) 均未达到。预计 9 个月 PFS 率为 92.8%。</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缩短ctdna的初步结果：弥漫性大b细胞淋巴瘤一线治疗可测量的残余疾病适应降级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preliminary results from shorten-ctdna: measurable residual disease-adapted 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环磷酰胺</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多组/多方案比较：试验组1：R-CHOP（rituximab, cyclophosphamide, doxorubicin,...</a:t>
            </a:r>
          </a:p>
          <a:p>
            <a:pPr>
              <a:lnSpc>
                <a:spcPct val="103000"/>
              </a:lnSpc>
              <a:spcAft>
                <a:spcPts val="300"/>
              </a:spcAft>
              <a:defRPr sz="800">
                <a:solidFill>
                  <a:srgbClr val="21242A"/>
                </a:solidFill>
                <a:latin typeface="Microsoft YaHei"/>
              </a:defRPr>
            </a:pPr>
            <a:r>
              <a:t>试验组2：R-pola-CHP（polatuzumab vedotin, rituximab, cyclophosphamid...</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实时ctDNA-MRD检测成功率：13/14 (93%) 患者成功鉴定PV并进行检测</a:t>
            </a:r>
          </a:p>
          <a:p>
            <a:pPr>
              <a:lnSpc>
                <a:spcPct val="103000"/>
              </a:lnSpc>
              <a:spcAft>
                <a:spcPts val="300"/>
              </a:spcAft>
              <a:defRPr sz="800">
                <a:solidFill>
                  <a:srgbClr val="21242A"/>
                </a:solidFill>
                <a:latin typeface="Microsoft YaHei"/>
              </a:defRPr>
            </a:pPr>
            <a:r>
              <a:t>C4D1 ctDNA-MRD未检测到率：9/13 (69%)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登记号：NCT06693830</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试验药/方案：维泊妥珠单抗、环磷酰胺、泼尼松、长春新碱</a:t>
            </a:r>
          </a:p>
          <a:p>
            <a:pPr>
              <a:lnSpc>
                <a:spcPct val="103000"/>
              </a:lnSpc>
              <a:spcAft>
                <a:spcPts val="300"/>
              </a:spcAft>
              <a:defRPr sz="810">
                <a:solidFill>
                  <a:srgbClr val="21242A"/>
                </a:solidFill>
                <a:latin typeface="Microsoft YaHei"/>
              </a:defRPr>
            </a:pPr>
            <a:r>
              <a:t>靶点：CD79B、DNA、GR、Tubulin</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缩短ctdna的初步结果：弥漫性大b细胞淋巴瘤一线治疗可测量的残余疾病适应降级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preliminary results from shorten-ctdna: measurable residual disease-adapted 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背景：通过阶段性变异（PV）富集和检测测序（PhasED-seq）检测基于循环肿瘤 DNA（ctDNA）的可测量/分子残留病（MRD）是一种微创、经临床验证的弥漫性大 B 细胞淋巴瘤（DLBCL）疗效评估方法。经过 2 个周期的一线治疗后，PhasED-seq 未检测到 ctDNA-MRD 的患者 (pts) 的 2 </a:t>
            </a:r>
          </a:p>
          <a:p>
            <a:pPr>
              <a:lnSpc>
                <a:spcPct val="103000"/>
              </a:lnSpc>
              <a:spcAft>
                <a:spcPts val="300"/>
              </a:spcAft>
              <a:defRPr sz="550">
                <a:solidFill>
                  <a:srgbClr val="21242A"/>
                </a:solidFill>
                <a:latin typeface="Microsoft YaHei"/>
              </a:defRPr>
            </a:pPr>
            <a:r>
              <a:t>年无进展生存率为 96% (Roschewski JCO 2025)。此前尚未使用基于 PhasED-seq 的 Foresight CLARITY 检测进行实时 ctDNA-MRD 检测来指导一线 DLBCL 治疗的降级。目的：共同主要目标是 1) 评估一线 DLBCL 治疗期间实时 ctDNA-MRD 检测的可行性</a:t>
            </a:r>
          </a:p>
          <a:p>
            <a:pPr>
              <a:lnSpc>
                <a:spcPct val="103000"/>
              </a:lnSpc>
              <a:spcAft>
                <a:spcPts val="300"/>
              </a:spcAft>
              <a:defRPr sz="550">
                <a:solidFill>
                  <a:srgbClr val="21242A"/>
                </a:solidFill>
                <a:latin typeface="Microsoft YaHei"/>
              </a:defRPr>
            </a:pPr>
            <a:r>
              <a:t>，2) 确定治疗中期 ctDNA-MRD 检测不到并提前停止化疗的患者的结果。方法：我们对新诊断的 II-IV 期 DLBCL 患者进行了一项单中心研究者发起的可行性研究 (NCT06693830)。患者接受 4 个周期的标准利妥昔单抗、环磷酰胺、阿霉素、泼尼松和长春新碱 (R-CHOP) 或 polatuzumab </a:t>
            </a:r>
          </a:p>
          <a:p>
            <a:pPr>
              <a:lnSpc>
                <a:spcPct val="103000"/>
              </a:lnSpc>
              <a:spcAft>
                <a:spcPts val="300"/>
              </a:spcAft>
              <a:defRPr sz="550">
                <a:solidFill>
                  <a:srgbClr val="21242A"/>
                </a:solidFill>
                <a:latin typeface="Microsoft YaHei"/>
              </a:defRPr>
            </a:pPr>
            <a:r>
              <a:t>vedotin (R-pola-CHP)。在第 4 个周期第 1 天 (C4D1) 抽取全血样本进行实时 ctDNA-MRD（完整内容见HTML/EHA原文）</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SHORTEN-ctDNA 的初步结果表明，使用 Foresight CLARITY 进行实时 ctDNA-MRD 评估来降低 DLBCL 的一线治疗是可行的。对于治疗中期未检测到 ctDNA-MRD 并及早停止化疗的患者来说，短期临床结果和分子缓解效果非常好。</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实时ctDNA-MRD检测成功率</a:t>
                      </a:r>
                    </a:p>
                  </a:txBody>
                  <a:tcPr>
                    <a:solidFill>
                      <a:srgbClr val="F6F8FB"/>
                    </a:solidFill>
                  </a:tcPr>
                </a:tc>
                <a:tc>
                  <a:txBody>
                    <a:bodyPr wrap="square" lIns="36576" rIns="36576" tIns="18288" bIns="18288"/>
                    <a:lstStyle/>
                    <a:p>
                      <a:r>
                        <a:rPr sz="540" b="0">
                          <a:solidFill>
                            <a:srgbClr val="21242A"/>
                          </a:solidFill>
                          <a:latin typeface="Microsoft YaHei"/>
                        </a:rPr>
                        <a:t>13/14 (93%) 患者成功鉴定PV并进行检测</a:t>
                      </a:r>
                    </a:p>
                  </a:txBody>
                  <a:tcPr>
                    <a:solidFill>
                      <a:srgbClr val="F6F8FB"/>
                    </a:solidFill>
                  </a:tcPr>
                </a:tc>
              </a:tr>
              <a:tr h="299923">
                <a:tc>
                  <a:txBody>
                    <a:bodyPr wrap="square" lIns="36576" rIns="36576" tIns="18288" bIns="18288"/>
                    <a:lstStyle/>
                    <a:p>
                      <a:r>
                        <a:rPr sz="540" b="1">
                          <a:solidFill>
                            <a:srgbClr val="21242A"/>
                          </a:solidFill>
                          <a:latin typeface="Microsoft YaHei"/>
                        </a:rPr>
                        <a:t>C4D1 ctDNA-MRD未检测到率</a:t>
                      </a:r>
                    </a:p>
                  </a:txBody>
                  <a:tcPr>
                    <a:solidFill>
                      <a:srgbClr val="FFFFFF"/>
                    </a:solidFill>
                  </a:tcPr>
                </a:tc>
                <a:tc>
                  <a:txBody>
                    <a:bodyPr wrap="square" lIns="36576" rIns="36576" tIns="18288" bIns="18288"/>
                    <a:lstStyle/>
                    <a:p>
                      <a:r>
                        <a:rPr sz="540" b="0">
                          <a:solidFill>
                            <a:srgbClr val="21242A"/>
                          </a:solidFill>
                          <a:latin typeface="Microsoft YaHei"/>
                        </a:rPr>
                        <a:t>9/13 (69%)</a:t>
                      </a:r>
                    </a:p>
                  </a:txBody>
                  <a:tcPr>
                    <a:solidFill>
                      <a:srgbClr val="FFFFFF"/>
                    </a:solidFill>
                  </a:tcPr>
                </a:tc>
              </a:tr>
              <a:tr h="299923">
                <a:tc>
                  <a:txBody>
                    <a:bodyPr wrap="square" lIns="36576" rIns="36576" tIns="18288" bIns="18288"/>
                    <a:lstStyle/>
                    <a:p>
                      <a:r>
                        <a:rPr sz="540" b="1">
                          <a:solidFill>
                            <a:srgbClr val="21242A"/>
                          </a:solidFill>
                          <a:latin typeface="Microsoft YaHei"/>
                        </a:rPr>
                        <a:t>iPET4结果</a:t>
                      </a:r>
                    </a:p>
                  </a:txBody>
                  <a:tcPr>
                    <a:solidFill>
                      <a:srgbClr val="F6F8FB"/>
                    </a:solidFill>
                  </a:tcPr>
                </a:tc>
                <a:tc>
                  <a:txBody>
                    <a:bodyPr wrap="square" lIns="36576" rIns="36576" tIns="18288" bIns="18288"/>
                    <a:lstStyle/>
                    <a:p>
                      <a:r>
                        <a:rPr sz="540" b="0">
                          <a:solidFill>
                            <a:srgbClr val="21242A"/>
                          </a:solidFill>
                          <a:latin typeface="Microsoft YaHei"/>
                        </a:rPr>
                        <a:t>5/9明确CMR，4/9模棱两可但活检证实CMR</a:t>
                      </a:r>
                    </a:p>
                  </a:txBody>
                  <a:tcPr>
                    <a:solidFill>
                      <a:srgbClr val="F6F8FB"/>
                    </a:solidFill>
                  </a:tcPr>
                </a:tc>
              </a:tr>
              <a:tr h="299924">
                <a:tc>
                  <a:txBody>
                    <a:bodyPr wrap="square" lIns="36576" rIns="36576" tIns="18288" bIns="18288"/>
                    <a:lstStyle/>
                    <a:p>
                      <a:r>
                        <a:rPr sz="540" b="1">
                          <a:solidFill>
                            <a:srgbClr val="21242A"/>
                          </a:solidFill>
                          <a:latin typeface="Microsoft YaHei"/>
                        </a:rPr>
                        <a:t>降阶梯结果</a:t>
                      </a:r>
                    </a:p>
                  </a:txBody>
                  <a:tcPr>
                    <a:solidFill>
                      <a:srgbClr val="FFFFFF"/>
                    </a:solidFill>
                  </a:tcPr>
                </a:tc>
                <a:tc>
                  <a:txBody>
                    <a:bodyPr wrap="square" lIns="36576" rIns="36576" tIns="18288" bIns="18288"/>
                    <a:lstStyle/>
                    <a:p>
                      <a:r>
                        <a:rPr sz="540" b="0">
                          <a:solidFill>
                            <a:srgbClr val="21242A"/>
                          </a:solidFill>
                          <a:latin typeface="Microsoft YaHei"/>
                        </a:rPr>
                        <a:t>8例降阶梯至利妥昔单抗单药（另1例等待中），前6例EOT PET均为CMR，所有降阶梯患者保持缓解，中位随访6.4个月</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pola-rchp治疗结外受累的dlbcl患者：代表性不足人群的真实证据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pola-rchp for dlbcl patients with extranodal involvement: real-world evidence...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客观缓解率（ORR）：86%|完全缓解率（CR）：81%|6个月无进展生存率：85.9%|12个月无进展生存率：77.3%|6...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人数：103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pola-rchp治疗结外受累的dlbcl患者：代表性不足人群的真实证据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pola-rchp for dlbcl patients with extranodal involvement: real-world evidence...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背景：POLARIX 试验确立了 polatuzumab vedotin 联合利妥昔单抗、环磷酰胺、阿霉素和泼尼松 (pola-R-CHP) 作为弥漫性大 B 细胞淋巴瘤 (DLBCL) 一线治疗的新标准。然而，结外受累（一种公认的不良预后因素）的患者在该研究中代表性不足，并且该方案在现实世界人群中的有效性和安全性数据</a:t>
            </a:r>
          </a:p>
          <a:p>
            <a:pPr>
              <a:lnSpc>
                <a:spcPct val="103000"/>
              </a:lnSpc>
              <a:spcAft>
                <a:spcPts val="300"/>
              </a:spcAft>
              <a:defRPr sz="550">
                <a:solidFill>
                  <a:srgbClr val="21242A"/>
                </a:solidFill>
                <a:latin typeface="Microsoft YaHei"/>
              </a:defRPr>
            </a:pPr>
            <a:r>
              <a:t>仍然很少。为了解决这一差距，我们对接受 pola-R-CHP 治疗的结外受累的 DLBCL 患者进行了单中心回顾性分析。</a:t>
            </a:r>
          </a:p>
          <a:p>
            <a:pPr>
              <a:lnSpc>
                <a:spcPct val="103000"/>
              </a:lnSpc>
              <a:spcAft>
                <a:spcPts val="300"/>
              </a:spcAft>
              <a:defRPr sz="550">
                <a:solidFill>
                  <a:srgbClr val="21242A"/>
                </a:solidFill>
                <a:latin typeface="Microsoft YaHei"/>
              </a:defRPr>
            </a:pPr>
            <a:r>
              <a:t>目的：主要目标是评估总体缓解率（ORR）、完全缓解（CR）率和短期生存结果；次要目标包括安全性评估和探索结外受累模式（单部位与多部位）是否影响治疗结果。</a:t>
            </a:r>
          </a:p>
          <a:p>
            <a:pPr>
              <a:lnSpc>
                <a:spcPct val="103000"/>
              </a:lnSpc>
              <a:spcAft>
                <a:spcPts val="300"/>
              </a:spcAft>
              <a:defRPr sz="550">
                <a:solidFill>
                  <a:srgbClr val="21242A"/>
                </a:solidFill>
                <a:latin typeface="Microsoft YaHei"/>
              </a:defRPr>
            </a:pPr>
            <a:r>
              <a:t>方法：符合条件的患者经病理证实具有至少一处结外部位的 DLBCL，完成≥2 个周期的 pola-R-CHP，随后进行疗效评估，并且既往未接受过抗淋巴瘤治疗。所有患者均计划接受六个周期的 pola-R-CHP 和另外两个周期的利妥昔单抗单药治疗。分别根据 Lugano 2014 标准和 CTCAE 5.0 版评估有效性和</a:t>
            </a:r>
          </a:p>
          <a:p>
            <a:pPr>
              <a:lnSpc>
                <a:spcPct val="103000"/>
              </a:lnSpc>
              <a:spcAft>
                <a:spcPts val="300"/>
              </a:spcAft>
              <a:defRPr sz="550">
                <a:solidFill>
                  <a:srgbClr val="21242A"/>
                </a:solidFill>
                <a:latin typeface="Microsoft YaHei"/>
              </a:defRPr>
            </a:pPr>
            <a:r>
              <a:t>安全性。使用 Kaplan-Meier 方法估计生存率，数据截至 2026 年 1 月 31 日进行审查。</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据我们所知，这是第一个真实世界的证据，表明 pola-R-CHP 在结外受累的 DLBCL 患者中具有高活性和良好的耐受性。尽管该队列具有一致的高风险特征，但观察到的 81% 的 CRR 与总体 POLARIX 人群报告的 78% CRR 相比毫不逊色。这些发现支持在这一具有挑战性的亚组中使用 pola-R-CHP，并</a:t>
            </a:r>
          </a:p>
          <a:p>
            <a:pPr>
              <a:lnSpc>
                <a:spcPct val="103000"/>
              </a:lnSpc>
              <a:spcAft>
                <a:spcPts val="300"/>
              </a:spcAft>
              <a:defRPr sz="570">
                <a:solidFill>
                  <a:srgbClr val="21242A"/>
                </a:solidFill>
                <a:latin typeface="Microsoft YaHei"/>
              </a:defRPr>
            </a:pPr>
            <a:r>
              <a:t>强调需要进行更大规模的前瞻性研究，以根据特定的结外部位进一步描述结果。</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客观缓解率（ORR）：86%|完全缓解率（CR）：81%|6个月无进展生存率：85.9%|12个月无进展生存率：77.3%|6个月总生存率：100%|12个月总生存率：97.4%|任何级别不良事件：中性粒细胞减少32%，恶心25%，周围神经病变20%|≥3级不良事件：中性粒细胞减少24%，感染10%，贫血9%</a:t>
            </a:r>
          </a:p>
          <a:p>
            <a:pPr>
              <a:lnSpc>
                <a:spcPct val="103000"/>
              </a:lnSpc>
              <a:spcAft>
                <a:spcPts val="300"/>
              </a:spcAft>
              <a:defRPr sz="560">
                <a:solidFill>
                  <a:srgbClr val="21242A"/>
                </a:solidFill>
                <a:latin typeface="Microsoft YaHei"/>
              </a:defRPr>
            </a:pPr>
            <a:r>
              <a:t>|无治疗相关死亡</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布鲁顿酪氨酸激酶抑制剂维持治疗一线弥漫性大b细胞淋巴瘤：一项挑战传统范式的多中心现实研究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bruton tyrosine kinase inhibitor maintenance therapy in first-line diffuse la...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试验药/方案：奥布替尼</a:t>
            </a:r>
          </a:p>
          <a:p>
            <a:pPr>
              <a:lnSpc>
                <a:spcPct val="103000"/>
              </a:lnSpc>
              <a:spcAft>
                <a:spcPts val="300"/>
              </a:spcAft>
              <a:defRPr sz="800">
                <a:solidFill>
                  <a:srgbClr val="21242A"/>
                </a:solidFill>
                <a:latin typeface="Microsoft YaHei"/>
              </a:defRPr>
            </a:pPr>
            <a:r>
              <a:t>泽布替尼</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对照/比较：试验组：BTKi维持治疗（zanubrutinib或orelabrutinib）</a:t>
            </a:r>
          </a:p>
          <a:p>
            <a:pPr>
              <a:lnSpc>
                <a:spcPct val="103000"/>
              </a:lnSpc>
              <a:spcAft>
                <a:spcPts val="300"/>
              </a:spcAft>
              <a:defRPr sz="800">
                <a:solidFill>
                  <a:srgbClr val="21242A"/>
                </a:solidFill>
                <a:latin typeface="Microsoft YaHei"/>
              </a:defRPr>
            </a:pPr>
            <a:r>
              <a:t>对照组：PSM匹配对照组（来自REMOL-B数据库）</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2年PFS率：90%</a:t>
            </a:r>
          </a:p>
          <a:p>
            <a:pPr>
              <a:lnSpc>
                <a:spcPct val="103000"/>
              </a:lnSpc>
              <a:spcAft>
                <a:spcPts val="300"/>
              </a:spcAft>
              <a:defRPr sz="800">
                <a:solidFill>
                  <a:srgbClr val="21242A"/>
                </a:solidFill>
                <a:latin typeface="Microsoft YaHei"/>
              </a:defRPr>
            </a:pPr>
            <a:r>
              <a:t>2年OS率：98%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人数：106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治疗线数：一线、维持</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试验药/方案：奥布替尼、泽布替尼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布鲁顿酪氨酸激酶抑制剂维持治疗一线弥漫性大b细胞淋巴瘤：一项挑战传统范式的多中心现实研究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bruton tyrosine kinase inhibitor maintenance therapy in first-line diffuse la...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仍然是最常见的侵袭性非霍奇金淋巴瘤，约 30% 的患者在标准 R-CHOP 诱导治疗后出现复发。维持策略在 DLBCL 中的作用一直存在争议，利妥昔单抗和来那度胺维持治疗未能表现出一致的总生存 (OS) 益处。新型靶向药物的出现，特别是布鲁顿酪氨酸激酶抑制剂（BTKi），</a:t>
            </a:r>
          </a:p>
          <a:p>
            <a:pPr>
              <a:lnSpc>
                <a:spcPct val="103000"/>
              </a:lnSpc>
              <a:spcAft>
                <a:spcPts val="300"/>
              </a:spcAft>
              <a:defRPr sz="550">
                <a:solidFill>
                  <a:srgbClr val="21242A"/>
                </a:solidFill>
                <a:latin typeface="Microsoft YaHei"/>
              </a:defRPr>
            </a:pPr>
            <a:r>
              <a:t>有可能重塑一线治疗范式，但其作为维持治疗的疗效仍不充分。</a:t>
            </a:r>
          </a:p>
          <a:p>
            <a:pPr>
              <a:lnSpc>
                <a:spcPct val="103000"/>
              </a:lnSpc>
              <a:spcAft>
                <a:spcPts val="300"/>
              </a:spcAft>
              <a:defRPr sz="550">
                <a:solidFill>
                  <a:srgbClr val="21242A"/>
                </a:solidFill>
                <a:latin typeface="Microsoft YaHei"/>
              </a:defRPr>
            </a:pPr>
            <a:r>
              <a:t>目的：这项多中心回顾性研究旨在评估现代 DLBCL 治疗背景下基于 BTKi 的维持治疗的预后影响。 方法：我们对106例接受一线维持治疗的DLBCL患者进行回顾性分析。符合条件的患者在诱导治疗后达到完全缓解（CR）或部分缓解（PR）。</a:t>
            </a:r>
          </a:p>
          <a:p>
            <a:pPr>
              <a:lnSpc>
                <a:spcPct val="103000"/>
              </a:lnSpc>
              <a:spcAft>
                <a:spcPts val="300"/>
              </a:spcAft>
              <a:defRPr sz="550">
                <a:solidFill>
                  <a:srgbClr val="21242A"/>
                </a:solidFill>
                <a:latin typeface="Microsoft YaHei"/>
              </a:defRPr>
            </a:pPr>
            <a:r>
              <a:t>73.6% 的患者接受了 BTKi 维持治疗（zanubrutinib 或 orelabrutinib）。使用倾向评分匹配（PSM），我们从公开的 REMoDL-B 试验数据库中选择了 44 名患者作为对照组。根据赖特的“七基因”模型进行下一代测序以进行分子亚型分析。使用 Kaplan-Meier 方法和 Cox 比例</a:t>
            </a:r>
          </a:p>
          <a:p>
            <a:pPr>
              <a:lnSpc>
                <a:spcPct val="103000"/>
              </a:lnSpc>
              <a:spcAft>
                <a:spcPts val="300"/>
              </a:spcAft>
              <a:defRPr sz="550">
                <a:solidFill>
                  <a:srgbClr val="21242A"/>
                </a:solidFill>
                <a:latin typeface="Microsoft YaHei"/>
              </a:defRPr>
            </a:pPr>
            <a:r>
              <a:t>风险回归分析生存结果。</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这项现实世界的研究挑战了既定的教条，证明基于 BTKi 的维持治疗可显着改善 DLBCL 的 PFS 和 OS，特别是对于高危患者和对诱导治疗反应不佳的患者。高危患者中没有 CNS 复发以及 MCD 分子亚型的潜在疗效增强支持 BTKi 维持作为一种有前途的策略。这些发现值得在随机试验中进行前瞻性验证，并建议重新考虑维</a:t>
            </a:r>
          </a:p>
          <a:p>
            <a:pPr>
              <a:lnSpc>
                <a:spcPct val="103000"/>
              </a:lnSpc>
              <a:spcAft>
                <a:spcPts val="300"/>
              </a:spcAft>
              <a:defRPr sz="570">
                <a:solidFill>
                  <a:srgbClr val="21242A"/>
                </a:solidFill>
                <a:latin typeface="Microsoft YaHei"/>
              </a:defRPr>
            </a:pPr>
            <a:r>
              <a:t>持治疗在现代 DLBCL 治疗中的作用。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2年PFS率</a:t>
                      </a:r>
                    </a:p>
                  </a:txBody>
                  <a:tcPr>
                    <a:solidFill>
                      <a:srgbClr val="F6F8FB"/>
                    </a:solidFill>
                  </a:tcPr>
                </a:tc>
                <a:tc>
                  <a:txBody>
                    <a:bodyPr wrap="square" lIns="36576" rIns="36576" tIns="18288" bIns="18288"/>
                    <a:lstStyle/>
                    <a:p>
                      <a:r>
                        <a:rPr sz="540" b="0">
                          <a:solidFill>
                            <a:srgbClr val="21242A"/>
                          </a:solidFill>
                          <a:latin typeface="Microsoft YaHei"/>
                        </a:rPr>
                        <a:t>90%</a:t>
                      </a:r>
                    </a:p>
                  </a:txBody>
                  <a:tcPr>
                    <a:solidFill>
                      <a:srgbClr val="F6F8FB"/>
                    </a:solidFill>
                  </a:tcPr>
                </a:tc>
              </a:tr>
              <a:tr h="214230">
                <a:tc>
                  <a:txBody>
                    <a:bodyPr wrap="square" lIns="36576" rIns="36576" tIns="18288" bIns="18288"/>
                    <a:lstStyle/>
                    <a:p>
                      <a:r>
                        <a:rPr sz="540" b="1">
                          <a:solidFill>
                            <a:srgbClr val="21242A"/>
                          </a:solidFill>
                          <a:latin typeface="Microsoft YaHei"/>
                        </a:rPr>
                        <a:t>2年OS率</a:t>
                      </a:r>
                    </a:p>
                  </a:txBody>
                  <a:tcPr>
                    <a:solidFill>
                      <a:srgbClr val="FFFFFF"/>
                    </a:solidFill>
                  </a:tcPr>
                </a:tc>
                <a:tc>
                  <a:txBody>
                    <a:bodyPr wrap="square" lIns="36576" rIns="36576" tIns="18288" bIns="18288"/>
                    <a:lstStyle/>
                    <a:p>
                      <a:r>
                        <a:rPr sz="540" b="0">
                          <a:solidFill>
                            <a:srgbClr val="21242A"/>
                          </a:solidFill>
                          <a:latin typeface="Microsoft YaHei"/>
                        </a:rPr>
                        <a:t>98%</a:t>
                      </a:r>
                    </a:p>
                  </a:txBody>
                  <a:tcPr>
                    <a:solidFill>
                      <a:srgbClr val="FFFFFF"/>
                    </a:solidFill>
                  </a:tcPr>
                </a:tc>
              </a:tr>
              <a:tr h="214230">
                <a:tc>
                  <a:txBody>
                    <a:bodyPr wrap="square" lIns="36576" rIns="36576" tIns="18288" bIns="18288"/>
                    <a:lstStyle/>
                    <a:p>
                      <a:r>
                        <a:rPr sz="540" b="1">
                          <a:solidFill>
                            <a:srgbClr val="21242A"/>
                          </a:solidFill>
                          <a:latin typeface="Microsoft YaHei"/>
                        </a:rPr>
                        <a:t>高危（IPI≥3）2年PFS</a:t>
                      </a:r>
                    </a:p>
                  </a:txBody>
                  <a:tcPr>
                    <a:solidFill>
                      <a:srgbClr val="F6F8FB"/>
                    </a:solidFill>
                  </a:tcPr>
                </a:tc>
                <a:tc>
                  <a:txBody>
                    <a:bodyPr wrap="square" lIns="36576" rIns="36576" tIns="18288" bIns="18288"/>
                    <a:lstStyle/>
                    <a:p>
                      <a:r>
                        <a:rPr sz="540" b="0">
                          <a:solidFill>
                            <a:srgbClr val="21242A"/>
                          </a:solidFill>
                          <a:latin typeface="Microsoft YaHei"/>
                        </a:rPr>
                        <a:t>87.0%</a:t>
                      </a:r>
                    </a:p>
                  </a:txBody>
                  <a:tcPr>
                    <a:solidFill>
                      <a:srgbClr val="F6F8FB"/>
                    </a:solidFill>
                  </a:tcPr>
                </a:tc>
              </a:tr>
              <a:tr h="214230">
                <a:tc>
                  <a:txBody>
                    <a:bodyPr wrap="square" lIns="36576" rIns="36576" tIns="18288" bIns="18288"/>
                    <a:lstStyle/>
                    <a:p>
                      <a:r>
                        <a:rPr sz="540" b="1">
                          <a:solidFill>
                            <a:srgbClr val="21242A"/>
                          </a:solidFill>
                          <a:latin typeface="Microsoft YaHei"/>
                        </a:rPr>
                        <a:t>高危（CNS-IPI≥4）2年PFS</a:t>
                      </a:r>
                    </a:p>
                  </a:txBody>
                  <a:tcPr>
                    <a:solidFill>
                      <a:srgbClr val="FFFFFF"/>
                    </a:solidFill>
                  </a:tcPr>
                </a:tc>
                <a:tc>
                  <a:txBody>
                    <a:bodyPr wrap="square" lIns="36576" rIns="36576" tIns="18288" bIns="18288"/>
                    <a:lstStyle/>
                    <a:p>
                      <a:r>
                        <a:rPr sz="540" b="0">
                          <a:solidFill>
                            <a:srgbClr val="21242A"/>
                          </a:solidFill>
                          <a:latin typeface="Microsoft YaHei"/>
                        </a:rPr>
                        <a:t>86.5%</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多因素分析维持治疗为PFS独立预后因素（HR 0.42, 95% CI 0.20-0.88</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其余7条结果见HTML完整清单及EHA原文。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摘要号：PS2127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myc/bcl-2双表达弥漫性大b细胞淋巴瘤的临床特征和疗效：来自believe研究的真实数据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clinical characteristics and efficacy of myc/bcl-2 double-expressing diffuse...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N=1088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试验药/方案：奥布替尼</a:t>
            </a:r>
          </a:p>
          <a:p>
            <a:pPr>
              <a:lnSpc>
                <a:spcPct val="103000"/>
              </a:lnSpc>
              <a:spcAft>
                <a:spcPts val="300"/>
              </a:spcAft>
              <a:defRPr sz="800">
                <a:solidFill>
                  <a:srgbClr val="21242A"/>
                </a:solidFill>
                <a:latin typeface="Microsoft YaHei"/>
              </a:defRPr>
            </a:pPr>
            <a:r>
              <a:t>BTK抑制剂</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多组/多方案比较：试验组1：R-CHOP-like方案</a:t>
            </a:r>
          </a:p>
          <a:p>
            <a:pPr>
              <a:lnSpc>
                <a:spcPct val="103000"/>
              </a:lnSpc>
              <a:spcAft>
                <a:spcPts val="300"/>
              </a:spcAft>
              <a:defRPr sz="800">
                <a:solidFill>
                  <a:srgbClr val="21242A"/>
                </a:solidFill>
                <a:latin typeface="Microsoft YaHei"/>
              </a:defRPr>
            </a:pPr>
            <a:r>
              <a:t>试验组2：R-CHOP加靶向药物（包括BTK抑制剂等）</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客观缓解率（ORR）：在可评估的1051例DEL-DLBCL患者中为75.9%</a:t>
            </a:r>
          </a:p>
          <a:p>
            <a:pPr>
              <a:lnSpc>
                <a:spcPct val="103000"/>
              </a:lnSpc>
              <a:spcAft>
                <a:spcPts val="300"/>
              </a:spcAft>
              <a:defRPr sz="800">
                <a:solidFill>
                  <a:srgbClr val="21242A"/>
                </a:solidFill>
                <a:latin typeface="Microsoft YaHei"/>
              </a:defRPr>
            </a:pPr>
            <a:r>
              <a:t>完全缓解率（CRR）：57.5%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人数：1088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登记号：NCT06026488</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试验药/方案：奥布替尼、BTK抑制剂</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myc/bcl-2双表达弥漫性大b细胞淋巴瘤的临床特征和疗效：来自believe研究的真实数据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clinical characteristics and efficacy of myc/bcl-2 double-expressing diffuse...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显示出明显的分子异质性。 II期GUIDANCE-01试验表明，亚型引导的免疫化疗（R-CHOP-X）可提高抗肿瘤疗效，且安全性可控（Cancer Cell 2023:41:1705-1716）。</a:t>
            </a:r>
          </a:p>
          <a:p>
            <a:pPr>
              <a:lnSpc>
                <a:spcPct val="103000"/>
              </a:lnSpc>
              <a:spcAft>
                <a:spcPts val="300"/>
              </a:spcAft>
              <a:defRPr sz="550">
                <a:solidFill>
                  <a:srgbClr val="21242A"/>
                </a:solidFill>
                <a:latin typeface="Microsoft YaHei"/>
              </a:defRPr>
            </a:pPr>
            <a:r>
              <a:t>Ⅲ期DEB试验证实，R-CHOP加西达本胺可显着延长MYC/BCL-2双表达DLBCL（DEL-DLBCL）的生存期（ASH 2025口服475）。</a:t>
            </a:r>
          </a:p>
          <a:p>
            <a:pPr>
              <a:lnSpc>
                <a:spcPct val="103000"/>
              </a:lnSpc>
              <a:spcAft>
                <a:spcPts val="300"/>
              </a:spcAft>
              <a:defRPr sz="550">
                <a:solidFill>
                  <a:srgbClr val="21242A"/>
                </a:solidFill>
                <a:latin typeface="Microsoft YaHei"/>
              </a:defRPr>
            </a:pPr>
            <a:r>
              <a:t>目的：我们提出了大规模的中国真实世界 BELIEVE 研究 (NCT06026488)，以评估 DEL-DLBCL 不同治疗策略的有效性，并生成真实世界证据来支持临床决策。</a:t>
            </a:r>
          </a:p>
          <a:p>
            <a:pPr>
              <a:lnSpc>
                <a:spcPct val="103000"/>
              </a:lnSpc>
              <a:spcAft>
                <a:spcPts val="300"/>
              </a:spcAft>
              <a:defRPr sz="550">
                <a:solidFill>
                  <a:srgbClr val="21242A"/>
                </a:solidFill>
                <a:latin typeface="Microsoft YaHei"/>
              </a:defRPr>
            </a:pPr>
            <a:r>
              <a:t>方法：这项回顾性研究纳入了接受下一代测序 (NGS) 的 DLBCL 患者。收集基线特征、治疗、疗效和生存数据。主要终点是无进展生存期（PFS）；关键的次要终点包括客观缓解率（ORR）、完全缓解率（CRR）和总生存期（OS）。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在这个大型中国真实世界队列中，DEL-DLBCL 约占 DLBCL 的 30%，与非 DEL DLBCL 相比，具有侵袭性的临床病理特征和较差的结果，证实了其高风险性质。</a:t>
            </a:r>
          </a:p>
          <a:p>
            <a:pPr>
              <a:lnSpc>
                <a:spcPct val="103000"/>
              </a:lnSpc>
              <a:spcAft>
                <a:spcPts val="300"/>
              </a:spcAft>
              <a:defRPr sz="570">
                <a:solidFill>
                  <a:srgbClr val="21242A"/>
                </a:solidFill>
                <a:latin typeface="Microsoft YaHei"/>
              </a:defRPr>
            </a:pPr>
            <a:r>
              <a:t>R-CHOP 类疗法在 DEL-DLBCL 中显示疗效有限，而 R-CHOP 联合 BTKi 显示出有希望的疗效，支持 DEL-DLBCL 的个体化、基于证据的治疗选择。这项研究为优化 DEL-DLBCL 管理提供了真实世界的证据。包括 PFS 在内的长期生存分析正在进行中。</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客观缓解率（ORR）：在可评估的1051例DEL-DLBCL患者中为75.9%；完全缓解率（CRR）：57.5%；R-CHOP加靶向药物组的ORR为84.2%；R-CHOP+BTKi组（n=69）的ORR为88.4%，CRR为75.4%；奥布替尼组（n=43）的ORR为88.3%，CRR为76.7%</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orelabrutinib联合r-chop治疗新诊断的非gcb双表达弥漫性大b细胞淋巴瘤：一项多中心、单臂、ii期研究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orelabrutinib plus r-chop for the treatment of newly diagnosed non-gcb double...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主要终点：事件无进展生存期（EFS）未达到</a:t>
            </a:r>
          </a:p>
          <a:p>
            <a:pPr>
              <a:lnSpc>
                <a:spcPct val="103000"/>
              </a:lnSpc>
              <a:spcAft>
                <a:spcPts val="300"/>
              </a:spcAft>
              <a:defRPr sz="800">
                <a:solidFill>
                  <a:srgbClr val="21242A"/>
                </a:solidFill>
                <a:latin typeface="Microsoft YaHei"/>
              </a:defRPr>
            </a:pPr>
            <a:r>
              <a:t>次要终点：</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人数：49</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orelabrutinib联合r-chop治疗新诊断的非gcb双表达弥漫性大b细胞淋巴瘤：一项多中心、单臂、ii期研究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orelabrutinib plus r-chop for the treatment of newly diagnosed non-gcb double...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背景：共表达 MYC（≥40%）和 BCL2（≥50%）的弥漫性大 B 细胞淋巴瘤（DLBCL）患者，定义为双表达 DLBCL（DE-DLBCL），采用传统一线 R-CHOP 方案通常预后不佳。鉴于DE-DLBCL患者的最佳一线治疗策略尚不清楚，迫切需要探索更有效的治疗方法。奥布替尼 (O) 是一种新型、强效、高选择性</a:t>
            </a:r>
          </a:p>
          <a:p>
            <a:pPr>
              <a:lnSpc>
                <a:spcPct val="103000"/>
              </a:lnSpc>
              <a:spcAft>
                <a:spcPts val="300"/>
              </a:spcAft>
              <a:defRPr sz="550">
                <a:solidFill>
                  <a:srgbClr val="21242A"/>
                </a:solidFill>
                <a:latin typeface="Microsoft YaHei"/>
              </a:defRPr>
            </a:pPr>
            <a:r>
              <a:t>的布鲁顿酪氨酸激酶 (BTK) 抑制剂，与 R-CHOP 方案联合治疗 DLBCL 患者已显示出令人鼓舞的治疗潜力。</a:t>
            </a:r>
          </a:p>
          <a:p>
            <a:pPr>
              <a:lnSpc>
                <a:spcPct val="103000"/>
              </a:lnSpc>
              <a:spcAft>
                <a:spcPts val="300"/>
              </a:spcAft>
              <a:defRPr sz="550">
                <a:solidFill>
                  <a:srgbClr val="21242A"/>
                </a:solidFill>
                <a:latin typeface="Microsoft YaHei"/>
              </a:defRPr>
            </a:pPr>
            <a:r>
              <a:t>目的：我们进行了一项多中心、单臂、II 期研究，以评估 O 加 R-CHOP (O-RCHOP) 方案对新诊断的非生发中心 B 细胞样 (non-GCB) DE-DLBCL 患者的疗效和安全性。</a:t>
            </a:r>
          </a:p>
          <a:p>
            <a:pPr>
              <a:lnSpc>
                <a:spcPct val="103000"/>
              </a:lnSpc>
              <a:spcAft>
                <a:spcPts val="300"/>
              </a:spcAft>
              <a:defRPr sz="550">
                <a:solidFill>
                  <a:srgbClr val="21242A"/>
                </a:solidFill>
                <a:latin typeface="Microsoft YaHei"/>
              </a:defRPr>
            </a:pPr>
            <a:r>
              <a:t>方法：所有符合条件的患者均接受 6-8 个周期的 21 天治疗，包括第 1-14 天 150 mg 每日一次联合 R-CHOP（第 0 天利妥昔单抗 375 mg/m 2 ；第 1 天环磷酰胺 750 mg/m 2 ；第 1 天阿霉素 50 mg/m 2 ；第 1 天长春地辛 4 mg ；泼尼松 100毫克，第 1-5</a:t>
            </a:r>
          </a:p>
          <a:p>
            <a:pPr>
              <a:lnSpc>
                <a:spcPct val="103000"/>
              </a:lnSpc>
              <a:spcAft>
                <a:spcPts val="300"/>
              </a:spcAft>
              <a:defRPr sz="550">
                <a:solidFill>
                  <a:srgbClr val="21242A"/>
                </a:solidFill>
                <a:latin typeface="Microsoft YaHei"/>
              </a:defRPr>
            </a:pPr>
            <a:r>
              <a:t> 天）。主要终点是无事件生存期（EFS）。次要终点包括无进展生存期（PFS）、完全缓解率（CRR）、客观缓解率（ORR）、3年总生存率（OS）和安全性。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在既往未经治疗的非 GCB DE-DLBCL 患者中，O-RCHOP 取得了良好的疗效，且安全性可控，支持其作为可行的一线治疗方案的前景。</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主要终点</a:t>
                      </a:r>
                    </a:p>
                  </a:txBody>
                  <a:tcPr>
                    <a:solidFill>
                      <a:srgbClr val="F6F8FB"/>
                    </a:solidFill>
                  </a:tcPr>
                </a:tc>
                <a:tc>
                  <a:txBody>
                    <a:bodyPr wrap="square" lIns="36576" rIns="36576" tIns="18288" bIns="18288"/>
                    <a:lstStyle/>
                    <a:p>
                      <a:r>
                        <a:rPr sz="540" b="0">
                          <a:solidFill>
                            <a:srgbClr val="21242A"/>
                          </a:solidFill>
                          <a:latin typeface="Microsoft YaHei"/>
                        </a:rPr>
                        <a:t>事件无进展生存期（EFS）未达到</a:t>
                      </a:r>
                    </a:p>
                  </a:txBody>
                  <a:tcPr>
                    <a:solidFill>
                      <a:srgbClr val="F6F8FB"/>
                    </a:solidFill>
                  </a:tcPr>
                </a:tc>
              </a:tr>
              <a:tr h="214230">
                <a:tc>
                  <a:txBody>
                    <a:bodyPr wrap="square" lIns="36576" rIns="36576" tIns="18288" bIns="18288"/>
                    <a:lstStyle/>
                    <a:p>
                      <a:r>
                        <a:rPr sz="540" b="1">
                          <a:solidFill>
                            <a:srgbClr val="21242A"/>
                          </a:solidFill>
                          <a:latin typeface="Microsoft YaHei"/>
                        </a:rPr>
                        <a:t>次要终点</a:t>
                      </a:r>
                    </a:p>
                  </a:txBody>
                  <a:tcPr>
                    <a:solidFill>
                      <a:srgbClr val="FFFFFF"/>
                    </a:solidFill>
                  </a:tcPr>
                </a:tc>
                <a:tc>
                  <a:txBody>
                    <a:bodyPr wrap="square" lIns="36576" rIns="36576" tIns="18288" bIns="18288"/>
                    <a:lstStyle/>
                    <a:p>
                      <a:r>
                        <a:rPr sz="540" b="0">
                          <a:solidFill>
                            <a:srgbClr val="21242A"/>
                          </a:solidFill>
                          <a:latin typeface="Microsoft YaHei"/>
                        </a:rPr>
                        <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- 4周期后完全缓解率（CRR）75.5%（37/49）</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- 4周期后客观缓解率（ORR）98.0%（48/49）</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- 8周期后CRR 89.8%（44/49）</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其余8条结果见HTML完整清单及EHA原文。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在靶向治疗时代重新评估自体干细胞移植在原发性中枢神经系统弥漫性大b细胞淋巴瘤中的作用：一项倾向评分匹配的多中心现实研究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re‑evaluating the role of autologous stem cell transplantation in primary cns...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235000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36956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544568"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N=291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分组：ASCT组/非ASCT组</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主要终点：无进展生存期（PFS），ASCT组优于非ASCT组（p=0.023）</a:t>
            </a:r>
          </a:p>
          <a:p>
            <a:pPr>
              <a:lnSpc>
                <a:spcPct val="103000"/>
              </a:lnSpc>
              <a:spcAft>
                <a:spcPts val="300"/>
              </a:spcAft>
              <a:defRPr sz="800">
                <a:solidFill>
                  <a:srgbClr val="21242A"/>
                </a:solidFill>
                <a:latin typeface="Microsoft YaHei"/>
              </a:defRPr>
            </a:pPr>
            <a:r>
              <a:t>次要终点：总生存期（OS），ASCT组有获益趋势但未达统计学意义（p=0.085）。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人数：291</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分组/治疗流程：ASCT组/非ASCT组</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在靶向治疗时代重新评估自体干细胞移植在原发性中枢神经系统弥漫性大b细胞淋巴瘤中的作用：一项倾向评分匹配的多中心现实研究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re‑evaluating the role of autologous stem cell transplantation in primary cns...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235000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36956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544568"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背景：随着 BTK 抑制剂 (BTKi) 和来那度胺越来越多地用于诱导、挽救和维持治疗，自体干细胞移植 (ASCT) 在原发性中枢神经系统弥漫性大 B 细胞淋巴瘤 (PCNS-DLBCL) 中的作用正在重新评估，特别是在新诊断的患者中。在现实临床实践中，ASCT 分配受到基线健康状况和疾病特征的影响，这凸显了需要进行混</a:t>
            </a:r>
          </a:p>
          <a:p>
            <a:pPr>
              <a:lnSpc>
                <a:spcPct val="103000"/>
              </a:lnSpc>
              <a:spcAft>
                <a:spcPts val="300"/>
              </a:spcAft>
              <a:defRPr sz="550">
                <a:solidFill>
                  <a:srgbClr val="21242A"/>
                </a:solidFill>
                <a:latin typeface="Microsoft YaHei"/>
              </a:defRPr>
            </a:pPr>
            <a:r>
              <a:t>杂控制来评估结果并阐明诱导后巩固策略是否是靶向治疗时代长期结果的关键。目的：本研究旨在评估 BTKi/来那度胺时代治疗的 PCNS-DLBCL 患者的 ASCT 与无进展生存期 (PFS) 和总生存期 (OS) 之间的关联，使用倾向评分匹配 (PSM) 来调整混杂因素。我们还研究了诱导后巩固策略（ASCT 和/或维持）</a:t>
            </a:r>
          </a:p>
          <a:p>
            <a:pPr>
              <a:lnSpc>
                <a:spcPct val="103000"/>
              </a:lnSpc>
              <a:spcAft>
                <a:spcPts val="300"/>
              </a:spcAft>
              <a:defRPr sz="550">
                <a:solidFill>
                  <a:srgbClr val="21242A"/>
                </a:solidFill>
                <a:latin typeface="Microsoft YaHei"/>
              </a:defRPr>
            </a:pPr>
            <a:r>
              <a:t>和 BTKi/来那度胺治疗途径是否对结果进行分层，包括在治疗反应者中。方法：我们对常规治疗的 PCNS-DLBCL 患者进行了一项回顾性、三中心队列研究。主要暴露是 ASCT（是与否）。</a:t>
            </a:r>
          </a:p>
          <a:p>
            <a:pPr>
              <a:lnSpc>
                <a:spcPct val="103000"/>
              </a:lnSpc>
              <a:spcAft>
                <a:spcPts val="300"/>
              </a:spcAft>
              <a:defRPr sz="550">
                <a:solidFill>
                  <a:srgbClr val="21242A"/>
                </a:solidFill>
                <a:latin typeface="Microsoft YaHei"/>
              </a:defRPr>
            </a:pPr>
            <a:r>
              <a:t>PSM 使用最近邻匹配进行，目标比例为 1:2，卡尺宽度为 0.1，调整表 1 中列出的协变量。使用标准化均值差来评估平衡。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 BTKi/来那度胺时代治疗的 PCNS-DLBCL 患者中，ASCT 与 PSM 后 PFS 改善相关，而 OS 呈现有利趋势。诱导后巩固策略对长期结果的影响最为显着，维持治疗对于未接受 ASCT 的患者特别有益。结果也因治疗方案类型（基于 BTKi、基于来那度胺或两者都不基于）和 ASCT 状态而异。这些发现支持</a:t>
            </a:r>
          </a:p>
          <a:p>
            <a:pPr>
              <a:lnSpc>
                <a:spcPct val="103000"/>
              </a:lnSpc>
              <a:spcAft>
                <a:spcPts val="300"/>
              </a:spcAft>
              <a:defRPr sz="570">
                <a:solidFill>
                  <a:srgbClr val="21242A"/>
                </a:solidFill>
                <a:latin typeface="Microsoft YaHei"/>
              </a:defRPr>
            </a:pPr>
            <a:r>
              <a:t>选择 ASCT 和/或维持治疗的风险适应方法，强调了前瞻性验证的必要性。提交的图中显示了关键的生存曲线。</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主要终点：无进展生存期（PFS），ASCT组优于非ASCT组（p=0.023）；次要终点：总生存期（OS），ASCT组有获益趋势但未达统计学意义（p=0.085）。</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比列替尼在弥漫性大b细胞淋巴瘤中显示出可控的安全性和跨分子亚型的普遍抗肿瘤活性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birelentinib demonstrates manageable safety profile and universal antitumor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试验药/方案：比瑞替尼</a:t>
            </a:r>
          </a:p>
          <a:p>
            <a:pPr>
              <a:lnSpc>
                <a:spcPct val="103000"/>
              </a:lnSpc>
              <a:spcAft>
                <a:spcPts val="300"/>
              </a:spcAft>
              <a:defRPr sz="800">
                <a:solidFill>
                  <a:srgbClr val="21242A"/>
                </a:solidFill>
                <a:latin typeface="Microsoft YaHei"/>
              </a:defRPr>
            </a:pPr>
            <a:r>
              <a:t>靶点：BTK，BTK C481S，LYN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多组/多方案比较：试验组1：birelentinib 25mg每日一次</a:t>
            </a:r>
          </a:p>
          <a:p>
            <a:pPr>
              <a:lnSpc>
                <a:spcPct val="103000"/>
              </a:lnSpc>
              <a:spcAft>
                <a:spcPts val="300"/>
              </a:spcAft>
              <a:defRPr sz="800">
                <a:solidFill>
                  <a:srgbClr val="21242A"/>
                </a:solidFill>
                <a:latin typeface="Microsoft YaHei"/>
              </a:defRPr>
            </a:pPr>
            <a:r>
              <a:t>试验组2：birelentinib 50mg每日一次</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总客观缓解率（ORR）在50mg和75mg剂量组中为47.6%（20/42）</a:t>
            </a:r>
          </a:p>
          <a:p>
            <a:pPr>
              <a:lnSpc>
                <a:spcPct val="103000"/>
              </a:lnSpc>
              <a:spcAft>
                <a:spcPts val="300"/>
              </a:spcAft>
              <a:defRPr sz="800">
                <a:solidFill>
                  <a:srgbClr val="21242A"/>
                </a:solidFill>
                <a:latin typeface="Microsoft YaHei"/>
              </a:defRPr>
            </a:pPr>
            <a:r>
              <a:t>完全缓解率（CRR）为31.0%（13/42）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人数：58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登记号：NCT06539195</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试验药/方案：比瑞替尼</a:t>
            </a:r>
          </a:p>
          <a:p>
            <a:pPr>
              <a:lnSpc>
                <a:spcPct val="103000"/>
              </a:lnSpc>
              <a:spcAft>
                <a:spcPts val="300"/>
              </a:spcAft>
              <a:defRPr sz="810">
                <a:solidFill>
                  <a:srgbClr val="21242A"/>
                </a:solidFill>
                <a:latin typeface="Microsoft YaHei"/>
              </a:defRPr>
            </a:pPr>
            <a:r>
              <a:t>靶点：BTK、BTK C481S、LYN</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比列替尼在弥漫性大b细胞淋巴瘤中显示出可控的安全性和跨分子亚型的普遍抗肿瘤活性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birelentinib demonstrates manageable safety profile and universal antitumor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背景：治疗 DLBCL 的一个主要障碍是其高分子异质性。 BTK 抑制剂主要在非 GCB (ABC) 亚型和某些基因组簇中显示出功效。</a:t>
            </a:r>
          </a:p>
          <a:p>
            <a:pPr>
              <a:lnSpc>
                <a:spcPct val="103000"/>
              </a:lnSpc>
              <a:spcAft>
                <a:spcPts val="300"/>
              </a:spcAft>
              <a:defRPr sz="550">
                <a:solidFill>
                  <a:srgbClr val="21242A"/>
                </a:solidFill>
                <a:latin typeface="Microsoft YaHei"/>
              </a:defRPr>
            </a:pPr>
            <a:r>
              <a:t>T 细胞导向疗法扩大了治疗领域，但受到具有挑战性的毒性特征的限制，包括 CRS 和 ICANS 等严重不良事件。因此，迫切需要下一代靶向药物，能够提供跨分子亚型的广谱活性，并具有良好的安全性。 LYN 和 BTK 是 B 细胞受体 (BCR) 信号传导的关键介质，通过不同的分子谱驱动淋巴瘤发生。</a:t>
            </a:r>
          </a:p>
          <a:p>
            <a:pPr>
              <a:lnSpc>
                <a:spcPct val="103000"/>
              </a:lnSpc>
              <a:spcAft>
                <a:spcPts val="300"/>
              </a:spcAft>
              <a:defRPr sz="550">
                <a:solidFill>
                  <a:srgbClr val="21242A"/>
                </a:solidFill>
                <a:latin typeface="Microsoft YaHei"/>
              </a:defRPr>
            </a:pPr>
            <a:r>
              <a:t>Birelentinib (DZD8586) 是一种新型 LYN/BTK 双重抑制剂，具有出色的血脑屏障 (BBB) 渗透性，旨在通过靶向 BCR 信号通路的多个成分来克服这些障碍。在此，我们报告正在进行的 Birelentinib 治疗难治性 DLBCL 的 2 期 TAI-SHAN9 研究 (NCT06539195</a:t>
            </a:r>
          </a:p>
          <a:p>
            <a:pPr>
              <a:lnSpc>
                <a:spcPct val="103000"/>
              </a:lnSpc>
              <a:spcAft>
                <a:spcPts val="300"/>
              </a:spcAft>
              <a:defRPr sz="550">
                <a:solidFill>
                  <a:srgbClr val="21242A"/>
                </a:solidFill>
                <a:latin typeface="Microsoft YaHei"/>
              </a:defRPr>
            </a:pPr>
            <a:r>
              <a:t>) 的最新结果，包括对跨遗传亚型的活性分析。方法：纳入年龄≥18岁且经组织学确诊为DLBCL且既往接受过标准化学免疫治疗的成年患者。比瑞伦替尼作为单一疗法口服给药，直至疾病进展、出现不可接受的毒性或患者停药。研究人员根据 2014 年卢加诺标准，使用 PET 和对比增强 CT 扫描评估了抗肿瘤功效。</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Birelentinib 表现出跨分子亚型的普遍且潜在持久的活性，并且具有可控的安全性。这些发现表明比瑞伦替尼在 DLBCL 中具有广泛的治疗潜力。</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总客观缓解率（ORR）在50mg和75mg剂量组中为47.6%（20/42）</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完全缓解率（CRR）为31.0%（13/42）</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GCB亚型ORR 58.3%（7/12），CRR 41.7%（5/12）</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非GCB亚型ORR 44.8%（13/29），CRR 27.6%（8/29）</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完全缓解患者中位缓解持续时间（DoR）未达到，最长CR超过9.3个月</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其余4条结果见HTML完整清单及EHA原文。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扎努布替尼联合利妥昔单抗、异环磷酰胺、卡铂和依托泊苷治疗复发/难治性弥漫性大b细胞淋巴瘤的i/ii期研究：ii期部分的...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i/ii study of zanubrutinib in combination with rituximab, ifosfamide,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235000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36956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544568"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中枢神经系统淋巴瘤，弥漫性大B细胞淋巴瘤</a:t>
            </a:r>
          </a:p>
          <a:p>
            <a:pPr>
              <a:lnSpc>
                <a:spcPct val="103000"/>
              </a:lnSpc>
              <a:spcAft>
                <a:spcPts val="300"/>
              </a:spcAft>
              <a:defRPr sz="800">
                <a:solidFill>
                  <a:srgbClr val="21242A"/>
                </a:solidFill>
                <a:latin typeface="Microsoft YaHei"/>
              </a:defRPr>
            </a:pPr>
            <a:r>
              <a:t>N=52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试验药/方案：泽布替尼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多组/多方案比较：队列A（R/R systemic non-GCB DLBCL）：zanubrutinib 160mg每日联合...</a:t>
            </a:r>
          </a:p>
          <a:p>
            <a:pPr>
              <a:lnSpc>
                <a:spcPct val="103000"/>
              </a:lnSpc>
              <a:spcAft>
                <a:spcPts val="300"/>
              </a:spcAft>
              <a:defRPr sz="800">
                <a:solidFill>
                  <a:srgbClr val="21242A"/>
                </a:solidFill>
                <a:latin typeface="Microsoft YaHei"/>
              </a:defRPr>
            </a:pPr>
            <a:r>
              <a:t>队列B（R/R CNS淋巴瘤）：zanubrutinib 160mg每日联合R-ICE方案（利妥昔单抗、异环磷酰胺、卡铂、依托...</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总人群：ORR 90.9%，CR率72.7%</a:t>
            </a:r>
          </a:p>
          <a:p>
            <a:pPr>
              <a:lnSpc>
                <a:spcPct val="103000"/>
              </a:lnSpc>
              <a:spcAft>
                <a:spcPts val="300"/>
              </a:spcAft>
              <a:defRPr sz="800">
                <a:solidFill>
                  <a:srgbClr val="21242A"/>
                </a:solidFill>
                <a:latin typeface="Microsoft YaHei"/>
              </a:defRPr>
            </a:pPr>
            <a:r>
              <a:t>队列A：ORR 90.3%，CR率74.2%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人数：52</a:t>
            </a:r>
          </a:p>
          <a:p>
            <a:pPr>
              <a:lnSpc>
                <a:spcPct val="103000"/>
              </a:lnSpc>
              <a:spcAft>
                <a:spcPts val="300"/>
              </a:spcAft>
              <a:defRPr sz="810">
                <a:solidFill>
                  <a:srgbClr val="21242A"/>
                </a:solidFill>
                <a:latin typeface="Microsoft YaHei"/>
              </a:defRPr>
            </a:pPr>
            <a:r>
              <a:t>适应症：中枢神经系统淋巴瘤、弥漫性大B细胞淋巴瘤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扎努布替尼联合利妥昔单抗、异环磷酰胺、卡铂和依托泊苷治疗复发/难治性弥漫性大b细胞淋巴瘤的i/ii期研究：ii期部分的...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i/ii study of zanubrutinib in combination with rituximab, ifosfamide,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235000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36956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544568"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49/187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背景：复发性或难治性弥漫性大 B 细胞淋巴瘤 (R/R DLBCL) 的预后较差，其中 R/R CNS 淋巴瘤（原发性 [PCNSL] 或继发性 [SCNSL]）的预后尤其糟糕。</a:t>
            </a:r>
          </a:p>
          <a:p>
            <a:pPr>
              <a:lnSpc>
                <a:spcPct val="103000"/>
              </a:lnSpc>
              <a:spcAft>
                <a:spcPts val="300"/>
              </a:spcAft>
              <a:defRPr sz="550">
                <a:solidFill>
                  <a:srgbClr val="21242A"/>
                </a:solidFill>
                <a:latin typeface="Microsoft YaHei"/>
              </a:defRPr>
            </a:pPr>
            <a:r>
              <a:t>R-ICE（利妥昔单抗、异环磷酰胺、卡铂和依托泊苷）化疗已在这些患者 (pts) 中显示出疗效，但反应的持久性有限。最近，BTK 抑制剂在系统性 R/R 非 GCB DLBCL 和 R/R CNS 淋巴瘤中表现出令人鼓舞的疗效结果。目的：这项 I/II 期研究旨在评估第二代 BTK 抑制剂 zanubrutinib 与</a:t>
            </a:r>
          </a:p>
          <a:p>
            <a:pPr>
              <a:lnSpc>
                <a:spcPct val="103000"/>
              </a:lnSpc>
              <a:spcAft>
                <a:spcPts val="300"/>
              </a:spcAft>
              <a:defRPr sz="550">
                <a:solidFill>
                  <a:srgbClr val="21242A"/>
                </a:solidFill>
                <a:latin typeface="Microsoft YaHei"/>
              </a:defRPr>
            </a:pPr>
            <a:r>
              <a:t> R-ICE (ZR-ICE) 联合治疗 R/R 系统性非 GCB DLBCL 或 R/R CNS 淋巴瘤患者的有效性、安全性和可行性。在这里，我们报告第二阶段部分的中期疗效和安全性结果。方法：在I期部分，基于标准3+3剂量递增设计，将zanubrutinib 160 mg每日确定为推荐的2期剂量。在 II 期部分，患</a:t>
            </a:r>
          </a:p>
          <a:p>
            <a:pPr>
              <a:lnSpc>
                <a:spcPct val="103000"/>
              </a:lnSpc>
              <a:spcAft>
                <a:spcPts val="300"/>
              </a:spcAft>
              <a:defRPr sz="550">
                <a:solidFill>
                  <a:srgbClr val="21242A"/>
                </a:solidFill>
                <a:latin typeface="Microsoft YaHei"/>
              </a:defRPr>
            </a:pPr>
            <a:r>
              <a:t>有 R/R 系统性非 GCB DLBCL（A 组）或 R/R CNS 淋巴瘤（PCNSL 或 SCNSL）（B 组）的患者每天接受 zanubrutinib 160 mg 联合 R-ICE 治疗。</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ZR-ICE 在 R/R 系统性非 GCB DLBCL 和 R/R CNS 淋巴瘤中表现出良好的疗效和可控的安全性。这些中期结果支持继续进行这项正在进行的二期研究。</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总人群</a:t>
                      </a:r>
                    </a:p>
                  </a:txBody>
                  <a:tcPr>
                    <a:solidFill>
                      <a:srgbClr val="F6F8FB"/>
                    </a:solidFill>
                  </a:tcPr>
                </a:tc>
                <a:tc>
                  <a:txBody>
                    <a:bodyPr wrap="square" lIns="36576" rIns="36576" tIns="18288" bIns="18288"/>
                    <a:lstStyle/>
                    <a:p>
                      <a:r>
                        <a:rPr sz="540" b="0">
                          <a:solidFill>
                            <a:srgbClr val="21242A"/>
                          </a:solidFill>
                          <a:latin typeface="Microsoft YaHei"/>
                        </a:rPr>
                        <a:t>ORR 90.9%，CR率72.7%</a:t>
                      </a:r>
                    </a:p>
                  </a:txBody>
                  <a:tcPr>
                    <a:solidFill>
                      <a:srgbClr val="F6F8FB"/>
                    </a:solidFill>
                  </a:tcPr>
                </a:tc>
              </a:tr>
              <a:tr h="214230">
                <a:tc>
                  <a:txBody>
                    <a:bodyPr wrap="square" lIns="36576" rIns="36576" tIns="18288" bIns="18288"/>
                    <a:lstStyle/>
                    <a:p>
                      <a:r>
                        <a:rPr sz="540" b="1">
                          <a:solidFill>
                            <a:srgbClr val="21242A"/>
                          </a:solidFill>
                          <a:latin typeface="Microsoft YaHei"/>
                        </a:rPr>
                        <a:t>队列A</a:t>
                      </a:r>
                    </a:p>
                  </a:txBody>
                  <a:tcPr>
                    <a:solidFill>
                      <a:srgbClr val="FFFFFF"/>
                    </a:solidFill>
                  </a:tcPr>
                </a:tc>
                <a:tc>
                  <a:txBody>
                    <a:bodyPr wrap="square" lIns="36576" rIns="36576" tIns="18288" bIns="18288"/>
                    <a:lstStyle/>
                    <a:p>
                      <a:r>
                        <a:rPr sz="540" b="0">
                          <a:solidFill>
                            <a:srgbClr val="21242A"/>
                          </a:solidFill>
                          <a:latin typeface="Microsoft YaHei"/>
                        </a:rPr>
                        <a:t>ORR 90.3%，CR率74.2%</a:t>
                      </a:r>
                    </a:p>
                  </a:txBody>
                  <a:tcPr>
                    <a:solidFill>
                      <a:srgbClr val="FFFFFF"/>
                    </a:solidFill>
                  </a:tcPr>
                </a:tc>
              </a:tr>
              <a:tr h="214230">
                <a:tc>
                  <a:txBody>
                    <a:bodyPr wrap="square" lIns="36576" rIns="36576" tIns="18288" bIns="18288"/>
                    <a:lstStyle/>
                    <a:p>
                      <a:r>
                        <a:rPr sz="540" b="1">
                          <a:solidFill>
                            <a:srgbClr val="21242A"/>
                          </a:solidFill>
                          <a:latin typeface="Microsoft YaHei"/>
                        </a:rPr>
                        <a:t>队列B</a:t>
                      </a:r>
                    </a:p>
                  </a:txBody>
                  <a:tcPr>
                    <a:solidFill>
                      <a:srgbClr val="F6F8FB"/>
                    </a:solidFill>
                  </a:tcPr>
                </a:tc>
                <a:tc>
                  <a:txBody>
                    <a:bodyPr wrap="square" lIns="36576" rIns="36576" tIns="18288" bIns="18288"/>
                    <a:lstStyle/>
                    <a:p>
                      <a:r>
                        <a:rPr sz="540" b="0">
                          <a:solidFill>
                            <a:srgbClr val="21242A"/>
                          </a:solidFill>
                          <a:latin typeface="Microsoft YaHei"/>
                        </a:rPr>
                        <a:t>ORR 92.3%，CR率69.2%</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中位随访5.8个月，6个月PFS率76.3%，6个月OS率90.0%</a:t>
                      </a:r>
                    </a:p>
                  </a:txBody>
                  <a:tcPr>
                    <a:solidFill>
                      <a:srgbClr val="FFFFFF"/>
                    </a:solidFill>
                  </a:tcPr>
                </a:tc>
              </a:tr>
              <a:tr h="214230">
                <a:tc>
                  <a:txBody>
                    <a:bodyPr wrap="square" lIns="36576" rIns="36576" tIns="18288" bIns="18288"/>
                    <a:lstStyle/>
                    <a:p>
                      <a:r>
                        <a:rPr sz="540" b="1">
                          <a:solidFill>
                            <a:srgbClr val="21242A"/>
                          </a:solidFill>
                          <a:latin typeface="Microsoft YaHei"/>
                        </a:rPr>
                        <a:t>队列A</a:t>
                      </a:r>
                    </a:p>
                  </a:txBody>
                  <a:tcPr>
                    <a:solidFill>
                      <a:srgbClr val="F6F8FB"/>
                    </a:solidFill>
                  </a:tcPr>
                </a:tc>
                <a:tc>
                  <a:txBody>
                    <a:bodyPr wrap="square" lIns="36576" rIns="36576" tIns="18288" bIns="18288"/>
                    <a:lstStyle/>
                    <a:p>
                      <a:r>
                        <a:rPr sz="540" b="0">
                          <a:solidFill>
                            <a:srgbClr val="21242A"/>
                          </a:solidFill>
                          <a:latin typeface="Microsoft YaHei"/>
                        </a:rPr>
                        <a:t>6个月PFS率83.2%，6个月OS率100.0%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zanubrutinib联合r-chop作为myd88（l265p）/cd79b突变（mcd）弥漫性大b细胞淋巴瘤的一...</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zanubrutinib plus r-chop as frontline therapy for myd88（l265p）/cd79b-mutated...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试验药/方案：泽布替尼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 95%</a:t>
            </a:r>
          </a:p>
          <a:p>
            <a:pPr>
              <a:lnSpc>
                <a:spcPct val="103000"/>
              </a:lnSpc>
              <a:spcAft>
                <a:spcPts val="300"/>
              </a:spcAft>
              <a:defRPr sz="800">
                <a:solidFill>
                  <a:srgbClr val="21242A"/>
                </a:solidFill>
                <a:latin typeface="Microsoft YaHei"/>
              </a:defRPr>
            </a:pPr>
            <a:r>
              <a:t>完全缓解率(CR): 87.5% (35/40)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zanubrutinib联合r-chop作为myd88（l265p）/cd79b突变（mcd）弥漫性大b细胞淋巴瘤的一...</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zanubrutinib plus r-chop as frontline therapy for myd88（l265p）/cd79b-mutated...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背景：以 MYD88(L265P) 和 CD79B 并发突变为特征的 MCD 亚型 DLBCL 是由慢性活性 B 细胞受体/NF-κ B 信号传导驱动的，并且与标准 R-CHOP 的次优结果相关。 BTK 抑制代表了针对该人群的合理的、富含生物标志物的策略。</a:t>
            </a:r>
          </a:p>
          <a:p>
            <a:pPr>
              <a:lnSpc>
                <a:spcPct val="103000"/>
              </a:lnSpc>
              <a:spcAft>
                <a:spcPts val="300"/>
              </a:spcAft>
              <a:defRPr sz="550">
                <a:solidFill>
                  <a:srgbClr val="21242A"/>
                </a:solidFill>
                <a:latin typeface="Microsoft YaHei"/>
              </a:defRPr>
            </a:pPr>
            <a:r>
              <a:t>目的：本研究旨在探讨 Zanubrutinib 联合 R-CHOP 对既往未经治疗的同时携带 MYD88(L265P) 和 CD79B 突变的 DLBCL 患者的疗效和安全性。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一线 ZR-CHOP 在既往未经治疗的 MYD88(L265P)/CD79B 突变 (MCD) DLBCL 中表现出高 CR 率和令人鼓舞的长期 PFS/OS，很少有进展事件，也没有 CNS 复发，包括对 IPI 3 – 5 个高危患者进行持久的疾病控制，并具有可控的安全性。这些发现支持针对这种分子高风险 DLBCL </a:t>
            </a:r>
          </a:p>
          <a:p>
            <a:pPr>
              <a:lnSpc>
                <a:spcPct val="103000"/>
              </a:lnSpc>
              <a:spcAft>
                <a:spcPts val="300"/>
              </a:spcAft>
              <a:defRPr sz="570">
                <a:solidFill>
                  <a:srgbClr val="21242A"/>
                </a:solidFill>
                <a:latin typeface="Microsoft YaHei"/>
              </a:defRPr>
            </a:pPr>
            <a:r>
              <a:t>亚型采用生物标志物驱动的 BTK 抑制剂一线方法，并需要在更大规模的前瞻性研究中进行验证。</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95%</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87.5% (35/40)</a:t>
                      </a:r>
                    </a:p>
                  </a:txBody>
                  <a:tcPr>
                    <a:solidFill>
                      <a:srgbClr val="FFFFFF"/>
                    </a:solidFill>
                  </a:tcPr>
                </a:tc>
              </a:tr>
              <a:tr h="214230">
                <a:tc>
                  <a:txBody>
                    <a:bodyPr wrap="square" lIns="36576" rIns="36576" tIns="18288" bIns="18288"/>
                    <a:lstStyle/>
                    <a:p>
                      <a:r>
                        <a:rPr sz="540" b="1">
                          <a:solidFill>
                            <a:srgbClr val="21242A"/>
                          </a:solidFill>
                          <a:latin typeface="Microsoft YaHei"/>
                        </a:rPr>
                        <a:t>3年无进展生存率(PFS)</a:t>
                      </a:r>
                    </a:p>
                  </a:txBody>
                  <a:tcPr>
                    <a:solidFill>
                      <a:srgbClr val="F6F8FB"/>
                    </a:solidFill>
                  </a:tcPr>
                </a:tc>
                <a:tc>
                  <a:txBody>
                    <a:bodyPr wrap="square" lIns="36576" rIns="36576" tIns="18288" bIns="18288"/>
                    <a:lstStyle/>
                    <a:p>
                      <a:r>
                        <a:rPr sz="540" b="0">
                          <a:solidFill>
                            <a:srgbClr val="21242A"/>
                          </a:solidFill>
                          <a:latin typeface="Microsoft YaHei"/>
                        </a:rPr>
                        <a:t>88.5% (95% CI, 71.4–95.7)</a:t>
                      </a:r>
                    </a:p>
                  </a:txBody>
                  <a:tcPr>
                    <a:solidFill>
                      <a:srgbClr val="F6F8FB"/>
                    </a:solidFill>
                  </a:tcPr>
                </a:tc>
              </a:tr>
              <a:tr h="214230">
                <a:tc>
                  <a:txBody>
                    <a:bodyPr wrap="square" lIns="36576" rIns="36576" tIns="18288" bIns="18288"/>
                    <a:lstStyle/>
                    <a:p>
                      <a:r>
                        <a:rPr sz="540" b="1">
                          <a:solidFill>
                            <a:srgbClr val="21242A"/>
                          </a:solidFill>
                          <a:latin typeface="Microsoft YaHei"/>
                        </a:rPr>
                        <a:t>3年总生存率(OS)</a:t>
                      </a:r>
                    </a:p>
                  </a:txBody>
                  <a:tcPr>
                    <a:solidFill>
                      <a:srgbClr val="FFFFFF"/>
                    </a:solidFill>
                  </a:tcPr>
                </a:tc>
                <a:tc>
                  <a:txBody>
                    <a:bodyPr wrap="square" lIns="36576" rIns="36576" tIns="18288" bIns="18288"/>
                    <a:lstStyle/>
                    <a:p>
                      <a:r>
                        <a:rPr sz="540" b="0">
                          <a:solidFill>
                            <a:srgbClr val="21242A"/>
                          </a:solidFill>
                          <a:latin typeface="Microsoft YaHei"/>
                        </a:rPr>
                        <a:t>97.5% (95% CI, 83.5–99.6)</a:t>
                      </a:r>
                    </a:p>
                  </a:txBody>
                  <a:tcPr>
                    <a:solidFill>
                      <a:srgbClr val="FFFFFF"/>
                    </a:solidFill>
                  </a:tcPr>
                </a:tc>
              </a:tr>
              <a:tr h="214230">
                <a:tc>
                  <a:txBody>
                    <a:bodyPr wrap="square" lIns="36576" rIns="36576" tIns="18288" bIns="18288"/>
                    <a:lstStyle/>
                    <a:p>
                      <a:r>
                        <a:rPr sz="540" b="1">
                          <a:solidFill>
                            <a:srgbClr val="21242A"/>
                          </a:solidFill>
                          <a:latin typeface="Microsoft YaHei"/>
                        </a:rPr>
                        <a:t>中枢神经系统复发</a:t>
                      </a:r>
                    </a:p>
                  </a:txBody>
                  <a:tcPr>
                    <a:solidFill>
                      <a:srgbClr val="F6F8FB"/>
                    </a:solidFill>
                  </a:tcPr>
                </a:tc>
                <a:tc>
                  <a:txBody>
                    <a:bodyPr wrap="square" lIns="36576" rIns="36576" tIns="18288" bIns="18288"/>
                    <a:lstStyle/>
                    <a:p>
                      <a:r>
                        <a:rPr sz="540" b="0">
                          <a:solidFill>
                            <a:srgbClr val="21242A"/>
                          </a:solidFill>
                          <a:latin typeface="Microsoft YaHei"/>
                        </a:rPr>
                        <a:t>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扎努布替尼联合r-chop（zr-chop）治疗非生发中心b细胞样（非gcb）弥漫性大b细胞淋巴瘤患者，这些患者在两个...</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zanubrutinib plus r-chop (zr-chop) in non-germinal center b-cell-like (non-gc...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试验药/方案：泽布替尼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中位随访28.3个月</a:t>
            </a:r>
          </a:p>
          <a:p>
            <a:pPr>
              <a:lnSpc>
                <a:spcPct val="103000"/>
              </a:lnSpc>
              <a:spcAft>
                <a:spcPts val="300"/>
              </a:spcAft>
              <a:defRPr sz="800">
                <a:solidFill>
                  <a:srgbClr val="21242A"/>
                </a:solidFill>
                <a:latin typeface="Microsoft YaHei"/>
              </a:defRPr>
            </a:pPr>
            <a:r>
              <a:t>2年无事件生存（EFS）率38.2%（95%CI 18.4-57.9）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扎努布替尼联合r-chop（zr-chop）治疗非生发中心b细胞样（非gcb）弥漫性大b细胞淋巴瘤患者，这些患者在两个...</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zanubrutinib plus r-chop (zr-chop) in non-germinal center b-cell-like (non-gc...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背景：R-CHOP 是先前未经治疗的弥漫性大 B 细胞淋巴瘤 (DLBCL) 的标准治疗方法，然而，超过三分之一的患者无法通过 R-CHOP 治愈。显然需要改善患者的预后，特别是那些具有不良预后相关因素的患者，例如非GCB亚型和中间正电子发射断层扫描（PET）阳性。</a:t>
            </a:r>
          </a:p>
          <a:p>
            <a:pPr>
              <a:lnSpc>
                <a:spcPct val="103000"/>
              </a:lnSpc>
              <a:spcAft>
                <a:spcPts val="300"/>
              </a:spcAft>
              <a:defRPr sz="550">
                <a:solidFill>
                  <a:srgbClr val="21242A"/>
                </a:solidFill>
                <a:latin typeface="Microsoft YaHei"/>
              </a:defRPr>
            </a:pPr>
            <a:r>
              <a:t>Bruton 的酪氨酸激酶抑制剂 (BTKi) 已在 B 细胞恶性肿瘤中发挥了治疗活性，对 DLBCL 具有适度的活性。 Zanubrutinib 是一种有效的选择性 BTKi，在复发或难治性 (R/R) 非 GCB DLBCL 患者中进行了评估。</a:t>
            </a:r>
          </a:p>
          <a:p>
            <a:pPr>
              <a:lnSpc>
                <a:spcPct val="103000"/>
              </a:lnSpc>
              <a:spcAft>
                <a:spcPts val="300"/>
              </a:spcAft>
              <a:defRPr sz="550">
                <a:solidFill>
                  <a:srgbClr val="21242A"/>
                </a:solidFill>
                <a:latin typeface="Microsoft YaHei"/>
              </a:defRPr>
            </a:pPr>
            <a:r>
              <a:t>Zanubrutinib 对白细胞介素 2 诱导型 T 细胞激酶 (ITK) 的脱靶活性最小化，并减少了 ITK 介导的、利妥昔单抗诱导的、抗体依赖性细胞毒性的干扰。因此，ZR-CHOP 是一种潜在有效的治疗方案。目的：我们针对两个周期 R-CHOP 后 PET 阳性的非 GCB DLBCL 患者设计了一种 ZR-CH</a:t>
            </a:r>
          </a:p>
          <a:p>
            <a:pPr>
              <a:lnSpc>
                <a:spcPct val="103000"/>
              </a:lnSpc>
              <a:spcAft>
                <a:spcPts val="300"/>
              </a:spcAft>
              <a:defRPr sz="550">
                <a:solidFill>
                  <a:srgbClr val="21242A"/>
                </a:solidFill>
                <a:latin typeface="Microsoft YaHei"/>
              </a:defRPr>
            </a:pPr>
            <a:r>
              <a:t>OP 治疗升级方案，随后采用 zanubrutinib 维持治疗。方法：这是一项单臂、多中心、II 期研究。入组两个周期 R-CHOP 后 PET 阳性（Deauville 评分 4 或 5）的非 GCB DLBCL 患者。</a:t>
            </a:r>
          </a:p>
          <a:p>
            <a:pPr>
              <a:lnSpc>
                <a:spcPct val="103000"/>
              </a:lnSpc>
              <a:spcAft>
                <a:spcPts val="300"/>
              </a:spcAft>
              <a:defRPr sz="550">
                <a:solidFill>
                  <a:srgbClr val="21242A"/>
                </a:solidFill>
                <a:latin typeface="Microsoft YaHei"/>
              </a:defRPr>
            </a:pPr>
            <a:r>
              <a:t>PET 阴性或 PD 患者被排除。</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我们的结果表明，对于两周期 R-CHOP 后 PET 阳性的非 GCB DLBCL 患者，ZR-CHOP 是一种安全有效的方案。表明在动态PET-CT指导下加用zanubrutinib升级治疗可以改善这些患者的缓解率和中位EFS，且不会显着增加毒性。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中位随访28.3个月；2年无事件生存（EFS）率38.2%（95%CI 18.4-57.9）；中位EFS 17.6个月（8.3-NE）；最佳总缓解率（ORR）89.3%（CR 42.9%，PR 46.4%）；反应改善率54.2%（13/24，95%CI 32.8-74.5）；任意级别治疗期间不良事件（TEAE</a:t>
            </a:r>
          </a:p>
          <a:p>
            <a:pPr>
              <a:lnSpc>
                <a:spcPct val="103000"/>
              </a:lnSpc>
              <a:spcAft>
                <a:spcPts val="300"/>
              </a:spcAft>
              <a:defRPr sz="560">
                <a:solidFill>
                  <a:srgbClr val="21242A"/>
                </a:solidFill>
                <a:latin typeface="Microsoft YaHei"/>
              </a:defRPr>
            </a:pPr>
            <a:r>
              <a:t>）发生率96.4%；≥3级TEAE发生率77.8%；严重不良事件（SAE）发生率18.5%。</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利用循环肿瘤dna双链体对侵袭性大b细胞淋巴瘤进行分子监测</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molecular surveillance of aggressive large b-cell lymphoma using circulating...</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N=123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前瞻性临床研究结果：molecular surveillance of aggressive large b-cell lym...</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5年无进展生存率：82%</a:t>
            </a:r>
          </a:p>
          <a:p>
            <a:pPr>
              <a:lnSpc>
                <a:spcPct val="103000"/>
              </a:lnSpc>
              <a:spcAft>
                <a:spcPts val="300"/>
              </a:spcAft>
              <a:defRPr sz="800">
                <a:solidFill>
                  <a:srgbClr val="21242A"/>
                </a:solidFill>
                <a:latin typeface="Microsoft YaHei"/>
              </a:defRPr>
            </a:pPr>
            <a:r>
              <a:t>5年总生存率：90%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人数：123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研究主题：molecular surveillance of aggressive large b-cell lymphoma using circulating tumor dna duplexes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利用循环肿瘤dna双链体对侵袭性大b细胞淋巴瘤进行分子监测</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molecular surveillance of aggressive large b-cell lymphoma using circulating...</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背景：三分之一的侵袭性大 B 细胞淋巴瘤 (LBCL) 患者出现治疗失败，目前的工具不足以确定缓解情况。使用血浆循环肿瘤 DNA (ctDNA) 进行液体活检可补充诊断、预测治疗反应和生存率，并有望改变治疗决策。</a:t>
            </a:r>
          </a:p>
          <a:p>
            <a:pPr>
              <a:lnSpc>
                <a:spcPct val="103000"/>
              </a:lnSpc>
              <a:spcAft>
                <a:spcPts val="300"/>
              </a:spcAft>
              <a:defRPr sz="550">
                <a:solidFill>
                  <a:srgbClr val="21242A"/>
                </a:solidFill>
                <a:latin typeface="Microsoft YaHei"/>
              </a:defRPr>
            </a:pPr>
            <a:r>
              <a:t>目的：我们旨在评估通过对原发性高危 LBCL 患者血浆样本进行双重测序进行纵向 ctDNA 监测的额外临床益处。</a:t>
            </a:r>
          </a:p>
          <a:p>
            <a:pPr>
              <a:lnSpc>
                <a:spcPct val="103000"/>
              </a:lnSpc>
              <a:spcAft>
                <a:spcPts val="300"/>
              </a:spcAft>
              <a:defRPr sz="550">
                <a:solidFill>
                  <a:srgbClr val="21242A"/>
                </a:solidFill>
                <a:latin typeface="Microsoft YaHei"/>
              </a:defRPr>
            </a:pPr>
            <a:r>
              <a:t>方法：作为 Nordic LBC-06 II 期试验的一部分，我们对 447 份纵向血浆 cfDNA 样本进行了基于靶向双链测序的 ctDNA 检测，分析了 123 名原发性 LBCL 患者在治疗和随访期间不同时间点的可测量残留病灶 (MRD)（Leppä 等人，2025）。这些患者年轻（年龄18-64岁），患有临床高</a:t>
            </a:r>
          </a:p>
          <a:p>
            <a:pPr>
              <a:lnSpc>
                <a:spcPct val="103000"/>
              </a:lnSpc>
              <a:spcAft>
                <a:spcPts val="300"/>
              </a:spcAft>
              <a:defRPr sz="550">
                <a:solidFill>
                  <a:srgbClr val="21242A"/>
                </a:solidFill>
                <a:latin typeface="Microsoft YaHei"/>
              </a:defRPr>
            </a:pPr>
            <a:r>
              <a:t>危LBCL，并接受剂量强化免疫化疗治疗。检测到的最低 ctDNA 分数在百万分之一 (ppm) 范围内，检测中位数限为 1.69*10 -5，其中 26% 的样品检测限在 ppm 范围内。</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在治疗期间和双链测序随访期间进行纵向血浆 ctDNA 检测可识别难治性疾病，预测生存率，确定治疗反应，并提供临床进展前的准备时间。总体而言，结果支持将分子缓解纳入 LBCL 缓解标准，以补充影像学并提供动态分子工具来指导临床决策。</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5年无进展生存率</a:t>
                      </a:r>
                    </a:p>
                  </a:txBody>
                  <a:tcPr>
                    <a:solidFill>
                      <a:srgbClr val="F6F8FB"/>
                    </a:solidFill>
                  </a:tcPr>
                </a:tc>
                <a:tc>
                  <a:txBody>
                    <a:bodyPr wrap="square" lIns="36576" rIns="36576" tIns="18288" bIns="18288"/>
                    <a:lstStyle/>
                    <a:p>
                      <a:r>
                        <a:rPr sz="540" b="0">
                          <a:solidFill>
                            <a:srgbClr val="21242A"/>
                          </a:solidFill>
                          <a:latin typeface="Microsoft YaHei"/>
                        </a:rPr>
                        <a:t>82%</a:t>
                      </a:r>
                    </a:p>
                  </a:txBody>
                  <a:tcPr>
                    <a:solidFill>
                      <a:srgbClr val="F6F8FB"/>
                    </a:solidFill>
                  </a:tcPr>
                </a:tc>
              </a:tr>
              <a:tr h="214230">
                <a:tc>
                  <a:txBody>
                    <a:bodyPr wrap="square" lIns="36576" rIns="36576" tIns="18288" bIns="18288"/>
                    <a:lstStyle/>
                    <a:p>
                      <a:r>
                        <a:rPr sz="540" b="1">
                          <a:solidFill>
                            <a:srgbClr val="21242A"/>
                          </a:solidFill>
                          <a:latin typeface="Microsoft YaHei"/>
                        </a:rPr>
                        <a:t>5年总生存率</a:t>
                      </a:r>
                    </a:p>
                  </a:txBody>
                  <a:tcPr>
                    <a:solidFill>
                      <a:srgbClr val="FFFFFF"/>
                    </a:solidFill>
                  </a:tcPr>
                </a:tc>
                <a:tc>
                  <a:txBody>
                    <a:bodyPr wrap="square" lIns="36576" rIns="36576" tIns="18288" bIns="18288"/>
                    <a:lstStyle/>
                    <a:p>
                      <a:r>
                        <a:rPr sz="540" b="0">
                          <a:solidFill>
                            <a:srgbClr val="21242A"/>
                          </a:solidFill>
                          <a:latin typeface="Microsoft YaHei"/>
                        </a:rPr>
                        <a:t>90%</a:t>
                      </a:r>
                    </a:p>
                  </a:txBody>
                  <a:tcPr>
                    <a:solidFill>
                      <a:srgbClr val="FFFFFF"/>
                    </a:solidFill>
                  </a:tcPr>
                </a:tc>
              </a:tr>
              <a:tr h="214230">
                <a:tc>
                  <a:txBody>
                    <a:bodyPr wrap="square" lIns="36576" rIns="36576" tIns="18288" bIns="18288"/>
                    <a:lstStyle/>
                    <a:p>
                      <a:r>
                        <a:rPr sz="540" b="1">
                          <a:solidFill>
                            <a:srgbClr val="21242A"/>
                          </a:solidFill>
                          <a:latin typeface="Microsoft YaHei"/>
                        </a:rPr>
                        <a:t>两个周期化疗后分子缓解率</a:t>
                      </a:r>
                    </a:p>
                  </a:txBody>
                  <a:tcPr>
                    <a:solidFill>
                      <a:srgbClr val="F6F8FB"/>
                    </a:solidFill>
                  </a:tcPr>
                </a:tc>
                <a:tc>
                  <a:txBody>
                    <a:bodyPr wrap="square" lIns="36576" rIns="36576" tIns="18288" bIns="18288"/>
                    <a:lstStyle/>
                    <a:p>
                      <a:r>
                        <a:rPr sz="540" b="0">
                          <a:solidFill>
                            <a:srgbClr val="21242A"/>
                          </a:solidFill>
                          <a:latin typeface="Microsoft YaHei"/>
                        </a:rPr>
                        <a:t>67%</a:t>
                      </a:r>
                    </a:p>
                  </a:txBody>
                  <a:tcPr>
                    <a:solidFill>
                      <a:srgbClr val="F6F8FB"/>
                    </a:solidFill>
                  </a:tcPr>
                </a:tc>
              </a:tr>
              <a:tr h="214230">
                <a:tc>
                  <a:txBody>
                    <a:bodyPr wrap="square" lIns="36576" rIns="36576" tIns="18288" bIns="18288"/>
                    <a:lstStyle/>
                    <a:p>
                      <a:r>
                        <a:rPr sz="540" b="1">
                          <a:solidFill>
                            <a:srgbClr val="21242A"/>
                          </a:solidFill>
                          <a:latin typeface="Microsoft YaHei"/>
                        </a:rPr>
                        <a:t>两个周期后MRD阳性患者5年OS</a:t>
                      </a:r>
                    </a:p>
                  </a:txBody>
                  <a:tcPr>
                    <a:solidFill>
                      <a:srgbClr val="FFFFFF"/>
                    </a:solidFill>
                  </a:tcPr>
                </a:tc>
                <a:tc>
                  <a:txBody>
                    <a:bodyPr wrap="square" lIns="36576" rIns="36576" tIns="18288" bIns="18288"/>
                    <a:lstStyle/>
                    <a:p>
                      <a:r>
                        <a:rPr sz="540" b="0">
                          <a:solidFill>
                            <a:srgbClr val="21242A"/>
                          </a:solidFill>
                          <a:latin typeface="Microsoft YaHei"/>
                        </a:rPr>
                        <a:t>97% vs 75%</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四个周期后MRD阳性患者中52%转为阴性</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摘要号：S259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外周循环免疫细胞亚群在初发弥漫性大b细胞淋巴瘤治疗中的预后价值及其与临床特征的相关性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peripheral circulating immune cell subsets: prognostic value and correlation...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PS2207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N=111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前瞻性临床研究结果：peripheral circulating immune cell subsets: prognosti...</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高IPI风险患者：DNB I更高，CD4+/CD8+比值、辅助诱导T细胞、初始CD8+ T细胞、DNB II和过渡性B细胞更低...</a:t>
            </a:r>
          </a:p>
          <a:p>
            <a:pPr>
              <a:lnSpc>
                <a:spcPct val="103000"/>
              </a:lnSpc>
              <a:spcAft>
                <a:spcPts val="300"/>
              </a:spcAft>
              <a:defRPr sz="800">
                <a:solidFill>
                  <a:srgbClr val="21242A"/>
                </a:solidFill>
                <a:latin typeface="Microsoft YaHei"/>
              </a:defRPr>
            </a:pPr>
            <a:r>
              <a:t>化疗后感染患者：效应记忆CD4+/CD8+ T细胞增加，初始和中央记忆CD4+ T细胞减少，感染是独立不良预后因素</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人数：111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研究主题：peripheral circulating immune cell subsets: prognostic value and correlation with clinical features in treatment-naive...</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外周循环免疫细胞亚群在初发弥漫性大b细胞淋巴瘤治疗中的预后价值及其与临床特征的相关性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peripheral circulating immune cell subsets: prognostic value and correlation...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PS2207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细胞淋巴瘤（DLBCL）是最常见的侵袭性非霍奇金淋巴瘤，具有明显的临床异质性。尽管 R-CHOP 改善了生存，但 30%-40% 的患者存在原发性耐药或早期复发。</a:t>
            </a:r>
          </a:p>
          <a:p>
            <a:pPr>
              <a:lnSpc>
                <a:spcPct val="103000"/>
              </a:lnSpc>
              <a:spcAft>
                <a:spcPts val="300"/>
              </a:spcAft>
              <a:defRPr sz="550">
                <a:solidFill>
                  <a:srgbClr val="21242A"/>
                </a:solidFill>
                <a:latin typeface="Microsoft YaHei"/>
              </a:defRPr>
            </a:pPr>
            <a:r>
              <a:t>TME 失衡推动进展；细化的 T/B 子集与 DLBCL 临床特征的相关性仍不清楚，并且 IPI 缺乏免疫参数，因此探索免疫子集和开发用于筛选免疫相关预后标志物的工具至关重要。 目的：本研究旨在表征初治 DLBCL 中的循环 T/B 亚群，阐明其与临床特征的相关性，并建立“临床免疫”预后模型。</a:t>
            </a:r>
          </a:p>
          <a:p>
            <a:pPr>
              <a:lnSpc>
                <a:spcPct val="103000"/>
              </a:lnSpc>
              <a:spcAft>
                <a:spcPts val="300"/>
              </a:spcAft>
              <a:defRPr sz="550">
                <a:solidFill>
                  <a:srgbClr val="21242A"/>
                </a:solidFill>
                <a:latin typeface="Microsoft YaHei"/>
              </a:defRPr>
            </a:pPr>
            <a:r>
              <a:t>方法：纳入 111 名初治 DLBCL 患者，并根据 IPI 风险、化疗后感染和治疗反应 (CR/PD) 进行分层。多色流式细胞仪检测外周血中30余种T/B淋巴细胞亚群。进行组间比较、单变量Logistic和多变量COX分析来筛选预后免疫指标。建立了整合核心免疫标志物和 IPI 评分的预后列线图，并通过 ROC、校准曲</a:t>
            </a:r>
          </a:p>
          <a:p>
            <a:pPr>
              <a:lnSpc>
                <a:spcPct val="103000"/>
              </a:lnSpc>
              <a:spcAft>
                <a:spcPts val="300"/>
              </a:spcAft>
              <a:defRPr sz="550">
                <a:solidFill>
                  <a:srgbClr val="21242A"/>
                </a:solidFill>
                <a:latin typeface="Microsoft YaHei"/>
              </a:defRPr>
            </a:pPr>
            <a:r>
              <a:t>线和 K-M 分析进行验证。磷</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本研究探讨了弥漫性大 B 细胞淋巴瘤的免疫亚群与临床结果之间的关系。高 IPI 风险与较高的 DNB I 但较低的 CD4+/CD8+ 比率、辅助诱导 T 细胞、初始 CD8+ T 细胞、DNB II 和移行 B 细胞相关，并伴有较高的复发率。这些免疫标志物与高 IPI 风险呈负相关。化疗后感染的患者表现出效应记忆CD</a:t>
            </a:r>
          </a:p>
          <a:p>
            <a:pPr>
              <a:lnSpc>
                <a:spcPct val="103000"/>
              </a:lnSpc>
              <a:spcAft>
                <a:spcPts val="300"/>
              </a:spcAft>
              <a:defRPr sz="570">
                <a:solidFill>
                  <a:srgbClr val="21242A"/>
                </a:solidFill>
                <a:latin typeface="Microsoft YaHei"/>
              </a:defRPr>
            </a:pPr>
            <a:r>
              <a:t>4+/CD8+T细胞增加，幼稚和中枢记忆CD4+T细胞减少；感染是一个独立的不良预后因素。</a:t>
            </a:r>
          </a:p>
          <a:p>
            <a:pPr>
              <a:lnSpc>
                <a:spcPct val="103000"/>
              </a:lnSpc>
              <a:spcAft>
                <a:spcPts val="300"/>
              </a:spcAft>
              <a:defRPr sz="570">
                <a:solidFill>
                  <a:srgbClr val="21242A"/>
                </a:solidFill>
                <a:latin typeface="Microsoft YaHei"/>
              </a:defRPr>
            </a:pPr>
            <a:r>
              <a:t>CR患者具有较高的初始CD8+和细胞毒性T细胞，而PD患者具有较高的DNB和Tph水平。我们建立了结合五项免疫指标和 IPI 评分的预后列线图，该列线图显示出令人满意的预测效果，具有良好的校准、分层良好的 PFS 和 0.805 的 C 指数。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高IPI风险患者</a:t>
                      </a:r>
                    </a:p>
                  </a:txBody>
                  <a:tcPr>
                    <a:solidFill>
                      <a:srgbClr val="F6F8FB"/>
                    </a:solidFill>
                  </a:tcPr>
                </a:tc>
                <a:tc>
                  <a:txBody>
                    <a:bodyPr wrap="square" lIns="36576" rIns="36576" tIns="18288" bIns="18288"/>
                    <a:lstStyle/>
                    <a:p>
                      <a:r>
                        <a:rPr sz="540" b="0">
                          <a:solidFill>
                            <a:srgbClr val="21242A"/>
                          </a:solidFill>
                          <a:latin typeface="Microsoft YaHei"/>
                        </a:rPr>
                        <a:t>DNB I更高，CD4+/CD8+比值、辅助诱导T细胞、初始CD8+ T细胞、DNB II和过渡性B细胞更低，复发率更高</a:t>
                      </a:r>
                    </a:p>
                  </a:txBody>
                  <a:tcPr>
                    <a:solidFill>
                      <a:srgbClr val="F6F8FB"/>
                    </a:solidFill>
                  </a:tcPr>
                </a:tc>
              </a:tr>
              <a:tr h="249936">
                <a:tc>
                  <a:txBody>
                    <a:bodyPr wrap="square" lIns="36576" rIns="36576" tIns="18288" bIns="18288"/>
                    <a:lstStyle/>
                    <a:p>
                      <a:r>
                        <a:rPr sz="540" b="1">
                          <a:solidFill>
                            <a:srgbClr val="21242A"/>
                          </a:solidFill>
                          <a:latin typeface="Microsoft YaHei"/>
                        </a:rPr>
                        <a:t>化疗后感染患者</a:t>
                      </a:r>
                    </a:p>
                  </a:txBody>
                  <a:tcPr>
                    <a:solidFill>
                      <a:srgbClr val="FFFFFF"/>
                    </a:solidFill>
                  </a:tcPr>
                </a:tc>
                <a:tc>
                  <a:txBody>
                    <a:bodyPr wrap="square" lIns="36576" rIns="36576" tIns="18288" bIns="18288"/>
                    <a:lstStyle/>
                    <a:p>
                      <a:r>
                        <a:rPr sz="540" b="0">
                          <a:solidFill>
                            <a:srgbClr val="21242A"/>
                          </a:solidFill>
                          <a:latin typeface="Microsoft YaHei"/>
                        </a:rPr>
                        <a:t>效应记忆CD4+/CD8+ T细胞增加，初始和中央记忆CD4+ T细胞减少，感染是独立不良预后因素</a:t>
                      </a:r>
                    </a:p>
                  </a:txBody>
                  <a:tcPr>
                    <a:solidFill>
                      <a:srgbClr val="FFFFFF"/>
                    </a:solidFill>
                  </a:tcPr>
                </a:tc>
              </a:tr>
              <a:tr h="249936">
                <a:tc>
                  <a:txBody>
                    <a:bodyPr wrap="square" lIns="36576" rIns="36576" tIns="18288" bIns="18288"/>
                    <a:lstStyle/>
                    <a:p>
                      <a:r>
                        <a:rPr sz="540" b="1">
                          <a:solidFill>
                            <a:srgbClr val="21242A"/>
                          </a:solidFill>
                          <a:latin typeface="Microsoft YaHei"/>
                        </a:rPr>
                        <a:t>CR患者</a:t>
                      </a:r>
                    </a:p>
                  </a:txBody>
                  <a:tcPr>
                    <a:solidFill>
                      <a:srgbClr val="F6F8FB"/>
                    </a:solidFill>
                  </a:tcPr>
                </a:tc>
                <a:tc>
                  <a:txBody>
                    <a:bodyPr wrap="square" lIns="36576" rIns="36576" tIns="18288" bIns="18288"/>
                    <a:lstStyle/>
                    <a:p>
                      <a:r>
                        <a:rPr sz="540" b="0">
                          <a:solidFill>
                            <a:srgbClr val="21242A"/>
                          </a:solidFill>
                          <a:latin typeface="Microsoft YaHei"/>
                        </a:rPr>
                        <a:t>初始CD8+ T细胞和细胞毒性T细胞更高</a:t>
                      </a:r>
                    </a:p>
                  </a:txBody>
                  <a:tcPr>
                    <a:solidFill>
                      <a:srgbClr val="F6F8FB"/>
                    </a:solidFill>
                  </a:tcPr>
                </a:tc>
              </a:tr>
              <a:tr h="249936">
                <a:tc>
                  <a:txBody>
                    <a:bodyPr wrap="square" lIns="36576" rIns="36576" tIns="18288" bIns="18288"/>
                    <a:lstStyle/>
                    <a:p>
                      <a:r>
                        <a:rPr sz="540" b="1">
                          <a:solidFill>
                            <a:srgbClr val="21242A"/>
                          </a:solidFill>
                          <a:latin typeface="Microsoft YaHei"/>
                        </a:rPr>
                        <a:t>PD患者</a:t>
                      </a:r>
                    </a:p>
                  </a:txBody>
                  <a:tcPr>
                    <a:solidFill>
                      <a:srgbClr val="FFFFFF"/>
                    </a:solidFill>
                  </a:tcPr>
                </a:tc>
                <a:tc>
                  <a:txBody>
                    <a:bodyPr wrap="square" lIns="36576" rIns="36576" tIns="18288" bIns="18288"/>
                    <a:lstStyle/>
                    <a:p>
                      <a:r>
                        <a:rPr sz="540" b="0">
                          <a:solidFill>
                            <a:srgbClr val="21242A"/>
                          </a:solidFill>
                          <a:latin typeface="Microsoft YaHei"/>
                        </a:rPr>
                        <a:t>DNB和Tph水平更高</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建立了包含五个免疫指标和IPI评分的预后列线图，C-index为0.805</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摘要号：PS2207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弥漫性大b细胞淋巴瘤中cd20阳性细胞外囊泡充当抗原诱饵并降低利妥昔单抗活性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cd20-positive extracellular vesicles act as antigen decoys and reduce rituxim...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PS2190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N=116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试验药/方案：利妥昔单抗</a:t>
            </a:r>
          </a:p>
          <a:p>
            <a:pPr>
              <a:lnSpc>
                <a:spcPct val="103000"/>
              </a:lnSpc>
              <a:spcAft>
                <a:spcPts val="300"/>
              </a:spcAft>
              <a:defRPr sz="800">
                <a:solidFill>
                  <a:srgbClr val="21242A"/>
                </a:solidFill>
                <a:latin typeface="Microsoft YaHei"/>
              </a:defRPr>
            </a:pPr>
            <a:r>
              <a:t>靶点：CD20</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在训练队列（n=26）中，高CD20阳性大EV组患者疾病特异性生存（DSS）和总生存（OS）显著更差</a:t>
            </a:r>
          </a:p>
          <a:p>
            <a:pPr>
              <a:lnSpc>
                <a:spcPct val="103000"/>
              </a:lnSpc>
              <a:spcAft>
                <a:spcPts val="300"/>
              </a:spcAft>
              <a:defRPr sz="800">
                <a:solidFill>
                  <a:srgbClr val="21242A"/>
                </a:solidFill>
                <a:latin typeface="Microsoft YaHei"/>
              </a:defRPr>
            </a:pPr>
            <a:r>
              <a:t>在验证队列（n=90）中，高CD20阳性大EV水平与更多疾病进展、更差的DSS和OS显著相关</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人数：116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试验药/方案：利妥昔单抗</a:t>
            </a:r>
          </a:p>
          <a:p>
            <a:pPr>
              <a:lnSpc>
                <a:spcPct val="103000"/>
              </a:lnSpc>
              <a:spcAft>
                <a:spcPts val="300"/>
              </a:spcAft>
              <a:defRPr sz="810">
                <a:solidFill>
                  <a:srgbClr val="21242A"/>
                </a:solidFill>
                <a:latin typeface="Microsoft YaHei"/>
              </a:defRPr>
            </a:pPr>
            <a:r>
              <a:t>靶点：CD20</a:t>
            </a:r>
          </a:p>
          <a:p>
            <a:pPr>
              <a:lnSpc>
                <a:spcPct val="103000"/>
              </a:lnSpc>
              <a:spcAft>
                <a:spcPts val="300"/>
              </a:spcAft>
              <a:defRPr sz="810">
                <a:solidFill>
                  <a:srgbClr val="21242A"/>
                </a:solidFill>
                <a:latin typeface="Microsoft YaHei"/>
              </a:defRPr>
            </a:pPr>
            <a:r>
              <a:t>药物/技术类别：单特异性抗体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弥漫性大b细胞淋巴瘤中cd20阳性细胞外囊泡充当抗原诱饵并降低利妥昔单抗活性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cd20-positive extracellular vesicles act as antigen decoys and reduce rituxim...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PS2190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背景：CD20 的丢失或下调被认为是利妥昔单抗（一种弥漫性大 B 细胞淋巴瘤 (DLBCL) 中的抗 CD20 单克隆抗体）耐药的主要机制。然而，肿瘤来源的细胞外囊泡（EV）也可能导致抗体耐药性。电动汽车在操作上根据尺寸分为小型电动汽车（200 nm）。由于大型 EV 直接从质膜脱落，因此在血液中循环的肿瘤衍生的大型 </a:t>
            </a:r>
          </a:p>
          <a:p>
            <a:pPr>
              <a:lnSpc>
                <a:spcPct val="103000"/>
              </a:lnSpc>
              <a:spcAft>
                <a:spcPts val="300"/>
              </a:spcAft>
              <a:defRPr sz="550">
                <a:solidFill>
                  <a:srgbClr val="21242A"/>
                </a:solidFill>
                <a:latin typeface="Microsoft YaHei"/>
              </a:defRPr>
            </a:pPr>
            <a:r>
              <a:t>EV 可能反映肿瘤负荷并导致治疗耐药。鉴于 CD20 在 DLBCL 细胞上大量表达，肿瘤来源的 CD20 阳性大 EV 可能充当利妥昔单抗的抗原池，从而减少有效抗体暴露于恶性 B 细胞。因此，我们假设循环 CD20 阳性大 EV 会减弱利妥昔单抗活性并预测治疗结果。因此，我们研究了循环 CD20 阳性大 EV 与接受</a:t>
            </a:r>
          </a:p>
          <a:p>
            <a:pPr>
              <a:lnSpc>
                <a:spcPct val="103000"/>
              </a:lnSpc>
              <a:spcAft>
                <a:spcPts val="300"/>
              </a:spcAft>
              <a:defRPr sz="550">
                <a:solidFill>
                  <a:srgbClr val="21242A"/>
                </a:solidFill>
                <a:latin typeface="Microsoft YaHei"/>
              </a:defRPr>
            </a:pPr>
            <a:r>
              <a:t> R-CHOP 治疗的新诊断 DLBCL 患者临床结果之间的关联。目的：本研究的目的是评估循环 CD20 阳性大 EV 对在常规临床实践中接受标准 R-CHOP 治疗的新诊断 DLBCL 患者的预后影响。方法：从 DLBCL 患者存档的血清样本和培养的原发肿瘤细胞的上清液中分离出 CD20 阳性的大和小 EV。</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CD20 阳性的大 EV 作为诱饵，中和利妥昔单抗并抑制免疫细胞毒性，促进 DLBCL 的抵抗和免疫逃避。它们的血清水平可以作为预测治疗反应和预后的新型生物标志物。</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在训练队列（n=26）中，高CD20阳性大EV组患者疾病特异性生存（DSS）和总生存（OS）显著更差；在验证队列（n=90）中，高CD20阳性大EV水平与更多疾病进展、更差的DSS和OS显著相关；多因素调整后CD20阳性大EV仍是独立预后因素。功能实验显示患者来源的CD20阳性大EV增强肿瘤细胞增殖、减弱利妥</a:t>
            </a:r>
          </a:p>
          <a:p>
            <a:pPr>
              <a:lnSpc>
                <a:spcPct val="103000"/>
              </a:lnSpc>
              <a:spcAft>
                <a:spcPts val="300"/>
              </a:spcAft>
              <a:defRPr sz="560">
                <a:solidFill>
                  <a:srgbClr val="21242A"/>
                </a:solidFill>
                <a:latin typeface="Microsoft YaHei"/>
              </a:defRPr>
            </a:pPr>
            <a:r>
              <a:t>昔单抗介导的生长抑制和细胞毒性。</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摘要号：PS2190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连续扩散，而非血行扩散：原发性经鼻dlbcl-94例患者中枢神经系统风险和治疗强度的再思考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contiguous spread, not hematogenous dissemination: rethinking cns risk and tr...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N=94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分组：试验组1：R-CHOP方案</a:t>
            </a:r>
          </a:p>
          <a:p>
            <a:pPr>
              <a:lnSpc>
                <a:spcPct val="103000"/>
              </a:lnSpc>
              <a:spcAft>
                <a:spcPts val="300"/>
              </a:spcAft>
              <a:defRPr sz="800">
                <a:solidFill>
                  <a:srgbClr val="21242A"/>
                </a:solidFill>
                <a:latin typeface="Microsoft YaHei"/>
              </a:defRPr>
            </a:pPr>
            <a:r>
              <a:t>试验组2：da-R-EPOCH方案</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多组/多方案比较：试验组1：R-CHOP方案</a:t>
            </a:r>
          </a:p>
          <a:p>
            <a:pPr>
              <a:lnSpc>
                <a:spcPct val="103000"/>
              </a:lnSpc>
              <a:spcAft>
                <a:spcPts val="300"/>
              </a:spcAft>
              <a:defRPr sz="800">
                <a:solidFill>
                  <a:srgbClr val="21242A"/>
                </a:solidFill>
                <a:latin typeface="Microsoft YaHei"/>
              </a:defRPr>
            </a:pPr>
            <a:r>
              <a:t>试验组2：da-R-EPOCH方案</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5年无进展生存率（PFS）: 67.0%</a:t>
            </a:r>
          </a:p>
          <a:p>
            <a:pPr>
              <a:lnSpc>
                <a:spcPct val="103000"/>
              </a:lnSpc>
              <a:spcAft>
                <a:spcPts val="300"/>
              </a:spcAft>
              <a:defRPr sz="800">
                <a:solidFill>
                  <a:srgbClr val="21242A"/>
                </a:solidFill>
                <a:latin typeface="Microsoft YaHei"/>
              </a:defRPr>
            </a:pPr>
            <a:r>
              <a:t>5年总生存率（OS）: 73.1%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人数：94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分组/治疗流程：试验组1：R-CHOP方案、试验组2：da-R-EPOCH方案、试验组3：Pola-R-CHP方案</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连续扩散，而非血行扩散：原发性经鼻dlbcl-94例患者中枢神经系统风险和治疗强度的再思考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contiguous spread, not hematogenous dissemination: rethinking cns risk and tr...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背景：原发性鼻腔弥漫性大 B 细胞淋巴瘤 (PSN-DLBCL) 是一种极其罕见的结外淋巴瘤（发病率约为百万分之一），最佳治疗方法尚不明确。关于治疗强度和中枢神经系统（CNS）预防必要性的关键不确定性仍然存在。值得注意的是，诊断时中枢神经系统受累似乎比结节性 DLBCL 更常见，但其机制（血源性与直接扩展）以及适当的预</a:t>
            </a:r>
          </a:p>
          <a:p>
            <a:pPr>
              <a:lnSpc>
                <a:spcPct val="103000"/>
              </a:lnSpc>
              <a:spcAft>
                <a:spcPts val="300"/>
              </a:spcAft>
              <a:defRPr sz="550">
                <a:solidFill>
                  <a:srgbClr val="21242A"/>
                </a:solidFill>
                <a:latin typeface="Microsoft YaHei"/>
              </a:defRPr>
            </a:pPr>
            <a:r>
              <a:t>防策略仍然未知。</a:t>
            </a:r>
          </a:p>
          <a:p>
            <a:pPr>
              <a:lnSpc>
                <a:spcPct val="103000"/>
              </a:lnSpc>
              <a:spcAft>
                <a:spcPts val="300"/>
              </a:spcAft>
              <a:defRPr sz="550">
                <a:solidFill>
                  <a:srgbClr val="21242A"/>
                </a:solidFill>
                <a:latin typeface="Microsoft YaHei"/>
              </a:defRPr>
            </a:pPr>
            <a:r>
              <a:t>目的：我们进行了这项大型单中心回顾性研究，以描述临床特征、中枢神经系统风险模式和真实世界的治疗结果。</a:t>
            </a:r>
          </a:p>
          <a:p>
            <a:pPr>
              <a:lnSpc>
                <a:spcPct val="103000"/>
              </a:lnSpc>
              <a:spcAft>
                <a:spcPts val="300"/>
              </a:spcAft>
              <a:defRPr sz="550">
                <a:solidFill>
                  <a:srgbClr val="21242A"/>
                </a:solidFill>
                <a:latin typeface="Microsoft YaHei"/>
              </a:defRPr>
            </a:pPr>
            <a:r>
              <a:t>方法：我们纳入了 2009-2024 年在北京同仁医院诊断的 94 名初治 PSN-DLBCL 患者。中枢神经系统受累需要脑脊液流式细胞术阳性或脑实质病变。广泛的局部侵犯（ELI）被定义为肿瘤超出鼻窦骨范围进入≥2个相邻结构。治疗方案包括 R-CHOP (60.6%)、da-R-EPOCH (25.5%) 和 Pola</a:t>
            </a:r>
          </a:p>
          <a:p>
            <a:pPr>
              <a:lnSpc>
                <a:spcPct val="103000"/>
              </a:lnSpc>
              <a:spcAft>
                <a:spcPts val="300"/>
              </a:spcAft>
              <a:defRPr sz="550">
                <a:solidFill>
                  <a:srgbClr val="21242A"/>
                </a:solidFill>
                <a:latin typeface="Microsoft YaHei"/>
              </a:defRPr>
            </a:pPr>
            <a:r>
              <a:t>-R-CHP (6.4%)。</a:t>
            </a:r>
          </a:p>
          <a:p>
            <a:pPr>
              <a:lnSpc>
                <a:spcPct val="103000"/>
              </a:lnSpc>
              <a:spcAft>
                <a:spcPts val="300"/>
              </a:spcAft>
              <a:defRPr sz="550">
                <a:solidFill>
                  <a:srgbClr val="21242A"/>
                </a:solidFill>
                <a:latin typeface="Microsoft YaHei"/>
              </a:defRPr>
            </a:pPr>
            <a:r>
              <a:t>CNS 导向策略包括鞘内化疗 (52.1%)、高剂量甲氨蝶呤 (HD-MTX，21.3%) 或两者兼而有之。</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这项研究提供了实质性的现实证据，证明 PSN-DLBCL 通过标准 R-CHOP 免疫化疗取得了优异的疗效，而强化治疗方案没有增加获益。相对常见的基线中枢神经系统受累（9.6%）和罕见的中枢神经系统复发（3.2%）之间的分离表明连续的解剖学扩展（通过颅底侵蚀和颅孔）而不是血行播散作为主要机制。这种病理生理学见解具有直接</a:t>
            </a:r>
          </a:p>
          <a:p>
            <a:pPr>
              <a:lnSpc>
                <a:spcPct val="103000"/>
              </a:lnSpc>
              <a:spcAft>
                <a:spcPts val="300"/>
              </a:spcAft>
              <a:defRPr sz="570">
                <a:solidFill>
                  <a:srgbClr val="21242A"/>
                </a:solidFill>
                <a:latin typeface="Microsoft YaHei"/>
              </a:defRPr>
            </a:pPr>
            <a:r>
              <a:t>的治疗意义：当需要中枢神经系统定向治疗时，鞘内化疗可实现有限的实质渗透，不应替代全身 HD-MTX。</a:t>
            </a:r>
          </a:p>
          <a:p>
            <a:pPr>
              <a:lnSpc>
                <a:spcPct val="103000"/>
              </a:lnSpc>
              <a:spcAft>
                <a:spcPts val="300"/>
              </a:spcAft>
              <a:defRPr sz="570">
                <a:solidFill>
                  <a:srgbClr val="21242A"/>
                </a:solidFill>
                <a:latin typeface="Microsoft YaHei"/>
              </a:defRPr>
            </a:pPr>
            <a:r>
              <a:t>ELI 的良好预后挑战了有关局部攻击性的传统假设。这些发现支持大多数患者的降级策略，同时强调需要进行前瞻性研究来完善这种罕见结外亚型的风险适应中枢神经系统预防。</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5年无进展生存率（PFS）</a:t>
                      </a:r>
                    </a:p>
                  </a:txBody>
                  <a:tcPr>
                    <a:solidFill>
                      <a:srgbClr val="F6F8FB"/>
                    </a:solidFill>
                  </a:tcPr>
                </a:tc>
                <a:tc>
                  <a:txBody>
                    <a:bodyPr wrap="square" lIns="36576" rIns="36576" tIns="18288" bIns="18288"/>
                    <a:lstStyle/>
                    <a:p>
                      <a:r>
                        <a:rPr sz="540" b="0">
                          <a:solidFill>
                            <a:srgbClr val="21242A"/>
                          </a:solidFill>
                          <a:latin typeface="Microsoft YaHei"/>
                        </a:rPr>
                        <a:t>67.0%</a:t>
                      </a:r>
                    </a:p>
                  </a:txBody>
                  <a:tcPr>
                    <a:solidFill>
                      <a:srgbClr val="F6F8FB"/>
                    </a:solidFill>
                  </a:tcPr>
                </a:tc>
              </a:tr>
              <a:tr h="249936">
                <a:tc>
                  <a:txBody>
                    <a:bodyPr wrap="square" lIns="36576" rIns="36576" tIns="18288" bIns="18288"/>
                    <a:lstStyle/>
                    <a:p>
                      <a:r>
                        <a:rPr sz="540" b="1">
                          <a:solidFill>
                            <a:srgbClr val="21242A"/>
                          </a:solidFill>
                          <a:latin typeface="Microsoft YaHei"/>
                        </a:rPr>
                        <a:t>5年总生存率（OS）</a:t>
                      </a:r>
                    </a:p>
                  </a:txBody>
                  <a:tcPr>
                    <a:solidFill>
                      <a:srgbClr val="FFFFFF"/>
                    </a:solidFill>
                  </a:tcPr>
                </a:tc>
                <a:tc>
                  <a:txBody>
                    <a:bodyPr wrap="square" lIns="36576" rIns="36576" tIns="18288" bIns="18288"/>
                    <a:lstStyle/>
                    <a:p>
                      <a:r>
                        <a:rPr sz="540" b="0">
                          <a:solidFill>
                            <a:srgbClr val="21242A"/>
                          </a:solidFill>
                          <a:latin typeface="Microsoft YaHei"/>
                        </a:rPr>
                        <a:t>73.1%</a:t>
                      </a:r>
                    </a:p>
                  </a:txBody>
                  <a:tcPr>
                    <a:solidFill>
                      <a:srgbClr val="FFFFFF"/>
                    </a:solidFill>
                  </a:tcPr>
                </a:tc>
              </a:tr>
              <a:tr h="249936">
                <a:tc>
                  <a:txBody>
                    <a:bodyPr wrap="square" lIns="36576" rIns="36576" tIns="18288" bIns="18288"/>
                    <a:lstStyle/>
                    <a:p>
                      <a:r>
                        <a:rPr sz="540" b="1">
                          <a:solidFill>
                            <a:srgbClr val="21242A"/>
                          </a:solidFill>
                          <a:latin typeface="Microsoft YaHei"/>
                        </a:rPr>
                        <a:t>基线CNS受累</a:t>
                      </a:r>
                    </a:p>
                  </a:txBody>
                  <a:tcPr>
                    <a:solidFill>
                      <a:srgbClr val="F6F8FB"/>
                    </a:solidFill>
                  </a:tcPr>
                </a:tc>
                <a:tc>
                  <a:txBody>
                    <a:bodyPr wrap="square" lIns="36576" rIns="36576" tIns="18288" bIns="18288"/>
                    <a:lstStyle/>
                    <a:p>
                      <a:r>
                        <a:rPr sz="540" b="0">
                          <a:solidFill>
                            <a:srgbClr val="21242A"/>
                          </a:solidFill>
                          <a:latin typeface="Microsoft YaHei"/>
                        </a:rPr>
                        <a:t>9.6%</a:t>
                      </a:r>
                    </a:p>
                  </a:txBody>
                  <a:tcPr>
                    <a:solidFill>
                      <a:srgbClr val="F6F8FB"/>
                    </a:solidFill>
                  </a:tcPr>
                </a:tc>
              </a:tr>
              <a:tr h="249936">
                <a:tc>
                  <a:txBody>
                    <a:bodyPr wrap="square" lIns="36576" rIns="36576" tIns="18288" bIns="18288"/>
                    <a:lstStyle/>
                    <a:p>
                      <a:r>
                        <a:rPr sz="540" b="1">
                          <a:solidFill>
                            <a:srgbClr val="21242A"/>
                          </a:solidFill>
                          <a:latin typeface="Microsoft YaHei"/>
                        </a:rPr>
                        <a:t>CNS进展率</a:t>
                      </a:r>
                    </a:p>
                  </a:txBody>
                  <a:tcPr>
                    <a:solidFill>
                      <a:srgbClr val="FFFFFF"/>
                    </a:solidFill>
                  </a:tcPr>
                </a:tc>
                <a:tc>
                  <a:txBody>
                    <a:bodyPr wrap="square" lIns="36576" rIns="36576" tIns="18288" bIns="18288"/>
                    <a:lstStyle/>
                    <a:p>
                      <a:r>
                        <a:rPr sz="540" b="0">
                          <a:solidFill>
                            <a:srgbClr val="21242A"/>
                          </a:solidFill>
                          <a:latin typeface="Microsoft YaHei"/>
                        </a:rPr>
                        <a:t>3.2%</a:t>
                      </a:r>
                    </a:p>
                  </a:txBody>
                  <a:tcPr>
                    <a:solidFill>
                      <a:srgbClr val="FFFFFF"/>
                    </a:solidFill>
                  </a:tcPr>
                </a:tc>
              </a:tr>
              <a:tr h="249936">
                <a:tc>
                  <a:txBody>
                    <a:bodyPr wrap="square" lIns="36576" rIns="36576" tIns="18288" bIns="18288"/>
                    <a:lstStyle/>
                    <a:p>
                      <a:r>
                        <a:rPr sz="540" b="1">
                          <a:solidFill>
                            <a:srgbClr val="21242A"/>
                          </a:solidFill>
                          <a:latin typeface="Microsoft YaHei"/>
                        </a:rPr>
                        <a:t>≥3级中性粒细胞减少</a:t>
                      </a:r>
                    </a:p>
                  </a:txBody>
                  <a:tcPr>
                    <a:solidFill>
                      <a:srgbClr val="F6F8FB"/>
                    </a:solidFill>
                  </a:tcPr>
                </a:tc>
                <a:tc>
                  <a:txBody>
                    <a:bodyPr wrap="square" lIns="36576" rIns="36576" tIns="18288" bIns="18288"/>
                    <a:lstStyle/>
                    <a:p>
                      <a:r>
                        <a:rPr sz="540" b="0">
                          <a:solidFill>
                            <a:srgbClr val="21242A"/>
                          </a:solidFill>
                          <a:latin typeface="Microsoft YaHei"/>
                        </a:rPr>
                        <a:t>83.0%</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摘要号：PS2125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血清mir-155-3p、mir-142-3p和mir-22-3p作为大b细胞淋巴瘤（lbcl）患者诊断和预后生物标志...</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serum mir-155-3p, mir-142-3p and mir-22-3p as diagnostic and prognostic bioma...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N=45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前瞻性临床研究结果：serum mir-155-3p, mir-142-3p and mir-22-3p as diagnos...</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血清miR-22-3p在LBCL患者中显著升高（p&lt;0.001），但与OS无关</a:t>
            </a:r>
          </a:p>
          <a:p>
            <a:pPr>
              <a:lnSpc>
                <a:spcPct val="103000"/>
              </a:lnSpc>
              <a:spcAft>
                <a:spcPts val="300"/>
              </a:spcAft>
              <a:defRPr sz="800">
                <a:solidFill>
                  <a:srgbClr val="21242A"/>
                </a:solidFill>
                <a:latin typeface="Microsoft YaHei"/>
              </a:defRPr>
            </a:pPr>
            <a:r>
              <a:t>高miR-155-3p和低miR-142-3p是独立的不良预后因素。</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人数：45</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研究主题：serum mir-155-3p, mir-142-3p and mir-22-3p as diagnostic and prognostic biomarkers in patients with large b-cell lympho...</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血清mir-155-3p、mir-142-3p和mir-22-3p作为大b细胞淋巴瘤（lbcl）患者诊断和预后生物标志...</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serum mir-155-3p, mir-142-3p and mir-22-3p as diagnostic and prognostic bioma...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背景：大 B 细胞淋巴瘤 (LBCL) 是一种生物学和临床异质性疾病，尽管采用 R-CHOP 等标准免疫化疗，许多患者仍会复发。预后依赖于 IPI 和生物标志物（例如 GCB/ABC 亚型和 MYC/BCL2 表达），但需要新的非侵入性生物标志物。</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血清 miR-22-3p 升高是 LBCL 的特征，但与 OS 无关，而高 miR-155-3p 和低 miR-142-3p 是独立的不良预后因素，支持它们作为循环风险分层生物标志物的潜力。这些初步发现需要在更大规模的多中心研究中进行验证，并进一步探索它们与现有预后模型的整合。</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结果：患者中位年龄为 67 岁（58% 为男性），中位随访时间为 26 个月；研究期间有 13 名患者死亡。血清 miR-155-3p 和 miR-142-3p 水平在患者和对照之间没有显着差异，而 miR-22-3p 在 LBCL 患者中显着升高（p</a:t>
            </a:r>
          </a:p>
          <a:p>
            <a:pPr>
              <a:lnSpc>
                <a:spcPct val="103000"/>
              </a:lnSpc>
              <a:spcAft>
                <a:spcPts val="300"/>
              </a:spcAft>
              <a:defRPr sz="560">
                <a:solidFill>
                  <a:srgbClr val="21242A"/>
                </a:solidFill>
                <a:latin typeface="Microsoft YaHei"/>
              </a:defRPr>
            </a:pPr>
            <a:r>
              <a:t>结论：血清 miR-22-3p 升高是 LBCL 的特征，但与 OS 无关，而高 miR-155-3p 和低 miR-142-3p 是独立的不良预后因素，支持它们作为循环风险分层生物标志物的潜力。这些初步发现需要在更大规模的多中心研究中进行验证，并进一步探索它们与现有预后模型的整合。</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一线selinexor联合r-chop治疗ebv阳性弥漫性大b细胞淋巴瘤（xplore）：单臂ib/ii期试验</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first-line selinexor in combination with r-chop for ebv-positive diffuse larg...</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试验药/方案：塞利尼索</a:t>
            </a:r>
          </a:p>
          <a:p>
            <a:pPr>
              <a:lnSpc>
                <a:spcPct val="103000"/>
              </a:lnSpc>
              <a:spcAft>
                <a:spcPts val="300"/>
              </a:spcAft>
              <a:defRPr sz="800">
                <a:solidFill>
                  <a:srgbClr val="21242A"/>
                </a:solidFill>
                <a:latin typeface="Microsoft YaHei"/>
              </a:defRPr>
            </a:pPr>
            <a:r>
              <a:t>靶点：XPO1</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最佳完全缓解率（CR）: 72.0%（18/25）</a:t>
            </a:r>
          </a:p>
          <a:p>
            <a:pPr>
              <a:lnSpc>
                <a:spcPct val="103000"/>
              </a:lnSpc>
              <a:spcAft>
                <a:spcPts val="300"/>
              </a:spcAft>
              <a:defRPr sz="800">
                <a:solidFill>
                  <a:srgbClr val="21242A"/>
                </a:solidFill>
                <a:latin typeface="Microsoft YaHei"/>
              </a:defRPr>
            </a:pPr>
            <a:r>
              <a:t>最佳总缓解率（ORR）: 96.0%（24/25）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登记号：NCT05577364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试验药/方案：塞利尼索</a:t>
            </a:r>
          </a:p>
          <a:p>
            <a:pPr>
              <a:lnSpc>
                <a:spcPct val="103000"/>
              </a:lnSpc>
              <a:spcAft>
                <a:spcPts val="300"/>
              </a:spcAft>
              <a:defRPr sz="810">
                <a:solidFill>
                  <a:srgbClr val="21242A"/>
                </a:solidFill>
                <a:latin typeface="Microsoft YaHei"/>
              </a:defRPr>
            </a:pPr>
            <a:r>
              <a:t>靶点：XPO1</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一线selinexor联合r-chop治疗ebv阳性弥漫性大b细胞淋巴瘤（xplore）：单臂ib/ii期试验</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first-line selinexor in combination with r-chop for ebv-positive diffuse larg...</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具有遗传和临床异质性。 EB 病毒 (EBV) 阳性 DLBCL 约占病例的 8%，且与较差的预后相关。</a:t>
            </a:r>
          </a:p>
          <a:p>
            <a:pPr>
              <a:lnSpc>
                <a:spcPct val="103000"/>
              </a:lnSpc>
              <a:spcAft>
                <a:spcPts val="300"/>
              </a:spcAft>
              <a:defRPr sz="550">
                <a:solidFill>
                  <a:srgbClr val="21242A"/>
                </a:solidFill>
                <a:latin typeface="Microsoft YaHei"/>
              </a:defRPr>
            </a:pPr>
            <a:r>
              <a:t>Selinexor 是一种口服选择性核输出抑制剂 (XPO1)，已证明对非霍奇金淋巴瘤具有活性，并且在早期临床研究中与 R-CHOP 联合使用时显示出令人鼓舞的疗效。这项多中心、单臂 Ib/II 期研究 (NCT05577364) 旨在评估 selinexor 联合 R-CHOP 作为 EBV 阳性 DLBCL 患者一</a:t>
            </a:r>
          </a:p>
          <a:p>
            <a:pPr>
              <a:lnSpc>
                <a:spcPct val="103000"/>
              </a:lnSpc>
              <a:spcAft>
                <a:spcPts val="300"/>
              </a:spcAft>
              <a:defRPr sz="550">
                <a:solidFill>
                  <a:srgbClr val="21242A"/>
                </a:solidFill>
                <a:latin typeface="Microsoft YaHei"/>
              </a:defRPr>
            </a:pPr>
            <a:r>
              <a:t>线治疗的有效性和安全性。目的：评估 selinexor 联合 R-CHOP 作为 EBV 阳性 DLBCL 患者一线治疗的安全性和有效性。方法：符合条件的患者年龄为 18-80 岁，经 EBER 原位杂交病理证实为 DLBCL 和 EBV 阳性。先前未经治疗的 EBV 阳性 DLBCL 患者每 21 天接受标准剂量 R</a:t>
            </a:r>
          </a:p>
          <a:p>
            <a:pPr>
              <a:lnSpc>
                <a:spcPct val="103000"/>
              </a:lnSpc>
              <a:spcAft>
                <a:spcPts val="300"/>
              </a:spcAft>
              <a:defRPr sz="550">
                <a:solidFill>
                  <a:srgbClr val="21242A"/>
                </a:solidFill>
                <a:latin typeface="Microsoft YaHei"/>
              </a:defRPr>
            </a:pPr>
            <a:r>
              <a:t>-CHOP，最多 6 个周期，从第 2 周期开始使用 selinexor。</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一线 selinexor 联合 R-CHOP 在 EBV 阳性 DLBCL 患者中显示出良好的抗肿瘤活性，且安全性可控。有必要对 selinexor 相关毒性进行持续监测和优化管理，并且正在进行患者入组以进一步验证这些发现。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最佳完全缓解率（CR）</a:t>
                      </a:r>
                    </a:p>
                  </a:txBody>
                  <a:tcPr>
                    <a:solidFill>
                      <a:srgbClr val="F6F8FB"/>
                    </a:solidFill>
                  </a:tcPr>
                </a:tc>
                <a:tc>
                  <a:txBody>
                    <a:bodyPr wrap="square" lIns="36576" rIns="36576" tIns="18288" bIns="18288"/>
                    <a:lstStyle/>
                    <a:p>
                      <a:r>
                        <a:rPr sz="540" b="0">
                          <a:solidFill>
                            <a:srgbClr val="21242A"/>
                          </a:solidFill>
                          <a:latin typeface="Microsoft YaHei"/>
                        </a:rPr>
                        <a:t>72.0%（18/25）</a:t>
                      </a:r>
                    </a:p>
                  </a:txBody>
                  <a:tcPr>
                    <a:solidFill>
                      <a:srgbClr val="F6F8FB"/>
                    </a:solidFill>
                  </a:tcPr>
                </a:tc>
              </a:tr>
              <a:tr h="214230">
                <a:tc>
                  <a:txBody>
                    <a:bodyPr wrap="square" lIns="36576" rIns="36576" tIns="18288" bIns="18288"/>
                    <a:lstStyle/>
                    <a:p>
                      <a:r>
                        <a:rPr sz="540" b="1">
                          <a:solidFill>
                            <a:srgbClr val="21242A"/>
                          </a:solidFill>
                          <a:latin typeface="Microsoft YaHei"/>
                        </a:rPr>
                        <a:t>最佳总缓解率（ORR）</a:t>
                      </a:r>
                    </a:p>
                  </a:txBody>
                  <a:tcPr>
                    <a:solidFill>
                      <a:srgbClr val="FFFFFF"/>
                    </a:solidFill>
                  </a:tcPr>
                </a:tc>
                <a:tc>
                  <a:txBody>
                    <a:bodyPr wrap="square" lIns="36576" rIns="36576" tIns="18288" bIns="18288"/>
                    <a:lstStyle/>
                    <a:p>
                      <a:r>
                        <a:rPr sz="540" b="0">
                          <a:solidFill>
                            <a:srgbClr val="21242A"/>
                          </a:solidFill>
                          <a:latin typeface="Microsoft YaHei"/>
                        </a:rPr>
                        <a:t>96.0%（24/25）</a:t>
                      </a:r>
                    </a:p>
                  </a:txBody>
                  <a:tcPr>
                    <a:solidFill>
                      <a:srgbClr val="FFFFFF"/>
                    </a:solidFill>
                  </a:tcPr>
                </a:tc>
              </a:tr>
              <a:tr h="214230">
                <a:tc>
                  <a:txBody>
                    <a:bodyPr wrap="square" lIns="36576" rIns="36576" tIns="18288" bIns="18288"/>
                    <a:lstStyle/>
                    <a:p>
                      <a:r>
                        <a:rPr sz="540" b="1">
                          <a:solidFill>
                            <a:srgbClr val="21242A"/>
                          </a:solidFill>
                          <a:latin typeface="Microsoft YaHei"/>
                        </a:rPr>
                        <a:t>任意级别治疗相关不良事件（TRAEs）</a:t>
                      </a:r>
                    </a:p>
                  </a:txBody>
                  <a:tcPr>
                    <a:solidFill>
                      <a:srgbClr val="F6F8FB"/>
                    </a:solidFill>
                  </a:tcPr>
                </a:tc>
                <a:tc>
                  <a:txBody>
                    <a:bodyPr wrap="square" lIns="36576" rIns="36576" tIns="18288" bIns="18288"/>
                    <a:lstStyle/>
                    <a:p>
                      <a:r>
                        <a:rPr sz="540" b="0">
                          <a:solidFill>
                            <a:srgbClr val="21242A"/>
                          </a:solidFill>
                          <a:latin typeface="Microsoft YaHei"/>
                        </a:rPr>
                        <a:t>白细胞减少92.5%，中性粒细胞减少92.5%，血小板减少74.0%，贫血77.8%，恶心55.6%</a:t>
                      </a:r>
                    </a:p>
                  </a:txBody>
                  <a:tcPr>
                    <a:solidFill>
                      <a:srgbClr val="F6F8FB"/>
                    </a:solidFill>
                  </a:tcPr>
                </a:tc>
              </a:tr>
              <a:tr h="214230">
                <a:tc>
                  <a:txBody>
                    <a:bodyPr wrap="square" lIns="36576" rIns="36576" tIns="18288" bIns="18288"/>
                    <a:lstStyle/>
                    <a:p>
                      <a:r>
                        <a:rPr sz="540" b="1">
                          <a:solidFill>
                            <a:srgbClr val="21242A"/>
                          </a:solidFill>
                          <a:latin typeface="Microsoft YaHei"/>
                        </a:rPr>
                        <a:t>3-4级TRAEs</a:t>
                      </a:r>
                    </a:p>
                  </a:txBody>
                  <a:tcPr>
                    <a:solidFill>
                      <a:srgbClr val="FFFFFF"/>
                    </a:solidFill>
                  </a:tcPr>
                </a:tc>
                <a:tc>
                  <a:txBody>
                    <a:bodyPr wrap="square" lIns="36576" rIns="36576" tIns="18288" bIns="18288"/>
                    <a:lstStyle/>
                    <a:p>
                      <a:r>
                        <a:rPr sz="540" b="0">
                          <a:solidFill>
                            <a:srgbClr val="21242A"/>
                          </a:solidFill>
                          <a:latin typeface="Microsoft YaHei"/>
                        </a:rPr>
                        <a:t>白细胞减少77.8%，中性粒细胞减少74.0%</a:t>
                      </a:r>
                    </a:p>
                  </a:txBody>
                  <a:tcPr>
                    <a:solidFill>
                      <a:srgbClr val="FFFFFF"/>
                    </a:solidFill>
                  </a:tcPr>
                </a:tc>
              </a:tr>
              <a:tr h="214230">
                <a:tc>
                  <a:txBody>
                    <a:bodyPr wrap="square" lIns="36576" rIns="36576" tIns="18288" bIns="18288"/>
                    <a:lstStyle/>
                    <a:p>
                      <a:r>
                        <a:rPr sz="540" b="1">
                          <a:solidFill>
                            <a:srgbClr val="21242A"/>
                          </a:solidFill>
                          <a:latin typeface="Microsoft YaHei"/>
                        </a:rPr>
                        <a:t>TRAE相关治疗中断</a:t>
                      </a:r>
                    </a:p>
                  </a:txBody>
                  <a:tcPr>
                    <a:solidFill>
                      <a:srgbClr val="F6F8FB"/>
                    </a:solidFill>
                  </a:tcPr>
                </a:tc>
                <a:tc>
                  <a:txBody>
                    <a:bodyPr wrap="square" lIns="36576" rIns="36576" tIns="18288" bIns="18288"/>
                    <a:lstStyle/>
                    <a:p>
                      <a:r>
                        <a:rPr sz="540" b="0">
                          <a:solidFill>
                            <a:srgbClr val="21242A"/>
                          </a:solidFill>
                          <a:latin typeface="Microsoft YaHei"/>
                        </a:rPr>
                        <a:t>29.6%</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selinexor联合r-chop方案作为高危gcb亚型弥漫性大b细胞淋巴瘤患者的一线治疗：一项多中心、单臂、ii期研究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selinexor in combination with the r-chop regimen as a first-line treatment fo...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试验药/方案：塞利尼索</a:t>
            </a:r>
          </a:p>
          <a:p>
            <a:pPr>
              <a:lnSpc>
                <a:spcPct val="103000"/>
              </a:lnSpc>
              <a:spcAft>
                <a:spcPts val="300"/>
              </a:spcAft>
              <a:defRPr sz="800">
                <a:solidFill>
                  <a:srgbClr val="21242A"/>
                </a:solidFill>
                <a:latin typeface="Microsoft YaHei"/>
              </a:defRPr>
            </a:pPr>
            <a:r>
              <a:t>靶点：XPO1</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完全缓解率(CR): 76.2%</a:t>
            </a:r>
          </a:p>
          <a:p>
            <a:pPr>
              <a:lnSpc>
                <a:spcPct val="103000"/>
              </a:lnSpc>
              <a:spcAft>
                <a:spcPts val="300"/>
              </a:spcAft>
              <a:defRPr sz="800">
                <a:solidFill>
                  <a:srgbClr val="21242A"/>
                </a:solidFill>
                <a:latin typeface="Microsoft YaHei"/>
              </a:defRPr>
            </a:pPr>
            <a:r>
              <a:t>客观缓解率(ORR): 100.0%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登记号：NCT05422066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试验药/方案：塞利尼索</a:t>
            </a:r>
          </a:p>
          <a:p>
            <a:pPr>
              <a:lnSpc>
                <a:spcPct val="103000"/>
              </a:lnSpc>
              <a:spcAft>
                <a:spcPts val="300"/>
              </a:spcAft>
              <a:defRPr sz="810">
                <a:solidFill>
                  <a:srgbClr val="21242A"/>
                </a:solidFill>
                <a:latin typeface="Microsoft YaHei"/>
              </a:defRPr>
            </a:pPr>
            <a:r>
              <a:t>靶点：XPO1</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selinexor联合r-chop方案作为高危gcb亚型弥漫性大b细胞淋巴瘤患者的一线治疗：一项多中心、单臂、ii期研究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selinexor in combination with the r-chop regimen as a first-line treatment fo...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背景：生发中心 B 细胞样 (GCB) 亚型是弥漫性大 B 细胞淋巴瘤 (DLBCL) 最常见的分子分类。大约 30% 的 GCB-DLBCL 患者对 R-CHOP 治疗表现出耐药性。国际预后指数（IPI）评分为3-5分被认为是DLBCL患者的高危因素之一。目前针对高危 GCB-DLBCL 的治疗策略仍未得到充分定义，</a:t>
            </a:r>
          </a:p>
          <a:p>
            <a:pPr>
              <a:lnSpc>
                <a:spcPct val="103000"/>
              </a:lnSpc>
              <a:spcAft>
                <a:spcPts val="300"/>
              </a:spcAft>
              <a:defRPr sz="550">
                <a:solidFill>
                  <a:srgbClr val="21242A"/>
                </a:solidFill>
                <a:latin typeface="Microsoft YaHei"/>
              </a:defRPr>
            </a:pPr>
            <a:r>
              <a:t>这凸显了一线治疗方法中未满足的关键需求。</a:t>
            </a:r>
          </a:p>
          <a:p>
            <a:pPr>
              <a:lnSpc>
                <a:spcPct val="103000"/>
              </a:lnSpc>
              <a:spcAft>
                <a:spcPts val="300"/>
              </a:spcAft>
              <a:defRPr sz="550">
                <a:solidFill>
                  <a:srgbClr val="21242A"/>
                </a:solidFill>
                <a:latin typeface="Microsoft YaHei"/>
              </a:defRPr>
            </a:pPr>
            <a:r>
              <a:t>Selinexor 是一种口服选择性核输出抑制剂 (SINE)，以输出蛋白 1 (XPO1) 为靶点，导致肿瘤抑制蛋白的核滞留和重新激活。在一项涉及 17 名患者的真实世界研究中，Selinexor 联合 R-CHOP 在治疗高危 GCB DLBCL 方面显示出有希望的结果。目的：这项 II 期试验 (NCT05422</a:t>
            </a:r>
          </a:p>
          <a:p>
            <a:pPr>
              <a:lnSpc>
                <a:spcPct val="103000"/>
              </a:lnSpc>
              <a:spcAft>
                <a:spcPts val="300"/>
              </a:spcAft>
              <a:defRPr sz="550">
                <a:solidFill>
                  <a:srgbClr val="21242A"/>
                </a:solidFill>
                <a:latin typeface="Microsoft YaHei"/>
              </a:defRPr>
            </a:pPr>
            <a:r>
              <a:t>066) 旨在评估 selinexor 与 R-CHOP 方案联合作为高危 (IPI 3-5) GCB-DLBCL 患者一线治疗的有效性和安全性。方法：新诊断为未经治疗的 GCB-DLBCL (IPI 3-5) 患者纳入本研究。患者将接受六个周期的 R-CHOP 和 selinexor (60 mg qw) 治疗，每个</a:t>
            </a:r>
          </a:p>
          <a:p>
            <a:pPr>
              <a:lnSpc>
                <a:spcPct val="103000"/>
              </a:lnSpc>
              <a:spcAft>
                <a:spcPts val="300"/>
              </a:spcAft>
              <a:defRPr sz="550">
                <a:solidFill>
                  <a:srgbClr val="21242A"/>
                </a:solidFill>
                <a:latin typeface="Microsoft YaHei"/>
              </a:defRPr>
            </a:pPr>
            <a:r>
              <a:t>周期持续三周。治疗持续六个周期，或直至无法耐受、反应不足、疾病进展、撤回同意或死亡。根据卢加诺2014年标准评估疗效。</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Selinexor 与 R-CHOP 的组合作为高风险 (IPI 3-5) GCB-DLBCL 的一线治疗显示出令人鼓舞的疗效和可控的安全性。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结果：2022年8月至2026年2月期间，共有45名患者入组，中位年龄59岁（范围26-79岁）。大多数患者 (9±7.8%) 患有 III-IV 期疾病，4±2.2% 年龄超过 60 岁。此外，68.9% 的患者有两个或多个结外受累，5±1.1% 的患者乳酸脱氢酶水平升高。</a:t>
            </a:r>
          </a:p>
          <a:p>
            <a:pPr>
              <a:lnSpc>
                <a:spcPct val="103000"/>
              </a:lnSpc>
              <a:spcAft>
                <a:spcPts val="300"/>
              </a:spcAft>
              <a:defRPr sz="560">
                <a:solidFill>
                  <a:srgbClr val="21242A"/>
                </a:solidFill>
                <a:latin typeface="Microsoft YaHei"/>
              </a:defRPr>
            </a:pPr>
            <a:r>
              <a:t>20.0%的患者检测到MYC和BCL2双表达。中位随访期为 21.0 个月（95% CI：16.1 - 25.9），其中 42 名患者可评估疗效。 CR 率为 76.2%，ORR 为 100.0%。</a:t>
            </a:r>
          </a:p>
          <a:p>
            <a:pPr>
              <a:lnSpc>
                <a:spcPct val="103000"/>
              </a:lnSpc>
              <a:spcAft>
                <a:spcPts val="300"/>
              </a:spcAft>
              <a:defRPr sz="560">
                <a:solidFill>
                  <a:srgbClr val="21242A"/>
                </a:solidFill>
                <a:latin typeface="Microsoft YaHei"/>
              </a:defRPr>
            </a:pPr>
            <a:r>
              <a:t>2年OS、PFS和DFS率分别为97.6%（95% CI：93.1%-100%）、6±6.7%（95% CI：50.4%-88.1%）和82.4%（95% CI：63.9%-100%）。尚未达到中位 PFS、DFS 和 OS。大多数不良事件 (AE) 为 1-2 级。</a:t>
            </a:r>
          </a:p>
          <a:p>
            <a:pPr>
              <a:lnSpc>
                <a:spcPct val="103000"/>
              </a:lnSpc>
              <a:spcAft>
                <a:spcPts val="300"/>
              </a:spcAft>
              <a:defRPr sz="560">
                <a:solidFill>
                  <a:srgbClr val="21242A"/>
                </a:solidFill>
                <a:latin typeface="Microsoft YaHei"/>
              </a:defRPr>
            </a:pPr>
            <a:r>
              <a:t>3-4 级 AE 包括中性粒细胞减少症 (71.1%)、白细胞减少症 (60.0%)、淋巴细胞计数减少 (31.1%) 和血小板减少症 (26.7%)。所有 AE 均通过支持性护理得到有效管理并随后得到解决。 \n 表 1：研究人群的基线特征。 \n \n \n \n \n 基线特征</a:t>
            </a:r>
          </a:p>
          <a:p>
            <a:pPr>
              <a:lnSpc>
                <a:spcPct val="103000"/>
              </a:lnSpc>
              <a:spcAft>
                <a:spcPts val="300"/>
              </a:spcAft>
              <a:defRPr sz="560">
                <a:solidFill>
                  <a:srgbClr val="21242A"/>
                </a:solidFill>
                <a:latin typeface="Microsoft YaHei"/>
              </a:defRPr>
            </a:pPr>
            <a:r>
              <a:t>结论：selinexor 与 R-CHOP 联合作为高风险 (IPI 3-5) GCB-DLBCL 的一线治疗显示出令人鼓舞的疗效和可控的安全性。</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摘要号：PS2065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dlbcl大队列脑脊液ctdna突变特征分析：对预测中枢神经系统复发和临床结果的意义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profiling the csf-ctdna mutational landscape in a large cohort of dlbcl: impl...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N=410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前瞻性临床研究结果：profiling the csf-ctdna mutational landscape in a lar...</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CSF-ctDNA阳性率：23.9%（98/410）</a:t>
            </a:r>
          </a:p>
          <a:p>
            <a:pPr>
              <a:lnSpc>
                <a:spcPct val="103000"/>
              </a:lnSpc>
              <a:spcAft>
                <a:spcPts val="300"/>
              </a:spcAft>
              <a:defRPr sz="800">
                <a:solidFill>
                  <a:srgbClr val="21242A"/>
                </a:solidFill>
                <a:latin typeface="Microsoft YaHei"/>
              </a:defRPr>
            </a:pPr>
            <a:r>
              <a:t>CSF(+)患者中前10个最常突变基因：MYD88 35.8%, PIM1 34.6%, CD79B 28.8%, KMT2D...</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人数：410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研究主题：profiling the csf-ctdna mutational landscape in a large cohort of dlbcl: implications for predicting cns relapse and cl...</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dlbcl大队列脑脊液ctdna突变特征分析：对预测中枢神经系统复发和临床结果的意义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profiling the csf-ctdna mutational landscape in a large cohort of dlbcl: impl...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PS2062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59/187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背景：中枢神经系统受累（CNSi）在全身性弥漫性大 B 细胞淋巴瘤（DLBCL）患者中是一种罕见但通常致命的事件。脑脊液循环肿瘤DNA（CSF-ctDNA）在液体活检在中枢神经系统癌症中的应用中发挥了重要作用。尽管如此，仍需要更大规模的研究来进一步表征 CSF-ctDNA 的突变情况，并验证其在新诊断 (ND) DLB</a:t>
            </a:r>
          </a:p>
          <a:p>
            <a:pPr>
              <a:lnSpc>
                <a:spcPct val="103000"/>
              </a:lnSpc>
              <a:spcAft>
                <a:spcPts val="300"/>
              </a:spcAft>
              <a:defRPr sz="550">
                <a:solidFill>
                  <a:srgbClr val="21242A"/>
                </a:solidFill>
                <a:latin typeface="Microsoft YaHei"/>
              </a:defRPr>
            </a:pPr>
            <a:r>
              <a:t>CL (ND-DLBCL) 中的临床相关性。</a:t>
            </a:r>
          </a:p>
          <a:p>
            <a:pPr>
              <a:lnSpc>
                <a:spcPct val="103000"/>
              </a:lnSpc>
              <a:spcAft>
                <a:spcPts val="300"/>
              </a:spcAft>
              <a:defRPr sz="550">
                <a:solidFill>
                  <a:srgbClr val="21242A"/>
                </a:solidFill>
                <a:latin typeface="Microsoft YaHei"/>
              </a:defRPr>
            </a:pPr>
            <a:r>
              <a:t>目的：全面分析 CSF-ctDNA 的突变情况，并探讨其在大型 ND-DLBCL 队列中的临床意义。</a:t>
            </a:r>
          </a:p>
          <a:p>
            <a:pPr>
              <a:lnSpc>
                <a:spcPct val="103000"/>
              </a:lnSpc>
              <a:spcAft>
                <a:spcPts val="300"/>
              </a:spcAft>
              <a:defRPr sz="550">
                <a:solidFill>
                  <a:srgbClr val="21242A"/>
                </a:solidFill>
                <a:latin typeface="Microsoft YaHei"/>
              </a:defRPr>
            </a:pPr>
            <a:r>
              <a:t>方法：2021年12月至2026年1月期间，纳入我中心治疗的410例ND-DLBCL患者。使用 475 基因淋巴瘤特异性组对基线脑脊液、组织和血浆样本进行测序。所有患者均接受R-CHOP或Pola-R-CHP方案治疗。根据两个标准将患者确定为 CSF-ctDNA 阳性 (CSF(+))：(1) CSF-ctDNA 中检</a:t>
            </a:r>
          </a:p>
          <a:p>
            <a:pPr>
              <a:lnSpc>
                <a:spcPct val="103000"/>
              </a:lnSpc>
              <a:spcAft>
                <a:spcPts val="300"/>
              </a:spcAft>
              <a:defRPr sz="550">
                <a:solidFill>
                  <a:srgbClr val="21242A"/>
                </a:solidFill>
                <a:latin typeface="Microsoft YaHei"/>
              </a:defRPr>
            </a:pPr>
            <a:r>
              <a:t>测到的至少一种突变体与组织共享； (2) CSF-ctDNA中检测到的至少一种突变体是DLBCL中的典型驱动突变（图1A）。</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总之，在这个大规模队列中，我们全面描述了 CSF-ctDNA 的突变情况，探讨了 CSF(+) 患者的生物学特征，并强调了 CSF-ctDNA 在预测 ND-DLBCL 患者临床结果和 CNS 复发方面的重要性。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410例ND-DLBCL患者中，98例（23.9%）被确定为CSF（+），其中63例（64.3%）满足两个标准，17例（17.3%）仅满足标准1，18例（18.4%）仅满足标准2（图1B）。在80例具有匹配组织、血浆和脑脊液样本的CSF(+)患者中，前10位频繁突变基因为MYD88（35.8%）、PIM</a:t>
            </a:r>
          </a:p>
          <a:p>
            <a:pPr>
              <a:lnSpc>
                <a:spcPct val="103000"/>
              </a:lnSpc>
              <a:spcAft>
                <a:spcPts val="300"/>
              </a:spcAft>
              <a:defRPr sz="560">
                <a:solidFill>
                  <a:srgbClr val="21242A"/>
                </a:solidFill>
                <a:latin typeface="Microsoft YaHei"/>
              </a:defRPr>
            </a:pPr>
            <a:r>
              <a:t>1（34.6%）、CD79B（28.8%）、KMT2D（24.2%）、BTG2（23.3%）、TP53（23.3%）、H1-4（23.3%）、 BTG1 (22.1%)、BCL6 (20.8%) 和 ETV6 (19.6%)（图 1C）。</a:t>
            </a:r>
          </a:p>
          <a:p>
            <a:pPr>
              <a:lnSpc>
                <a:spcPct val="103000"/>
              </a:lnSpc>
              <a:spcAft>
                <a:spcPts val="300"/>
              </a:spcAft>
              <a:defRPr sz="560">
                <a:solidFill>
                  <a:srgbClr val="21242A"/>
                </a:solidFill>
                <a:latin typeface="Microsoft YaHei"/>
              </a:defRPr>
            </a:pPr>
            <a:r>
              <a:t>CSF 中的平均变异等位基因频率显着低于组织和血浆样本（图 1D）。就遗传亚型而言，CSF(+)患者主要分布在MCD(N=37)、Other(N=29)、ST2(N=10)、BN2(N=8)和TP53破坏亚型(N=7)，而TP53破坏(36.8%)和MCD(34.3%)亚型的CSF(+)比率最高(图1E)。然</a:t>
            </a:r>
          </a:p>
          <a:p>
            <a:pPr>
              <a:lnSpc>
                <a:spcPct val="103000"/>
              </a:lnSpc>
              <a:spcAft>
                <a:spcPts val="300"/>
              </a:spcAft>
              <a:defRPr sz="560">
                <a:solidFill>
                  <a:srgbClr val="21242A"/>
                </a:solidFill>
                <a:latin typeface="Microsoft YaHei"/>
              </a:defRPr>
            </a:pPr>
            <a:r>
              <a:t>而，在不同遗传亚型之间未观察到 CSF-ctDNA 负荷存在差异（图 1F）。此外，CSF(+)患者表现出较高的血浆ctDNA负荷（图1G）。</a:t>
            </a:r>
          </a:p>
          <a:p>
            <a:pPr>
              <a:lnSpc>
                <a:spcPct val="103000"/>
              </a:lnSpc>
              <a:spcAft>
                <a:spcPts val="300"/>
              </a:spcAft>
              <a:defRPr sz="560">
                <a:solidFill>
                  <a:srgbClr val="21242A"/>
                </a:solidFill>
                <a:latin typeface="Microsoft YaHei"/>
              </a:defRPr>
            </a:pPr>
            <a:r>
              <a:t>MCD亚型、非GCB来源、特定结外部位受累（生殖系统、肾/肾上腺、骨髓）和较高IPI评分的患者与较高的CSF（+）率相关，而胃肠道受累似乎与CSF（+）呈负相关（图1H）。</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摘要号：PS2062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r-gemox+nivolumab与r-gemox作为移植不合格患者大b细胞淋巴瘤二线治疗的比较：对agmt、gla、...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r-gemox+nivolumab vs r-gemox as 2nd-line therapy for large b-cell lymphoma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B细胞非霍奇金淋巴瘤</a:t>
            </a:r>
          </a:p>
          <a:p>
            <a:pPr>
              <a:lnSpc>
                <a:spcPct val="103000"/>
              </a:lnSpc>
              <a:spcAft>
                <a:spcPts val="300"/>
              </a:spcAft>
              <a:defRPr sz="800">
                <a:solidFill>
                  <a:srgbClr val="21242A"/>
                </a:solidFill>
                <a:latin typeface="Microsoft YaHei"/>
              </a:defRPr>
            </a:pPr>
            <a:r>
              <a:t>弥漫性大B细胞淋巴瘤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试验药/方案：纳武利尤单抗</a:t>
            </a:r>
          </a:p>
          <a:p>
            <a:pPr>
              <a:lnSpc>
                <a:spcPct val="103000"/>
              </a:lnSpc>
              <a:spcAft>
                <a:spcPts val="300"/>
              </a:spcAft>
              <a:defRPr sz="800">
                <a:solidFill>
                  <a:srgbClr val="21242A"/>
                </a:solidFill>
                <a:latin typeface="Microsoft YaHei"/>
              </a:defRPr>
            </a:pPr>
            <a:r>
              <a:t>靶点：PD-1</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多组/多方案比较：试验组1：R-GEMOX（利妥昔单抗、吉西他滨、奥沙利铂）</a:t>
            </a:r>
          </a:p>
          <a:p>
            <a:pPr>
              <a:lnSpc>
                <a:spcPct val="103000"/>
              </a:lnSpc>
              <a:spcAft>
                <a:spcPts val="300"/>
              </a:spcAft>
              <a:defRPr sz="800">
                <a:solidFill>
                  <a:srgbClr val="21242A"/>
                </a:solidFill>
                <a:latin typeface="Microsoft YaHei"/>
              </a:defRPr>
            </a:pPr>
            <a:r>
              <a:t>试验组2：R-GEMOX + 纳武利尤单抗，随后纳武利尤单抗维持治疗（最多1年）</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1年无进展生存期（PFS）：试验组A 27% vs 试验组B 23%，p=0.686</a:t>
            </a:r>
          </a:p>
          <a:p>
            <a:pPr>
              <a:lnSpc>
                <a:spcPct val="103000"/>
              </a:lnSpc>
              <a:spcAft>
                <a:spcPts val="300"/>
              </a:spcAft>
              <a:defRPr sz="800">
                <a:solidFill>
                  <a:srgbClr val="21242A"/>
                </a:solidFill>
                <a:latin typeface="Microsoft YaHei"/>
              </a:defRPr>
            </a:pPr>
            <a:r>
              <a:t>1年无事件生存期（EFS）：试验组A 22% vs 试验组B 22%，p=0.897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人数：267</a:t>
            </a:r>
          </a:p>
          <a:p>
            <a:pPr>
              <a:lnSpc>
                <a:spcPct val="103000"/>
              </a:lnSpc>
              <a:spcAft>
                <a:spcPts val="300"/>
              </a:spcAft>
              <a:defRPr sz="810">
                <a:solidFill>
                  <a:srgbClr val="21242A"/>
                </a:solidFill>
                <a:latin typeface="Microsoft YaHei"/>
              </a:defRPr>
            </a:pPr>
            <a:r>
              <a:t>适应症：B细胞非霍奇金淋巴瘤、弥漫性大B细胞淋巴瘤、大B细胞淋巴瘤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登记号：NCT03366272</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试验药/方案：纳武利尤单抗</a:t>
            </a:r>
          </a:p>
          <a:p>
            <a:pPr>
              <a:lnSpc>
                <a:spcPct val="103000"/>
              </a:lnSpc>
              <a:spcAft>
                <a:spcPts val="300"/>
              </a:spcAft>
              <a:defRPr sz="810">
                <a:solidFill>
                  <a:srgbClr val="21242A"/>
                </a:solidFill>
                <a:latin typeface="Microsoft YaHei"/>
              </a:defRPr>
            </a:pPr>
            <a:r>
              <a:t>靶点：PD-1</a:t>
            </a:r>
          </a:p>
          <a:p>
            <a:pPr>
              <a:lnSpc>
                <a:spcPct val="103000"/>
              </a:lnSpc>
              <a:spcAft>
                <a:spcPts val="300"/>
              </a:spcAft>
              <a:defRPr sz="810">
                <a:solidFill>
                  <a:srgbClr val="21242A"/>
                </a:solidFill>
                <a:latin typeface="Microsoft YaHei"/>
              </a:defRPr>
            </a:pPr>
            <a:r>
              <a:t>药物/技术类别：单特异性抗体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r-gemox+nivolumab与r-gemox作为移植不合格患者大b细胞淋巴瘤二线治疗的比较：对agmt、gla、...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r-gemox+nivolumab vs r-gemox as 2nd-line therapy for large b-cell lymphoma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背景：一线治疗后的复发性或难治性（R/R）大B细胞淋巴瘤（LBCL）患者，如果不适合大剂量化疗（HDCT）和造血干细胞移植（HSCT），预后较差。利妥昔单抗、吉西他滨和奥沙利铂 (R-GemOx) 是这种情况下常用的治疗方案。目的：开放标签、随机、3 期 NIVEAU 研究 (NCT03366272) 的目的是评估 R</a:t>
            </a:r>
          </a:p>
          <a:p>
            <a:pPr>
              <a:lnSpc>
                <a:spcPct val="103000"/>
              </a:lnSpc>
              <a:spcAft>
                <a:spcPts val="300"/>
              </a:spcAft>
              <a:defRPr sz="550">
                <a:solidFill>
                  <a:srgbClr val="21242A"/>
                </a:solidFill>
                <a:latin typeface="Microsoft YaHei"/>
              </a:defRPr>
            </a:pPr>
            <a:r>
              <a:t>-GemOx 中添加纳武单抗的疗效和安全性。方法：一线治疗后患有 R/R LBCL 且根据以下标准之一不符合 HDCT/HSCT 条件的成人患者：年龄 ≥65 岁；年龄≥18岁且造血细胞移植特异性合并症指数（HCT-CI）评分≥3；或年龄≥18岁且既往接受过ASCT（作为第一线巩固治疗）。治疗包括 8 个周期的 R-G</a:t>
            </a:r>
          </a:p>
          <a:p>
            <a:pPr>
              <a:lnSpc>
                <a:spcPct val="103000"/>
              </a:lnSpc>
              <a:spcAft>
                <a:spcPts val="300"/>
              </a:spcAft>
              <a:defRPr sz="550">
                <a:solidFill>
                  <a:srgbClr val="21242A"/>
                </a:solidFill>
                <a:latin typeface="Microsoft YaHei"/>
              </a:defRPr>
            </a:pPr>
            <a:r>
              <a:t>emOx（A 组）或 8 个周期的 R-GemOx + 纳武单抗，然后用纳武单抗维持最长 1 年或直至出现进展或不可接受的毒性（B 组）。主要终点是 1 年后的无进展生存期 (PFS)。主要次要终点是缓解率、无事件生存期 (EFS)（定义为进展、复发、死亡或计划外淋巴瘤治疗）、总生存期 (OS) 和毒性。</a:t>
            </a:r>
          </a:p>
          <a:p>
            <a:pPr>
              <a:lnSpc>
                <a:spcPct val="103000"/>
              </a:lnSpc>
              <a:spcAft>
                <a:spcPts val="300"/>
              </a:spcAft>
              <a:defRPr sz="550">
                <a:solidFill>
                  <a:srgbClr val="21242A"/>
                </a:solidFill>
                <a:latin typeface="Microsoft YaHei"/>
              </a:defRPr>
            </a:pPr>
            <a:r>
              <a:t>\n 招募于 2023 年 3 月停止，因为计划中的中期分析显示证明主要终点的优越性是徒劳的。</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对于 R/R LBCL 患者，在 R-GemOx 中添加纳武单抗，然后进行纳武单抗维持治疗是可行的，且不会产生相关的附加毒性。添加纳武单抗并没有改善 PFS、EFS 或 OS。中期分析中观察到的生存率改善趋势并未在最终分析中得到证实。这些结果表明，在免疫化疗中添加检查点抑制并不能改善这些患者的预后。</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1年无进展生存期（PFS）</a:t>
                      </a:r>
                    </a:p>
                  </a:txBody>
                  <a:tcPr>
                    <a:solidFill>
                      <a:srgbClr val="F6F8FB"/>
                    </a:solidFill>
                  </a:tcPr>
                </a:tc>
                <a:tc>
                  <a:txBody>
                    <a:bodyPr wrap="square" lIns="36576" rIns="36576" tIns="18288" bIns="18288"/>
                    <a:lstStyle/>
                    <a:p>
                      <a:r>
                        <a:rPr sz="540" b="0">
                          <a:solidFill>
                            <a:srgbClr val="21242A"/>
                          </a:solidFill>
                          <a:latin typeface="Microsoft YaHei"/>
                        </a:rPr>
                        <a:t>试验组A 27% vs 试验组B 23%，p=0.686</a:t>
                      </a:r>
                    </a:p>
                  </a:txBody>
                  <a:tcPr>
                    <a:solidFill>
                      <a:srgbClr val="F6F8FB"/>
                    </a:solidFill>
                  </a:tcPr>
                </a:tc>
              </a:tr>
              <a:tr h="214230">
                <a:tc>
                  <a:txBody>
                    <a:bodyPr wrap="square" lIns="36576" rIns="36576" tIns="18288" bIns="18288"/>
                    <a:lstStyle/>
                    <a:p>
                      <a:r>
                        <a:rPr sz="540" b="1">
                          <a:solidFill>
                            <a:srgbClr val="21242A"/>
                          </a:solidFill>
                          <a:latin typeface="Microsoft YaHei"/>
                        </a:rPr>
                        <a:t>1年无事件生存期（EFS）</a:t>
                      </a:r>
                    </a:p>
                  </a:txBody>
                  <a:tcPr>
                    <a:solidFill>
                      <a:srgbClr val="FFFFFF"/>
                    </a:solidFill>
                  </a:tcPr>
                </a:tc>
                <a:tc>
                  <a:txBody>
                    <a:bodyPr wrap="square" lIns="36576" rIns="36576" tIns="18288" bIns="18288"/>
                    <a:lstStyle/>
                    <a:p>
                      <a:r>
                        <a:rPr sz="540" b="0">
                          <a:solidFill>
                            <a:srgbClr val="21242A"/>
                          </a:solidFill>
                          <a:latin typeface="Microsoft YaHei"/>
                        </a:rPr>
                        <a:t>试验组A 22% vs 试验组B 22%，p=0.897</a:t>
                      </a:r>
                    </a:p>
                  </a:txBody>
                  <a:tcPr>
                    <a:solidFill>
                      <a:srgbClr val="FFFFFF"/>
                    </a:solidFill>
                  </a:tcPr>
                </a:tc>
              </a:tr>
              <a:tr h="214230">
                <a:tc>
                  <a:txBody>
                    <a:bodyPr wrap="square" lIns="36576" rIns="36576" tIns="18288" bIns="18288"/>
                    <a:lstStyle/>
                    <a:p>
                      <a:r>
                        <a:rPr sz="540" b="1">
                          <a:solidFill>
                            <a:srgbClr val="21242A"/>
                          </a:solidFill>
                          <a:latin typeface="Microsoft YaHei"/>
                        </a:rPr>
                        <a:t>1年总生存期（OS）</a:t>
                      </a:r>
                    </a:p>
                  </a:txBody>
                  <a:tcPr>
                    <a:solidFill>
                      <a:srgbClr val="F6F8FB"/>
                    </a:solidFill>
                  </a:tcPr>
                </a:tc>
                <a:tc>
                  <a:txBody>
                    <a:bodyPr wrap="square" lIns="36576" rIns="36576" tIns="18288" bIns="18288"/>
                    <a:lstStyle/>
                    <a:p>
                      <a:r>
                        <a:rPr sz="540" b="0">
                          <a:solidFill>
                            <a:srgbClr val="21242A"/>
                          </a:solidFill>
                          <a:latin typeface="Microsoft YaHei"/>
                        </a:rPr>
                        <a:t>试验组A 51% vs 试验组B 58%，p=0.884</a:t>
                      </a:r>
                    </a:p>
                  </a:txBody>
                  <a:tcPr>
                    <a:solidFill>
                      <a:srgbClr val="F6F8FB"/>
                    </a:solidFill>
                  </a:tcPr>
                </a:tc>
              </a:tr>
              <a:tr h="214230">
                <a:tc>
                  <a:txBody>
                    <a:bodyPr wrap="square" lIns="36576" rIns="36576" tIns="18288" bIns="18288"/>
                    <a:lstStyle/>
                    <a:p>
                      <a:r>
                        <a:rPr sz="540" b="1">
                          <a:solidFill>
                            <a:srgbClr val="21242A"/>
                          </a:solidFill>
                          <a:latin typeface="Microsoft YaHei"/>
                        </a:rPr>
                        <a:t>2年PFS</a:t>
                      </a:r>
                    </a:p>
                  </a:txBody>
                  <a:tcPr>
                    <a:solidFill>
                      <a:srgbClr val="FFFFFF"/>
                    </a:solidFill>
                  </a:tcPr>
                </a:tc>
                <a:tc>
                  <a:txBody>
                    <a:bodyPr wrap="square" lIns="36576" rIns="36576" tIns="18288" bIns="18288"/>
                    <a:lstStyle/>
                    <a:p>
                      <a:r>
                        <a:rPr sz="540" b="0">
                          <a:solidFill>
                            <a:srgbClr val="21242A"/>
                          </a:solidFill>
                          <a:latin typeface="Microsoft YaHei"/>
                        </a:rPr>
                        <a:t>19% vs 18%</a:t>
                      </a:r>
                    </a:p>
                  </a:txBody>
                  <a:tcPr>
                    <a:solidFill>
                      <a:srgbClr val="FFFFFF"/>
                    </a:solidFill>
                  </a:tcPr>
                </a:tc>
              </a:tr>
              <a:tr h="214230">
                <a:tc>
                  <a:txBody>
                    <a:bodyPr wrap="square" lIns="36576" rIns="36576" tIns="18288" bIns="18288"/>
                    <a:lstStyle/>
                    <a:p>
                      <a:r>
                        <a:rPr sz="540" b="1">
                          <a:solidFill>
                            <a:srgbClr val="21242A"/>
                          </a:solidFill>
                          <a:latin typeface="Microsoft YaHei"/>
                        </a:rPr>
                        <a:t>2年EFS</a:t>
                      </a:r>
                    </a:p>
                  </a:txBody>
                  <a:tcPr>
                    <a:solidFill>
                      <a:srgbClr val="F6F8FB"/>
                    </a:solidFill>
                  </a:tcPr>
                </a:tc>
                <a:tc>
                  <a:txBody>
                    <a:bodyPr wrap="square" lIns="36576" rIns="36576" tIns="18288" bIns="18288"/>
                    <a:lstStyle/>
                    <a:p>
                      <a:r>
                        <a:rPr sz="540" b="0">
                          <a:solidFill>
                            <a:srgbClr val="21242A"/>
                          </a:solidFill>
                          <a:latin typeface="Microsoft YaHei"/>
                        </a:rPr>
                        <a:t>17% vs 17%</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其余7条结果见HTML完整清单及EHA原文。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不同分子亚型弥漫性大b细胞淋巴瘤的大规模现实临床特征和疗效：来自believe研究的中期数据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large-scale real-world clinical characteristics and efficacy of diffuse large...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N=3773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前瞻性临床研究结果：large-scale real-world clinical characteristics and e...</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总体客观缓解率（ORR）为81.3%</a:t>
            </a:r>
          </a:p>
          <a:p>
            <a:pPr>
              <a:lnSpc>
                <a:spcPct val="103000"/>
              </a:lnSpc>
              <a:spcAft>
                <a:spcPts val="300"/>
              </a:spcAft>
              <a:defRPr sz="800">
                <a:solidFill>
                  <a:srgbClr val="21242A"/>
                </a:solidFill>
                <a:latin typeface="Microsoft YaHei"/>
              </a:defRPr>
            </a:pPr>
            <a:r>
              <a:t>完全缓解率（CRR）为64.1%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人数：3773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登记号：NCT06026488</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研究主题：large-scale real-world clinical characteristics and efficacy of diffuse large b-cell lymphoma across distinct molecular...</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不同分子亚型弥漫性大b细胞淋巴瘤的大规模现实临床特征和疗效：来自believe研究的中期数据</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large-scale real-world clinical characteristics and efficacy of diffuse large...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显示出广泛的分子异质性。分子亚型可以通过 LymphGen（MCD、BN2、N1、EZB、A53、ST2）和简化的 38 基因 LymphPlex（TP53 Mut、MCD 样、BN2 样、N1 样、EZB 样、ST2 样）来识别。</a:t>
            </a:r>
          </a:p>
          <a:p>
            <a:pPr>
              <a:lnSpc>
                <a:spcPct val="103000"/>
              </a:lnSpc>
              <a:spcAft>
                <a:spcPts val="300"/>
              </a:spcAft>
              <a:defRPr sz="550">
                <a:solidFill>
                  <a:srgbClr val="21242A"/>
                </a:solidFill>
                <a:latin typeface="Microsoft YaHei"/>
              </a:defRPr>
            </a:pPr>
            <a:r>
              <a:t>LymphPlex 与 LymphGen 表现出高度一致性 (Sig Transduct Target Ther 2023:8:145)。这些亚型在临床特征、治疗反应和预后方面存在很大差异，但指导亚型定制管理的大样本真实世界证据仍然有限。</a:t>
            </a:r>
          </a:p>
          <a:p>
            <a:pPr>
              <a:lnSpc>
                <a:spcPct val="103000"/>
              </a:lnSpc>
              <a:spcAft>
                <a:spcPts val="300"/>
              </a:spcAft>
              <a:defRPr sz="550">
                <a:solidFill>
                  <a:srgbClr val="21242A"/>
                </a:solidFill>
                <a:latin typeface="Microsoft YaHei"/>
              </a:defRPr>
            </a:pPr>
            <a:r>
              <a:t>BELIEVE 研究 (NCT 06026488) 是一个大型的中国现实世界登记册。 目的：阐明 DLBCL 分子亚型的临床特征、治疗模式和疗效差异，并为个性化治疗提供高质量的真实证据。</a:t>
            </a:r>
          </a:p>
          <a:p>
            <a:pPr>
              <a:lnSpc>
                <a:spcPct val="103000"/>
              </a:lnSpc>
              <a:spcAft>
                <a:spcPts val="300"/>
              </a:spcAft>
              <a:defRPr sz="550">
                <a:solidFill>
                  <a:srgbClr val="21242A"/>
                </a:solidFill>
                <a:latin typeface="Microsoft YaHei"/>
              </a:defRPr>
            </a:pPr>
            <a:r>
              <a:t>方法：共纳入来自 35 个中心的 3773 名 DLBCL 患者。通过NGS将所有患者分为七种分子亚型（BN2样、EZB样、MCD样、N1样、ST2样、TP53 Mut等）。收集基线特征、治疗方案和疗效。终点包括无进展生存期（PFS）、完全缓解率（CRR）、客观缓解率（ORR）和总生存期（OS）。在此，对不同分子亚型和</a:t>
            </a:r>
          </a:p>
          <a:p>
            <a:pPr>
              <a:lnSpc>
                <a:spcPct val="103000"/>
              </a:lnSpc>
              <a:spcAft>
                <a:spcPts val="300"/>
              </a:spcAft>
              <a:defRPr sz="550">
                <a:solidFill>
                  <a:srgbClr val="21242A"/>
                </a:solidFill>
                <a:latin typeface="Microsoft YaHei"/>
              </a:defRPr>
            </a:pPr>
            <a:r>
              <a:t>一线治疗方案的疗效进行了分析。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在中国DLBCL患者中，最常见的LymphPlex亚型是Others、MCD样和TP53 Mut亚型，具有明显的疗效异质性。 R-CHOP 加靶点药物可显着改善多种亚型的 CRR。这些数据支持针对 DLBCL 的分子亚型定制个性化治疗。将提供更新的生存和安全数据。</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总体客观缓解率（ORR）为81.3%；完全缓解率（CRR）为64.1%；R-CHOP联合靶向药物亚组ORR为88.4%，CRR为74.6%；BN2-like和N1-like亚型疗效较好，TP53Mut亚型疗效最差</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大剂量甲氨蝶呤不能降低超高危大b细胞淋巴瘤中枢神经系统复发的风险：1923例患者的国际回顾性分析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high-dose methotrexate does not reduce risk of cns relapse in ultra high-risk...</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N=1923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分组：未接受HDMTX组（no HDMTX）</a:t>
            </a:r>
          </a:p>
          <a:p>
            <a:pPr>
              <a:lnSpc>
                <a:spcPct val="103000"/>
              </a:lnSpc>
              <a:spcAft>
                <a:spcPts val="300"/>
              </a:spcAft>
              <a:defRPr sz="800">
                <a:solidFill>
                  <a:srgbClr val="21242A"/>
                </a:solidFill>
                <a:latin typeface="Microsoft YaHei"/>
              </a:defRPr>
            </a:pPr>
            <a:r>
              <a:t>接受HDMTX组（HDMTX）</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多组/多方案比较：未接受HDMTX组（no HDMTX）</a:t>
            </a:r>
          </a:p>
          <a:p>
            <a:pPr>
              <a:lnSpc>
                <a:spcPct val="103000"/>
              </a:lnSpc>
              <a:spcAft>
                <a:spcPts val="300"/>
              </a:spcAft>
              <a:defRPr sz="800">
                <a:solidFill>
                  <a:srgbClr val="21242A"/>
                </a:solidFill>
                <a:latin typeface="Microsoft YaHei"/>
              </a:defRPr>
            </a:pPr>
            <a:r>
              <a:t>接受HDMTX组（HDMTX）</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所有超高危患者3年CNS复发率：未接受HDMTX组 vs 接受HDMTX组 = 9.3% vs 8.1%，调整后HR 1.10...</a:t>
            </a:r>
          </a:p>
          <a:p>
            <a:pPr>
              <a:lnSpc>
                <a:spcPct val="103000"/>
              </a:lnSpc>
              <a:spcAft>
                <a:spcPts val="300"/>
              </a:spcAft>
              <a:defRPr sz="800">
                <a:solidFill>
                  <a:srgbClr val="21242A"/>
                </a:solidFill>
                <a:latin typeface="Microsoft YaHei"/>
              </a:defRPr>
            </a:pPr>
            <a:r>
              <a:t>孤立性CNS复发率：5.9% vs 5.7%，调整后HR 1.01 (95% CI 0.68-1.50)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人数：1923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分组/治疗流程：未接受HDMTX组（no HDMTX）、接受HDMTX组（HDMTX）</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大剂量甲氨蝶呤不能降低超高危大b细胞淋巴瘤中枢神经系统复发的风险：1923例患者的国际回顾性分析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high-dose methotrexate does not reduce risk of cns relapse in ultra high-risk...</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背景：高剂量甲氨蝶呤 (HDMTX) 作为中枢神经系统预防在高危大 B 细胞淋巴瘤 (LBCL) 中的作用仍存在争议。没有大型前瞻性随机对照试验支持其使用。最近的两项回顾性研究表明对中枢神经系统复发（CNSr）的影响极小。然而，指南继续建议具有“超高风险”(UHR) 特征的患者考虑 HDMTX，因为这些亚组缺乏可靠的数</a:t>
            </a:r>
          </a:p>
          <a:p>
            <a:pPr>
              <a:lnSpc>
                <a:spcPct val="103000"/>
              </a:lnSpc>
              <a:spcAft>
                <a:spcPts val="300"/>
              </a:spcAft>
              <a:defRPr sz="550">
                <a:solidFill>
                  <a:srgbClr val="21242A"/>
                </a:solidFill>
                <a:latin typeface="Microsoft YaHei"/>
              </a:defRPr>
            </a:pPr>
            <a:r>
              <a:t>据，其中 CNSr 风险为 10-25%。目的：分析 HDMTX 对被视为中枢神经系统 UHR 的 LBCL 患者的影响。方法：这项多中心回顾性分析结合了来自 56 个参与上述研究的研究中心的数据（Wilson 等人，Blood 2022；Lewis 等人，JCO 2023）。所有患者均接受了治疗性化疗免疫疗法。</a:t>
            </a:r>
          </a:p>
          <a:p>
            <a:pPr>
              <a:lnSpc>
                <a:spcPct val="103000"/>
              </a:lnSpc>
              <a:spcAft>
                <a:spcPts val="300"/>
              </a:spcAft>
              <a:defRPr sz="550">
                <a:solidFill>
                  <a:srgbClr val="21242A"/>
                </a:solidFill>
                <a:latin typeface="Microsoft YaHei"/>
              </a:defRPr>
            </a:pPr>
            <a:r>
              <a:t>Wilson 等人招募了接受 HDMTX 治疗的 LBCL 患者，无论风险如何。 Lewis 等人招募了具有≥1 个以下高风险标准的患者：CNS-IPI 4-6；伴有 MYC+BCL2+/-BCL6 重排的高级别 B 细胞淋巴瘤；睾丸/乳房/肾脏/肾上腺结外 (EN) 受累。</a:t>
            </a:r>
          </a:p>
          <a:p>
            <a:pPr>
              <a:lnSpc>
                <a:spcPct val="103000"/>
              </a:lnSpc>
              <a:spcAft>
                <a:spcPts val="300"/>
              </a:spcAft>
              <a:defRPr sz="550">
                <a:solidFill>
                  <a:srgbClr val="21242A"/>
                </a:solidFill>
                <a:latin typeface="Microsoft YaHei"/>
              </a:defRPr>
            </a:pPr>
            <a:r>
              <a:t>\n 对于此分析，如果患者满足以下条件中的 ≥1 项，则被视为 UHR：CNS-IPI 5-6；睾丸、肾/肾上腺或乳腺受累； ≥3 个 EN 站点。</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这是接受或不接受 HDMTX 预防治疗的 UHR LBCL 患者的最大国际比较数据集，显示在所有 UHR 患者或任何个体高风险亚组中，使用 HDMTX 后 CNSr 没有显着降低。尽管存在固有的局限性，但数据表明 HDMTX 预防没有任何益处，未来的研究应集中于降低 UHR 患者风险的替代方法。</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所有超高危患者3年CNS复发率</a:t>
                      </a:r>
                    </a:p>
                  </a:txBody>
                  <a:tcPr>
                    <a:solidFill>
                      <a:srgbClr val="F6F8FB"/>
                    </a:solidFill>
                  </a:tcPr>
                </a:tc>
                <a:tc>
                  <a:txBody>
                    <a:bodyPr wrap="square" lIns="36576" rIns="36576" tIns="18288" bIns="18288"/>
                    <a:lstStyle/>
                    <a:p>
                      <a:r>
                        <a:rPr sz="540" b="0">
                          <a:solidFill>
                            <a:srgbClr val="21242A"/>
                          </a:solidFill>
                          <a:latin typeface="Microsoft YaHei"/>
                        </a:rPr>
                        <a:t>未接受HDMTX组 vs 接受HDMTX组 = 9.3% vs 8.1%，调整后HR 1.10 (95%CI 0.80-1.53)</a:t>
                      </a:r>
                    </a:p>
                  </a:txBody>
                  <a:tcPr>
                    <a:solidFill>
                      <a:srgbClr val="F6F8FB"/>
                    </a:solidFill>
                  </a:tcPr>
                </a:tc>
              </a:tr>
              <a:tr h="249936">
                <a:tc>
                  <a:txBody>
                    <a:bodyPr wrap="square" lIns="36576" rIns="36576" tIns="18288" bIns="18288"/>
                    <a:lstStyle/>
                    <a:p>
                      <a:r>
                        <a:rPr sz="540" b="1">
                          <a:solidFill>
                            <a:srgbClr val="21242A"/>
                          </a:solidFill>
                          <a:latin typeface="Microsoft YaHei"/>
                        </a:rPr>
                        <a:t>孤立性CNS复发率</a:t>
                      </a:r>
                    </a:p>
                  </a:txBody>
                  <a:tcPr>
                    <a:solidFill>
                      <a:srgbClr val="FFFFFF"/>
                    </a:solidFill>
                  </a:tcPr>
                </a:tc>
                <a:tc>
                  <a:txBody>
                    <a:bodyPr wrap="square" lIns="36576" rIns="36576" tIns="18288" bIns="18288"/>
                    <a:lstStyle/>
                    <a:p>
                      <a:r>
                        <a:rPr sz="540" b="0">
                          <a:solidFill>
                            <a:srgbClr val="21242A"/>
                          </a:solidFill>
                          <a:latin typeface="Microsoft YaHei"/>
                        </a:rPr>
                        <a:t>5.9% vs 5.7%，调整后HR 1.01 (95% CI 0.68-1.50)</a:t>
                      </a:r>
                    </a:p>
                  </a:txBody>
                  <a:tcPr>
                    <a:solidFill>
                      <a:srgbClr val="FFFFFF"/>
                    </a:solidFill>
                  </a:tcPr>
                </a:tc>
              </a:tr>
              <a:tr h="249936">
                <a:tc>
                  <a:txBody>
                    <a:bodyPr wrap="square" lIns="36576" rIns="36576" tIns="18288" bIns="18288"/>
                    <a:lstStyle/>
                    <a:p>
                      <a:r>
                        <a:rPr sz="540" b="1">
                          <a:solidFill>
                            <a:srgbClr val="21242A"/>
                          </a:solidFill>
                          <a:latin typeface="Microsoft YaHei"/>
                        </a:rPr>
                        <a:t>6个月地标分析（n=1529）</a:t>
                      </a:r>
                    </a:p>
                  </a:txBody>
                  <a:tcPr>
                    <a:solidFill>
                      <a:srgbClr val="F6F8FB"/>
                    </a:solidFill>
                  </a:tcPr>
                </a:tc>
                <a:tc>
                  <a:txBody>
                    <a:bodyPr wrap="square" lIns="36576" rIns="36576" tIns="18288" bIns="18288"/>
                    <a:lstStyle/>
                    <a:p>
                      <a:r>
                        <a:rPr sz="540" b="0">
                          <a:solidFill>
                            <a:srgbClr val="21242A"/>
                          </a:solidFill>
                          <a:latin typeface="Microsoft YaHei"/>
                        </a:rPr>
                        <a:t>3年OS：79.7% vs 83.8%</a:t>
                      </a:r>
                    </a:p>
                  </a:txBody>
                  <a:tcPr>
                    <a:solidFill>
                      <a:srgbClr val="F6F8FB"/>
                    </a:solidFill>
                  </a:tcPr>
                </a:tc>
              </a:tr>
              <a:tr h="249936">
                <a:tc>
                  <a:txBody>
                    <a:bodyPr wrap="square" lIns="36576" rIns="36576" tIns="18288" bIns="18288"/>
                    <a:lstStyle/>
                    <a:p>
                      <a:r>
                        <a:rPr sz="540" b="1">
                          <a:solidFill>
                            <a:srgbClr val="21242A"/>
                          </a:solidFill>
                          <a:latin typeface="Microsoft YaHei"/>
                        </a:rPr>
                        <a:t>3年CNS复发率</a:t>
                      </a:r>
                    </a:p>
                  </a:txBody>
                  <a:tcPr>
                    <a:solidFill>
                      <a:srgbClr val="FFFFFF"/>
                    </a:solidFill>
                  </a:tcPr>
                </a:tc>
                <a:tc>
                  <a:txBody>
                    <a:bodyPr wrap="square" lIns="36576" rIns="36576" tIns="18288" bIns="18288"/>
                    <a:lstStyle/>
                    <a:p>
                      <a:r>
                        <a:rPr sz="540" b="0">
                          <a:solidFill>
                            <a:srgbClr val="21242A"/>
                          </a:solidFill>
                          <a:latin typeface="Microsoft YaHei"/>
                        </a:rPr>
                        <a:t>6.7% vs 6.6%，调整后HR 0.89 (95%CI 0.58-1.35)</a:t>
                      </a:r>
                    </a:p>
                  </a:txBody>
                  <a:tcPr>
                    <a:solidFill>
                      <a:srgbClr val="FFFFFF"/>
                    </a:solidFill>
                  </a:tcPr>
                </a:tc>
              </a:tr>
              <a:tr h="249936">
                <a:tc>
                  <a:txBody>
                    <a:bodyPr wrap="square" lIns="36576" rIns="36576" tIns="18288" bIns="18288"/>
                    <a:lstStyle/>
                    <a:p>
                      <a:r>
                        <a:rPr sz="540" b="1">
                          <a:solidFill>
                            <a:srgbClr val="21242A"/>
                          </a:solidFill>
                          <a:latin typeface="Microsoft YaHei"/>
                        </a:rPr>
                        <a:t>睾丸受累亚组</a:t>
                      </a:r>
                    </a:p>
                  </a:txBody>
                  <a:tcPr>
                    <a:solidFill>
                      <a:srgbClr val="F6F8FB"/>
                    </a:solidFill>
                  </a:tcPr>
                </a:tc>
                <a:tc>
                  <a:txBody>
                    <a:bodyPr wrap="square" lIns="36576" rIns="36576" tIns="18288" bIns="18288"/>
                    <a:lstStyle/>
                    <a:p>
                      <a:r>
                        <a:rPr sz="540" b="0">
                          <a:solidFill>
                            <a:srgbClr val="21242A"/>
                          </a:solidFill>
                          <a:latin typeface="Microsoft YaHei"/>
                        </a:rPr>
                        <a:t>任何CNS复发率9.4% vs 6.8%，HR 1.54 (95%CI 0.78-3.03)；孤立性CNS复发6.1% vs 6.3%，HR 1.08 (95%CI 0.51-2.31)</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摘要号：S249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药物/技术：CNS穿透/放疗/MTX策略</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综合血浆ctdna基因组分析对侵袭性dlbcl的诊断潜力评估</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evaluating the diagnostic potential of comprehensive plasma ctdna genomic pro...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PS2534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前瞻性临床研究结果：evaluating the diagnostic potential of comprehensive...</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在56例DLBCL患者中，40例（71.4%）检测到体细胞变异，被定义为ctDNA阳性。</a:t>
            </a:r>
          </a:p>
          <a:p>
            <a:pPr>
              <a:lnSpc>
                <a:spcPct val="103000"/>
              </a:lnSpc>
              <a:spcAft>
                <a:spcPts val="300"/>
              </a:spcAft>
              <a:defRPr sz="800">
                <a:solidFill>
                  <a:srgbClr val="21242A"/>
                </a:solidFill>
                <a:latin typeface="Microsoft YaHei"/>
              </a:defRPr>
            </a:pPr>
            <a:r>
              <a:t>ctDNA阳性病例中共鉴定出972个体细胞变异，中位数为每个患者12个变异（IQR: 6-20），中位变异等位基因频率（VAF...</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人数：56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登记号：ISRCTN12948913</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研究主题：evaluating the diagnostic potential of comprehensive plasma ctdna genomic profiling in aggressive dlbcl</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综合血浆ctdna基因组分析对侵袭性dlbcl的诊断潜力评估</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evaluating the diagnostic potential of comprehensive plasma ctdna genomic pro...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PS2534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背景：用于患者风险分层的基因分析通常对肿瘤组织活检进行，这些活检是侵入性的，具有程序风险，并且在捕获空间肿瘤异质性方面受到限制。分析血浆等液体活检中的循环无细胞肿瘤 DNA (ctDNA)，为检测体细胞畸变（也可能来自空间远端病变）提供了一种有前景的非侵入性方法。目的：这项正在进行的研究旨在评估基于血浆的综合基因组分析</a:t>
            </a:r>
          </a:p>
          <a:p>
            <a:pPr>
              <a:lnSpc>
                <a:spcPct val="103000"/>
              </a:lnSpc>
              <a:spcAft>
                <a:spcPts val="300"/>
              </a:spcAft>
              <a:defRPr sz="550">
                <a:solidFill>
                  <a:srgbClr val="21242A"/>
                </a:solidFill>
                <a:latin typeface="Microsoft YaHei"/>
              </a:defRPr>
            </a:pPr>
            <a:r>
              <a:t>对侵袭性弥漫性大 B 细胞淋巴瘤 (DLBCL) 的诊断性能，并评估与配对石蜡包埋肿瘤组织活检的一致性。方法：共有 56 名在卡罗林斯卡大学医院诊断的 DLBCL 患者参与正在进行的前瞻性 BioLymph 研究 (ISRCTN12948913) (PMID: 37415362)，其中 25 名 (44.6%) 出现晚</a:t>
            </a:r>
          </a:p>
          <a:p>
            <a:pPr>
              <a:lnSpc>
                <a:spcPct val="103000"/>
              </a:lnSpc>
              <a:spcAft>
                <a:spcPts val="300"/>
              </a:spcAft>
              <a:defRPr sz="550">
                <a:solidFill>
                  <a:srgbClr val="21242A"/>
                </a:solidFill>
                <a:latin typeface="Microsoft YaHei"/>
              </a:defRPr>
            </a:pPr>
            <a:r>
              <a:t>期疾病 (IIE-IV)。根据 BioLymph 方案，使用 Genomic Medicine Scotland Lymphoid Gene Panel (GMS-LGP)（Twist Bioscience，CA，US）进行靶向测序，对诊断组织活检进行常规基因分析。使用 GMS-LGP 对治疗前血浆 ctDNA 样本和</a:t>
            </a:r>
          </a:p>
          <a:p>
            <a:pPr>
              <a:lnSpc>
                <a:spcPct val="103000"/>
              </a:lnSpc>
              <a:spcAft>
                <a:spcPts val="300"/>
              </a:spcAft>
              <a:defRPr sz="550">
                <a:solidFill>
                  <a:srgbClr val="21242A"/>
                </a:solidFill>
                <a:latin typeface="Microsoft YaHei"/>
              </a:defRPr>
            </a:pPr>
            <a:r>
              <a:t>外周血中匹配的种系 DNA 以及健康个体 (n=6) 的血浆样本进行测序，并结合独特的分子指数。</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迄今为止，我们的结果证明了用于诊断分析的组织和血浆测序之间预期的生物学和技术差异，尽管两种活检类型中重叠变异的检测支持ctDNA作为DLBCL基因组分析的补充和微创工具的实用性。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结果：患者 ctDNA 样本中独特双链读取的中位靶标覆盖率为 717X（四分位距 (IQR)：623-798X），其中 &gt;88% 的靶标实现 ≥250X 覆盖率。在 40/56 名患者 (71.4%) 中检测到体细胞变异，将其归类为 ctDNA 阳性 (ctDNA+)。在 ctDNA+ 病例中，鉴定出 972</a:t>
            </a:r>
          </a:p>
          <a:p>
            <a:pPr>
              <a:lnSpc>
                <a:spcPct val="103000"/>
              </a:lnSpc>
              <a:spcAft>
                <a:spcPts val="300"/>
              </a:spcAft>
              <a:defRPr sz="560">
                <a:solidFill>
                  <a:srgbClr val="21242A"/>
                </a:solidFill>
                <a:latin typeface="Microsoft YaHei"/>
              </a:defRPr>
            </a:pPr>
            <a:r>
              <a:t> 个体细胞变异，每个患者平均有 12 个变异（IQR：6-20），变异等位基因分数 (VAF) 中位数为 3%。</a:t>
            </a:r>
          </a:p>
          <a:p>
            <a:pPr>
              <a:lnSpc>
                <a:spcPct val="103000"/>
              </a:lnSpc>
              <a:spcAft>
                <a:spcPts val="300"/>
              </a:spcAft>
              <a:defRPr sz="560">
                <a:solidFill>
                  <a:srgbClr val="21242A"/>
                </a:solidFill>
                <a:latin typeface="Microsoft YaHei"/>
              </a:defRPr>
            </a:pPr>
            <a:r>
              <a:t>I 期病例与 ctDNA 阴性显着相关（II-IV 期为 8/16 与 8/32；Fisher 精确 P= 0.047）。</a:t>
            </a:r>
          </a:p>
          <a:p>
            <a:pPr>
              <a:lnSpc>
                <a:spcPct val="103000"/>
              </a:lnSpc>
              <a:spcAft>
                <a:spcPts val="300"/>
              </a:spcAft>
              <a:defRPr sz="560">
                <a:solidFill>
                  <a:srgbClr val="21242A"/>
                </a:solidFill>
                <a:latin typeface="Microsoft YaHei"/>
              </a:defRPr>
            </a:pPr>
            <a:r>
              <a:t>\n 在匹配的组织活检中，54/56 名患者 (96.4%) 检测到体细胞变异，每位患者中位数为 15.5 个变异 (IQR: 10-27)，中位 VAF 为 23.6% (IQR: 12.7-36.4%)。对 38 名 ctDNA+ 患者进行一致性分析，这些患者在配对组织活检中检测到变异，杰卡德指数中位数为</a:t>
            </a:r>
          </a:p>
          <a:p>
            <a:pPr>
              <a:lnSpc>
                <a:spcPct val="103000"/>
              </a:lnSpc>
              <a:spcAft>
                <a:spcPts val="300"/>
              </a:spcAft>
              <a:defRPr sz="560">
                <a:solidFill>
                  <a:srgbClr val="21242A"/>
                </a:solidFill>
                <a:latin typeface="Microsoft YaHei"/>
              </a:defRPr>
            </a:pPr>
            <a:r>
              <a:t> 0.62（IQR：0.24-0.76）。与血浆相比，共享变体在石蜡包埋组织中表现出显着更高的中位 VAF（18.6% vs.</a:t>
            </a:r>
          </a:p>
          <a:p>
            <a:pPr>
              <a:lnSpc>
                <a:spcPct val="103000"/>
              </a:lnSpc>
              <a:spcAft>
                <a:spcPts val="300"/>
              </a:spcAft>
              <a:defRPr sz="560">
                <a:solidFill>
                  <a:srgbClr val="21242A"/>
                </a:solidFill>
                <a:latin typeface="Microsoft YaHei"/>
              </a:defRPr>
            </a:pPr>
            <a:r>
              <a:t>3.2%；Wilcoxon 符号秩检验，P 结论：迄今为止，我们的结果表明，用于诊断分析的组织和血浆测序之间存在预期的生物学和技术差异，尽管两种活检类型中重叠变异的检测支持 ctDNA 作为 DLBCL 基因组分析的补充和微创工具的实用性。</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摘要号：PS2534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ctdna测序揭示lbcl患者具有预后相关性的突变特征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ctdna sequencing reveals mutational signatures with prognostic relevance in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PS2179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N=310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前瞻性临床研究结果：ctdna sequencing reveals mutational signatures with p...</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PFS: AID-associated subgroup vs diverse signature subgroup, HR=...</a:t>
            </a:r>
          </a:p>
          <a:p>
            <a:pPr>
              <a:lnSpc>
                <a:spcPct val="103000"/>
              </a:lnSpc>
              <a:spcAft>
                <a:spcPts val="300"/>
              </a:spcAft>
              <a:defRPr sz="800">
                <a:solidFill>
                  <a:srgbClr val="21242A"/>
                </a:solidFill>
                <a:latin typeface="Microsoft YaHei"/>
              </a:defRPr>
            </a:pPr>
            <a:r>
              <a:t>验证队列LBC-06中PFS: HR=1.73, p=0.044</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人数：310</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研究主题：ctdna sequencing reveals mutational signatures with prognostic relevance in lbcl patients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ctdna测序揭示lbcl患者具有预后相关性的突变特征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ctdna sequencing reveals mutational signatures with prognostic relevance in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PS2179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背景：尽管治疗策略最近取得了进展，但复发/难治性 (R/R) 大 B 细胞淋巴瘤 (LBCL) 患者仍面临进一步复发和死亡的高风险。因此，新型生物标志物的开发和识别可能受益于替代治疗策略的患者仍然是重要的未满足的医疗需求。循环肿瘤 (ct)DNA 测序已成为 LBCL 患者基因分型和疗效评估的可靠工具。通过整合揭示潜在</a:t>
            </a:r>
          </a:p>
          <a:p>
            <a:pPr>
              <a:lnSpc>
                <a:spcPct val="103000"/>
              </a:lnSpc>
              <a:spcAft>
                <a:spcPts val="300"/>
              </a:spcAft>
              <a:defRPr sz="550">
                <a:solidFill>
                  <a:srgbClr val="21242A"/>
                </a:solidFill>
                <a:latin typeface="Microsoft YaHei"/>
              </a:defRPr>
            </a:pPr>
            <a:r>
              <a:t>生物过程的突变特征，可以进一步增强其预后价值。目的：本研究的目的是从 LBCL 患者的 ctDNA 中提取单碱基替换 (SBS) 突变特征并对其进行表征，以确定不同的模式并评估其对无进展生存期 (PFS) 的影响。方法：我们将之前发表的 ctDNA 测序方法（Sobesky 等人，2021 年；Heger 等人，202</a:t>
            </a:r>
          </a:p>
          <a:p>
            <a:pPr>
              <a:lnSpc>
                <a:spcPct val="103000"/>
              </a:lnSpc>
              <a:spcAft>
                <a:spcPts val="300"/>
              </a:spcAft>
              <a:defRPr sz="550">
                <a:solidFill>
                  <a:srgbClr val="21242A"/>
                </a:solidFill>
                <a:latin typeface="Microsoft YaHei"/>
              </a:defRPr>
            </a:pPr>
            <a:r>
              <a:t>4 年）应用于从 88 名接受多个治疗线的 R/R LBCL 患者获得的 124 份血液样本。所有样本均在治疗开始前获得并构成发现队列。使用围绕 SigProfiler 开发的定制管道进行突变签名分析（Díaz-Gay 等人，2023）。</a:t>
            </a:r>
          </a:p>
          <a:p>
            <a:pPr>
              <a:lnSpc>
                <a:spcPct val="103000"/>
              </a:lnSpc>
              <a:spcAft>
                <a:spcPts val="300"/>
              </a:spcAft>
              <a:defRPr sz="550">
                <a:solidFill>
                  <a:srgbClr val="21242A"/>
                </a:solidFill>
                <a:latin typeface="Microsoft YaHei"/>
              </a:defRPr>
            </a:pPr>
            <a:r>
              <a:t>已确定的突变特征亚组的预后影响在北欧 II 期 LBC-06（n = 123；Leppä 等人，2025）和 LBC-05（n = 99；Leppä 等人，2020）试验的两个独立队列中得到验证，这些患者先前未经治疗 LBCL。</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ctDNA 测序能够对不同的突变特征模式进行稳健且可重复的识别，独立于技术工作流程和目标基因面板设计。基于这些特征的分类描绘了两个可重复且与 PFS 独立相关的不同亚组。总体而言，结合突变的生物学背景可以进一步增强 ctDNA 分析的预后能力，从而能够更早、更准确地识别处于进展性疾病高风险的患者。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结果：我们确定了四种不同的突变特征：SBS1 和 SBS5 均指示年龄，SBS39 病因不明，以及由胞苷脱氨酶 (AID) 活性诱导的 SBS84。突变特征谱的无监督 k 均值聚类揭示了两个不同的分子亚组。第一个亚组被称为“AID 相关”，其特征是 AID 相关突变特征占主导地位，而第二个“多样化特征”亚组则</a:t>
            </a:r>
          </a:p>
          <a:p>
            <a:pPr>
              <a:lnSpc>
                <a:spcPct val="103000"/>
              </a:lnSpc>
              <a:spcAft>
                <a:spcPts val="300"/>
              </a:spcAft>
              <a:defRPr sz="560">
                <a:solidFill>
                  <a:srgbClr val="21242A"/>
                </a:solidFill>
                <a:latin typeface="Microsoft YaHei"/>
              </a:defRPr>
            </a:pPr>
            <a:r>
              <a:t>表现出较低比例的 AID 相关特征 SBS84（平均 23% vs 68% SBS84 比例/样本，p</a:t>
            </a:r>
          </a:p>
          <a:p>
            <a:pPr>
              <a:lnSpc>
                <a:spcPct val="103000"/>
              </a:lnSpc>
              <a:spcAft>
                <a:spcPts val="300"/>
              </a:spcAft>
              <a:defRPr sz="560">
                <a:solidFill>
                  <a:srgbClr val="21242A"/>
                </a:solidFill>
                <a:latin typeface="Microsoft YaHei"/>
              </a:defRPr>
            </a:pPr>
            <a:r>
              <a:t>结论：ctDNA 测序能够可靠且可重复地识别不同的突变特征模式，独立于技术工作流程和目标基因面板设计。基于这些特征的分类描绘了两个可重复且与 PFS 独立相关的不同亚组。总体而言，结合突变的生物学背景可以进一步增强 ctDNA 分析的预后能力，从而能够更早、更准确地识别处于进展性疾病高风险的患者。</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摘要号：PS2179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血浆铜作为弥漫性大b细胞淋巴瘤的预后标志物</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plasma copper as prognostic biomarker in diffuse large b-cell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N=600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前瞻性临床研究结果：plasma copper as prognostic biomarker in diffuse larg...</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中位无进展生存期：高铜组467天，低铜组3295天，P&lt;0.001</a:t>
            </a:r>
          </a:p>
          <a:p>
            <a:pPr>
              <a:lnSpc>
                <a:spcPct val="103000"/>
              </a:lnSpc>
              <a:spcAft>
                <a:spcPts val="300"/>
              </a:spcAft>
              <a:defRPr sz="800">
                <a:solidFill>
                  <a:srgbClr val="21242A"/>
                </a:solidFill>
                <a:latin typeface="Microsoft YaHei"/>
              </a:defRPr>
            </a:pPr>
            <a:r>
              <a:t>中位总生存期：高铜组1156天，低铜组4323天，P&lt;0.001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人数：600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研究主题：plasma copper as prognostic biomarker in diffuse large b-cell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血浆铜作为弥漫性大b细胞淋巴瘤的预后标志物</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plasma copper as prognostic biomarker in diffuse large b-cell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表现出显着的临床异质性，需要在传统风险分层系统之外改进预后生物标志物。最近的研究强调铜凋亡是一种新型的受调节细胞死亡形式，由影响线粒体功能的异常细胞内铜积累触发，是癌症治疗的一个有前景的靶点。其易感性取决于肿瘤代谢和微环境因素，包括炎症信号。在DLBCL中，铜凋亡相关基因</a:t>
            </a:r>
          </a:p>
          <a:p>
            <a:pPr>
              <a:lnSpc>
                <a:spcPct val="103000"/>
              </a:lnSpc>
              <a:spcAft>
                <a:spcPts val="300"/>
              </a:spcAft>
              <a:defRPr sz="550">
                <a:solidFill>
                  <a:srgbClr val="21242A"/>
                </a:solidFill>
                <a:latin typeface="Microsoft YaHei"/>
              </a:defRPr>
            </a:pPr>
            <a:r>
              <a:t>和铜转运蛋白影响预后和治疗反应，但全身血浆铜水平的作用仍不清楚。本研究旨在将血浆铜建立为预后生物标志物，并为针对铜凋亡和铜稳态的治疗策略提供信息，以改善患者的预后。目的：本研究旨在评估血浆铜水平作为 DLBCL 的预后生物标志物。通过整合已发表的遗传数据集和患者的细胞因子分析，它旨在增强对铜在淋巴瘤进展中的作用的理解并</a:t>
            </a:r>
          </a:p>
          <a:p>
            <a:pPr>
              <a:lnSpc>
                <a:spcPct val="103000"/>
              </a:lnSpc>
              <a:spcAft>
                <a:spcPts val="300"/>
              </a:spcAft>
              <a:defRPr sz="550">
                <a:solidFill>
                  <a:srgbClr val="21242A"/>
                </a:solidFill>
                <a:latin typeface="Microsoft YaHei"/>
              </a:defRPr>
            </a:pPr>
            <a:r>
              <a:t>指导新的治疗策略。方法：我们分析了 600 名新诊断的 DLBCL 患者，分为训练组 (n=360) 和验证组 (n=240)。血浆铜水平与综合临床、分子和炎症参数一起进行评估。</a:t>
            </a:r>
          </a:p>
          <a:p>
            <a:pPr>
              <a:lnSpc>
                <a:spcPct val="103000"/>
              </a:lnSpc>
              <a:spcAft>
                <a:spcPts val="300"/>
              </a:spcAft>
              <a:defRPr sz="550">
                <a:solidFill>
                  <a:srgbClr val="21242A"/>
                </a:solidFill>
                <a:latin typeface="Microsoft YaHei"/>
              </a:defRPr>
            </a:pPr>
            <a:r>
              <a:t>通过生物信息学分析系统地鉴定了铜螯合剂相关基因，并在六个独立队列中进行了荟萃分析。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血浆铜代表了 DLBCL 中一种新型的、独立的预后生物标志物，它通过与炎症信号传导的关联来捕获独特的疾病生物学。将铜评估融入临床实践可以指导 DLBCL 的个性化治疗策略。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结果：血浆铜水平升高独立预测两个队列的较差生存结果。高铜患者表现出中位 PFS 显着缩短（467 天 vs 3,295 天，P 结论：血浆铜代表了 DLBCL 中一种新型的、独立的预后生物标志物，它通过与炎症信号传导的关联来捕获独特的疾病生物学。将铜评估融入临床实践可以指导 DLBCL 的个性化治疗策略。</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摘要号：PS2122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复发/难治性lbcl的年龄无关结果和竞争风险动态：一项现实世界分析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age-independent outcomes and competing risk dynamics in relapsed/refractory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N=401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回顾性临床研究结果：age-independent outcomes and competing risk dynamics...</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中位OS：≥70岁组24个月 vs &lt;70岁组91个月，p=0.008</a:t>
            </a:r>
          </a:p>
          <a:p>
            <a:pPr>
              <a:lnSpc>
                <a:spcPct val="103000"/>
              </a:lnSpc>
              <a:spcAft>
                <a:spcPts val="300"/>
              </a:spcAft>
              <a:defRPr sz="800">
                <a:solidFill>
                  <a:srgbClr val="21242A"/>
                </a:solidFill>
                <a:latin typeface="Microsoft YaHei"/>
              </a:defRPr>
            </a:pPr>
            <a:r>
              <a:t>中位PFS：7个月 vs 8个月，p=0.068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人数：401</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研究主题：age-independent outcomes and competing risk dynamics in relapsed/refractory lbcl: a real-world analysis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复发/难治性lbcl的年龄无关结果和竞争风险动态：一项现实世界分析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age-independent outcomes and competing risk dynamics in relapsed/refractory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背景：在复发/难治性大 B 细胞淋巴瘤 (R/R LBCL) 中，年龄是“适合治疗治疗”的标准替代指标。然而，与年龄相关的生存差异在多大程度上反映了竞争风险动态——特别是疾病复发/进展（R/PD）、淋巴瘤相关和非淋巴瘤相关死亡——与治疗选择的关系仍不清楚。</a:t>
            </a:r>
          </a:p>
          <a:p>
            <a:pPr>
              <a:lnSpc>
                <a:spcPct val="103000"/>
              </a:lnSpc>
              <a:spcAft>
                <a:spcPts val="300"/>
              </a:spcAft>
              <a:defRPr sz="550">
                <a:solidFill>
                  <a:srgbClr val="21242A"/>
                </a:solidFill>
                <a:latin typeface="Microsoft YaHei"/>
              </a:defRPr>
            </a:pPr>
            <a:r>
              <a:t>目的：我们旨在通过分析大型现实世界队列中的死亡原因，调查年龄是否独立影响 R/R LBCL 结局的轨迹，从而表征这种关系。</a:t>
            </a:r>
          </a:p>
          <a:p>
            <a:pPr>
              <a:lnSpc>
                <a:spcPct val="103000"/>
              </a:lnSpc>
              <a:spcAft>
                <a:spcPts val="300"/>
              </a:spcAft>
              <a:defRPr sz="550">
                <a:solidFill>
                  <a:srgbClr val="21242A"/>
                </a:solidFill>
                <a:latin typeface="Microsoft YaHei"/>
              </a:defRPr>
            </a:pPr>
            <a:r>
              <a:t>方法：我们对 2017 年至 2024 年在玛格丽特公主医院接受治疗的 R/R LBCL 患者进行了回顾性分析。患者按年龄分层（无进展生存期（PFS）、淋巴瘤相关死亡与非淋巴瘤相关死亡的竞争风险估计、非复发死亡率（NRM）（定义为从首次 R/PD 到无继发性 R/PD 死亡的时间），以及自体干细胞移植（ASCT）后的总</a:t>
            </a:r>
          </a:p>
          <a:p>
            <a:pPr>
              <a:lnSpc>
                <a:spcPct val="103000"/>
              </a:lnSpc>
              <a:spcAft>
                <a:spcPts val="300"/>
              </a:spcAft>
              <a:defRPr sz="550">
                <a:solidFill>
                  <a:srgbClr val="21242A"/>
                </a:solidFill>
                <a:latin typeface="Microsoft YaHei"/>
              </a:defRPr>
            </a:pPr>
            <a:r>
              <a:t>生存期（OS）。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影响 R/R LBCL 患者竞争风险动态的因素包括疾病、治疗毒性和合并症。在我们的队列中，无论年龄如何，淋巴瘤仍然是死亡的主要原因。不同年龄组之间淋巴瘤相关或非淋巴瘤死亡率的结果相似；然而，结果可能会受到样本量的影响。虽然老年人的非淋巴瘤相关死亡率和 NRM 在数值上较高，但这些结果似乎并不令人望而却步 - PFS 结</a:t>
            </a:r>
          </a:p>
          <a:p>
            <a:pPr>
              <a:lnSpc>
                <a:spcPct val="103000"/>
              </a:lnSpc>
              <a:spcAft>
                <a:spcPts val="300"/>
              </a:spcAft>
              <a:defRPr sz="570">
                <a:solidFill>
                  <a:srgbClr val="21242A"/>
                </a:solidFill>
                <a:latin typeface="Microsoft YaHei"/>
              </a:defRPr>
            </a:pPr>
            <a:r>
              <a:t>果看起来也较差。需要前瞻性对照数据来更好地确定 2L 治疗方法对老年 LBCL 的益处。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中位OS</a:t>
                      </a:r>
                    </a:p>
                  </a:txBody>
                  <a:tcPr>
                    <a:solidFill>
                      <a:srgbClr val="F6F8FB"/>
                    </a:solidFill>
                  </a:tcPr>
                </a:tc>
                <a:tc>
                  <a:txBody>
                    <a:bodyPr wrap="square" lIns="36576" rIns="36576" tIns="18288" bIns="18288"/>
                    <a:lstStyle/>
                    <a:p>
                      <a:r>
                        <a:rPr sz="540" b="0">
                          <a:solidFill>
                            <a:srgbClr val="21242A"/>
                          </a:solidFill>
                          <a:latin typeface="Microsoft YaHei"/>
                        </a:rPr>
                        <a:t>≥70岁组24个月 vs &lt;70岁组91个月，p=0.008</a:t>
                      </a:r>
                    </a:p>
                  </a:txBody>
                  <a:tcPr>
                    <a:solidFill>
                      <a:srgbClr val="F6F8FB"/>
                    </a:solidFill>
                  </a:tcPr>
                </a:tc>
              </a:tr>
              <a:tr h="214230">
                <a:tc>
                  <a:txBody>
                    <a:bodyPr wrap="square" lIns="36576" rIns="36576" tIns="18288" bIns="18288"/>
                    <a:lstStyle/>
                    <a:p>
                      <a:r>
                        <a:rPr sz="540" b="1">
                          <a:solidFill>
                            <a:srgbClr val="21242A"/>
                          </a:solidFill>
                          <a:latin typeface="Microsoft YaHei"/>
                        </a:rPr>
                        <a:t>中位PFS</a:t>
                      </a:r>
                    </a:p>
                  </a:txBody>
                  <a:tcPr>
                    <a:solidFill>
                      <a:srgbClr val="FFFFFF"/>
                    </a:solidFill>
                  </a:tcPr>
                </a:tc>
                <a:tc>
                  <a:txBody>
                    <a:bodyPr wrap="square" lIns="36576" rIns="36576" tIns="18288" bIns="18288"/>
                    <a:lstStyle/>
                    <a:p>
                      <a:r>
                        <a:rPr sz="540" b="0">
                          <a:solidFill>
                            <a:srgbClr val="21242A"/>
                          </a:solidFill>
                          <a:latin typeface="Microsoft YaHei"/>
                        </a:rPr>
                        <a:t>7个月 vs 8个月，p=0.068</a:t>
                      </a:r>
                    </a:p>
                  </a:txBody>
                  <a:tcPr>
                    <a:solidFill>
                      <a:srgbClr val="FFFFFF"/>
                    </a:solidFill>
                  </a:tcPr>
                </a:tc>
              </a:tr>
              <a:tr h="214230">
                <a:tc>
                  <a:txBody>
                    <a:bodyPr wrap="square" lIns="36576" rIns="36576" tIns="18288" bIns="18288"/>
                    <a:lstStyle/>
                    <a:p>
                      <a:r>
                        <a:rPr sz="540" b="1">
                          <a:solidFill>
                            <a:srgbClr val="21242A"/>
                          </a:solidFill>
                          <a:latin typeface="Microsoft YaHei"/>
                        </a:rPr>
                        <a:t>2年淋巴瘤相关死亡率</a:t>
                      </a:r>
                    </a:p>
                  </a:txBody>
                  <a:tcPr>
                    <a:solidFill>
                      <a:srgbClr val="F6F8FB"/>
                    </a:solidFill>
                  </a:tcPr>
                </a:tc>
                <a:tc>
                  <a:txBody>
                    <a:bodyPr wrap="square" lIns="36576" rIns="36576" tIns="18288" bIns="18288"/>
                    <a:lstStyle/>
                    <a:p>
                      <a:r>
                        <a:rPr sz="540" b="0">
                          <a:solidFill>
                            <a:srgbClr val="21242A"/>
                          </a:solidFill>
                          <a:latin typeface="Microsoft YaHei"/>
                        </a:rPr>
                        <a:t>37% vs 31%，p=0.4</a:t>
                      </a:r>
                    </a:p>
                  </a:txBody>
                  <a:tcPr>
                    <a:solidFill>
                      <a:srgbClr val="F6F8FB"/>
                    </a:solidFill>
                  </a:tcPr>
                </a:tc>
              </a:tr>
              <a:tr h="214230">
                <a:tc>
                  <a:txBody>
                    <a:bodyPr wrap="square" lIns="36576" rIns="36576" tIns="18288" bIns="18288"/>
                    <a:lstStyle/>
                    <a:p>
                      <a:r>
                        <a:rPr sz="540" b="1">
                          <a:solidFill>
                            <a:srgbClr val="21242A"/>
                          </a:solidFill>
                          <a:latin typeface="Microsoft YaHei"/>
                        </a:rPr>
                        <a:t>2年非淋巴瘤死亡率</a:t>
                      </a:r>
                    </a:p>
                  </a:txBody>
                  <a:tcPr>
                    <a:solidFill>
                      <a:srgbClr val="FFFFFF"/>
                    </a:solidFill>
                  </a:tcPr>
                </a:tc>
                <a:tc>
                  <a:txBody>
                    <a:bodyPr wrap="square" lIns="36576" rIns="36576" tIns="18288" bIns="18288"/>
                    <a:lstStyle/>
                    <a:p>
                      <a:r>
                        <a:rPr sz="540" b="0">
                          <a:solidFill>
                            <a:srgbClr val="21242A"/>
                          </a:solidFill>
                          <a:latin typeface="Microsoft YaHei"/>
                        </a:rPr>
                        <a:t>13% vs 7.3%，p=0.1</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多变量分析中年龄与淋巴瘤相关死亡无关（HR 0.67, 95%CI 0.31-1.43, p=0.3）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摘要号：PS2121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单核细胞cfdna谱的动态变化可识别大b细胞淋巴瘤的高危患者</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dynamic changes in mononucleosomal cfdna profiles identify high-risk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N=123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前瞻性临床研究结果：dynamic changes in mononucleosomal cfdna profiles ide...</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FSR分类与无进展生存期显著相关（p=0.00023）</a:t>
            </a:r>
          </a:p>
          <a:p>
            <a:pPr>
              <a:lnSpc>
                <a:spcPct val="103000"/>
              </a:lnSpc>
              <a:spcAft>
                <a:spcPts val="300"/>
              </a:spcAft>
              <a:defRPr sz="800">
                <a:solidFill>
                  <a:srgbClr val="21242A"/>
                </a:solidFill>
                <a:latin typeface="Microsoft YaHei"/>
              </a:defRPr>
            </a:pPr>
            <a:r>
              <a:t>FSR分类与总生存期显著相关（p&lt;0.0001）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人数：123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研究主题：dynamic changes in mononucleosomal cfdna profiles identify high-risk patients with large b-cell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单核细胞cfdna谱的动态变化可识别大b细胞淋巴瘤的高危患者</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dynamic changes in mononucleosomal cfdna profiles identify high-risk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背景：大 B 细胞淋巴瘤 (LBCL) 代表一组异质性侵袭性淋巴恶性肿瘤，具有不同的分子特征和临床结果。大约 30% 的患者会出现复发或难治性疾病。目前的诊断方法依赖于侵入性组织活检，仅捕获单个肿瘤部位和时间点，因此无法捕获疾病的全部异质性。基于循环肿瘤 DNA (ctDNA) 的液体活检方法可以进行非侵入性疾病监测，</a:t>
            </a:r>
          </a:p>
          <a:p>
            <a:pPr>
              <a:lnSpc>
                <a:spcPct val="103000"/>
              </a:lnSpc>
              <a:spcAft>
                <a:spcPts val="300"/>
              </a:spcAft>
              <a:defRPr sz="550">
                <a:solidFill>
                  <a:srgbClr val="21242A"/>
                </a:solidFill>
                <a:latin typeface="Microsoft YaHei"/>
              </a:defRPr>
            </a:pPr>
            <a:r>
              <a:t>但需要超灵敏测序来检测丰富的无细胞 DNA (cfDNA) 中的肿瘤衍生片段。</a:t>
            </a:r>
          </a:p>
          <a:p>
            <a:pPr>
              <a:lnSpc>
                <a:spcPct val="103000"/>
              </a:lnSpc>
              <a:spcAft>
                <a:spcPts val="300"/>
              </a:spcAft>
              <a:defRPr sz="550">
                <a:solidFill>
                  <a:srgbClr val="21242A"/>
                </a:solidFill>
                <a:latin typeface="Microsoft YaHei"/>
              </a:defRPr>
            </a:pPr>
            <a:r>
              <a:t>cfDNA 的长度分布是非随机的，反映了潜在的染色质结构和片段化生物学，通常在约 166 个碱基对 (bp) 处达到峰值。肿瘤来源的 DNA 片段分布往往富含较短的片段，这表明 cfDNA 片段长度概况可能为癌症护理提供额外的生物学和临床相关信息。目的：本研究的目的是调查治疗期间 cfDNA 片段长度特征及其时间变化是</a:t>
            </a:r>
          </a:p>
          <a:p>
            <a:pPr>
              <a:lnSpc>
                <a:spcPct val="103000"/>
              </a:lnSpc>
              <a:spcAft>
                <a:spcPts val="300"/>
              </a:spcAft>
              <a:defRPr sz="550">
                <a:solidFill>
                  <a:srgbClr val="21242A"/>
                </a:solidFill>
                <a:latin typeface="Microsoft YaHei"/>
              </a:defRPr>
            </a:pPr>
            <a:r>
              <a:t>否与高危 LBCL 患者的临床结果相关。方法：从参加北欧淋巴瘤组 LBC-06 试验的 123 名高危 LBCL 患者中收集治疗前 (BL)、治疗期间、治疗结束时 (EOT) 和随访期间的血浆样本。</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所提出的片段组转移风险（FSR）指标可能代表一种用于结果预测的新型非侵入性生物标志物。将 cfDNA 片段组学与 ctDNA 突变分析和微小残留病评估相结合，可以改善 LBCL 的疾病监测和风险分层。需要在其他队列中进行独立验证。通过研究不同片段长度的末端基序富集，可以进一步了解片段化的差异。</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结果：片段长度分布显示出明显的患者间异质性和治疗期间的动态变化。基线和 EOT 之间 SFF 的大幅降低和增加均与较差的生存率相关。分类为 FSR 的患者的无进展生存期 (PFS) (p=0.00023) 和总生存期 (OS) (p</a:t>
            </a:r>
          </a:p>
          <a:p>
            <a:pPr>
              <a:lnSpc>
                <a:spcPct val="103000"/>
              </a:lnSpc>
              <a:spcAft>
                <a:spcPts val="300"/>
              </a:spcAft>
              <a:defRPr sz="560">
                <a:solidFill>
                  <a:srgbClr val="21242A"/>
                </a:solidFill>
                <a:latin typeface="Microsoft YaHei"/>
              </a:defRPr>
            </a:pPr>
            <a:r>
              <a:t>结论：所提出的片段组转移风险（FSR）指标可能代表一种用于结果预测的新型非侵入性生物标志物。将 cfDNA 片段组学与 ctDNA 突变分析和微小残留病评估相结合，可以改善 LBCL 的疾病监测和风险分层。需要在其他队列中进行独立验证。通过研究不同片段长度的末端基序富集，可以进一步了解片段化的差异。</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营养参数作为老年弥漫性大b细胞淋巴瘤患者的预后标志物：意大利林福美基金会老年项目的事后分析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nutritional parameters as prognostic markers in older patients with diffuse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N=688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回顾性临床研究结果：nutritional parameters as prognostic markers in older...</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白蛋白对3年OS的影响：单因素分析HR=0.43, 95%CI 0.34-0.55, P&lt;0.001</a:t>
            </a:r>
          </a:p>
          <a:p>
            <a:pPr>
              <a:lnSpc>
                <a:spcPct val="103000"/>
              </a:lnSpc>
              <a:spcAft>
                <a:spcPts val="300"/>
              </a:spcAft>
              <a:defRPr sz="800">
                <a:solidFill>
                  <a:srgbClr val="21242A"/>
                </a:solidFill>
                <a:latin typeface="Microsoft YaHei"/>
              </a:defRPr>
            </a:pPr>
            <a:r>
              <a:t>白蛋白&gt;3.5g/dl组3年OS优于≤3.5g/dl组，P&lt;0.001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人数：688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研究主题：nutritional parameters as prognostic markers in older patients with diffuse large b-cell lymphoma: a post-hoc analysis...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营养参数作为老年弥漫性大b细胞淋巴瘤患者的预后标志物：意大利林福美基金会老年项目的事后分析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nutritional parameters as prognostic markers in older patients with diffuse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是老年人最常见的淋巴瘤，对免疫化疗的反应各异。已经开发了几种预后系统来指导治疗。在这种情况下，综合老年评估 (CGA) 能够进行风险分层并与结果相关，其中营养状况是关键的评估组成部分。白蛋白、体重指数 (BMI) 和老年营养风险指数 (GNRI) 是反映营养状况的指数，并</a:t>
            </a:r>
          </a:p>
          <a:p>
            <a:pPr>
              <a:lnSpc>
                <a:spcPct val="103000"/>
              </a:lnSpc>
              <a:spcAft>
                <a:spcPts val="300"/>
              </a:spcAft>
              <a:defRPr sz="550">
                <a:solidFill>
                  <a:srgbClr val="21242A"/>
                </a:solidFill>
                <a:latin typeface="Microsoft YaHei"/>
              </a:defRPr>
            </a:pPr>
            <a:r>
              <a:t>在不同的疾病环境中被不同地采用，以探讨其预后意义。迄今为止，很少有研究调查这些参数在接受 DLBCL 治疗的老年人群中的预后潜力。</a:t>
            </a:r>
          </a:p>
          <a:p>
            <a:pPr>
              <a:lnSpc>
                <a:spcPct val="103000"/>
              </a:lnSpc>
              <a:spcAft>
                <a:spcPts val="300"/>
              </a:spcAft>
              <a:defRPr sz="550">
                <a:solidFill>
                  <a:srgbClr val="21242A"/>
                </a:solidFill>
                <a:latin typeface="Microsoft YaHei"/>
              </a:defRPr>
            </a:pPr>
            <a:r>
              <a:t>目的：评估白蛋白、BMI 和 GNRI 对年龄 &gt; 65 岁接受一线治疗的 DLBCL 患者预后的预测价值。</a:t>
            </a:r>
          </a:p>
          <a:p>
            <a:pPr>
              <a:lnSpc>
                <a:spcPct val="103000"/>
              </a:lnSpc>
              <a:spcAft>
                <a:spcPts val="300"/>
              </a:spcAft>
              <a:defRPr sz="550">
                <a:solidFill>
                  <a:srgbClr val="21242A"/>
                </a:solidFill>
                <a:latin typeface="Microsoft YaHei"/>
              </a:defRPr>
            </a:pPr>
            <a:r>
              <a:t>方法：这是对意大利林信息基金会老年人项目的辅助分析，这是一项前瞻性多中心观察性研究，旨在验证简化的老年评估工具和新的预后评分 EPI。在这项研究中，我们选择了在基线时可获得完整的人体测量和实验室参数的患者。主要终点是血清白蛋白水平、BMI和GNRI与总生存期之间的相关性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在当前的治疗领域，治疗个性化需要准确的风险分层。在接受抗肿瘤治疗的老年DLBCL患者中，白蛋白、BMI和GNRI代表生存的独立预后参数，简单且易于应用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结果：根据纳入标准，1207 名患者中有 688 名 (59%) 被认为符合资格，中位年龄为 75 岁。在单变量分析中，白蛋白与 3 年 OS 表现出统计相关性（HR，0.43；95% CI，0.34-0.55；P 3.5 gr/dl (P 98)，低风险 (GNRI 92-98)，中等风险 (GNRI) 8</a:t>
            </a:r>
          </a:p>
          <a:p>
            <a:pPr>
              <a:lnSpc>
                <a:spcPct val="103000"/>
              </a:lnSpc>
              <a:spcAft>
                <a:spcPts val="300"/>
              </a:spcAft>
              <a:defRPr sz="560">
                <a:solidFill>
                  <a:srgbClr val="21242A"/>
                </a:solidFill>
                <a:latin typeface="Microsoft YaHei"/>
              </a:defRPr>
            </a:pPr>
            <a:r>
              <a:t>2-92)，高风险（GNRI 表 1：DLBCL 中的 GNRI \n \n \n \n \n GNRI \n \n \n N（失败）\n \n \n 3 年 OS % (95%CI) \n \n \n HR (95%CI) \n \n \n p 值 \n \n \n \n \n 总体生存率 \n \n \n</a:t>
            </a:r>
          </a:p>
          <a:p>
            <a:pPr>
              <a:lnSpc>
                <a:spcPct val="103000"/>
              </a:lnSpc>
              <a:spcAft>
                <a:spcPts val="300"/>
              </a:spcAft>
              <a:defRPr sz="560">
                <a:solidFill>
                  <a:srgbClr val="21242A"/>
                </a:solidFill>
                <a:latin typeface="Microsoft YaHei"/>
              </a:defRPr>
            </a:pPr>
            <a:r>
              <a:t> 688 (184) \n \n \n 68 (63-72) \n \n \n - \n \n \n - \n \n \n \n \n 连续 (增加 10 点) \n \n \n - \n \n \n - \n \n \n 0.65 (0.58-0.74) \n \n \n \n \n \n \n \n 由 </a:t>
            </a:r>
          </a:p>
          <a:p>
            <a:pPr>
              <a:lnSpc>
                <a:spcPct val="103000"/>
              </a:lnSpc>
              <a:spcAft>
                <a:spcPts val="300"/>
              </a:spcAft>
              <a:defRPr sz="560">
                <a:solidFill>
                  <a:srgbClr val="21242A"/>
                </a:solidFill>
                <a:latin typeface="Microsoft YaHei"/>
              </a:defRPr>
            </a:pPr>
            <a:r>
              <a:t>EPI 调整 \n \n \n \n \n \n \n \n \n 0,73 (0,64-0,83) \n \n \n \n \n \n \n \n GNRI 组 \n \n \n N (%) [失败] \n \n \n 3 年 OS % (95%CI) \n \n \n（完整内容见HTML/EHA原文）</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早期出现增殖性cd8+t细胞与接受自体造血干细胞移植加脐带血输注治疗的r/r dlbcl患者预后改善有关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earlier emergence of proliferative cd8+ t cells is associated with improved 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PF1113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分组：试验组1：自体造血干细胞移植+脐带血输注</a:t>
            </a:r>
          </a:p>
          <a:p>
            <a:pPr>
              <a:lnSpc>
                <a:spcPct val="103000"/>
              </a:lnSpc>
              <a:spcAft>
                <a:spcPts val="300"/>
              </a:spcAft>
              <a:defRPr sz="800">
                <a:solidFill>
                  <a:srgbClr val="21242A"/>
                </a:solidFill>
                <a:latin typeface="Microsoft YaHei"/>
              </a:defRPr>
            </a:pPr>
            <a:r>
              <a:t>对照组：单纯自体造血干细胞移植</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对照/比较：试验组1：自体造血干细胞移植+脐带血输注||对照组：单纯自体造血干细胞移植</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联合组中性粒细胞植入中位时间11天（范围10-21天），血小板植入中位时间14天（范围12-31天）</a:t>
            </a:r>
          </a:p>
          <a:p>
            <a:pPr>
              <a:lnSpc>
                <a:spcPct val="103000"/>
              </a:lnSpc>
              <a:spcAft>
                <a:spcPts val="300"/>
              </a:spcAft>
              <a:defRPr sz="800">
                <a:solidFill>
                  <a:srgbClr val="21242A"/>
                </a:solidFill>
                <a:latin typeface="Microsoft YaHei"/>
              </a:defRPr>
            </a:pPr>
            <a:r>
              <a:t>对照组中性粒细胞植入中位时间11天（范围10-19天），血小板植入中位时间12天（范围10-20天）</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分组/治疗流程：试验组1：自体造血干细胞移植+脐带血输注、对照组：单纯自体造血干细胞移植</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早期出现增殖性cd8+t细胞与接受自体造血干细胞移植加脐带血输注治疗的r/r dlbcl患者预后改善有关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earlier emergence of proliferative cd8+ t cells is associated with improved 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PF1113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4714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69/187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背景：自体造血干细胞移植（Auto-HSCT）仍然是复发/难治性弥漫性大 B 细胞淋巴瘤（R/R DLBCL）患者的潜在治愈方法；然而，移植后仍有一部分患者出现疾病复发。</a:t>
            </a:r>
          </a:p>
          <a:p>
            <a:pPr>
              <a:lnSpc>
                <a:spcPct val="103000"/>
              </a:lnSpc>
              <a:spcAft>
                <a:spcPts val="300"/>
              </a:spcAft>
              <a:defRPr sz="550">
                <a:solidFill>
                  <a:srgbClr val="21242A"/>
                </a:solidFill>
                <a:latin typeface="Microsoft YaHei"/>
              </a:defRPr>
            </a:pPr>
            <a:r>
              <a:t>Auto-HSCT后，在化疗引起的细胞毒性作用下降和宿主抗肿瘤免疫重建之间存在一个关键的脆弱期，为肿瘤复发创造了一个窗口。人脐带血干细胞（hUCBSC）是一种能够介导移植物抗肿瘤（GVT）效应的潜在细胞来源。基于这一原理，我们进行了一项临床研究，评估将 Auto-HSCT 与无关的 hUCBSC 输注相结合治疗 R/R</a:t>
            </a:r>
          </a:p>
          <a:p>
            <a:pPr>
              <a:lnSpc>
                <a:spcPct val="103000"/>
              </a:lnSpc>
              <a:spcAft>
                <a:spcPts val="300"/>
              </a:spcAft>
              <a:defRPr sz="550">
                <a:solidFill>
                  <a:srgbClr val="21242A"/>
                </a:solidFill>
                <a:latin typeface="Microsoft YaHei"/>
              </a:defRPr>
            </a:pPr>
            <a:r>
              <a:t> DLBCL 患者的新策略。在我们的 44 名患者队列中，2 年总生存 (OS) 和无进展生存 (PFS) 率分别为 90.9% 和 86.3%。尽管这些结果与历史数据相比较，但 Auto-HSCT 联合 hUCBSC 输注预防复发的生物学机制仍不清楚。目的：研究接受自动 HSCT 加无关 hUCBSC 输注（联合策略</a:t>
            </a:r>
          </a:p>
          <a:p>
            <a:pPr>
              <a:lnSpc>
                <a:spcPct val="103000"/>
              </a:lnSpc>
              <a:spcAft>
                <a:spcPts val="300"/>
              </a:spcAft>
              <a:defRPr sz="550">
                <a:solidFill>
                  <a:srgbClr val="21242A"/>
                </a:solidFill>
                <a:latin typeface="Microsoft YaHei"/>
              </a:defRPr>
            </a:pPr>
            <a:r>
              <a:t>）的 R/R DLBCL 患者与改善生存相关的免疫机制。方法：我们纳入了 24 名 R/R DLBCL 患者（14 名复发性和 10 名难治性；中位年龄 35 岁）。</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输注不相关的 hUCBSC 可以弥补 Auto-HSCT 中缺乏移植物抗肿瘤 (GVT) 效应。联合策略中观察到的 GVT 似乎与 CD8+ Tprolif 细胞、CD8+ Tscm 细胞的早期出现以及无关 hUCBSC 输注后 CD8+ T 细胞的加速激活有关。</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联合组中性粒细胞植入中位时间11天（范围10-21天），血小板植入中位时间14天（范围12-31天）</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对照组中性粒细胞植入中位时间11天（范围10-19天），血小板植入中位时间12天（范围10-20天）</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联合组增殖性CD8+ T细胞出现中位时间比对照组早4天（2-5天）</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联合组干细胞样记忆CD8+ T细胞出现中位时间比对照组早9天（8-10天）</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联合组总队列2年总生存率90.9%，2年无进展生存率86.3%</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摘要号：PF1113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阶段性变体揭示dlbcl原癌基因启动子高突变和cfdna断裂模式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phased variants reveal proto-oncogene promoter hypermutation and cfdna fragme...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PF1106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N=116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前瞻性临床研究结果：phased variants reveal proto-oncogene promoter hyperm...</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LymphGen分类成功率：50.8%（FFPE），加入cfDNA后提升至62.9%</a:t>
            </a:r>
          </a:p>
          <a:p>
            <a:pPr>
              <a:lnSpc>
                <a:spcPct val="103000"/>
              </a:lnSpc>
              <a:spcAft>
                <a:spcPts val="300"/>
              </a:spcAft>
              <a:defRPr sz="800">
                <a:solidFill>
                  <a:srgbClr val="21242A"/>
                </a:solidFill>
                <a:latin typeface="Microsoft YaHei"/>
              </a:defRPr>
            </a:pPr>
            <a:r>
              <a:t>未分类病例中7/57重新分类为MCD，4/57重新分类为EZB</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人数：116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研究主题：phased variants reveal proto-oncogene promoter hypermutation and cfdna fragmentation patterns in dlbcl</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阶段性变体揭示dlbcl原癌基因启动子高突变和cfdna断裂模式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phased variants reveal proto-oncogene promoter hypermutation and cfdna fragme...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PF1106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是一种临床和分子异质性疾病，目前仍缺乏稳健、广泛适用的患者分层工具。循环肿瘤 DNA (ctDNA) 分析已成为一种有前景的疾病监测方法，但其在分子表征和分层方面的用途仍不完全清楚。定相变异（PV）——顺式发生的紧密间隔的体细胞突变——代表稳定的、区域特异性的基因组特征，</a:t>
            </a:r>
          </a:p>
          <a:p>
            <a:pPr>
              <a:lnSpc>
                <a:spcPct val="103000"/>
              </a:lnSpc>
              <a:spcAft>
                <a:spcPts val="300"/>
              </a:spcAft>
              <a:defRPr sz="550">
                <a:solidFill>
                  <a:srgbClr val="21242A"/>
                </a:solidFill>
                <a:latin typeface="Microsoft YaHei"/>
              </a:defRPr>
            </a:pPr>
            <a:r>
              <a:t>可以为 DLBCL 生物学提供更多的见解并改善基于 ctDNA 的分层。目的：我们的目标是描述全国范围内真实 DLBCL 队列的特征，以提高我们对该疾病分子格局的了解，并研究 cfDNA 在分子分析和患者分层中的适用性。方法：在匈牙利肿瘤血液中心，2021-2023 年间前瞻性招募了 138 名新诊断的 DLBCL 患</a:t>
            </a:r>
          </a:p>
          <a:p>
            <a:pPr>
              <a:lnSpc>
                <a:spcPct val="103000"/>
              </a:lnSpc>
              <a:spcAft>
                <a:spcPts val="300"/>
              </a:spcAft>
              <a:defRPr sz="550">
                <a:solidFill>
                  <a:srgbClr val="21242A"/>
                </a:solidFill>
                <a:latin typeface="Microsoft YaHei"/>
              </a:defRPr>
            </a:pPr>
            <a:r>
              <a:t>者进行液体活检采集，其中 116 名患者有相应的诊断性 FFPE 样本。我们使用跨 251 个基因、4 个易位断点和全基因组 CNA 调用的混合捕获 Agilent XT HS2 panel 进行了靶向下一代 DNA 测序，使用 FFPE 样本上的脱靶读数和较小的 98 个基因 panel 进行 ctDNA 分析，涉及</a:t>
            </a:r>
          </a:p>
          <a:p>
            <a:pPr>
              <a:lnSpc>
                <a:spcPct val="103000"/>
              </a:lnSpc>
              <a:spcAft>
                <a:spcPts val="300"/>
              </a:spcAft>
              <a:defRPr sz="550">
                <a:solidFill>
                  <a:srgbClr val="21242A"/>
                </a:solidFill>
                <a:latin typeface="Microsoft YaHei"/>
              </a:defRPr>
            </a:pPr>
            <a:r>
              <a:t> &gt; 5% 的淋巴瘤基因组中的高度突变区域（Kurtz 等人，2021），以进行阶段性变异鉴定。</a:t>
            </a:r>
          </a:p>
          <a:p>
            <a:pPr>
              <a:lnSpc>
                <a:spcPct val="103000"/>
              </a:lnSpc>
              <a:spcAft>
                <a:spcPts val="300"/>
              </a:spcAft>
              <a:defRPr sz="550">
                <a:solidFill>
                  <a:srgbClr val="21242A"/>
                </a:solidFill>
                <a:latin typeface="Microsoft YaHei"/>
              </a:defRPr>
            </a:pPr>
            <a:r>
              <a:t>使用自定义管道执行变体调用和分析。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CfDNA 已被证明是一种可行且强大的工具，可以帮助治疗多种癌症的患者。</a:t>
            </a:r>
          </a:p>
          <a:p>
            <a:pPr>
              <a:lnSpc>
                <a:spcPct val="103000"/>
              </a:lnSpc>
              <a:spcAft>
                <a:spcPts val="300"/>
              </a:spcAft>
              <a:defRPr sz="570">
                <a:solidFill>
                  <a:srgbClr val="21242A"/>
                </a:solidFill>
                <a:latin typeface="Microsoft YaHei"/>
              </a:defRPr>
            </a:pPr>
            <a:r>
              <a:t>CtDNA 携带与疾病相关的潜在信息；在我们的案例中，通过使用 ctDNA 变体以及 ctDNA 和肿瘤组织 DNA 的并行分析，将病例分配给治疗相关的 LymphGen 亚型，从而改进了 LymphGen 分类。原癌基因启动子位点的异常超突变已在 DLBCL 中得到描述，并用作疾病监测的 PV。我们证明，cfDNA </a:t>
            </a:r>
          </a:p>
          <a:p>
            <a:pPr>
              <a:lnSpc>
                <a:spcPct val="103000"/>
              </a:lnSpc>
              <a:spcAft>
                <a:spcPts val="300"/>
              </a:spcAft>
              <a:defRPr sz="570">
                <a:solidFill>
                  <a:srgbClr val="21242A"/>
                </a:solidFill>
                <a:latin typeface="Microsoft YaHei"/>
              </a:defRPr>
            </a:pPr>
            <a:r>
              <a:t>碎片较低和 cfDNA 量较高的区域的 PV 召回率较差，这强调了进一步改进 DLBCL 非侵入性基因分型的注意事项。</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LymphGen分类成功率：50.8%（FFPE），加入cfDNA后提升至62.9%；未分类病例中7/57重新分类为MCD，4/57重新分类为EZB；肿瘤组织样本中位PVs数111.5（范围17-286）；86/116例cfDNA中可召回PVs，中位召回率58.4%；PVs常见于IGK、IGHM、BCL6、B</a:t>
            </a:r>
          </a:p>
          <a:p>
            <a:pPr>
              <a:lnSpc>
                <a:spcPct val="103000"/>
              </a:lnSpc>
              <a:spcAft>
                <a:spcPts val="300"/>
              </a:spcAft>
              <a:defRPr sz="560">
                <a:solidFill>
                  <a:srgbClr val="21242A"/>
                </a:solidFill>
                <a:latin typeface="Microsoft YaHei"/>
              </a:defRPr>
            </a:pPr>
            <a:r>
              <a:t>CL2、PIM1、MYC、BCL7A、CXCR4、TMSB4X基因，除MYC外多数影响5'UTR或启动子区；ctDNA片段化程度显著高于野生型DNA和总cfDNA；BCL2和MYC的PV召回率低与血液中低表达、淋巴细胞中高表达相关。</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摘要号：PF1106</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基于预处理ctdna的dlbcl风险预测：非面板独立拷贝数分析克服了批间阈值变异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pretreatment ctdna-based risk prediction in dlbcl: panel-independent copy-num...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PF1089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N=184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前瞻性临床研究结果：pretreatment ctdna-based risk prediction in dlbcl: pa...</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基于CNA的肿瘤分数&gt;0.1定义高风险，对TTP的HR为4.97 (95% CI 2.52-9.83, p&lt;0.001)</a:t>
            </a:r>
          </a:p>
          <a:p>
            <a:pPr>
              <a:lnSpc>
                <a:spcPct val="103000"/>
              </a:lnSpc>
              <a:spcAft>
                <a:spcPts val="300"/>
              </a:spcAft>
              <a:defRPr sz="800">
                <a:solidFill>
                  <a:srgbClr val="21242A"/>
                </a:solidFill>
                <a:latin typeface="Microsoft YaHei"/>
              </a:defRPr>
            </a:pPr>
            <a:r>
              <a:t>对PFS的HR为3.02 (95% CI 1.56-5.85, p=0.001)。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人数：184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研究主题：pretreatment ctdna-based risk prediction in dlbcl: panel-independent copy-number analysis overcomes inter-assay thresho...</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基于预处理ctdna的dlbcl风险预测：非面板独立拷贝数分析克服了批间阈值变异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pretreatment ctdna-based risk prediction in dlbcl: panel-independent copy-num...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PF1089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001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背景：大 B 细胞淋巴瘤 (LBCL) 是最常见的侵袭性非霍奇金淋巴瘤。大量新兴的新型治疗方式为强化一线治疗创造了令人兴奋的机会。理想情况下，这种升级应该保留给风险最高的患者，以避免对已经通过传统免疫化疗取得良好疗效的标准风险患者产生不必要的额外毒性。循环肿瘤DNA（ctDNA）是一种有前途的治疗前风险分层工具；然而，</a:t>
            </a:r>
          </a:p>
          <a:p>
            <a:pPr>
              <a:lnSpc>
                <a:spcPct val="103000"/>
              </a:lnSpc>
              <a:spcAft>
                <a:spcPts val="300"/>
              </a:spcAft>
              <a:defRPr sz="550">
                <a:solidFill>
                  <a:srgbClr val="21242A"/>
                </a:solidFill>
                <a:latin typeface="Microsoft YaHei"/>
              </a:defRPr>
            </a:pPr>
            <a:r>
              <a:t>由于标准化较差和 ctDNA 阈值的测定间差异很大，该方法的实施受到限制。</a:t>
            </a:r>
          </a:p>
          <a:p>
            <a:pPr>
              <a:lnSpc>
                <a:spcPct val="103000"/>
              </a:lnSpc>
              <a:spcAft>
                <a:spcPts val="300"/>
              </a:spcAft>
              <a:defRPr sz="550">
                <a:solidFill>
                  <a:srgbClr val="21242A"/>
                </a:solidFill>
                <a:latin typeface="Microsoft YaHei"/>
              </a:defRPr>
            </a:pPr>
            <a:r>
              <a:t>方法：我们对 184 名前瞻性招募的接受一线 LBCL 治疗的患者进行基于 ctDNA 的治疗前风险预测基准。我们比较了使用由多个变体调用工作流程识别的单核苷酸变体（SNV）或使用 ichorCNA 推断的全基因组拷贝数畸变（CNA）估计的预处理 ctDNA 负荷的预测性能。评估临床结果的肿瘤进展时间（TTP）和无进展</a:t>
            </a:r>
          </a:p>
          <a:p>
            <a:pPr>
              <a:lnSpc>
                <a:spcPct val="103000"/>
              </a:lnSpc>
              <a:spcAft>
                <a:spcPts val="300"/>
              </a:spcAft>
              <a:defRPr sz="550">
                <a:solidFill>
                  <a:srgbClr val="21242A"/>
                </a:solidFill>
                <a:latin typeface="Microsoft YaHei"/>
              </a:defRPr>
            </a:pPr>
            <a:r>
              <a:t>生存期（PFS）。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总之，基于 CNA 的 ctDNA 肿瘤分数估计为 LBCL 的治疗前风险分层提供了一种技术上可靠、独立于组的方法。这种计算简单的方法的应用有助于风险预测的协调，而不需要各个中心标准化测序面板和变异调用流程。</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结果：所有基于 SNV 的方法都预测了临床风险，但绝对 ctDNA 定量差异显着。即使在同一队列中，定义高风险疾病的阈值也需要针对每个 SNV 调用策略进行单独优化，并且差异超过 10 倍。这种差异部分源于低等位基因分数变体的不同检测限，导致不同变体识别方法（使用不同变体识别工具的匹配种系、不匹配种系和仅肿瘤</a:t>
            </a:r>
          </a:p>
          <a:p>
            <a:pPr>
              <a:lnSpc>
                <a:spcPct val="103000"/>
              </a:lnSpc>
              <a:spcAft>
                <a:spcPts val="300"/>
              </a:spcAft>
              <a:defRPr sz="560">
                <a:solidFill>
                  <a:srgbClr val="21242A"/>
                </a:solidFill>
                <a:latin typeface="Microsoft YaHei"/>
              </a:defRPr>
            </a:pPr>
            <a:r>
              <a:t>策略）的平均突变等位基因分数存在显着差异。这种可变性给跨中心部署基于 SNV 的风险分层、测序流程和小组设计带来了实际障碍。</a:t>
            </a:r>
          </a:p>
          <a:p>
            <a:pPr>
              <a:lnSpc>
                <a:spcPct val="103000"/>
              </a:lnSpc>
              <a:spcAft>
                <a:spcPts val="300"/>
              </a:spcAft>
              <a:defRPr sz="560">
                <a:solidFill>
                  <a:srgbClr val="21242A"/>
                </a:solidFill>
                <a:latin typeface="Microsoft YaHei"/>
              </a:defRPr>
            </a:pPr>
            <a:r>
              <a:t>\n 作为替代方案，我们从全基因组 CNA 中衍生出肿瘤部分。基于组的测序图谱（包括脱靶读数）已标准化为 51 名健康个体的 cfDNA。肿瘤分数 &gt;0.1 被确定为定义高风险的最佳选择。在单变量分析中，基于 CNA 的分层强烈预测了 TTP（HR 4.97，95% CI 2.52–9.83，p\n）然后我们</a:t>
            </a:r>
          </a:p>
          <a:p>
            <a:pPr>
              <a:lnSpc>
                <a:spcPct val="103000"/>
              </a:lnSpc>
              <a:spcAft>
                <a:spcPts val="300"/>
              </a:spcAft>
              <a:defRPr sz="560">
                <a:solidFill>
                  <a:srgbClr val="21242A"/>
                </a:solidFill>
                <a:latin typeface="Microsoft YaHei"/>
              </a:defRPr>
            </a:pPr>
            <a:r>
              <a:t>评估了对 ctDNA 平台之间通常不同的变量的技术鲁棒性，包括分析的基因组区域和参考 panel 大小。基于 panel 的测序的肿瘤分数显示出与低通全基因组测序的高度一致性（Pearson r &gt;0.9）。</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摘要号：PF1089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弥漫性大b细胞淋巴瘤肠道微生物组代谢组动态变化的宏基因组学研究：基于患者健康同居者作为对照的队列分析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metagenomic study on the dynamic changes of gut microbiome-metabolome in diff...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分组：组1：新诊断DLBCL患者</a:t>
            </a:r>
          </a:p>
          <a:p>
            <a:pPr>
              <a:lnSpc>
                <a:spcPct val="103000"/>
              </a:lnSpc>
              <a:spcAft>
                <a:spcPts val="300"/>
              </a:spcAft>
              <a:defRPr sz="800">
                <a:solidFill>
                  <a:srgbClr val="21242A"/>
                </a:solidFill>
                <a:latin typeface="Microsoft YaHei"/>
              </a:defRPr>
            </a:pPr>
            <a:r>
              <a:t>组2：完全缓解DLBCL患者</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多组/多方案比较：组1：新诊断DLBCL患者</a:t>
            </a:r>
          </a:p>
          <a:p>
            <a:pPr>
              <a:lnSpc>
                <a:spcPct val="103000"/>
              </a:lnSpc>
              <a:spcAft>
                <a:spcPts val="300"/>
              </a:spcAft>
              <a:defRPr sz="800">
                <a:solidFill>
                  <a:srgbClr val="21242A"/>
                </a:solidFill>
                <a:latin typeface="Microsoft YaHei"/>
              </a:defRPr>
            </a:pPr>
            <a:r>
              <a:t>组2：完全缓解DLBCL患者</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肠道微生物多样性：新诊断患者显著降低（更少的独有基因，受损的稳定性）</a:t>
            </a:r>
          </a:p>
          <a:p>
            <a:pPr>
              <a:lnSpc>
                <a:spcPct val="103000"/>
              </a:lnSpc>
              <a:spcAft>
                <a:spcPts val="300"/>
              </a:spcAft>
              <a:defRPr sz="800">
                <a:solidFill>
                  <a:srgbClr val="21242A"/>
                </a:solidFill>
                <a:latin typeface="Microsoft YaHei"/>
              </a:defRPr>
            </a:pPr>
            <a:r>
              <a:t>核心菌群失调：新诊断患者拟杆菌门相对丰度升高（46.3%），厚壁菌门及其衍生分类群减少（Clostridia, Clostri...</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人数：9</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分组/治疗流程：组1：新诊断DLBCL患者、组2：完全缓解DLBCL患者、组3：健康同居者</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弥漫性大b细胞淋巴瘤肠道微生物组代谢组动态变化的宏基因组学研究：基于患者健康同居者作为对照的队列分析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metagenomic study on the dynamic changes of gut microbiome-metabolome in diff...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是最常见的非霍奇金淋巴瘤类型。尽管有大量研究关注其基因组特征和分子发病机制，但对 DLBCL 病程中肠道菌群动态变化的系统阐明仍然很少。 目的：本研究旨在探讨弥漫性大B细胞淋巴瘤中肠道微生物组-代谢组的动态变化。</a:t>
            </a:r>
          </a:p>
          <a:p>
            <a:pPr>
              <a:lnSpc>
                <a:spcPct val="103000"/>
              </a:lnSpc>
              <a:spcAft>
                <a:spcPts val="300"/>
              </a:spcAft>
              <a:defRPr sz="550">
                <a:solidFill>
                  <a:srgbClr val="21242A"/>
                </a:solidFill>
                <a:latin typeface="Microsoft YaHei"/>
              </a:defRPr>
            </a:pPr>
            <a:r>
              <a:t>方法：本研究比较了 9 名 DLBCL 初次诊断患者的粪便肠道微生物样本、这些患者通过标准一线化疗获得完全缓解 (CR) 后的样本，以及与患者生活在同一环境中的健康同居者的样本。通过宏基因组和代谢组学分析研究了三组之间微生物组成和代谢途径的差异。</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这项研究证明了 DLBCL 患者疾病和治疗介导的肠道微生物群的动态重塑，支持未经治疗的新诊断 DLBCL 患者肠道微生物群的特征性菌群失调和代谢紊乱。通过标准一线化疗实现完全缓解后，患者的肠道微生物群结构接近其健康同伴的状态。这些发现描述了 DLBCL 病程中肠道微生物群的变化，为研究 DLBCL 发病机制和开发新疗法</a:t>
            </a:r>
          </a:p>
          <a:p>
            <a:pPr>
              <a:lnSpc>
                <a:spcPct val="103000"/>
              </a:lnSpc>
              <a:spcAft>
                <a:spcPts val="300"/>
              </a:spcAft>
              <a:defRPr sz="570">
                <a:solidFill>
                  <a:srgbClr val="21242A"/>
                </a:solidFill>
                <a:latin typeface="Microsoft YaHei"/>
              </a:defRPr>
            </a:pPr>
            <a:r>
              <a:t>提供了潜在的见解。</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肠道微生物多样性</a:t>
                      </a:r>
                    </a:p>
                  </a:txBody>
                  <a:tcPr>
                    <a:solidFill>
                      <a:srgbClr val="F6F8FB"/>
                    </a:solidFill>
                  </a:tcPr>
                </a:tc>
                <a:tc>
                  <a:txBody>
                    <a:bodyPr wrap="square" lIns="36576" rIns="36576" tIns="18288" bIns="18288"/>
                    <a:lstStyle/>
                    <a:p>
                      <a:r>
                        <a:rPr sz="540" b="0">
                          <a:solidFill>
                            <a:srgbClr val="21242A"/>
                          </a:solidFill>
                          <a:latin typeface="Microsoft YaHei"/>
                        </a:rPr>
                        <a:t>新诊断患者显著降低（更少的独有基因，受损的稳定性）</a:t>
                      </a:r>
                    </a:p>
                  </a:txBody>
                  <a:tcPr>
                    <a:solidFill>
                      <a:srgbClr val="F6F8FB"/>
                    </a:solidFill>
                  </a:tcPr>
                </a:tc>
              </a:tr>
              <a:tr h="299923">
                <a:tc>
                  <a:txBody>
                    <a:bodyPr wrap="square" lIns="36576" rIns="36576" tIns="18288" bIns="18288"/>
                    <a:lstStyle/>
                    <a:p>
                      <a:r>
                        <a:rPr sz="540" b="1">
                          <a:solidFill>
                            <a:srgbClr val="21242A"/>
                          </a:solidFill>
                          <a:latin typeface="Microsoft YaHei"/>
                        </a:rPr>
                        <a:t>核心菌群失调</a:t>
                      </a:r>
                    </a:p>
                  </a:txBody>
                  <a:tcPr>
                    <a:solidFill>
                      <a:srgbClr val="FFFFFF"/>
                    </a:solidFill>
                  </a:tcPr>
                </a:tc>
                <a:tc>
                  <a:txBody>
                    <a:bodyPr wrap="square" lIns="36576" rIns="36576" tIns="18288" bIns="18288"/>
                    <a:lstStyle/>
                    <a:p>
                      <a:r>
                        <a:rPr sz="540" b="0">
                          <a:solidFill>
                            <a:srgbClr val="21242A"/>
                          </a:solidFill>
                          <a:latin typeface="Microsoft YaHei"/>
                        </a:rPr>
                        <a:t>新诊断患者拟杆菌门相对丰度升高（46.3%），厚壁菌门及其衍生分类群减少（Clostridia, Clostridiales, Lachnospiraceae, Eubacteriaceae）</a:t>
                      </a:r>
                    </a:p>
                  </a:txBody>
                  <a:tcPr>
                    <a:solidFill>
                      <a:srgbClr val="FFFFFF"/>
                    </a:solidFill>
                  </a:tcPr>
                </a:tc>
              </a:tr>
              <a:tr h="299923">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有益产短链脂肪酸菌属（Blautia, Roseburia, Ruminococcus）减少，厚壁菌门/拟杆菌门比值降低——这些在完全缓解后恢复</a:t>
                      </a:r>
                    </a:p>
                  </a:txBody>
                  <a:tcPr>
                    <a:solidFill>
                      <a:srgbClr val="F6F8FB"/>
                    </a:solidFill>
                  </a:tcPr>
                </a:tc>
              </a:tr>
              <a:tr h="299924">
                <a:tc>
                  <a:txBody>
                    <a:bodyPr wrap="square" lIns="36576" rIns="36576" tIns="18288" bIns="18288"/>
                    <a:lstStyle/>
                    <a:p>
                      <a:r>
                        <a:rPr sz="540" b="1">
                          <a:solidFill>
                            <a:srgbClr val="21242A"/>
                          </a:solidFill>
                          <a:latin typeface="Microsoft YaHei"/>
                        </a:rPr>
                        <a:t>代谢通路</a:t>
                      </a:r>
                    </a:p>
                  </a:txBody>
                  <a:tcPr>
                    <a:solidFill>
                      <a:srgbClr val="FFFFFF"/>
                    </a:solidFill>
                  </a:tcPr>
                </a:tc>
                <a:tc>
                  <a:txBody>
                    <a:bodyPr wrap="square" lIns="36576" rIns="36576" tIns="18288" bIns="18288"/>
                    <a:lstStyle/>
                    <a:p>
                      <a:r>
                        <a:rPr sz="540" b="0">
                          <a:solidFill>
                            <a:srgbClr val="21242A"/>
                          </a:solidFill>
                          <a:latin typeface="Microsoft YaHei"/>
                        </a:rPr>
                        <a:t>新诊断患者中功能K06147（细菌ATP结合盒B亚家族）降低，功能K03088（RNA聚合酶sigma-70因子ECF亚家族）和K21572（淀粉结合外膜蛋白SusD/RagB家族）升高</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前瞻性研究：亚洲、欧洲和美国dlbcl患者静脉血栓栓塞风险模型分层的国际现实队列研究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predic-to study: an international, real-world cohort study of venous thro...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N=1504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回顾性临床研究结果：the predic-to study: an international, real-world coh...</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VTE发生率：14.6%（219/1504）</a:t>
            </a:r>
          </a:p>
          <a:p>
            <a:pPr>
              <a:lnSpc>
                <a:spcPct val="103000"/>
              </a:lnSpc>
              <a:spcAft>
                <a:spcPts val="300"/>
              </a:spcAft>
              <a:defRPr sz="800">
                <a:solidFill>
                  <a:srgbClr val="21242A"/>
                </a:solidFill>
                <a:latin typeface="Microsoft YaHei"/>
              </a:defRPr>
            </a:pPr>
            <a:r>
              <a:t>1年累积发病率：3.3%（95% CI 2.4-4.2）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人数：1504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登记号：NCT06694779</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研究主题：the predic-to study: an international, real-world cohort study of venous thromboembolism risk model stratification in d...</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前瞻性研究：亚洲、欧洲和美国dlbcl患者静脉血栓栓塞风险模型分层的国际现实队列研究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predic-to study: an international, real-world cohort study of venous thro...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0109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背景：静脉血栓栓塞 (VTE) 是弥漫性大 B 细胞淋巴瘤 (DLBCL) 发病和死亡的主要原因。开发了几种预测模型（Khorana、ThroLy 和 Model IX）来对血栓形成风险进行分层，但它们在 DLBCL 排除人群中的比较表现仍不清楚。</a:t>
            </a:r>
          </a:p>
          <a:p>
            <a:pPr>
              <a:lnSpc>
                <a:spcPct val="103000"/>
              </a:lnSpc>
              <a:spcAft>
                <a:spcPts val="300"/>
              </a:spcAft>
              <a:defRPr sz="550">
                <a:solidFill>
                  <a:srgbClr val="21242A"/>
                </a:solidFill>
                <a:latin typeface="Microsoft YaHei"/>
              </a:defRPr>
            </a:pPr>
            <a:r>
              <a:t>目的：在大型、真实世界的国际 DLBCL 队列中，比较评估 Khorana、ThroLy、Model IX 和 R-IPI 对于 VTE 发生和总生存 (OS) 的判别性能。</a:t>
            </a:r>
          </a:p>
          <a:p>
            <a:pPr>
              <a:lnSpc>
                <a:spcPct val="103000"/>
              </a:lnSpc>
              <a:spcAft>
                <a:spcPts val="300"/>
              </a:spcAft>
              <a:defRPr sz="550">
                <a:solidFill>
                  <a:srgbClr val="21242A"/>
                </a:solidFill>
                <a:latin typeface="Microsoft YaHei"/>
              </a:defRPr>
            </a:pPr>
            <a:r>
              <a:t>方法：我们回顾性分析了 2004 年至 2024 年间在两个欧洲、两个亚洲和一个美国中心诊断的 1,504 名连续 DLBCL 患者（临床试验 ID NCT06694779）。</a:t>
            </a:r>
          </a:p>
          <a:p>
            <a:pPr>
              <a:lnSpc>
                <a:spcPct val="103000"/>
              </a:lnSpc>
              <a:spcAft>
                <a:spcPts val="300"/>
              </a:spcAft>
              <a:defRPr sz="550">
                <a:solidFill>
                  <a:srgbClr val="21242A"/>
                </a:solidFill>
                <a:latin typeface="Microsoft YaHei"/>
              </a:defRPr>
            </a:pPr>
            <a:r>
              <a:t>VTE 被定义为诊断后发生的任何客观证实的深静脉血栓或肺栓塞。使用 Cox 回归和 Harrell 一致性指数 (c-index) 以及基于 bootstrap 的 95% 置信区间估计来评估模型性能。</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VTE 是 DLBCL 常见的早期并发症，与较差的生存率相关。模型 IX 显示了对 VTE 的最佳区分，并且在 OS 方面优于其他模型，支持其作为这种情况下信息最丰富的风险分层工具的作用。 * PC、CGP 和 IC 贡献相等</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结果：219/1504 名患者（14.6%）发生 VTE，1 年累积发生率为 3.3%（95% CI 2.4-4.2）。发生 VTE 的中位时间为 72 天，证实了血栓事件的早期聚集。</a:t>
            </a:r>
          </a:p>
          <a:p>
            <a:pPr>
              <a:lnSpc>
                <a:spcPct val="103000"/>
              </a:lnSpc>
              <a:spcAft>
                <a:spcPts val="300"/>
              </a:spcAft>
              <a:defRPr sz="560">
                <a:solidFill>
                  <a:srgbClr val="21242A"/>
                </a:solidFill>
                <a:latin typeface="Microsoft YaHei"/>
              </a:defRPr>
            </a:pPr>
            <a:r>
              <a:t>VTE 独立预测较差的 OS（38.5 个月与 172.3 个月）。在单变量分析中，血红蛋白 (hb) 水平、白细胞增多、低白蛋白血症、体重指数 (BMI) &gt; 30、体积大的疾病和深静脉受压与 VTE 风险增加显着相关 (p = 30 (96.6%)、hb 水平 (92.8%)、中性粒细胞计数 (77.9%</a:t>
            </a:r>
          </a:p>
          <a:p>
            <a:pPr>
              <a:lnSpc>
                <a:spcPct val="103000"/>
              </a:lnSpc>
              <a:spcAft>
                <a:spcPts val="300"/>
              </a:spcAft>
              <a:defRPr sz="560">
                <a:solidFill>
                  <a:srgbClr val="21242A"/>
                </a:solidFill>
                <a:latin typeface="Microsoft YaHei"/>
              </a:defRPr>
            </a:pPr>
            <a:r>
              <a:t>) 和 R-IPI (65.8%)，而较高的白蛋白水平显示出一致的保护性关联（96.1% 阴性选择）。这些结果表明，复合模型 IX 权重未完全捕获我们队列中的残留多维风险信息，模型 IX 再次表现出优异的性能（c 指数 0.67，95% CI 0.65-0.69），优于 ThroLy、R-IPI 和 Khor</a:t>
            </a:r>
          </a:p>
          <a:p>
            <a:pPr>
              <a:lnSpc>
                <a:spcPct val="103000"/>
              </a:lnSpc>
              <a:spcAft>
                <a:spcPts val="300"/>
              </a:spcAft>
              <a:defRPr sz="560">
                <a:solidFill>
                  <a:srgbClr val="21242A"/>
                </a:solidFill>
                <a:latin typeface="Microsoft YaHei"/>
              </a:defRPr>
            </a:pPr>
            <a:r>
              <a:t>ana。虽然 R-IPI 保留了很强的生存预后价值，但其对 VTE 的区分能力有限。相反，以 VTE 为导向的模型，尤其是模型 IX，捕获了与血栓形成风险和生存相关的预后信息，强调了疾病侵袭性和血栓形成倾向之间的部分生物学重叠。</a:t>
            </a:r>
          </a:p>
          <a:p>
            <a:pPr>
              <a:lnSpc>
                <a:spcPct val="103000"/>
              </a:lnSpc>
              <a:spcAft>
                <a:spcPts val="300"/>
              </a:spcAft>
              <a:defRPr sz="560">
                <a:solidFill>
                  <a:srgbClr val="21242A"/>
                </a:solidFill>
                <a:latin typeface="Microsoft YaHei"/>
              </a:defRPr>
            </a:pPr>
            <a:r>
              <a:t>模型 IX 显示了对 VTE 的最佳区分，并且在 OS 方面优于其他模型，支持其作为这种情况下信息最丰富的风险分层工具的作用。 * PC、CGP 和 IC 贡献相等</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polatuzumab vedotin联合利妥昔单抗、异环磷酰胺、卡铂、依托泊苷（pola-r-ice）与r-ice作...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polatuzumab vedotin plus rituximab, ifosfamide, carboplatin, etoposide (pola-...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弥漫性大B细胞淋巴瘤，原发纵隔大B细胞淋巴瘤</a:t>
            </a:r>
          </a:p>
          <a:p>
            <a:pPr>
              <a:lnSpc>
                <a:spcPct val="103000"/>
              </a:lnSpc>
              <a:spcAft>
                <a:spcPts val="300"/>
              </a:spcAft>
              <a:defRPr sz="800">
                <a:solidFill>
                  <a:srgbClr val="21242A"/>
                </a:solidFill>
                <a:latin typeface="Microsoft YaHei"/>
              </a:defRPr>
            </a:pPr>
            <a:r>
              <a:t>N=294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对照/比较：试验组：polatuzumab vedotin，rituximab，ifosfamide，carboplatin，...</a:t>
            </a:r>
          </a:p>
          <a:p>
            <a:pPr>
              <a:lnSpc>
                <a:spcPct val="103000"/>
              </a:lnSpc>
              <a:spcAft>
                <a:spcPts val="300"/>
              </a:spcAft>
              <a:defRPr sz="800">
                <a:solidFill>
                  <a:srgbClr val="21242A"/>
                </a:solidFill>
                <a:latin typeface="Microsoft YaHei"/>
              </a:defRPr>
            </a:pPr>
            <a:r>
              <a:t>对照组：rituximab，ifosfamide，carboplatin，etoposide</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2年EFS: 26% vs 30%, HR=1.0, p=0.901</a:t>
            </a:r>
          </a:p>
          <a:p>
            <a:pPr>
              <a:lnSpc>
                <a:spcPct val="103000"/>
              </a:lnSpc>
              <a:spcAft>
                <a:spcPts val="300"/>
              </a:spcAft>
              <a:defRPr sz="800">
                <a:solidFill>
                  <a:srgbClr val="21242A"/>
                </a:solidFill>
                <a:latin typeface="Microsoft YaHei"/>
              </a:defRPr>
            </a:pPr>
            <a:r>
              <a:t>2年PFS: 47% vs 41%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人数：294</a:t>
            </a:r>
          </a:p>
          <a:p>
            <a:pPr>
              <a:lnSpc>
                <a:spcPct val="103000"/>
              </a:lnSpc>
              <a:spcAft>
                <a:spcPts val="300"/>
              </a:spcAft>
              <a:defRPr sz="810">
                <a:solidFill>
                  <a:srgbClr val="21242A"/>
                </a:solidFill>
                <a:latin typeface="Microsoft YaHei"/>
              </a:defRPr>
            </a:pPr>
            <a:r>
              <a:t>适应症：弥漫性大B细胞淋巴瘤、原发纵隔大B细胞淋巴瘤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登记号：NCT04833114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polatuzumab vedotin联合利妥昔单抗、异环磷酰胺、卡铂、依托泊苷（pola-r-ice）与r-ice作...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polatuzumab vedotin plus rituximab, ifosfamide, carboplatin, etoposide (pola-...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S237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背景：R-ICE 是一线治疗后复发难治性 (r/r) LBCL 患者 (pts) 自体干细胞移植 (ASCT) 之前的标准诱导方案之一，在这种情况下也可用作 CAR T 细胞疗法 (CART) 之前的桥接疗法。然而，需要进一步改进诱导和桥接方案。</a:t>
            </a:r>
          </a:p>
          <a:p>
            <a:pPr>
              <a:lnSpc>
                <a:spcPct val="103000"/>
              </a:lnSpc>
              <a:spcAft>
                <a:spcPts val="300"/>
              </a:spcAft>
              <a:defRPr sz="550">
                <a:solidFill>
                  <a:srgbClr val="21242A"/>
                </a:solidFill>
                <a:latin typeface="Microsoft YaHei"/>
              </a:defRPr>
            </a:pPr>
            <a:r>
              <a:t>Polatuzumab vedotin 是一种 CD-79b 导向的抗体药物偶联物，已证明对 r/r LBCL 有效。 目的：这项开放标签、多国、随机 III 期临床研究比较了 polatuzumab vedotin 联合 R-ICE（Pola-R-ICE；E 组）与 R-ICE（S 组）的安全性和有效性。</a:t>
            </a:r>
          </a:p>
          <a:p>
            <a:pPr>
              <a:lnSpc>
                <a:spcPct val="103000"/>
              </a:lnSpc>
              <a:spcAft>
                <a:spcPts val="300"/>
              </a:spcAft>
              <a:defRPr sz="550">
                <a:solidFill>
                  <a:srgbClr val="21242A"/>
                </a:solidFill>
                <a:latin typeface="Microsoft YaHei"/>
              </a:defRPr>
            </a:pPr>
            <a:r>
              <a:t>方法：关键纳入标准是 LBCL 首次复发或进展的诊断、ECOG PS ≤ 2 和足够的器官功能。除了 SOC R-ICE 之外，E 组的患者在第 1 天还接受了 polatuzumab vedotin 1.8 mg/kg。根据临床研究之外的研究者的决定，患者接受 ASCT 或 CART 巩固治疗。主要终点是无事件生存期</a:t>
            </a:r>
          </a:p>
          <a:p>
            <a:pPr>
              <a:lnSpc>
                <a:spcPct val="103000"/>
              </a:lnSpc>
              <a:spcAft>
                <a:spcPts val="300"/>
              </a:spcAft>
              <a:defRPr sz="550">
                <a:solidFill>
                  <a:srgbClr val="21242A"/>
                </a:solidFill>
                <a:latin typeface="Microsoft YaHei"/>
              </a:defRPr>
            </a:pPr>
            <a:r>
              <a:t>（EFS）。关键的次要终点包括无进展生存期（PFS）和总生存期（OS）。拒绝零假设的阈值是风险比 (HR) 0.663，功效为 80%，α 5%（两侧）。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本研究未能发现应用 Pola-R-ICE 相对于 R-ICE 作为 LBCL 患者二线治疗的益处。然而，患有 DLBCL、复发性疾病（与原发性难治性疾病患者相比）和肿瘤负荷高（大块疾病、高 LDH）的患者在 ASCT 或 CART 巩固治疗之前给予 Pola-R-ICE 而不是 R-ICE 可能会在临床上受益。</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2年EFS</a:t>
                      </a:r>
                    </a:p>
                  </a:txBody>
                  <a:tcPr>
                    <a:solidFill>
                      <a:srgbClr val="F6F8FB"/>
                    </a:solidFill>
                  </a:tcPr>
                </a:tc>
                <a:tc>
                  <a:txBody>
                    <a:bodyPr wrap="square" lIns="36576" rIns="36576" tIns="18288" bIns="18288"/>
                    <a:lstStyle/>
                    <a:p>
                      <a:r>
                        <a:rPr sz="540" b="0">
                          <a:solidFill>
                            <a:srgbClr val="21242A"/>
                          </a:solidFill>
                          <a:latin typeface="Microsoft YaHei"/>
                        </a:rPr>
                        <a:t>26% vs 30%, HR=1.0, p=0.901</a:t>
                      </a:r>
                    </a:p>
                  </a:txBody>
                  <a:tcPr>
                    <a:solidFill>
                      <a:srgbClr val="F6F8FB"/>
                    </a:solidFill>
                  </a:tcPr>
                </a:tc>
              </a:tr>
              <a:tr h="214230">
                <a:tc>
                  <a:txBody>
                    <a:bodyPr wrap="square" lIns="36576" rIns="36576" tIns="18288" bIns="18288"/>
                    <a:lstStyle/>
                    <a:p>
                      <a:r>
                        <a:rPr sz="540" b="1">
                          <a:solidFill>
                            <a:srgbClr val="21242A"/>
                          </a:solidFill>
                          <a:latin typeface="Microsoft YaHei"/>
                        </a:rPr>
                        <a:t>2年PFS</a:t>
                      </a:r>
                    </a:p>
                  </a:txBody>
                  <a:tcPr>
                    <a:solidFill>
                      <a:srgbClr val="FFFFFF"/>
                    </a:solidFill>
                  </a:tcPr>
                </a:tc>
                <a:tc>
                  <a:txBody>
                    <a:bodyPr wrap="square" lIns="36576" rIns="36576" tIns="18288" bIns="18288"/>
                    <a:lstStyle/>
                    <a:p>
                      <a:r>
                        <a:rPr sz="540" b="0">
                          <a:solidFill>
                            <a:srgbClr val="21242A"/>
                          </a:solidFill>
                          <a:latin typeface="Microsoft YaHei"/>
                        </a:rPr>
                        <a:t>47% vs 41%</a:t>
                      </a:r>
                    </a:p>
                  </a:txBody>
                  <a:tcPr>
                    <a:solidFill>
                      <a:srgbClr val="FFFFFF"/>
                    </a:solidFill>
                  </a:tcPr>
                </a:tc>
              </a:tr>
              <a:tr h="214230">
                <a:tc>
                  <a:txBody>
                    <a:bodyPr wrap="square" lIns="36576" rIns="36576" tIns="18288" bIns="18288"/>
                    <a:lstStyle/>
                    <a:p>
                      <a:r>
                        <a:rPr sz="540" b="1">
                          <a:solidFill>
                            <a:srgbClr val="21242A"/>
                          </a:solidFill>
                          <a:latin typeface="Microsoft YaHei"/>
                        </a:rPr>
                        <a:t>2年OS</a:t>
                      </a:r>
                    </a:p>
                  </a:txBody>
                  <a:tcPr>
                    <a:solidFill>
                      <a:srgbClr val="F6F8FB"/>
                    </a:solidFill>
                  </a:tcPr>
                </a:tc>
                <a:tc>
                  <a:txBody>
                    <a:bodyPr wrap="square" lIns="36576" rIns="36576" tIns="18288" bIns="18288"/>
                    <a:lstStyle/>
                    <a:p>
                      <a:r>
                        <a:rPr sz="540" b="0">
                          <a:solidFill>
                            <a:srgbClr val="21242A"/>
                          </a:solidFill>
                          <a:latin typeface="Microsoft YaHei"/>
                        </a:rPr>
                        <a:t>75% vs 64%</a:t>
                      </a:r>
                    </a:p>
                  </a:txBody>
                  <a:tcPr>
                    <a:solidFill>
                      <a:srgbClr val="F6F8FB"/>
                    </a:solidFill>
                  </a:tcPr>
                </a:tc>
              </a:tr>
              <a:tr h="214230">
                <a:tc>
                  <a:txBody>
                    <a:bodyPr wrap="square" lIns="36576" rIns="36576" tIns="18288" bIns="18288"/>
                    <a:lstStyle/>
                    <a:p>
                      <a:r>
                        <a:rPr sz="540" b="1">
                          <a:solidFill>
                            <a:srgbClr val="21242A"/>
                          </a:solidFill>
                          <a:latin typeface="Microsoft YaHei"/>
                        </a:rPr>
                        <a:t>DLBCL亚组2年PFS</a:t>
                      </a:r>
                    </a:p>
                  </a:txBody>
                  <a:tcPr>
                    <a:solidFill>
                      <a:srgbClr val="FFFFFF"/>
                    </a:solidFill>
                  </a:tcPr>
                </a:tc>
                <a:tc>
                  <a:txBody>
                    <a:bodyPr wrap="square" lIns="36576" rIns="36576" tIns="18288" bIns="18288"/>
                    <a:lstStyle/>
                    <a:p>
                      <a:r>
                        <a:rPr sz="540" b="0">
                          <a:solidFill>
                            <a:srgbClr val="21242A"/>
                          </a:solidFill>
                          <a:latin typeface="Microsoft YaHei"/>
                        </a:rPr>
                        <a:t>52% vs 42%, p=0.040</a:t>
                      </a:r>
                    </a:p>
                  </a:txBody>
                  <a:tcPr>
                    <a:solidFill>
                      <a:srgbClr val="FFFFFF"/>
                    </a:solidFill>
                  </a:tcPr>
                </a:tc>
              </a:tr>
              <a:tr h="214230">
                <a:tc>
                  <a:txBody>
                    <a:bodyPr wrap="square" lIns="36576" rIns="36576" tIns="18288" bIns="18288"/>
                    <a:lstStyle/>
                    <a:p>
                      <a:r>
                        <a:rPr sz="540" b="1">
                          <a:solidFill>
                            <a:srgbClr val="21242A"/>
                          </a:solidFill>
                          <a:latin typeface="Microsoft YaHei"/>
                        </a:rPr>
                        <a:t>DLBCL亚组2年OS</a:t>
                      </a:r>
                    </a:p>
                  </a:txBody>
                  <a:tcPr>
                    <a:solidFill>
                      <a:srgbClr val="F6F8FB"/>
                    </a:solidFill>
                  </a:tcPr>
                </a:tc>
                <a:tc>
                  <a:txBody>
                    <a:bodyPr wrap="square" lIns="36576" rIns="36576" tIns="18288" bIns="18288"/>
                    <a:lstStyle/>
                    <a:p>
                      <a:r>
                        <a:rPr sz="540" b="0">
                          <a:solidFill>
                            <a:srgbClr val="21242A"/>
                          </a:solidFill>
                          <a:latin typeface="Microsoft YaHei"/>
                        </a:rPr>
                        <a:t>77% vs 61%, p=0.033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其余7条结果见HTML完整清单及EHA原文。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摘要号：S237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epcoritamab单药治疗持续缓解4年以上：复发或难治性大b细胞淋巴瘤患者关键epcore nhl-1试验的长期随...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sustained remissions beyond 4 years with epcoritamab monotherapy: long-term 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5491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原发纵隔大B细胞淋巴瘤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总缓解率（ORR）：59%（92/157）</a:t>
            </a:r>
          </a:p>
          <a:p>
            <a:pPr>
              <a:lnSpc>
                <a:spcPct val="103000"/>
              </a:lnSpc>
              <a:spcAft>
                <a:spcPts val="300"/>
              </a:spcAft>
              <a:defRPr sz="800">
                <a:solidFill>
                  <a:srgbClr val="21242A"/>
                </a:solidFill>
                <a:latin typeface="Microsoft YaHei"/>
              </a:defRPr>
            </a:pPr>
            <a:r>
              <a:t>完全缓解率（CR）：41%（65/157）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人数：157</a:t>
            </a:r>
          </a:p>
          <a:p>
            <a:pPr>
              <a:lnSpc>
                <a:spcPct val="103000"/>
              </a:lnSpc>
              <a:spcAft>
                <a:spcPts val="300"/>
              </a:spcAft>
              <a:defRPr sz="810">
                <a:solidFill>
                  <a:srgbClr val="21242A"/>
                </a:solidFill>
                <a:latin typeface="Microsoft YaHei"/>
              </a:defRPr>
            </a:pPr>
            <a:r>
              <a:t>适应症：弥漫性大B细胞淋巴瘤、原发纵隔大B细胞淋巴瘤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登记号：NCT03625037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epcoritamab单药治疗持续缓解4年以上：复发或难治性大b细胞淋巴瘤患者关键epcore nhl-1试验的长期随...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sustained remissions beyond 4 years with epcoritamab monotherapy: long-term 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5491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背景：R/R LBCL 的治疗具有挑战性；对于处于三线或更高级别（3L+）的 LBCL 患者 (pts)，仍然需要更有效的治疗 (tx) 选择。</a:t>
            </a:r>
          </a:p>
          <a:p>
            <a:pPr>
              <a:lnSpc>
                <a:spcPct val="103000"/>
              </a:lnSpc>
              <a:spcAft>
                <a:spcPts val="300"/>
              </a:spcAft>
              <a:defRPr sz="550">
                <a:solidFill>
                  <a:srgbClr val="21242A"/>
                </a:solidFill>
                <a:latin typeface="Microsoft YaHei"/>
              </a:defRPr>
            </a:pPr>
            <a:r>
              <a:t>Epcoritamab (epcor) 是一种皮下 (SC) CD3×CD20 双特异性抗体，根据关键 2 期 EPCORE ® NHL-1 试验 (NCT03625037) 的结果，被批准用于接受 ≥ 2 线全身治疗后患有 R/R LBCL 或 R/R FL 的成人患者的治疗，其中 epcor 单一疗法在患有以下疾病</a:t>
            </a:r>
          </a:p>
          <a:p>
            <a:pPr>
              <a:lnSpc>
                <a:spcPct val="103000"/>
              </a:lnSpc>
              <a:spcAft>
                <a:spcPts val="300"/>
              </a:spcAft>
              <a:defRPr sz="550">
                <a:solidFill>
                  <a:srgbClr val="21242A"/>
                </a:solidFill>
                <a:latin typeface="Microsoft YaHei"/>
              </a:defRPr>
            </a:pPr>
            <a:r>
              <a:t>的患者中带来了高 CR 率和深度、持久的反应，且安全性可控。</a:t>
            </a:r>
          </a:p>
          <a:p>
            <a:pPr>
              <a:lnSpc>
                <a:spcPct val="103000"/>
              </a:lnSpc>
              <a:spcAft>
                <a:spcPts val="300"/>
              </a:spcAft>
              <a:defRPr sz="550">
                <a:solidFill>
                  <a:srgbClr val="21242A"/>
                </a:solidFill>
                <a:latin typeface="Microsoft YaHei"/>
              </a:defRPr>
            </a:pPr>
            <a:r>
              <a:t>R/R LBCL。之前已报道过关键结果（Vose JM 等人，Blood 2024；144[Suppl 1]：4480）。 目标：在这里，我们报告更新的数据，并进行超过 4 年的长期跟踪。</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经过 4 年多的随访，epcor 单一疗法继续显示出深度和持久的缓解。在超过 4 年的中位随访时间后，所有完全缓解者中近一半 (42%) 仍处于缓解状态，57% 仍存活，这表明 epcor 在难治性 LBCL 人群中具有长期无病生存的潜力。一致的安全性和延长的生存益处凸显了 epcor 作为 3L+ LBCL 治疗环境</a:t>
            </a:r>
          </a:p>
          <a:p>
            <a:pPr>
              <a:lnSpc>
                <a:spcPct val="103000"/>
              </a:lnSpc>
              <a:spcAft>
                <a:spcPts val="300"/>
              </a:spcAft>
              <a:defRPr sz="570">
                <a:solidFill>
                  <a:srgbClr val="21242A"/>
                </a:solidFill>
                <a:latin typeface="Microsoft YaHei"/>
              </a:defRPr>
            </a:pPr>
            <a:r>
              <a:t>中一种有利的免化疗且易于使用的治疗选择。</a:t>
            </a:r>
          </a:p>
          <a:p>
            <a:pPr>
              <a:lnSpc>
                <a:spcPct val="103000"/>
              </a:lnSpc>
              <a:spcAft>
                <a:spcPts val="300"/>
              </a:spcAft>
              <a:defRPr sz="570">
                <a:solidFill>
                  <a:srgbClr val="21242A"/>
                </a:solidFill>
                <a:latin typeface="Microsoft YaHei"/>
              </a:defRPr>
            </a:pPr>
            <a:r>
              <a:t>© 美国血液学会 (2025)。经许可重复使用。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59%（92/157）</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41%（65/157）</a:t>
                      </a:r>
                    </a:p>
                  </a:txBody>
                  <a:tcPr>
                    <a:solidFill>
                      <a:srgbClr val="FFFFFF"/>
                    </a:solidFill>
                  </a:tcPr>
                </a:tc>
              </a:tr>
              <a:tr h="214230">
                <a:tc>
                  <a:txBody>
                    <a:bodyPr wrap="square" lIns="36576" rIns="36576" tIns="18288" bIns="18288"/>
                    <a:lstStyle/>
                    <a:p>
                      <a:r>
                        <a:rPr sz="540" b="1">
                          <a:solidFill>
                            <a:srgbClr val="21242A"/>
                          </a:solidFill>
                          <a:latin typeface="Microsoft YaHei"/>
                        </a:rPr>
                        <a:t>中位完全缓解持续时间</a:t>
                      </a:r>
                    </a:p>
                  </a:txBody>
                  <a:tcPr>
                    <a:solidFill>
                      <a:srgbClr val="F6F8FB"/>
                    </a:solidFill>
                  </a:tcPr>
                </a:tc>
                <a:tc>
                  <a:txBody>
                    <a:bodyPr wrap="square" lIns="36576" rIns="36576" tIns="18288" bIns="18288"/>
                    <a:lstStyle/>
                    <a:p>
                      <a:r>
                        <a:rPr sz="540" b="0">
                          <a:solidFill>
                            <a:srgbClr val="21242A"/>
                          </a:solidFill>
                          <a:latin typeface="Microsoft YaHei"/>
                        </a:rPr>
                        <a:t>37.7个月（95% CI 25.1-NR）</a:t>
                      </a:r>
                    </a:p>
                  </a:txBody>
                  <a:tcPr>
                    <a:solidFill>
                      <a:srgbClr val="F6F8FB"/>
                    </a:solidFill>
                  </a:tcPr>
                </a:tc>
              </a:tr>
              <a:tr h="214230">
                <a:tc>
                  <a:txBody>
                    <a:bodyPr wrap="square" lIns="36576" rIns="36576" tIns="18288" bIns="18288"/>
                    <a:lstStyle/>
                    <a:p>
                      <a:r>
                        <a:rPr sz="540" b="1">
                          <a:solidFill>
                            <a:srgbClr val="21242A"/>
                          </a:solidFill>
                          <a:latin typeface="Microsoft YaHei"/>
                        </a:rPr>
                        <a:t>最长持续完全缓解</a:t>
                      </a:r>
                    </a:p>
                  </a:txBody>
                  <a:tcPr>
                    <a:solidFill>
                      <a:srgbClr val="FFFFFF"/>
                    </a:solidFill>
                  </a:tcPr>
                </a:tc>
                <a:tc>
                  <a:txBody>
                    <a:bodyPr wrap="square" lIns="36576" rIns="36576" tIns="18288" bIns="18288"/>
                    <a:lstStyle/>
                    <a:p>
                      <a:r>
                        <a:rPr sz="540" b="0">
                          <a:solidFill>
                            <a:srgbClr val="21242A"/>
                          </a:solidFill>
                          <a:latin typeface="Microsoft YaHei"/>
                        </a:rPr>
                        <a:t>54.5个月</a:t>
                      </a:r>
                    </a:p>
                  </a:txBody>
                  <a:tcPr>
                    <a:solidFill>
                      <a:srgbClr val="FFFFFF"/>
                    </a:solidFill>
                  </a:tcPr>
                </a:tc>
              </a:tr>
              <a:tr h="214230">
                <a:tc>
                  <a:txBody>
                    <a:bodyPr wrap="square" lIns="36576" rIns="36576" tIns="18288" bIns="18288"/>
                    <a:lstStyle/>
                    <a:p>
                      <a:r>
                        <a:rPr sz="540" b="1">
                          <a:solidFill>
                            <a:srgbClr val="21242A"/>
                          </a:solidFill>
                          <a:latin typeface="Microsoft YaHei"/>
                        </a:rPr>
                        <a:t>中位总生存期（OS）</a:t>
                      </a:r>
                    </a:p>
                  </a:txBody>
                  <a:tcPr>
                    <a:solidFill>
                      <a:srgbClr val="F6F8FB"/>
                    </a:solidFill>
                  </a:tcPr>
                </a:tc>
                <a:tc>
                  <a:txBody>
                    <a:bodyPr wrap="square" lIns="36576" rIns="36576" tIns="18288" bIns="18288"/>
                    <a:lstStyle/>
                    <a:p>
                      <a:r>
                        <a:rPr sz="540" b="0">
                          <a:solidFill>
                            <a:srgbClr val="21242A"/>
                          </a:solidFill>
                          <a:latin typeface="Microsoft YaHei"/>
                        </a:rPr>
                        <a:t>18.5个月（95% CI 11.7-27.7）</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双靶向cd19/cd20 car t细胞候选产物rondecabtagene自溶素治疗大b细胞淋巴瘤患者的低级别crs...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low-grade crs and icans with rondecabtagene autoleucel, a dual-targeting cd19...</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弥漫性大B细胞淋巴瘤，原发纵隔大B细胞淋巴瘤，大B细胞淋巴瘤</a:t>
            </a:r>
          </a:p>
          <a:p>
            <a:pPr>
              <a:lnSpc>
                <a:spcPct val="103000"/>
              </a:lnSpc>
              <a:spcAft>
                <a:spcPts val="300"/>
              </a:spcAft>
              <a:defRPr sz="800">
                <a:solidFill>
                  <a:srgbClr val="21242A"/>
                </a:solidFill>
                <a:latin typeface="Microsoft YaHei"/>
              </a:defRPr>
            </a:pPr>
            <a:r>
              <a:t>原发纵隔大B细胞淋巴瘤，弥漫性大B细胞淋巴瘤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试验药/方案：朗迪卡基奥仑赛</a:t>
            </a:r>
          </a:p>
          <a:p>
            <a:pPr>
              <a:lnSpc>
                <a:spcPct val="103000"/>
              </a:lnSpc>
              <a:spcAft>
                <a:spcPts val="300"/>
              </a:spcAft>
              <a:defRPr sz="800">
                <a:solidFill>
                  <a:srgbClr val="21242A"/>
                </a:solidFill>
                <a:latin typeface="Microsoft YaHei"/>
              </a:defRPr>
            </a:pPr>
            <a:r>
              <a:t>靶点：CD19，CD20</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CRS 1-2级发生率60%（1级36%，2级24%），无≥3级</a:t>
            </a:r>
          </a:p>
          <a:p>
            <a:pPr>
              <a:lnSpc>
                <a:spcPct val="103000"/>
              </a:lnSpc>
              <a:spcAft>
                <a:spcPts val="300"/>
              </a:spcAft>
              <a:defRPr sz="800">
                <a:solidFill>
                  <a:srgbClr val="21242A"/>
                </a:solidFill>
                <a:latin typeface="Microsoft YaHei"/>
              </a:defRPr>
            </a:pPr>
            <a:r>
              <a:t>CRS中位起病时间5天，中位缓解时间3天</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人数：84</a:t>
            </a:r>
          </a:p>
          <a:p>
            <a:pPr>
              <a:lnSpc>
                <a:spcPct val="103000"/>
              </a:lnSpc>
              <a:spcAft>
                <a:spcPts val="300"/>
              </a:spcAft>
              <a:defRPr sz="810">
                <a:solidFill>
                  <a:srgbClr val="21242A"/>
                </a:solidFill>
                <a:latin typeface="Microsoft YaHei"/>
              </a:defRPr>
            </a:pPr>
            <a:r>
              <a:t>适应症：弥漫性大B细胞淋巴瘤、原发纵隔大B细胞淋巴瘤、大B细胞淋巴瘤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登记号：NCT05826535</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试验药/方案：朗迪卡基奥仑赛</a:t>
            </a:r>
          </a:p>
          <a:p>
            <a:pPr>
              <a:lnSpc>
                <a:spcPct val="103000"/>
              </a:lnSpc>
              <a:spcAft>
                <a:spcPts val="300"/>
              </a:spcAft>
              <a:defRPr sz="810">
                <a:solidFill>
                  <a:srgbClr val="21242A"/>
                </a:solidFill>
                <a:latin typeface="Microsoft YaHei"/>
              </a:defRPr>
            </a:pPr>
            <a:r>
              <a:t>靶点：CD19、CD20</a:t>
            </a:r>
          </a:p>
          <a:p>
            <a:pPr>
              <a:lnSpc>
                <a:spcPct val="103000"/>
              </a:lnSpc>
              <a:spcAft>
                <a:spcPts val="300"/>
              </a:spcAft>
              <a:defRPr sz="810">
                <a:solidFill>
                  <a:srgbClr val="21242A"/>
                </a:solidFill>
                <a:latin typeface="Microsoft YaHei"/>
              </a:defRPr>
            </a:pPr>
            <a:r>
              <a:t>药物/技术类别：CAR-T、自体细胞、经基因修饰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双靶向cd19/cd20 car t细胞候选产物rondecabtagene自溶素治疗大b细胞淋巴瘤患者的低级别crs...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low-grade crs and icans with rondecabtagene autoleucel, a dual-targeting cd19...</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背景：单抗原 CD19 靶向嵌合抗原受体 (CAR) T 细胞疗法是复发或难治性 (R/R) 大 B 细胞淋巴瘤 (LBCL) 患者常规护理的一部分，但仍有机会改善预后。新兴的双靶向 CD19/CD20 CAR T 细胞候选产品代表了解决抗原逃逸和提高反应持久性的下一代方法。</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Ronde-cel 继续表现出一致且易于管理的安全性，且 CAR T 细胞相关毒性发生率较低。未观察到 ≥ 3 级 CRS，并且</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CRS 1-2级发生率60%（1级36%，2级24%），无≥3级；CRS中位起病时间5天，中位缓解时间3天；托珠单抗使用率35%；ICANS 1-2级发生率11%（1级8%，2级2%）；≥3级ICANS在地塞米松预防组3% vs 未预防组13%；ICANS中位起病时间7天（预防组），中位缓解时间3天；≥3级感</a:t>
            </a:r>
          </a:p>
          <a:p>
            <a:pPr>
              <a:lnSpc>
                <a:spcPct val="103000"/>
              </a:lnSpc>
              <a:spcAft>
                <a:spcPts val="300"/>
              </a:spcAft>
              <a:defRPr sz="560">
                <a:solidFill>
                  <a:srgbClr val="21242A"/>
                </a:solidFill>
                <a:latin typeface="Microsoft YaHei"/>
              </a:defRPr>
            </a:pPr>
            <a:r>
              <a:t>染发生率10%；持续血细胞减少（≥3级且第28天未恢复）23%；无归因于ronde-cel的死亡</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ctdna引导下axi-cel早期二次输注治疗复发/难治性大b细胞淋巴瘤的前瞻性单臂临床研究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prospective, single-arm clinical study of ctdna-guided early second infusio...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5491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弥漫性大B细胞淋巴瘤，原发纵隔大B细胞淋巴瘤</a:t>
            </a:r>
          </a:p>
          <a:p>
            <a:pPr>
              <a:lnSpc>
                <a:spcPct val="103000"/>
              </a:lnSpc>
              <a:spcAft>
                <a:spcPts val="300"/>
              </a:spcAft>
              <a:defRPr sz="800">
                <a:solidFill>
                  <a:srgbClr val="21242A"/>
                </a:solidFill>
                <a:latin typeface="Microsoft YaHei"/>
              </a:defRPr>
            </a:pPr>
            <a:r>
              <a:t>N=7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疗效：在第二次输注前CR但ctDNA阳性的4例患者中，2例在输注后1个月达到ctDNA阴性CR并保持缓解（396天和257天）...</a:t>
            </a:r>
          </a:p>
          <a:p>
            <a:pPr>
              <a:lnSpc>
                <a:spcPct val="103000"/>
              </a:lnSpc>
              <a:spcAft>
                <a:spcPts val="300"/>
              </a:spcAft>
              <a:defRPr sz="800">
                <a:solidFill>
                  <a:srgbClr val="21242A"/>
                </a:solidFill>
                <a:latin typeface="Microsoft YaHei"/>
              </a:defRPr>
            </a:pPr>
            <a:r>
              <a:t>在第二次输注前PR的3例患者中，1例ctDNA阴性PR维持1个月（3个月评估待定），2例ctDNA阳性PR早期疾病进展。</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人数：7</a:t>
            </a:r>
          </a:p>
          <a:p>
            <a:pPr>
              <a:lnSpc>
                <a:spcPct val="103000"/>
              </a:lnSpc>
              <a:spcAft>
                <a:spcPts val="300"/>
              </a:spcAft>
              <a:defRPr sz="810">
                <a:solidFill>
                  <a:srgbClr val="21242A"/>
                </a:solidFill>
                <a:latin typeface="Microsoft YaHei"/>
              </a:defRPr>
            </a:pPr>
            <a:r>
              <a:t>适应症：弥漫性大B细胞淋巴瘤、原发纵隔大B细胞淋巴瘤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登记号：NCT06902012</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ctdna引导下axi-cel早期二次输注治疗复发/难治性大b细胞淋巴瘤的前瞻性单臂临床研究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prospective, single-arm clinical study of ctdna-guided early second infusio...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5491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背景：CD19 嵌合抗原受体 T 细胞 (CAR-T) 疗法显着改善了复发或难治性大 B 细胞淋巴瘤 (R/R LBCL) 的预后。然而，首次输注后未能尽早实现深度缓解的患者面临持续较高的复发风险。历史数据表明，在复发或进展后进行第二次 CAR-T 输注通常会产生较差的挽救结果。因此，探索先发性巩固干预措施代表了一个未</a:t>
            </a:r>
          </a:p>
          <a:p>
            <a:pPr>
              <a:lnSpc>
                <a:spcPct val="103000"/>
              </a:lnSpc>
              <a:spcAft>
                <a:spcPts val="300"/>
              </a:spcAft>
              <a:defRPr sz="550">
                <a:solidFill>
                  <a:srgbClr val="21242A"/>
                </a:solidFill>
                <a:latin typeface="Microsoft YaHei"/>
              </a:defRPr>
            </a:pPr>
            <a:r>
              <a:t>满足的关键临床需求。</a:t>
            </a:r>
          </a:p>
          <a:p>
            <a:pPr>
              <a:lnSpc>
                <a:spcPct val="103000"/>
              </a:lnSpc>
              <a:spcAft>
                <a:spcPts val="300"/>
              </a:spcAft>
              <a:defRPr sz="550">
                <a:solidFill>
                  <a:srgbClr val="21242A"/>
                </a:solidFill>
                <a:latin typeface="Microsoft YaHei"/>
              </a:defRPr>
            </a:pPr>
            <a:r>
              <a:t>目的：评估早期第二次 CD19 CAR-T 细胞输注作为巩固治疗的有效性、安全性和细胞动力学，用于治疗表现出初步缓解但在第一次输注后早期未能实现深度缓解的 R/R LBCL 患者。</a:t>
            </a:r>
          </a:p>
          <a:p>
            <a:pPr>
              <a:lnSpc>
                <a:spcPct val="103000"/>
              </a:lnSpc>
              <a:spcAft>
                <a:spcPts val="300"/>
              </a:spcAft>
              <a:defRPr sz="550">
                <a:solidFill>
                  <a:srgbClr val="21242A"/>
                </a:solidFill>
                <a:latin typeface="Microsoft YaHei"/>
              </a:defRPr>
            </a:pPr>
            <a:r>
              <a:t>方法：在这项前瞻性、单中心、单臂临床试验中，首次 Axicabtagene Ciloleucel（Axi-cel，2 × 10⁶ 细胞/kg）输注后 60 天内通过 PET-CT 达到 PR 或 ctDNA 阳性 CR 的成人 R/R LBCL 患者有资格接受早期第二次 axi-cel 输注。在第一次输注后30至90天</a:t>
            </a:r>
          </a:p>
          <a:p>
            <a:pPr>
              <a:lnSpc>
                <a:spcPct val="103000"/>
              </a:lnSpc>
              <a:spcAft>
                <a:spcPts val="300"/>
              </a:spcAft>
              <a:defRPr sz="550">
                <a:solidFill>
                  <a:srgbClr val="21242A"/>
                </a:solidFill>
                <a:latin typeface="Microsoft YaHei"/>
              </a:defRPr>
            </a:pPr>
            <a:r>
              <a:t>内，以2×106细胞/kg的剂量进行第二次axi-cel输注。</a:t>
            </a:r>
          </a:p>
          <a:p>
            <a:pPr>
              <a:lnSpc>
                <a:spcPct val="103000"/>
              </a:lnSpc>
              <a:spcAft>
                <a:spcPts val="300"/>
              </a:spcAft>
              <a:defRPr sz="550">
                <a:solidFill>
                  <a:srgbClr val="21242A"/>
                </a:solidFill>
                <a:latin typeface="Microsoft YaHei"/>
              </a:defRPr>
            </a:pPr>
            <a:r>
              <a:t>FC调理方案也在第二次输注之前进行。该研究已在 ClinicalTrial.gov 上注册 (NCT06902012)。</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早期第二次输注 CD19 CAR-T 细胞是可行的，并且表现出非常有利的安全性，无需高级 CRS 或 ICANS，同时还证明了可靠的体内 CAR-T 细胞扩增。以最小肿瘤负荷进行 ctDNA 引导的早期干预对于成功进行第二次 CAR-T 输注至关重要。正在进行的注册将验证这些结果。</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疗效：在第二次输注前CR但ctDNA阳性的4例患者中，2例在输注后1个月达到ctDNA阴性CR并保持缓解（396天和257天），2例维持CR但ctDNA仍阳性（3个月评估待定）。在第二次输注前PR的3例患者中，1例ctDNA阴性PR维持1个月（3个月评估待定），2例ctDNA阳性PR早期疾病进展。中位随访93</a:t>
            </a:r>
          </a:p>
          <a:p>
            <a:pPr>
              <a:lnSpc>
                <a:spcPct val="103000"/>
              </a:lnSpc>
              <a:spcAft>
                <a:spcPts val="300"/>
              </a:spcAft>
              <a:defRPr sz="560">
                <a:solidFill>
                  <a:srgbClr val="21242A"/>
                </a:solidFill>
                <a:latin typeface="Microsoft YaHei"/>
              </a:defRPr>
            </a:pPr>
            <a:r>
              <a:t>天，中位OS和中位PFS未达到。安全性：CRS发生3例（42.8%），均为1级；无ICANS；常见血液学不良事件为4级中性粒细胞减少（6/7, 85.7%）和3-4级血小板减少（3/7, 42.9%）；无治疗相关死亡或SAE。</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摘要号：PF1248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rondecabtagene autoleucel（双靶向cd19/cd20 car t细胞）的持久反应与输注产品中具...</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durable responses with rondecabtagene autoleucel (dual-targeting cd19/cd20 ca...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PF1097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弥漫性大B细胞淋巴瘤，原发纵隔大B细胞淋巴瘤，大B细胞淋巴瘤</a:t>
            </a:r>
          </a:p>
          <a:p>
            <a:pPr>
              <a:lnSpc>
                <a:spcPct val="103000"/>
              </a:lnSpc>
              <a:spcAft>
                <a:spcPts val="300"/>
              </a:spcAft>
              <a:defRPr sz="800">
                <a:solidFill>
                  <a:srgbClr val="21242A"/>
                </a:solidFill>
                <a:latin typeface="Microsoft YaHei"/>
              </a:defRPr>
            </a:pPr>
            <a:r>
              <a:t>原发纵隔大B细胞淋巴瘤，弥漫性大B细胞淋巴瘤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试验药/方案：朗迪卡基奥仑赛</a:t>
            </a:r>
          </a:p>
          <a:p>
            <a:pPr>
              <a:lnSpc>
                <a:spcPct val="103000"/>
              </a:lnSpc>
              <a:spcAft>
                <a:spcPts val="300"/>
              </a:spcAft>
              <a:defRPr sz="800">
                <a:solidFill>
                  <a:srgbClr val="21242A"/>
                </a:solidFill>
                <a:latin typeface="Microsoft YaHei"/>
              </a:defRPr>
            </a:pPr>
            <a:r>
              <a:t>靶点：CD19，CD20</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在CD8+CAR+细胞中，ronde-cel产品与已批准的CD19 CAR-T细胞疗法相比，记忆相关基因（CD62L, IL7...</a:t>
            </a:r>
          </a:p>
          <a:p>
            <a:pPr>
              <a:lnSpc>
                <a:spcPct val="103000"/>
              </a:lnSpc>
              <a:spcAft>
                <a:spcPts val="300"/>
              </a:spcAft>
              <a:defRPr sz="800">
                <a:solidFill>
                  <a:srgbClr val="21242A"/>
                </a:solidFill>
                <a:latin typeface="Microsoft YaHei"/>
              </a:defRPr>
            </a:pPr>
            <a:r>
              <a:t>在细胞毒性T细胞（Tcmp）中，ronde-cel产品中记忆标志物（LEF1, IL7R, BACH2）表达更高。</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人数：42</a:t>
            </a:r>
          </a:p>
          <a:p>
            <a:pPr>
              <a:lnSpc>
                <a:spcPct val="103000"/>
              </a:lnSpc>
              <a:spcAft>
                <a:spcPts val="300"/>
              </a:spcAft>
              <a:defRPr sz="810">
                <a:solidFill>
                  <a:srgbClr val="21242A"/>
                </a:solidFill>
                <a:latin typeface="Microsoft YaHei"/>
              </a:defRPr>
            </a:pPr>
            <a:r>
              <a:t>适应症：弥漫性大B细胞淋巴瘤、原发纵隔大B细胞淋巴瘤、大B细胞淋巴瘤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登记号：NCT05826535</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试验药/方案：朗迪卡基奥仑赛</a:t>
            </a:r>
          </a:p>
          <a:p>
            <a:pPr>
              <a:lnSpc>
                <a:spcPct val="103000"/>
              </a:lnSpc>
              <a:spcAft>
                <a:spcPts val="300"/>
              </a:spcAft>
              <a:defRPr sz="810">
                <a:solidFill>
                  <a:srgbClr val="21242A"/>
                </a:solidFill>
                <a:latin typeface="Microsoft YaHei"/>
              </a:defRPr>
            </a:pPr>
            <a:r>
              <a:t>靶点：CD19、CD20</a:t>
            </a:r>
          </a:p>
          <a:p>
            <a:pPr>
              <a:lnSpc>
                <a:spcPct val="103000"/>
              </a:lnSpc>
              <a:spcAft>
                <a:spcPts val="300"/>
              </a:spcAft>
              <a:defRPr sz="810">
                <a:solidFill>
                  <a:srgbClr val="21242A"/>
                </a:solidFill>
                <a:latin typeface="Microsoft YaHei"/>
              </a:defRPr>
            </a:pPr>
            <a:r>
              <a:t>药物/技术类别：CAR-T、自体细胞、经基因修饰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rondecabtagene autoleucel（双靶向cd19/cd20 car t细胞）的持久反应与输注产品中具...</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durable responses with rondecabtagene autoleucel (dual-targeting cd19/cd20 ca...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PF1097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背景：实现持久完全缓解（CR）仍然是 CAR T 细胞治疗大 B 细胞淋巴瘤（LBCL）的关键目标。 CAR T 细胞产品中具有记忆表型的细胞比例较高，与较高的扩增和良好的结果相关（Deng 2020），而 CD62L 是记忆 T 细胞的既定标志物（Gattinoni 2017）。</a:t>
            </a:r>
          </a:p>
          <a:p>
            <a:pPr>
              <a:lnSpc>
                <a:spcPct val="103000"/>
              </a:lnSpc>
              <a:spcAft>
                <a:spcPts val="300"/>
              </a:spcAft>
              <a:defRPr sz="550">
                <a:solidFill>
                  <a:srgbClr val="21242A"/>
                </a:solidFill>
                <a:latin typeface="Microsoft YaHei"/>
              </a:defRPr>
            </a:pPr>
            <a:r>
              <a:t>Rondecabtagene autoleucel (ronde-cel) 是一种自体、双靶向 CD19/CD20 CAR T 细胞候选产品，由富含 CD62L 的细胞制造，该工艺旨在保留更高比例的具有记忆表型的细胞，并在不延长制造时间的情况下改善持久反应。</a:t>
            </a:r>
          </a:p>
          <a:p>
            <a:pPr>
              <a:lnSpc>
                <a:spcPct val="103000"/>
              </a:lnSpc>
              <a:spcAft>
                <a:spcPts val="300"/>
              </a:spcAft>
              <a:defRPr sz="550">
                <a:solidFill>
                  <a:srgbClr val="21242A"/>
                </a:solidFill>
                <a:latin typeface="Microsoft YaHei"/>
              </a:defRPr>
            </a:pPr>
            <a:r>
              <a:t>ronde-cel 在三线或后期 (3L+) 患者中进行的 1/2 期临床试验报告了高 CR 率 (76%) 和 18 个月的中位无进展生存期 (Larson 2025)。 目的：评估 ronde-cel 对 1/2 期试验中治疗的患者的反应持久性与 CD62L 富集赋予的 ronde-cel 产品特性之间的关联。</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与 FDA 批准的用于 LBCL 的 CD19 CAR T 细胞疗法相比，采用 CD62L 富集制造的 Ronde-cel 生产的输液产品具有更高的记忆相关基因表达。这种记忆潜力也存在于 ronde-cel 产品的细胞毒性细胞中，在输注后持续存在，并允许在输注后两个月发挥功能。</a:t>
            </a:r>
          </a:p>
          <a:p>
            <a:pPr>
              <a:lnSpc>
                <a:spcPct val="103000"/>
              </a:lnSpc>
              <a:spcAft>
                <a:spcPts val="300"/>
              </a:spcAft>
              <a:defRPr sz="570">
                <a:solidFill>
                  <a:srgbClr val="21242A"/>
                </a:solidFill>
                <a:latin typeface="Microsoft YaHei"/>
              </a:defRPr>
            </a:pPr>
            <a:r>
              <a:t>Tcmp 细胞比例较高的患者更有可能获得持久缓解（≥12 个月 CR）。这些发现支持 ronde-cel 的响应持久性与制造过程中 CD62L 富集之间存在关联的假设。</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1. 在CD8+CAR+细胞中，ronde-cel产品与已批准的CD19 CAR-T细胞疗法相比，记忆相关基因（CD62L, IL7R, LEF1）表达更高。</a:t>
                      </a:r>
                    </a:p>
                  </a:txBody>
                  <a:tcPr>
                    <a:solidFill>
                      <a:srgbClr val="F6F8FB"/>
                    </a:solidFill>
                  </a:tcPr>
                </a:tc>
              </a:tr>
              <a:tr h="299923">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2. 在细胞毒性T细胞（Tcmp）中，ronde-cel产品中记忆标志物（LEF1, IL7R, BACH2）表达更高。</a:t>
                      </a:r>
                    </a:p>
                  </a:txBody>
                  <a:tcPr>
                    <a:solidFill>
                      <a:srgbClr val="FFFFFF"/>
                    </a:solidFill>
                  </a:tcPr>
                </a:tc>
              </a:tr>
              <a:tr h="299923">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3. 记忆表型细胞在输注后第28天（中位数83%，N=10）和第56天（中位数73%，N=4）仍存在，并可增殖、分泌细胞因子和杀死肿瘤细胞。</a:t>
                      </a:r>
                    </a:p>
                  </a:txBody>
                  <a:tcPr>
                    <a:solidFill>
                      <a:srgbClr val="F6F8FB"/>
                    </a:solidFill>
                  </a:tcPr>
                </a:tc>
              </a:tr>
              <a:tr h="299924">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4. 持续完全缓解≥12个月的患者（N=8）在CD8+CAR+细胞中Tcmp比例中位数为23（IQR 10-28），而3个月内进展的患者（N=6）中位数为7（IQR 6-9），p=0.029。</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摘要号：PF1097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原发性纵隔b细胞淋巴瘤pts的现实世界管理和结果：来自法国realysa队列的见解。</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management and outcomes of pts with primary mediastinal b-cell lym...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PF1034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a:t>
            </a:r>
          </a:p>
          <a:p>
            <a:pPr>
              <a:lnSpc>
                <a:spcPct val="103000"/>
              </a:lnSpc>
              <a:spcAft>
                <a:spcPts val="300"/>
              </a:spcAft>
              <a:defRPr sz="800">
                <a:solidFill>
                  <a:srgbClr val="21242A"/>
                </a:solidFill>
                <a:latin typeface="Microsoft YaHei"/>
              </a:defRPr>
            </a:pPr>
            <a:r>
              <a:t>N=150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分组：R-ACVBP组：R-ACVBP</a:t>
            </a:r>
          </a:p>
          <a:p>
            <a:pPr>
              <a:lnSpc>
                <a:spcPct val="103000"/>
              </a:lnSpc>
              <a:spcAft>
                <a:spcPts val="300"/>
              </a:spcAft>
              <a:defRPr sz="800">
                <a:solidFill>
                  <a:srgbClr val="21242A"/>
                </a:solidFill>
                <a:latin typeface="Microsoft YaHei"/>
              </a:defRPr>
            </a:pPr>
            <a:r>
              <a:t>R-CHOP14组：R-CHOP14</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多组/多方案比较：R-ACVBP组：R-ACVBP</a:t>
            </a:r>
          </a:p>
          <a:p>
            <a:pPr>
              <a:lnSpc>
                <a:spcPct val="103000"/>
              </a:lnSpc>
              <a:spcAft>
                <a:spcPts val="300"/>
              </a:spcAft>
              <a:defRPr sz="800">
                <a:solidFill>
                  <a:srgbClr val="21242A"/>
                </a:solidFill>
                <a:latin typeface="Microsoft YaHei"/>
              </a:defRPr>
            </a:pPr>
            <a:r>
              <a:t>R-CHOP14组：R-CHOP14</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中位随访35.5个月，中位PFS和OS未达到。</a:t>
            </a:r>
          </a:p>
          <a:p>
            <a:pPr>
              <a:lnSpc>
                <a:spcPct val="103000"/>
              </a:lnSpc>
              <a:spcAft>
                <a:spcPts val="300"/>
              </a:spcAft>
              <a:defRPr sz="800">
                <a:solidFill>
                  <a:srgbClr val="21242A"/>
                </a:solidFill>
                <a:latin typeface="Microsoft YaHei"/>
              </a:defRPr>
            </a:pPr>
            <a:r>
              <a:t>估计3年PFS率87.7%（95% CI 81.1-92.1），3年OS率99.3%（95% CI 95.2-99.9）。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人数：150</a:t>
            </a:r>
          </a:p>
          <a:p>
            <a:pPr>
              <a:lnSpc>
                <a:spcPct val="103000"/>
              </a:lnSpc>
              <a:spcAft>
                <a:spcPts val="300"/>
              </a:spcAft>
              <a:defRPr sz="810">
                <a:solidFill>
                  <a:srgbClr val="21242A"/>
                </a:solidFill>
                <a:latin typeface="Microsoft YaHei"/>
              </a:defRPr>
            </a:pPr>
            <a:r>
              <a:t>适应症：原发纵隔大B细胞淋巴瘤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登记号：NCT03869619</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分组/治疗流程：R-ACVBP组：R-ACVBP、R-CHOP14组：R-CHOP14、R-CHOP21组：R-CHOP21</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原发性纵隔b细胞淋巴瘤pts的现实世界管理和结果：来自法国realysa队列的见解。</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management and outcomes of pts with primary mediastinal b-cell lym...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PF1034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79/187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背景：原发性纵隔 B 细胞淋巴瘤 (PMBL) 是一种罕见的侵袭性淋巴瘤亚型，通常影响年轻患者 (pt)。临床试验报告了一线免疫化疗后的良好结果；然而，这种情况下的预期真实世界数据仍然有限。</a:t>
            </a:r>
          </a:p>
          <a:p>
            <a:pPr>
              <a:lnSpc>
                <a:spcPct val="103000"/>
              </a:lnSpc>
              <a:spcAft>
                <a:spcPts val="300"/>
              </a:spcAft>
              <a:defRPr sz="550">
                <a:solidFill>
                  <a:srgbClr val="21242A"/>
                </a:solidFill>
                <a:latin typeface="Microsoft YaHei"/>
              </a:defRPr>
            </a:pPr>
            <a:r>
              <a:t>方法：真实世界淋巴瘤和成人生存数据 (REALYSA) 是一项前瞻性、多中心、非干预性队列研究，纳入了法国新诊断出的淋巴瘤患者。我们分析了 2018 年 11 月至 2023 年 8 月期间入组的 PMBL 人群。主要终点是无进展生存期 (PFS)。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在这个前瞻性的现实队列中，PMBL 患者取得了优异的生存结果。与 R-CHOP14 和 R-ACVBP 相比，R-CHOP21 与较差的 PFS 相关，且显示出相似的疗效，证实了剂量密集方案在常规实践中的相关性。 （REALYSA，NCT03869619）</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中位随访35.5个月，中位PFS和OS未达到。估计3年PFS率87.7%（95% CI 81.1-92.1），3年OS率99.3%（95% CI 95.2-99.9）。4周期后CR率：R-ACVBP 71.9%，R-CHOP14 55%，R-CHOP21 60%，R-EPOCH 66.7%。进展率：R-CHO</a:t>
            </a:r>
          </a:p>
          <a:p>
            <a:pPr>
              <a:lnSpc>
                <a:spcPct val="103000"/>
              </a:lnSpc>
              <a:spcAft>
                <a:spcPts val="300"/>
              </a:spcAft>
              <a:defRPr sz="560">
                <a:solidFill>
                  <a:srgbClr val="21242A"/>
                </a:solidFill>
                <a:latin typeface="Microsoft YaHei"/>
              </a:defRPr>
            </a:pPr>
            <a:r>
              <a:t>P21 25%，R-ACVBP 95.2%（此数据可能表述有误，原文为“the progression rate was 25% with R-CHOP21 (n=8) and, 95.2% (95% CI, 85.7–98.4) with R-ACVBP”，实际应为进展率或PFS率，按原文提取）。19例进展</a:t>
            </a:r>
          </a:p>
          <a:p>
            <a:pPr>
              <a:lnSpc>
                <a:spcPct val="103000"/>
              </a:lnSpc>
              <a:spcAft>
                <a:spcPts val="300"/>
              </a:spcAft>
              <a:defRPr sz="560">
                <a:solidFill>
                  <a:srgbClr val="21242A"/>
                </a:solidFill>
                <a:latin typeface="Microsoft YaHei"/>
              </a:defRPr>
            </a:pPr>
            <a:r>
              <a:t>（12.7%），中位进展时间6个月。</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摘要号：PF1034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62例原发性纵隔大b细胞淋巴瘤（pmlbcl）患者继发中枢神经系统（cns）受累的国际队列管理和结果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management and outcome of secondary central nervous system (cns) involvement...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PF1040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a:t>
            </a:r>
          </a:p>
          <a:p>
            <a:pPr>
              <a:lnSpc>
                <a:spcPct val="103000"/>
              </a:lnSpc>
              <a:spcAft>
                <a:spcPts val="300"/>
              </a:spcAft>
              <a:defRPr sz="800">
                <a:solidFill>
                  <a:srgbClr val="21242A"/>
                </a:solidFill>
                <a:latin typeface="Microsoft YaHei"/>
              </a:defRPr>
            </a:pPr>
            <a:r>
              <a:t>N=62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分组：试验组1：大剂量甲氨蝶呤（HD-MTX）为基础化疗后，有效者接受自体干细胞移植（ASCT）和/或全脑放疗（WBRT）</a:t>
            </a:r>
          </a:p>
          <a:p>
            <a:pPr>
              <a:lnSpc>
                <a:spcPct val="103000"/>
              </a:lnSpc>
              <a:spcAft>
                <a:spcPts val="300"/>
              </a:spcAft>
              <a:defRPr sz="800">
                <a:solidFill>
                  <a:srgbClr val="21242A"/>
                </a:solidFill>
                <a:latin typeface="Microsoft YaHei"/>
              </a:defRPr>
            </a:pPr>
            <a:r>
              <a:t>无效者接受脑部放疗或鞘内化疗（ITC）作为桥接，继以CAR-T细胞治疗或ASCT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多组/多方案比较：试验组1：大剂量甲氨蝶呤（HD-MTX）为基础化疗后，有效者接受自体干细胞移植（ASCT）和/或全脑放疗（W...</a:t>
            </a:r>
          </a:p>
          <a:p>
            <a:pPr>
              <a:lnSpc>
                <a:spcPct val="103000"/>
              </a:lnSpc>
              <a:spcAft>
                <a:spcPts val="300"/>
              </a:spcAft>
              <a:defRPr sz="800">
                <a:solidFill>
                  <a:srgbClr val="21242A"/>
                </a:solidFill>
                <a:latin typeface="Microsoft YaHei"/>
              </a:defRPr>
            </a:pPr>
            <a:r>
              <a:t>无效者接受脑部放疗或鞘内化疗（ITC）作为桥接，继以CAR-T细胞治疗或ASCT</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5年无进展生存率（PFS）为24%（95%CI=6-48），5年总生存率（OS）为51%（95%CI=45-57）||HD-M...</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人数：62</a:t>
            </a:r>
          </a:p>
          <a:p>
            <a:pPr>
              <a:lnSpc>
                <a:spcPct val="103000"/>
              </a:lnSpc>
              <a:spcAft>
                <a:spcPts val="300"/>
              </a:spcAft>
              <a:defRPr sz="810">
                <a:solidFill>
                  <a:srgbClr val="21242A"/>
                </a:solidFill>
                <a:latin typeface="Microsoft YaHei"/>
              </a:defRPr>
            </a:pPr>
            <a:r>
              <a:t>适应症：原发纵隔大B细胞淋巴瘤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登记号：NCT06024694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分组/治疗流程：试验组1：大剂量甲氨蝶呤（HD-MTX）为基础化疗后、有效者接受自体干细胞移植（ASCT）和/或全脑放疗（WBRT）；无效者接受脑部放疗或鞘内化疗（ITC）作为桥接、继以...</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62例原发性纵隔大b细胞淋巴瘤（pmlbcl）患者继发中枢神经系统（cns）受累的国际队列管理和结果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management and outcome of secondary central nervous system (cns) involvement...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PF1040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背景：PMLBCL 中枢神经系统受累很少见，且预后不良。现代中枢神经系统定向疗法，包括自体移植 (ASCT) 和抗 CD19 CAR T 细胞疗法 (CAR-T) 的临床特征、预后和疗效仍不清楚。 目的：为日常实践中中枢神经系统参与 PMLBCL 提供管理建议。</a:t>
            </a:r>
          </a:p>
          <a:p>
            <a:pPr>
              <a:lnSpc>
                <a:spcPct val="103000"/>
              </a:lnSpc>
              <a:spcAft>
                <a:spcPts val="300"/>
              </a:spcAft>
              <a:defRPr sz="550">
                <a:solidFill>
                  <a:srgbClr val="21242A"/>
                </a:solidFill>
                <a:latin typeface="Microsoft YaHei"/>
              </a:defRPr>
            </a:pPr>
            <a:r>
              <a:t>方法：分析了 2001 年至 2024 年间在 7 个国家的 27 个中心接受治疗的 PMLBCL 和中枢神经系统受累的诊断或复发患者的数据 (NCT06024694)。</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在迄今为止报道的最大系列中，早期 CNS 复发的 PMLBCL 患者在接受基于 HD-MTX 的化疗后进行 ASCT 和/或脑部照射治疗后实现了持久缓解。</a:t>
            </a:r>
          </a:p>
          <a:p>
            <a:pPr>
              <a:lnSpc>
                <a:spcPct val="103000"/>
              </a:lnSpc>
              <a:spcAft>
                <a:spcPts val="300"/>
              </a:spcAft>
              <a:defRPr sz="570">
                <a:solidFill>
                  <a:srgbClr val="21242A"/>
                </a:solidFill>
                <a:latin typeface="Microsoft YaHei"/>
              </a:defRPr>
            </a:pPr>
            <a:r>
              <a:t>CAR-T 在脑部照射或 ITC 作为桥接之前，即使在 HD-MTX 难治性患者中也能提供长期的疾病控制。相比之下，多发性 PMLBCL 晚期 CNS 受累的预后较差。</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5年无进展生存率（PFS）为24%（95%CI=6-48），5年总生存率（OS）为51%（95%CI=45-57）||HD-MTX-based化疗后ASCT/WBRT或桥接治疗组（n=30）5年OS为83%（95%CI=63-92）||2015-2024年治疗的患者OS优于早期（5年OS 67% vs 38%</a:t>
            </a:r>
          </a:p>
          <a:p>
            <a:pPr>
              <a:lnSpc>
                <a:spcPct val="103000"/>
              </a:lnSpc>
              <a:spcAft>
                <a:spcPts val="300"/>
              </a:spcAft>
              <a:defRPr sz="560">
                <a:solidFill>
                  <a:srgbClr val="21242A"/>
                </a:solidFill>
                <a:latin typeface="Microsoft YaHei"/>
              </a:defRPr>
            </a:pPr>
            <a:r>
              <a:t>，p=0.04）</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摘要号：PF1040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皮下注射pembrolizumab治疗复发或难治性经典霍奇金淋巴瘤（chl）或原发性纵隔大b细胞淋巴瘤（pmbcl）的...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pharmacokinetics, efficacy, and safety of subcutaneous pembrolizumab in relap...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PS2021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54914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a:t>
            </a:r>
          </a:p>
          <a:p>
            <a:pPr>
              <a:lnSpc>
                <a:spcPct val="103000"/>
              </a:lnSpc>
              <a:spcAft>
                <a:spcPts val="300"/>
              </a:spcAft>
              <a:defRPr sz="800">
                <a:solidFill>
                  <a:srgbClr val="21242A"/>
                </a:solidFill>
                <a:latin typeface="Microsoft YaHei"/>
              </a:defRPr>
            </a:pPr>
            <a:r>
              <a:t>经典型霍奇金淋巴瘤</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试验药/方案：帕博利珠单抗皮下注射-MK3475A</a:t>
            </a:r>
          </a:p>
          <a:p>
            <a:pPr>
              <a:lnSpc>
                <a:spcPct val="103000"/>
              </a:lnSpc>
              <a:spcAft>
                <a:spcPts val="300"/>
              </a:spcAft>
              <a:defRPr sz="800">
                <a:solidFill>
                  <a:srgbClr val="21242A"/>
                </a:solidFill>
                <a:latin typeface="Microsoft YaHei"/>
              </a:defRPr>
            </a:pPr>
            <a:r>
              <a:t>靶点：PD-1</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第1周期药代动力学：AUC0-6几何均值1716 mcg*day/mL，变异度47%</a:t>
            </a:r>
          </a:p>
          <a:p>
            <a:pPr>
              <a:lnSpc>
                <a:spcPct val="103000"/>
              </a:lnSpc>
              <a:spcAft>
                <a:spcPts val="300"/>
              </a:spcAft>
              <a:defRPr sz="800">
                <a:solidFill>
                  <a:srgbClr val="21242A"/>
                </a:solidFill>
                <a:latin typeface="Microsoft YaHei"/>
              </a:defRPr>
            </a:pPr>
            <a:r>
              <a:t>Cmax几何均值75.06 mcg/mL，变异度48%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人数：53</a:t>
            </a:r>
          </a:p>
          <a:p>
            <a:pPr>
              <a:lnSpc>
                <a:spcPct val="103000"/>
              </a:lnSpc>
              <a:spcAft>
                <a:spcPts val="300"/>
              </a:spcAft>
              <a:defRPr sz="810">
                <a:solidFill>
                  <a:srgbClr val="21242A"/>
                </a:solidFill>
                <a:latin typeface="Microsoft YaHei"/>
              </a:defRPr>
            </a:pPr>
            <a:r>
              <a:t>适应症：原发纵隔大B细胞淋巴瘤、经典型霍奇金淋巴瘤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登记号：NCT06504394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试验药/方案：帕博利珠单抗皮下注射-MK3475A</a:t>
            </a:r>
          </a:p>
          <a:p>
            <a:pPr>
              <a:lnSpc>
                <a:spcPct val="103000"/>
              </a:lnSpc>
              <a:spcAft>
                <a:spcPts val="300"/>
              </a:spcAft>
              <a:defRPr sz="810">
                <a:solidFill>
                  <a:srgbClr val="21242A"/>
                </a:solidFill>
                <a:latin typeface="Microsoft YaHei"/>
              </a:defRPr>
            </a:pPr>
            <a:r>
              <a:t>靶点：PD-1</a:t>
            </a:r>
          </a:p>
          <a:p>
            <a:pPr>
              <a:lnSpc>
                <a:spcPct val="103000"/>
              </a:lnSpc>
              <a:spcAft>
                <a:spcPts val="300"/>
              </a:spcAft>
              <a:defRPr sz="810">
                <a:solidFill>
                  <a:srgbClr val="21242A"/>
                </a:solidFill>
                <a:latin typeface="Microsoft YaHei"/>
              </a:defRPr>
            </a:pPr>
            <a:r>
              <a:t>药物/技术类别：单特异性抗体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皮下注射pembrolizumab治疗复发或难治性经典霍奇金淋巴瘤（chl）或原发性纵隔大b细胞淋巴瘤（pmbcl）的...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pharmacokinetics, efficacy, and safety of subcutaneous pembrolizumab in relap...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PS2021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54914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背景：Pembrolizumab 是一种成熟的静脉注射 PD-1 抑制剂，用于治疗复发或难治性 (R/R) cHL 和 PMBCL，按 Q3W 或 Q6W 给药。</a:t>
            </a:r>
          </a:p>
          <a:p>
            <a:pPr>
              <a:lnSpc>
                <a:spcPct val="103000"/>
              </a:lnSpc>
              <a:spcAft>
                <a:spcPts val="300"/>
              </a:spcAft>
              <a:defRPr sz="550">
                <a:solidFill>
                  <a:srgbClr val="21242A"/>
                </a:solidFill>
                <a:latin typeface="Microsoft YaHei"/>
              </a:defRPr>
            </a:pPr>
            <a:r>
              <a:t>MK-3475A 是 pembrolizumab 与 berahyaluronidase alfa (MK-5180) 一起用于皮下给药（皮下 pembrolizumab）。 Berahyaluronidase alfa 是一种由 Alteogen Inc.</a:t>
            </a:r>
          </a:p>
          <a:p>
            <a:pPr>
              <a:lnSpc>
                <a:spcPct val="103000"/>
              </a:lnSpc>
              <a:spcAft>
                <a:spcPts val="300"/>
              </a:spcAft>
              <a:defRPr sz="550">
                <a:solidFill>
                  <a:srgbClr val="21242A"/>
                </a:solidFill>
                <a:latin typeface="Microsoft YaHei"/>
              </a:defRPr>
            </a:pPr>
            <a:r>
              <a:t>开发和制造的人类透明质酸酶变体，是一种渗透增强剂，能够皮下注射派姆单抗。皮下注射派姆单抗在全球（美国以外）被批准用于治疗 cHL 和 PMBCL。目的：展示一项单组、开放标签、2 期研究 (NCT06504394) 的药代动力学 (PK)、疗效和安全性，该研究评估了 R/R cHL 或 R/R PMBCL 受试者皮下注</a:t>
            </a:r>
          </a:p>
          <a:p>
            <a:pPr>
              <a:lnSpc>
                <a:spcPct val="103000"/>
              </a:lnSpc>
              <a:spcAft>
                <a:spcPts val="300"/>
              </a:spcAft>
              <a:defRPr sz="550">
                <a:solidFill>
                  <a:srgbClr val="21242A"/>
                </a:solidFill>
                <a:latin typeface="Microsoft YaHei"/>
              </a:defRPr>
            </a:pPr>
            <a:r>
              <a:t>射派姆单抗的情况。方法：符合资格的参与者年龄≥18岁，经组织学证实，符合 WHO 标准，FDG 亲和 cHL 或 PMBCL，放射学可测量疾病，ECOG PS 为 0 或 1。患有 cHL 或 PMBCL 的参与者未接受过 PD-1 治疗，且患有难治性疾病、未达到 CR 或在先前治疗后复发。</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血液肿瘤患者中皮下注射派姆单抗的 PK 曲线与实体瘤中的相似，并且与皮下单克隆抗体的典型 PK 曲线一致（图）。皮下注射 790 mg Q6W 剂量的派姆单抗显示出与静脉注射派姆单抗一致的可控安全性和疗效。</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第1周期药代动力学</a:t>
                      </a:r>
                    </a:p>
                  </a:txBody>
                  <a:tcPr>
                    <a:solidFill>
                      <a:srgbClr val="F6F8FB"/>
                    </a:solidFill>
                  </a:tcPr>
                </a:tc>
                <a:tc>
                  <a:txBody>
                    <a:bodyPr wrap="square" lIns="36576" rIns="36576" tIns="18288" bIns="18288"/>
                    <a:lstStyle/>
                    <a:p>
                      <a:r>
                        <a:rPr sz="540" b="0">
                          <a:solidFill>
                            <a:srgbClr val="21242A"/>
                          </a:solidFill>
                          <a:latin typeface="Microsoft YaHei"/>
                        </a:rPr>
                        <a:t>AUC0-6几何均值1716 mcg*day/mL，变异度47%；Cmax几何均值75.06 mcg/mL，变异度48%；Ctrough几何均值25.17 mcg/mL，变异度62%</a:t>
                      </a:r>
                    </a:p>
                  </a:txBody>
                  <a:tcPr>
                    <a:solidFill>
                      <a:srgbClr val="F6F8FB"/>
                    </a:solidFill>
                  </a:tcPr>
                </a:tc>
              </a:tr>
              <a:tr h="214230">
                <a:tc>
                  <a:txBody>
                    <a:bodyPr wrap="square" lIns="36576" rIns="36576" tIns="18288" bIns="18288"/>
                    <a:lstStyle/>
                    <a:p>
                      <a:r>
                        <a:rPr sz="540" b="1">
                          <a:solidFill>
                            <a:srgbClr val="21242A"/>
                          </a:solidFill>
                          <a:latin typeface="Microsoft YaHei"/>
                        </a:rPr>
                        <a:t>客观缓解率（ORR）</a:t>
                      </a:r>
                    </a:p>
                  </a:txBody>
                  <a:tcPr>
                    <a:solidFill>
                      <a:srgbClr val="FFFFFF"/>
                    </a:solidFill>
                  </a:tcPr>
                </a:tc>
                <a:tc>
                  <a:txBody>
                    <a:bodyPr wrap="square" lIns="36576" rIns="36576" tIns="18288" bIns="18288"/>
                    <a:lstStyle/>
                    <a:p>
                      <a:r>
                        <a:rPr sz="540" b="0">
                          <a:solidFill>
                            <a:srgbClr val="21242A"/>
                          </a:solidFill>
                          <a:latin typeface="Microsoft YaHei"/>
                        </a:rPr>
                        <a:t>71.4%（95% CI, 47.8-88.7）</a:t>
                      </a:r>
                    </a:p>
                  </a:txBody>
                  <a:tcPr>
                    <a:solidFill>
                      <a:srgbClr val="FFFFFF"/>
                    </a:solidFill>
                  </a:tcPr>
                </a:tc>
              </a:tr>
              <a:tr h="214230">
                <a:tc>
                  <a:txBody>
                    <a:bodyPr wrap="square" lIns="36576" rIns="36576" tIns="18288" bIns="18288"/>
                    <a:lstStyle/>
                    <a:p>
                      <a:r>
                        <a:rPr sz="540" b="1">
                          <a:solidFill>
                            <a:srgbClr val="21242A"/>
                          </a:solidFill>
                          <a:latin typeface="Microsoft YaHei"/>
                        </a:rPr>
                        <a:t>完全缓解（CR）</a:t>
                      </a:r>
                    </a:p>
                  </a:txBody>
                  <a:tcPr>
                    <a:solidFill>
                      <a:srgbClr val="F6F8FB"/>
                    </a:solidFill>
                  </a:tcPr>
                </a:tc>
                <a:tc>
                  <a:txBody>
                    <a:bodyPr wrap="square" lIns="36576" rIns="36576" tIns="18288" bIns="18288"/>
                    <a:lstStyle/>
                    <a:p>
                      <a:r>
                        <a:rPr sz="540" b="0">
                          <a:solidFill>
                            <a:srgbClr val="21242A"/>
                          </a:solidFill>
                          <a:latin typeface="Microsoft YaHei"/>
                        </a:rPr>
                        <a:t>33%</a:t>
                      </a:r>
                    </a:p>
                  </a:txBody>
                  <a:tcPr>
                    <a:solidFill>
                      <a:srgbClr val="F6F8FB"/>
                    </a:solidFill>
                  </a:tcPr>
                </a:tc>
              </a:tr>
              <a:tr h="214230">
                <a:tc>
                  <a:txBody>
                    <a:bodyPr wrap="square" lIns="36576" rIns="36576" tIns="18288" bIns="18288"/>
                    <a:lstStyle/>
                    <a:p>
                      <a:r>
                        <a:rPr sz="540" b="1">
                          <a:solidFill>
                            <a:srgbClr val="21242A"/>
                          </a:solidFill>
                          <a:latin typeface="Microsoft YaHei"/>
                        </a:rPr>
                        <a:t>部分缓解（PR）</a:t>
                      </a:r>
                    </a:p>
                  </a:txBody>
                  <a:tcPr>
                    <a:solidFill>
                      <a:srgbClr val="FFFFFF"/>
                    </a:solidFill>
                  </a:tcPr>
                </a:tc>
                <a:tc>
                  <a:txBody>
                    <a:bodyPr wrap="square" lIns="36576" rIns="36576" tIns="18288" bIns="18288"/>
                    <a:lstStyle/>
                    <a:p>
                      <a:r>
                        <a:rPr sz="540" b="0">
                          <a:solidFill>
                            <a:srgbClr val="21242A"/>
                          </a:solidFill>
                          <a:latin typeface="Microsoft YaHei"/>
                        </a:rPr>
                        <a:t>38%</a:t>
                      </a:r>
                    </a:p>
                  </a:txBody>
                  <a:tcPr>
                    <a:solidFill>
                      <a:srgbClr val="FFFFFF"/>
                    </a:solidFill>
                  </a:tcPr>
                </a:tc>
              </a:tr>
              <a:tr h="214230">
                <a:tc>
                  <a:txBody>
                    <a:bodyPr wrap="square" lIns="36576" rIns="36576" tIns="18288" bIns="18288"/>
                    <a:lstStyle/>
                    <a:p>
                      <a:r>
                        <a:rPr sz="540" b="1">
                          <a:solidFill>
                            <a:srgbClr val="21242A"/>
                          </a:solidFill>
                          <a:latin typeface="Microsoft YaHei"/>
                        </a:rPr>
                        <a:t>任何级别治疗相关不良事件（TRAEs）</a:t>
                      </a:r>
                    </a:p>
                  </a:txBody>
                  <a:tcPr>
                    <a:solidFill>
                      <a:srgbClr val="F6F8FB"/>
                    </a:solidFill>
                  </a:tcPr>
                </a:tc>
                <a:tc>
                  <a:txBody>
                    <a:bodyPr wrap="square" lIns="36576" rIns="36576" tIns="18288" bIns="18288"/>
                    <a:lstStyle/>
                    <a:p>
                      <a:r>
                        <a:rPr sz="540" b="0">
                          <a:solidFill>
                            <a:srgbClr val="21242A"/>
                          </a:solidFill>
                          <a:latin typeface="Microsoft YaHei"/>
                        </a:rPr>
                        <a:t>51%；最常见（≥5%）瘙痒9%、皮疹8%、关节痛6%、甲状腺功能减退6%、肌痛6%</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其余4条结果见HTML完整清单及EHA原文。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摘要号：PS2021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原发性纵隔b细胞淋巴瘤简单预后指标pmbcl-pi的建立及外部验证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and external validation of a simple prognostic index for primary...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a:t>
            </a:r>
          </a:p>
          <a:p>
            <a:pPr>
              <a:lnSpc>
                <a:spcPct val="103000"/>
              </a:lnSpc>
              <a:spcAft>
                <a:spcPts val="300"/>
              </a:spcAft>
              <a:defRPr sz="800">
                <a:solidFill>
                  <a:srgbClr val="21242A"/>
                </a:solidFill>
                <a:latin typeface="Microsoft YaHei"/>
              </a:defRPr>
            </a:pPr>
            <a:r>
              <a:t>N=383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回顾性临床研究结果：development and external validation of a simple progn...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5年总生存率（开发队列）：低风险组90%，中风险组77%，高风险组52%</a:t>
            </a:r>
          </a:p>
          <a:p>
            <a:pPr>
              <a:lnSpc>
                <a:spcPct val="103000"/>
              </a:lnSpc>
              <a:spcAft>
                <a:spcPts val="300"/>
              </a:spcAft>
              <a:defRPr sz="800">
                <a:solidFill>
                  <a:srgbClr val="21242A"/>
                </a:solidFill>
                <a:latin typeface="Microsoft YaHei"/>
              </a:defRPr>
            </a:pPr>
            <a:r>
              <a:t>5年无进展生存率（开发队列）：低风险组79%，中风险组56%，高风险组27%。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人数：383</a:t>
            </a:r>
          </a:p>
          <a:p>
            <a:pPr>
              <a:lnSpc>
                <a:spcPct val="103000"/>
              </a:lnSpc>
              <a:spcAft>
                <a:spcPts val="300"/>
              </a:spcAft>
              <a:defRPr sz="810">
                <a:solidFill>
                  <a:srgbClr val="21242A"/>
                </a:solidFill>
                <a:latin typeface="Microsoft YaHei"/>
              </a:defRPr>
            </a:pPr>
            <a:r>
              <a:t>适应症：原发纵隔大B细胞淋巴瘤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研究主题：development and external validation of a simple prognostic index for primary mediastinal b-cell lymphoma: pmbcl-pi</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原发性纵隔b细胞淋巴瘤简单预后指标pmbcl-pi的建立及外部验证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and external validation of a simple prognostic index for primary...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088636"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背景：原发性纵隔 B 细胞淋巴瘤 (PMBCL) 是侵袭性 B 细胞淋巴瘤的一种独特亚型，主要影响年轻人。虽然总体结果良好，但临床相关的一部分患者会经历早期进展或死亡。迄今为止，PMBCL 尚无广泛接受的疾病特异性预后指数，风险分层很大程度上依赖于为弥漫性大 B 细胞淋巴瘤开发的工具。</a:t>
            </a:r>
          </a:p>
          <a:p>
            <a:pPr>
              <a:lnSpc>
                <a:spcPct val="103000"/>
              </a:lnSpc>
              <a:spcAft>
                <a:spcPts val="300"/>
              </a:spcAft>
              <a:defRPr sz="550">
                <a:solidFill>
                  <a:srgbClr val="21242A"/>
                </a:solidFill>
                <a:latin typeface="Microsoft YaHei"/>
              </a:defRPr>
            </a:pPr>
            <a:r>
              <a:t>PMBCL 的准确预后分层在临床上对于识别高风险患者、告知治疗选择策略以及在前瞻性临床试验中优化患者选择和分层具有重要意义。目的：使用常规可用的基线临床变量，开发并在外部验证 PMBCL 患者总生存期 (OS) 和无进展生存期 (PFS) 的简单、基于点的预后指数。方法：采用回顾性多中心队列进行模型开发，该队列由 20</a:t>
            </a:r>
          </a:p>
          <a:p>
            <a:pPr>
              <a:lnSpc>
                <a:spcPct val="103000"/>
              </a:lnSpc>
              <a:spcAft>
                <a:spcPts val="300"/>
              </a:spcAft>
              <a:defRPr sz="550">
                <a:solidFill>
                  <a:srgbClr val="21242A"/>
                </a:solidFill>
                <a:latin typeface="Microsoft YaHei"/>
              </a:defRPr>
            </a:pPr>
            <a:r>
              <a:t>06 年至 2024 年期间在土耳其诊断的 155 名 PMBCL 患者组成。预后指数纳入了年龄 &gt;45 岁、ECOG 体能状态 ≥2、安娜堡分期 ≥III 和血红蛋白 \n 外部验证使用了丹麦淋巴瘤登记处的数据，包括 2000 年至 2025 年期间诊断的 228 名患者。</a:t>
            </a:r>
          </a:p>
          <a:p>
            <a:pPr>
              <a:lnSpc>
                <a:spcPct val="103000"/>
              </a:lnSpc>
              <a:spcAft>
                <a:spcPts val="300"/>
              </a:spcAft>
              <a:defRPr sz="550">
                <a:solidFill>
                  <a:srgbClr val="21242A"/>
                </a:solidFill>
                <a:latin typeface="Microsoft YaHei"/>
              </a:defRPr>
            </a:pPr>
            <a:r>
              <a:t>使用 Kaplan-Meier 生存分析和对数秩检验、Cox 比例风险回归以及 Harrell 一致性指数（C 指数）评估的歧视来评估模型性能。</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PMBCL-PI 是一种简单、疾病特异性、基于点的预后指数，可使用常规可用的临床变量根据相对风险对 PMBCL 患者进行可靠的分层。该模型在开发和外部验证队列中表现出强烈的歧视性。为了增强临床适用性，PMBCL-PI 已作为在线决策支持工具实施，可从 https://lymphomapredictor.rn.dk/ 获</a:t>
            </a:r>
          </a:p>
          <a:p>
            <a:pPr>
              <a:lnSpc>
                <a:spcPct val="103000"/>
              </a:lnSpc>
              <a:spcAft>
                <a:spcPts val="300"/>
              </a:spcAft>
              <a:defRPr sz="570">
                <a:solidFill>
                  <a:srgbClr val="21242A"/>
                </a:solidFill>
                <a:latin typeface="Microsoft YaHei"/>
              </a:defRPr>
            </a:pPr>
            <a:r>
              <a:t>取。</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5年总生存率（开发队列）</a:t>
                      </a:r>
                    </a:p>
                  </a:txBody>
                  <a:tcPr>
                    <a:solidFill>
                      <a:srgbClr val="F6F8FB"/>
                    </a:solidFill>
                  </a:tcPr>
                </a:tc>
                <a:tc>
                  <a:txBody>
                    <a:bodyPr wrap="square" lIns="36576" rIns="36576" tIns="18288" bIns="18288"/>
                    <a:lstStyle/>
                    <a:p>
                      <a:r>
                        <a:rPr sz="540" b="0">
                          <a:solidFill>
                            <a:srgbClr val="21242A"/>
                          </a:solidFill>
                          <a:latin typeface="Microsoft YaHei"/>
                        </a:rPr>
                        <a:t>低风险组90%，中风险组77%，高风险组52%</a:t>
                      </a:r>
                    </a:p>
                  </a:txBody>
                  <a:tcPr>
                    <a:solidFill>
                      <a:srgbClr val="F6F8FB"/>
                    </a:solidFill>
                  </a:tcPr>
                </a:tc>
              </a:tr>
              <a:tr h="299923">
                <a:tc>
                  <a:txBody>
                    <a:bodyPr wrap="square" lIns="36576" rIns="36576" tIns="18288" bIns="18288"/>
                    <a:lstStyle/>
                    <a:p>
                      <a:r>
                        <a:rPr sz="540" b="1">
                          <a:solidFill>
                            <a:srgbClr val="21242A"/>
                          </a:solidFill>
                          <a:latin typeface="Microsoft YaHei"/>
                        </a:rPr>
                        <a:t>5年无进展生存率（开发队列）</a:t>
                      </a:r>
                    </a:p>
                  </a:txBody>
                  <a:tcPr>
                    <a:solidFill>
                      <a:srgbClr val="FFFFFF"/>
                    </a:solidFill>
                  </a:tcPr>
                </a:tc>
                <a:tc>
                  <a:txBody>
                    <a:bodyPr wrap="square" lIns="36576" rIns="36576" tIns="18288" bIns="18288"/>
                    <a:lstStyle/>
                    <a:p>
                      <a:r>
                        <a:rPr sz="540" b="0">
                          <a:solidFill>
                            <a:srgbClr val="21242A"/>
                          </a:solidFill>
                          <a:latin typeface="Microsoft YaHei"/>
                        </a:rPr>
                        <a:t>低风险组79%，中风险组56%，高风险组27%。</a:t>
                      </a:r>
                    </a:p>
                  </a:txBody>
                  <a:tcPr>
                    <a:solidFill>
                      <a:srgbClr val="FFFFFF"/>
                    </a:solidFill>
                  </a:tcPr>
                </a:tc>
              </a:tr>
              <a:tr h="299923">
                <a:tc>
                  <a:txBody>
                    <a:bodyPr wrap="square" lIns="36576" rIns="36576" tIns="18288" bIns="18288"/>
                    <a:lstStyle/>
                    <a:p>
                      <a:r>
                        <a:rPr sz="540" b="1">
                          <a:solidFill>
                            <a:srgbClr val="21242A"/>
                          </a:solidFill>
                          <a:latin typeface="Microsoft YaHei"/>
                        </a:rPr>
                        <a:t>5年总生存率（验证队列）</a:t>
                      </a:r>
                    </a:p>
                  </a:txBody>
                  <a:tcPr>
                    <a:solidFill>
                      <a:srgbClr val="F6F8FB"/>
                    </a:solidFill>
                  </a:tcPr>
                </a:tc>
                <a:tc>
                  <a:txBody>
                    <a:bodyPr wrap="square" lIns="36576" rIns="36576" tIns="18288" bIns="18288"/>
                    <a:lstStyle/>
                    <a:p>
                      <a:r>
                        <a:rPr sz="540" b="0">
                          <a:solidFill>
                            <a:srgbClr val="21242A"/>
                          </a:solidFill>
                          <a:latin typeface="Microsoft YaHei"/>
                        </a:rPr>
                        <a:t>低风险组100%，中风险组92%，高风险组81%</a:t>
                      </a:r>
                    </a:p>
                  </a:txBody>
                  <a:tcPr>
                    <a:solidFill>
                      <a:srgbClr val="F6F8FB"/>
                    </a:solidFill>
                  </a:tcPr>
                </a:tc>
              </a:tr>
              <a:tr h="299924">
                <a:tc>
                  <a:txBody>
                    <a:bodyPr wrap="square" lIns="36576" rIns="36576" tIns="18288" bIns="18288"/>
                    <a:lstStyle/>
                    <a:p>
                      <a:r>
                        <a:rPr sz="540" b="1">
                          <a:solidFill>
                            <a:srgbClr val="21242A"/>
                          </a:solidFill>
                          <a:latin typeface="Microsoft YaHei"/>
                        </a:rPr>
                        <a:t>5年无进展生存率（验证队列）</a:t>
                      </a:r>
                    </a:p>
                  </a:txBody>
                  <a:tcPr>
                    <a:solidFill>
                      <a:srgbClr val="FFFFFF"/>
                    </a:solidFill>
                  </a:tcPr>
                </a:tc>
                <a:tc>
                  <a:txBody>
                    <a:bodyPr wrap="square" lIns="36576" rIns="36576" tIns="18288" bIns="18288"/>
                    <a:lstStyle/>
                    <a:p>
                      <a:r>
                        <a:rPr sz="540" b="0">
                          <a:solidFill>
                            <a:srgbClr val="21242A"/>
                          </a:solidFill>
                          <a:latin typeface="Microsoft YaHei"/>
                        </a:rPr>
                        <a:t>低风险组90%，中风险组81%，高风险组63%。</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前瞻性实时ctdna监测在弥漫性大b细胞淋巴瘤患者常规临床护理中的可行性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feasibility of prospective real-time ctdna monitoring in routine clinical car...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777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N=75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前瞻性临床研究结果：feasibility of prospective real-time ctdna monitoring...</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主要终点：从采血到ctDNA报告的平均周转时间为18天</a:t>
            </a:r>
          </a:p>
          <a:p>
            <a:pPr>
              <a:lnSpc>
                <a:spcPct val="103000"/>
              </a:lnSpc>
              <a:spcAft>
                <a:spcPts val="300"/>
              </a:spcAft>
              <a:defRPr sz="800">
                <a:solidFill>
                  <a:srgbClr val="21242A"/>
                </a:solidFill>
                <a:latin typeface="Microsoft YaHei"/>
              </a:defRPr>
            </a:pPr>
            <a:r>
              <a:t>远处站点（&gt;200 km）为21天 vs 本地站点16天（p&lt;0.0001）||C2D1可检测到ctDNA的患者中，进展率显著...</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人数：75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研究主题：feasibility of prospective real-time ctdna monitoring in routine clinical care of diffuse large b-cell lymphoma patients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前瞻性实时ctdna监测在弥漫性大b细胞淋巴瘤患者常规临床护理中的可行性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feasibility of prospective real-time ctdna monitoring in routine clinical car...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5250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777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背景：超过 25% 的弥漫性大 B 细胞淋巴瘤 (DLBCL) 患者对一线化疗没有反应或在完成治疗后 12 个月内复发。这些患者中有一半适合二线嵌合抗原受体 T 细胞 (CART) 治疗，但高肿瘤负荷和低体力状态会降低疗效并增加毒性。循环肿瘤 DNA (ctDNA) 是监测 DLBCL 治疗反应的有前途的生物标志物，但</a:t>
            </a:r>
          </a:p>
          <a:p>
            <a:pPr>
              <a:lnSpc>
                <a:spcPct val="103000"/>
              </a:lnSpc>
              <a:spcAft>
                <a:spcPts val="300"/>
              </a:spcAft>
              <a:defRPr sz="550">
                <a:solidFill>
                  <a:srgbClr val="21242A"/>
                </a:solidFill>
                <a:latin typeface="Microsoft YaHei"/>
              </a:defRPr>
            </a:pPr>
            <a:r>
              <a:t>其在常规临床实践中的可行性尚未确定。了解影响周转时间和数据质量的后勤因素对于临床实施至关重要。我们开发了一个 195 基因组，以在 245 名患者的回顾性队列中检测一线治疗的第 2 个周期第 1 天 (C2D1) 的治疗失败。目的：我们评估了我们的小组在 75 名患者的前瞻性队列中检测早期复发 DLBCL 的可行性和临</a:t>
            </a:r>
          </a:p>
          <a:p>
            <a:pPr>
              <a:lnSpc>
                <a:spcPct val="103000"/>
              </a:lnSpc>
              <a:spcAft>
                <a:spcPts val="300"/>
              </a:spcAft>
              <a:defRPr sz="550">
                <a:solidFill>
                  <a:srgbClr val="21242A"/>
                </a:solidFill>
                <a:latin typeface="Microsoft YaHei"/>
              </a:defRPr>
            </a:pPr>
            <a:r>
              <a:t>床实用性。我们假设该检测可以在收集后 3 周内实时进行。主要终点是从血液采集到 C2D1 ctDNA 报告的周转时间。第二个目标是确定 C2D1、C3D1 和治疗结束 (EOT) 时 ctDNA 检测的最佳时机。方法：从加拿大五家医院招募了接受根治性化疗的新发或转化性 DLBCL 患者。</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实时 ctDNA 分析是可行的，但临床实施的后勤挑战仍然存在。在现实环境中，符合 CART 治疗条件的难治性 DLBCL 患者中存在显着的流失。我们的小组最早可以在 C2D1 时识别出高危患者，支持早期干预试验。</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结果：2024年3月至2025年12月期间，共入组75名患者，提供425份样本； 68 人完成治疗（研究正在进行中）。平均年龄为 63 岁； 44 名患者的 IPI&gt;3，10 名患者既往患有惰性淋巴瘤，13 名患者出现疾病进展 (PD)。平均周转时间为 18 天，远程站点（&gt; 200 公里）需要 21 天，而</a:t>
            </a:r>
          </a:p>
          <a:p>
            <a:pPr>
              <a:lnSpc>
                <a:spcPct val="103000"/>
              </a:lnSpc>
              <a:spcAft>
                <a:spcPts val="300"/>
              </a:spcAft>
              <a:defRPr sz="560">
                <a:solidFill>
                  <a:srgbClr val="21242A"/>
                </a:solidFill>
                <a:latin typeface="Microsoft YaHei"/>
              </a:defRPr>
            </a:pPr>
            <a:r>
              <a:t>本地站点则需要 16 天 (p 3 (p CART 的障碍包括表现状态不佳、疾病负担高 (n=6) 和年龄/虚弱 (n=4)。PD 患者的死亡率为 70%。</a:t>
            </a:r>
          </a:p>
          <a:p>
            <a:pPr>
              <a:lnSpc>
                <a:spcPct val="103000"/>
              </a:lnSpc>
              <a:spcAft>
                <a:spcPts val="300"/>
              </a:spcAft>
              <a:defRPr sz="560">
                <a:solidFill>
                  <a:srgbClr val="21242A"/>
                </a:solidFill>
                <a:latin typeface="Microsoft YaHei"/>
              </a:defRPr>
            </a:pPr>
            <a:r>
              <a:t>结论：实时 ctDNA 分析是可行的，但临床实施的后勤挑战仍然存在。在现实环境中，符合 CART 治疗条件的难治性 DLBCL 患者中存在显着的流失。我们的小组最早可以在 C2D1 时识别出高危患者，支持早期干预试验。</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ciloleucel作为晚期复发大b细胞淋巴瘤患者的二线治疗：西班牙淋巴瘤组geltamo晚...</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axicabtagene ciloleucel as second-line treatment in patients with late-relaps...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5491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3个月完全缓解率（CR rate）：90%（基于21例可评估患者）</a:t>
            </a:r>
          </a:p>
          <a:p>
            <a:pPr>
              <a:lnSpc>
                <a:spcPct val="103000"/>
              </a:lnSpc>
              <a:spcAft>
                <a:spcPts val="300"/>
              </a:spcAft>
              <a:defRPr sz="800">
                <a:solidFill>
                  <a:srgbClr val="21242A"/>
                </a:solidFill>
                <a:latin typeface="Microsoft YaHei"/>
              </a:defRPr>
            </a:pPr>
            <a:r>
              <a:t>3个月总缓解率（ORR）：95%（基于21例可评估患者）</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登记号：NCT07254754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ciloleucel作为晚期复发大b细胞淋巴瘤患者的二线治疗：西班牙淋巴瘤组geltamo晚...</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axicabtagene ciloleucel as second-line treatment in patients with late-relaps...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54914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背景：CAR T 细胞疗法是早期复发或原发性难治性疾病的弥漫性大 B 细胞淋巴瘤 (DLBCL) 患者的标准治疗方法。相比之下，一线化学免疫疗法 (CIT) 12 个月后复发的患者代表了临床异质人群，缺乏专门评估 CAR T 细胞疗法作用的前瞻性临床试验。</a:t>
            </a:r>
          </a:p>
          <a:p>
            <a:pPr>
              <a:lnSpc>
                <a:spcPct val="103000"/>
              </a:lnSpc>
              <a:spcAft>
                <a:spcPts val="300"/>
              </a:spcAft>
              <a:defRPr sz="550">
                <a:solidFill>
                  <a:srgbClr val="21242A"/>
                </a:solidFill>
                <a:latin typeface="Microsoft YaHei"/>
              </a:defRPr>
            </a:pPr>
            <a:r>
              <a:t>目的：LATE-R 试验旨在评估 axicabtagene ciloleucel (axi-cel) 对晚期复发侵袭性 B 细胞淋巴瘤患者的疗效和安全性。</a:t>
            </a:r>
          </a:p>
          <a:p>
            <a:pPr>
              <a:lnSpc>
                <a:spcPct val="103000"/>
              </a:lnSpc>
              <a:spcAft>
                <a:spcPts val="300"/>
              </a:spcAft>
              <a:defRPr sz="550">
                <a:solidFill>
                  <a:srgbClr val="21242A"/>
                </a:solidFill>
                <a:latin typeface="Microsoft YaHei"/>
              </a:defRPr>
            </a:pPr>
            <a:r>
              <a:t>方法：这是一项由 GELTAMO 与吉利德公司 Kite 合作赞助的开放标签、多中心、单组 II 期研究。符合条件的患者年龄≥18 岁，患有 DLBCL、转化滤泡性淋巴瘤 (tFL) 或高级别 B 细胞淋巴瘤 (HGBCL)，在完成一线 CIT 后 12-60 个月复发。研究者酌情允许桥接治疗。主要终点是 axi-ce</a:t>
            </a:r>
          </a:p>
          <a:p>
            <a:pPr>
              <a:lnSpc>
                <a:spcPct val="103000"/>
              </a:lnSpc>
              <a:spcAft>
                <a:spcPts val="300"/>
              </a:spcAft>
              <a:defRPr sz="550">
                <a:solidFill>
                  <a:srgbClr val="21242A"/>
                </a:solidFill>
                <a:latin typeface="Microsoft YaHei"/>
              </a:defRPr>
            </a:pPr>
            <a:r>
              <a:t>l 输注后 3 个月时的完全缓解 (CR) 率，根据标准标准通过 PET-CT 进行局部评估。次要终点包括总体缓解率（ORR）、无进展生存期（PFS）、总体生存期（OS）和安全性。在此，我们提出了协议中预先指定的临时分析。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 LATE-R 试验的中期分析中，axi-cel 在二线治疗的晚期复发侵袭性 B 细胞淋巴瘤患者中表现出非常高的 CR 率，其可控制的毒性特征与 axi-cel 的已知风险一致。这些研究结果表明，晚期 CIT 复发的患者可以从 axi-cel 中受益，并支持其在该临床环境中的使用。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结果：截至 2025 年 12 月 31 日（截止时间），35 名患者接受了白细胞分离术，31 名患者接受了 axi-cel，并纳入本分析。中位年龄为 63 岁（范围 28-79 岁），19 名患者（54%）为男性。进入研究时，49% 的患者在一线 CIT 治疗后的 12-24 个月内复发，51% 的患者在 </a:t>
            </a:r>
          </a:p>
          <a:p>
            <a:pPr>
              <a:lnSpc>
                <a:spcPct val="103000"/>
              </a:lnSpc>
              <a:spcAft>
                <a:spcPts val="300"/>
              </a:spcAft>
              <a:defRPr sz="560">
                <a:solidFill>
                  <a:srgbClr val="21242A"/>
                </a:solidFill>
                <a:latin typeface="Microsoft YaHei"/>
              </a:defRPr>
            </a:pPr>
            <a:r>
              <a:t>24-60 个月内复发； 26% 的患者患有 HBCL 双重打击，83% 的患者呈安娜堡 III-IV 期，74% 的 IPI ≥2。</a:t>
            </a:r>
          </a:p>
          <a:p>
            <a:pPr>
              <a:lnSpc>
                <a:spcPct val="103000"/>
              </a:lnSpc>
              <a:spcAft>
                <a:spcPts val="300"/>
              </a:spcAft>
              <a:defRPr sz="560">
                <a:solidFill>
                  <a:srgbClr val="21242A"/>
                </a:solidFill>
                <a:latin typeface="Microsoft YaHei"/>
              </a:defRPr>
            </a:pPr>
            <a:r>
              <a:t>\n 在数据截止时达到该时间点的 21 名患者中，CR 率和 3 个月时的 ORR 分别为 90% 和 95%。中位随访时间为 5.9 个月（Q1-Q3：2.4-8.7），但尚未达到中位无进展生存期 (PFS) 和总生存期 (OS)。估计的 6 个月 PFS 和 OS 分别为 87.0% (95% CI 68</a:t>
            </a:r>
          </a:p>
          <a:p>
            <a:pPr>
              <a:lnSpc>
                <a:spcPct val="103000"/>
              </a:lnSpc>
              <a:spcAft>
                <a:spcPts val="300"/>
              </a:spcAft>
              <a:defRPr sz="560">
                <a:solidFill>
                  <a:srgbClr val="21242A"/>
                </a:solidFill>
                <a:latin typeface="Microsoft YaHei"/>
              </a:defRPr>
            </a:pPr>
            <a:r>
              <a:t>.0-100) 和 95.7% (95% CI 86.7-100)（图）。</a:t>
            </a:r>
          </a:p>
          <a:p>
            <a:pPr>
              <a:lnSpc>
                <a:spcPct val="103000"/>
              </a:lnSpc>
              <a:spcAft>
                <a:spcPts val="300"/>
              </a:spcAft>
              <a:defRPr sz="560">
                <a:solidFill>
                  <a:srgbClr val="21242A"/>
                </a:solidFill>
                <a:latin typeface="Microsoft YaHei"/>
              </a:defRPr>
            </a:pPr>
            <a:r>
              <a:t>\n 关于安全性，总共报告了 81 起被归类为严重不良事件 (SAE) 或特别关注的不良事件 (AESI) 并在截止时间或之前发生的不良事件。</a:t>
            </a:r>
          </a:p>
          <a:p>
            <a:pPr>
              <a:lnSpc>
                <a:spcPct val="103000"/>
              </a:lnSpc>
              <a:spcAft>
                <a:spcPts val="300"/>
              </a:spcAft>
              <a:defRPr sz="560">
                <a:solidFill>
                  <a:srgbClr val="21242A"/>
                </a:solidFill>
                <a:latin typeface="Microsoft YaHei"/>
              </a:defRPr>
            </a:pPr>
            <a:r>
              <a:t>74% 的患者出现细胞因子释放综合征 (CRS)，主要为 1 级 (37%) 和 2 级 (28.6%)； ≥3 级 CRS 罕见（8.6%），没有 4-5 级事件。据报道，45.7% 的患者出现免疫效应细胞相关神经毒性综合征 (ICANS)。</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抗cd19 car t细胞治疗后长期细胞减少症的基线t细胞库偏斜和效应cd8t细胞动力学</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baseline t-cell repertoire skewing and effector cd8 t-cell dynamics in prolon...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PF1225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B细胞急性淋巴细胞白血病，弥漫性大B细胞淋巴瘤</a:t>
            </a:r>
          </a:p>
          <a:p>
            <a:pPr>
              <a:lnSpc>
                <a:spcPct val="103000"/>
              </a:lnSpc>
              <a:spcAft>
                <a:spcPts val="300"/>
              </a:spcAft>
              <a:defRPr sz="800">
                <a:solidFill>
                  <a:srgbClr val="21242A"/>
                </a:solidFill>
                <a:latin typeface="Microsoft YaHei"/>
              </a:defRPr>
            </a:pPr>
            <a:r>
              <a:t>N=10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前瞻性临床研究结果：baseline t-cell repertoire skewing and effector cd8 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扩增T细胞克隆比例：长期血细胞减少组56%，无血细胞减少组22%，p=0.05||T细胞受体库多样性（Shannon指数）：长...</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人数：10</a:t>
            </a:r>
          </a:p>
          <a:p>
            <a:pPr>
              <a:lnSpc>
                <a:spcPct val="103000"/>
              </a:lnSpc>
              <a:spcAft>
                <a:spcPts val="300"/>
              </a:spcAft>
              <a:defRPr sz="810">
                <a:solidFill>
                  <a:srgbClr val="21242A"/>
                </a:solidFill>
                <a:latin typeface="Microsoft YaHei"/>
              </a:defRPr>
            </a:pPr>
            <a:r>
              <a:t>适应症：B细胞急性淋巴细胞白血病、弥漫性大B细胞淋巴瘤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研究主题：baseline t-cell repertoire skewing and effector cd8 t-cell dynamics in prolonged cytopenias following anti-cd19 car t-c...</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抗cd19 car t细胞治疗后长期细胞减少症的基线t细胞库偏斜和效应cd8t细胞动力学</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baseline t-cell repertoire skewing and effector cd8 t-cell dynamics in prolon...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PF1225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08863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背景：抗 CD19 CAR T 细胞疗法已经改变了 B 细胞恶性肿瘤的治疗结果，但高达 50% 的患者会出现长期血细胞减少，而病理生理学仍知之甚少。特别是，免疫组库结构和 T 细胞表型状态在长期血细胞减少中的作用尚未被探索。</a:t>
            </a:r>
          </a:p>
          <a:p>
            <a:pPr>
              <a:lnSpc>
                <a:spcPct val="103000"/>
              </a:lnSpc>
              <a:spcAft>
                <a:spcPts val="300"/>
              </a:spcAft>
              <a:defRPr sz="550">
                <a:solidFill>
                  <a:srgbClr val="21242A"/>
                </a:solidFill>
                <a:latin typeface="Microsoft YaHei"/>
              </a:defRPr>
            </a:pPr>
            <a:r>
              <a:t>目的：调查治疗前 T 细胞免疫库结构和表型是否与 CD19 定向 CAR T 细胞治疗后长期血细胞减少症的发生有关。</a:t>
            </a:r>
          </a:p>
          <a:p>
            <a:pPr>
              <a:lnSpc>
                <a:spcPct val="103000"/>
              </a:lnSpc>
              <a:spcAft>
                <a:spcPts val="300"/>
              </a:spcAft>
              <a:defRPr sz="550">
                <a:solidFill>
                  <a:srgbClr val="21242A"/>
                </a:solidFill>
                <a:latin typeface="Microsoft YaHei"/>
              </a:defRPr>
            </a:pPr>
            <a:r>
              <a:t>方法：这项单中心前瞻性观察研究利用了接受自体抗 CD19 CAR T 细胞治疗的患者的匿名临床数据和外周血单核细胞 (PBMC)。长期血细胞减少被定义为输注后（中性粒细胞）测序和流式细胞术持续&gt;30天的持续≥3级血细胞减少。在 CAR T 细胞输注后的连续时间点进行纵向流式细胞术。使用非参数统计检验进行组比较。</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在这项前瞻性研究中，抗 CD19 CAR T 细胞治疗后的长期血细胞减少与基线免疫库偏差和 T 细胞动力学改变有关。出现长期血细胞减少症的患者在 CAR T 细胞治疗前表现出更大的克隆扩张和 T 细胞库多样性降低。倾向于高度分化的 CD8+ TEMRA 群体是长期血细胞减少患者的一个特征，而那些没有长期血细胞减少的患者</a:t>
            </a:r>
          </a:p>
          <a:p>
            <a:pPr>
              <a:lnSpc>
                <a:spcPct val="103000"/>
              </a:lnSpc>
              <a:spcAft>
                <a:spcPts val="300"/>
              </a:spcAft>
              <a:defRPr sz="570">
                <a:solidFill>
                  <a:srgbClr val="21242A"/>
                </a:solidFill>
                <a:latin typeface="Microsoft YaHei"/>
              </a:defRPr>
            </a:pPr>
            <a:r>
              <a:t>则表现出更稳定的 T 细胞谱。这些发现表明，预先存在的免疫组库特征和效应 T 细胞动力学可能会影响 CAR T 细胞治疗后出现长期血细胞减少症的可能性。有必要对更大的队列进行进一步研究，以确定可以定义有长期血细胞减少风险的患者的免疫生物标志物。</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扩增T细胞克隆比例：长期血细胞减少组56%，无血细胞减少组22%，p=0.05||T细胞受体库多样性（Shannon指数）：长期血细胞减少组中位数4.5，无血细胞减少组中位数5.5，p=0.0005||CD8:CD4比值：基线时长期血细胞减少组数值更高||CD8 TEMRA:CD4 Treg比值：长期血细胞减</a:t>
            </a:r>
          </a:p>
          <a:p>
            <a:pPr>
              <a:lnSpc>
                <a:spcPct val="103000"/>
              </a:lnSpc>
              <a:spcAft>
                <a:spcPts val="300"/>
              </a:spcAft>
              <a:defRPr sz="560">
                <a:solidFill>
                  <a:srgbClr val="21242A"/>
                </a:solidFill>
                <a:latin typeface="Microsoft YaHei"/>
              </a:defRPr>
            </a:pPr>
            <a:r>
              <a:t>少组更高且持续30天||CD8 TEMRA表型：CD57+CD28-，符合细胞毒性效应状态</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摘要号：PF1225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phs-w指数：一种整合营养和血液学标志物的新预后框架，用于预测接受glofitamab治疗的dlbcl患者的预后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phs w-index: a novel prognostic framework integrating nutritional and hem...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08863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12个月无进展生存率（PFS）: 41.0% (95% CI 29.3–52.3)</a:t>
            </a:r>
          </a:p>
          <a:p>
            <a:pPr>
              <a:lnSpc>
                <a:spcPct val="103000"/>
              </a:lnSpc>
              <a:spcAft>
                <a:spcPts val="300"/>
              </a:spcAft>
              <a:defRPr sz="800">
                <a:solidFill>
                  <a:srgbClr val="21242A"/>
                </a:solidFill>
                <a:latin typeface="Microsoft YaHei"/>
              </a:defRPr>
            </a:pPr>
            <a:r>
              <a:t>12个月总生存率（OS）: 52.9% (95% CI 40.3–64.0)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人数：101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登记号：NCT03199066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phs-w指数：一种整合营养和血液学标志物的新预后框架，用于预测接受glofitamab治疗的dlbcl患者的预后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phs w-index: a novel prognostic framework integrating nutritional and hem...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08863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的治疗已经通过 T 细胞参与的双特异性抗体（例如格洛菲他单抗）发生了改变，但反应的异质性仍然存在。尽管二级国际预后指数 (IPI)、修订后的 IPI (R-IPI) 和 NCCN-IPI 是复发/难治性 (R/R) 疾病结果预测的标准，但它们并未完全捕获与 T 细胞接合治</a:t>
            </a:r>
          </a:p>
          <a:p>
            <a:pPr>
              <a:lnSpc>
                <a:spcPct val="103000"/>
              </a:lnSpc>
              <a:spcAft>
                <a:spcPts val="300"/>
              </a:spcAft>
              <a:defRPr sz="550">
                <a:solidFill>
                  <a:srgbClr val="21242A"/>
                </a:solidFill>
                <a:latin typeface="Microsoft YaHei"/>
              </a:defRPr>
            </a:pPr>
            <a:r>
              <a:t>疗高度相关的宿主相关因素，例如营养状况、贫血和淋巴细胞减少。这些宿主因素可以通过预后营养指数等经过验证的工具进行评估（PNI =（10 × 血清白蛋白 [g/L] ÷ 10）+（0.005 × 总淋巴细胞计数 [×10⁹/L] × 10⁶））。目的：开发和验证加权预后评分，用于预测接受格洛菲他玛治疗的 DLBCL 患者</a:t>
            </a:r>
          </a:p>
          <a:p>
            <a:pPr>
              <a:lnSpc>
                <a:spcPct val="103000"/>
              </a:lnSpc>
              <a:spcAft>
                <a:spcPts val="300"/>
              </a:spcAft>
              <a:defRPr sz="550">
                <a:solidFill>
                  <a:srgbClr val="21242A"/>
                </a:solidFill>
                <a:latin typeface="Microsoft YaHei"/>
              </a:defRPr>
            </a:pPr>
            <a:r>
              <a:t>的无进展生存期 (PFS) 和总生存期 (OS)，并将其性能与既定指数进行比较。方法：对来自捷克 NiHiL 登记处 (NCT03199066) 的连续新发 LBCL 患者进行筛查。对 101 名接受格洛菲他玛的 R/R DLBCL 患者（2019 年 4 月至 2025 年 9 月）进行了分析：3 名（3.0%）在第</a:t>
            </a:r>
          </a:p>
          <a:p>
            <a:pPr>
              <a:lnSpc>
                <a:spcPct val="103000"/>
              </a:lnSpc>
              <a:spcAft>
                <a:spcPts val="300"/>
              </a:spcAft>
              <a:defRPr sz="550">
                <a:solidFill>
                  <a:srgbClr val="21242A"/>
                </a:solidFill>
                <a:latin typeface="Microsoft YaHei"/>
              </a:defRPr>
            </a:pPr>
            <a:r>
              <a:t>二线，44 名（43.6%）在第三线，54 名（53.5%）在≥4 线。</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PHS w 指数是一种简单且有前途的工具，在格洛菲他单抗治疗的 DLBCL 中优于标准预后指数。通过将宿主健康状况（营养、贫血、淋巴细胞减少）与肿瘤负荷相结合，它可以改善风险分层并早期识别高风险患者以进行定制管理。</a:t>
            </a:r>
          </a:p>
          <a:p>
            <a:pPr>
              <a:lnSpc>
                <a:spcPct val="103000"/>
              </a:lnSpc>
              <a:spcAft>
                <a:spcPts val="300"/>
              </a:spcAft>
              <a:defRPr sz="570">
                <a:solidFill>
                  <a:srgbClr val="21242A"/>
                </a:solidFill>
                <a:latin typeface="Microsoft YaHei"/>
              </a:defRPr>
            </a:pPr>
            <a:r>
              <a:t>\n 致谢：由捷克共和国卫生部 (NU21-03-00411) DRO (FNOL, 00098892) 支持。 \n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12个月无进展生存率（PFS）</a:t>
                      </a:r>
                    </a:p>
                  </a:txBody>
                  <a:tcPr>
                    <a:solidFill>
                      <a:srgbClr val="F6F8FB"/>
                    </a:solidFill>
                  </a:tcPr>
                </a:tc>
                <a:tc>
                  <a:txBody>
                    <a:bodyPr wrap="square" lIns="36576" rIns="36576" tIns="18288" bIns="18288"/>
                    <a:lstStyle/>
                    <a:p>
                      <a:r>
                        <a:rPr sz="540" b="0">
                          <a:solidFill>
                            <a:srgbClr val="21242A"/>
                          </a:solidFill>
                          <a:latin typeface="Microsoft YaHei"/>
                        </a:rPr>
                        <a:t>41.0% (95% CI 29.3–52.3)</a:t>
                      </a:r>
                    </a:p>
                  </a:txBody>
                  <a:tcPr>
                    <a:solidFill>
                      <a:srgbClr val="F6F8FB"/>
                    </a:solidFill>
                  </a:tcPr>
                </a:tc>
              </a:tr>
              <a:tr h="249936">
                <a:tc>
                  <a:txBody>
                    <a:bodyPr wrap="square" lIns="36576" rIns="36576" tIns="18288" bIns="18288"/>
                    <a:lstStyle/>
                    <a:p>
                      <a:r>
                        <a:rPr sz="540" b="1">
                          <a:solidFill>
                            <a:srgbClr val="21242A"/>
                          </a:solidFill>
                          <a:latin typeface="Microsoft YaHei"/>
                        </a:rPr>
                        <a:t>12个月总生存率（OS）</a:t>
                      </a:r>
                    </a:p>
                  </a:txBody>
                  <a:tcPr>
                    <a:solidFill>
                      <a:srgbClr val="FFFFFF"/>
                    </a:solidFill>
                  </a:tcPr>
                </a:tc>
                <a:tc>
                  <a:txBody>
                    <a:bodyPr wrap="square" lIns="36576" rIns="36576" tIns="18288" bIns="18288"/>
                    <a:lstStyle/>
                    <a:p>
                      <a:r>
                        <a:rPr sz="540" b="0">
                          <a:solidFill>
                            <a:srgbClr val="21242A"/>
                          </a:solidFill>
                          <a:latin typeface="Microsoft YaHei"/>
                        </a:rPr>
                        <a:t>52.9% (95% CI 40.3–64.0)</a:t>
                      </a:r>
                    </a:p>
                  </a:txBody>
                  <a:tcPr>
                    <a:solidFill>
                      <a:srgbClr val="FFFFFF"/>
                    </a:solidFill>
                  </a:tcPr>
                </a:tc>
              </a:tr>
              <a:tr h="249936">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48.1% (n=39)</a:t>
                      </a:r>
                    </a:p>
                  </a:txBody>
                  <a:tcPr>
                    <a:solidFill>
                      <a:srgbClr val="F6F8FB"/>
                    </a:solidFill>
                  </a:tcPr>
                </a:tc>
              </a:tr>
              <a:tr h="249936">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35.8% (n=29)</a:t>
                      </a:r>
                    </a:p>
                  </a:txBody>
                  <a:tcPr>
                    <a:solidFill>
                      <a:srgbClr val="FFFFFF"/>
                    </a:solidFill>
                  </a:tcPr>
                </a:tc>
              </a:tr>
              <a:tr h="249936">
                <a:tc>
                  <a:txBody>
                    <a:bodyPr wrap="square" lIns="36576" rIns="36576" tIns="18288" bIns="18288"/>
                    <a:lstStyle/>
                    <a:p>
                      <a:r>
                        <a:rPr sz="540" b="1">
                          <a:solidFill>
                            <a:srgbClr val="21242A"/>
                          </a:solidFill>
                          <a:latin typeface="Microsoft YaHei"/>
                        </a:rPr>
                        <a:t>PHS w-Index区分能力（乐观校正C-index）</a:t>
                      </a:r>
                    </a:p>
                  </a:txBody>
                  <a:tcPr>
                    <a:solidFill>
                      <a:srgbClr val="F6F8FB"/>
                    </a:solidFill>
                  </a:tcPr>
                </a:tc>
                <a:tc>
                  <a:txBody>
                    <a:bodyPr wrap="square" lIns="36576" rIns="36576" tIns="18288" bIns="18288"/>
                    <a:lstStyle/>
                    <a:p>
                      <a:r>
                        <a:rPr sz="540" b="0">
                          <a:solidFill>
                            <a:srgbClr val="21242A"/>
                          </a:solidFill>
                          <a:latin typeface="Microsoft YaHei"/>
                        </a:rPr>
                        <a:t>PFS 0.659, OS 0.681</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摘要号：PS2106</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polatuzumab vedotin联合r-chp治疗未经治疗的弥漫性大b细胞淋巴瘤的真实疗效和安全性：一项英国多中...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and safety of polatuzumab vedotin with r-chp in previousl...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549140"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N=437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总缓解率（ORR）：93.1%</a:t>
            </a:r>
          </a:p>
          <a:p>
            <a:pPr>
              <a:lnSpc>
                <a:spcPct val="103000"/>
              </a:lnSpc>
              <a:spcAft>
                <a:spcPts val="300"/>
              </a:spcAft>
              <a:defRPr sz="800">
                <a:solidFill>
                  <a:srgbClr val="21242A"/>
                </a:solidFill>
                <a:latin typeface="Microsoft YaHei"/>
              </a:defRPr>
            </a:pPr>
            <a:r>
              <a:t>完全缓解率（CRR）：79.1%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人数：437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polatuzumab vedotin联合r-chp治疗未经治疗的弥漫性大b细胞淋巴瘤的真实疗效和安全性：一项英国多中...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and safety of polatuzumab vedotin with r-chp in previousl...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549140"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背景：III 期 POLARIX 试验确立了 Polatuzumab Vedotin 加 R-CHP (Pola-R-CHP) 作为 IPI 2-5 的一线弥漫性大 B 细胞淋巴瘤 (DLBCL) 的新标准。</a:t>
            </a:r>
          </a:p>
          <a:p>
            <a:pPr>
              <a:lnSpc>
                <a:spcPct val="103000"/>
              </a:lnSpc>
              <a:spcAft>
                <a:spcPts val="300"/>
              </a:spcAft>
              <a:defRPr sz="550">
                <a:solidFill>
                  <a:srgbClr val="21242A"/>
                </a:solidFill>
                <a:latin typeface="Microsoft YaHei"/>
              </a:defRPr>
            </a:pPr>
            <a:r>
              <a:t>[1]然而，真实世界数据（RWD）对于在更广泛的患者人口统计中证实这些发现至关重要，包括那些经常被排除在临床试验之外的具有显着合并症和高风险特征的患者。</a:t>
            </a:r>
          </a:p>
          <a:p>
            <a:pPr>
              <a:lnSpc>
                <a:spcPct val="103000"/>
              </a:lnSpc>
              <a:spcAft>
                <a:spcPts val="300"/>
              </a:spcAft>
              <a:defRPr sz="550">
                <a:solidFill>
                  <a:srgbClr val="21242A"/>
                </a:solidFill>
                <a:latin typeface="Microsoft YaHei"/>
              </a:defRPr>
            </a:pPr>
            <a:r>
              <a:t>目的：评估 Pola-R-CHP 在英国大型多中心队列中的真实疗效（ORR、CRR）和安全性，包括有关年龄、查尔森合并症指数（CCI）、起源细胞（COO）、转化疾病和 HIV 状态的特定亚组分析。</a:t>
            </a:r>
          </a:p>
          <a:p>
            <a:pPr>
              <a:lnSpc>
                <a:spcPct val="103000"/>
              </a:lnSpc>
              <a:spcAft>
                <a:spcPts val="300"/>
              </a:spcAft>
              <a:defRPr sz="550">
                <a:solidFill>
                  <a:srgbClr val="21242A"/>
                </a:solidFill>
                <a:latin typeface="Microsoft YaHei"/>
              </a:defRPr>
            </a:pPr>
            <a:r>
              <a:t>方法：这项回顾性研究纳入了英国多个中心（2023-2025 年）接受 Pola-R-CHP 治疗的 437 名既往未经治疗的 DLBCL 成人。收集有关基线特征、治疗依从性、最佳反应 (PET-CT) 和关键毒性的数据。生存分析，包括无进展生存期 (PFS) 和总生存期 (OS) 正在进行中。\n</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在这个大型的英国真实队列中，Pola-R-CHP 展示了功效和可交付性。该系列的 CR 率似乎与该试验相当，尽管该系列用于具有高风险特征且适应症范围比 POLARIX 试验更广泛的患者队列。这些数据支持 Pola-R-CHP 作为现实世界中的一线护理标准，然而，高龄和合并症患者的 3 级以上感染率较高，且治疗强度降低，</a:t>
            </a:r>
          </a:p>
          <a:p>
            <a:pPr>
              <a:lnSpc>
                <a:spcPct val="103000"/>
              </a:lnSpc>
              <a:spcAft>
                <a:spcPts val="300"/>
              </a:spcAft>
              <a:defRPr sz="570">
                <a:solidFill>
                  <a:srgbClr val="21242A"/>
                </a:solidFill>
                <a:latin typeface="Microsoft YaHei"/>
              </a:defRPr>
            </a:pPr>
            <a:r>
              <a:t>表明该人群需要警惕的支持护理。将呈现生存结果。</a:t>
            </a:r>
          </a:p>
          <a:p>
            <a:pPr>
              <a:lnSpc>
                <a:spcPct val="103000"/>
              </a:lnSpc>
              <a:spcAft>
                <a:spcPts val="300"/>
              </a:spcAft>
              <a:defRPr sz="570">
                <a:solidFill>
                  <a:srgbClr val="21242A"/>
                </a:solidFill>
                <a:latin typeface="Microsoft YaHei"/>
              </a:defRPr>
            </a:pPr>
            <a:r>
              <a:t>\n 参考文献：\n\n Tilly H 等人。 Polatuzumab Vedotin 用于治疗先前未经治疗的弥漫性大 B 细胞淋巴瘤。新英格兰医学杂志2022; 386：351-363。 DOI：10.1056/NEJMoa2115304\n\n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结果：中位年龄为 66 岁（范围 17-87 岁），其中 70.2% 的患者年龄≥60 岁。该队列具有高风险特征，包括：67.2% 患有 IV 期疾病，65.6% 具有 IPI 评分≥3，11.5% 具有双重/三重生物学特征，15.0% 患有转化疾病，21.3% 具有 ECOG ≥2。中位 CCI 为 4（I</a:t>
            </a:r>
          </a:p>
          <a:p>
            <a:pPr>
              <a:lnSpc>
                <a:spcPct val="103000"/>
              </a:lnSpc>
              <a:spcAft>
                <a:spcPts val="300"/>
              </a:spcAft>
              <a:defRPr sz="560">
                <a:solidFill>
                  <a:srgbClr val="21242A"/>
                </a:solidFill>
                <a:latin typeface="Microsoft YaHei"/>
              </a:defRPr>
            </a:pPr>
            <a:r>
              <a:t>QR 3-5）。</a:t>
            </a:r>
          </a:p>
          <a:p>
            <a:pPr>
              <a:lnSpc>
                <a:spcPct val="103000"/>
              </a:lnSpc>
              <a:spcAft>
                <a:spcPts val="300"/>
              </a:spcAft>
              <a:defRPr sz="560">
                <a:solidFill>
                  <a:srgbClr val="21242A"/>
                </a:solidFill>
                <a:latin typeface="Microsoft YaHei"/>
              </a:defRPr>
            </a:pPr>
            <a:r>
              <a:t>\n \n 疗效：总缓解率 (ORR) 为 93.1%，完全缓解率 (CRR) 为 79.1%。高风险亚组的疗效是一致的。无论 COO（GCB 92.9% vs. 非 GCB 92.5%，p&gt;0.99）或低级别淋巴瘤转化患者（96.9% vs. 92.4% de novo，p=0.63），ORR 仍然很高。</a:t>
            </a:r>
          </a:p>
          <a:p>
            <a:pPr>
              <a:lnSpc>
                <a:spcPct val="103000"/>
              </a:lnSpc>
              <a:spcAft>
                <a:spcPts val="300"/>
              </a:spcAft>
              <a:defRPr sz="560">
                <a:solidFill>
                  <a:srgbClr val="21242A"/>
                </a:solidFill>
                <a:latin typeface="Microsoft YaHei"/>
              </a:defRPr>
            </a:pPr>
            <a:r>
              <a:t>CCI 0.99) 或年龄的患者之间的 CRR 没有显着差异 \n 依从性：83.3% 的患者完成了所有 6 个周期。对于那些没有完成全部 6 个周期的患者，提前停止的原因包括：不良事件 (35.7%)、死亡 (25.0%) 和疾病进展 (23.2%)。</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一项前瞻性、多中心的意大利多短期现实研究：对fil-mab的polatuzumab vedotin加r-chp（pol...</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primary analysis of the polatuzumab vedotin plus r-chp (pola-r-chp) cohort of...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08863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N=177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完成治疗率：89%（155/174）||CR率：74%||PR率：11%||SD/PD率：4%||12个月PFS率：78.2%...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人数：177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登记号：NCT06008691</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一项前瞻性、多中心的意大利多短期现实研究：对fil-mab的polatuzumab vedotin加r-chp（pol...</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primary analysis of the polatuzumab vedotin plus r-chp (pola-r-chp) cohort of...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8359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088636"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背景：Pola-R-CHP 是针对既往未经治疗的 DLBCL 的新护理标准（Tilly，NEJM 2022），在意大利可报销 IPI 3-5。然而，现实世界（RW）数据仍然有限。</a:t>
            </a:r>
          </a:p>
          <a:p>
            <a:pPr>
              <a:lnSpc>
                <a:spcPct val="103000"/>
              </a:lnSpc>
              <a:spcAft>
                <a:spcPts val="300"/>
              </a:spcAft>
              <a:defRPr sz="550">
                <a:solidFill>
                  <a:srgbClr val="21242A"/>
                </a:solidFill>
                <a:latin typeface="Microsoft YaHei"/>
              </a:defRPr>
            </a:pPr>
            <a:r>
              <a:t>FIL-MAB (NCT06008691) 是一项独立、学术、多中心、前瞻性 RW 观察性研究，评估 65 个意大利中心和 8 个队列的新型 mAb 疗法的有效性和安全性。 目的：Pola-R-CHP 队列已达到初步分析的预定样本量，从而能够在欧洲大国的常规实践中评估其临床价值。</a:t>
            </a:r>
          </a:p>
          <a:p>
            <a:pPr>
              <a:lnSpc>
                <a:spcPct val="103000"/>
              </a:lnSpc>
              <a:spcAft>
                <a:spcPts val="300"/>
              </a:spcAft>
              <a:defRPr sz="550">
                <a:solidFill>
                  <a:srgbClr val="21242A"/>
                </a:solidFill>
                <a:latin typeface="Microsoft YaHei"/>
              </a:defRPr>
            </a:pPr>
            <a:r>
              <a:t>方法：在参与中心被视为 Pola-R-CHP 候选者的患者 (pts) 被前瞻性地纳入并按照常规实践进行治疗。基线特征、可行性、停药率、G3-5 AE、ORR/CRR（PET-CT，根据 Lugano 2014）、PFS 和 OS 由 Kaplan-Meier 估计。使用匹配调整间接比较 (MAIC) 方法对结果进行总</a:t>
            </a:r>
          </a:p>
          <a:p>
            <a:pPr>
              <a:lnSpc>
                <a:spcPct val="103000"/>
              </a:lnSpc>
              <a:spcAft>
                <a:spcPts val="300"/>
              </a:spcAft>
              <a:defRPr sz="550">
                <a:solidFill>
                  <a:srgbClr val="21242A"/>
                </a:solidFill>
                <a:latin typeface="Microsoft YaHei"/>
              </a:defRPr>
            </a:pPr>
            <a:r>
              <a:t>体分析并与 POLARIX 试验的 R-CHOP 组进行基准比较。对个体患者数据进行重新加权，以匹配 POLARIX 对照组的总体基线特征（年龄、性别、分期、ECOG PS、LDH、IPI）。</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据我们所知，对前瞻性 FIL-MAB Pola-R-CHP 队列的初步分析是欧洲 RW 首次评估该组合的经验。由于随访时间较短，我们的数据（包括与基线特征一致的重新加权分析）证明了 Pola-R-CHP 在广泛的 RW 多机构环境中的良好适用性和有效性。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完成治疗率：89%（155/174）||CR率：74%||PR率：11%||SD/PD率：4%||12个月PFS率：78.2%（95% CI 68.5–85.3）||12个月OS率：91.2%（95% CI 83.1–95.5）||de novo DLBCL亚组12个月PFS率为75.1%（95% CI 62</a:t>
            </a:r>
          </a:p>
          <a:p>
            <a:pPr>
              <a:lnSpc>
                <a:spcPct val="103000"/>
              </a:lnSpc>
              <a:spcAft>
                <a:spcPts val="300"/>
              </a:spcAft>
              <a:defRPr sz="560">
                <a:solidFill>
                  <a:srgbClr val="21242A"/>
                </a:solidFill>
                <a:latin typeface="Microsoft YaHei"/>
              </a:defRPr>
            </a:pPr>
            <a:r>
              <a:t>.5–83.9）||de novo DLBCL亚组12个月OS率为90.6%（95% CI 79.5–95.8）||加权分析后估计12个月PFS率为87.8%（bootstrap 95% CI 78.3–94.4）||治疗相关死亡：1%（2例）||G3-4中性粒细胞减少：15%||G3-4感染：9%</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难治性血液系统恶性肿瘤患者使用卡莫地布与体外精密筛查药物敏感性筛查的i/ii期研究中期结果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interim results of the phase i/ii study investigating karonudib in patients w...</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PS1649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549140"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多发性骨髓瘤，弥漫性大B细胞淋巴瘤，急性淋巴细胞白血病，急性髓系白血病，骨髓增生异常综合征</a:t>
            </a:r>
          </a:p>
          <a:p>
            <a:pPr>
              <a:lnSpc>
                <a:spcPct val="103000"/>
              </a:lnSpc>
              <a:spcAft>
                <a:spcPts val="300"/>
              </a:spcAft>
              <a:defRPr sz="800">
                <a:solidFill>
                  <a:srgbClr val="21242A"/>
                </a:solidFill>
                <a:latin typeface="Microsoft YaHei"/>
              </a:defRPr>
            </a:pPr>
            <a:r>
              <a:t>N=27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试验药/方案：Karonudib</a:t>
            </a:r>
          </a:p>
          <a:p>
            <a:pPr>
              <a:lnSpc>
                <a:spcPct val="103000"/>
              </a:lnSpc>
              <a:spcAft>
                <a:spcPts val="300"/>
              </a:spcAft>
              <a:defRPr sz="800">
                <a:solidFill>
                  <a:srgbClr val="21242A"/>
                </a:solidFill>
                <a:latin typeface="Microsoft YaHei"/>
              </a:defRPr>
            </a:pPr>
            <a:r>
              <a:t>靶点：NUDT1</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多组/多方案比较：试验组1：Karonudib单药（剂量递增）</a:t>
            </a:r>
          </a:p>
          <a:p>
            <a:pPr>
              <a:lnSpc>
                <a:spcPct val="103000"/>
              </a:lnSpc>
              <a:spcAft>
                <a:spcPts val="300"/>
              </a:spcAft>
              <a:defRPr sz="800">
                <a:solidFill>
                  <a:srgbClr val="21242A"/>
                </a:solidFill>
                <a:latin typeface="Microsoft YaHei"/>
              </a:defRPr>
            </a:pPr>
            <a:r>
              <a:t>试验组2：Karonudib联合Idarubicin</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安全性：最常见治疗相关不良事件（≥25%）包括贫血（50%）、中性粒细胞减少（43%）、腹泻（43%）、恶心（36%）、血小板...</a:t>
            </a:r>
          </a:p>
          <a:p>
            <a:pPr>
              <a:lnSpc>
                <a:spcPct val="103000"/>
              </a:lnSpc>
              <a:spcAft>
                <a:spcPts val="300"/>
              </a:spcAft>
              <a:defRPr sz="800">
                <a:solidFill>
                  <a:srgbClr val="21242A"/>
                </a:solidFill>
                <a:latin typeface="Microsoft YaHei"/>
              </a:defRPr>
            </a:pPr>
            <a:r>
              <a:t>剂量限制性毒性（DLT）：1例5级颅内出血（可能相关）发生于队列2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人数：27</a:t>
            </a:r>
          </a:p>
          <a:p>
            <a:pPr>
              <a:lnSpc>
                <a:spcPct val="103000"/>
              </a:lnSpc>
              <a:spcAft>
                <a:spcPts val="300"/>
              </a:spcAft>
              <a:defRPr sz="810">
                <a:solidFill>
                  <a:srgbClr val="21242A"/>
                </a:solidFill>
                <a:latin typeface="Microsoft YaHei"/>
              </a:defRPr>
            </a:pPr>
            <a:r>
              <a:t>适应症：多发性骨髓瘤、弥漫性大B细胞淋巴瘤、急性淋巴细胞白血病</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登记号：NCT04077307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试验药/方案：Karonudib</a:t>
            </a:r>
          </a:p>
          <a:p>
            <a:pPr>
              <a:lnSpc>
                <a:spcPct val="103000"/>
              </a:lnSpc>
              <a:spcAft>
                <a:spcPts val="300"/>
              </a:spcAft>
              <a:defRPr sz="810">
                <a:solidFill>
                  <a:srgbClr val="21242A"/>
                </a:solidFill>
                <a:latin typeface="Microsoft YaHei"/>
              </a:defRPr>
            </a:pPr>
            <a:r>
              <a:t>靶点：NUDT1</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难治性血液系统恶性肿瘤患者使用卡莫地布与体外精密筛查药物敏感性筛查的i/ii期研究中期结果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interim results of the phase i/ii study investigating karonudib in patients w...</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PS1649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32964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549140"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89/187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背景：MutT 同源物 1 (MTH1) 可以使细胞免受 ROS 诱导的 DNA 损伤的毒害，对于癌细胞的生存至关重要。 RAS 转化的肿瘤细胞中 MTH1 的缺失会导致增殖异常和多种恶性肿瘤，包括过度表达 MTH1 的血液肿瘤。</a:t>
            </a:r>
          </a:p>
          <a:p>
            <a:pPr>
              <a:lnSpc>
                <a:spcPct val="103000"/>
              </a:lnSpc>
              <a:spcAft>
                <a:spcPts val="300"/>
              </a:spcAft>
              <a:defRPr sz="550">
                <a:solidFill>
                  <a:srgbClr val="21242A"/>
                </a:solidFill>
                <a:latin typeface="Microsoft YaHei"/>
              </a:defRPr>
            </a:pPr>
            <a:r>
              <a:t>Karonudib (TH1579, OXC-101) 是一种有丝分裂 MTH1 抑制剂，通过破坏微管动力学和染色体排列来阻止有丝分裂，并增加氧化核苷与 DNA 的结合，多个血液学临床前模型证明可提高生存率。</a:t>
            </a:r>
          </a:p>
          <a:p>
            <a:pPr>
              <a:lnSpc>
                <a:spcPct val="103000"/>
              </a:lnSpc>
              <a:spcAft>
                <a:spcPts val="300"/>
              </a:spcAft>
              <a:defRPr sz="550">
                <a:solidFill>
                  <a:srgbClr val="21242A"/>
                </a:solidFill>
                <a:latin typeface="Microsoft YaHei"/>
              </a:defRPr>
            </a:pPr>
            <a:r>
              <a:t>目的：报告 Karonudib 治疗晚期复发/难治性 (R/R) AML、ALL、DLBCL、MM 和高危 MDS 成人患者的 I/II 期 MAATEO 试验 (NCT04077307) 的第 1 部分和第 2 部分剂量递增中期数据。</a:t>
            </a:r>
          </a:p>
          <a:p>
            <a:pPr>
              <a:lnSpc>
                <a:spcPct val="103000"/>
              </a:lnSpc>
              <a:spcAft>
                <a:spcPts val="300"/>
              </a:spcAft>
              <a:defRPr sz="550">
                <a:solidFill>
                  <a:srgbClr val="21242A"/>
                </a:solidFill>
                <a:latin typeface="Microsoft YaHei"/>
              </a:defRPr>
            </a:pPr>
            <a:r>
              <a:t>方法：这项单组剂量递增试验纳入了年龄为 18-75 岁且器官功能充足的患者，采用 3+3 设计接受递增口服剂量的 Karonudib。主要目标是安全性和耐受性，通过前 4 周的 DLT 率进行评估。次要目标包括临床获益、药代动力学和生物标志物分析。在第 1 周期第 22 天和周期结束时进行疾病评估。第 2 部分评估 K</a:t>
            </a:r>
          </a:p>
          <a:p>
            <a:pPr>
              <a:lnSpc>
                <a:spcPct val="103000"/>
              </a:lnSpc>
              <a:spcAft>
                <a:spcPts val="300"/>
              </a:spcAft>
              <a:defRPr sz="550">
                <a:solidFill>
                  <a:srgbClr val="21242A"/>
                </a:solidFill>
                <a:latin typeface="Microsoft YaHei"/>
              </a:defRPr>
            </a:pPr>
            <a:r>
              <a:t>aronudib 与伊达比星联合治疗 R/R AML 和高危 MDS 的 RP2D。</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Karonudib 在 R/R AML 和 MDS 中总体耐受性良好，具有可接受的安全性和初步临床活性。目前正在对 RP2D 与伊达比星的组合进行评估，目的是优化该组合的递送。药物敏感性筛查与之前和当前的临床结果有很强的相关性。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安全性</a:t>
                      </a:r>
                    </a:p>
                  </a:txBody>
                  <a:tcPr>
                    <a:solidFill>
                      <a:srgbClr val="F6F8FB"/>
                    </a:solidFill>
                  </a:tcPr>
                </a:tc>
                <a:tc>
                  <a:txBody>
                    <a:bodyPr wrap="square" lIns="36576" rIns="36576" tIns="18288" bIns="18288"/>
                    <a:lstStyle/>
                    <a:p>
                      <a:r>
                        <a:rPr sz="540" b="0">
                          <a:solidFill>
                            <a:srgbClr val="21242A"/>
                          </a:solidFill>
                          <a:latin typeface="Microsoft YaHei"/>
                        </a:rPr>
                        <a:t>最常见治疗相关不良事件（≥25%）包括贫血（50%）、中性粒细胞减少（43%）、腹泻（43%）、恶心（36%）、血小板减少（29%）</a:t>
                      </a:r>
                    </a:p>
                  </a:txBody>
                  <a:tcPr>
                    <a:solidFill>
                      <a:srgbClr val="F6F8FB"/>
                    </a:solidFill>
                  </a:tcPr>
                </a:tc>
              </a:tr>
              <a:tr h="214230">
                <a:tc>
                  <a:txBody>
                    <a:bodyPr wrap="square" lIns="36576" rIns="36576" tIns="18288" bIns="18288"/>
                    <a:lstStyle/>
                    <a:p>
                      <a:r>
                        <a:rPr sz="540" b="1">
                          <a:solidFill>
                            <a:srgbClr val="21242A"/>
                          </a:solidFill>
                          <a:latin typeface="Microsoft YaHei"/>
                        </a:rPr>
                        <a:t>剂量限制性毒性（DLT）</a:t>
                      </a:r>
                    </a:p>
                  </a:txBody>
                  <a:tcPr>
                    <a:solidFill>
                      <a:srgbClr val="FFFFFF"/>
                    </a:solidFill>
                  </a:tcPr>
                </a:tc>
                <a:tc>
                  <a:txBody>
                    <a:bodyPr wrap="square" lIns="36576" rIns="36576" tIns="18288" bIns="18288"/>
                    <a:lstStyle/>
                    <a:p>
                      <a:r>
                        <a:rPr sz="540" b="0">
                          <a:solidFill>
                            <a:srgbClr val="21242A"/>
                          </a:solidFill>
                          <a:latin typeface="Microsoft YaHei"/>
                        </a:rPr>
                        <a:t>1例5级颅内出血（可能相关）发生于队列2</a:t>
                      </a:r>
                    </a:p>
                  </a:txBody>
                  <a:tcPr>
                    <a:solidFill>
                      <a:srgbClr val="FFFFFF"/>
                    </a:solidFill>
                  </a:tcPr>
                </a:tc>
              </a:tr>
              <a:tr h="214230">
                <a:tc>
                  <a:txBody>
                    <a:bodyPr wrap="square" lIns="36576" rIns="36576" tIns="18288" bIns="18288"/>
                    <a:lstStyle/>
                    <a:p>
                      <a:r>
                        <a:rPr sz="540" b="1">
                          <a:solidFill>
                            <a:srgbClr val="21242A"/>
                          </a:solidFill>
                          <a:latin typeface="Microsoft YaHei"/>
                        </a:rPr>
                        <a:t>疗效-AML（2例可评估）</a:t>
                      </a:r>
                    </a:p>
                  </a:txBody>
                  <a:tcPr>
                    <a:solidFill>
                      <a:srgbClr val="F6F8FB"/>
                    </a:solidFill>
                  </a:tcPr>
                </a:tc>
                <a:tc>
                  <a:txBody>
                    <a:bodyPr wrap="square" lIns="36576" rIns="36576" tIns="18288" bIns="18288"/>
                    <a:lstStyle/>
                    <a:p>
                      <a:r>
                        <a:rPr sz="540" b="0">
                          <a:solidFill>
                            <a:srgbClr val="21242A"/>
                          </a:solidFill>
                          <a:latin typeface="Microsoft YaHei"/>
                        </a:rPr>
                        <a:t>1例部分缓解（133天），1例疾病稳定（141天）</a:t>
                      </a:r>
                    </a:p>
                  </a:txBody>
                  <a:tcPr>
                    <a:solidFill>
                      <a:srgbClr val="F6F8FB"/>
                    </a:solidFill>
                  </a:tcPr>
                </a:tc>
              </a:tr>
              <a:tr h="214230">
                <a:tc>
                  <a:txBody>
                    <a:bodyPr wrap="square" lIns="36576" rIns="36576" tIns="18288" bIns="18288"/>
                    <a:lstStyle/>
                    <a:p>
                      <a:r>
                        <a:rPr sz="540" b="1">
                          <a:solidFill>
                            <a:srgbClr val="21242A"/>
                          </a:solidFill>
                          <a:latin typeface="Microsoft YaHei"/>
                        </a:rPr>
                        <a:t>疗效-MDS（4例可评估）</a:t>
                      </a:r>
                    </a:p>
                  </a:txBody>
                  <a:tcPr>
                    <a:solidFill>
                      <a:srgbClr val="FFFFFF"/>
                    </a:solidFill>
                  </a:tcPr>
                </a:tc>
                <a:tc>
                  <a:txBody>
                    <a:bodyPr wrap="square" lIns="36576" rIns="36576" tIns="18288" bIns="18288"/>
                    <a:lstStyle/>
                    <a:p>
                      <a:r>
                        <a:rPr sz="540" b="0">
                          <a:solidFill>
                            <a:srgbClr val="21242A"/>
                          </a:solidFill>
                          <a:latin typeface="Microsoft YaHei"/>
                        </a:rPr>
                        <a:t>最佳反应为疾病稳定（65天）</a:t>
                      </a:r>
                    </a:p>
                  </a:txBody>
                  <a:tcPr>
                    <a:solidFill>
                      <a:srgbClr val="FFFFFF"/>
                    </a:solidFill>
                  </a:tcPr>
                </a:tc>
              </a:tr>
              <a:tr h="214230">
                <a:tc>
                  <a:txBody>
                    <a:bodyPr wrap="square" lIns="36576" rIns="36576" tIns="18288" bIns="18288"/>
                    <a:lstStyle/>
                    <a:p>
                      <a:r>
                        <a:rPr sz="540" b="1">
                          <a:solidFill>
                            <a:srgbClr val="21242A"/>
                          </a:solidFill>
                          <a:latin typeface="Microsoft YaHei"/>
                        </a:rPr>
                        <a:t>疗效-DLBCL（2例可评估）</a:t>
                      </a:r>
                    </a:p>
                  </a:txBody>
                  <a:tcPr>
                    <a:solidFill>
                      <a:srgbClr val="F6F8FB"/>
                    </a:solidFill>
                  </a:tcPr>
                </a:tc>
                <a:tc>
                  <a:txBody>
                    <a:bodyPr wrap="square" lIns="36576" rIns="36576" tIns="18288" bIns="18288"/>
                    <a:lstStyle/>
                    <a:p>
                      <a:r>
                        <a:rPr sz="540" b="0">
                          <a:solidFill>
                            <a:srgbClr val="21242A"/>
                          </a:solidFill>
                          <a:latin typeface="Microsoft YaHei"/>
                        </a:rPr>
                        <a:t>最佳反应为疾病稳定（167天）</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摘要号：PS1649</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在靶向治疗时代重新评估自体干细胞移植在原发性中枢神经系统弥漫性大b细胞淋巴瘤中的作用：一项倾向评分匹配的多中心现实研究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re‑evaluating the role of autologous stem cell transplantation in primary cns...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PF992</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3767328"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N=291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分组：ASCT组/非ASCT组</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主要终点：无进展生存期（PFS），ASCT组优于非ASCT组（p=0.023）</a:t>
            </a:r>
          </a:p>
          <a:p>
            <a:pPr>
              <a:lnSpc>
                <a:spcPct val="103000"/>
              </a:lnSpc>
              <a:spcAft>
                <a:spcPts val="300"/>
              </a:spcAft>
              <a:defRPr sz="800">
                <a:solidFill>
                  <a:srgbClr val="21242A"/>
                </a:solidFill>
                <a:latin typeface="Microsoft YaHei"/>
              </a:defRPr>
            </a:pPr>
            <a:r>
              <a:t>次要终点：总生存期（OS），ASCT组有获益趋势但未达统计学意义（p=0.085）。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人数：291</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分组/治疗流程：ASCT组/非ASCT组</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在靶向治疗时代重新评估自体干细胞移植在原发性中枢神经系统弥漫性大b细胞淋巴瘤中的作用：一项倾向评分匹配的多中心现实研究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re‑evaluating the role of autologous stem cell transplantation in primary cns...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PF992</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3767328"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背景：随着 BTK 抑制剂 (BTKi) 和来那度胺越来越多地用于诱导、挽救和维持治疗，自体干细胞移植 (ASCT) 在原发性中枢神经系统弥漫性大 B 细胞淋巴瘤 (PCNS-DLBCL) 中的作用正在重新评估，特别是在新诊断的患者中。在现实临床实践中，ASCT 分配受到基线健康状况和疾病特征的影响，这凸显了需要进行混</a:t>
            </a:r>
          </a:p>
          <a:p>
            <a:pPr>
              <a:lnSpc>
                <a:spcPct val="103000"/>
              </a:lnSpc>
              <a:spcAft>
                <a:spcPts val="300"/>
              </a:spcAft>
              <a:defRPr sz="550">
                <a:solidFill>
                  <a:srgbClr val="21242A"/>
                </a:solidFill>
                <a:latin typeface="Microsoft YaHei"/>
              </a:defRPr>
            </a:pPr>
            <a:r>
              <a:t>杂控制来评估结果并阐明诱导后巩固策略是否是靶向治疗时代长期结果的关键。目的：本研究旨在评估 BTKi/来那度胺时代治疗的 PCNS-DLBCL 患者的 ASCT 与无进展生存期 (PFS) 和总生存期 (OS) 之间的关联，使用倾向评分匹配 (PSM) 来调整混杂因素。我们还研究了诱导后巩固策略（ASCT 和/或维持）</a:t>
            </a:r>
          </a:p>
          <a:p>
            <a:pPr>
              <a:lnSpc>
                <a:spcPct val="103000"/>
              </a:lnSpc>
              <a:spcAft>
                <a:spcPts val="300"/>
              </a:spcAft>
              <a:defRPr sz="550">
                <a:solidFill>
                  <a:srgbClr val="21242A"/>
                </a:solidFill>
                <a:latin typeface="Microsoft YaHei"/>
              </a:defRPr>
            </a:pPr>
            <a:r>
              <a:t>和 BTKi/来那度胺治疗途径是否对结果进行分层，包括在治疗反应者中。方法：我们对常规治疗的 PCNS-DLBCL 患者进行了一项回顾性、三中心队列研究。主要暴露是 ASCT（是与否）。</a:t>
            </a:r>
          </a:p>
          <a:p>
            <a:pPr>
              <a:lnSpc>
                <a:spcPct val="103000"/>
              </a:lnSpc>
              <a:spcAft>
                <a:spcPts val="300"/>
              </a:spcAft>
              <a:defRPr sz="550">
                <a:solidFill>
                  <a:srgbClr val="21242A"/>
                </a:solidFill>
                <a:latin typeface="Microsoft YaHei"/>
              </a:defRPr>
            </a:pPr>
            <a:r>
              <a:t>PSM 使用最近邻匹配进行，目标比例为 1:2，卡尺宽度为 0.1，调整表 1 中列出的协变量。使用标准化均值差来评估平衡。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 BTKi/来那度胺时代治疗的 PCNS-DLBCL 患者中，ASCT 与 PSM 后 PFS 改善相关，而 OS 呈现有利趋势。诱导后巩固策略对长期结果的影响最为显着，维持治疗对于未接受 ASCT 的患者特别有益。结果也因治疗方案类型（基于 BTKi、基于来那度胺或两者都不基于）和 ASCT 状态而异。这些发现支持</a:t>
            </a:r>
          </a:p>
          <a:p>
            <a:pPr>
              <a:lnSpc>
                <a:spcPct val="103000"/>
              </a:lnSpc>
              <a:spcAft>
                <a:spcPts val="300"/>
              </a:spcAft>
              <a:defRPr sz="570">
                <a:solidFill>
                  <a:srgbClr val="21242A"/>
                </a:solidFill>
                <a:latin typeface="Microsoft YaHei"/>
              </a:defRPr>
            </a:pPr>
            <a:r>
              <a:t>选择 ASCT 和/或维持治疗的风险适应方法，强调了前瞻性验证的必要性。提交的图中显示了关键的生存曲线。</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主要终点：无进展生存期（PFS），ASCT组优于非ASCT组（p=0.023）；次要终点：总生存期（OS），ASCT组有获益趋势但未达统计学意义（p=0.085）。</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疾病场景：PCNSL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通过脑脊液中的分子和免疫生物标志物诊断原发性中枢神经系统淋巴瘤：一项多中心前瞻性队列研究（pricelus）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diagnosing primary central nervous system lymphoma through molecular and immu...</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3767328"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N=255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前瞻性临床研究结果：diagnosing primary central nervous system lymphoma th...</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单变量分析：6种细胞因子诊断AUC范围0.67-0.96</a:t>
            </a:r>
          </a:p>
          <a:p>
            <a:pPr>
              <a:lnSpc>
                <a:spcPct val="103000"/>
              </a:lnSpc>
              <a:spcAft>
                <a:spcPts val="300"/>
              </a:spcAft>
              <a:defRPr sz="800">
                <a:solidFill>
                  <a:srgbClr val="21242A"/>
                </a:solidFill>
                <a:latin typeface="Microsoft YaHei"/>
              </a:defRPr>
            </a:pPr>
            <a:r>
              <a:t>MYD88-CSF检出率：56%的CNSL病例阳性，特异性99%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人数：255</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研究主题：diagnosing primary central nervous system lymphoma through molecular and immune biomarkers in cerebrospinal fluid: a mu...</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通过脑脊液中的分子和免疫生物标志物诊断原发性中枢神经系统淋巴瘤：一项多中心前瞻性队列研究（pricelus）</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diagnosing primary central nervous system lymphoma through molecular and immu...</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3767328"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背景：原发性中枢神经系统淋巴瘤（PCNSL）通常通过脑活检来诊断，该过程存在风险且诊断延迟。新出现的脑脊液 (CSF) 生物标志物，包括 CSF 中的 MYD88 L265P 突变 (MYD88-CSF) 和多种细胞因子，可能会提高诊断准确性，但证据大多来自回顾性、非连续队列。我们进行了一项全国性、多中心、前瞻性队列研</a:t>
            </a:r>
          </a:p>
          <a:p>
            <a:pPr>
              <a:lnSpc>
                <a:spcPct val="103000"/>
              </a:lnSpc>
              <a:spcAft>
                <a:spcPts val="300"/>
              </a:spcAft>
              <a:defRPr sz="550">
                <a:solidFill>
                  <a:srgbClr val="21242A"/>
                </a:solidFill>
                <a:latin typeface="Microsoft YaHei"/>
              </a:defRPr>
            </a:pPr>
            <a:r>
              <a:t>究，以验证多种脑脊液生物标志物对疑似 PCNSL 患者的诊断效用。</a:t>
            </a:r>
          </a:p>
          <a:p>
            <a:pPr>
              <a:lnSpc>
                <a:spcPct val="103000"/>
              </a:lnSpc>
              <a:spcAft>
                <a:spcPts val="300"/>
              </a:spcAft>
              <a:defRPr sz="550">
                <a:solidFill>
                  <a:srgbClr val="21242A"/>
                </a:solidFill>
                <a:latin typeface="Microsoft YaHei"/>
              </a:defRPr>
            </a:pPr>
            <a:r>
              <a:t>目的：前瞻性验证脑脊液生物标志物对疑似 PCNSL 的诊断性能，并构建高特异性诊断算法，并对预后价值、重复腰椎穿刺和放射学特征进行额外的探索性分析。</a:t>
            </a:r>
          </a:p>
          <a:p>
            <a:pPr>
              <a:lnSpc>
                <a:spcPct val="103000"/>
              </a:lnSpc>
              <a:spcAft>
                <a:spcPts val="300"/>
              </a:spcAft>
              <a:defRPr sz="550">
                <a:solidFill>
                  <a:srgbClr val="21242A"/>
                </a:solidFill>
                <a:latin typeface="Microsoft YaHei"/>
              </a:defRPr>
            </a:pPr>
            <a:r>
              <a:t>方法：2021 年至 2025 年间前瞻性地招募了荷兰五家医院接受 CSF 分析的疑似 PCNSL 患者。分析重点是 MYD88-CSF 和具有报告诊断价值的细胞因子。使用多变量和 LASSO 回归构建诊断面板，然后进行决策树分析来评估诊断性能。探索性分析评估了新型生物标志物与临床结果之间的关联。我们还评估了重复腰椎穿</a:t>
            </a:r>
          </a:p>
          <a:p>
            <a:pPr>
              <a:lnSpc>
                <a:spcPct val="103000"/>
              </a:lnSpc>
              <a:spcAft>
                <a:spcPts val="300"/>
              </a:spcAft>
              <a:defRPr sz="550">
                <a:solidFill>
                  <a:srgbClr val="21242A"/>
                </a:solidFill>
                <a:latin typeface="Microsoft YaHei"/>
              </a:defRPr>
            </a:pPr>
            <a:r>
              <a:t>刺的诊断率，并检查了放射学特征和脑脊液生物标志物水平之间的关系。</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在这一前瞻性多中心疑似 PCNSL 患者队列中，我们验证了 MYD88-CSF、IL10 和 CXCL13 的高诊断价值。在选定的临床情况下，联合脑脊液生物标志物检测可能足以诊断，无需进行脑活检，但结果应在完整的临床背景下进行解释。对于未达到脑脊液生物标志物阈值的患者，仍然需要进行诊断性脑活检。</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单变量分析</a:t>
                      </a:r>
                    </a:p>
                  </a:txBody>
                  <a:tcPr>
                    <a:solidFill>
                      <a:srgbClr val="F6F8FB"/>
                    </a:solidFill>
                  </a:tcPr>
                </a:tc>
                <a:tc>
                  <a:txBody>
                    <a:bodyPr wrap="square" lIns="36576" rIns="36576" tIns="18288" bIns="18288"/>
                    <a:lstStyle/>
                    <a:p>
                      <a:r>
                        <a:rPr sz="540" b="0">
                          <a:solidFill>
                            <a:srgbClr val="21242A"/>
                          </a:solidFill>
                          <a:latin typeface="Microsoft YaHei"/>
                        </a:rPr>
                        <a:t>6种细胞因子诊断AUC范围0.67-0.96</a:t>
                      </a:r>
                    </a:p>
                  </a:txBody>
                  <a:tcPr>
                    <a:solidFill>
                      <a:srgbClr val="F6F8FB"/>
                    </a:solidFill>
                  </a:tcPr>
                </a:tc>
              </a:tr>
              <a:tr h="214230">
                <a:tc>
                  <a:txBody>
                    <a:bodyPr wrap="square" lIns="36576" rIns="36576" tIns="18288" bIns="18288"/>
                    <a:lstStyle/>
                    <a:p>
                      <a:r>
                        <a:rPr sz="540" b="1">
                          <a:solidFill>
                            <a:srgbClr val="21242A"/>
                          </a:solidFill>
                          <a:latin typeface="Microsoft YaHei"/>
                        </a:rPr>
                        <a:t>MYD88-CSF检出率</a:t>
                      </a:r>
                    </a:p>
                  </a:txBody>
                  <a:tcPr>
                    <a:solidFill>
                      <a:srgbClr val="FFFFFF"/>
                    </a:solidFill>
                  </a:tcPr>
                </a:tc>
                <a:tc>
                  <a:txBody>
                    <a:bodyPr wrap="square" lIns="36576" rIns="36576" tIns="18288" bIns="18288"/>
                    <a:lstStyle/>
                    <a:p>
                      <a:r>
                        <a:rPr sz="540" b="0">
                          <a:solidFill>
                            <a:srgbClr val="21242A"/>
                          </a:solidFill>
                          <a:latin typeface="Microsoft YaHei"/>
                        </a:rPr>
                        <a:t>56%的CNSL病例阳性，特异性99%</a:t>
                      </a:r>
                    </a:p>
                  </a:txBody>
                  <a:tcPr>
                    <a:solidFill>
                      <a:srgbClr val="FFFFFF"/>
                    </a:solidFill>
                  </a:tcPr>
                </a:tc>
              </a:tr>
              <a:tr h="214230">
                <a:tc>
                  <a:txBody>
                    <a:bodyPr wrap="square" lIns="36576" rIns="36576" tIns="18288" bIns="18288"/>
                    <a:lstStyle/>
                    <a:p>
                      <a:r>
                        <a:rPr sz="540" b="1">
                          <a:solidFill>
                            <a:srgbClr val="21242A"/>
                          </a:solidFill>
                          <a:latin typeface="Microsoft YaHei"/>
                        </a:rPr>
                        <a:t>多变量模型</a:t>
                      </a:r>
                    </a:p>
                  </a:txBody>
                  <a:tcPr>
                    <a:solidFill>
                      <a:srgbClr val="F6F8FB"/>
                    </a:solidFill>
                  </a:tcPr>
                </a:tc>
                <a:tc>
                  <a:txBody>
                    <a:bodyPr wrap="square" lIns="36576" rIns="36576" tIns="18288" bIns="18288"/>
                    <a:lstStyle/>
                    <a:p>
                      <a:r>
                        <a:rPr sz="540" b="0">
                          <a:solidFill>
                            <a:srgbClr val="21242A"/>
                          </a:solidFill>
                          <a:latin typeface="Microsoft YaHei"/>
                        </a:rPr>
                        <a:t>MYD88-CSF、IL10、CXCL13独立与CNSL诊断相关</a:t>
                      </a:r>
                    </a:p>
                  </a:txBody>
                  <a:tcPr>
                    <a:solidFill>
                      <a:srgbClr val="F6F8FB"/>
                    </a:solidFill>
                  </a:tcPr>
                </a:tc>
              </a:tr>
              <a:tr h="214230">
                <a:tc>
                  <a:txBody>
                    <a:bodyPr wrap="square" lIns="36576" rIns="36576" tIns="18288" bIns="18288"/>
                    <a:lstStyle/>
                    <a:p>
                      <a:r>
                        <a:rPr sz="540" b="1">
                          <a:solidFill>
                            <a:srgbClr val="21242A"/>
                          </a:solidFill>
                          <a:latin typeface="Microsoft YaHei"/>
                        </a:rPr>
                        <a:t>三者组合</a:t>
                      </a:r>
                    </a:p>
                  </a:txBody>
                  <a:tcPr>
                    <a:solidFill>
                      <a:srgbClr val="FFFFFF"/>
                    </a:solidFill>
                  </a:tcPr>
                </a:tc>
                <a:tc>
                  <a:txBody>
                    <a:bodyPr wrap="square" lIns="36576" rIns="36576" tIns="18288" bIns="18288"/>
                    <a:lstStyle/>
                    <a:p>
                      <a:r>
                        <a:rPr sz="540" b="0">
                          <a:solidFill>
                            <a:srgbClr val="21242A"/>
                          </a:solidFill>
                          <a:latin typeface="Microsoft YaHei"/>
                        </a:rPr>
                        <a:t>特异性100%，敏感性54%</a:t>
                      </a:r>
                    </a:p>
                  </a:txBody>
                  <a:tcPr>
                    <a:solidFill>
                      <a:srgbClr val="FFFFFF"/>
                    </a:solidFill>
                  </a:tcPr>
                </a:tc>
              </a:tr>
              <a:tr h="214230">
                <a:tc>
                  <a:txBody>
                    <a:bodyPr wrap="square" lIns="36576" rIns="36576" tIns="18288" bIns="18288"/>
                    <a:lstStyle/>
                    <a:p>
                      <a:r>
                        <a:rPr sz="540" b="1">
                          <a:solidFill>
                            <a:srgbClr val="21242A"/>
                          </a:solidFill>
                          <a:latin typeface="Microsoft YaHei"/>
                        </a:rPr>
                        <a:t>阴性预测值</a:t>
                      </a:r>
                    </a:p>
                  </a:txBody>
                  <a:tcPr>
                    <a:solidFill>
                      <a:srgbClr val="F6F8FB"/>
                    </a:solidFill>
                  </a:tcPr>
                </a:tc>
                <a:tc>
                  <a:txBody>
                    <a:bodyPr wrap="square" lIns="36576" rIns="36576" tIns="18288" bIns="18288"/>
                    <a:lstStyle/>
                    <a:p>
                      <a:r>
                        <a:rPr sz="540" b="0">
                          <a:solidFill>
                            <a:srgbClr val="21242A"/>
                          </a:solidFill>
                          <a:latin typeface="Microsoft YaHei"/>
                        </a:rPr>
                        <a:t>三项标志物均阴性时阴性预测值为99.4%</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摘要号：S257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疾病场景：PCNSL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中枢神经系统淋巴瘤car-t复发后的治疗模式和临床结果，重点是二次car-t治疗</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post–car-t relapse in cns-involved lymphoma: treatment patterns and clinical...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PF983</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N=77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分组：由于是回顾性研究，未进行前瞻性随机分组，但根据治疗后分为：</a:t>
            </a:r>
          </a:p>
          <a:p>
            <a:pPr>
              <a:lnSpc>
                <a:spcPct val="103000"/>
              </a:lnSpc>
              <a:spcAft>
                <a:spcPts val="300"/>
              </a:spcAft>
              <a:defRPr sz="800">
                <a:solidFill>
                  <a:srgbClr val="21242A"/>
                </a:solidFill>
                <a:latin typeface="Microsoft YaHei"/>
              </a:defRPr>
            </a:pPr>
            <a:r>
              <a:t>组1：第二次CAR-T治疗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对照/比较：由于是回顾性研究，未进行前瞻性随机分组，但根据治疗后分为：</a:t>
            </a:r>
          </a:p>
          <a:p>
            <a:pPr>
              <a:lnSpc>
                <a:spcPct val="103000"/>
              </a:lnSpc>
              <a:spcAft>
                <a:spcPts val="300"/>
              </a:spcAft>
              <a:defRPr sz="800">
                <a:solidFill>
                  <a:srgbClr val="21242A"/>
                </a:solidFill>
                <a:latin typeface="Microsoft YaHei"/>
              </a:defRPr>
            </a:pPr>
            <a:r>
              <a:t>组1：第二次CAR-T治疗</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总缓解率（ORR）：57.1%（16/28）</a:t>
            </a:r>
          </a:p>
          <a:p>
            <a:pPr>
              <a:lnSpc>
                <a:spcPct val="103000"/>
              </a:lnSpc>
              <a:spcAft>
                <a:spcPts val="300"/>
              </a:spcAft>
              <a:defRPr sz="800">
                <a:solidFill>
                  <a:srgbClr val="21242A"/>
                </a:solidFill>
                <a:latin typeface="Microsoft YaHei"/>
              </a:defRPr>
            </a:pPr>
            <a:r>
              <a:t>完全缓解率（CR）：46.4%（13/28）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人数：77</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分组/治疗流程：由于是回顾性研究、未进行前瞻性随机分组、但根据治疗后分为：</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中枢神经系统淋巴瘤car-t复发后的治疗模式和临床结果，重点是二次car-t治疗</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post–car-t relapse in cns-involved lymphoma: treatment patterns and clinical...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PF983</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背景：中枢神经系统（CNS）相关淋巴瘤患者通常被排除在 CAR-T 临床试验之外。该人群 CAR-T 失败后的治疗策略和结果仍不清楚。 目的：本研究旨在描述中枢神经系统淋巴瘤患者的复发模式和复发后治疗结果，重点关注第二次 CAR-T 疗法的有效性和安全性。</a:t>
            </a:r>
          </a:p>
          <a:p>
            <a:pPr>
              <a:lnSpc>
                <a:spcPct val="103000"/>
              </a:lnSpc>
              <a:spcAft>
                <a:spcPts val="300"/>
              </a:spcAft>
              <a:defRPr sz="550">
                <a:solidFill>
                  <a:srgbClr val="21242A"/>
                </a:solidFill>
                <a:latin typeface="Microsoft YaHei"/>
              </a:defRPr>
            </a:pPr>
            <a:r>
              <a:t>方法：我们回顾性分析了首次 CAR-T 治疗后复发的中枢神经系统淋巴瘤患者。根据复发后治疗对患者进行分组：第二次 CAR-T 治疗、非 CAR-T 治疗或不进一步治疗。评估了总生存期（OS）和无进展生存期（PFS），并评估了第二次CAR-T疗法的疗效和安全性。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CAR-T失败后，中枢神经系统淋巴瘤患者的预后较差，且复发后的治疗模式具有高度异质性。第二种 CAR-T 疗法可以实现较高的初始缓解率，并显示出选定患者的生存率有所提高的趋势，但死亡率仍然很高。有必要进行更大规模的队列研究和前瞻性设计来阐明其真正的益处。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57.1%（16/28）</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46.4%（13/28）</a:t>
                      </a:r>
                    </a:p>
                  </a:txBody>
                  <a:tcPr>
                    <a:solidFill>
                      <a:srgbClr val="FFFFFF"/>
                    </a:solidFill>
                  </a:tcPr>
                </a:tc>
              </a:tr>
              <a:tr h="214230">
                <a:tc>
                  <a:txBody>
                    <a:bodyPr wrap="square" lIns="36576" rIns="36576" tIns="18288" bIns="18288"/>
                    <a:lstStyle/>
                    <a:p>
                      <a:r>
                        <a:rPr sz="540" b="1">
                          <a:solidFill>
                            <a:srgbClr val="21242A"/>
                          </a:solidFill>
                          <a:latin typeface="Microsoft YaHei"/>
                        </a:rPr>
                        <a:t>第二次CAR-T组中位无进展生存期（PFS）</a:t>
                      </a:r>
                    </a:p>
                  </a:txBody>
                  <a:tcPr>
                    <a:solidFill>
                      <a:srgbClr val="F6F8FB"/>
                    </a:solidFill>
                  </a:tcPr>
                </a:tc>
                <a:tc>
                  <a:txBody>
                    <a:bodyPr wrap="square" lIns="36576" rIns="36576" tIns="18288" bIns="18288"/>
                    <a:lstStyle/>
                    <a:p>
                      <a:r>
                        <a:rPr sz="540" b="0">
                          <a:solidFill>
                            <a:srgbClr val="21242A"/>
                          </a:solidFill>
                          <a:latin typeface="Microsoft YaHei"/>
                        </a:rPr>
                        <a:t>6.28个月</a:t>
                      </a:r>
                    </a:p>
                  </a:txBody>
                  <a:tcPr>
                    <a:solidFill>
                      <a:srgbClr val="F6F8FB"/>
                    </a:solidFill>
                  </a:tcPr>
                </a:tc>
              </a:tr>
              <a:tr h="214230">
                <a:tc>
                  <a:txBody>
                    <a:bodyPr wrap="square" lIns="36576" rIns="36576" tIns="18288" bIns="18288"/>
                    <a:lstStyle/>
                    <a:p>
                      <a:r>
                        <a:rPr sz="540" b="1">
                          <a:solidFill>
                            <a:srgbClr val="21242A"/>
                          </a:solidFill>
                          <a:latin typeface="Microsoft YaHei"/>
                        </a:rPr>
                        <a:t>第二次CAR-T组中位总生存期（OS）</a:t>
                      </a:r>
                    </a:p>
                  </a:txBody>
                  <a:tcPr>
                    <a:solidFill>
                      <a:srgbClr val="FFFFFF"/>
                    </a:solidFill>
                  </a:tcPr>
                </a:tc>
                <a:tc>
                  <a:txBody>
                    <a:bodyPr wrap="square" lIns="36576" rIns="36576" tIns="18288" bIns="18288"/>
                    <a:lstStyle/>
                    <a:p>
                      <a:r>
                        <a:rPr sz="540" b="0">
                          <a:solidFill>
                            <a:srgbClr val="21242A"/>
                          </a:solidFill>
                          <a:latin typeface="Microsoft YaHei"/>
                        </a:rPr>
                        <a:t>15.81个月</a:t>
                      </a:r>
                    </a:p>
                  </a:txBody>
                  <a:tcPr>
                    <a:solidFill>
                      <a:srgbClr val="FFFFFF"/>
                    </a:solidFill>
                  </a:tcPr>
                </a:tc>
              </a:tr>
              <a:tr h="214230">
                <a:tc>
                  <a:txBody>
                    <a:bodyPr wrap="square" lIns="36576" rIns="36576" tIns="18288" bIns="18288"/>
                    <a:lstStyle/>
                    <a:p>
                      <a:r>
                        <a:rPr sz="540" b="1">
                          <a:solidFill>
                            <a:srgbClr val="21242A"/>
                          </a:solidFill>
                          <a:latin typeface="Microsoft YaHei"/>
                        </a:rPr>
                        <a:t>非CAR-T组中位OS</a:t>
                      </a:r>
                    </a:p>
                  </a:txBody>
                  <a:tcPr>
                    <a:solidFill>
                      <a:srgbClr val="F6F8FB"/>
                    </a:solidFill>
                  </a:tcPr>
                </a:tc>
                <a:tc>
                  <a:txBody>
                    <a:bodyPr wrap="square" lIns="36576" rIns="36576" tIns="18288" bIns="18288"/>
                    <a:lstStyle/>
                    <a:p>
                      <a:r>
                        <a:rPr sz="540" b="0">
                          <a:solidFill>
                            <a:srgbClr val="21242A"/>
                          </a:solidFill>
                          <a:latin typeface="Microsoft YaHei"/>
                        </a:rPr>
                        <a:t>8.55个月（p≈0.068）</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摘要号：PF983</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62例原发性纵隔大b细胞淋巴瘤（pmlbcl）患者继发中枢神经系统（cns）受累的国际队列管理和结果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management and outcome of secondary central nervous system (cns) involvement...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PF1040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a:t>
            </a:r>
          </a:p>
          <a:p>
            <a:pPr>
              <a:lnSpc>
                <a:spcPct val="103000"/>
              </a:lnSpc>
              <a:spcAft>
                <a:spcPts val="300"/>
              </a:spcAft>
              <a:defRPr sz="800">
                <a:solidFill>
                  <a:srgbClr val="21242A"/>
                </a:solidFill>
                <a:latin typeface="Microsoft YaHei"/>
              </a:defRPr>
            </a:pPr>
            <a:r>
              <a:t>N=62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分组：试验组1：大剂量甲氨蝶呤（HD-MTX）为基础化疗后，有效者接受自体干细胞移植（ASCT）和/或全脑放疗（WBRT）</a:t>
            </a:r>
          </a:p>
          <a:p>
            <a:pPr>
              <a:lnSpc>
                <a:spcPct val="103000"/>
              </a:lnSpc>
              <a:spcAft>
                <a:spcPts val="300"/>
              </a:spcAft>
              <a:defRPr sz="800">
                <a:solidFill>
                  <a:srgbClr val="21242A"/>
                </a:solidFill>
                <a:latin typeface="Microsoft YaHei"/>
              </a:defRPr>
            </a:pPr>
            <a:r>
              <a:t>无效者接受脑部放疗或鞘内化疗（ITC）作为桥接，继以CAR-T细胞治疗或ASCT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多组/多方案比较：试验组1：大剂量甲氨蝶呤（HD-MTX）为基础化疗后，有效者接受自体干细胞移植（ASCT）和/或全脑放疗（W...</a:t>
            </a:r>
          </a:p>
          <a:p>
            <a:pPr>
              <a:lnSpc>
                <a:spcPct val="103000"/>
              </a:lnSpc>
              <a:spcAft>
                <a:spcPts val="300"/>
              </a:spcAft>
              <a:defRPr sz="800">
                <a:solidFill>
                  <a:srgbClr val="21242A"/>
                </a:solidFill>
                <a:latin typeface="Microsoft YaHei"/>
              </a:defRPr>
            </a:pPr>
            <a:r>
              <a:t>无效者接受脑部放疗或鞘内化疗（ITC）作为桥接，继以CAR-T细胞治疗或ASCT</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5年无进展生存率（PFS）为24%（95%CI=6-48），5年总生存率（OS）为51%（95%CI=45-57）||HD-M...</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人数：62</a:t>
            </a:r>
          </a:p>
          <a:p>
            <a:pPr>
              <a:lnSpc>
                <a:spcPct val="103000"/>
              </a:lnSpc>
              <a:spcAft>
                <a:spcPts val="300"/>
              </a:spcAft>
              <a:defRPr sz="810">
                <a:solidFill>
                  <a:srgbClr val="21242A"/>
                </a:solidFill>
                <a:latin typeface="Microsoft YaHei"/>
              </a:defRPr>
            </a:pPr>
            <a:r>
              <a:t>适应症：原发纵隔大B细胞淋巴瘤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登记号：NCT06024694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分组/治疗流程：试验组1：大剂量甲氨蝶呤（HD-MTX）为基础化疗后、有效者接受自体干细胞移植（ASCT）和/或全脑放疗（WBRT）；无效者接受脑部放疗或鞘内化疗（ITC）作为桥接、继以...</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62例原发性纵隔大b细胞淋巴瘤（pmlbcl）患者继发中枢神经系统（cns）受累的国际队列管理和结果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management and outcome of secondary central nervous system (cns) involvement...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PF1040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背景：PMLBCL 中枢神经系统受累很少见，且预后不良。现代中枢神经系统定向疗法，包括自体移植 (ASCT) 和抗 CD19 CAR T 细胞疗法 (CAR-T) 的临床特征、预后和疗效仍不清楚。 目的：为日常实践中中枢神经系统参与 PMLBCL 提供管理建议。</a:t>
            </a:r>
          </a:p>
          <a:p>
            <a:pPr>
              <a:lnSpc>
                <a:spcPct val="103000"/>
              </a:lnSpc>
              <a:spcAft>
                <a:spcPts val="300"/>
              </a:spcAft>
              <a:defRPr sz="550">
                <a:solidFill>
                  <a:srgbClr val="21242A"/>
                </a:solidFill>
                <a:latin typeface="Microsoft YaHei"/>
              </a:defRPr>
            </a:pPr>
            <a:r>
              <a:t>方法：分析了 2001 年至 2024 年间在 7 个国家的 27 个中心接受治疗的 PMLBCL 和中枢神经系统受累的诊断或复发患者的数据 (NCT06024694)。</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在迄今为止报道的最大系列中，早期 CNS 复发的 PMLBCL 患者在接受基于 HD-MTX 的化疗后进行 ASCT 和/或脑部照射治疗后实现了持久缓解。</a:t>
            </a:r>
          </a:p>
          <a:p>
            <a:pPr>
              <a:lnSpc>
                <a:spcPct val="103000"/>
              </a:lnSpc>
              <a:spcAft>
                <a:spcPts val="300"/>
              </a:spcAft>
              <a:defRPr sz="570">
                <a:solidFill>
                  <a:srgbClr val="21242A"/>
                </a:solidFill>
                <a:latin typeface="Microsoft YaHei"/>
              </a:defRPr>
            </a:pPr>
            <a:r>
              <a:t>CAR-T 在脑部照射或 ITC 作为桥接之前，即使在 HD-MTX 难治性患者中也能提供长期的疾病控制。相比之下，多发性 PMLBCL 晚期 CNS 受累的预后较差。</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5年无进展生存率（PFS）为24%（95%CI=6-48），5年总生存率（OS）为51%（95%CI=45-57）||HD-MTX-based化疗后ASCT/WBRT或桥接治疗组（n=30）5年OS为83%（95%CI=63-92）||2015-2024年治疗的患者OS优于早期（5年OS 67% vs 38%</a:t>
            </a:r>
          </a:p>
          <a:p>
            <a:pPr>
              <a:lnSpc>
                <a:spcPct val="103000"/>
              </a:lnSpc>
              <a:spcAft>
                <a:spcPts val="300"/>
              </a:spcAft>
              <a:defRPr sz="560">
                <a:solidFill>
                  <a:srgbClr val="21242A"/>
                </a:solidFill>
                <a:latin typeface="Microsoft YaHei"/>
              </a:defRPr>
            </a:pPr>
            <a:r>
              <a:t>，p=0.04）</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摘要号：PF1040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复发/难治性原发性中枢神经系统淋巴瘤对扎努布替尼反应和耐药性的基因组决定因素：来自prizm+试验的基线生物标志物分析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genomic determinants of response and resistance to zanubrutinib in relapsed/r...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PS2187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N=19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试验药/方案：泽布替尼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客观缓解率（ORR，2周期后）：11/19例（57.9%）达到完全或部分缓解</a:t>
            </a:r>
          </a:p>
          <a:p>
            <a:pPr>
              <a:lnSpc>
                <a:spcPct val="103000"/>
              </a:lnSpc>
              <a:spcAft>
                <a:spcPts val="300"/>
              </a:spcAft>
              <a:defRPr sz="800">
                <a:solidFill>
                  <a:srgbClr val="21242A"/>
                </a:solidFill>
                <a:latin typeface="Microsoft YaHei"/>
              </a:defRPr>
            </a:pPr>
            <a:r>
              <a:t>持久缓解（定义为&gt;12个月无进展）：6/19例（31.6%）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人数：19</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登记号：ISRCTN90634455</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复发/难治性原发性中枢神经系统淋巴瘤对扎努布替尼反应和耐药性的基因组决定因素：来自prizm+试验的基线生物标志物分析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genomic determinants of response and resistance to zanubrutinib in relapsed/r...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PS2187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 (PCNSL) 是一种罕见的侵袭性 B 细胞淋巴瘤，局限于中枢神经系统，初始治疗后经常复发，且复发/难治性 (rr) 环境中预后不佳，尤其是老年或不适合移植的患者。</a:t>
            </a:r>
          </a:p>
          <a:p>
            <a:pPr>
              <a:lnSpc>
                <a:spcPct val="103000"/>
              </a:lnSpc>
              <a:spcAft>
                <a:spcPts val="300"/>
              </a:spcAft>
              <a:defRPr sz="550">
                <a:solidFill>
                  <a:srgbClr val="21242A"/>
                </a:solidFill>
                <a:latin typeface="Microsoft YaHei"/>
              </a:defRPr>
            </a:pPr>
            <a:r>
              <a:t>PRiZM + 是 rrPCNSL 的 II 期平台试验；第 1 组评估 Zanubrutinib 单药疗法，针对表征该疾病的组成型 B 细胞受体 (BCR) 信号。疗效评估主要依赖于传统 MRI，在区分活肿瘤与治疗相关效应方面存在公认的局限性，并且目前没有其他预后或预测生物标志物指导治疗。由于程序风险，复发时重复进行</a:t>
            </a:r>
          </a:p>
          <a:p>
            <a:pPr>
              <a:lnSpc>
                <a:spcPct val="103000"/>
              </a:lnSpc>
              <a:spcAft>
                <a:spcPts val="300"/>
              </a:spcAft>
              <a:defRPr sz="550">
                <a:solidFill>
                  <a:srgbClr val="21242A"/>
                </a:solidFill>
                <a:latin typeface="Microsoft YaHei"/>
              </a:defRPr>
            </a:pPr>
            <a:r>
              <a:t>脑活检很少可行，这使得档案诊断组织成为基于组织的生物标志物评估的唯一可行来源。目的：确定诊断性 PCNSL 活检的基因组特征是否可以预测纳入 PRiZM + 队列 1 的 rrPCNSL 患者对 Zanubrutinib 的反应和持久性。方法：对 PRiZM + 队列 1 中 20 名入组患者 (pt) 中的 19 名</a:t>
            </a:r>
          </a:p>
          <a:p>
            <a:pPr>
              <a:lnSpc>
                <a:spcPct val="103000"/>
              </a:lnSpc>
              <a:spcAft>
                <a:spcPts val="300"/>
              </a:spcAft>
              <a:defRPr sz="550">
                <a:solidFill>
                  <a:srgbClr val="21242A"/>
                </a:solidFill>
                <a:latin typeface="Microsoft YaHei"/>
              </a:defRPr>
            </a:pPr>
            <a:r>
              <a:t>福尔马林固定诊断性脑活检的基因组 DNA 进行全外显子组测序，以使用 LymphGen 和 DLBclass 分类器进行突变分析、拷贝数分析和分子亚型分析。主要终点是两个 Zanubrutinib 周期后的总体缓解率。</a:t>
            </a:r>
          </a:p>
          <a:p>
            <a:pPr>
              <a:lnSpc>
                <a:spcPct val="103000"/>
              </a:lnSpc>
              <a:spcAft>
                <a:spcPts val="300"/>
              </a:spcAft>
              <a:defRPr sz="550">
                <a:solidFill>
                  <a:srgbClr val="21242A"/>
                </a:solidFill>
                <a:latin typeface="Microsoft YaHei"/>
              </a:defRPr>
            </a:pPr>
            <a:r>
              <a:t>使用单变量和多变量分析评估与无进展生存期（PFS）的关联。</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诊断性肿瘤组织中 MHC I 类相关基因的破坏可预测 BTK i 治疗的 e POD，并且比早期 MRI 反应更具预后性。这些发现表明免疫逃避是 rrPCNSL 中抵抗 BTK 抑制的潜在机制，并支持诊断组织的基因组分析有助于预测反应的价值。</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结果：基线基因组景观与之前的 PCNSL 研究一致，MYD88 (53%)、CD79B (47%) 和 CARD11 (47%) 中存在复发突变。反复出现的拷贝数改变包括 3p22.3、3q29 和 7q21.3 的增加以及 1p13.1、6p21.32 和 6q21 的缺失，影响 BTG2、CD58、PRD</a:t>
            </a:r>
          </a:p>
          <a:p>
            <a:pPr>
              <a:lnSpc>
                <a:spcPct val="103000"/>
              </a:lnSpc>
              <a:spcAft>
                <a:spcPts val="300"/>
              </a:spcAft>
              <a:defRPr sz="560">
                <a:solidFill>
                  <a:srgbClr val="21242A"/>
                </a:solidFill>
                <a:latin typeface="Microsoft YaHei"/>
              </a:defRPr>
            </a:pPr>
            <a:r>
              <a:t>M1 和 HLA I/II 类基因座等基因。全基因组重复（WGD）发生在四种肿瘤中，并且与显着增加的基因组不稳定性相关。分子亚型将 52.6% (10/19) 的病例归为 DLBclass MYD88/CD79B 驱动的 C5 亚型，10.5% (2/19) 为富含 TP53 改变、基因组不稳定性和 MHC </a:t>
            </a:r>
          </a:p>
          <a:p>
            <a:pPr>
              <a:lnSpc>
                <a:spcPct val="103000"/>
              </a:lnSpc>
              <a:spcAft>
                <a:spcPts val="300"/>
              </a:spcAft>
              <a:defRPr sz="560">
                <a:solidFill>
                  <a:srgbClr val="21242A"/>
                </a:solidFill>
                <a:latin typeface="Microsoft YaHei"/>
              </a:defRPr>
            </a:pPr>
            <a:r>
              <a:t>I 类基因破坏的 C2 肿瘤。</a:t>
            </a:r>
          </a:p>
          <a:p>
            <a:pPr>
              <a:lnSpc>
                <a:spcPct val="103000"/>
              </a:lnSpc>
              <a:spcAft>
                <a:spcPts val="300"/>
              </a:spcAft>
              <a:defRPr sz="560">
                <a:solidFill>
                  <a:srgbClr val="21242A"/>
                </a:solidFill>
                <a:latin typeface="Microsoft YaHei"/>
              </a:defRPr>
            </a:pPr>
            <a:r>
              <a:t>DLBclass 和 LymphGen 分类器之间的一致性很高。</a:t>
            </a:r>
          </a:p>
          <a:p>
            <a:pPr>
              <a:lnSpc>
                <a:spcPct val="103000"/>
              </a:lnSpc>
              <a:spcAft>
                <a:spcPts val="300"/>
              </a:spcAft>
              <a:defRPr sz="560">
                <a:solidFill>
                  <a:srgbClr val="21242A"/>
                </a:solidFill>
                <a:latin typeface="Microsoft YaHei"/>
              </a:defRPr>
            </a:pPr>
            <a:r>
              <a:t>结论：诊断性肿瘤组织中 MHC I 类相关基因的破坏可预测 BTK i 治疗的 e POD，并且比早期 MRI 反应更具预后性。这些发现表明免疫逃避是 rrPCNSL 中抵抗 BTK 抑制的潜在机制，并支持诊断组织的基因组分析有助于预测反应的价值。</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摘要号：PS2187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替拉鲁替尼在复发或难治性原发性中枢神经系统淋巴瘤中的实际持久临床益处及其安全性：来自《启示》研究的中期分析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durable clinical benefits of tirabrutinib and its safety profile 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PS2151</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N=19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试验药/方案：替拉鲁替尼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客观缓解率(ORR)：63.2% (12/19)</a:t>
            </a:r>
          </a:p>
          <a:p>
            <a:pPr>
              <a:lnSpc>
                <a:spcPct val="103000"/>
              </a:lnSpc>
              <a:spcAft>
                <a:spcPts val="300"/>
              </a:spcAft>
              <a:defRPr sz="800">
                <a:solidFill>
                  <a:srgbClr val="21242A"/>
                </a:solidFill>
                <a:latin typeface="Microsoft YaHei"/>
              </a:defRPr>
            </a:pPr>
            <a:r>
              <a:t>完全缓解(CR)：3例</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人数：19</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登记号：NCT06714370</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试验药/方案：替拉鲁替尼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替拉鲁替尼在复发或难治性原发性中枢神经系统淋巴瘤中的实际持久临床益处及其安全性：来自《启示》研究的中期分析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durable clinical benefits of tirabrutinib and its safety profile 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PS2151</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背景：替拉替尼是一种强效、第二代、高选择性布鲁顿酪氨酸激酶抑制剂，基于 ONO-4059-02 在台湾获批用于治疗复发或难治性 (r/r) 原发性中枢神经系统淋巴瘤 (PCNSL)。虽然临床试验前景广阔，但关于临床获益和安全管理模式在常规实践中的持久性的真实世界证据对于巩固其治疗作用至关重要。</a:t>
            </a:r>
          </a:p>
          <a:p>
            <a:pPr>
              <a:lnSpc>
                <a:spcPct val="103000"/>
              </a:lnSpc>
              <a:spcAft>
                <a:spcPts val="300"/>
              </a:spcAft>
              <a:defRPr sz="550">
                <a:solidFill>
                  <a:srgbClr val="21242A"/>
                </a:solidFill>
                <a:latin typeface="Microsoft YaHei"/>
              </a:defRPr>
            </a:pPr>
            <a:r>
              <a:t>目标：我们在台湾进行了第一项全国性研究（REVEAL 研究；NCT06714370），以评估替拉替尼的实际有效性，重点关注反应特征及其安全性。</a:t>
            </a:r>
          </a:p>
          <a:p>
            <a:pPr>
              <a:lnSpc>
                <a:spcPct val="103000"/>
              </a:lnSpc>
              <a:spcAft>
                <a:spcPts val="300"/>
              </a:spcAft>
              <a:defRPr sz="550">
                <a:solidFill>
                  <a:srgbClr val="21242A"/>
                </a:solidFill>
                <a:latin typeface="Microsoft YaHei"/>
              </a:defRPr>
            </a:pPr>
            <a:r>
              <a:t>方法：这项 REVEAL 研究纳入了 6 个医疗中心接受 NHI（国民健康保险）报销的替拉替尼单药治疗的年龄≥18 岁的 r/r PCNSL 患者。疗效终点包括客观缓解率 (ORR)、缓解时间 (TTR) 和缓解持续时间 (DOR)。安全终点包括不良事件 (AE) 的发生率。</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替拉替尼在 10.9 个月的随访期内为 r/r PCNSL 患者提供快速、持久的治疗反应。这些结果以及高累积耐久性和一致的安全性，支持了其在台湾实际临床实践中作为关键靶向治疗的作用。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结果：在第一次中期分析的数据截止时（2025 年 9 月），共有 19 名患者入组。中位随访时间为 10.9 个月，替拉替尼的疗效令人鼓舞，ORR 为 63.2%（12/19 [3 例完全缓解，1 例未确认 CR，8 例部分缓解]）。该反应的特点是起效迅速，中位 TTR 为 2.2 个月。值得注意的是，治疗反</a:t>
            </a:r>
          </a:p>
          <a:p>
            <a:pPr>
              <a:lnSpc>
                <a:spcPct val="103000"/>
              </a:lnSpc>
              <a:spcAft>
                <a:spcPts val="300"/>
              </a:spcAft>
              <a:defRPr sz="560">
                <a:solidFill>
                  <a:srgbClr val="21242A"/>
                </a:solidFill>
                <a:latin typeface="Microsoft YaHei"/>
              </a:defRPr>
            </a:pPr>
            <a:r>
              <a:t>应具有弹性：在 12 名反应者中，有 10 人在随访期间保持了反应，累积持久反应率为 83.3%（95% CI：51.6-97.9）。尚未达到中位 DOR（下限 95%CI：10.1 个月）。</a:t>
            </a:r>
          </a:p>
          <a:p>
            <a:pPr>
              <a:lnSpc>
                <a:spcPct val="103000"/>
              </a:lnSpc>
              <a:spcAft>
                <a:spcPts val="300"/>
              </a:spcAft>
              <a:defRPr sz="560">
                <a:solidFill>
                  <a:srgbClr val="21242A"/>
                </a:solidFill>
                <a:latin typeface="Microsoft YaHei"/>
              </a:defRPr>
            </a:pPr>
            <a:r>
              <a:t>Swimmer 图揭示了独特的现实世界模式，其中 9 名患者 (47.4%) 尽管对疾病稳定或初始进展进行了初步放射学评估，但仍从持续治疗中获得了持续的临床获益，这强调了症状稳定性通常指导影像学结果之外的治疗继续。安全性可控（治疗中出现的 AE 为 73.7%）；常见事件为尿路感染（21.1%）、白细胞计数减</a:t>
            </a:r>
          </a:p>
          <a:p>
            <a:pPr>
              <a:lnSpc>
                <a:spcPct val="103000"/>
              </a:lnSpc>
              <a:spcAft>
                <a:spcPts val="300"/>
              </a:spcAft>
              <a:defRPr sz="560">
                <a:solidFill>
                  <a:srgbClr val="21242A"/>
                </a:solidFill>
                <a:latin typeface="Microsoft YaHei"/>
              </a:defRPr>
            </a:pPr>
            <a:r>
              <a:t>少（15.8%）和皮疹（15.8%）。没有观察到新的安全信号或显着的心血管毒性。</a:t>
            </a:r>
          </a:p>
          <a:p>
            <a:pPr>
              <a:lnSpc>
                <a:spcPct val="103000"/>
              </a:lnSpc>
              <a:spcAft>
                <a:spcPts val="300"/>
              </a:spcAft>
              <a:defRPr sz="560">
                <a:solidFill>
                  <a:srgbClr val="21242A"/>
                </a:solidFill>
                <a:latin typeface="Microsoft YaHei"/>
              </a:defRPr>
            </a:pPr>
            <a:r>
              <a:t>57.9% 的患者发生治疗相关 AE (TRAE)，其中大多数发生在前 3 个月内。 2 名患者发生与治疗相关的严重 AE（1 名患者尿路感染，1 名患者脑出血）。</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摘要号：PS2151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orelabrutinib联合sintilimab治疗复发/难治性原发性中枢神经系统淋巴瘤（r/r pcnsl）的疗效...</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efficacy and safety of orelabrutinib combined with sintilimab in patients wit...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PS2130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N=28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试验药/方案：信迪利单抗</a:t>
            </a:r>
          </a:p>
          <a:p>
            <a:pPr>
              <a:lnSpc>
                <a:spcPct val="103000"/>
              </a:lnSpc>
              <a:spcAft>
                <a:spcPts val="300"/>
              </a:spcAft>
              <a:defRPr sz="800">
                <a:solidFill>
                  <a:srgbClr val="21242A"/>
                </a:solidFill>
                <a:latin typeface="Microsoft YaHei"/>
              </a:defRPr>
            </a:pPr>
            <a:r>
              <a:t>奥布替尼</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总体缓解率（ORR）：60.7% (17/28)</a:t>
            </a:r>
          </a:p>
          <a:p>
            <a:pPr>
              <a:lnSpc>
                <a:spcPct val="103000"/>
              </a:lnSpc>
              <a:spcAft>
                <a:spcPts val="300"/>
              </a:spcAft>
              <a:defRPr sz="800">
                <a:solidFill>
                  <a:srgbClr val="21242A"/>
                </a:solidFill>
                <a:latin typeface="Microsoft YaHei"/>
              </a:defRPr>
            </a:pPr>
            <a:r>
              <a:t>完全缓解（CR）：28.6%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人数：28</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登记号：NCT04899427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试验药/方案：信迪利单抗、奥布替尼</a:t>
            </a:r>
          </a:p>
          <a:p>
            <a:pPr>
              <a:lnSpc>
                <a:spcPct val="103000"/>
              </a:lnSpc>
              <a:spcAft>
                <a:spcPts val="300"/>
              </a:spcAft>
              <a:defRPr sz="810">
                <a:solidFill>
                  <a:srgbClr val="21242A"/>
                </a:solidFill>
                <a:latin typeface="Microsoft YaHei"/>
              </a:defRPr>
            </a:pPr>
            <a:r>
              <a:t>靶点：PD-1、BTK</a:t>
            </a:r>
          </a:p>
          <a:p>
            <a:pPr>
              <a:lnSpc>
                <a:spcPct val="103000"/>
              </a:lnSpc>
              <a:spcAft>
                <a:spcPts val="300"/>
              </a:spcAft>
              <a:defRPr sz="810">
                <a:solidFill>
                  <a:srgbClr val="21242A"/>
                </a:solidFill>
                <a:latin typeface="Microsoft YaHei"/>
              </a:defRPr>
            </a:pPr>
            <a:r>
              <a:t>药物/技术类别：单特异性抗体、化药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orelabrutinib联合sintilimab治疗复发/难治性原发性中枢神经系统淋巴瘤（r/r pcnsl）的疗效...</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efficacy and safety of orelabrutinib combined with sintilimab in patients wit...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PS2130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背景：PCNSL 是一种侵袭性非霍奇金淋巴瘤。虽然基于大剂量甲氨蝶呤 (HD-MTX) 的治疗方案是新诊断患者的一线标准，但疾病复发仍然是一个重大的临床挑战。</a:t>
            </a:r>
          </a:p>
          <a:p>
            <a:pPr>
              <a:lnSpc>
                <a:spcPct val="103000"/>
              </a:lnSpc>
              <a:spcAft>
                <a:spcPts val="300"/>
              </a:spcAft>
              <a:defRPr sz="550">
                <a:solidFill>
                  <a:srgbClr val="21242A"/>
                </a:solidFill>
                <a:latin typeface="Microsoft YaHei"/>
              </a:defRPr>
            </a:pPr>
            <a:r>
              <a:t>R/R PCNSL 的预后较差，复发率高，治疗方法有限，并且不存在标准治疗方法，代表着未满足的需求。临床前研究表明，BTK 抑制剂 (BTKi) 与抗 PD-1 抗体在 B 细胞淋巴瘤中具有协同功效 (Vincent-Fabert et al Cell Commun Signal. 2019)。</a:t>
            </a:r>
          </a:p>
          <a:p>
            <a:pPr>
              <a:lnSpc>
                <a:spcPct val="103000"/>
              </a:lnSpc>
              <a:spcAft>
                <a:spcPts val="300"/>
              </a:spcAft>
              <a:defRPr sz="550">
                <a:solidFill>
                  <a:srgbClr val="21242A"/>
                </a:solidFill>
                <a:latin typeface="Microsoft YaHei"/>
              </a:defRPr>
            </a:pPr>
            <a:r>
              <a:t>Orelabrutinib是一种具有高CNS外显率的新型BTKi，在PCNSL中表现出疗效，脱靶效应最小，安全性可接受；信迪利单抗是下一代抗PD-1单克隆抗体。 目的：评价奥布替尼联合信迪利单抗治疗 R/R PCNSL 患者的安全性和有效性。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这项前瞻性 II 期研究表明，奥布替尼与信迪利单抗联合为 R/R PCNSL 患者提供了显着的临床益处，包括强大的缓解率和显着的持久缓解。可控的安全性进一步支持这种组合作为这一具有挑战性的人群的有价值的治疗选择。</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总体缓解率（ORR）</a:t>
                      </a:r>
                    </a:p>
                  </a:txBody>
                  <a:tcPr>
                    <a:solidFill>
                      <a:srgbClr val="F6F8FB"/>
                    </a:solidFill>
                  </a:tcPr>
                </a:tc>
                <a:tc>
                  <a:txBody>
                    <a:bodyPr wrap="square" lIns="36576" rIns="36576" tIns="18288" bIns="18288"/>
                    <a:lstStyle/>
                    <a:p>
                      <a:r>
                        <a:rPr sz="540" b="0">
                          <a:solidFill>
                            <a:srgbClr val="21242A"/>
                          </a:solidFill>
                          <a:latin typeface="Microsoft YaHei"/>
                        </a:rPr>
                        <a:t>60.7% (17/28)</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完全缓解（CR）</a:t>
                      </a:r>
                    </a:p>
                  </a:txBody>
                  <a:tcPr>
                    <a:solidFill>
                      <a:srgbClr val="FFFFFF"/>
                    </a:solidFill>
                  </a:tcPr>
                </a:tc>
                <a:tc>
                  <a:txBody>
                    <a:bodyPr wrap="square" lIns="36576" rIns="36576" tIns="18288" bIns="18288"/>
                    <a:lstStyle/>
                    <a:p>
                      <a:r>
                        <a:rPr sz="540" b="0">
                          <a:solidFill>
                            <a:srgbClr val="21242A"/>
                          </a:solidFill>
                          <a:latin typeface="Microsoft YaHei"/>
                        </a:rPr>
                        <a:t>28.6%</a:t>
                      </a:r>
                    </a:p>
                  </a:txBody>
                  <a:tcPr>
                    <a:solidFill>
                      <a:srgbClr val="FFFFFF"/>
                    </a:solidFill>
                  </a:tcPr>
                </a:tc>
              </a:tr>
              <a:tr h="214230">
                <a:tc>
                  <a:txBody>
                    <a:bodyPr wrap="square" lIns="36576" rIns="36576" tIns="18288" bIns="18288"/>
                    <a:lstStyle/>
                    <a:p>
                      <a:r>
                        <a:rPr sz="540" b="1">
                          <a:solidFill>
                            <a:srgbClr val="21242A"/>
                          </a:solidFill>
                          <a:latin typeface="Microsoft YaHei"/>
                        </a:rPr>
                        <a:t>未确认CR（CRu）</a:t>
                      </a:r>
                    </a:p>
                  </a:txBody>
                  <a:tcPr>
                    <a:solidFill>
                      <a:srgbClr val="F6F8FB"/>
                    </a:solidFill>
                  </a:tcPr>
                </a:tc>
                <a:tc>
                  <a:txBody>
                    <a:bodyPr wrap="square" lIns="36576" rIns="36576" tIns="18288" bIns="18288"/>
                    <a:lstStyle/>
                    <a:p>
                      <a:r>
                        <a:rPr sz="540" b="0">
                          <a:solidFill>
                            <a:srgbClr val="21242A"/>
                          </a:solidFill>
                          <a:latin typeface="Microsoft YaHei"/>
                        </a:rPr>
                        <a:t>7.1%</a:t>
                      </a:r>
                    </a:p>
                  </a:txBody>
                  <a:tcPr>
                    <a:solidFill>
                      <a:srgbClr val="F6F8FB"/>
                    </a:solidFill>
                  </a:tcPr>
                </a:tc>
              </a:tr>
              <a:tr h="214230">
                <a:tc>
                  <a:txBody>
                    <a:bodyPr wrap="square" lIns="36576" rIns="36576" tIns="18288" bIns="18288"/>
                    <a:lstStyle/>
                    <a:p>
                      <a:r>
                        <a:rPr sz="540" b="1">
                          <a:solidFill>
                            <a:srgbClr val="21242A"/>
                          </a:solidFill>
                          <a:latin typeface="Microsoft YaHei"/>
                        </a:rPr>
                        <a:t>部分缓解（PR）</a:t>
                      </a:r>
                    </a:p>
                  </a:txBody>
                  <a:tcPr>
                    <a:solidFill>
                      <a:srgbClr val="FFFFFF"/>
                    </a:solidFill>
                  </a:tcPr>
                </a:tc>
                <a:tc>
                  <a:txBody>
                    <a:bodyPr wrap="square" lIns="36576" rIns="36576" tIns="18288" bIns="18288"/>
                    <a:lstStyle/>
                    <a:p>
                      <a:r>
                        <a:rPr sz="540" b="0">
                          <a:solidFill>
                            <a:srgbClr val="21242A"/>
                          </a:solidFill>
                          <a:latin typeface="Microsoft YaHei"/>
                        </a:rPr>
                        <a:t>25.0%</a:t>
                      </a:r>
                    </a:p>
                  </a:txBody>
                  <a:tcPr>
                    <a:solidFill>
                      <a:srgbClr val="FFFFFF"/>
                    </a:solidFill>
                  </a:tcPr>
                </a:tc>
              </a:tr>
              <a:tr h="214230">
                <a:tc>
                  <a:txBody>
                    <a:bodyPr wrap="square" lIns="36576" rIns="36576" tIns="18288" bIns="18288"/>
                    <a:lstStyle/>
                    <a:p>
                      <a:r>
                        <a:rPr sz="540" b="1">
                          <a:solidFill>
                            <a:srgbClr val="21242A"/>
                          </a:solidFill>
                          <a:latin typeface="Microsoft YaHei"/>
                        </a:rPr>
                        <a:t>疾病控制率（DCR）</a:t>
                      </a:r>
                    </a:p>
                  </a:txBody>
                  <a:tcPr>
                    <a:solidFill>
                      <a:srgbClr val="F6F8FB"/>
                    </a:solidFill>
                  </a:tcPr>
                </a:tc>
                <a:tc>
                  <a:txBody>
                    <a:bodyPr wrap="square" lIns="36576" rIns="36576" tIns="18288" bIns="18288"/>
                    <a:lstStyle/>
                    <a:p>
                      <a:r>
                        <a:rPr sz="540" b="0">
                          <a:solidFill>
                            <a:srgbClr val="21242A"/>
                          </a:solidFill>
                          <a:latin typeface="Microsoft YaHei"/>
                        </a:rPr>
                        <a:t>78.6% (22/28)</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摘要号：PS2130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orelabrutinib治疗复发或难治性原发性或继发性中枢神经系统淋巴瘤：一项多中心、开放标签、ii期研究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orelabrutinib in patients with relapsed or refractory primary or secondary ce...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N=61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多组/多方案比较：试验组1：奥布替尼150mg每日一次</a:t>
            </a:r>
          </a:p>
          <a:p>
            <a:pPr>
              <a:lnSpc>
                <a:spcPct val="103000"/>
              </a:lnSpc>
              <a:spcAft>
                <a:spcPts val="300"/>
              </a:spcAft>
              <a:defRPr sz="800">
                <a:solidFill>
                  <a:srgbClr val="21242A"/>
                </a:solidFill>
                <a:latin typeface="Microsoft YaHei"/>
              </a:defRPr>
            </a:pPr>
            <a:r>
              <a:t>试验组2：奥布替尼200mg每日一次</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 150mg组28.2%，200mg组27.3%</a:t>
            </a:r>
          </a:p>
          <a:p>
            <a:pPr>
              <a:lnSpc>
                <a:spcPct val="103000"/>
              </a:lnSpc>
              <a:spcAft>
                <a:spcPts val="300"/>
              </a:spcAft>
              <a:defRPr sz="800">
                <a:solidFill>
                  <a:srgbClr val="21242A"/>
                </a:solidFill>
                <a:latin typeface="Microsoft YaHei"/>
              </a:defRPr>
            </a:pPr>
            <a:r>
              <a:t>疾病控制率(DCR): 150mg组53.8%，200mg组54.5%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人数：61</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登记号：CTR20190854</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orelabrutinib治疗复发或难治性原发性或继发性中枢神经系统淋巴瘤：一项多中心、开放标签、ii期研究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orelabrutinib in patients with relapsed or refractory primary or secondary ce...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背景：复发或难治性原发性或继发性中枢神经系统淋巴瘤（r/r PCNSL/SCNSL）患者预后不良，治疗选择有限。奥布替尼是一种高度选择性、不可逆的布鲁顿酪氨酸激酶 (BTK) 抑制剂，具有良好的临床前血脑屏障渗透能力。 目的：评估奥布替尼在 r/r PCNSL/SCNSL 患者中的抗肿瘤功效、安全性和药代动力学。</a:t>
            </a:r>
          </a:p>
          <a:p>
            <a:pPr>
              <a:lnSpc>
                <a:spcPct val="103000"/>
              </a:lnSpc>
              <a:spcAft>
                <a:spcPts val="300"/>
              </a:spcAft>
              <a:defRPr sz="550">
                <a:solidFill>
                  <a:srgbClr val="21242A"/>
                </a:solidFill>
                <a:latin typeface="Microsoft YaHei"/>
              </a:defRPr>
            </a:pPr>
            <a:r>
              <a:t>方法：这是一项在中国 8 个地点进行的单臂、多中心、开放标签 II 期试验（临床试验注册号：CTR20190854）。采用西蒙的两阶段设计，最初招募了 16 名患者接受奥布替尼 150 mg 每日一次（QD）治疗，需要 ≥ 4 名应答者才能进入第二阶段。在达到预先指定的疗效阈值后，该研究进入第二阶段，扩大到每日一次 1</a:t>
            </a:r>
          </a:p>
          <a:p>
            <a:pPr>
              <a:lnSpc>
                <a:spcPct val="103000"/>
              </a:lnSpc>
              <a:spcAft>
                <a:spcPts val="300"/>
              </a:spcAft>
              <a:defRPr sz="550">
                <a:solidFill>
                  <a:srgbClr val="21242A"/>
                </a:solidFill>
                <a:latin typeface="Microsoft YaHei"/>
              </a:defRPr>
            </a:pPr>
            <a:r>
              <a:t>50 毫克的总共 39 名患者，并增加了每日一次 200 毫克探索剂量的 22 名患者。主要终点是研究人员根据国际原发性中枢神经系统淋巴瘤协作组 (IPCG) 标准评估的客观缓解率 (ORR)。次要终点包括疾病控制率（DCR）、缓解持续时间（DOR）、无进展生存期（PFS）、总生存期（OS）、安全性和药代动力学（PK）</a:t>
            </a:r>
          </a:p>
          <a:p>
            <a:pPr>
              <a:lnSpc>
                <a:spcPct val="103000"/>
              </a:lnSpc>
              <a:spcAft>
                <a:spcPts val="300"/>
              </a:spcAft>
              <a:defRPr sz="550">
                <a:solidFill>
                  <a:srgbClr val="21242A"/>
                </a:solidFill>
                <a:latin typeface="Microsoft YaHei"/>
              </a:defRPr>
            </a:pPr>
            <a:r>
              <a:t>。</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奥布替尼单药疗法在患有 r/r PCNSL/SCNSL（医疗需求未得到满足的人群）的患者中表现出初步的抗肿瘤活性和可控的安全性。其良好的血脑屏障渗透性支持对中枢神经系统淋巴瘤的进一步研究。</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150mg组28.2%，200mg组27.3%</a:t>
                      </a:r>
                    </a:p>
                  </a:txBody>
                  <a:tcPr>
                    <a:solidFill>
                      <a:srgbClr val="F6F8FB"/>
                    </a:solidFill>
                  </a:tcPr>
                </a:tc>
              </a:tr>
              <a:tr h="249936">
                <a:tc>
                  <a:txBody>
                    <a:bodyPr wrap="square" lIns="36576" rIns="36576" tIns="18288" bIns="18288"/>
                    <a:lstStyle/>
                    <a:p>
                      <a:r>
                        <a:rPr sz="540" b="1">
                          <a:solidFill>
                            <a:srgbClr val="21242A"/>
                          </a:solidFill>
                          <a:latin typeface="Microsoft YaHei"/>
                        </a:rPr>
                        <a:t>疾病控制率(DCR)</a:t>
                      </a:r>
                    </a:p>
                  </a:txBody>
                  <a:tcPr>
                    <a:solidFill>
                      <a:srgbClr val="FFFFFF"/>
                    </a:solidFill>
                  </a:tcPr>
                </a:tc>
                <a:tc>
                  <a:txBody>
                    <a:bodyPr wrap="square" lIns="36576" rIns="36576" tIns="18288" bIns="18288"/>
                    <a:lstStyle/>
                    <a:p>
                      <a:r>
                        <a:rPr sz="540" b="0">
                          <a:solidFill>
                            <a:srgbClr val="21242A"/>
                          </a:solidFill>
                          <a:latin typeface="Microsoft YaHei"/>
                        </a:rPr>
                        <a:t>150mg组53.8%，200mg组54.5%</a:t>
                      </a:r>
                    </a:p>
                  </a:txBody>
                  <a:tcPr>
                    <a:solidFill>
                      <a:srgbClr val="FFFFFF"/>
                    </a:solidFill>
                  </a:tcPr>
                </a:tc>
              </a:tr>
              <a:tr h="249936">
                <a:tc>
                  <a:txBody>
                    <a:bodyPr wrap="square" lIns="36576" rIns="36576" tIns="18288" bIns="18288"/>
                    <a:lstStyle/>
                    <a:p>
                      <a:r>
                        <a:rPr sz="540" b="1">
                          <a:solidFill>
                            <a:srgbClr val="21242A"/>
                          </a:solidFill>
                          <a:latin typeface="Microsoft YaHei"/>
                        </a:rPr>
                        <a:t>中位无进展生存期(mPFS)</a:t>
                      </a:r>
                    </a:p>
                  </a:txBody>
                  <a:tcPr>
                    <a:solidFill>
                      <a:srgbClr val="F6F8FB"/>
                    </a:solidFill>
                  </a:tcPr>
                </a:tc>
                <a:tc>
                  <a:txBody>
                    <a:bodyPr wrap="square" lIns="36576" rIns="36576" tIns="18288" bIns="18288"/>
                    <a:lstStyle/>
                    <a:p>
                      <a:r>
                        <a:rPr sz="540" b="0">
                          <a:solidFill>
                            <a:srgbClr val="21242A"/>
                          </a:solidFill>
                          <a:latin typeface="Microsoft YaHei"/>
                        </a:rPr>
                        <a:t>150mg组2.9个月，200mg组2.9个月</a:t>
                      </a:r>
                    </a:p>
                  </a:txBody>
                  <a:tcPr>
                    <a:solidFill>
                      <a:srgbClr val="F6F8FB"/>
                    </a:solidFill>
                  </a:tcPr>
                </a:tc>
              </a:tr>
              <a:tr h="249936">
                <a:tc>
                  <a:txBody>
                    <a:bodyPr wrap="square" lIns="36576" rIns="36576" tIns="18288" bIns="18288"/>
                    <a:lstStyle/>
                    <a:p>
                      <a:r>
                        <a:rPr sz="540" b="1">
                          <a:solidFill>
                            <a:srgbClr val="21242A"/>
                          </a:solidFill>
                          <a:latin typeface="Microsoft YaHei"/>
                        </a:rPr>
                        <a:t>中位总生存期(mOS)</a:t>
                      </a:r>
                    </a:p>
                  </a:txBody>
                  <a:tcPr>
                    <a:solidFill>
                      <a:srgbClr val="FFFFFF"/>
                    </a:solidFill>
                  </a:tcPr>
                </a:tc>
                <a:tc>
                  <a:txBody>
                    <a:bodyPr wrap="square" lIns="36576" rIns="36576" tIns="18288" bIns="18288"/>
                    <a:lstStyle/>
                    <a:p>
                      <a:r>
                        <a:rPr sz="540" b="0">
                          <a:solidFill>
                            <a:srgbClr val="21242A"/>
                          </a:solidFill>
                          <a:latin typeface="Microsoft YaHei"/>
                        </a:rPr>
                        <a:t>150mg组16.9个月，200mg组未达到</a:t>
                      </a:r>
                    </a:p>
                  </a:txBody>
                  <a:tcPr>
                    <a:solidFill>
                      <a:srgbClr val="FFFFFF"/>
                    </a:solidFill>
                  </a:tcPr>
                </a:tc>
              </a:tr>
              <a:tr h="249936">
                <a:tc>
                  <a:txBody>
                    <a:bodyPr wrap="square" lIns="36576" rIns="36576" tIns="18288" bIns="18288"/>
                    <a:lstStyle/>
                    <a:p>
                      <a:r>
                        <a:rPr sz="540" b="1">
                          <a:solidFill>
                            <a:srgbClr val="21242A"/>
                          </a:solidFill>
                          <a:latin typeface="Microsoft YaHei"/>
                        </a:rPr>
                        <a:t>治疗期间不良事件(TEAEs)</a:t>
                      </a:r>
                    </a:p>
                  </a:txBody>
                  <a:tcPr>
                    <a:solidFill>
                      <a:srgbClr val="F6F8FB"/>
                    </a:solidFill>
                  </a:tcPr>
                </a:tc>
                <a:tc>
                  <a:txBody>
                    <a:bodyPr wrap="square" lIns="36576" rIns="36576" tIns="18288" bIns="18288"/>
                    <a:lstStyle/>
                    <a:p>
                      <a:r>
                        <a:rPr sz="540" b="0">
                          <a:solidFill>
                            <a:srgbClr val="21242A"/>
                          </a:solidFill>
                          <a:latin typeface="Microsoft YaHei"/>
                        </a:rPr>
                        <a:t>72.1%患者发生，≥3级TEAEs 24.6%，严重TEAEs 14.8%</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摘要号：PS2090</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奥来拉替尼、利妥昔单抗和噻替帕（ort）联合或不联合大剂量甲氨蝶呤治疗未经治疗的原发性中枢神经系统淋巴瘤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orelabrutinib, rituximab, and thiotepa (ort) in combination with or without h...</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PS2088</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N=39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试验药/方案：塞替派</a:t>
            </a:r>
          </a:p>
          <a:p>
            <a:pPr>
              <a:lnSpc>
                <a:spcPct val="103000"/>
              </a:lnSpc>
              <a:spcAft>
                <a:spcPts val="300"/>
              </a:spcAft>
              <a:defRPr sz="800">
                <a:solidFill>
                  <a:srgbClr val="21242A"/>
                </a:solidFill>
                <a:latin typeface="Microsoft YaHei"/>
              </a:defRPr>
            </a:pPr>
            <a:r>
              <a:t>奥布替尼</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多组/多方案比较：试验组1：奥布替尼，利妥昔单抗，塞替派 (ORT)</a:t>
            </a:r>
          </a:p>
          <a:p>
            <a:pPr>
              <a:lnSpc>
                <a:spcPct val="103000"/>
              </a:lnSpc>
              <a:spcAft>
                <a:spcPts val="300"/>
              </a:spcAft>
              <a:defRPr sz="800">
                <a:solidFill>
                  <a:srgbClr val="21242A"/>
                </a:solidFill>
                <a:latin typeface="Microsoft YaHei"/>
              </a:defRPr>
            </a:pPr>
            <a:r>
              <a:t>试验组2：奥布替尼，利妥昔单抗，塞替派，大剂量甲氨蝶呤 (ORT+HD-MTX)</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客观缓解率(ORR)：总人群83.8%(31/37)，ORT组72.7%(8/11)，ORT+HD-MTX组88.5%(23/...</a:t>
            </a:r>
          </a:p>
          <a:p>
            <a:pPr>
              <a:lnSpc>
                <a:spcPct val="103000"/>
              </a:lnSpc>
              <a:spcAft>
                <a:spcPts val="300"/>
              </a:spcAft>
              <a:defRPr sz="800">
                <a:solidFill>
                  <a:srgbClr val="21242A"/>
                </a:solidFill>
                <a:latin typeface="Microsoft YaHei"/>
              </a:defRPr>
            </a:pPr>
            <a:r>
              <a:t>完全缓解率(CR)：总人群78.4%(29/37)，ORT组63.6%(7/11)，ORT+HD-MTX组84.6%(22/2...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人数：39</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试验药/方案：塞替派、奥布替尼、利妥昔单抗</a:t>
            </a:r>
          </a:p>
          <a:p>
            <a:pPr>
              <a:lnSpc>
                <a:spcPct val="103000"/>
              </a:lnSpc>
              <a:spcAft>
                <a:spcPts val="300"/>
              </a:spcAft>
              <a:defRPr sz="810">
                <a:solidFill>
                  <a:srgbClr val="21242A"/>
                </a:solidFill>
                <a:latin typeface="Microsoft YaHei"/>
              </a:defRPr>
            </a:pPr>
            <a:r>
              <a:t>靶点：DNA、BTK、CD20</a:t>
            </a:r>
          </a:p>
          <a:p>
            <a:pPr>
              <a:lnSpc>
                <a:spcPct val="103000"/>
              </a:lnSpc>
              <a:spcAft>
                <a:spcPts val="300"/>
              </a:spcAft>
              <a:defRPr sz="810">
                <a:solidFill>
                  <a:srgbClr val="21242A"/>
                </a:solidFill>
                <a:latin typeface="Microsoft YaHei"/>
              </a:defRPr>
            </a:pPr>
            <a:r>
              <a:t>药物/技术类别：化药、单特异性抗体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奥来拉替尼、利妥昔单抗和噻替帕（ort）联合或不联合大剂量甲氨蝶呤治疗未经治疗的原发性中枢神经系统淋巴瘤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orelabrutinib, rituximab, and thiotepa (ort) in combination with or without h...</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PS2088</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背景：原发性中枢神经系统淋巴瘤（PCNSL）是一种罕见的非霍奇金淋巴瘤，主要是弥漫性大 B 细胞淋巴瘤。大剂量甲氨蝶呤 (HD-MTX) 是新诊断 PCNSL 化疗的基石。奥布替尼是一种具有高血脑屏障通透性的新型 BTKi，已证明对 PCNSL 有效，脱靶效应最小，安全性更高。</a:t>
            </a:r>
          </a:p>
          <a:p>
            <a:pPr>
              <a:lnSpc>
                <a:spcPct val="103000"/>
              </a:lnSpc>
              <a:spcAft>
                <a:spcPts val="300"/>
              </a:spcAft>
              <a:defRPr sz="550">
                <a:solidFill>
                  <a:srgbClr val="21242A"/>
                </a:solidFill>
                <a:latin typeface="Microsoft YaHei"/>
              </a:defRPr>
            </a:pPr>
            <a:r>
              <a:t>目的：本研究旨在评估 ORT 联合或不联合 HD-MTX 联合治疗方案对未经治疗的 PCNSL 患者 (pts) 的有效性和安全性。</a:t>
            </a:r>
          </a:p>
          <a:p>
            <a:pPr>
              <a:lnSpc>
                <a:spcPct val="103000"/>
              </a:lnSpc>
              <a:spcAft>
                <a:spcPts val="300"/>
              </a:spcAft>
              <a:defRPr sz="550">
                <a:solidFill>
                  <a:srgbClr val="21242A"/>
                </a:solidFill>
                <a:latin typeface="Microsoft YaHei"/>
              </a:defRPr>
            </a:pPr>
            <a:r>
              <a:t>方法：这项前瞻性、多中心、单臂研究纳入了接受 ORT 治疗的未经治疗的 PCNSL 患者（≥18 岁）：口服奥布替尼 150 mg/天，第 0 天静脉注射利妥昔单抗 375 mg/m2，第 1 天静脉注射塞替派 40mg/m2，周期为 21 天。肾功能正常的 60 岁以下患者每 3 周注射一次 HD-MTX（3.5g/</a:t>
            </a:r>
          </a:p>
          <a:p>
            <a:pPr>
              <a:lnSpc>
                <a:spcPct val="103000"/>
              </a:lnSpc>
              <a:spcAft>
                <a:spcPts val="300"/>
              </a:spcAft>
              <a:defRPr sz="550">
                <a:solidFill>
                  <a:srgbClr val="21242A"/>
                </a:solidFill>
                <a:latin typeface="Microsoft YaHei"/>
              </a:defRPr>
            </a:pPr>
            <a:r>
              <a:t>m² IV）。</a:t>
            </a:r>
          </a:p>
          <a:p>
            <a:pPr>
              <a:lnSpc>
                <a:spcPct val="103000"/>
              </a:lnSpc>
              <a:spcAft>
                <a:spcPts val="300"/>
              </a:spcAft>
              <a:defRPr sz="550">
                <a:solidFill>
                  <a:srgbClr val="21242A"/>
                </a:solidFill>
                <a:latin typeface="Microsoft YaHei"/>
              </a:defRPr>
            </a:pPr>
            <a:r>
              <a:t>4 个周期后，有反应的患者继续使用相同剂量最多 4 个周期，建议 60 岁以下的患者进行自体干细胞移植 (ASCT)。奥布替尼维持治疗持续至治疗 2 年。不良事件 (AE) 根据不良事件标准 5.0 通用术语进行分级。主要终点是客观缓解率（ORR），次要终点包括无进展生存期（PFS）和总生存期（OS）。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这项研究表明，ORT加HD-MTX可以作为≤60岁患者的首选治疗方案，而ORT单药治疗是&gt;60岁或肾功能不全患者的可行替代方案；尽管如此，MTX的合理使用仍然是PCNSL实现长期治愈的关键决定因素。</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总人群83.8%(31/37)，ORT组72.7%(8/11)，ORT+HD-MTX组88.5%(23/26)</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总人群78.4%(29/37)，ORT组63.6%(7/11)，ORT+HD-MTX组84.6%(22/26)</a:t>
                      </a:r>
                    </a:p>
                  </a:txBody>
                  <a:tcPr>
                    <a:solidFill>
                      <a:srgbClr val="FFFFFF"/>
                    </a:solidFill>
                  </a:tcPr>
                </a:tc>
              </a:tr>
              <a:tr h="214230">
                <a:tc>
                  <a:txBody>
                    <a:bodyPr wrap="square" lIns="36576" rIns="36576" tIns="18288" bIns="18288"/>
                    <a:lstStyle/>
                    <a:p>
                      <a:r>
                        <a:rPr sz="540" b="1">
                          <a:solidFill>
                            <a:srgbClr val="21242A"/>
                          </a:solidFill>
                          <a:latin typeface="Microsoft YaHei"/>
                        </a:rPr>
                        <a:t>MCD亚组完全缓解率</a:t>
                      </a:r>
                    </a:p>
                  </a:txBody>
                  <a:tcPr>
                    <a:solidFill>
                      <a:srgbClr val="F6F8FB"/>
                    </a:solidFill>
                  </a:tcPr>
                </a:tc>
                <a:tc>
                  <a:txBody>
                    <a:bodyPr wrap="square" lIns="36576" rIns="36576" tIns="18288" bIns="18288"/>
                    <a:lstStyle/>
                    <a:p>
                      <a:r>
                        <a:rPr sz="540" b="0">
                          <a:solidFill>
                            <a:srgbClr val="21242A"/>
                          </a:solidFill>
                          <a:latin typeface="Microsoft YaHei"/>
                        </a:rPr>
                        <a:t>83.3%(15/18)</a:t>
                      </a:r>
                    </a:p>
                  </a:txBody>
                  <a:tcPr>
                    <a:solidFill>
                      <a:srgbClr val="F6F8FB"/>
                    </a:solidFill>
                  </a:tcPr>
                </a:tc>
              </a:tr>
              <a:tr h="214230">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总人群未达到，ORT组18.3个月，ORT+HD-MTX组未达到</a:t>
                      </a:r>
                    </a:p>
                  </a:txBody>
                  <a:tcPr>
                    <a:solidFill>
                      <a:srgbClr val="FFFFFF"/>
                    </a:solidFill>
                  </a:tcPr>
                </a:tc>
              </a:tr>
              <a:tr h="214230">
                <a:tc>
                  <a:txBody>
                    <a:bodyPr wrap="square" lIns="36576" rIns="36576" tIns="18288" bIns="18288"/>
                    <a:lstStyle/>
                    <a:p>
                      <a:r>
                        <a:rPr sz="540" b="1">
                          <a:solidFill>
                            <a:srgbClr val="21242A"/>
                          </a:solidFill>
                          <a:latin typeface="Microsoft YaHei"/>
                        </a:rPr>
                        <a:t>1年无进展生存率</a:t>
                      </a:r>
                    </a:p>
                  </a:txBody>
                  <a:tcPr>
                    <a:solidFill>
                      <a:srgbClr val="F6F8FB"/>
                    </a:solidFill>
                  </a:tcPr>
                </a:tc>
                <a:tc>
                  <a:txBody>
                    <a:bodyPr wrap="square" lIns="36576" rIns="36576" tIns="18288" bIns="18288"/>
                    <a:lstStyle/>
                    <a:p>
                      <a:r>
                        <a:rPr sz="540" b="0">
                          <a:solidFill>
                            <a:srgbClr val="21242A"/>
                          </a:solidFill>
                          <a:latin typeface="Microsoft YaHei"/>
                        </a:rPr>
                        <a:t>总人群85.8%，ORT组81.8%，ORT+HD-MTX组87.4%</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其余6条结果见HTML完整清单及EHA原文。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摘要号：PS2088</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替拉鲁替尼治疗复发或难治性继发性中枢神经系统淋巴瘤的疗效和安全性：ii期crystal/ncch2201研究结果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efficacy and safety of tirabrutinib for relapsed or refractory secondary cent...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PS2084</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B细胞非霍奇金淋巴瘤，中枢神经系统淋巴瘤</a:t>
            </a:r>
          </a:p>
          <a:p>
            <a:pPr>
              <a:lnSpc>
                <a:spcPct val="103000"/>
              </a:lnSpc>
              <a:spcAft>
                <a:spcPts val="300"/>
              </a:spcAft>
              <a:defRPr sz="800">
                <a:solidFill>
                  <a:srgbClr val="21242A"/>
                </a:solidFill>
                <a:latin typeface="Microsoft YaHei"/>
              </a:defRPr>
            </a:pPr>
            <a:r>
              <a:t>N=20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试验药/方案：替拉鲁替尼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 66.7%（95% CI 41.0-86.7）</a:t>
            </a:r>
          </a:p>
          <a:p>
            <a:pPr>
              <a:lnSpc>
                <a:spcPct val="103000"/>
              </a:lnSpc>
              <a:spcAft>
                <a:spcPts val="300"/>
              </a:spcAft>
              <a:defRPr sz="800">
                <a:solidFill>
                  <a:srgbClr val="21242A"/>
                </a:solidFill>
                <a:latin typeface="Microsoft YaHei"/>
              </a:defRPr>
            </a:pPr>
            <a:r>
              <a:t>完全缓解率（CR）: 38.9%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人数：20</a:t>
            </a:r>
          </a:p>
          <a:p>
            <a:pPr>
              <a:lnSpc>
                <a:spcPct val="103000"/>
              </a:lnSpc>
              <a:spcAft>
                <a:spcPts val="300"/>
              </a:spcAft>
              <a:defRPr sz="810">
                <a:solidFill>
                  <a:srgbClr val="21242A"/>
                </a:solidFill>
                <a:latin typeface="Microsoft YaHei"/>
              </a:defRPr>
            </a:pPr>
            <a:r>
              <a:t>适应症：B细胞非霍奇金淋巴瘤、中枢神经系统淋巴瘤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登记号：JPRN-jRCT2031220529</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试验药/方案：替拉鲁替尼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替拉鲁替尼治疗复发或难治性继发性中枢神经系统淋巴瘤的疗效和安全性：ii期crystal/ncch2201研究结果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efficacy and safety of tirabrutinib for relapsed or refractory secondary cent...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PS2084</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99/187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背景：继发性中枢神经系统淋巴瘤（SCNSL）是全身性淋巴瘤的一种破坏性并发症，治疗选择有限。最近的现实世界数据表明，SCNSL 后中位总生存期 (OS) 为 3.2 个月，这凸显了大量未满足的需求 (Blood Adv.</a:t>
            </a:r>
          </a:p>
          <a:p>
            <a:pPr>
              <a:lnSpc>
                <a:spcPct val="103000"/>
              </a:lnSpc>
              <a:spcAft>
                <a:spcPts val="300"/>
              </a:spcAft>
              <a:defRPr sz="550">
                <a:solidFill>
                  <a:srgbClr val="21242A"/>
                </a:solidFill>
                <a:latin typeface="Microsoft YaHei"/>
              </a:defRPr>
            </a:pPr>
            <a:r>
              <a:t>2025;9:893–905)。弥漫性大 B 细胞淋巴瘤 (DLBCL) 代表 SCNSL 最常见的组织学，并且经常因激活 MYD88 和 CD79B 突变而富集，为布鲁顿酪氨酸激酶 (BTK) 抑制提供了分子原理。替拉替尼是一种选择性第二代 BTK 抑制剂，已在原发性中枢神经系统淋巴瘤中表现出临床活性，并在日本被批准</a:t>
            </a:r>
          </a:p>
          <a:p>
            <a:pPr>
              <a:lnSpc>
                <a:spcPct val="103000"/>
              </a:lnSpc>
              <a:spcAft>
                <a:spcPts val="300"/>
              </a:spcAft>
              <a:defRPr sz="550">
                <a:solidFill>
                  <a:srgbClr val="21242A"/>
                </a:solidFill>
                <a:latin typeface="Microsoft YaHei"/>
              </a:defRPr>
            </a:pPr>
            <a:r>
              <a:t>用于治疗复发或难治性 (R/R) 疾病。目的：评估替拉替尼治疗 R/R SCNSL 患者的疗效和安全性。方法：本试验是研究者发起的 II 期 CRYSTAL/NCCH2201 研究 (jRCT2031220529)。符合条件的患者患有经组织学证实的 B 细胞非霍奇金淋巴瘤并伴有 R/R 继发性中枢神经系统受累。患有中枢</a:t>
            </a:r>
          </a:p>
          <a:p>
            <a:pPr>
              <a:lnSpc>
                <a:spcPct val="103000"/>
              </a:lnSpc>
              <a:spcAft>
                <a:spcPts val="300"/>
              </a:spcAft>
              <a:defRPr sz="550">
                <a:solidFill>
                  <a:srgbClr val="21242A"/>
                </a:solidFill>
                <a:latin typeface="Microsoft YaHei"/>
              </a:defRPr>
            </a:pPr>
            <a:r>
              <a:t>神经系统以外活动性全身性疾病的患者被排除在外。患者需要接受过大剂量甲氨蝶呤治疗或对其不耐受。替拉替尼每日一次口服 480 mg，直至疾病进展或出现不可接受的毒性。主要终点是根据 IPCG 标准确定的客观缓解率 (ORR)，并由独立中央审查 (ICR) 评估。</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替拉替尼在接受过多次治疗的 R/R SCNSL 患者中表现出具有临床意义的活性和可控的安全性。 II 期 CRYSTAL/NCCH2201 研究支持替拉替尼作为这种预后极差的疾病的一种有前途的治疗选择。</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结果：2023 年 2 月至 2024 年 12 月期间入组了 20 名患者。中位年龄为 75 岁（范围为 48-81 岁），所有患者均患有继发性 CNS 受累的 DLBCL（未另有说明）（DLBCL-NOS）。中心病理审查将 9 名患者归类为生发中心 B 细胞样 (GCB) 亚型，10 名患者归类为非 GC</a:t>
            </a:r>
          </a:p>
          <a:p>
            <a:pPr>
              <a:lnSpc>
                <a:spcPct val="103000"/>
              </a:lnSpc>
              <a:spcAft>
                <a:spcPts val="300"/>
              </a:spcAft>
              <a:defRPr sz="560">
                <a:solidFill>
                  <a:srgbClr val="21242A"/>
                </a:solidFill>
                <a:latin typeface="Microsoft YaHei"/>
              </a:defRPr>
            </a:pPr>
            <a:r>
              <a:t>B 亚型，1 名患者归类为无法分类。</a:t>
            </a:r>
          </a:p>
          <a:p>
            <a:pPr>
              <a:lnSpc>
                <a:spcPct val="103000"/>
              </a:lnSpc>
              <a:spcAft>
                <a:spcPts val="300"/>
              </a:spcAft>
              <a:defRPr sz="560">
                <a:solidFill>
                  <a:srgbClr val="21242A"/>
                </a:solidFill>
                <a:latin typeface="Microsoft YaHei"/>
              </a:defRPr>
            </a:pPr>
            <a:r>
              <a:t>3 名患者患有脑脊液疾病，其中 1 名患者无实质病变。既往治疗次数中位数为 3.5 次（范围 1-8）。通过 ICR 评估 18 名患者的疗效。 ORR 为 66.7%（95% CI，41.0–86.7；p 结论：替拉替尼在接受过多次治疗的 R/R SCNSL 患者中表现出具有临床意义的活性和可控的安全性。</a:t>
            </a:r>
          </a:p>
          <a:p>
            <a:pPr>
              <a:lnSpc>
                <a:spcPct val="103000"/>
              </a:lnSpc>
              <a:spcAft>
                <a:spcPts val="300"/>
              </a:spcAft>
              <a:defRPr sz="560">
                <a:solidFill>
                  <a:srgbClr val="21242A"/>
                </a:solidFill>
                <a:latin typeface="Microsoft YaHei"/>
              </a:defRPr>
            </a:pPr>
            <a:r>
              <a:t>II 期 CRYSTAL/NCCH2201 研究支持替拉替尼作为这种预后极差的疾病的一种有前途的治疗选择。</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扎努布替尼联合利妥昔单抗、异环磷酰胺、卡铂和依托泊苷治疗复发/难治性弥漫性大b细胞淋巴瘤的i/ii期研究：ii期部分的...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i/ii study of zanubrutinib in combination with rituximab, ifosfamide,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PF972</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中枢神经系统淋巴瘤，弥漫性大B细胞淋巴瘤</a:t>
            </a:r>
          </a:p>
          <a:p>
            <a:pPr>
              <a:lnSpc>
                <a:spcPct val="103000"/>
              </a:lnSpc>
              <a:spcAft>
                <a:spcPts val="300"/>
              </a:spcAft>
              <a:defRPr sz="800">
                <a:solidFill>
                  <a:srgbClr val="21242A"/>
                </a:solidFill>
                <a:latin typeface="Microsoft YaHei"/>
              </a:defRPr>
            </a:pPr>
            <a:r>
              <a:t>N=52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试验药/方案：泽布替尼</a:t>
            </a:r>
          </a:p>
          <a:p>
            <a:pPr>
              <a:lnSpc>
                <a:spcPct val="103000"/>
              </a:lnSpc>
              <a:spcAft>
                <a:spcPts val="300"/>
              </a:spcAft>
              <a:defRPr sz="800">
                <a:solidFill>
                  <a:srgbClr val="21242A"/>
                </a:solidFill>
                <a:latin typeface="Microsoft YaHei"/>
              </a:defRPr>
            </a:pPr>
            <a:r>
              <a:t>靶点：BTK</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多组/多方案比较：队列A（R/R systemic non-GCB DLBCL）：zanubrutinib 160mg每日联合...</a:t>
            </a:r>
          </a:p>
          <a:p>
            <a:pPr>
              <a:lnSpc>
                <a:spcPct val="103000"/>
              </a:lnSpc>
              <a:spcAft>
                <a:spcPts val="300"/>
              </a:spcAft>
              <a:defRPr sz="800">
                <a:solidFill>
                  <a:srgbClr val="21242A"/>
                </a:solidFill>
                <a:latin typeface="Microsoft YaHei"/>
              </a:defRPr>
            </a:pPr>
            <a:r>
              <a:t>队列B（R/R CNS淋巴瘤）：zanubrutinib 160mg每日联合R-ICE方案（利妥昔单抗、异环磷酰胺、卡铂、依托...</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总人群：ORR 90.9%，CR率72.7%</a:t>
            </a:r>
          </a:p>
          <a:p>
            <a:pPr>
              <a:lnSpc>
                <a:spcPct val="103000"/>
              </a:lnSpc>
              <a:spcAft>
                <a:spcPts val="300"/>
              </a:spcAft>
              <a:defRPr sz="800">
                <a:solidFill>
                  <a:srgbClr val="21242A"/>
                </a:solidFill>
                <a:latin typeface="Microsoft YaHei"/>
              </a:defRPr>
            </a:pPr>
            <a:r>
              <a:t>队列A：ORR 90.3%，CR率74.2%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人数：52</a:t>
            </a:r>
          </a:p>
          <a:p>
            <a:pPr>
              <a:lnSpc>
                <a:spcPct val="103000"/>
              </a:lnSpc>
              <a:spcAft>
                <a:spcPts val="300"/>
              </a:spcAft>
              <a:defRPr sz="810">
                <a:solidFill>
                  <a:srgbClr val="21242A"/>
                </a:solidFill>
                <a:latin typeface="Microsoft YaHei"/>
              </a:defRPr>
            </a:pPr>
            <a:r>
              <a:t>适应症：中枢神经系统淋巴瘤、弥漫性大B细胞淋巴瘤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扎努布替尼联合利妥昔单抗、异环磷酰胺、卡铂和依托泊苷治疗复发/难治性弥漫性大b细胞淋巴瘤的i/ii期研究：ii期部分的...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i/ii study of zanubrutinib in combination with rituximab, ifosfamide,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PF972</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背景：复发性或难治性弥漫性大 B 细胞淋巴瘤 (R/R DLBCL) 的预后较差，其中 R/R CNS 淋巴瘤（原发性 [PCNSL] 或继发性 [SCNSL]）的预后尤其糟糕。</a:t>
            </a:r>
          </a:p>
          <a:p>
            <a:pPr>
              <a:lnSpc>
                <a:spcPct val="103000"/>
              </a:lnSpc>
              <a:spcAft>
                <a:spcPts val="300"/>
              </a:spcAft>
              <a:defRPr sz="550">
                <a:solidFill>
                  <a:srgbClr val="21242A"/>
                </a:solidFill>
                <a:latin typeface="Microsoft YaHei"/>
              </a:defRPr>
            </a:pPr>
            <a:r>
              <a:t>R-ICE（利妥昔单抗、异环磷酰胺、卡铂和依托泊苷）化疗已在这些患者 (pts) 中显示出疗效，但反应的持久性有限。最近，BTK 抑制剂在系统性 R/R 非 GCB DLBCL 和 R/R CNS 淋巴瘤中表现出令人鼓舞的疗效结果。目的：这项 I/II 期研究旨在评估第二代 BTK 抑制剂 zanubrutinib 与</a:t>
            </a:r>
          </a:p>
          <a:p>
            <a:pPr>
              <a:lnSpc>
                <a:spcPct val="103000"/>
              </a:lnSpc>
              <a:spcAft>
                <a:spcPts val="300"/>
              </a:spcAft>
              <a:defRPr sz="550">
                <a:solidFill>
                  <a:srgbClr val="21242A"/>
                </a:solidFill>
                <a:latin typeface="Microsoft YaHei"/>
              </a:defRPr>
            </a:pPr>
            <a:r>
              <a:t> R-ICE (ZR-ICE) 联合治疗 R/R 系统性非 GCB DLBCL 或 R/R CNS 淋巴瘤患者的有效性、安全性和可行性。在这里，我们报告第二阶段部分的中期疗效和安全性结果。方法：在I期部分，基于标准3+3剂量递增设计，将zanubrutinib 160 mg每日确定为推荐的2期剂量。在 II 期部分，患</a:t>
            </a:r>
          </a:p>
          <a:p>
            <a:pPr>
              <a:lnSpc>
                <a:spcPct val="103000"/>
              </a:lnSpc>
              <a:spcAft>
                <a:spcPts val="300"/>
              </a:spcAft>
              <a:defRPr sz="550">
                <a:solidFill>
                  <a:srgbClr val="21242A"/>
                </a:solidFill>
                <a:latin typeface="Microsoft YaHei"/>
              </a:defRPr>
            </a:pPr>
            <a:r>
              <a:t>有 R/R 系统性非 GCB DLBCL（A 组）或 R/R CNS 淋巴瘤（PCNSL 或 SCNSL）（B 组）的患者每天接受 zanubrutinib 160 mg 联合 R-ICE 治疗。</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ZR-ICE 在 R/R 系统性非 GCB DLBCL 和 R/R CNS 淋巴瘤中表现出良好的疗效和可控的安全性。这些中期结果支持继续进行这项正在进行的二期研究。</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总人群</a:t>
                      </a:r>
                    </a:p>
                  </a:txBody>
                  <a:tcPr>
                    <a:solidFill>
                      <a:srgbClr val="F6F8FB"/>
                    </a:solidFill>
                  </a:tcPr>
                </a:tc>
                <a:tc>
                  <a:txBody>
                    <a:bodyPr wrap="square" lIns="36576" rIns="36576" tIns="18288" bIns="18288"/>
                    <a:lstStyle/>
                    <a:p>
                      <a:r>
                        <a:rPr sz="540" b="0">
                          <a:solidFill>
                            <a:srgbClr val="21242A"/>
                          </a:solidFill>
                          <a:latin typeface="Microsoft YaHei"/>
                        </a:rPr>
                        <a:t>ORR 90.9%，CR率72.7%</a:t>
                      </a:r>
                    </a:p>
                  </a:txBody>
                  <a:tcPr>
                    <a:solidFill>
                      <a:srgbClr val="F6F8FB"/>
                    </a:solidFill>
                  </a:tcPr>
                </a:tc>
              </a:tr>
              <a:tr h="214230">
                <a:tc>
                  <a:txBody>
                    <a:bodyPr wrap="square" lIns="36576" rIns="36576" tIns="18288" bIns="18288"/>
                    <a:lstStyle/>
                    <a:p>
                      <a:r>
                        <a:rPr sz="540" b="1">
                          <a:solidFill>
                            <a:srgbClr val="21242A"/>
                          </a:solidFill>
                          <a:latin typeface="Microsoft YaHei"/>
                        </a:rPr>
                        <a:t>队列A</a:t>
                      </a:r>
                    </a:p>
                  </a:txBody>
                  <a:tcPr>
                    <a:solidFill>
                      <a:srgbClr val="FFFFFF"/>
                    </a:solidFill>
                  </a:tcPr>
                </a:tc>
                <a:tc>
                  <a:txBody>
                    <a:bodyPr wrap="square" lIns="36576" rIns="36576" tIns="18288" bIns="18288"/>
                    <a:lstStyle/>
                    <a:p>
                      <a:r>
                        <a:rPr sz="540" b="0">
                          <a:solidFill>
                            <a:srgbClr val="21242A"/>
                          </a:solidFill>
                          <a:latin typeface="Microsoft YaHei"/>
                        </a:rPr>
                        <a:t>ORR 90.3%，CR率74.2%</a:t>
                      </a:r>
                    </a:p>
                  </a:txBody>
                  <a:tcPr>
                    <a:solidFill>
                      <a:srgbClr val="FFFFFF"/>
                    </a:solidFill>
                  </a:tcPr>
                </a:tc>
              </a:tr>
              <a:tr h="214230">
                <a:tc>
                  <a:txBody>
                    <a:bodyPr wrap="square" lIns="36576" rIns="36576" tIns="18288" bIns="18288"/>
                    <a:lstStyle/>
                    <a:p>
                      <a:r>
                        <a:rPr sz="540" b="1">
                          <a:solidFill>
                            <a:srgbClr val="21242A"/>
                          </a:solidFill>
                          <a:latin typeface="Microsoft YaHei"/>
                        </a:rPr>
                        <a:t>队列B</a:t>
                      </a:r>
                    </a:p>
                  </a:txBody>
                  <a:tcPr>
                    <a:solidFill>
                      <a:srgbClr val="F6F8FB"/>
                    </a:solidFill>
                  </a:tcPr>
                </a:tc>
                <a:tc>
                  <a:txBody>
                    <a:bodyPr wrap="square" lIns="36576" rIns="36576" tIns="18288" bIns="18288"/>
                    <a:lstStyle/>
                    <a:p>
                      <a:r>
                        <a:rPr sz="540" b="0">
                          <a:solidFill>
                            <a:srgbClr val="21242A"/>
                          </a:solidFill>
                          <a:latin typeface="Microsoft YaHei"/>
                        </a:rPr>
                        <a:t>ORR 92.3%，CR率69.2%</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中位随访5.8个月，6个月PFS率76.3%，6个月OS率90.0%</a:t>
                      </a:r>
                    </a:p>
                  </a:txBody>
                  <a:tcPr>
                    <a:solidFill>
                      <a:srgbClr val="FFFFFF"/>
                    </a:solidFill>
                  </a:tcPr>
                </a:tc>
              </a:tr>
              <a:tr h="214230">
                <a:tc>
                  <a:txBody>
                    <a:bodyPr wrap="square" lIns="36576" rIns="36576" tIns="18288" bIns="18288"/>
                    <a:lstStyle/>
                    <a:p>
                      <a:r>
                        <a:rPr sz="540" b="1">
                          <a:solidFill>
                            <a:srgbClr val="21242A"/>
                          </a:solidFill>
                          <a:latin typeface="Microsoft YaHei"/>
                        </a:rPr>
                        <a:t>队列A</a:t>
                      </a:r>
                    </a:p>
                  </a:txBody>
                  <a:tcPr>
                    <a:solidFill>
                      <a:srgbClr val="F6F8FB"/>
                    </a:solidFill>
                  </a:tcPr>
                </a:tc>
                <a:tc>
                  <a:txBody>
                    <a:bodyPr wrap="square" lIns="36576" rIns="36576" tIns="18288" bIns="18288"/>
                    <a:lstStyle/>
                    <a:p>
                      <a:r>
                        <a:rPr sz="540" b="0">
                          <a:solidFill>
                            <a:srgbClr val="21242A"/>
                          </a:solidFill>
                          <a:latin typeface="Microsoft YaHei"/>
                        </a:rPr>
                        <a:t>6个月PFS率83.2%，6个月OS率100.0%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摘要号：PF972</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medz-r方案作为新诊断的原发性中枢神经系统淋巴瘤诱导治疗的真实疗效和安全性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and safety of the medz-r regimen as induction therapy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PF1001</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试验药/方案：甲氨蝶呤</a:t>
            </a:r>
          </a:p>
          <a:p>
            <a:pPr>
              <a:lnSpc>
                <a:spcPct val="103000"/>
              </a:lnSpc>
              <a:spcAft>
                <a:spcPts val="300"/>
              </a:spcAft>
              <a:defRPr sz="800">
                <a:solidFill>
                  <a:srgbClr val="21242A"/>
                </a:solidFill>
                <a:latin typeface="Microsoft YaHei"/>
              </a:defRPr>
            </a:pPr>
            <a:r>
              <a:t>泽布替尼</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 93.0%</a:t>
            </a:r>
          </a:p>
          <a:p>
            <a:pPr>
              <a:lnSpc>
                <a:spcPct val="103000"/>
              </a:lnSpc>
              <a:spcAft>
                <a:spcPts val="300"/>
              </a:spcAft>
              <a:defRPr sz="800">
                <a:solidFill>
                  <a:srgbClr val="21242A"/>
                </a:solidFill>
                <a:latin typeface="Microsoft YaHei"/>
              </a:defRPr>
            </a:pPr>
            <a:r>
              <a:t>完全缓解率(CR): 91.2%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人数：59</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试验药/方案：甲氨蝶呤、泽布替尼、依托泊苷、聚乙二醇化多柔比星脂质体</a:t>
            </a:r>
          </a:p>
          <a:p>
            <a:pPr>
              <a:lnSpc>
                <a:spcPct val="103000"/>
              </a:lnSpc>
              <a:spcAft>
                <a:spcPts val="300"/>
              </a:spcAft>
              <a:defRPr sz="810">
                <a:solidFill>
                  <a:srgbClr val="21242A"/>
                </a:solidFill>
                <a:latin typeface="Microsoft YaHei"/>
              </a:defRPr>
            </a:pPr>
            <a:r>
              <a:t>靶点：DHFR、BTK、TOP2、CD20</a:t>
            </a:r>
          </a:p>
          <a:p>
            <a:pPr>
              <a:lnSpc>
                <a:spcPct val="103000"/>
              </a:lnSpc>
              <a:spcAft>
                <a:spcPts val="300"/>
              </a:spcAft>
              <a:defRPr sz="810">
                <a:solidFill>
                  <a:srgbClr val="21242A"/>
                </a:solidFill>
                <a:latin typeface="Microsoft YaHei"/>
              </a:defRPr>
            </a:pPr>
            <a:r>
              <a:t>药物/技术类别：化药、单特异性抗体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medz-r方案作为新诊断的原发性中枢神经系统淋巴瘤诱导治疗的真实疗效和安全性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and safety of the medz-r regimen as induction therapy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PF1001</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背景：原发性中枢神经系统淋巴瘤（PCNSL）是一种罕见的侵袭性非霍奇金淋巴瘤，与全身性弥漫性大 B 细胞淋巴瘤相比，预后较差。基于大剂量甲氨蝶呤的组合仍然是诱导治疗的基石，但结果仍然不理想。我们之前的 II 期试验报告称，对于 70 岁以下的新诊断 PCNSL 患者，MEDZ-R 方案的完全缓解 (CR) 率超过 90</a:t>
            </a:r>
          </a:p>
          <a:p>
            <a:pPr>
              <a:lnSpc>
                <a:spcPct val="103000"/>
              </a:lnSpc>
              <a:spcAft>
                <a:spcPts val="300"/>
              </a:spcAft>
              <a:defRPr sz="550">
                <a:solidFill>
                  <a:srgbClr val="21242A"/>
                </a:solidFill>
                <a:latin typeface="Microsoft YaHei"/>
              </a:defRPr>
            </a:pPr>
            <a:r>
              <a:t>%。</a:t>
            </a:r>
          </a:p>
          <a:p>
            <a:pPr>
              <a:lnSpc>
                <a:spcPct val="103000"/>
              </a:lnSpc>
              <a:spcAft>
                <a:spcPts val="300"/>
              </a:spcAft>
              <a:defRPr sz="550">
                <a:solidFill>
                  <a:srgbClr val="21242A"/>
                </a:solidFill>
                <a:latin typeface="Microsoft YaHei"/>
              </a:defRPr>
            </a:pPr>
            <a:r>
              <a:t>目的：评估 MEDZ-R 方案作为新诊断 PCNSL 诱导治疗的实际疗效和安全性。</a:t>
            </a:r>
          </a:p>
          <a:p>
            <a:pPr>
              <a:lnSpc>
                <a:spcPct val="103000"/>
              </a:lnSpc>
              <a:spcAft>
                <a:spcPts val="300"/>
              </a:spcAft>
              <a:defRPr sz="550">
                <a:solidFill>
                  <a:srgbClr val="21242A"/>
                </a:solidFill>
                <a:latin typeface="Microsoft YaHei"/>
              </a:defRPr>
            </a:pPr>
            <a:r>
              <a:t>方法：这项多中心、回顾性现实世界研究纳入了来自五个机构的新诊断 PCNSL 患者。患者接受 5-6 个周期的 MEDZ-R 方案：利妥昔单抗（375 mg/m2，第 0 天）、甲氨蝶呤（3.5 g/m2，第 1 天）、依托泊苷（50 mg/m2，第 3-5 天）、脂质体阿霉素（30 mg/m2，第 3 天）和 zanu</a:t>
            </a:r>
          </a:p>
          <a:p>
            <a:pPr>
              <a:lnSpc>
                <a:spcPct val="103000"/>
              </a:lnSpc>
              <a:spcAft>
                <a:spcPts val="300"/>
              </a:spcAft>
              <a:defRPr sz="550">
                <a:solidFill>
                  <a:srgbClr val="21242A"/>
                </a:solidFill>
                <a:latin typeface="Microsoft YaHei"/>
              </a:defRPr>
            </a:pPr>
            <a:r>
              <a:t>brutinib（160 mg BID，第 3-21 天）。</a:t>
            </a:r>
          </a:p>
          <a:p>
            <a:pPr>
              <a:lnSpc>
                <a:spcPct val="103000"/>
              </a:lnSpc>
              <a:spcAft>
                <a:spcPts val="300"/>
              </a:spcAft>
              <a:defRPr sz="550">
                <a:solidFill>
                  <a:srgbClr val="21242A"/>
                </a:solidFill>
                <a:latin typeface="Microsoft YaHei"/>
              </a:defRPr>
            </a:pPr>
            <a:r>
              <a:t>3周。对于达到 CR 的患者，建议进行巩固治疗（减少剂量放疗或自体干细胞移植）或维持治疗。诱导期间每两个周期进行一次放射学评估。主要终点是 CR 率。次要终点包括客观缓解率 (ORR)、PFS、OS 和安全性 (CTCAE v5.0)。</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在这项真实世界的研究中，MEDZ-R 方案在新诊断的 PCNSL 诱导治疗中表现出高效（CR &gt; 90%）和可控的安全性。这些发现支持其作为一种有前途的治疗选择的潜力。</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93.0%</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91.2%</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中位随访22.0个月</a:t>
                      </a:r>
                    </a:p>
                  </a:txBody>
                  <a:tcPr>
                    <a:solidFill>
                      <a:srgbClr val="F6F8FB"/>
                    </a:solidFill>
                  </a:tcPr>
                </a:tc>
              </a:tr>
              <a:tr h="214230">
                <a:tc>
                  <a:txBody>
                    <a:bodyPr wrap="square" lIns="36576" rIns="36576" tIns="18288" bIns="18288"/>
                    <a:lstStyle/>
                    <a:p>
                      <a:r>
                        <a:rPr sz="540" b="1">
                          <a:solidFill>
                            <a:srgbClr val="21242A"/>
                          </a:solidFill>
                          <a:latin typeface="Microsoft YaHei"/>
                        </a:rPr>
                        <a:t>1年无进展生存率(PFS)</a:t>
                      </a:r>
                    </a:p>
                  </a:txBody>
                  <a:tcPr>
                    <a:solidFill>
                      <a:srgbClr val="FFFFFF"/>
                    </a:solidFill>
                  </a:tcPr>
                </a:tc>
                <a:tc>
                  <a:txBody>
                    <a:bodyPr wrap="square" lIns="36576" rIns="36576" tIns="18288" bIns="18288"/>
                    <a:lstStyle/>
                    <a:p>
                      <a:r>
                        <a:rPr sz="540" b="0">
                          <a:solidFill>
                            <a:srgbClr val="21242A"/>
                          </a:solidFill>
                          <a:latin typeface="Microsoft YaHei"/>
                        </a:rPr>
                        <a:t>84.7%</a:t>
                      </a:r>
                    </a:p>
                  </a:txBody>
                  <a:tcPr>
                    <a:solidFill>
                      <a:srgbClr val="FFFFFF"/>
                    </a:solidFill>
                  </a:tcPr>
                </a:tc>
              </a:tr>
              <a:tr h="214230">
                <a:tc>
                  <a:txBody>
                    <a:bodyPr wrap="square" lIns="36576" rIns="36576" tIns="18288" bIns="18288"/>
                    <a:lstStyle/>
                    <a:p>
                      <a:r>
                        <a:rPr sz="540" b="1">
                          <a:solidFill>
                            <a:srgbClr val="21242A"/>
                          </a:solidFill>
                          <a:latin typeface="Microsoft YaHei"/>
                        </a:rPr>
                        <a:t>1年总生存率(OS)</a:t>
                      </a:r>
                    </a:p>
                  </a:txBody>
                  <a:tcPr>
                    <a:solidFill>
                      <a:srgbClr val="F6F8FB"/>
                    </a:solidFill>
                  </a:tcPr>
                </a:tc>
                <a:tc>
                  <a:txBody>
                    <a:bodyPr wrap="square" lIns="36576" rIns="36576" tIns="18288" bIns="18288"/>
                    <a:lstStyle/>
                    <a:p>
                      <a:r>
                        <a:rPr sz="540" b="0">
                          <a:solidFill>
                            <a:srgbClr val="21242A"/>
                          </a:solidFill>
                          <a:latin typeface="Microsoft YaHei"/>
                        </a:rPr>
                        <a:t>87.5%</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其余8条结果见HTML完整清单及EHA原文。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摘要号：PF1001</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大剂量化疗联合替莫唑胺治疗原发性中枢神经系统淋巴瘤患者12年总生存率的最新进展</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12 years update on overall survival in patients with primary central nervous...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PS2157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N=40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试验药/方案：替莫唑胺</a:t>
            </a:r>
          </a:p>
          <a:p>
            <a:pPr>
              <a:lnSpc>
                <a:spcPct val="103000"/>
              </a:lnSpc>
              <a:spcAft>
                <a:spcPts val="300"/>
              </a:spcAft>
              <a:defRPr sz="800">
                <a:solidFill>
                  <a:srgbClr val="21242A"/>
                </a:solidFill>
                <a:latin typeface="Microsoft YaHei"/>
              </a:defRPr>
            </a:pPr>
            <a:r>
              <a:t>阿糖胞苷</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完全缓解率：85%（34/40）</a:t>
            </a:r>
          </a:p>
          <a:p>
            <a:pPr>
              <a:lnSpc>
                <a:spcPct val="103000"/>
              </a:lnSpc>
              <a:spcAft>
                <a:spcPts val="300"/>
              </a:spcAft>
              <a:defRPr sz="800">
                <a:solidFill>
                  <a:srgbClr val="21242A"/>
                </a:solidFill>
                <a:latin typeface="Microsoft YaHei"/>
              </a:defRPr>
            </a:pPr>
            <a:r>
              <a:t>部分缓解率：15%（6/40）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人数：40</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试验药/方案：替莫唑胺、阿糖胞苷、甲氨蝶呤</a:t>
            </a:r>
          </a:p>
          <a:p>
            <a:pPr>
              <a:lnSpc>
                <a:spcPct val="103000"/>
              </a:lnSpc>
              <a:spcAft>
                <a:spcPts val="300"/>
              </a:spcAft>
              <a:defRPr sz="810">
                <a:solidFill>
                  <a:srgbClr val="21242A"/>
                </a:solidFill>
                <a:latin typeface="Microsoft YaHei"/>
              </a:defRPr>
            </a:pPr>
            <a:r>
              <a:t>靶点：DNA、DNA Pol、DHFR</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大剂量化疗联合替莫唑胺治疗原发性中枢神经系统淋巴瘤患者12年总生存率的最新进展</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12 years update on overall survival in patients with primary central nervous...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PS2157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背景：使用传统放疗和化疗治疗原发性中枢神经系统淋巴瘤（PCNSL）的反应率低且生存率低。由于其良好的毒性特征，替莫唑胺已成为治疗年轻患者 PCNSL 的新选择。在这项研究中，我们报告了一系列 PCNSL 患者接受创新方案治疗，该方案结合高剂量阿糖胞苷和甲氨蝶呤与替莫唑胺，无需放疗或鞘内化疗。</a:t>
            </a:r>
          </a:p>
          <a:p>
            <a:pPr>
              <a:lnSpc>
                <a:spcPct val="103000"/>
              </a:lnSpc>
              <a:spcAft>
                <a:spcPts val="300"/>
              </a:spcAft>
              <a:defRPr sz="550">
                <a:solidFill>
                  <a:srgbClr val="21242A"/>
                </a:solidFill>
                <a:latin typeface="Microsoft YaHei"/>
              </a:defRPr>
            </a:pPr>
            <a:r>
              <a:t>目的：评价替莫唑胺、大剂量阿糖胞苷和甲氨蝶呤的组合，无需放疗。这项研究评估了我们第一份报告发表 12 年后的总体生存率。</a:t>
            </a:r>
          </a:p>
          <a:p>
            <a:pPr>
              <a:lnSpc>
                <a:spcPct val="103000"/>
              </a:lnSpc>
              <a:spcAft>
                <a:spcPts val="300"/>
              </a:spcAft>
              <a:defRPr sz="550">
                <a:solidFill>
                  <a:srgbClr val="21242A"/>
                </a:solidFill>
                <a:latin typeface="Microsoft YaHei"/>
              </a:defRPr>
            </a:pPr>
            <a:r>
              <a:t>方法：该研究当时在 Almwassat 慈善医院和 al Bairouni 大学癌症中心进行。包括 40 名经组织学证实的 PCNSL 患者，中位年龄 52 岁（范围 20-65）岁。对 32 名患者进行了活检和核型分析。开始诱导化疗，第1天甲氨蝶呤3克/平方米，持续12小时，阿糖胞苷3克/平方米，第1天每12小时一次</a:t>
            </a:r>
          </a:p>
          <a:p>
            <a:pPr>
              <a:lnSpc>
                <a:spcPct val="103000"/>
              </a:lnSpc>
              <a:spcAft>
                <a:spcPts val="300"/>
              </a:spcAft>
              <a:defRPr sz="550">
                <a:solidFill>
                  <a:srgbClr val="21242A"/>
                </a:solidFill>
                <a:latin typeface="Microsoft YaHei"/>
              </a:defRPr>
            </a:pPr>
            <a:r>
              <a:t>，替莫唑胺150毫克/平方米，第2天至第6天，每月给予6个周期。每 3 个月通过对比磁共振 (MRI) 对患者进行一次评估。</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2013 年我们发表第一份报告后，与其他长期毒性最小的研究相比，采用高剂量化疗和替莫唑胺治疗 PCNSL 似乎可以延长总生存率。</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完全缓解率</a:t>
                      </a:r>
                    </a:p>
                  </a:txBody>
                  <a:tcPr>
                    <a:solidFill>
                      <a:srgbClr val="F6F8FB"/>
                    </a:solidFill>
                  </a:tcPr>
                </a:tc>
                <a:tc>
                  <a:txBody>
                    <a:bodyPr wrap="square" lIns="36576" rIns="36576" tIns="18288" bIns="18288"/>
                    <a:lstStyle/>
                    <a:p>
                      <a:r>
                        <a:rPr sz="540" b="0">
                          <a:solidFill>
                            <a:srgbClr val="21242A"/>
                          </a:solidFill>
                          <a:latin typeface="Microsoft YaHei"/>
                        </a:rPr>
                        <a:t>85%（34/40）</a:t>
                      </a:r>
                    </a:p>
                  </a:txBody>
                  <a:tcPr>
                    <a:solidFill>
                      <a:srgbClr val="F6F8FB"/>
                    </a:solidFill>
                  </a:tcPr>
                </a:tc>
              </a:tr>
              <a:tr h="214230">
                <a:tc>
                  <a:txBody>
                    <a:bodyPr wrap="square" lIns="36576" rIns="36576" tIns="18288" bIns="18288"/>
                    <a:lstStyle/>
                    <a:p>
                      <a:r>
                        <a:rPr sz="540" b="1">
                          <a:solidFill>
                            <a:srgbClr val="21242A"/>
                          </a:solidFill>
                          <a:latin typeface="Microsoft YaHei"/>
                        </a:rPr>
                        <a:t>部分缓解率</a:t>
                      </a:r>
                    </a:p>
                  </a:txBody>
                  <a:tcPr>
                    <a:solidFill>
                      <a:srgbClr val="FFFFFF"/>
                    </a:solidFill>
                  </a:tcPr>
                </a:tc>
                <a:tc>
                  <a:txBody>
                    <a:bodyPr wrap="square" lIns="36576" rIns="36576" tIns="18288" bIns="18288"/>
                    <a:lstStyle/>
                    <a:p>
                      <a:r>
                        <a:rPr sz="540" b="0">
                          <a:solidFill>
                            <a:srgbClr val="21242A"/>
                          </a:solidFill>
                          <a:latin typeface="Microsoft YaHei"/>
                        </a:rPr>
                        <a:t>15%（6/40）</a:t>
                      </a:r>
                    </a:p>
                  </a:txBody>
                  <a:tcPr>
                    <a:solidFill>
                      <a:srgbClr val="FFFFFF"/>
                    </a:solidFill>
                  </a:tcPr>
                </a:tc>
              </a:tr>
              <a:tr h="214230">
                <a:tc>
                  <a:txBody>
                    <a:bodyPr wrap="square" lIns="36576" rIns="36576" tIns="18288" bIns="18288"/>
                    <a:lstStyle/>
                    <a:p>
                      <a:r>
                        <a:rPr sz="540" b="1">
                          <a:solidFill>
                            <a:srgbClr val="21242A"/>
                          </a:solidFill>
                          <a:latin typeface="Microsoft YaHei"/>
                        </a:rPr>
                        <a:t>疾病进展率</a:t>
                      </a:r>
                    </a:p>
                  </a:txBody>
                  <a:tcPr>
                    <a:solidFill>
                      <a:srgbClr val="F6F8FB"/>
                    </a:solidFill>
                  </a:tcPr>
                </a:tc>
                <a:tc>
                  <a:txBody>
                    <a:bodyPr wrap="square" lIns="36576" rIns="36576" tIns="18288" bIns="18288"/>
                    <a:lstStyle/>
                    <a:p>
                      <a:r>
                        <a:rPr sz="540" b="0">
                          <a:solidFill>
                            <a:srgbClr val="21242A"/>
                          </a:solidFill>
                          <a:latin typeface="Microsoft YaHei"/>
                        </a:rPr>
                        <a:t>20%（8/40）</a:t>
                      </a:r>
                    </a:p>
                  </a:txBody>
                  <a:tcPr>
                    <a:solidFill>
                      <a:srgbClr val="F6F8FB"/>
                    </a:solidFill>
                  </a:tcPr>
                </a:tc>
              </a:tr>
              <a:tr h="214230">
                <a:tc>
                  <a:txBody>
                    <a:bodyPr wrap="square" lIns="36576" rIns="36576" tIns="18288" bIns="18288"/>
                    <a:lstStyle/>
                    <a:p>
                      <a:r>
                        <a:rPr sz="540" b="1">
                          <a:solidFill>
                            <a:srgbClr val="21242A"/>
                          </a:solidFill>
                          <a:latin typeface="Microsoft YaHei"/>
                        </a:rPr>
                        <a:t>5年总生存率</a:t>
                      </a:r>
                    </a:p>
                  </a:txBody>
                  <a:tcPr>
                    <a:solidFill>
                      <a:srgbClr val="FFFFFF"/>
                    </a:solidFill>
                  </a:tcPr>
                </a:tc>
                <a:tc>
                  <a:txBody>
                    <a:bodyPr wrap="square" lIns="36576" rIns="36576" tIns="18288" bIns="18288"/>
                    <a:lstStyle/>
                    <a:p>
                      <a:r>
                        <a:rPr sz="540" b="0">
                          <a:solidFill>
                            <a:srgbClr val="21242A"/>
                          </a:solidFill>
                          <a:latin typeface="Microsoft YaHei"/>
                        </a:rPr>
                        <a:t>77%</a:t>
                      </a:r>
                    </a:p>
                  </a:txBody>
                  <a:tcPr>
                    <a:solidFill>
                      <a:srgbClr val="FFFFFF"/>
                    </a:solidFill>
                  </a:tcPr>
                </a:tc>
              </a:tr>
              <a:tr h="214230">
                <a:tc>
                  <a:txBody>
                    <a:bodyPr wrap="square" lIns="36576" rIns="36576" tIns="18288" bIns="18288"/>
                    <a:lstStyle/>
                    <a:p>
                      <a:r>
                        <a:rPr sz="540" b="1">
                          <a:solidFill>
                            <a:srgbClr val="21242A"/>
                          </a:solidFill>
                          <a:latin typeface="Microsoft YaHei"/>
                        </a:rPr>
                        <a:t>12年总生存率</a:t>
                      </a:r>
                    </a:p>
                  </a:txBody>
                  <a:tcPr>
                    <a:solidFill>
                      <a:srgbClr val="F6F8FB"/>
                    </a:solidFill>
                  </a:tcPr>
                </a:tc>
                <a:tc>
                  <a:txBody>
                    <a:bodyPr wrap="square" lIns="36576" rIns="36576" tIns="18288" bIns="18288"/>
                    <a:lstStyle/>
                    <a:p>
                      <a:r>
                        <a:rPr sz="540" b="0">
                          <a:solidFill>
                            <a:srgbClr val="21242A"/>
                          </a:solidFill>
                          <a:latin typeface="Microsoft YaHei"/>
                        </a:rPr>
                        <a:t>62.5%（95% CI: 57.8-66.3）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摘要号：PS2157</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利妥昔单抗甲氨蝶呤诱导治疗原发性中枢神经系统淋巴瘤后来那度胺维持的ii期研究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ii study of lenalidomide maintenance after rituximab-methotrexate-based...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PS2104</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N=30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试验药/方案：来那度胺</a:t>
            </a:r>
          </a:p>
          <a:p>
            <a:pPr>
              <a:lnSpc>
                <a:spcPct val="103000"/>
              </a:lnSpc>
              <a:spcAft>
                <a:spcPts val="300"/>
              </a:spcAft>
              <a:defRPr sz="800">
                <a:solidFill>
                  <a:srgbClr val="21242A"/>
                </a:solidFill>
                <a:latin typeface="Microsoft YaHei"/>
              </a:defRPr>
            </a:pPr>
            <a:r>
              <a:t>靶点：IKZF3，IKZF1，CSNK1A1，CRBN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2年无进展生存率：58.8%</a:t>
            </a:r>
          </a:p>
          <a:p>
            <a:pPr>
              <a:lnSpc>
                <a:spcPct val="103000"/>
              </a:lnSpc>
              <a:spcAft>
                <a:spcPts val="300"/>
              </a:spcAft>
              <a:defRPr sz="800">
                <a:solidFill>
                  <a:srgbClr val="21242A"/>
                </a:solidFill>
                <a:latin typeface="Microsoft YaHei"/>
              </a:defRPr>
            </a:pPr>
            <a:r>
              <a:t>2年总生存率：83.9%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人数：30</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登记号：NCT05260619</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试验药/方案：来那度胺</a:t>
            </a:r>
          </a:p>
          <a:p>
            <a:pPr>
              <a:lnSpc>
                <a:spcPct val="103000"/>
              </a:lnSpc>
              <a:spcAft>
                <a:spcPts val="300"/>
              </a:spcAft>
              <a:defRPr sz="810">
                <a:solidFill>
                  <a:srgbClr val="21242A"/>
                </a:solidFill>
                <a:latin typeface="Microsoft YaHei"/>
              </a:defRPr>
            </a:pPr>
            <a:r>
              <a:t>靶点：IKZF3、IKZF1、CSNK1A1、CRBN</a:t>
            </a:r>
          </a:p>
          <a:p>
            <a:pPr>
              <a:lnSpc>
                <a:spcPct val="103000"/>
              </a:lnSpc>
              <a:spcAft>
                <a:spcPts val="300"/>
              </a:spcAft>
              <a:defRPr sz="810">
                <a:solidFill>
                  <a:srgbClr val="21242A"/>
                </a:solidFill>
                <a:latin typeface="Microsoft YaHei"/>
              </a:defRPr>
            </a:pPr>
            <a:r>
              <a:t>药物/技术类别：分子胶降解剂</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利妥昔单抗甲氨蝶呤诱导治疗原发性中枢神经系统淋巴瘤后来那度胺维持的ii期研究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phase ii study of lenalidomide maintenance after rituximab-methotrexate-based...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PS2104</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背景：由于神经毒性和治疗相关风险，老年原发性中枢神经系统淋巴瘤（PCNSL）患者通常不适合接受巩固性全脑放疗（WBRT）或自体干细胞移植（ASCT）。来那度胺对复发性 PCNSL 有活性，但其用于维持治疗的前瞻性数据有限。</a:t>
            </a:r>
          </a:p>
          <a:p>
            <a:pPr>
              <a:lnSpc>
                <a:spcPct val="103000"/>
              </a:lnSpc>
              <a:spcAft>
                <a:spcPts val="300"/>
              </a:spcAft>
              <a:defRPr sz="550">
                <a:solidFill>
                  <a:srgbClr val="21242A"/>
                </a:solidFill>
                <a:latin typeface="Microsoft YaHei"/>
              </a:defRPr>
            </a:pPr>
            <a:r>
              <a:t>目的：本研究旨在评估以甲氨蝶呤为基础的化学免疫疗法后，不适合巩固治疗的老年原发性中枢神经系统淋巴瘤患者来那度胺维持治疗的疗效和耐受性。</a:t>
            </a:r>
          </a:p>
          <a:p>
            <a:pPr>
              <a:lnSpc>
                <a:spcPct val="103000"/>
              </a:lnSpc>
              <a:spcAft>
                <a:spcPts val="300"/>
              </a:spcAft>
              <a:defRPr sz="550">
                <a:solidFill>
                  <a:srgbClr val="21242A"/>
                </a:solidFill>
                <a:latin typeface="Microsoft YaHei"/>
              </a:defRPr>
            </a:pPr>
            <a:r>
              <a:t>方法：我们对患有 PCNSL 的成人进行了一项来那度胺维持治疗的多中心 II 期试验，这些成人在接受 2-6 个周期的基于甲氨蝶呤和利妥昔单抗的化学免疫治疗后获得部分缓解，并且不适合 WBRT/ASCT。在 28 天周期的第 1-21 天口服来那度胺 15 mg，最多 12 个周期或直至出现进展或毒性。主要终点是自维持</a:t>
            </a:r>
          </a:p>
          <a:p>
            <a:pPr>
              <a:lnSpc>
                <a:spcPct val="103000"/>
              </a:lnSpc>
              <a:spcAft>
                <a:spcPts val="300"/>
              </a:spcAft>
              <a:defRPr sz="550">
                <a:solidFill>
                  <a:srgbClr val="21242A"/>
                </a:solidFill>
                <a:latin typeface="Microsoft YaHei"/>
              </a:defRPr>
            </a:pPr>
            <a:r>
              <a:t>治疗开始后的 2 年无进展生存期 (PFS)。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化学免疫治疗后来那度胺维持治疗对于老年、不适合巩固治疗的 PCNSL 患者是可行的，并且值得在比较试验中进一步评估。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2年无进展生存率</a:t>
                      </a:r>
                    </a:p>
                  </a:txBody>
                  <a:tcPr>
                    <a:solidFill>
                      <a:srgbClr val="F6F8FB"/>
                    </a:solidFill>
                  </a:tcPr>
                </a:tc>
                <a:tc>
                  <a:txBody>
                    <a:bodyPr wrap="square" lIns="36576" rIns="36576" tIns="18288" bIns="18288"/>
                    <a:lstStyle/>
                    <a:p>
                      <a:r>
                        <a:rPr sz="540" b="0">
                          <a:solidFill>
                            <a:srgbClr val="21242A"/>
                          </a:solidFill>
                          <a:latin typeface="Microsoft YaHei"/>
                        </a:rPr>
                        <a:t>58.8%</a:t>
                      </a:r>
                    </a:p>
                  </a:txBody>
                  <a:tcPr>
                    <a:solidFill>
                      <a:srgbClr val="F6F8FB"/>
                    </a:solidFill>
                  </a:tcPr>
                </a:tc>
              </a:tr>
              <a:tr h="214230">
                <a:tc>
                  <a:txBody>
                    <a:bodyPr wrap="square" lIns="36576" rIns="36576" tIns="18288" bIns="18288"/>
                    <a:lstStyle/>
                    <a:p>
                      <a:r>
                        <a:rPr sz="540" b="1">
                          <a:solidFill>
                            <a:srgbClr val="21242A"/>
                          </a:solidFill>
                          <a:latin typeface="Microsoft YaHei"/>
                        </a:rPr>
                        <a:t>2年总生存率</a:t>
                      </a:r>
                    </a:p>
                  </a:txBody>
                  <a:tcPr>
                    <a:solidFill>
                      <a:srgbClr val="FFFFFF"/>
                    </a:solidFill>
                  </a:tcPr>
                </a:tc>
                <a:tc>
                  <a:txBody>
                    <a:bodyPr wrap="square" lIns="36576" rIns="36576" tIns="18288" bIns="18288"/>
                    <a:lstStyle/>
                    <a:p>
                      <a:r>
                        <a:rPr sz="540" b="0">
                          <a:solidFill>
                            <a:srgbClr val="21242A"/>
                          </a:solidFill>
                          <a:latin typeface="Microsoft YaHei"/>
                        </a:rPr>
                        <a:t>83.9%</a:t>
                      </a:r>
                    </a:p>
                  </a:txBody>
                  <a:tcPr>
                    <a:solidFill>
                      <a:srgbClr val="FFFFFF"/>
                    </a:solidFill>
                  </a:tcPr>
                </a:tc>
              </a:tr>
              <a:tr h="214230">
                <a:tc>
                  <a:txBody>
                    <a:bodyPr wrap="square" lIns="36576" rIns="36576" tIns="18288" bIns="18288"/>
                    <a:lstStyle/>
                    <a:p>
                      <a:r>
                        <a:rPr sz="540" b="1">
                          <a:solidFill>
                            <a:srgbClr val="21242A"/>
                          </a:solidFill>
                          <a:latin typeface="Microsoft YaHei"/>
                        </a:rPr>
                        <a:t>3-4级中性粒细胞减少症发生率</a:t>
                      </a:r>
                    </a:p>
                  </a:txBody>
                  <a:tcPr>
                    <a:solidFill>
                      <a:srgbClr val="F6F8FB"/>
                    </a:solidFill>
                  </a:tcPr>
                </a:tc>
                <a:tc>
                  <a:txBody>
                    <a:bodyPr wrap="square" lIns="36576" rIns="36576" tIns="18288" bIns="18288"/>
                    <a:lstStyle/>
                    <a:p>
                      <a:r>
                        <a:rPr sz="540" b="0">
                          <a:solidFill>
                            <a:srgbClr val="21242A"/>
                          </a:solidFill>
                          <a:latin typeface="Microsoft YaHei"/>
                        </a:rPr>
                        <a:t>56%</a:t>
                      </a:r>
                    </a:p>
                  </a:txBody>
                  <a:tcPr>
                    <a:solidFill>
                      <a:srgbClr val="F6F8FB"/>
                    </a:solidFill>
                  </a:tcPr>
                </a:tc>
              </a:tr>
              <a:tr h="214230">
                <a:tc>
                  <a:txBody>
                    <a:bodyPr wrap="square" lIns="36576" rIns="36576" tIns="18288" bIns="18288"/>
                    <a:lstStyle/>
                    <a:p>
                      <a:r>
                        <a:rPr sz="540" b="1">
                          <a:solidFill>
                            <a:srgbClr val="21242A"/>
                          </a:solidFill>
                          <a:latin typeface="Microsoft YaHei"/>
                        </a:rPr>
                        <a:t>因毒性停药率</a:t>
                      </a:r>
                    </a:p>
                  </a:txBody>
                  <a:tcPr>
                    <a:solidFill>
                      <a:srgbClr val="FFFFFF"/>
                    </a:solidFill>
                  </a:tcPr>
                </a:tc>
                <a:tc>
                  <a:txBody>
                    <a:bodyPr wrap="square" lIns="36576" rIns="36576" tIns="18288" bIns="18288"/>
                    <a:lstStyle/>
                    <a:p>
                      <a:r>
                        <a:rPr sz="540" b="0">
                          <a:solidFill>
                            <a:srgbClr val="21242A"/>
                          </a:solidFill>
                          <a:latin typeface="Microsoft YaHei"/>
                        </a:rPr>
                        <a:t>13%</a:t>
                      </a:r>
                    </a:p>
                  </a:txBody>
                  <a:tcPr>
                    <a:solidFill>
                      <a:srgbClr val="FFFFFF"/>
                    </a:solidFill>
                  </a:tcPr>
                </a:tc>
              </a:tr>
              <a:tr h="214230">
                <a:tc>
                  <a:txBody>
                    <a:bodyPr wrap="square" lIns="36576" rIns="36576" tIns="18288" bIns="18288"/>
                    <a:lstStyle/>
                    <a:p>
                      <a:r>
                        <a:rPr sz="540" b="1">
                          <a:solidFill>
                            <a:srgbClr val="21242A"/>
                          </a:solidFill>
                          <a:latin typeface="Microsoft YaHei"/>
                        </a:rPr>
                        <a:t>5级肺炎发生率</a:t>
                      </a:r>
                    </a:p>
                  </a:txBody>
                  <a:tcPr>
                    <a:solidFill>
                      <a:srgbClr val="F6F8FB"/>
                    </a:solidFill>
                  </a:tcPr>
                </a:tc>
                <a:tc>
                  <a:txBody>
                    <a:bodyPr wrap="square" lIns="36576" rIns="36576" tIns="18288" bIns="18288"/>
                    <a:lstStyle/>
                    <a:p>
                      <a:r>
                        <a:rPr sz="540" b="0">
                          <a:solidFill>
                            <a:srgbClr val="21242A"/>
                          </a:solidFill>
                          <a:latin typeface="Microsoft YaHei"/>
                        </a:rPr>
                        <a:t>1例</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优化试验：一项研究者发起的随机iii期研究，旨在优化新诊断的原发性中枢神经系统淋巴瘤的基质诱导（试验正在进行中）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optimate-trial: an investigator-initiated randomized phase iii study to 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PF965</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N=298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分组：试验组1：Arm A（4周期MATRix）</a:t>
            </a:r>
          </a:p>
          <a:p>
            <a:pPr>
              <a:lnSpc>
                <a:spcPct val="103000"/>
              </a:lnSpc>
              <a:spcAft>
                <a:spcPts val="300"/>
              </a:spcAft>
              <a:defRPr sz="800">
                <a:solidFill>
                  <a:srgbClr val="21242A"/>
                </a:solidFill>
                <a:latin typeface="Microsoft YaHei"/>
              </a:defRPr>
            </a:pPr>
            <a:r>
              <a:t>试验组2：Arm B（R-MTX预处理后接2周期MATRix）</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多组/多方案比较：试验组1：Arm A（4周期MATRix）</a:t>
            </a:r>
          </a:p>
          <a:p>
            <a:pPr>
              <a:lnSpc>
                <a:spcPct val="103000"/>
              </a:lnSpc>
              <a:spcAft>
                <a:spcPts val="300"/>
              </a:spcAft>
              <a:defRPr sz="800">
                <a:solidFill>
                  <a:srgbClr val="21242A"/>
                </a:solidFill>
                <a:latin typeface="Microsoft YaHei"/>
              </a:defRPr>
            </a:pPr>
            <a:r>
              <a:t>试验组2：Arm B（R-MTX预处理后接2周期MATRix）</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安全性分析人群共298例（Arm A：147例，Arm B：151例）</a:t>
            </a:r>
          </a:p>
          <a:p>
            <a:pPr>
              <a:lnSpc>
                <a:spcPct val="103000"/>
              </a:lnSpc>
              <a:spcAft>
                <a:spcPts val="300"/>
              </a:spcAft>
              <a:defRPr sz="800">
                <a:solidFill>
                  <a:srgbClr val="21242A"/>
                </a:solidFill>
                <a:latin typeface="Microsoft YaHei"/>
              </a:defRPr>
            </a:pPr>
            <a:r>
              <a:t>至少发生1次3-5级不良事件：Arm A 90.5%，Arm B 86.8%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研究类型：前瞻性临床研究结果</a:t>
            </a:r>
          </a:p>
          <a:p>
            <a:pPr>
              <a:lnSpc>
                <a:spcPct val="103000"/>
              </a:lnSpc>
              <a:spcAft>
                <a:spcPts val="300"/>
              </a:spcAft>
              <a:defRPr sz="810">
                <a:solidFill>
                  <a:srgbClr val="21242A"/>
                </a:solidFill>
                <a:latin typeface="Microsoft YaHei"/>
              </a:defRPr>
            </a:pPr>
            <a:r>
              <a:t>人数：298</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登记号：NCT04931368</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分组/治疗流程：试验组1：Arm A（4周期MATRix）、试验组2：Arm B（R-MTX预处理后接2周期MATRix）</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优化试验：一项研究者发起的随机iii期研究，旨在优化新诊断的原发性中枢神经系统淋巴瘤的基质诱导（试验正在进行中）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optimate-trial: an investigator-initiated randomized phase iii study to 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PF965</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22910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背景：原发性中枢神经系统淋巴瘤（PCNSL）是一种侵袭性结外弥漫性大 B 细胞淋巴瘤，预后不佳。治疗性治疗与显着的毒性相关。 MATRIx 诱导后进行高剂量化疗和自体干细胞移植 (HDT-ASCT) 广泛应用于≤70 岁的健康患者。</a:t>
            </a:r>
          </a:p>
          <a:p>
            <a:pPr>
              <a:lnSpc>
                <a:spcPct val="103000"/>
              </a:lnSpc>
              <a:spcAft>
                <a:spcPts val="300"/>
              </a:spcAft>
              <a:defRPr sz="550">
                <a:solidFill>
                  <a:srgbClr val="21242A"/>
                </a:solidFill>
                <a:latin typeface="Microsoft YaHei"/>
              </a:defRPr>
            </a:pPr>
            <a:r>
              <a:t>OptiMATe 试验 (NCT04931368) 评估诱导降级是否可以降低治疗相关发病率，同时保持疗效并增加进行巩固 HDT-ASCT 的患者比例。 目的：比较新诊断 PCNSL 患者的标准诱导治疗和降级诱导策略之间的无事件生存期 (EFS)。</a:t>
            </a:r>
          </a:p>
          <a:p>
            <a:pPr>
              <a:lnSpc>
                <a:spcPct val="103000"/>
              </a:lnSpc>
              <a:spcAft>
                <a:spcPts val="300"/>
              </a:spcAft>
              <a:defRPr sz="550">
                <a:solidFill>
                  <a:srgbClr val="21242A"/>
                </a:solidFill>
                <a:latin typeface="Microsoft YaHei"/>
              </a:defRPr>
            </a:pPr>
            <a:r>
              <a:t>方法：OptiMATe 是一项跨 68 个欧洲中心的多中心、开放标签、随机 III 期试验，招募了 70 岁以下免疫功能正常的新诊断 PCNSL 患者。患者以 1:1 的比例随机分配至 A 组（四个 MATRix 周期）或 B 组（R-MTX 预处理，随后进行两个 MATRix 周期）。达到至少部分缓解的患者继续接受噻</a:t>
            </a:r>
          </a:p>
          <a:p>
            <a:pPr>
              <a:lnSpc>
                <a:spcPct val="103000"/>
              </a:lnSpc>
              <a:spcAft>
                <a:spcPts val="300"/>
              </a:spcAft>
              <a:defRPr sz="550">
                <a:solidFill>
                  <a:srgbClr val="21242A"/>
                </a:solidFill>
                <a:latin typeface="Microsoft YaHei"/>
              </a:defRPr>
            </a:pPr>
            <a:r>
              <a:t>替哌调节的高剂量化疗和 HDT-ASCT。主要终点是 EFS；关键的次要终点包括总生存期和无进展生存期、安全性、神经认知和生活质量，随访时间至少为 24 个月。</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这是针对新诊断的原发性中枢神经系统淋巴瘤的最大的随机 III 期降阶梯试验。该研究显示出良好的可行性、出色的招募效果并且没有意外的毒性信号。将提供最新的随访和安全数据。</a:t>
            </a:r>
          </a:p>
          <a:p>
            <a:pPr>
              <a:lnSpc>
                <a:spcPct val="103000"/>
              </a:lnSpc>
              <a:spcAft>
                <a:spcPts val="300"/>
              </a:spcAft>
              <a:defRPr sz="570">
                <a:solidFill>
                  <a:srgbClr val="21242A"/>
                </a:solidFill>
                <a:latin typeface="Microsoft YaHei"/>
              </a:defRPr>
            </a:pPr>
            <a:r>
              <a:t>\n 这项研究得到了德国联邦研究、技术和空间部 (BMFTR) 和英国癌症研究中心的支持。该试验的主办方是斯图加特医院，英国站点由英国癌症研究南安普顿临床试验单位协调，意大利站点由国际结外淋巴瘤研究组协调。</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安全性分析人群共298例（Arm A</a:t>
                      </a:r>
                    </a:p>
                  </a:txBody>
                  <a:tcPr>
                    <a:solidFill>
                      <a:srgbClr val="F6F8FB"/>
                    </a:solidFill>
                  </a:tcPr>
                </a:tc>
                <a:tc>
                  <a:txBody>
                    <a:bodyPr wrap="square" lIns="36576" rIns="36576" tIns="18288" bIns="18288"/>
                    <a:lstStyle/>
                    <a:p>
                      <a:r>
                        <a:rPr sz="540" b="0">
                          <a:solidFill>
                            <a:srgbClr val="21242A"/>
                          </a:solidFill>
                          <a:latin typeface="Microsoft YaHei"/>
                        </a:rPr>
                        <a:t>147例，Arm B：151例）</a:t>
                      </a:r>
                    </a:p>
                  </a:txBody>
                  <a:tcPr>
                    <a:solidFill>
                      <a:srgbClr val="F6F8FB"/>
                    </a:solidFill>
                  </a:tcPr>
                </a:tc>
              </a:tr>
              <a:tr h="249936">
                <a:tc>
                  <a:txBody>
                    <a:bodyPr wrap="square" lIns="36576" rIns="36576" tIns="18288" bIns="18288"/>
                    <a:lstStyle/>
                    <a:p>
                      <a:r>
                        <a:rPr sz="540" b="1">
                          <a:solidFill>
                            <a:srgbClr val="21242A"/>
                          </a:solidFill>
                          <a:latin typeface="Microsoft YaHei"/>
                        </a:rPr>
                        <a:t>至少发生1次3-5级不良事件</a:t>
                      </a:r>
                    </a:p>
                  </a:txBody>
                  <a:tcPr>
                    <a:solidFill>
                      <a:srgbClr val="FFFFFF"/>
                    </a:solidFill>
                  </a:tcPr>
                </a:tc>
                <a:tc>
                  <a:txBody>
                    <a:bodyPr wrap="square" lIns="36576" rIns="36576" tIns="18288" bIns="18288"/>
                    <a:lstStyle/>
                    <a:p>
                      <a:r>
                        <a:rPr sz="540" b="0">
                          <a:solidFill>
                            <a:srgbClr val="21242A"/>
                          </a:solidFill>
                          <a:latin typeface="Microsoft YaHei"/>
                        </a:rPr>
                        <a:t>Arm A 90.5%，Arm B 86.8%</a:t>
                      </a:r>
                    </a:p>
                  </a:txBody>
                  <a:tcPr>
                    <a:solidFill>
                      <a:srgbClr val="FFFFFF"/>
                    </a:solidFill>
                  </a:tcPr>
                </a:tc>
              </a:tr>
              <a:tr h="249936">
                <a:tc>
                  <a:txBody>
                    <a:bodyPr wrap="square" lIns="36576" rIns="36576" tIns="18288" bIns="18288"/>
                    <a:lstStyle/>
                    <a:p>
                      <a:r>
                        <a:rPr sz="540" b="1">
                          <a:solidFill>
                            <a:srgbClr val="21242A"/>
                          </a:solidFill>
                          <a:latin typeface="Microsoft YaHei"/>
                        </a:rPr>
                        <a:t>诱导期间3-5级不良事件</a:t>
                      </a:r>
                    </a:p>
                  </a:txBody>
                  <a:tcPr>
                    <a:solidFill>
                      <a:srgbClr val="F6F8FB"/>
                    </a:solidFill>
                  </a:tcPr>
                </a:tc>
                <a:tc>
                  <a:txBody>
                    <a:bodyPr wrap="square" lIns="36576" rIns="36576" tIns="18288" bIns="18288"/>
                    <a:lstStyle/>
                    <a:p>
                      <a:r>
                        <a:rPr sz="540" b="0">
                          <a:solidFill>
                            <a:srgbClr val="21242A"/>
                          </a:solidFill>
                          <a:latin typeface="Microsoft YaHei"/>
                        </a:rPr>
                        <a:t>Arm A 89.8%（132/147），Arm B 83.4%（126/151）</a:t>
                      </a:r>
                    </a:p>
                  </a:txBody>
                  <a:tcPr>
                    <a:solidFill>
                      <a:srgbClr val="F6F8FB"/>
                    </a:solidFill>
                  </a:tcPr>
                </a:tc>
              </a:tr>
              <a:tr h="249936">
                <a:tc>
                  <a:txBody>
                    <a:bodyPr wrap="square" lIns="36576" rIns="36576" tIns="18288" bIns="18288"/>
                    <a:lstStyle/>
                    <a:p>
                      <a:r>
                        <a:rPr sz="540" b="1">
                          <a:solidFill>
                            <a:srgbClr val="21242A"/>
                          </a:solidFill>
                          <a:latin typeface="Microsoft YaHei"/>
                        </a:rPr>
                        <a:t>巩固期间/后3-5级不良事件</a:t>
                      </a:r>
                    </a:p>
                  </a:txBody>
                  <a:tcPr>
                    <a:solidFill>
                      <a:srgbClr val="FFFFFF"/>
                    </a:solidFill>
                  </a:tcPr>
                </a:tc>
                <a:tc>
                  <a:txBody>
                    <a:bodyPr wrap="square" lIns="36576" rIns="36576" tIns="18288" bIns="18288"/>
                    <a:lstStyle/>
                    <a:p>
                      <a:r>
                        <a:rPr sz="540" b="0">
                          <a:solidFill>
                            <a:srgbClr val="21242A"/>
                          </a:solidFill>
                          <a:latin typeface="Microsoft YaHei"/>
                        </a:rPr>
                        <a:t>Arm A 72.6%（61/84），Arm B 73.0%（84/115）</a:t>
                      </a:r>
                    </a:p>
                  </a:txBody>
                  <a:tcPr>
                    <a:solidFill>
                      <a:srgbClr val="FFFFFF"/>
                    </a:solidFill>
                  </a:tcPr>
                </a:tc>
              </a:tr>
              <a:tr h="249936">
                <a:tc>
                  <a:txBody>
                    <a:bodyPr wrap="square" lIns="36576" rIns="36576" tIns="18288" bIns="18288"/>
                    <a:lstStyle/>
                    <a:p>
                      <a:r>
                        <a:rPr sz="540" b="1">
                          <a:solidFill>
                            <a:srgbClr val="21242A"/>
                          </a:solidFill>
                          <a:latin typeface="Microsoft YaHei"/>
                        </a:rPr>
                        <a:t>致死性不良事件（5级）</a:t>
                      </a:r>
                    </a:p>
                  </a:txBody>
                  <a:tcPr>
                    <a:solidFill>
                      <a:srgbClr val="F6F8FB"/>
                    </a:solidFill>
                  </a:tcPr>
                </a:tc>
                <a:tc>
                  <a:txBody>
                    <a:bodyPr wrap="square" lIns="36576" rIns="36576" tIns="18288" bIns="18288"/>
                    <a:lstStyle/>
                    <a:p>
                      <a:r>
                        <a:rPr sz="540" b="0">
                          <a:solidFill>
                            <a:srgbClr val="21242A"/>
                          </a:solidFill>
                          <a:latin typeface="Microsoft YaHei"/>
                        </a:rPr>
                        <a:t>诱导期共9例（Arm A 7例，Arm B 2例），巩固期/后共7例（均为Arm B）</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摘要号：PF965</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药物/技术：CNS穿透/放疗/MTX策略</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大剂量甲氨蝶呤和阿糖胞苷联合或不联合玻璃体内注射甲氨蝶呤治疗31例hiv阴性原发性玻璃体视网膜淋巴瘤患者</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high doses of methotrexate and cytarabine with or without intravitreal methot...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PS2094</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眼内/玻璃体视网膜淋巴瘤</a:t>
            </a:r>
          </a:p>
        </p:txBody>
      </p:sp>
      <p:sp>
        <p:nvSpPr>
          <p:cNvPr id="10" name="TextBox 9"/>
          <p:cNvSpPr txBox="1"/>
          <p:nvPr/>
        </p:nvSpPr>
        <p:spPr>
          <a:xfrm>
            <a:off x="42291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原发性玻璃体视网膜淋巴瘤</a:t>
            </a:r>
          </a:p>
          <a:p>
            <a:pPr>
              <a:lnSpc>
                <a:spcPct val="103000"/>
              </a:lnSpc>
              <a:spcAft>
                <a:spcPts val="300"/>
              </a:spcAft>
              <a:defRPr sz="800">
                <a:solidFill>
                  <a:srgbClr val="21242A"/>
                </a:solidFill>
                <a:latin typeface="Microsoft YaHei"/>
              </a:defRPr>
            </a:pPr>
            <a:r>
              <a:t>N=31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试验药/方案：阿糖胞苷</a:t>
            </a:r>
          </a:p>
          <a:p>
            <a:pPr>
              <a:lnSpc>
                <a:spcPct val="103000"/>
              </a:lnSpc>
              <a:spcAft>
                <a:spcPts val="300"/>
              </a:spcAft>
              <a:defRPr sz="800">
                <a:solidFill>
                  <a:srgbClr val="21242A"/>
                </a:solidFill>
                <a:latin typeface="Microsoft YaHei"/>
              </a:defRPr>
            </a:pPr>
            <a:r>
              <a:t>甲氨蝶呤</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最佳客观缓解率(ORR): 97% (30/31, 95% CI 78-99)</a:t>
            </a:r>
          </a:p>
          <a:p>
            <a:pPr>
              <a:lnSpc>
                <a:spcPct val="103000"/>
              </a:lnSpc>
              <a:spcAft>
                <a:spcPts val="300"/>
              </a:spcAft>
              <a:defRPr sz="800">
                <a:solidFill>
                  <a:srgbClr val="21242A"/>
                </a:solidFill>
                <a:latin typeface="Microsoft YaHei"/>
              </a:defRPr>
            </a:pPr>
            <a:r>
              <a:t>完全缓解(CR): 90% (28/31)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人数：31</a:t>
            </a:r>
          </a:p>
          <a:p>
            <a:pPr>
              <a:lnSpc>
                <a:spcPct val="103000"/>
              </a:lnSpc>
              <a:spcAft>
                <a:spcPts val="300"/>
              </a:spcAft>
              <a:defRPr sz="810">
                <a:solidFill>
                  <a:srgbClr val="21242A"/>
                </a:solidFill>
                <a:latin typeface="Microsoft YaHei"/>
              </a:defRPr>
            </a:pPr>
            <a:r>
              <a:t>适应症：原发性玻璃体视网膜淋巴瘤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试验药/方案：阿糖胞苷、甲氨蝶呤</a:t>
            </a:r>
          </a:p>
          <a:p>
            <a:pPr>
              <a:lnSpc>
                <a:spcPct val="103000"/>
              </a:lnSpc>
              <a:spcAft>
                <a:spcPts val="300"/>
              </a:spcAft>
              <a:defRPr sz="810">
                <a:solidFill>
                  <a:srgbClr val="21242A"/>
                </a:solidFill>
                <a:latin typeface="Microsoft YaHei"/>
              </a:defRPr>
            </a:pPr>
            <a:r>
              <a:t>靶点：DNA Pol、DHFR</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大剂量甲氨蝶呤和阿糖胞苷联合或不联合玻璃体内注射甲氨蝶呤治疗31例hiv阴性原发性玻璃体视网膜淋巴瘤患者</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high doses of methotrexate and cytarabine with or without intravitreal methot...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PS2094</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前瞻性临床试验</a:t>
            </a:r>
          </a:p>
        </p:txBody>
      </p:sp>
      <p:sp>
        <p:nvSpPr>
          <p:cNvPr id="9" name="TextBox 8"/>
          <p:cNvSpPr txBox="1"/>
          <p:nvPr/>
        </p:nvSpPr>
        <p:spPr>
          <a:xfrm>
            <a:off x="2903220"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眼内/玻璃体视网膜淋巴瘤</a:t>
            </a:r>
          </a:p>
        </p:txBody>
      </p:sp>
      <p:sp>
        <p:nvSpPr>
          <p:cNvPr id="10" name="TextBox 9"/>
          <p:cNvSpPr txBox="1"/>
          <p:nvPr/>
        </p:nvSpPr>
        <p:spPr>
          <a:xfrm>
            <a:off x="42291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105/187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背景：原发性玻璃体视网膜淋巴瘤（PVRL）是一种罕见的大 B 细胞淋巴瘤，累及玻璃体和/或视网膜，具有中枢神经系统播散的高风险。最佳治疗仍不确定：大多数报道的系列均采用局部治疗（玻璃体内甲氨蝶呤 [IVT-MTX] 和眼部放疗 [ORT]）进行治疗，其提供的中枢神经系统保护有限，而改编自 PCNSL 的强化全身治疗方案</a:t>
            </a:r>
          </a:p>
          <a:p>
            <a:pPr>
              <a:lnSpc>
                <a:spcPct val="103000"/>
              </a:lnSpc>
              <a:spcAft>
                <a:spcPts val="300"/>
              </a:spcAft>
              <a:defRPr sz="550">
                <a:solidFill>
                  <a:srgbClr val="21242A"/>
                </a:solidFill>
                <a:latin typeface="Microsoft YaHei"/>
              </a:defRPr>
            </a:pPr>
            <a:r>
              <a:t>的益处仍不确定。</a:t>
            </a:r>
          </a:p>
          <a:p>
            <a:pPr>
              <a:lnSpc>
                <a:spcPct val="103000"/>
              </a:lnSpc>
              <a:spcAft>
                <a:spcPts val="300"/>
              </a:spcAft>
              <a:defRPr sz="550">
                <a:solidFill>
                  <a:srgbClr val="21242A"/>
                </a:solidFill>
                <a:latin typeface="Microsoft YaHei"/>
              </a:defRPr>
            </a:pPr>
            <a:r>
              <a:t>目的：评估在两个意大利转诊中心接受治疗的 PVRL 患者 (pts) 中基于大剂量甲氨蝶呤 - 阿糖胞苷 (MA) 的化疗 ± IVT-MTX 的疗效和耐受性。</a:t>
            </a:r>
          </a:p>
          <a:p>
            <a:pPr>
              <a:lnSpc>
                <a:spcPct val="103000"/>
              </a:lnSpc>
              <a:spcAft>
                <a:spcPts val="300"/>
              </a:spcAft>
              <a:defRPr sz="550">
                <a:solidFill>
                  <a:srgbClr val="21242A"/>
                </a:solidFill>
                <a:latin typeface="Microsoft YaHei"/>
              </a:defRPr>
            </a:pPr>
            <a:r>
              <a:t>方法：2015 年至 2025 年间因眼部症状转诊接受治疗的 HIV 阴性患者的纳入依据是：1) 通过眼科评估诊断出 PVRL，并通过眼液中的常规细胞学和/或生物标志物（例如 MYD88 L265P、升高的 IL-10、克隆性 IGH）进行确认； 2) 基于MA的一线治疗±IVT-MTX；患有眼外疾病（中枢神经系统内部</a:t>
            </a:r>
          </a:p>
          <a:p>
            <a:pPr>
              <a:lnSpc>
                <a:spcPct val="103000"/>
              </a:lnSpc>
              <a:spcAft>
                <a:spcPts val="300"/>
              </a:spcAft>
              <a:defRPr sz="550">
                <a:solidFill>
                  <a:srgbClr val="21242A"/>
                </a:solidFill>
                <a:latin typeface="Microsoft YaHei"/>
              </a:defRPr>
            </a:pPr>
            <a:r>
              <a:t>或外部）的患者被排除在外。根据 IPCG 标准做出答复。生物标志物组被定义为单阳性（MYD88 L265P 或高 IL-10）或双阳性。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基于 MA 的化疗 ±IVT-MTX 在 PVRL 中实现了高缓解率和可接受的毒性。 48% 的患者出现复发，主要累及脑部（单独或合并眼部疾病），而孤立的眼部复发并不常见。巩固方法（ORT 或 ASCT）的潜在益处和脑脊液分子生物标志物的高可检测性值得前瞻性评估。 \n\n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最佳客观缓解率(ORR)</a:t>
                      </a:r>
                    </a:p>
                  </a:txBody>
                  <a:tcPr>
                    <a:solidFill>
                      <a:srgbClr val="F6F8FB"/>
                    </a:solidFill>
                  </a:tcPr>
                </a:tc>
                <a:tc>
                  <a:txBody>
                    <a:bodyPr wrap="square" lIns="36576" rIns="36576" tIns="18288" bIns="18288"/>
                    <a:lstStyle/>
                    <a:p>
                      <a:r>
                        <a:rPr sz="540" b="0">
                          <a:solidFill>
                            <a:srgbClr val="21242A"/>
                          </a:solidFill>
                          <a:latin typeface="Microsoft YaHei"/>
                        </a:rPr>
                        <a:t>97% (30/31, 95% CI 78-99)</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完全缓解(CR)</a:t>
                      </a:r>
                    </a:p>
                  </a:txBody>
                  <a:tcPr>
                    <a:solidFill>
                      <a:srgbClr val="FFFFFF"/>
                    </a:solidFill>
                  </a:tcPr>
                </a:tc>
                <a:tc>
                  <a:txBody>
                    <a:bodyPr wrap="square" lIns="36576" rIns="36576" tIns="18288" bIns="18288"/>
                    <a:lstStyle/>
                    <a:p>
                      <a:r>
                        <a:rPr sz="540" b="0">
                          <a:solidFill>
                            <a:srgbClr val="21242A"/>
                          </a:solidFill>
                          <a:latin typeface="Microsoft YaHei"/>
                        </a:rPr>
                        <a:t>90% (28/31)</a:t>
                      </a:r>
                    </a:p>
                  </a:txBody>
                  <a:tcPr>
                    <a:solidFill>
                      <a:srgbClr val="FFFFFF"/>
                    </a:solidFill>
                  </a:tcPr>
                </a:tc>
              </a:tr>
              <a:tr h="214230">
                <a:tc>
                  <a:txBody>
                    <a:bodyPr wrap="square" lIns="36576" rIns="36576" tIns="18288" bIns="18288"/>
                    <a:lstStyle/>
                    <a:p>
                      <a:r>
                        <a:rPr sz="540" b="1">
                          <a:solidFill>
                            <a:srgbClr val="21242A"/>
                          </a:solidFill>
                          <a:latin typeface="Microsoft YaHei"/>
                        </a:rPr>
                        <a:t>中位随访时间</a:t>
                      </a:r>
                    </a:p>
                  </a:txBody>
                  <a:tcPr>
                    <a:solidFill>
                      <a:srgbClr val="F6F8FB"/>
                    </a:solidFill>
                  </a:tcPr>
                </a:tc>
                <a:tc>
                  <a:txBody>
                    <a:bodyPr wrap="square" lIns="36576" rIns="36576" tIns="18288" bIns="18288"/>
                    <a:lstStyle/>
                    <a:p>
                      <a:r>
                        <a:rPr sz="540" b="0">
                          <a:solidFill>
                            <a:srgbClr val="21242A"/>
                          </a:solidFill>
                          <a:latin typeface="Microsoft YaHei"/>
                        </a:rPr>
                        <a:t>30个月（范围5-112）</a:t>
                      </a:r>
                    </a:p>
                  </a:txBody>
                  <a:tcPr>
                    <a:solidFill>
                      <a:srgbClr val="F6F8FB"/>
                    </a:solidFill>
                  </a:tcPr>
                </a:tc>
              </a:tr>
              <a:tr h="214230">
                <a:tc>
                  <a:txBody>
                    <a:bodyPr wrap="square" lIns="36576" rIns="36576" tIns="18288" bIns="18288"/>
                    <a:lstStyle/>
                    <a:p>
                      <a:r>
                        <a:rPr sz="540" b="1">
                          <a:solidFill>
                            <a:srgbClr val="21242A"/>
                          </a:solidFill>
                          <a:latin typeface="Microsoft YaHei"/>
                        </a:rPr>
                        <a:t>2年无进展生存率(PFS)</a:t>
                      </a:r>
                    </a:p>
                  </a:txBody>
                  <a:tcPr>
                    <a:solidFill>
                      <a:srgbClr val="FFFFFF"/>
                    </a:solidFill>
                  </a:tcPr>
                </a:tc>
                <a:tc>
                  <a:txBody>
                    <a:bodyPr wrap="square" lIns="36576" rIns="36576" tIns="18288" bIns="18288"/>
                    <a:lstStyle/>
                    <a:p>
                      <a:r>
                        <a:rPr sz="540" b="0">
                          <a:solidFill>
                            <a:srgbClr val="21242A"/>
                          </a:solidFill>
                          <a:latin typeface="Microsoft YaHei"/>
                        </a:rPr>
                        <a:t>49% (95% CI 28.2-66.6)</a:t>
                      </a:r>
                    </a:p>
                  </a:txBody>
                  <a:tcPr>
                    <a:solidFill>
                      <a:srgbClr val="FFFFFF"/>
                    </a:solidFill>
                  </a:tcPr>
                </a:tc>
              </a:tr>
              <a:tr h="214230">
                <a:tc>
                  <a:txBody>
                    <a:bodyPr wrap="square" lIns="36576" rIns="36576" tIns="18288" bIns="18288"/>
                    <a:lstStyle/>
                    <a:p>
                      <a:r>
                        <a:rPr sz="540" b="1">
                          <a:solidFill>
                            <a:srgbClr val="21242A"/>
                          </a:solidFill>
                          <a:latin typeface="Microsoft YaHei"/>
                        </a:rPr>
                        <a:t>2年总生存率(OS)</a:t>
                      </a:r>
                    </a:p>
                  </a:txBody>
                  <a:tcPr>
                    <a:solidFill>
                      <a:srgbClr val="F6F8FB"/>
                    </a:solidFill>
                  </a:tcPr>
                </a:tc>
                <a:tc>
                  <a:txBody>
                    <a:bodyPr wrap="square" lIns="36576" rIns="36576" tIns="18288" bIns="18288"/>
                    <a:lstStyle/>
                    <a:p>
                      <a:r>
                        <a:rPr sz="540" b="0">
                          <a:solidFill>
                            <a:srgbClr val="21242A"/>
                          </a:solidFill>
                          <a:latin typeface="Microsoft YaHei"/>
                        </a:rPr>
                        <a:t>85% (95% CI 64.4-94.0)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摘要号：PS2094</a:t>
            </a:r>
          </a:p>
          <a:p>
            <a:pPr>
              <a:lnSpc>
                <a:spcPct val="103000"/>
              </a:lnSpc>
              <a:spcAft>
                <a:spcPts val="300"/>
              </a:spcAft>
              <a:defRPr sz="680">
                <a:solidFill>
                  <a:srgbClr val="21242A"/>
                </a:solidFill>
                <a:latin typeface="Microsoft YaHei"/>
              </a:defRPr>
            </a:pPr>
            <a:r>
              <a:t>研究类型：前瞻性临床试验</a:t>
            </a:r>
          </a:p>
          <a:p>
            <a:pPr>
              <a:lnSpc>
                <a:spcPct val="103000"/>
              </a:lnSpc>
              <a:spcAft>
                <a:spcPts val="300"/>
              </a:spcAft>
              <a:defRPr sz="680">
                <a:solidFill>
                  <a:srgbClr val="21242A"/>
                </a:solidFill>
                <a:latin typeface="Microsoft YaHei"/>
              </a:defRPr>
            </a:pPr>
            <a:r>
              <a:t>疾病场景：眼内/玻璃体视网膜淋巴瘤</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84048"/>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章节</a:t>
            </a:r>
          </a:p>
        </p:txBody>
      </p:sp>
      <p:sp>
        <p:nvSpPr>
          <p:cNvPr id="3" name="TextBox 2"/>
          <p:cNvSpPr txBox="1"/>
          <p:nvPr/>
        </p:nvSpPr>
        <p:spPr>
          <a:xfrm>
            <a:off x="1600200" y="274320"/>
            <a:ext cx="9326880" cy="502920"/>
          </a:xfrm>
          <a:prstGeom prst="rect">
            <a:avLst/>
          </a:prstGeom>
          <a:noFill/>
        </p:spPr>
        <p:txBody>
          <a:bodyPr wrap="square" lIns="73152" rIns="73152" tIns="36576" bIns="36576" anchor="t">
            <a:normAutofit/>
          </a:bodyPr>
          <a:lstStyle/>
          <a:p>
            <a:pPr algn="l"/>
            <a:r>
              <a:rPr sz="2200" b="1">
                <a:solidFill>
                  <a:srgbClr val="21242A"/>
                </a:solidFill>
                <a:latin typeface="Microsoft YaHei"/>
              </a:rPr>
              <a:t>回顾性/真实世界研究</a:t>
            </a:r>
          </a:p>
        </p:txBody>
      </p:sp>
      <p:sp>
        <p:nvSpPr>
          <p:cNvPr id="4" name="TextBox 3"/>
          <p:cNvSpPr txBox="1"/>
          <p:nvPr/>
        </p:nvSpPr>
        <p:spPr>
          <a:xfrm>
            <a:off x="1627632" y="859536"/>
            <a:ext cx="9144000" cy="228600"/>
          </a:xfrm>
          <a:prstGeom prst="rect">
            <a:avLst/>
          </a:prstGeom>
          <a:noFill/>
        </p:spPr>
        <p:txBody>
          <a:bodyPr wrap="square" lIns="73152" rIns="73152" tIns="36576" bIns="36576" anchor="t">
            <a:normAutofit/>
          </a:bodyPr>
          <a:lstStyle/>
          <a:p>
            <a:pPr algn="l"/>
            <a:r>
              <a:rPr sz="919" b="0">
                <a:solidFill>
                  <a:srgbClr val="5E6570"/>
                </a:solidFill>
                <a:latin typeface="Microsoft YaHei"/>
              </a:rPr>
              <a:t>81项研究；以下按疾病场景和药物/技术继续细分。</a:t>
            </a:r>
          </a:p>
        </p:txBody>
      </p:sp>
      <p:sp>
        <p:nvSpPr>
          <p:cNvPr id="5" name="TextBox 4"/>
          <p:cNvSpPr txBox="1"/>
          <p:nvPr/>
        </p:nvSpPr>
        <p:spPr>
          <a:xfrm>
            <a:off x="640080" y="148132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疾病场景</a:t>
            </a:r>
          </a:p>
        </p:txBody>
      </p:sp>
      <p:sp>
        <p:nvSpPr>
          <p:cNvPr id="6" name="TextBox 5"/>
          <p:cNvSpPr txBox="1"/>
          <p:nvPr/>
        </p:nvSpPr>
        <p:spPr>
          <a:xfrm>
            <a:off x="768096" y="182880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LBCL/HGBL：58项</a:t>
            </a:r>
          </a:p>
        </p:txBody>
      </p:sp>
      <p:sp>
        <p:nvSpPr>
          <p:cNvPr id="7" name="Rectangle 6"/>
          <p:cNvSpPr/>
          <p:nvPr/>
        </p:nvSpPr>
        <p:spPr>
          <a:xfrm>
            <a:off x="4297680" y="1874519"/>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874519"/>
            <a:ext cx="2011680"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14884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转化/Richter：9项</a:t>
            </a:r>
          </a:p>
        </p:txBody>
      </p:sp>
      <p:sp>
        <p:nvSpPr>
          <p:cNvPr id="10" name="Rectangle 9"/>
          <p:cNvSpPr/>
          <p:nvPr/>
        </p:nvSpPr>
        <p:spPr>
          <a:xfrm>
            <a:off x="4297680" y="219456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2194560"/>
            <a:ext cx="312157"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246888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PMBCL/特殊亚型：5项</a:t>
            </a:r>
          </a:p>
        </p:txBody>
      </p:sp>
      <p:sp>
        <p:nvSpPr>
          <p:cNvPr id="13" name="Rectangle 12"/>
          <p:cNvSpPr/>
          <p:nvPr/>
        </p:nvSpPr>
        <p:spPr>
          <a:xfrm>
            <a:off x="4297680" y="251460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97680" y="2514600"/>
            <a:ext cx="173420"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8096" y="278892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SCNSL/CNS复发或预防：5项</a:t>
            </a:r>
          </a:p>
        </p:txBody>
      </p:sp>
      <p:sp>
        <p:nvSpPr>
          <p:cNvPr id="16" name="Rectangle 15"/>
          <p:cNvSpPr/>
          <p:nvPr/>
        </p:nvSpPr>
        <p:spPr>
          <a:xfrm>
            <a:off x="4297680" y="283464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97680" y="2834640"/>
            <a:ext cx="173420"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8096" y="310896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PCNSL：3项</a:t>
            </a:r>
          </a:p>
        </p:txBody>
      </p:sp>
      <p:sp>
        <p:nvSpPr>
          <p:cNvPr id="19" name="Rectangle 18"/>
          <p:cNvSpPr/>
          <p:nvPr/>
        </p:nvSpPr>
        <p:spPr>
          <a:xfrm>
            <a:off x="4297680" y="315468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3154680"/>
            <a:ext cx="104052"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 y="342900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眼内/玻璃体视网膜淋巴瘤：1项</a:t>
            </a:r>
          </a:p>
        </p:txBody>
      </p:sp>
      <p:sp>
        <p:nvSpPr>
          <p:cNvPr id="22" name="Rectangle 21"/>
          <p:cNvSpPr/>
          <p:nvPr/>
        </p:nvSpPr>
        <p:spPr>
          <a:xfrm>
            <a:off x="4297680" y="3474720"/>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97680" y="3474720"/>
            <a:ext cx="34684"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1481328"/>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药物/技术</a:t>
            </a:r>
          </a:p>
        </p:txBody>
      </p:sp>
      <p:sp>
        <p:nvSpPr>
          <p:cNvPr id="25" name="TextBox 24"/>
          <p:cNvSpPr txBox="1"/>
          <p:nvPr/>
        </p:nvSpPr>
        <p:spPr>
          <a:xfrm>
            <a:off x="6720840" y="182880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CAR-T/细胞治疗：40项</a:t>
            </a:r>
          </a:p>
        </p:txBody>
      </p:sp>
      <p:sp>
        <p:nvSpPr>
          <p:cNvPr id="26" name="Rectangle 25"/>
          <p:cNvSpPr/>
          <p:nvPr/>
        </p:nvSpPr>
        <p:spPr>
          <a:xfrm>
            <a:off x="9893808" y="1874519"/>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893808" y="1874519"/>
            <a:ext cx="1508760"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214884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其他/未明确药物：20项</a:t>
            </a:r>
          </a:p>
        </p:txBody>
      </p:sp>
      <p:sp>
        <p:nvSpPr>
          <p:cNvPr id="29" name="Rectangle 28"/>
          <p:cNvSpPr/>
          <p:nvPr/>
        </p:nvSpPr>
        <p:spPr>
          <a:xfrm>
            <a:off x="9893808" y="219456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893808" y="2194560"/>
            <a:ext cx="754380"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720840" y="246888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化疗/免疫化疗：10项</a:t>
            </a:r>
          </a:p>
        </p:txBody>
      </p:sp>
      <p:sp>
        <p:nvSpPr>
          <p:cNvPr id="32" name="Rectangle 31"/>
          <p:cNvSpPr/>
          <p:nvPr/>
        </p:nvSpPr>
        <p:spPr>
          <a:xfrm>
            <a:off x="9893808" y="251460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893808" y="2514600"/>
            <a:ext cx="377190"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720840" y="278892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ADC：5项</a:t>
            </a:r>
          </a:p>
        </p:txBody>
      </p:sp>
      <p:sp>
        <p:nvSpPr>
          <p:cNvPr id="35" name="Rectangle 34"/>
          <p:cNvSpPr/>
          <p:nvPr/>
        </p:nvSpPr>
        <p:spPr>
          <a:xfrm>
            <a:off x="9893808" y="283464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893808" y="2834640"/>
            <a:ext cx="188595"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720840" y="310896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双抗：2项</a:t>
            </a:r>
          </a:p>
        </p:txBody>
      </p:sp>
      <p:sp>
        <p:nvSpPr>
          <p:cNvPr id="38" name="Rectangle 37"/>
          <p:cNvSpPr/>
          <p:nvPr/>
        </p:nvSpPr>
        <p:spPr>
          <a:xfrm>
            <a:off x="9893808" y="315468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9893808" y="3154680"/>
            <a:ext cx="75438"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720840" y="342900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BTKi：2项</a:t>
            </a:r>
          </a:p>
        </p:txBody>
      </p:sp>
      <p:sp>
        <p:nvSpPr>
          <p:cNvPr id="41" name="Rectangle 40"/>
          <p:cNvSpPr/>
          <p:nvPr/>
        </p:nvSpPr>
        <p:spPr>
          <a:xfrm>
            <a:off x="9893808" y="3474720"/>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893808" y="3474720"/>
            <a:ext cx="75438"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40080" y="4919472"/>
            <a:ext cx="10744200" cy="74980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04672" y="5065776"/>
            <a:ext cx="10332720" cy="384048"/>
          </a:xfrm>
          <a:prstGeom prst="rect">
            <a:avLst/>
          </a:prstGeom>
          <a:noFill/>
        </p:spPr>
        <p:txBody>
          <a:bodyPr wrap="square" rIns="73152" bIns="36576">
            <a:normAutofit/>
          </a:bodyPr>
          <a:lstStyle/>
          <a:p>
            <a:pPr>
              <a:lnSpc>
                <a:spcPct val="103000"/>
              </a:lnSpc>
              <a:spcAft>
                <a:spcPts val="300"/>
              </a:spcAft>
              <a:defRPr sz="800">
                <a:solidFill>
                  <a:srgbClr val="5E6570"/>
                </a:solidFill>
                <a:latin typeface="Microsoft YaHei"/>
              </a:defRPr>
            </a:pPr>
            <a:r>
              <a:t>章节内每项研究固定两页：研究设计/PICO、证据摘要（摘要/结论/结果/来源）。</a:t>
            </a:r>
          </a:p>
          <a:p>
            <a:pPr>
              <a:lnSpc>
                <a:spcPct val="103000"/>
              </a:lnSpc>
              <a:spcAft>
                <a:spcPts val="300"/>
              </a:spcAft>
              <a:defRPr sz="800">
                <a:solidFill>
                  <a:srgbClr val="5E6570"/>
                </a:solidFill>
                <a:latin typeface="Microsoft YaHei"/>
              </a:defRPr>
            </a:pPr>
            <a:r>
              <a:t>所有证据字段来自EHA页面或已核对原表字段；右下角可跳转EHA原文。</a:t>
            </a:r>
          </a:p>
        </p:txBody>
      </p:sp>
      <p:sp>
        <p:nvSpPr>
          <p:cNvPr id="45" name="Rounded Rectangle 44">
            <a:hlinkClick action="ppaction://hlinksldjump" r:id="rId2"/>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综合多组分分析确定了与大b细胞淋巴瘤car-t治疗后不同结果相关的基因组亚型</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integrated multi-omic profiling identifies genomic subtypes associated with 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S283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N=112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BN2亚型 vs 其他亚型：PFS 16% (95% CI 6-46, p=0.017)，PFS6显著更低(p=0.009)，...</a:t>
            </a:r>
          </a:p>
          <a:p>
            <a:pPr>
              <a:lnSpc>
                <a:spcPct val="103000"/>
              </a:lnSpc>
              <a:spcAft>
                <a:spcPts val="300"/>
              </a:spcAft>
              <a:defRPr sz="800">
                <a:solidFill>
                  <a:srgbClr val="21242A"/>
                </a:solidFill>
                <a:latin typeface="Microsoft YaHei"/>
              </a:defRPr>
            </a:pPr>
            <a:r>
              <a:t>多变量Cox回归：BN2与较差的PFS和PFS6独立相关(均p&lt;0.05)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人数：112</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maraleucel、Tisagenlecleucel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综合多组分分析确定了与大b细胞淋巴瘤car-t治疗后不同结果相关的基因组亚型</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integrated multi-omic profiling identifies genomic subtypes associated with 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S283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背景：针对大 B 细胞淋巴瘤 (LBCL) 的 CD19 定向 CAR-T 细胞治疗后的结果仍然存在异质性，并且无法通过已建立的临床预后模型完全解释。肿瘤基因组结构和微环境状态可能会影响 CAR-T 功效，但它们对现实世界队列的综合影响仍未完全确定。我们进行了多组学分析，以确定 CAR-T 治疗后临床变异的生物决定因素</a:t>
            </a:r>
          </a:p>
          <a:p>
            <a:pPr>
              <a:lnSpc>
                <a:spcPct val="103000"/>
              </a:lnSpc>
              <a:spcAft>
                <a:spcPts val="300"/>
              </a:spcAft>
              <a:defRPr sz="550">
                <a:solidFill>
                  <a:srgbClr val="21242A"/>
                </a:solidFill>
                <a:latin typeface="Microsoft YaHei"/>
              </a:defRPr>
            </a:pPr>
            <a:r>
              <a:t>。目的：确定与 LBCL CAR-T 细胞治疗耐药相关的肿瘤内在基因组和转录组特征。方法：我们对 2016 年至 2022 年间接受商业 CAR-T 疗法治疗的 LBCL 患者进行了回顾性队列研究。对 CAR-T 前肿瘤标本进行全外显子组测序 (WES) 和 RNA 测序 (RNA-seq)，然后使用标准化多组学计算流</a:t>
            </a:r>
          </a:p>
          <a:p>
            <a:pPr>
              <a:lnSpc>
                <a:spcPct val="103000"/>
              </a:lnSpc>
              <a:spcAft>
                <a:spcPts val="300"/>
              </a:spcAft>
              <a:defRPr sz="550">
                <a:solidFill>
                  <a:srgbClr val="21242A"/>
                </a:solidFill>
                <a:latin typeface="Microsoft YaHei"/>
              </a:defRPr>
            </a:pPr>
            <a:r>
              <a:t>程（BostonGene，Waltham，MA）进行整合基因组和转录组分析。使用已建立的 LymphGen 框架（Wright 等人，Cancer cell，2020）和 Lymphly（一种为改善 LBCL 的分子分层而开发的分层基因组分类算法）来分配基因组亚型。肿瘤微环境（TME）和双重命中特征（DHIT）根据 K</a:t>
            </a:r>
          </a:p>
          <a:p>
            <a:pPr>
              <a:lnSpc>
                <a:spcPct val="103000"/>
              </a:lnSpc>
              <a:spcAft>
                <a:spcPts val="300"/>
              </a:spcAft>
              <a:defRPr sz="550">
                <a:solidFill>
                  <a:srgbClr val="21242A"/>
                </a:solidFill>
                <a:latin typeface="Microsoft YaHei"/>
              </a:defRPr>
            </a:pPr>
            <a:r>
              <a:t>otlov 等人进行分类。</a:t>
            </a:r>
          </a:p>
          <a:p>
            <a:pPr>
              <a:lnSpc>
                <a:spcPct val="103000"/>
              </a:lnSpc>
              <a:spcAft>
                <a:spcPts val="300"/>
              </a:spcAft>
              <a:defRPr sz="550">
                <a:solidFill>
                  <a:srgbClr val="21242A"/>
                </a:solidFill>
                <a:latin typeface="Microsoft YaHei"/>
              </a:defRPr>
            </a:pPr>
            <a:r>
              <a:t>(Cancer Discovery, 2021)，暗区 (DZsig) 签名符合 Harris 等人的观点。</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多组学分析可识别 CAR-T 治疗后生物学定义的高风险亚组，强调 BN2 是基因组驱动的耐药表型。基因组分类可以改善 LBCL 患者的选择并实现基于机制的治疗策略。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结果：在 112 名具有可用分子数据的患者中，中位随访时间为 66 个月（IQR 46-73）。 CAR-T 产品包括 axicabtagene ciloleucel (49%)、tisagenlecleucel (38%) 和 lisocabtagene maraleucel (13%)。</a:t>
            </a:r>
          </a:p>
          <a:p>
            <a:pPr>
              <a:lnSpc>
                <a:spcPct val="103000"/>
              </a:lnSpc>
              <a:spcAft>
                <a:spcPts val="300"/>
              </a:spcAft>
              <a:defRPr sz="560">
                <a:solidFill>
                  <a:srgbClr val="21242A"/>
                </a:solidFill>
                <a:latin typeface="Microsoft YaHei"/>
              </a:defRPr>
            </a:pPr>
            <a:r>
              <a:t>54% 的肿瘤为生发中心 B 细胞型，46% 为活化 B 细胞型，17% 为 DHIT 阳性。</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摘要号：S283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cd19car t细胞治疗复发/难治性高级别b细胞淋巴瘤（hgbl）后的良好现实结果：ebmt-lwp分析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favorable real-world outcomes after cd19 car t cell treatment in relapsed/ref...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N=5298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试验药/方案：CD19靶向CAR-T(国立台湾大学医学院附设医院)</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对照/比较：试验组1：HGBL-MYC/BCL2患者，CD19 CAR T细胞治疗</a:t>
            </a:r>
          </a:p>
          <a:p>
            <a:pPr>
              <a:lnSpc>
                <a:spcPct val="103000"/>
              </a:lnSpc>
              <a:spcAft>
                <a:spcPts val="300"/>
              </a:spcAft>
              <a:defRPr sz="800">
                <a:solidFill>
                  <a:srgbClr val="21242A"/>
                </a:solidFill>
                <a:latin typeface="Microsoft YaHei"/>
              </a:defRPr>
            </a:pPr>
            <a:r>
              <a:t>试验组2：HGBL-NOS患者，CD19 CAR T细胞治疗</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1年无进展生存率（PFS）：HGBL-MYC/BCL2组58%，HGBL-NOS组52%，DLBCL-NOS组48% (P=0...</a:t>
            </a:r>
          </a:p>
          <a:p>
            <a:pPr>
              <a:lnSpc>
                <a:spcPct val="103000"/>
              </a:lnSpc>
              <a:spcAft>
                <a:spcPts val="300"/>
              </a:spcAft>
              <a:defRPr sz="800">
                <a:solidFill>
                  <a:srgbClr val="21242A"/>
                </a:solidFill>
                <a:latin typeface="Microsoft YaHei"/>
              </a:defRPr>
            </a:pPr>
            <a:r>
              <a:t>1年总生存率（OS）：HGBL-MYC/BCL2组73%，HGBL-NOS组67%，DLBCL-NOS组62% (P=0.01)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人数：5298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试验药/方案：CD19靶向CAR-T(国立台湾大学医学院附设医院)</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cd19car t细胞治疗复发/难治性高级别b细胞淋巴瘤（hgbl）后的良好现实结果：ebmt-lwp分析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favorable real-world outcomes after cd19 car t cell treatment in relapsed/ref...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背景：未另有说明的高级别 B 细胞淋巴瘤 (HGBL) (NOS) 和伴有 MYC 和 BCL2 重排的 HGBL (HGBL-MYC/BCL2) 在 WHO 第五版分类中被认为是不同的实体。两者都代表难以治疗的亚型，特别是在复发/难治性 (R/R) 环境中。由于标准化诊断类别“具有 MYC 和 BCL2 重排的 HG</a:t>
            </a:r>
          </a:p>
          <a:p>
            <a:pPr>
              <a:lnSpc>
                <a:spcPct val="103000"/>
              </a:lnSpc>
              <a:spcAft>
                <a:spcPts val="300"/>
              </a:spcAft>
              <a:defRPr sz="550">
                <a:solidFill>
                  <a:srgbClr val="21242A"/>
                </a:solidFill>
                <a:latin typeface="Microsoft YaHei"/>
              </a:defRPr>
            </a:pPr>
            <a:r>
              <a:t>BL”相对较新，因此精确的结果数据仍然有限，因为许多报告依赖于更广泛的定义。由于这些实体在关键试验中的代表性也可能不足，因此确定 CD19 CAR T 细胞治疗后的真实世界特定实体结果至关重要。</a:t>
            </a:r>
          </a:p>
          <a:p>
            <a:pPr>
              <a:lnSpc>
                <a:spcPct val="103000"/>
              </a:lnSpc>
              <a:spcAft>
                <a:spcPts val="300"/>
              </a:spcAft>
              <a:defRPr sz="550">
                <a:solidFill>
                  <a:srgbClr val="21242A"/>
                </a:solidFill>
                <a:latin typeface="Microsoft YaHei"/>
              </a:defRPr>
            </a:pPr>
            <a:r>
              <a:t>目的：描述 HGBL-NOS 和 HGBL-MYC/BCL2 中 CD19 CAR T 细胞治疗后的真实世界 (RW)、实体特异性结果，并将其与综合弥漫性大 B 细胞淋巴瘤 (DLBCL)-NOS EBMT 登记队列的结果进行比较。</a:t>
            </a:r>
          </a:p>
          <a:p>
            <a:pPr>
              <a:lnSpc>
                <a:spcPct val="103000"/>
              </a:lnSpc>
              <a:spcAft>
                <a:spcPts val="300"/>
              </a:spcAft>
              <a:defRPr sz="550">
                <a:solidFill>
                  <a:srgbClr val="21242A"/>
                </a:solidFill>
                <a:latin typeface="Microsoft YaHei"/>
              </a:defRPr>
            </a:pPr>
            <a:r>
              <a:t>方法：纳入诊断为 HGBL-NOS 或 HGBL-MYC/BCL2 或 DLBCL-NOS、在 2018 年至 2023 年间接受 CD19 CAR T 治疗并向 EBMT 登记处报告的成年患者 (pts)。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在这个大型 EBMT RW 队列中，尽管输注时存在高风险临床特征，但携带 HGBL-NOS 和 HGBL-MYC/BCL2 的患者仍取得了有希望的 PFS。结果表明，CD19 CAR T 细胞疗法可以减轻 R/R 环境中 HGBL 的不良生物学效应。尽管有其局限性，包括回顾性设计、缺乏中心病理学审查以及可能漏报 MYC</a:t>
            </a:r>
          </a:p>
          <a:p>
            <a:pPr>
              <a:lnSpc>
                <a:spcPct val="103000"/>
              </a:lnSpc>
              <a:spcAft>
                <a:spcPts val="300"/>
              </a:spcAft>
              <a:defRPr sz="570">
                <a:solidFill>
                  <a:srgbClr val="21242A"/>
                </a:solidFill>
                <a:latin typeface="Microsoft YaHei"/>
              </a:defRPr>
            </a:pPr>
            <a:r>
              <a:t>/BCL2 重排病例，但这些发现提供了当代的、特定于实体的基准，并支持 CD19 CAR T 作为 R/R HGBL 非常相关的治疗选择，为治疗测序和未来的研究设计提供信息。</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结果：总共纳入 5298 例患者：5066 例 DLBCL-NOS、177 例 HGBL-MYC/BCL2 和 55 例 HGBL-NOS。中位年龄为 62.6 岁 (y)，各组之间没有差异 (p=0.51)。与 DLBCL-NOS（15.3 个月；p</a:t>
            </a:r>
          </a:p>
          <a:p>
            <a:pPr>
              <a:lnSpc>
                <a:spcPct val="103000"/>
              </a:lnSpc>
              <a:spcAft>
                <a:spcPts val="300"/>
              </a:spcAft>
              <a:defRPr sz="560">
                <a:solidFill>
                  <a:srgbClr val="21242A"/>
                </a:solidFill>
                <a:latin typeface="Microsoft YaHei"/>
              </a:defRPr>
            </a:pPr>
            <a:r>
              <a:t>结论：在这个大型 EBMT RW 队列中，尽管输注时存在高风险临床特征，但携带 HGBL-NOS 和 HGBL-MYC/BCL2 的患者仍取得了有希望的 PFS。结果表明，CD19 CAR T 细胞疗法可以减轻 R/R 环境中 HGBL 的不良生物学效应。尽管有其局限性，包括回顾性设计、缺乏中心病理学审查以及</a:t>
            </a:r>
          </a:p>
          <a:p>
            <a:pPr>
              <a:lnSpc>
                <a:spcPct val="103000"/>
              </a:lnSpc>
              <a:spcAft>
                <a:spcPts val="300"/>
              </a:spcAft>
              <a:defRPr sz="560">
                <a:solidFill>
                  <a:srgbClr val="21242A"/>
                </a:solidFill>
                <a:latin typeface="Microsoft YaHei"/>
              </a:defRPr>
            </a:pPr>
            <a:r>
              <a:t>可能漏报 MYC/BCL2 重排病例，但这些发现提供了当代的、特定于实体的基准，并支持 CD19 CAR T 作为 R/R HGBL 非常相关的治疗选择，为治疗测序和未来的研究设计提供信息。</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摘要号：S243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大b细胞淋巴瘤常规治疗与cd3xcd20双特异性抗体桥接t细胞治疗的综合分析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comprehensive analysis of bridging to car t-cell therapy in large b-cell lymp...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N=112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艾可瑞妥单抗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多组/多方案比较：试验组1：双特异性抗体桥接（Epcoritamab或Glofitamab），后续CAR-T细胞治疗</a:t>
            </a:r>
          </a:p>
          <a:p>
            <a:pPr>
              <a:lnSpc>
                <a:spcPct val="103000"/>
              </a:lnSpc>
              <a:spcAft>
                <a:spcPts val="300"/>
              </a:spcAft>
              <a:defRPr sz="800">
                <a:solidFill>
                  <a:srgbClr val="21242A"/>
                </a:solidFill>
                <a:latin typeface="Microsoft YaHei"/>
              </a:defRPr>
            </a:pPr>
            <a:r>
              <a:t>试验组2：常规化疗/无桥接，后续CAR-T细胞治疗</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严重血细胞减少症（III-IV级）发生率：BisCAR组3.0%，ConCAR组17.8%（p=0.0082）</a:t>
            </a:r>
          </a:p>
          <a:p>
            <a:pPr>
              <a:lnSpc>
                <a:spcPct val="103000"/>
              </a:lnSpc>
              <a:spcAft>
                <a:spcPts val="300"/>
              </a:spcAft>
              <a:defRPr sz="800">
                <a:solidFill>
                  <a:srgbClr val="21242A"/>
                </a:solidFill>
                <a:latin typeface="Microsoft YaHei"/>
              </a:defRPr>
            </a:pPr>
            <a:r>
              <a:t>细胞因子释放综合征（CRS）发生率：BisCAR组71.5%，ConCAR组73%（p=1.0）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人数：112</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大b细胞淋巴瘤常规治疗与cd3xcd20双特异性抗体桥接t细胞治疗的综合分析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comprehensive analysis of bridging to car t-cell therapy in large b-cell lymp...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背景：双特异性抗体 (bAB) 在 CAR T 细胞治疗之前用作固定或桥接。然而，这一策略对 CAR T 细胞安全性和有效性的影响仍不清楚。虽然 T 细胞重定向疗法可能会对 T 细胞健康产生不利影响，但其他临床前数据表明存在协同效应。</a:t>
            </a:r>
          </a:p>
          <a:p>
            <a:pPr>
              <a:lnSpc>
                <a:spcPct val="103000"/>
              </a:lnSpc>
              <a:spcAft>
                <a:spcPts val="300"/>
              </a:spcAft>
              <a:defRPr sz="550">
                <a:solidFill>
                  <a:srgbClr val="21242A"/>
                </a:solidFill>
                <a:latin typeface="Microsoft YaHei"/>
              </a:defRPr>
            </a:pPr>
            <a:r>
              <a:t>目的：本研究旨在评估复发/难治性大 B 细胞淋巴瘤 (r/r LBCL) 中基于 bAB 的保留/桥接 epcoritamab 或 glofitamab 与传统化疗/不桥接既往 CAR T 细胞疗法相比的安全性和有效性，包括对免疫和 CAR T 细胞亚群的分析。</a:t>
            </a:r>
          </a:p>
          <a:p>
            <a:pPr>
              <a:lnSpc>
                <a:spcPct val="103000"/>
              </a:lnSpc>
              <a:spcAft>
                <a:spcPts val="300"/>
              </a:spcAft>
              <a:defRPr sz="550">
                <a:solidFill>
                  <a:srgbClr val="21242A"/>
                </a:solidFill>
                <a:latin typeface="Microsoft YaHei"/>
              </a:defRPr>
            </a:pPr>
            <a:r>
              <a:t>方法：我们评估了患者特征、既往治疗方案、无进展 (PFS) 和总生存 (OS)，以及基于 bAb 和传统保留/桥接以及后续 CAR T 细胞治疗的安全性结果，包括但不限于细胞因子释放综合征 (CRS) 和免疫效应细胞相关神经毒性综合征 (ICANS)。在一部分患者中，对桥接前后以及 CAR T 细胞输注后的外周血单核细</a:t>
            </a:r>
          </a:p>
          <a:p>
            <a:pPr>
              <a:lnSpc>
                <a:spcPct val="103000"/>
              </a:lnSpc>
              <a:spcAft>
                <a:spcPts val="300"/>
              </a:spcAft>
              <a:defRPr sz="550">
                <a:solidFill>
                  <a:srgbClr val="21242A"/>
                </a:solidFill>
                <a:latin typeface="Microsoft YaHei"/>
              </a:defRPr>
            </a:pPr>
            <a:r>
              <a:t>胞 (PBMC) 进行了详细的流式细胞术分析。通过 PCR 评估 CAR 拷贝。</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我们的数据表明，在 CAR T 细胞治疗之前基于 bAB 的桥接治疗 r/r LBCL 是可行、安全且有效的。此外，与传统方法相比，基于 bAb 的桥接显示出卓越的功效和有利的毒性特征。有趣的是，我们的分析显示格洛菲他玛诱导短暂的免疫细胞激活，但没有证据表明对 CAR T 细胞功能和扩增产生负面或有害影响。总之，我们的</a:t>
            </a:r>
          </a:p>
          <a:p>
            <a:pPr>
              <a:lnSpc>
                <a:spcPct val="103000"/>
              </a:lnSpc>
              <a:spcAft>
                <a:spcPts val="300"/>
              </a:spcAft>
              <a:defRPr sz="570">
                <a:solidFill>
                  <a:srgbClr val="21242A"/>
                </a:solidFill>
                <a:latin typeface="Microsoft YaHei"/>
              </a:defRPr>
            </a:pPr>
            <a:r>
              <a:t>研究结果支持 bAb 桥接作为一种有前途的策略。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严重血细胞减少症（III-IV级）发生率</a:t>
                      </a:r>
                    </a:p>
                  </a:txBody>
                  <a:tcPr>
                    <a:solidFill>
                      <a:srgbClr val="F6F8FB"/>
                    </a:solidFill>
                  </a:tcPr>
                </a:tc>
                <a:tc>
                  <a:txBody>
                    <a:bodyPr wrap="square" lIns="36576" rIns="36576" tIns="18288" bIns="18288"/>
                    <a:lstStyle/>
                    <a:p>
                      <a:r>
                        <a:rPr sz="540" b="0">
                          <a:solidFill>
                            <a:srgbClr val="21242A"/>
                          </a:solidFill>
                          <a:latin typeface="Microsoft YaHei"/>
                        </a:rPr>
                        <a:t>BisCAR组3.0%，ConCAR组17.8%（p=0.0082）</a:t>
                      </a:r>
                    </a:p>
                  </a:txBody>
                  <a:tcPr>
                    <a:solidFill>
                      <a:srgbClr val="F6F8FB"/>
                    </a:solidFill>
                  </a:tcPr>
                </a:tc>
              </a:tr>
              <a:tr h="214230">
                <a:tc>
                  <a:txBody>
                    <a:bodyPr wrap="square" lIns="36576" rIns="36576" tIns="18288" bIns="18288"/>
                    <a:lstStyle/>
                    <a:p>
                      <a:r>
                        <a:rPr sz="540" b="1">
                          <a:solidFill>
                            <a:srgbClr val="21242A"/>
                          </a:solidFill>
                          <a:latin typeface="Microsoft YaHei"/>
                        </a:rPr>
                        <a:t>细胞因子释放综合征（CRS）发生率</a:t>
                      </a:r>
                    </a:p>
                  </a:txBody>
                  <a:tcPr>
                    <a:solidFill>
                      <a:srgbClr val="FFFFFF"/>
                    </a:solidFill>
                  </a:tcPr>
                </a:tc>
                <a:tc>
                  <a:txBody>
                    <a:bodyPr wrap="square" lIns="36576" rIns="36576" tIns="18288" bIns="18288"/>
                    <a:lstStyle/>
                    <a:p>
                      <a:r>
                        <a:rPr sz="540" b="0">
                          <a:solidFill>
                            <a:srgbClr val="21242A"/>
                          </a:solidFill>
                          <a:latin typeface="Microsoft YaHei"/>
                        </a:rPr>
                        <a:t>BisCAR组71.5%，ConCAR组73%（p=1.0）</a:t>
                      </a:r>
                    </a:p>
                  </a:txBody>
                  <a:tcPr>
                    <a:solidFill>
                      <a:srgbClr val="FFFFFF"/>
                    </a:solidFill>
                  </a:tcPr>
                </a:tc>
              </a:tr>
              <a:tr h="214230">
                <a:tc>
                  <a:txBody>
                    <a:bodyPr wrap="square" lIns="36576" rIns="36576" tIns="18288" bIns="18288"/>
                    <a:lstStyle/>
                    <a:p>
                      <a:r>
                        <a:rPr sz="540" b="1">
                          <a:solidFill>
                            <a:srgbClr val="21242A"/>
                          </a:solidFill>
                          <a:latin typeface="Microsoft YaHei"/>
                        </a:rPr>
                        <a:t>免疫效应细胞相关神经毒性综合征（ICANS）发生率</a:t>
                      </a:r>
                    </a:p>
                  </a:txBody>
                  <a:tcPr>
                    <a:solidFill>
                      <a:srgbClr val="F6F8FB"/>
                    </a:solidFill>
                  </a:tcPr>
                </a:tc>
                <a:tc>
                  <a:txBody>
                    <a:bodyPr wrap="square" lIns="36576" rIns="36576" tIns="18288" bIns="18288"/>
                    <a:lstStyle/>
                    <a:p>
                      <a:r>
                        <a:rPr sz="540" b="0">
                          <a:solidFill>
                            <a:srgbClr val="21242A"/>
                          </a:solidFill>
                          <a:latin typeface="Microsoft YaHei"/>
                        </a:rPr>
                        <a:t>BisCAR组26.9%，ConCAR组28.9%（p=0.832）</a:t>
                      </a:r>
                    </a:p>
                  </a:txBody>
                  <a:tcPr>
                    <a:solidFill>
                      <a:srgbClr val="F6F8FB"/>
                    </a:solidFill>
                  </a:tcPr>
                </a:tc>
              </a:tr>
              <a:tr h="214230">
                <a:tc>
                  <a:txBody>
                    <a:bodyPr wrap="square" lIns="36576" rIns="36576" tIns="18288" bIns="18288"/>
                    <a:lstStyle/>
                    <a:p>
                      <a:r>
                        <a:rPr sz="540" b="1">
                          <a:solidFill>
                            <a:srgbClr val="21242A"/>
                          </a:solidFill>
                          <a:latin typeface="Microsoft YaHei"/>
                        </a:rPr>
                        <a:t>治疗相关死亡率</a:t>
                      </a:r>
                    </a:p>
                  </a:txBody>
                  <a:tcPr>
                    <a:solidFill>
                      <a:srgbClr val="FFFFFF"/>
                    </a:solidFill>
                  </a:tcPr>
                </a:tc>
                <a:tc>
                  <a:txBody>
                    <a:bodyPr wrap="square" lIns="36576" rIns="36576" tIns="18288" bIns="18288"/>
                    <a:lstStyle/>
                    <a:p>
                      <a:r>
                        <a:rPr sz="540" b="0">
                          <a:solidFill>
                            <a:srgbClr val="21242A"/>
                          </a:solidFill>
                          <a:latin typeface="Microsoft YaHei"/>
                        </a:rPr>
                        <a:t>BisCAR组3.0%，ConCAR组8.9%</a:t>
                      </a:r>
                    </a:p>
                  </a:txBody>
                  <a:tcPr>
                    <a:solidFill>
                      <a:srgbClr val="FFFFFF"/>
                    </a:solidFill>
                  </a:tcPr>
                </a:tc>
              </a:tr>
              <a:tr h="214230">
                <a:tc>
                  <a:txBody>
                    <a:bodyPr wrap="square" lIns="36576" rIns="36576" tIns="18288" bIns="18288"/>
                    <a:lstStyle/>
                    <a:p>
                      <a:r>
                        <a:rPr sz="540" b="1">
                          <a:solidFill>
                            <a:srgbClr val="21242A"/>
                          </a:solidFill>
                          <a:latin typeface="Microsoft YaHei"/>
                        </a:rPr>
                        <a:t>桥接后总缓解率（ORR）</a:t>
                      </a:r>
                    </a:p>
                  </a:txBody>
                  <a:tcPr>
                    <a:solidFill>
                      <a:srgbClr val="F6F8FB"/>
                    </a:solidFill>
                  </a:tcPr>
                </a:tc>
                <a:tc>
                  <a:txBody>
                    <a:bodyPr wrap="square" lIns="36576" rIns="36576" tIns="18288" bIns="18288"/>
                    <a:lstStyle/>
                    <a:p>
                      <a:r>
                        <a:rPr sz="540" b="0">
                          <a:solidFill>
                            <a:srgbClr val="21242A"/>
                          </a:solidFill>
                          <a:latin typeface="Microsoft YaHei"/>
                        </a:rPr>
                        <a:t>BisCAR组70.1%，ConCAR组61.1%</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摘要号：S241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glofitamab和epcoritamab治疗英国大b细胞淋巴瘤的真实经验：324名患者队列中缓解持续时间和影响反应...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 world experience of glofitamab and epcoritamab for large b 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N=324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多组/多方案比较：试验组1：glofitamab</a:t>
            </a:r>
          </a:p>
          <a:p>
            <a:pPr>
              <a:lnSpc>
                <a:spcPct val="103000"/>
              </a:lnSpc>
              <a:spcAft>
                <a:spcPts val="300"/>
              </a:spcAft>
              <a:defRPr sz="800">
                <a:solidFill>
                  <a:srgbClr val="21242A"/>
                </a:solidFill>
                <a:latin typeface="Microsoft YaHei"/>
              </a:defRPr>
            </a:pPr>
            <a:r>
              <a:t>试验组2：epcoritamab</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总客观缓解率（ORR）：43%</a:t>
            </a:r>
          </a:p>
          <a:p>
            <a:pPr>
              <a:lnSpc>
                <a:spcPct val="103000"/>
              </a:lnSpc>
              <a:spcAft>
                <a:spcPts val="300"/>
              </a:spcAft>
              <a:defRPr sz="800">
                <a:solidFill>
                  <a:srgbClr val="21242A"/>
                </a:solidFill>
                <a:latin typeface="Microsoft YaHei"/>
              </a:defRPr>
            </a:pPr>
            <a:r>
              <a:t>总完全缓解率（CRR）：24%</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人数：324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glofitamab和epcoritamab治疗英国大b细胞淋巴瘤的真实经验：324名患者队列中缓解持续时间和影响反应...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 world experience of glofitamab and epcoritamab for large b 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109/187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背景：Glofitamab (glofit) 和 epcoritamab (epcor) 是 CD3-20 双特异性抗体 (BsAb)，被许可用于治疗复发/难治性大 B 细胞淋巴瘤 (RR LBCL)，真实世界数据可以帮助了解安全性、反应和最佳患者选择。</a:t>
            </a:r>
          </a:p>
          <a:p>
            <a:pPr>
              <a:lnSpc>
                <a:spcPct val="103000"/>
              </a:lnSpc>
              <a:spcAft>
                <a:spcPts val="300"/>
              </a:spcAft>
              <a:defRPr sz="550">
                <a:solidFill>
                  <a:srgbClr val="21242A"/>
                </a:solidFill>
                <a:latin typeface="Microsoft YaHei"/>
              </a:defRPr>
            </a:pPr>
            <a:r>
              <a:t>目的：这项扩展分析的目的是更好地了解影响 BsAb 反应的风险因素，并确定有反应的患者的长期结果。</a:t>
            </a:r>
          </a:p>
          <a:p>
            <a:pPr>
              <a:lnSpc>
                <a:spcPct val="103000"/>
              </a:lnSpc>
              <a:spcAft>
                <a:spcPts val="300"/>
              </a:spcAft>
              <a:defRPr sz="550">
                <a:solidFill>
                  <a:srgbClr val="21242A"/>
                </a:solidFill>
                <a:latin typeface="Microsoft YaHei"/>
              </a:defRPr>
            </a:pPr>
            <a:r>
              <a:t>方法：对来自 34 个英国中心的匿名连续患者数据进行回顾性分析。患者于 2023 年 11 月至 2025 年 5 月开始接受 glofit 或 epcor。收集有反应患者的长期随访直至 2026 年 2 月。\n 当地报告了反应评估。根据 CTCAE v5.0 对毒性进行回顾性分级，CRS 和 ICANS 根据 AS</a:t>
            </a:r>
          </a:p>
          <a:p>
            <a:pPr>
              <a:lnSpc>
                <a:spcPct val="103000"/>
              </a:lnSpc>
              <a:spcAft>
                <a:spcPts val="300"/>
              </a:spcAft>
              <a:defRPr sz="550">
                <a:solidFill>
                  <a:srgbClr val="21242A"/>
                </a:solidFill>
                <a:latin typeface="Microsoft YaHei"/>
              </a:defRPr>
            </a:pPr>
            <a:r>
              <a:t>TCT 进行分级。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该分析是迄今为止关于 BsAb 的最大的现实世界数据系列。我们的数据表明，glofitamab 和 epcoritamab 都是 RR LBCL 的有效治疗选择，更新的数据证实了与这一高危人群的试验数据相当的持久完全缓解。一些患者无法开始第二个周期的治疗并且结果非常差。应利用已确定的反应不良的危险因素来改善患者选择并指</a:t>
            </a:r>
          </a:p>
          <a:p>
            <a:pPr>
              <a:lnSpc>
                <a:spcPct val="103000"/>
              </a:lnSpc>
              <a:spcAft>
                <a:spcPts val="300"/>
              </a:spcAft>
              <a:defRPr sz="570">
                <a:solidFill>
                  <a:srgbClr val="21242A"/>
                </a:solidFill>
                <a:latin typeface="Microsoft YaHei"/>
              </a:defRPr>
            </a:pPr>
            <a:r>
              <a:t>导预后。</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总客观缓解率（ORR）</a:t>
                      </a:r>
                    </a:p>
                  </a:txBody>
                  <a:tcPr>
                    <a:solidFill>
                      <a:srgbClr val="F6F8FB"/>
                    </a:solidFill>
                  </a:tcPr>
                </a:tc>
                <a:tc>
                  <a:txBody>
                    <a:bodyPr wrap="square" lIns="36576" rIns="36576" tIns="18288" bIns="18288"/>
                    <a:lstStyle/>
                    <a:p>
                      <a:r>
                        <a:rPr sz="540" b="0">
                          <a:solidFill>
                            <a:srgbClr val="21242A"/>
                          </a:solidFill>
                          <a:latin typeface="Microsoft YaHei"/>
                        </a:rPr>
                        <a:t>43%</a:t>
                      </a:r>
                    </a:p>
                  </a:txBody>
                  <a:tcPr>
                    <a:solidFill>
                      <a:srgbClr val="F6F8FB"/>
                    </a:solidFill>
                  </a:tcPr>
                </a:tc>
              </a:tr>
              <a:tr h="214230">
                <a:tc>
                  <a:txBody>
                    <a:bodyPr wrap="square" lIns="36576" rIns="36576" tIns="18288" bIns="18288"/>
                    <a:lstStyle/>
                    <a:p>
                      <a:r>
                        <a:rPr sz="540" b="1">
                          <a:solidFill>
                            <a:srgbClr val="21242A"/>
                          </a:solidFill>
                          <a:latin typeface="Microsoft YaHei"/>
                        </a:rPr>
                        <a:t>总完全缓解率（CRR）</a:t>
                      </a:r>
                    </a:p>
                  </a:txBody>
                  <a:tcPr>
                    <a:solidFill>
                      <a:srgbClr val="FFFFFF"/>
                    </a:solidFill>
                  </a:tcPr>
                </a:tc>
                <a:tc>
                  <a:txBody>
                    <a:bodyPr wrap="square" lIns="36576" rIns="36576" tIns="18288" bIns="18288"/>
                    <a:lstStyle/>
                    <a:p>
                      <a:r>
                        <a:rPr sz="540" b="0">
                          <a:solidFill>
                            <a:srgbClr val="21242A"/>
                          </a:solidFill>
                          <a:latin typeface="Microsoft YaHei"/>
                        </a:rPr>
                        <a:t>24%</a:t>
                      </a:r>
                    </a:p>
                  </a:txBody>
                  <a:tcPr>
                    <a:solidFill>
                      <a:srgbClr val="FFFFFF"/>
                    </a:solidFill>
                  </a:tcPr>
                </a:tc>
              </a:tr>
              <a:tr h="214230">
                <a:tc>
                  <a:txBody>
                    <a:bodyPr wrap="square" lIns="36576" rIns="36576" tIns="18288" bIns="18288"/>
                    <a:lstStyle/>
                    <a:p>
                      <a:r>
                        <a:rPr sz="540" b="1">
                          <a:solidFill>
                            <a:srgbClr val="21242A"/>
                          </a:solidFill>
                          <a:latin typeface="Microsoft YaHei"/>
                        </a:rPr>
                        <a:t>符合试验入组标准患者的完全缓解率</a:t>
                      </a:r>
                    </a:p>
                  </a:txBody>
                  <a:tcPr>
                    <a:solidFill>
                      <a:srgbClr val="F6F8FB"/>
                    </a:solidFill>
                  </a:tcPr>
                </a:tc>
                <a:tc>
                  <a:txBody>
                    <a:bodyPr wrap="square" lIns="36576" rIns="36576" tIns="18288" bIns="18288"/>
                    <a:lstStyle/>
                    <a:p>
                      <a:r>
                        <a:rPr sz="540" b="0">
                          <a:solidFill>
                            <a:srgbClr val="21242A"/>
                          </a:solidFill>
                          <a:latin typeface="Microsoft YaHei"/>
                        </a:rPr>
                        <a:t>43%</a:t>
                      </a:r>
                    </a:p>
                  </a:txBody>
                  <a:tcPr>
                    <a:solidFill>
                      <a:srgbClr val="F6F8FB"/>
                    </a:solidFill>
                  </a:tcPr>
                </a:tc>
              </a:tr>
              <a:tr h="214230">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3.1个月（95% CI 2.5-4.2）</a:t>
                      </a:r>
                    </a:p>
                  </a:txBody>
                  <a:tcPr>
                    <a:solidFill>
                      <a:srgbClr val="FFFFFF"/>
                    </a:solidFill>
                  </a:tcPr>
                </a:tc>
              </a:tr>
              <a:tr h="214230">
                <a:tc>
                  <a:txBody>
                    <a:bodyPr wrap="square" lIns="36576" rIns="36576" tIns="18288" bIns="18288"/>
                    <a:lstStyle/>
                    <a:p>
                      <a:r>
                        <a:rPr sz="540" b="1">
                          <a:solidFill>
                            <a:srgbClr val="21242A"/>
                          </a:solidFill>
                          <a:latin typeface="Microsoft YaHei"/>
                        </a:rPr>
                        <a:t>中位总生存期（OS）</a:t>
                      </a:r>
                    </a:p>
                  </a:txBody>
                  <a:tcPr>
                    <a:solidFill>
                      <a:srgbClr val="F6F8FB"/>
                    </a:solidFill>
                  </a:tcPr>
                </a:tc>
                <a:tc>
                  <a:txBody>
                    <a:bodyPr wrap="square" lIns="36576" rIns="36576" tIns="18288" bIns="18288"/>
                    <a:lstStyle/>
                    <a:p>
                      <a:r>
                        <a:rPr sz="540" b="0">
                          <a:solidFill>
                            <a:srgbClr val="21242A"/>
                          </a:solidFill>
                          <a:latin typeface="Microsoft YaHei"/>
                        </a:rPr>
                        <a:t>6.9个月（95% CI 4.9-10.8）</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摘要号：S240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b细胞恶性肿瘤从car-t评估到白细胞分离的时间：与输注速率和结果的关系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time from car-t evaluation to leukapheresis in b-cell malignancies: associati...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B细胞肿瘤，大B细胞淋巴瘤</a:t>
            </a:r>
          </a:p>
          <a:p>
            <a:pPr>
              <a:lnSpc>
                <a:spcPct val="103000"/>
              </a:lnSpc>
              <a:spcAft>
                <a:spcPts val="300"/>
              </a:spcAft>
              <a:defRPr sz="800">
                <a:solidFill>
                  <a:srgbClr val="21242A"/>
                </a:solidFill>
                <a:latin typeface="Microsoft YaHei"/>
              </a:defRPr>
            </a:pPr>
            <a:r>
              <a:t>N=409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白细胞分离率：axi-cel 90.1%（256/284），brexu-cel 92%（46/50），liso-cel 90....</a:t>
            </a:r>
          </a:p>
          <a:p>
            <a:pPr>
              <a:lnSpc>
                <a:spcPct val="103000"/>
              </a:lnSpc>
              <a:spcAft>
                <a:spcPts val="300"/>
              </a:spcAft>
              <a:defRPr sz="800">
                <a:solidFill>
                  <a:srgbClr val="21242A"/>
                </a:solidFill>
                <a:latin typeface="Microsoft YaHei"/>
              </a:defRPr>
            </a:pPr>
            <a:r>
              <a:t>总体约10%未进入白细胞分离</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人数：409</a:t>
            </a:r>
          </a:p>
          <a:p>
            <a:pPr>
              <a:lnSpc>
                <a:spcPct val="103000"/>
              </a:lnSpc>
              <a:spcAft>
                <a:spcPts val="300"/>
              </a:spcAft>
              <a:defRPr sz="810">
                <a:solidFill>
                  <a:srgbClr val="21242A"/>
                </a:solidFill>
                <a:latin typeface="Microsoft YaHei"/>
              </a:defRPr>
            </a:pPr>
            <a:r>
              <a:t>适应症：B细胞肿瘤、大B细胞淋巴瘤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maraleucel、Tisagenlecleucel、布瑞基奥仑赛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b细胞恶性肿瘤从car-t评估到白细胞分离的时间：与输注速率和结果的关系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time from car-t evaluation to leukapheresis in b-cell malignancies: associati...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背景：嵌合抗原受体 T 细胞 (CAR-T) 疗法改善了复发/难治性 B 细胞恶性肿瘤的预后。从转诊到输注的途径非常复杂且资源密集，包括评估、白细胞分离术、制造和输注。随着 CAR-T 用途的扩大，许多付款人现在要求在批准之前对评估数据进行正式审查，这一过程可能需要长达两周的时间并延迟白细胞分离术。从评估到白细胞去除术</a:t>
            </a:r>
          </a:p>
          <a:p>
            <a:pPr>
              <a:lnSpc>
                <a:spcPct val="103000"/>
              </a:lnSpc>
              <a:spcAft>
                <a:spcPts val="300"/>
              </a:spcAft>
              <a:defRPr sz="550">
                <a:solidFill>
                  <a:srgbClr val="21242A"/>
                </a:solidFill>
                <a:latin typeface="Microsoft YaHei"/>
              </a:defRPr>
            </a:pPr>
            <a:r>
              <a:t>的时间对输注速度和结果的影响仍不清楚。</a:t>
            </a:r>
          </a:p>
          <a:p>
            <a:pPr>
              <a:lnSpc>
                <a:spcPct val="103000"/>
              </a:lnSpc>
              <a:spcAft>
                <a:spcPts val="300"/>
              </a:spcAft>
              <a:defRPr sz="550">
                <a:solidFill>
                  <a:srgbClr val="21242A"/>
                </a:solidFill>
                <a:latin typeface="Microsoft YaHei"/>
              </a:defRPr>
            </a:pPr>
            <a:r>
              <a:t>目的：评估：(1) 商业 CAR-T 产品中从评估到白细胞分离术的患者比例； (2) 基于从评估到白细胞分离术的时间（2周；3周）的输注可能性； (3) 根据白细胞去除术时机确定大 B 细胞淋巴瘤 (LBCL) 患者的完全缓解 (CR)、无进展生存期 (PFS) 和总生存期 (OS)。</a:t>
            </a:r>
          </a:p>
          <a:p>
            <a:pPr>
              <a:lnSpc>
                <a:spcPct val="103000"/>
              </a:lnSpc>
              <a:spcAft>
                <a:spcPts val="300"/>
              </a:spcAft>
              <a:defRPr sz="550">
                <a:solidFill>
                  <a:srgbClr val="21242A"/>
                </a:solidFill>
                <a:latin typeface="Microsoft YaHei"/>
              </a:defRPr>
            </a:pPr>
            <a:r>
              <a:t>方法：我们回顾性分析了自 2018 年以来在罗切斯特梅奥诊所接受商业 CAR-T 评估的所有 B 细胞淋巴瘤患者。我们计算了白细胞去除率和输注率。使用 2 周和 3 周的截止时间，根据从评估到白细胞分离术的时间对患者进行分层。在 LBCL 患者中，通过白细胞分离术时间比较 CR 率、中位 PFS 和中位 OS。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在这个大型单中心队列中，近 90% 的评估患者进行了白细胞去除术，白细胞去除术的中位时间为 10 天。较早的白细胞去除术与输注的可能性较高相关，而延迟的白细胞去除术与治疗流失显着相关。尽管最终接受 CAR-T 的延迟白细胞去除术患者的 CR、PFS 和 OS 相当，但未继续输注的 LBCL 患者的预后极差，这强调了尽量</a:t>
            </a:r>
          </a:p>
          <a:p>
            <a:pPr>
              <a:lnSpc>
                <a:spcPct val="103000"/>
              </a:lnSpc>
              <a:spcAft>
                <a:spcPts val="300"/>
              </a:spcAft>
              <a:defRPr sz="570">
                <a:solidFill>
                  <a:srgbClr val="21242A"/>
                </a:solidFill>
                <a:latin typeface="Microsoft YaHei"/>
              </a:defRPr>
            </a:pPr>
            <a:r>
              <a:t>减少白细胞去除术延迟的重要性。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白细胞分离率</a:t>
                      </a:r>
                    </a:p>
                  </a:txBody>
                  <a:tcPr>
                    <a:solidFill>
                      <a:srgbClr val="F6F8FB"/>
                    </a:solidFill>
                  </a:tcPr>
                </a:tc>
                <a:tc>
                  <a:txBody>
                    <a:bodyPr wrap="square" lIns="36576" rIns="36576" tIns="18288" bIns="18288"/>
                    <a:lstStyle/>
                    <a:p>
                      <a:r>
                        <a:rPr sz="540" b="0">
                          <a:solidFill>
                            <a:srgbClr val="21242A"/>
                          </a:solidFill>
                          <a:latin typeface="Microsoft YaHei"/>
                        </a:rPr>
                        <a:t>axi-cel 90.1%（256/284），brexu-cel 92%（46/50），liso-cel 90.2%（55/61），tisa-cel 100%（14/14）</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总体约10%未进入白细胞分离</a:t>
                      </a:r>
                    </a:p>
                  </a:txBody>
                  <a:tcPr>
                    <a:solidFill>
                      <a:srgbClr val="FFFFFF"/>
                    </a:solidFill>
                  </a:tcPr>
                </a:tc>
              </a:tr>
              <a:tr h="214230">
                <a:tc>
                  <a:txBody>
                    <a:bodyPr wrap="square" lIns="36576" rIns="36576" tIns="18288" bIns="18288"/>
                    <a:lstStyle/>
                    <a:p>
                      <a:r>
                        <a:rPr sz="540" b="1">
                          <a:solidFill>
                            <a:srgbClr val="21242A"/>
                          </a:solidFill>
                          <a:latin typeface="Microsoft YaHei"/>
                        </a:rPr>
                        <a:t>白细胞分离中位时间</a:t>
                      </a:r>
                    </a:p>
                  </a:txBody>
                  <a:tcPr>
                    <a:solidFill>
                      <a:srgbClr val="F6F8FB"/>
                    </a:solidFill>
                  </a:tcPr>
                </a:tc>
                <a:tc>
                  <a:txBody>
                    <a:bodyPr wrap="square" lIns="36576" rIns="36576" tIns="18288" bIns="18288"/>
                    <a:lstStyle/>
                    <a:p>
                      <a:r>
                        <a:rPr sz="540" b="0">
                          <a:solidFill>
                            <a:srgbClr val="21242A"/>
                          </a:solidFill>
                          <a:latin typeface="Microsoft YaHei"/>
                        </a:rPr>
                        <a:t>10天（IQR 8）</a:t>
                      </a:r>
                    </a:p>
                  </a:txBody>
                  <a:tcPr>
                    <a:solidFill>
                      <a:srgbClr val="F6F8FB"/>
                    </a:solidFill>
                  </a:tcPr>
                </a:tc>
              </a:tr>
              <a:tr h="214230">
                <a:tc>
                  <a:txBody>
                    <a:bodyPr wrap="square" lIns="36576" rIns="36576" tIns="18288" bIns="18288"/>
                    <a:lstStyle/>
                    <a:p>
                      <a:r>
                        <a:rPr sz="540" b="1">
                          <a:solidFill>
                            <a:srgbClr val="21242A"/>
                          </a:solidFill>
                          <a:latin typeface="Microsoft YaHei"/>
                        </a:rPr>
                        <a:t>输注率</a:t>
                      </a:r>
                    </a:p>
                  </a:txBody>
                  <a:tcPr>
                    <a:solidFill>
                      <a:srgbClr val="FFFFFF"/>
                    </a:solidFill>
                  </a:tcPr>
                </a:tc>
                <a:tc>
                  <a:txBody>
                    <a:bodyPr wrap="square" lIns="36576" rIns="36576" tIns="18288" bIns="18288"/>
                    <a:lstStyle/>
                    <a:p>
                      <a:r>
                        <a:rPr sz="540" b="0">
                          <a:solidFill>
                            <a:srgbClr val="21242A"/>
                          </a:solidFill>
                          <a:latin typeface="Microsoft YaHei"/>
                        </a:rPr>
                        <a:t>2周内白细胞分离者91.5%（p=0.02），3周内白细胞分离者90.7%（p=0.01）</a:t>
                      </a:r>
                    </a:p>
                  </a:txBody>
                  <a:tcPr>
                    <a:solidFill>
                      <a:srgbClr val="FFFFFF"/>
                    </a:solidFill>
                  </a:tcPr>
                </a:tc>
              </a:tr>
              <a:tr h="214230">
                <a:tc>
                  <a:txBody>
                    <a:bodyPr wrap="square" lIns="36576" rIns="36576" tIns="18288" bIns="18288"/>
                    <a:lstStyle/>
                    <a:p>
                      <a:r>
                        <a:rPr sz="540" b="1">
                          <a:solidFill>
                            <a:srgbClr val="21242A"/>
                          </a:solidFill>
                          <a:latin typeface="Microsoft YaHei"/>
                        </a:rPr>
                        <a:t>大B细胞淋巴瘤患者中，接受输注者的完全缓解率（2周截止）</a:t>
                      </a:r>
                    </a:p>
                  </a:txBody>
                  <a:tcPr>
                    <a:solidFill>
                      <a:srgbClr val="F6F8FB"/>
                    </a:solidFill>
                  </a:tcPr>
                </a:tc>
                <a:tc>
                  <a:txBody>
                    <a:bodyPr wrap="square" lIns="36576" rIns="36576" tIns="18288" bIns="18288"/>
                    <a:lstStyle/>
                    <a:p>
                      <a:r>
                        <a:rPr sz="540" b="0">
                          <a:solidFill>
                            <a:srgbClr val="21242A"/>
                          </a:solidFill>
                          <a:latin typeface="Microsoft YaHei"/>
                        </a:rPr>
                        <a:t>66.7% vs 68.8%（p=0.53）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其余5条结果见HTML完整清单及EHA原文。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摘要号：PS2349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起始材料和car t产物的配对单细胞分析确定了与dlbcl临床反应相关的cd8+temra衰老程序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paired single-cell analysis of starting material and car t product identifies...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PS2338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7581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9331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分组：GEP组(良好扩增和预后)：CD19/22 CAR T</a:t>
            </a:r>
          </a:p>
          <a:p>
            <a:pPr>
              <a:lnSpc>
                <a:spcPct val="103000"/>
              </a:lnSpc>
              <a:spcAft>
                <a:spcPts val="300"/>
              </a:spcAft>
              <a:defRPr sz="800">
                <a:solidFill>
                  <a:srgbClr val="21242A"/>
                </a:solidFill>
                <a:latin typeface="Microsoft YaHei"/>
              </a:defRPr>
            </a:pPr>
            <a:r>
              <a:t>PEP组(不良扩增和预后)：CD19/22 CAR 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多组/多方案比较：GEP组(良好扩增和预后)：CD19/22 CAR T</a:t>
            </a:r>
          </a:p>
          <a:p>
            <a:pPr>
              <a:lnSpc>
                <a:spcPct val="103000"/>
              </a:lnSpc>
              <a:spcAft>
                <a:spcPts val="300"/>
              </a:spcAft>
              <a:defRPr sz="800">
                <a:solidFill>
                  <a:srgbClr val="21242A"/>
                </a:solidFill>
                <a:latin typeface="Microsoft YaHei"/>
              </a:defRPr>
            </a:pPr>
            <a:r>
              <a:t>PEP组(不良扩增和预后)：CD19/22 CAR T</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6个月时完全缓解(CR)患者数：23例</a:t>
            </a:r>
          </a:p>
          <a:p>
            <a:pPr>
              <a:lnSpc>
                <a:spcPct val="103000"/>
              </a:lnSpc>
              <a:spcAft>
                <a:spcPts val="300"/>
              </a:spcAft>
              <a:defRPr sz="800">
                <a:solidFill>
                  <a:srgbClr val="21242A"/>
                </a:solidFill>
                <a:latin typeface="Microsoft YaHei"/>
              </a:defRPr>
            </a:pPr>
            <a:r>
              <a:t>6个月时部分缓解(PR)患者数：8例</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分组/治疗流程：GEP组(良好扩增和预后)：CD19/22 CAR T、PEP组(不良扩增和预后)：CD19/22 CAR T</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起始材料和car t产物的配对单细胞分析确定了与dlbcl临床反应相关的cd8+temra衰老程序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paired single-cell analysis of starting material and car t product identifies...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PS2338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7581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9331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背景：复发/难治性弥漫性大 B 细胞淋巴瘤 (DLBCL) 对 CAR T 疗法的反应仍然存在异质性。白细胞分离术起始材料 (SMAT) 中的 T 细胞状态可能会对制造的药品 (DP) 产生影响，但从 SMAT 传播到 DP 的控制体内扩增和结果的程序尚不确定。因此，我们通过单细胞 RNA 测序 (scRNA-seq)</a:t>
            </a:r>
          </a:p>
          <a:p>
            <a:pPr>
              <a:lnSpc>
                <a:spcPct val="103000"/>
              </a:lnSpc>
              <a:spcAft>
                <a:spcPts val="300"/>
              </a:spcAft>
              <a:defRPr sz="550">
                <a:solidFill>
                  <a:srgbClr val="21242A"/>
                </a:solidFill>
                <a:latin typeface="Microsoft YaHei"/>
              </a:defRPr>
            </a:pPr>
            <a:r>
              <a:t> 分析了配对的 SMAT 和 DP，以描绘与临床反应相关的计划并指定可操作的目标。目标：定义 SMAT T 细胞特征，预测 DLBCL 中 CD19/22 CAR T 后的扩增/反应，并在 DP 中追踪它们以指导优化。方法：我们回顾性分析了同济医院接受 CD19/22 CAR T 治疗的复发/难治 DLBCL 患者（0</a:t>
            </a:r>
          </a:p>
          <a:p>
            <a:pPr>
              <a:lnSpc>
                <a:spcPct val="103000"/>
              </a:lnSpc>
              <a:spcAft>
                <a:spcPts val="300"/>
              </a:spcAft>
              <a:defRPr sz="550">
                <a:solidFill>
                  <a:srgbClr val="21242A"/>
                </a:solidFill>
                <a:latin typeface="Microsoft YaHei"/>
              </a:defRPr>
            </a:pPr>
            <a:r>
              <a:t>1/2024-06/2025）。第 6 个月时通过 PET/CT 评估疗效（Lugano 2014）。对于极端表型采样，CR 和 PD 病例按体内扩展 AUC0-28（CAR 转基因拷贝的串行外周血 qPCR）进行排名：前 5 位 CR 为 GEP（良好扩展和预后），后 5 位 PD 为 PEP（扩展和预后较差）。配对</a:t>
            </a:r>
          </a:p>
          <a:p>
            <a:pPr>
              <a:lnSpc>
                <a:spcPct val="103000"/>
              </a:lnSpc>
              <a:spcAft>
                <a:spcPts val="300"/>
              </a:spcAft>
              <a:defRPr sz="550">
                <a:solidFill>
                  <a:srgbClr val="21242A"/>
                </a:solidFill>
                <a:latin typeface="Microsoft YaHei"/>
              </a:defRPr>
            </a:pPr>
            <a:r>
              <a:t>的 SMAT 和 DP 样本（总共 20 个）接受了 10x Genomics 3' scRNA-seq。</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r/r DLBCL 极端情况下的配对 SMAT/DP scRNA-seq 显示 CD8 TEMRA 驱动结果。 PEP 具有衰老的 c0-TEMRA（MAPK/p38、AKT-mTOR）和 DP CD8 耗竭（LAG3/TOX/TIGIT），伴有 CD8 丢失和 CD4:CD8 比率失衡。</a:t>
            </a:r>
          </a:p>
          <a:p>
            <a:pPr>
              <a:lnSpc>
                <a:spcPct val="103000"/>
              </a:lnSpc>
              <a:spcAft>
                <a:spcPts val="300"/>
              </a:spcAft>
              <a:defRPr sz="570">
                <a:solidFill>
                  <a:srgbClr val="21242A"/>
                </a:solidFill>
                <a:latin typeface="Microsoft YaHei"/>
              </a:defRPr>
            </a:pPr>
            <a:r>
              <a:t>GEP 保留了增殖性 SMAT 和幼稚/细胞毒性 DP CD8，并具有平衡的 CD4:CD8 比率。这些特征为生物标志物和目标提供信息。</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6个月时完全缓解(CR)患者数</a:t>
                      </a:r>
                    </a:p>
                  </a:txBody>
                  <a:tcPr>
                    <a:solidFill>
                      <a:srgbClr val="F6F8FB"/>
                    </a:solidFill>
                  </a:tcPr>
                </a:tc>
                <a:tc>
                  <a:txBody>
                    <a:bodyPr wrap="square" lIns="36576" rIns="36576" tIns="18288" bIns="18288"/>
                    <a:lstStyle/>
                    <a:p>
                      <a:r>
                        <a:rPr sz="540" b="0">
                          <a:solidFill>
                            <a:srgbClr val="21242A"/>
                          </a:solidFill>
                          <a:latin typeface="Microsoft YaHei"/>
                        </a:rPr>
                        <a:t>23例</a:t>
                      </a:r>
                    </a:p>
                  </a:txBody>
                  <a:tcPr>
                    <a:solidFill>
                      <a:srgbClr val="F6F8FB"/>
                    </a:solidFill>
                  </a:tcPr>
                </a:tc>
              </a:tr>
              <a:tr h="299923">
                <a:tc>
                  <a:txBody>
                    <a:bodyPr wrap="square" lIns="36576" rIns="36576" tIns="18288" bIns="18288"/>
                    <a:lstStyle/>
                    <a:p>
                      <a:r>
                        <a:rPr sz="540" b="1">
                          <a:solidFill>
                            <a:srgbClr val="21242A"/>
                          </a:solidFill>
                          <a:latin typeface="Microsoft YaHei"/>
                        </a:rPr>
                        <a:t>6个月时部分缓解(PR)患者数</a:t>
                      </a:r>
                    </a:p>
                  </a:txBody>
                  <a:tcPr>
                    <a:solidFill>
                      <a:srgbClr val="FFFFFF"/>
                    </a:solidFill>
                  </a:tcPr>
                </a:tc>
                <a:tc>
                  <a:txBody>
                    <a:bodyPr wrap="square" lIns="36576" rIns="36576" tIns="18288" bIns="18288"/>
                    <a:lstStyle/>
                    <a:p>
                      <a:r>
                        <a:rPr sz="540" b="0">
                          <a:solidFill>
                            <a:srgbClr val="21242A"/>
                          </a:solidFill>
                          <a:latin typeface="Microsoft YaHei"/>
                        </a:rPr>
                        <a:t>8例</a:t>
                      </a:r>
                    </a:p>
                  </a:txBody>
                  <a:tcPr>
                    <a:solidFill>
                      <a:srgbClr val="FFFFFF"/>
                    </a:solidFill>
                  </a:tcPr>
                </a:tc>
              </a:tr>
              <a:tr h="299923">
                <a:tc>
                  <a:txBody>
                    <a:bodyPr wrap="square" lIns="36576" rIns="36576" tIns="18288" bIns="18288"/>
                    <a:lstStyle/>
                    <a:p>
                      <a:r>
                        <a:rPr sz="540" b="1">
                          <a:solidFill>
                            <a:srgbClr val="21242A"/>
                          </a:solidFill>
                          <a:latin typeface="Microsoft YaHei"/>
                        </a:rPr>
                        <a:t>6个月时疾病进展(PD)患者数</a:t>
                      </a:r>
                    </a:p>
                  </a:txBody>
                  <a:tcPr>
                    <a:solidFill>
                      <a:srgbClr val="F6F8FB"/>
                    </a:solidFill>
                  </a:tcPr>
                </a:tc>
                <a:tc>
                  <a:txBody>
                    <a:bodyPr wrap="square" lIns="36576" rIns="36576" tIns="18288" bIns="18288"/>
                    <a:lstStyle/>
                    <a:p>
                      <a:r>
                        <a:rPr sz="540" b="0">
                          <a:solidFill>
                            <a:srgbClr val="21242A"/>
                          </a:solidFill>
                          <a:latin typeface="Microsoft YaHei"/>
                        </a:rPr>
                        <a:t>16例</a:t>
                      </a:r>
                    </a:p>
                  </a:txBody>
                  <a:tcPr>
                    <a:solidFill>
                      <a:srgbClr val="F6F8FB"/>
                    </a:solidFill>
                  </a:tcPr>
                </a:tc>
              </a:tr>
              <a:tr h="299924">
                <a:tc>
                  <a:txBody>
                    <a:bodyPr wrap="square" lIns="36576" rIns="36576" tIns="18288" bIns="18288"/>
                    <a:lstStyle/>
                    <a:p>
                      <a:r>
                        <a:rPr sz="540" b="1">
                          <a:solidFill>
                            <a:srgbClr val="21242A"/>
                          </a:solidFill>
                          <a:latin typeface="Microsoft YaHei"/>
                        </a:rPr>
                        <a:t>CD8+ TEMRA衰老程序与反应相关</a:t>
                      </a:r>
                    </a:p>
                  </a:txBody>
                  <a:tcPr>
                    <a:solidFill>
                      <a:srgbClr val="FFFFFF"/>
                    </a:solidFill>
                  </a:tcPr>
                </a:tc>
                <a:tc>
                  <a:txBody>
                    <a:bodyPr wrap="square" lIns="36576" rIns="36576" tIns="18288" bIns="18288"/>
                    <a:lstStyle/>
                    <a:p>
                      <a:r>
                        <a:rPr sz="540" b="0">
                          <a:solidFill>
                            <a:srgbClr val="21242A"/>
                          </a:solidFill>
                          <a:latin typeface="Microsoft YaHei"/>
                        </a:rPr>
                        <a:t>PEP组CD8+ TEMRA富集衰老程序，GEP组CD8+ T细胞富集增殖程序</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摘要号：PS2338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car-t细胞治疗前后ctdna的纵向动态及其对大b细胞淋巴瘤治疗效果的影响。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longitudinal ctdna dynamics around car-t cell therapy and their impact on tre...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PS2168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7581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9331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N=127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回顾性临床研究结果：longitudinal ctdna dynamics around car-t cell therapy...</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中位无进展生存期（PFS）：10.1个月（95% CI 8.5–NR）</a:t>
            </a:r>
          </a:p>
          <a:p>
            <a:pPr>
              <a:lnSpc>
                <a:spcPct val="103000"/>
              </a:lnSpc>
              <a:spcAft>
                <a:spcPts val="300"/>
              </a:spcAft>
              <a:defRPr sz="800">
                <a:solidFill>
                  <a:srgbClr val="21242A"/>
                </a:solidFill>
                <a:latin typeface="Microsoft YaHei"/>
              </a:defRPr>
            </a:pPr>
            <a:r>
              <a:t>早期复发（3个月内）发生率：41.7%（53/127）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人数：127</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研究主题：longitudinal ctdna dynamics around car-t cell therapy and their impact on treatment efficacy in large b-cell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car-t细胞治疗前后ctdna的纵向动态及其对大b细胞淋巴瘤治疗效果的影响。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longitudinal ctdna dynamics around car-t cell therapy and their impact on tre...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PS2168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8503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转化/标志物</a:t>
            </a:r>
          </a:p>
        </p:txBody>
      </p:sp>
      <p:sp>
        <p:nvSpPr>
          <p:cNvPr id="8" name="TextBox 7"/>
          <p:cNvSpPr txBox="1"/>
          <p:nvPr/>
        </p:nvSpPr>
        <p:spPr>
          <a:xfrm>
            <a:off x="25054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7581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9331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背景：克隆动态和耐药亚克隆的出现是 CD19 定向 CAR-T 治疗后复发的关键驱动因素。循环肿瘤 DNA (ctDNA) 能够纵向追踪这些分子变化；然而，在 CAR-T 分离、输注之前检测到的变异与复发时存在的变异之间的关系仍未完全确定</a:t>
            </a:r>
          </a:p>
          <a:p>
            <a:pPr>
              <a:lnSpc>
                <a:spcPct val="103000"/>
              </a:lnSpc>
              <a:spcAft>
                <a:spcPts val="300"/>
              </a:spcAft>
              <a:defRPr sz="550">
                <a:solidFill>
                  <a:srgbClr val="21242A"/>
                </a:solidFill>
                <a:latin typeface="Microsoft YaHei"/>
              </a:defRPr>
            </a:pPr>
            <a:r>
              <a:t>目的：我们的目的是描述 CAR-T 治疗时间点的 ctDNA 变异动态特征，并评估大 B 细胞淋巴瘤 (LBCL) 治疗前和复发样本之间的克隆重叠</a:t>
            </a:r>
          </a:p>
          <a:p>
            <a:pPr>
              <a:lnSpc>
                <a:spcPct val="103000"/>
              </a:lnSpc>
              <a:spcAft>
                <a:spcPts val="300"/>
              </a:spcAft>
              <a:defRPr sz="550">
                <a:solidFill>
                  <a:srgbClr val="21242A"/>
                </a:solidFill>
                <a:latin typeface="Microsoft YaHei"/>
              </a:defRPr>
            </a:pPr>
            <a:r>
              <a:t>方法：我们分析了 127 名接受 CAR-T 治疗的 LBCL 患者。对血浆分离术前 (PA) (n=103)、输注前 (PI) (n=94) 和复发 (n=24) 收集的 224 个血浆样本进行了 cfDNA 分析； 70 名患者拥有配对的 PA-PI 样本。使用 CAPP-Seq Lymph panel（135 个</a:t>
            </a:r>
          </a:p>
          <a:p>
            <a:pPr>
              <a:lnSpc>
                <a:spcPct val="103000"/>
              </a:lnSpc>
              <a:spcAft>
                <a:spcPts val="300"/>
              </a:spcAft>
              <a:defRPr sz="550">
                <a:solidFill>
                  <a:srgbClr val="21242A"/>
                </a:solidFill>
                <a:latin typeface="Microsoft YaHei"/>
              </a:defRPr>
            </a:pPr>
            <a:r>
              <a:t>基因）进行靶向 cfDNA 测序。体细胞变异需要 PASS、≥100×、VAF ≥1% 和 &gt;10 个支持读取、过滤伪影、种系/良性变异和群体频率 ≥1%；分析仅限于非同义变异和剪接位点变异。在RStudio中进行统计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纵向 ctDNA 分析揭示了 LBCL CAR-T 治疗过程中显着的克隆动态，克隆扩张和以前无法检测到的变异的出现都会导致治疗失败。</a:t>
            </a:r>
          </a:p>
          <a:p>
            <a:pPr>
              <a:lnSpc>
                <a:spcPct val="103000"/>
              </a:lnSpc>
              <a:spcAft>
                <a:spcPts val="300"/>
              </a:spcAft>
              <a:defRPr sz="570">
                <a:solidFill>
                  <a:srgbClr val="21242A"/>
                </a:solidFill>
                <a:latin typeface="Microsoft YaHei"/>
              </a:defRPr>
            </a:pPr>
            <a:r>
              <a:t>PA 和 PI 之间发生的分子变化，以及复发时克隆重叠和进化的模式，与 CAR-T 疗效密切相关。重要的是，这些发现表明 PA 和 PI 样本不可互换，这强调了 ctDNA 监测的变异选择比通常假设的更为复杂，并且对于预测复发至关重要</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中位无进展生存期（PFS）</a:t>
                      </a:r>
                    </a:p>
                  </a:txBody>
                  <a:tcPr>
                    <a:solidFill>
                      <a:srgbClr val="F6F8FB"/>
                    </a:solidFill>
                  </a:tcPr>
                </a:tc>
                <a:tc>
                  <a:txBody>
                    <a:bodyPr wrap="square" lIns="36576" rIns="36576" tIns="18288" bIns="18288"/>
                    <a:lstStyle/>
                    <a:p>
                      <a:r>
                        <a:rPr sz="540" b="0">
                          <a:solidFill>
                            <a:srgbClr val="21242A"/>
                          </a:solidFill>
                          <a:latin typeface="Microsoft YaHei"/>
                        </a:rPr>
                        <a:t>10.1个月（95% CI 8.5–NR）</a:t>
                      </a:r>
                    </a:p>
                  </a:txBody>
                  <a:tcPr>
                    <a:solidFill>
                      <a:srgbClr val="F6F8FB"/>
                    </a:solidFill>
                  </a:tcPr>
                </a:tc>
              </a:tr>
              <a:tr h="249936">
                <a:tc>
                  <a:txBody>
                    <a:bodyPr wrap="square" lIns="36576" rIns="36576" tIns="18288" bIns="18288"/>
                    <a:lstStyle/>
                    <a:p>
                      <a:r>
                        <a:rPr sz="540" b="1">
                          <a:solidFill>
                            <a:srgbClr val="21242A"/>
                          </a:solidFill>
                          <a:latin typeface="Microsoft YaHei"/>
                        </a:rPr>
                        <a:t>早期复发（3个月内）发生率</a:t>
                      </a:r>
                    </a:p>
                  </a:txBody>
                  <a:tcPr>
                    <a:solidFill>
                      <a:srgbClr val="FFFFFF"/>
                    </a:solidFill>
                  </a:tcPr>
                </a:tc>
                <a:tc>
                  <a:txBody>
                    <a:bodyPr wrap="square" lIns="36576" rIns="36576" tIns="18288" bIns="18288"/>
                    <a:lstStyle/>
                    <a:p>
                      <a:r>
                        <a:rPr sz="540" b="0">
                          <a:solidFill>
                            <a:srgbClr val="21242A"/>
                          </a:solidFill>
                          <a:latin typeface="Microsoft YaHei"/>
                        </a:rPr>
                        <a:t>41.7%（53/127）</a:t>
                      </a:r>
                    </a:p>
                  </a:txBody>
                  <a:tcPr>
                    <a:solidFill>
                      <a:srgbClr val="FFFFFF"/>
                    </a:solidFill>
                  </a:tcPr>
                </a:tc>
              </a:tr>
              <a:tr h="249936">
                <a:tc>
                  <a:txBody>
                    <a:bodyPr wrap="square" lIns="36576" rIns="36576" tIns="18288" bIns="18288"/>
                    <a:lstStyle/>
                    <a:p>
                      <a:r>
                        <a:rPr sz="540" b="1">
                          <a:solidFill>
                            <a:srgbClr val="21242A"/>
                          </a:solidFill>
                          <a:latin typeface="Microsoft YaHei"/>
                        </a:rPr>
                        <a:t>早期复发相关因素</a:t>
                      </a:r>
                    </a:p>
                  </a:txBody>
                  <a:tcPr>
                    <a:solidFill>
                      <a:srgbClr val="F6F8FB"/>
                    </a:solidFill>
                  </a:tcPr>
                </a:tc>
                <a:tc>
                  <a:txBody>
                    <a:bodyPr wrap="square" lIns="36576" rIns="36576" tIns="18288" bIns="18288"/>
                    <a:lstStyle/>
                    <a:p>
                      <a:r>
                        <a:rPr sz="540" b="0">
                          <a:solidFill>
                            <a:srgbClr val="21242A"/>
                          </a:solidFill>
                          <a:latin typeface="Microsoft YaHei"/>
                        </a:rPr>
                        <a:t>LDH、铁蛋白、CRP升高，BTG1、IGLL5、HIST1H1C/HIST1H1E、FOXO1、CD58变异，≥2个TP53变异</a:t>
                      </a:r>
                    </a:p>
                  </a:txBody>
                  <a:tcPr>
                    <a:solidFill>
                      <a:srgbClr val="F6F8FB"/>
                    </a:solidFill>
                  </a:tcPr>
                </a:tc>
              </a:tr>
              <a:tr h="249936">
                <a:tc>
                  <a:txBody>
                    <a:bodyPr wrap="square" lIns="36576" rIns="36576" tIns="18288" bIns="18288"/>
                    <a:lstStyle/>
                    <a:p>
                      <a:r>
                        <a:rPr sz="540" b="1">
                          <a:solidFill>
                            <a:srgbClr val="21242A"/>
                          </a:solidFill>
                          <a:latin typeface="Microsoft YaHei"/>
                        </a:rPr>
                        <a:t>ctDNA VAF</a:t>
                      </a:r>
                    </a:p>
                  </a:txBody>
                  <a:tcPr>
                    <a:solidFill>
                      <a:srgbClr val="FFFFFF"/>
                    </a:solidFill>
                  </a:tcPr>
                </a:tc>
                <a:tc>
                  <a:txBody>
                    <a:bodyPr wrap="square" lIns="36576" rIns="36576" tIns="18288" bIns="18288"/>
                    <a:lstStyle/>
                    <a:p>
                      <a:r>
                        <a:rPr sz="540" b="0">
                          <a:solidFill>
                            <a:srgbClr val="21242A"/>
                          </a:solidFill>
                          <a:latin typeface="Microsoft YaHei"/>
                        </a:rPr>
                        <a:t>PA组&gt;8%、PI组&gt;2%与早期复发相关</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PI新变异和PA-to-PI克隆VAF变化与PFS缩短相关</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摘要号：PS2168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抗生素暴露和左氧氟沙星预防对大b细胞淋巴瘤术后预后的影响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effects of antibiotic-exposure and levofloxacin-prophylaxis on outcomes after...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N=124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Tisagenlecleucel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多组/多方案比较：根据治疗前30天内抗生素暴露分组：抗生素暴露组（AB-exposed pre-CART，n=77）</a:t>
            </a:r>
          </a:p>
          <a:p>
            <a:pPr>
              <a:lnSpc>
                <a:spcPct val="103000"/>
              </a:lnSpc>
              <a:spcAft>
                <a:spcPts val="300"/>
              </a:spcAft>
              <a:defRPr sz="800">
                <a:solidFill>
                  <a:srgbClr val="21242A"/>
                </a:solidFill>
                <a:latin typeface="Microsoft YaHei"/>
              </a:defRPr>
            </a:pPr>
            <a:r>
              <a:t>抗生素未暴露组（AB-naïve pre-CART，n=47）</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中位无进展生存期（mPFS）为12.0个月</a:t>
            </a:r>
          </a:p>
          <a:p>
            <a:pPr>
              <a:lnSpc>
                <a:spcPct val="103000"/>
              </a:lnSpc>
              <a:spcAft>
                <a:spcPts val="300"/>
              </a:spcAft>
              <a:defRPr sz="800">
                <a:solidFill>
                  <a:srgbClr val="21242A"/>
                </a:solidFill>
                <a:latin typeface="Microsoft YaHei"/>
              </a:defRPr>
            </a:pPr>
            <a:r>
              <a:t>中位总生存期（mOS）未达到</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人数：124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试验药/方案：阿基仑赛、Tisagenlecleucel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抗生素暴露和左氧氟沙星预防对大b细胞淋巴瘤术后预后的影响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effects of antibiotic-exposure and levofloxacin-prophylaxis on outcomes after...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背景：抗生素 (AB) 是生态失调的主要驱动因素，已被证明会影响免疫疗法（包括嵌合抗原受体 T 细胞 (CART) 疗法）后的结果。左氧氟沙星（levo）预防性治疗在血液病患者中的作用仍然存在争议，它是预防发热发作的有效且耐受性良好的策略，但也与同种异体移植后的有害影响相关。此外，多重耐药病原体的出现引起了人们对其广泛</a:t>
            </a:r>
          </a:p>
          <a:p>
            <a:pPr>
              <a:lnSpc>
                <a:spcPct val="103000"/>
              </a:lnSpc>
              <a:spcAft>
                <a:spcPts val="300"/>
              </a:spcAft>
              <a:defRPr sz="550">
                <a:solidFill>
                  <a:srgbClr val="21242A"/>
                </a:solidFill>
                <a:latin typeface="Microsoft YaHei"/>
              </a:defRPr>
            </a:pPr>
            <a:r>
              <a:t>使用的担忧。</a:t>
            </a:r>
          </a:p>
          <a:p>
            <a:pPr>
              <a:lnSpc>
                <a:spcPct val="103000"/>
              </a:lnSpc>
              <a:spcAft>
                <a:spcPts val="300"/>
              </a:spcAft>
              <a:defRPr sz="550">
                <a:solidFill>
                  <a:srgbClr val="21242A"/>
                </a:solidFill>
                <a:latin typeface="Microsoft YaHei"/>
              </a:defRPr>
            </a:pPr>
            <a:r>
              <a:t>目的：我们研究了 AB 治疗和左旋预防对大 B 细胞淋巴瘤 (LBCL) CART 后结局的影响。</a:t>
            </a:r>
          </a:p>
          <a:p>
            <a:pPr>
              <a:lnSpc>
                <a:spcPct val="103000"/>
              </a:lnSpc>
              <a:spcAft>
                <a:spcPts val="300"/>
              </a:spcAft>
              <a:defRPr sz="550">
                <a:solidFill>
                  <a:srgbClr val="21242A"/>
                </a:solidFill>
                <a:latin typeface="Microsoft YaHei"/>
              </a:defRPr>
            </a:pPr>
            <a:r>
              <a:t>方法：我们回顾性分析了博洛尼亚血液研究所接受抗 CD19 CART 治疗的 124 例 LBCL 患者。考虑到对生态失调的影响，我们在CART前30天内评估AB暴露，而在CART后30天内评估左旋预防（500毫克/天）。使用 R 进行分析。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我们的研究证实了 CART 后 AB 暴露对生存和 NT 发生的不利影响，如文献报道。据我们所知，这是第一个评估 CART 后左氧氟沙星预防的研究，显示对 CART 后的结果没有显着影响，也没有对感染发生的优势。需要进一步研究以了解预防的长期效果以及与微生物组的相互作用。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中位无进展生存期（mPFS）为12.0个月</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中位总生存期（mOS）未达到</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抗生素暴露组中位OS为35.0个月，抗生素未暴露组未达到（p=0.003）</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抗生素暴露组神经毒性（NT）发生率为50.0%，抗生素未暴露组为20.4%（p=0.010）</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左氧氟沙星预防对生存和毒性无显著影响</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接受axicabtagene ciloleucel治疗弥漫性大b细胞淋巴瘤患者持续性crs的早期西妥昔单抗抢救：一项现...</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siltuximab rescue for persistent crs in patients with diffuse large b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N=87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试验药/方案：司妥昔单抗</a:t>
            </a:r>
          </a:p>
          <a:p>
            <a:pPr>
              <a:lnSpc>
                <a:spcPct val="103000"/>
              </a:lnSpc>
              <a:spcAft>
                <a:spcPts val="300"/>
              </a:spcAft>
              <a:defRPr sz="800">
                <a:solidFill>
                  <a:srgbClr val="21242A"/>
                </a:solidFill>
                <a:latin typeface="Microsoft YaHei"/>
              </a:defRPr>
            </a:pPr>
            <a:r>
              <a:t>靶点：IL6</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对照/比较：司妥昔单抗组：司妥昔单抗联合地塞米松（在持续性CRS时给予至多2剂11mg/kg司妥昔单抗）||对照组：后续剂量托...</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CRS等级：司妥昔单抗组1级84.6%，2级15.4%，3级0%，4级0%</a:t>
            </a:r>
          </a:p>
          <a:p>
            <a:pPr>
              <a:lnSpc>
                <a:spcPct val="103000"/>
              </a:lnSpc>
              <a:spcAft>
                <a:spcPts val="300"/>
              </a:spcAft>
              <a:defRPr sz="800">
                <a:solidFill>
                  <a:srgbClr val="21242A"/>
                </a:solidFill>
                <a:latin typeface="Microsoft YaHei"/>
              </a:defRPr>
            </a:pPr>
            <a:r>
              <a:t>对照组1级59.0%，2级31.1%，3级8.2%，4级1.6%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人数：87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试验药/方案：司妥昔单抗</a:t>
            </a:r>
          </a:p>
          <a:p>
            <a:pPr>
              <a:lnSpc>
                <a:spcPct val="103000"/>
              </a:lnSpc>
              <a:spcAft>
                <a:spcPts val="300"/>
              </a:spcAft>
              <a:defRPr sz="810">
                <a:solidFill>
                  <a:srgbClr val="21242A"/>
                </a:solidFill>
                <a:latin typeface="Microsoft YaHei"/>
              </a:defRPr>
            </a:pPr>
            <a:r>
              <a:t>靶点：IL6</a:t>
            </a:r>
          </a:p>
          <a:p>
            <a:pPr>
              <a:lnSpc>
                <a:spcPct val="103000"/>
              </a:lnSpc>
              <a:spcAft>
                <a:spcPts val="300"/>
              </a:spcAft>
              <a:defRPr sz="810">
                <a:solidFill>
                  <a:srgbClr val="21242A"/>
                </a:solidFill>
                <a:latin typeface="Microsoft YaHei"/>
              </a:defRPr>
            </a:pPr>
            <a:r>
              <a:t>药物/技术类别：单特异性抗体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接受axicabtagene ciloleucel治疗弥漫性大b细胞淋巴瘤患者持续性crs的早期西妥昔单抗抢救：一项现...</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siltuximab rescue for persistent crs in patients with diffuse large b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背景：嵌合抗原受体 (CAR) T 细胞疗法与严重且可能危及生命的毒性相关，例如 CRS 和 ICANS。接受 Axi-cel 治疗的患者中有 5-17% 会出现≥3 级 CRS 和 9%-20% ≥3 级 ICANS，ICU 入住率可达 21%。研究探索了减轻这种毒性的策略，但结果却相互矛盾。</a:t>
            </a:r>
          </a:p>
          <a:p>
            <a:pPr>
              <a:lnSpc>
                <a:spcPct val="103000"/>
              </a:lnSpc>
              <a:spcAft>
                <a:spcPts val="300"/>
              </a:spcAft>
              <a:defRPr sz="550">
                <a:solidFill>
                  <a:srgbClr val="21242A"/>
                </a:solidFill>
                <a:latin typeface="Microsoft YaHei"/>
              </a:defRPr>
            </a:pPr>
            <a:r>
              <a:t>目的：本研究的主要目的是评估早期西妥昔单抗挽救对接受 Axi-cel CAR T 细胞治疗的 R/R DLBCL 患者持续性 CRS 的影响。</a:t>
            </a:r>
          </a:p>
          <a:p>
            <a:pPr>
              <a:lnSpc>
                <a:spcPct val="103000"/>
              </a:lnSpc>
              <a:spcAft>
                <a:spcPts val="300"/>
              </a:spcAft>
              <a:defRPr sz="550">
                <a:solidFill>
                  <a:srgbClr val="21242A"/>
                </a:solidFill>
                <a:latin typeface="Microsoft YaHei"/>
              </a:defRPr>
            </a:pPr>
            <a:r>
              <a:t>方法：对 2022 年 11 月至 2025 年 12 月期间接受 Axi-cel 治疗的 87 名成人 R/R B 细胞淋巴瘤患者进行回顾性、单中心分析，比较根据机构政策实施的两种临床方案。患者被分为两组。在这两种情况中，患者均接受了两剂托珠单抗（如果从 1 级 CRS 发作开始，持续服用 CRS，间隔 8 小时）。</a:t>
            </a:r>
          </a:p>
          <a:p>
            <a:pPr>
              <a:lnSpc>
                <a:spcPct val="103000"/>
              </a:lnSpc>
              <a:spcAft>
                <a:spcPts val="300"/>
              </a:spcAft>
              <a:defRPr sz="550">
                <a:solidFill>
                  <a:srgbClr val="21242A"/>
                </a:solidFill>
                <a:latin typeface="Microsoft YaHei"/>
              </a:defRPr>
            </a:pPr>
            <a:r>
              <a:t>在第一个队列（Siltuximab 组）中，持续性 CRS 患者接受最多两次 11mg/kg 剂量的siltuximab 联合地塞米松治疗。在第二个历史队列（对照组）中，患有持续性 CRS 的患者继续接受最多两次后续剂量的托珠单抗治疗，也与地塞米松联合治疗。</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与继续使用托珠单抗相比，早期改用西妥昔单抗似乎可以改善 Axi-cel 细胞因子相关毒性，且不会增加不良事件。这些发现支持利用这一有希望的策略来开展临床试验，以减轻 CAR T 细胞相关的毒性。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CRS等级：司妥昔单抗组1级84.6%，2级15.4%，3级0%，4级0%；对照组1级59.0%，2级31.1%，3级8.2%，4级1.6%；≥2级CRS发生率：司妥昔单抗组15.4%，对照组41.0%（p=0.026）||ICANS发生率：司妥昔单抗组26.9%，对照组45.9%（p=0.151）||严重I</a:t>
            </a:r>
          </a:p>
          <a:p>
            <a:pPr>
              <a:lnSpc>
                <a:spcPct val="103000"/>
              </a:lnSpc>
              <a:spcAft>
                <a:spcPts val="300"/>
              </a:spcAft>
              <a:defRPr sz="560">
                <a:solidFill>
                  <a:srgbClr val="21242A"/>
                </a:solidFill>
                <a:latin typeface="Microsoft YaHei"/>
              </a:defRPr>
            </a:pPr>
            <a:r>
              <a:t>CANS（≥2级）：司妥昔单抗组3.8%，对照组27.9%（OR=9.66，p=0.010）||住院时间中位数：司妥昔单抗组14天（IQR 13-15），对照组18天（IQR 15-25）（p=0.0002）||ICU入住率：司妥昔单抗组3.8%，对照组27.9%（p=0.010）||CMV再激活：司妥昔单抗</a:t>
            </a:r>
          </a:p>
          <a:p>
            <a:pPr>
              <a:lnSpc>
                <a:spcPct val="103000"/>
              </a:lnSpc>
              <a:spcAft>
                <a:spcPts val="300"/>
              </a:spcAft>
              <a:defRPr sz="560">
                <a:solidFill>
                  <a:srgbClr val="21242A"/>
                </a:solidFill>
                <a:latin typeface="Microsoft YaHei"/>
              </a:defRPr>
            </a:pPr>
            <a:r>
              <a:t>组32.0%，对照组45.9%（p=0.336）||细胞减少症：司妥昔单抗组57.7%，对照组45.9%（p=0.355）||3级感染：司妥昔单抗组7.7%，对照组18.0%（p=0.328）</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复发/难治性大b细胞淋巴瘤的发病率和预后以及基于人群的新型t细胞封端疗法的实施</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incidence and outcome of relapsed/refractory large b-cell lymphoma and implem...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N=2259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回顾性临床研究结果：incidence and outcome of relapsed/refractory large 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2年总生存率：78%（95% CI 76-80）</a:t>
            </a:r>
          </a:p>
          <a:p>
            <a:pPr>
              <a:lnSpc>
                <a:spcPct val="103000"/>
              </a:lnSpc>
              <a:spcAft>
                <a:spcPts val="300"/>
              </a:spcAft>
              <a:defRPr sz="800">
                <a:solidFill>
                  <a:srgbClr val="21242A"/>
                </a:solidFill>
                <a:latin typeface="Microsoft YaHei"/>
              </a:defRPr>
            </a:pPr>
            <a:r>
              <a:t>2年无进展生存率：69%（95% CI 67-71）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人数：2259</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研究主题：incidence and outcome of relapsed/refractory large b-cell lymphoma and implementation of novel t-cell-engaging therapie...</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复发/难治性大b细胞淋巴瘤的发病率和预后以及基于人群的新型t细胞封端疗法的实施</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incidence and outcome of relapsed/refractory large b-cell lymphoma and implem...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背景：近年来，T 细胞参与疗法极大地改变了大 B 细胞淋巴瘤 (LBCL) 患者的治疗前景。这些疗法的后勤挑战和财务负担强调了评估其在临床常规中实施的重要性。在瑞典，嵌合抗原受体 (CAR) T 细胞疗法于 2019 年被批准用于三线治疗，并于 2024 年被批准用于早期二线治疗。在研究期间，双特异性抗体的获得仅限于临</a:t>
            </a:r>
          </a:p>
          <a:p>
            <a:pPr>
              <a:lnSpc>
                <a:spcPct val="103000"/>
              </a:lnSpc>
              <a:spcAft>
                <a:spcPts val="300"/>
              </a:spcAft>
              <a:defRPr sz="550">
                <a:solidFill>
                  <a:srgbClr val="21242A"/>
                </a:solidFill>
                <a:latin typeface="Microsoft YaHei"/>
              </a:defRPr>
            </a:pPr>
            <a:r>
              <a:t>床试验环境和同情使用计划。目的：利用瑞典基于人群的登记册，我们旨在报告 LBCL 患者从初次诊断到首次和随后复发的当代结果，并评估新疗法的采用情况。方法：我们在瑞典淋巴瘤登记库 (SLR) 中确定了 2019-2024 年所有初步诊断为 LBCL 的患者。对患者进行随访直至死亡或研究结束（2025 年 12 月 16 </a:t>
            </a:r>
          </a:p>
          <a:p>
            <a:pPr>
              <a:lnSpc>
                <a:spcPct val="103000"/>
              </a:lnSpc>
              <a:spcAft>
                <a:spcPts val="300"/>
              </a:spcAft>
              <a:defRPr sz="550">
                <a:solidFill>
                  <a:srgbClr val="21242A"/>
                </a:solidFill>
                <a:latin typeface="Microsoft YaHei"/>
              </a:defRPr>
            </a:pPr>
            <a:r>
              <a:t>日）。通过一个开发项目，SLR 正在更新有关病历中 R/R 疾病和治疗的完整信息，在这里我们提供了三分之二人口的数据。在存在竞争死亡风险的情况下估计 R/R 疾病的累积发病率。使用 Kaplan-Meier 方法从诊断之日起估计总生存期 (OS) 和无进展生存期 (PFS)。</a:t>
            </a:r>
          </a:p>
          <a:p>
            <a:pPr>
              <a:lnSpc>
                <a:spcPct val="103000"/>
              </a:lnSpc>
              <a:spcAft>
                <a:spcPts val="300"/>
              </a:spcAft>
              <a:defRPr sz="550">
                <a:solidFill>
                  <a:srgbClr val="21242A"/>
                </a:solidFill>
                <a:latin typeface="Microsoft YaHei"/>
              </a:defRPr>
            </a:pPr>
            <a:r>
              <a:t>按年龄组对 R/R 疾病患者进行单独分析。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在这项针对 2019-2025 年接受治疗的 LBCL 患者的基于人群的研究中，我们确认 R/R 疾病的 5 年发病率为 23%。这与我们小组之前基于人群的评估类似，但低于文献中一般所述的水平。三分之二的 R/R 患者年龄超过 70 岁，不同年龄组的结果存在显着差异。所有 R/R 患者中只有少数 (15%) 接受了 T</a:t>
            </a:r>
          </a:p>
          <a:p>
            <a:pPr>
              <a:lnSpc>
                <a:spcPct val="103000"/>
              </a:lnSpc>
              <a:spcAft>
                <a:spcPts val="300"/>
              </a:spcAft>
              <a:defRPr sz="570">
                <a:solidFill>
                  <a:srgbClr val="21242A"/>
                </a:solidFill>
                <a:latin typeface="Microsoft YaHei"/>
              </a:defRPr>
            </a:pPr>
            <a:r>
              <a:t> 细胞参与疗法，这可能反映了 CAR T 在研究期间的大部分时间仅限于三线或更高线，以及该现实世界人群中的高龄分布。</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2年总生存率</a:t>
                      </a:r>
                    </a:p>
                  </a:txBody>
                  <a:tcPr>
                    <a:solidFill>
                      <a:srgbClr val="F6F8FB"/>
                    </a:solidFill>
                  </a:tcPr>
                </a:tc>
                <a:tc>
                  <a:txBody>
                    <a:bodyPr wrap="square" lIns="36576" rIns="36576" tIns="18288" bIns="18288"/>
                    <a:lstStyle/>
                    <a:p>
                      <a:r>
                        <a:rPr sz="540" b="0">
                          <a:solidFill>
                            <a:srgbClr val="21242A"/>
                          </a:solidFill>
                          <a:latin typeface="Microsoft YaHei"/>
                        </a:rPr>
                        <a:t>78%（95% CI 76-80）</a:t>
                      </a:r>
                    </a:p>
                  </a:txBody>
                  <a:tcPr>
                    <a:solidFill>
                      <a:srgbClr val="F6F8FB"/>
                    </a:solidFill>
                  </a:tcPr>
                </a:tc>
              </a:tr>
              <a:tr h="214230">
                <a:tc>
                  <a:txBody>
                    <a:bodyPr wrap="square" lIns="36576" rIns="36576" tIns="18288" bIns="18288"/>
                    <a:lstStyle/>
                    <a:p>
                      <a:r>
                        <a:rPr sz="540" b="1">
                          <a:solidFill>
                            <a:srgbClr val="21242A"/>
                          </a:solidFill>
                          <a:latin typeface="Microsoft YaHei"/>
                        </a:rPr>
                        <a:t>2年无进展生存率</a:t>
                      </a:r>
                    </a:p>
                  </a:txBody>
                  <a:tcPr>
                    <a:solidFill>
                      <a:srgbClr val="FFFFFF"/>
                    </a:solidFill>
                  </a:tcPr>
                </a:tc>
                <a:tc>
                  <a:txBody>
                    <a:bodyPr wrap="square" lIns="36576" rIns="36576" tIns="18288" bIns="18288"/>
                    <a:lstStyle/>
                    <a:p>
                      <a:r>
                        <a:rPr sz="540" b="0">
                          <a:solidFill>
                            <a:srgbClr val="21242A"/>
                          </a:solidFill>
                          <a:latin typeface="Microsoft YaHei"/>
                        </a:rPr>
                        <a:t>69%（95% CI 67-71）</a:t>
                      </a:r>
                    </a:p>
                  </a:txBody>
                  <a:tcPr>
                    <a:solidFill>
                      <a:srgbClr val="FFFFFF"/>
                    </a:solidFill>
                  </a:tcPr>
                </a:tc>
              </a:tr>
              <a:tr h="214230">
                <a:tc>
                  <a:txBody>
                    <a:bodyPr wrap="square" lIns="36576" rIns="36576" tIns="18288" bIns="18288"/>
                    <a:lstStyle/>
                    <a:p>
                      <a:r>
                        <a:rPr sz="540" b="1">
                          <a:solidFill>
                            <a:srgbClr val="21242A"/>
                          </a:solidFill>
                          <a:latin typeface="Microsoft YaHei"/>
                        </a:rPr>
                        <a:t>复发/难治疾病5年累积发病率</a:t>
                      </a:r>
                    </a:p>
                  </a:txBody>
                  <a:tcPr>
                    <a:solidFill>
                      <a:srgbClr val="F6F8FB"/>
                    </a:solidFill>
                  </a:tcPr>
                </a:tc>
                <a:tc>
                  <a:txBody>
                    <a:bodyPr wrap="square" lIns="36576" rIns="36576" tIns="18288" bIns="18288"/>
                    <a:lstStyle/>
                    <a:p>
                      <a:r>
                        <a:rPr sz="540" b="0">
                          <a:solidFill>
                            <a:srgbClr val="21242A"/>
                          </a:solidFill>
                          <a:latin typeface="Microsoft YaHei"/>
                        </a:rPr>
                        <a:t>23%（95% CI 21-25）</a:t>
                      </a:r>
                    </a:p>
                  </a:txBody>
                  <a:tcPr>
                    <a:solidFill>
                      <a:srgbClr val="F6F8FB"/>
                    </a:solidFill>
                  </a:tcPr>
                </a:tc>
              </a:tr>
              <a:tr h="214230">
                <a:tc>
                  <a:txBody>
                    <a:bodyPr wrap="square" lIns="36576" rIns="36576" tIns="18288" bIns="18288"/>
                    <a:lstStyle/>
                    <a:p>
                      <a:r>
                        <a:rPr sz="540" b="1">
                          <a:solidFill>
                            <a:srgbClr val="21242A"/>
                          </a:solidFill>
                          <a:latin typeface="Microsoft YaHei"/>
                        </a:rPr>
                        <a:t>复发/难治患者2年总生存率</a:t>
                      </a:r>
                    </a:p>
                  </a:txBody>
                  <a:tcPr>
                    <a:solidFill>
                      <a:srgbClr val="FFFFFF"/>
                    </a:solidFill>
                  </a:tcPr>
                </a:tc>
                <a:tc>
                  <a:txBody>
                    <a:bodyPr wrap="square" lIns="36576" rIns="36576" tIns="18288" bIns="18288"/>
                    <a:lstStyle/>
                    <a:p>
                      <a:r>
                        <a:rPr sz="540" b="0">
                          <a:solidFill>
                            <a:srgbClr val="21242A"/>
                          </a:solidFill>
                          <a:latin typeface="Microsoft YaHei"/>
                        </a:rPr>
                        <a:t>38%（95% CI 34-43）</a:t>
                      </a:r>
                    </a:p>
                  </a:txBody>
                  <a:tcPr>
                    <a:solidFill>
                      <a:srgbClr val="FFFFFF"/>
                    </a:solidFill>
                  </a:tcPr>
                </a:tc>
              </a:tr>
              <a:tr h="214230">
                <a:tc>
                  <a:txBody>
                    <a:bodyPr wrap="square" lIns="36576" rIns="36576" tIns="18288" bIns="18288"/>
                    <a:lstStyle/>
                    <a:p>
                      <a:r>
                        <a:rPr sz="540" b="1">
                          <a:solidFill>
                            <a:srgbClr val="21242A"/>
                          </a:solidFill>
                          <a:latin typeface="Microsoft YaHei"/>
                        </a:rPr>
                        <a:t>复发/难治患者2年无进展生存率</a:t>
                      </a:r>
                    </a:p>
                  </a:txBody>
                  <a:tcPr>
                    <a:solidFill>
                      <a:srgbClr val="F6F8FB"/>
                    </a:solidFill>
                  </a:tcPr>
                </a:tc>
                <a:tc>
                  <a:txBody>
                    <a:bodyPr wrap="square" lIns="36576" rIns="36576" tIns="18288" bIns="18288"/>
                    <a:lstStyle/>
                    <a:p>
                      <a:r>
                        <a:rPr sz="540" b="0">
                          <a:solidFill>
                            <a:srgbClr val="21242A"/>
                          </a:solidFill>
                          <a:latin typeface="Microsoft YaHei"/>
                        </a:rPr>
                        <a:t>26%（95% CI 22-30）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早期复发/原发性难治性大b细胞淋巴瘤患者二线axicabtagene ciloleucel的疗效及与自体干细胞移植的比较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outcomes of second-line axicabtagene ciloleucel and comparison to autologous...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N=194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对照/比较：试验组1：axicabtagene ciloleucel</a:t>
            </a:r>
          </a:p>
          <a:p>
            <a:pPr>
              <a:lnSpc>
                <a:spcPct val="103000"/>
              </a:lnSpc>
              <a:spcAft>
                <a:spcPts val="300"/>
              </a:spcAft>
              <a:defRPr sz="800">
                <a:solidFill>
                  <a:srgbClr val="21242A"/>
                </a:solidFill>
                <a:latin typeface="Microsoft YaHei"/>
              </a:defRPr>
            </a:pPr>
            <a:r>
              <a:t>对照组1：大剂量化疗联合自体干细胞移植（HDCT/ASCT）</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客观缓解率（ORR）：81%</a:t>
            </a:r>
          </a:p>
          <a:p>
            <a:pPr>
              <a:lnSpc>
                <a:spcPct val="103000"/>
              </a:lnSpc>
              <a:spcAft>
                <a:spcPts val="300"/>
              </a:spcAft>
              <a:defRPr sz="800">
                <a:solidFill>
                  <a:srgbClr val="21242A"/>
                </a:solidFill>
                <a:latin typeface="Microsoft YaHei"/>
              </a:defRPr>
            </a:pPr>
            <a:r>
              <a:t>完全缓解率（CR）：52%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人数：194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早期复发/原发性难治性大b细胞淋巴瘤患者二线axicabtagene ciloleucel的疗效及与自体干细胞移植的比较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outcomes of second-line axicabtagene ciloleucel and comparison to autologous...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PS2100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背景：CD19 定向嵌合抗原受体 T (CAR-T) 细胞代表了原发性难治性/早期复发性大 B 细胞淋巴瘤 (R/R LBCL) 患者二线治疗 (2L) 的标准护理 (SOC) 方法。然而，关于 2L CAR-T 安全性和有效性的真实世界数据有限，特别是与对 2L 化疗敏感性疾病患者进行高剂量化疗和自体干细胞移植 (H</a:t>
            </a:r>
          </a:p>
          <a:p>
            <a:pPr>
              <a:lnSpc>
                <a:spcPct val="103000"/>
              </a:lnSpc>
              <a:spcAft>
                <a:spcPts val="300"/>
              </a:spcAft>
              <a:defRPr sz="550">
                <a:solidFill>
                  <a:srgbClr val="21242A"/>
                </a:solidFill>
                <a:latin typeface="Microsoft YaHei"/>
              </a:defRPr>
            </a:pPr>
            <a:r>
              <a:t>DCT/ASCT) 相比。目的：在这里，我们提供了接受 2L CAR-T 细胞治疗的 R/R LBCL 患者的真实数据，并将其与之前的 SOC HDCT/ASCT 进行比较。本次分析中的 CAR-T 患者接受了 axicabtagene ciloleucel (Axi-Cel) 治疗，因为该药最初在欧洲的可用性较好。方</a:t>
            </a:r>
          </a:p>
          <a:p>
            <a:pPr>
              <a:lnSpc>
                <a:spcPct val="103000"/>
              </a:lnSpc>
              <a:spcAft>
                <a:spcPts val="300"/>
              </a:spcAft>
              <a:defRPr sz="550">
                <a:solidFill>
                  <a:srgbClr val="21242A"/>
                </a:solidFill>
                <a:latin typeface="Microsoft YaHei"/>
              </a:defRPr>
            </a:pPr>
            <a:r>
              <a:t>法：我们对 194 例 R/R LBCL 患者进行回顾性分析，其中 112 例接受 Axi-Cel 治疗，82 例接受 HDCT/ASCT 治疗。</a:t>
            </a:r>
          </a:p>
          <a:p>
            <a:pPr>
              <a:lnSpc>
                <a:spcPct val="103000"/>
              </a:lnSpc>
              <a:spcAft>
                <a:spcPts val="300"/>
              </a:spcAft>
              <a:defRPr sz="550">
                <a:solidFill>
                  <a:srgbClr val="21242A"/>
                </a:solidFill>
                <a:latin typeface="Microsoft YaHei"/>
              </a:defRPr>
            </a:pPr>
            <a:r>
              <a:t>HDCT/ASCT 组在 HDCT/ASCT 之前的最后一次分期中在桥接治疗后出现化疗敏感性疾病，而 Axi-Cel 组包括化疗敏感性和难治性疾病的患者。晚期复发（&gt; 12 个月）和/或先前接受过一种以上治疗的患者被排除在外。</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我们关于 Axi-Cel 安全性和有效性的真实世界数据与 ZUMA-7 批准研究的结果一致，证明了 Axi-Cel 在 2L R/R LBCL 治疗中的有效性和安全性。尽管 HDCT/ASCT 组中仅选择了化疗敏感患者，但与 HDCT/ASCT 治疗的患者相比，Axi-Cel 治疗显示出可比的 OS，并且具有更好的 P</a:t>
            </a:r>
          </a:p>
          <a:p>
            <a:pPr>
              <a:lnSpc>
                <a:spcPct val="103000"/>
              </a:lnSpc>
              <a:spcAft>
                <a:spcPts val="300"/>
              </a:spcAft>
              <a:defRPr sz="570">
                <a:solidFill>
                  <a:srgbClr val="21242A"/>
                </a:solidFill>
                <a:latin typeface="Microsoft YaHei"/>
              </a:defRPr>
            </a:pPr>
            <a:r>
              <a:t>FS 趋势。</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81%</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52%</a:t>
                      </a:r>
                    </a:p>
                  </a:txBody>
                  <a:tcPr>
                    <a:solidFill>
                      <a:srgbClr val="FFFFFF"/>
                    </a:solidFill>
                  </a:tcPr>
                </a:tc>
              </a:tr>
              <a:tr h="214230">
                <a:tc>
                  <a:txBody>
                    <a:bodyPr wrap="square" lIns="36576" rIns="36576" tIns="18288" bIns="18288"/>
                    <a:lstStyle/>
                    <a:p>
                      <a:r>
                        <a:rPr sz="540" b="1">
                          <a:solidFill>
                            <a:srgbClr val="21242A"/>
                          </a:solidFill>
                          <a:latin typeface="Microsoft YaHei"/>
                        </a:rPr>
                        <a:t>2年无进展生存率（PFS）</a:t>
                      </a:r>
                    </a:p>
                  </a:txBody>
                  <a:tcPr>
                    <a:solidFill>
                      <a:srgbClr val="F6F8FB"/>
                    </a:solidFill>
                  </a:tcPr>
                </a:tc>
                <a:tc>
                  <a:txBody>
                    <a:bodyPr wrap="square" lIns="36576" rIns="36576" tIns="18288" bIns="18288"/>
                    <a:lstStyle/>
                    <a:p>
                      <a:r>
                        <a:rPr sz="540" b="0">
                          <a:solidFill>
                            <a:srgbClr val="21242A"/>
                          </a:solidFill>
                          <a:latin typeface="Microsoft YaHei"/>
                        </a:rPr>
                        <a:t>51%</a:t>
                      </a:r>
                    </a:p>
                  </a:txBody>
                  <a:tcPr>
                    <a:solidFill>
                      <a:srgbClr val="F6F8FB"/>
                    </a:solidFill>
                  </a:tcPr>
                </a:tc>
              </a:tr>
              <a:tr h="214230">
                <a:tc>
                  <a:txBody>
                    <a:bodyPr wrap="square" lIns="36576" rIns="36576" tIns="18288" bIns="18288"/>
                    <a:lstStyle/>
                    <a:p>
                      <a:r>
                        <a:rPr sz="540" b="1">
                          <a:solidFill>
                            <a:srgbClr val="21242A"/>
                          </a:solidFill>
                          <a:latin typeface="Microsoft YaHei"/>
                        </a:rPr>
                        <a:t>2年总生存率（OS）</a:t>
                      </a:r>
                    </a:p>
                  </a:txBody>
                  <a:tcPr>
                    <a:solidFill>
                      <a:srgbClr val="FFFFFF"/>
                    </a:solidFill>
                  </a:tcPr>
                </a:tc>
                <a:tc>
                  <a:txBody>
                    <a:bodyPr wrap="square" lIns="36576" rIns="36576" tIns="18288" bIns="18288"/>
                    <a:lstStyle/>
                    <a:p>
                      <a:r>
                        <a:rPr sz="540" b="0">
                          <a:solidFill>
                            <a:srgbClr val="21242A"/>
                          </a:solidFill>
                          <a:latin typeface="Microsoft YaHei"/>
                        </a:rPr>
                        <a:t>60%</a:t>
                      </a:r>
                    </a:p>
                  </a:txBody>
                  <a:tcPr>
                    <a:solidFill>
                      <a:srgbClr val="FFFFFF"/>
                    </a:solidFill>
                  </a:tcPr>
                </a:tc>
              </a:tr>
              <a:tr h="214230">
                <a:tc>
                  <a:txBody>
                    <a:bodyPr wrap="square" lIns="36576" rIns="36576" tIns="18288" bIns="18288"/>
                    <a:lstStyle/>
                    <a:p>
                      <a:r>
                        <a:rPr sz="540" b="1">
                          <a:solidFill>
                            <a:srgbClr val="21242A"/>
                          </a:solidFill>
                          <a:latin typeface="Microsoft YaHei"/>
                        </a:rPr>
                        <a:t>≥3级神经毒性发生率</a:t>
                      </a:r>
                    </a:p>
                  </a:txBody>
                  <a:tcPr>
                    <a:solidFill>
                      <a:srgbClr val="F6F8FB"/>
                    </a:solidFill>
                  </a:tcPr>
                </a:tc>
                <a:tc>
                  <a:txBody>
                    <a:bodyPr wrap="square" lIns="36576" rIns="36576" tIns="18288" bIns="18288"/>
                    <a:lstStyle/>
                    <a:p>
                      <a:r>
                        <a:rPr sz="540" b="0">
                          <a:solidFill>
                            <a:srgbClr val="21242A"/>
                          </a:solidFill>
                          <a:latin typeface="Microsoft YaHei"/>
                        </a:rPr>
                        <a:t>19%</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摘要号：PS2100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法国axi-cel或liso-cel治疗二线大b细胞淋巴瘤（lbcl）患者的住院时间、医疗资源利用率（hcru）和再住...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length of stay, healthcare resource utilization (hcru) and rehospitalization...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N=443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多组/多方案比较：试验组1：axicabtagene ciloleucel</a:t>
            </a:r>
          </a:p>
          <a:p>
            <a:pPr>
              <a:lnSpc>
                <a:spcPct val="103000"/>
              </a:lnSpc>
              <a:spcAft>
                <a:spcPts val="300"/>
              </a:spcAft>
              <a:defRPr sz="800">
                <a:solidFill>
                  <a:srgbClr val="21242A"/>
                </a:solidFill>
                <a:latin typeface="Microsoft YaHei"/>
              </a:defRPr>
            </a:pPr>
            <a:r>
              <a:t>试验组2：lisocabtagene maraleucel</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平均住院时间：axi-cel组23.1天，liso-cel组16.0天</a:t>
            </a:r>
          </a:p>
          <a:p>
            <a:pPr>
              <a:lnSpc>
                <a:spcPct val="103000"/>
              </a:lnSpc>
              <a:spcAft>
                <a:spcPts val="300"/>
              </a:spcAft>
              <a:defRPr sz="800">
                <a:solidFill>
                  <a:srgbClr val="21242A"/>
                </a:solidFill>
                <a:latin typeface="Microsoft YaHei"/>
              </a:defRPr>
            </a:pPr>
            <a:r>
              <a:t>术后住院时间：axi-cel组17.3天，liso-cel组10.9天</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人数：443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法国axi-cel或liso-cel治疗二线大b细胞淋巴瘤（lbcl）患者的住院时间、医疗资源利用率（hcru）和再住...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length of stay, healthcare resource utilization (hcru) and rehospitalization...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背景：自 202 4 年起，CAR-T 细胞疗法 axicabtagene ciloleucel ( axi-cel ) 和 lisocabtagene maraleucel ( liso -cel ) 在法国已常规报销，用于治疗一线免疫化疗后 12 个月内难治或复发的大 B 细胞淋巴瘤 (LBCL) 成人患者 (pt</a:t>
            </a:r>
          </a:p>
          <a:p>
            <a:pPr>
              <a:lnSpc>
                <a:spcPct val="103000"/>
              </a:lnSpc>
              <a:spcAft>
                <a:spcPts val="300"/>
              </a:spcAft>
              <a:defRPr sz="550">
                <a:solidFill>
                  <a:srgbClr val="21242A"/>
                </a:solidFill>
                <a:latin typeface="Microsoft YaHei"/>
              </a:defRPr>
            </a:pPr>
            <a:r>
              <a:t>s) (LBCL RR≤12)。</a:t>
            </a:r>
          </a:p>
          <a:p>
            <a:pPr>
              <a:lnSpc>
                <a:spcPct val="103000"/>
              </a:lnSpc>
              <a:spcAft>
                <a:spcPts val="300"/>
              </a:spcAft>
              <a:defRPr sz="550">
                <a:solidFill>
                  <a:srgbClr val="21242A"/>
                </a:solidFill>
                <a:latin typeface="Microsoft YaHei"/>
              </a:defRPr>
            </a:pPr>
            <a:r>
              <a:t>目的：本研究的目的是描述使用 axi-cel 或 liso-cel 治疗 LBCL RR≤12 的患者的特征，并评估输注和相关 HCRU 的住院时间 (LOS)。</a:t>
            </a:r>
          </a:p>
          <a:p>
            <a:pPr>
              <a:lnSpc>
                <a:spcPct val="103000"/>
              </a:lnSpc>
              <a:spcAft>
                <a:spcPts val="300"/>
              </a:spcAft>
              <a:defRPr sz="550">
                <a:solidFill>
                  <a:srgbClr val="21242A"/>
                </a:solidFill>
                <a:latin typeface="Microsoft YaHei"/>
              </a:defRPr>
            </a:pPr>
            <a:r>
              <a:t>方法：利用法国综合住院数据库（PMSI）进行回顾性队列研究。纳入的患者因 axi-cel 或 liso -cel 输注住院，具体代码为 LBCL RR≤12，并于 2024 年 1 月 1 日至 12 月 31 日期间出院（完全住院）。索引日期为CAR-T输注日期，输注前时间为从住院到索引日期的时间，从索引日期到出院的</a:t>
            </a:r>
          </a:p>
          <a:p>
            <a:pPr>
              <a:lnSpc>
                <a:spcPct val="103000"/>
              </a:lnSpc>
              <a:spcAft>
                <a:spcPts val="300"/>
              </a:spcAft>
              <a:defRPr sz="550">
                <a:solidFill>
                  <a:srgbClr val="21242A"/>
                </a:solidFill>
                <a:latin typeface="Microsoft YaHei"/>
              </a:defRPr>
            </a:pPr>
            <a:r>
              <a:t>时间为输注后时间。对患者和输液停留特征、HCRU 和 3 个月再住院率进行描述性分析。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随着患者住院时间缩短和 HCRU 降低，liso-cel 治疗简化了患者护理途径，并降低了与 CAR-T 细胞治疗相关的院内负担。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平均住院时间</a:t>
                      </a:r>
                    </a:p>
                  </a:txBody>
                  <a:tcPr>
                    <a:solidFill>
                      <a:srgbClr val="F6F8FB"/>
                    </a:solidFill>
                  </a:tcPr>
                </a:tc>
                <a:tc>
                  <a:txBody>
                    <a:bodyPr wrap="square" lIns="36576" rIns="36576" tIns="18288" bIns="18288"/>
                    <a:lstStyle/>
                    <a:p>
                      <a:r>
                        <a:rPr sz="540" b="0">
                          <a:solidFill>
                            <a:srgbClr val="21242A"/>
                          </a:solidFill>
                          <a:latin typeface="Microsoft YaHei"/>
                        </a:rPr>
                        <a:t>axi-cel组23.1天，liso-cel组16.0天</a:t>
                      </a:r>
                    </a:p>
                  </a:txBody>
                  <a:tcPr>
                    <a:solidFill>
                      <a:srgbClr val="F6F8FB"/>
                    </a:solidFill>
                  </a:tcPr>
                </a:tc>
              </a:tr>
              <a:tr h="214230">
                <a:tc>
                  <a:txBody>
                    <a:bodyPr wrap="square" lIns="36576" rIns="36576" tIns="18288" bIns="18288"/>
                    <a:lstStyle/>
                    <a:p>
                      <a:r>
                        <a:rPr sz="540" b="1">
                          <a:solidFill>
                            <a:srgbClr val="21242A"/>
                          </a:solidFill>
                          <a:latin typeface="Microsoft YaHei"/>
                        </a:rPr>
                        <a:t>术后住院时间</a:t>
                      </a:r>
                    </a:p>
                  </a:txBody>
                  <a:tcPr>
                    <a:solidFill>
                      <a:srgbClr val="FFFFFF"/>
                    </a:solidFill>
                  </a:tcPr>
                </a:tc>
                <a:tc>
                  <a:txBody>
                    <a:bodyPr wrap="square" lIns="36576" rIns="36576" tIns="18288" bIns="18288"/>
                    <a:lstStyle/>
                    <a:p>
                      <a:r>
                        <a:rPr sz="540" b="0">
                          <a:solidFill>
                            <a:srgbClr val="21242A"/>
                          </a:solidFill>
                          <a:latin typeface="Microsoft YaHei"/>
                        </a:rPr>
                        <a:t>axi-cel组17.3天，liso-cel组10.9天</a:t>
                      </a:r>
                    </a:p>
                  </a:txBody>
                  <a:tcPr>
                    <a:solidFill>
                      <a:srgbClr val="FFFFFF"/>
                    </a:solidFill>
                  </a:tcPr>
                </a:tc>
              </a:tr>
              <a:tr h="214230">
                <a:tc>
                  <a:txBody>
                    <a:bodyPr wrap="square" lIns="36576" rIns="36576" tIns="18288" bIns="18288"/>
                    <a:lstStyle/>
                    <a:p>
                      <a:r>
                        <a:rPr sz="540" b="1">
                          <a:solidFill>
                            <a:srgbClr val="21242A"/>
                          </a:solidFill>
                          <a:latin typeface="Microsoft YaHei"/>
                        </a:rPr>
                        <a:t>ICU入住率</a:t>
                      </a:r>
                    </a:p>
                  </a:txBody>
                  <a:tcPr>
                    <a:solidFill>
                      <a:srgbClr val="F6F8FB"/>
                    </a:solidFill>
                  </a:tcPr>
                </a:tc>
                <a:tc>
                  <a:txBody>
                    <a:bodyPr wrap="square" lIns="36576" rIns="36576" tIns="18288" bIns="18288"/>
                    <a:lstStyle/>
                    <a:p>
                      <a:r>
                        <a:rPr sz="540" b="0">
                          <a:solidFill>
                            <a:srgbClr val="21242A"/>
                          </a:solidFill>
                          <a:latin typeface="Microsoft YaHei"/>
                        </a:rPr>
                        <a:t>axi-cel组15%，liso-cel组2%</a:t>
                      </a:r>
                    </a:p>
                  </a:txBody>
                  <a:tcPr>
                    <a:solidFill>
                      <a:srgbClr val="F6F8FB"/>
                    </a:solidFill>
                  </a:tcPr>
                </a:tc>
              </a:tr>
              <a:tr h="214230">
                <a:tc>
                  <a:txBody>
                    <a:bodyPr wrap="square" lIns="36576" rIns="36576" tIns="18288" bIns="18288"/>
                    <a:lstStyle/>
                    <a:p>
                      <a:r>
                        <a:rPr sz="540" b="1">
                          <a:solidFill>
                            <a:srgbClr val="21242A"/>
                          </a:solidFill>
                          <a:latin typeface="Microsoft YaHei"/>
                        </a:rPr>
                        <a:t>高成本药物使用率</a:t>
                      </a:r>
                    </a:p>
                  </a:txBody>
                  <a:tcPr>
                    <a:solidFill>
                      <a:srgbClr val="FFFFFF"/>
                    </a:solidFill>
                  </a:tcPr>
                </a:tc>
                <a:tc>
                  <a:txBody>
                    <a:bodyPr wrap="square" lIns="36576" rIns="36576" tIns="18288" bIns="18288"/>
                    <a:lstStyle/>
                    <a:p>
                      <a:r>
                        <a:rPr sz="540" b="0">
                          <a:solidFill>
                            <a:srgbClr val="21242A"/>
                          </a:solidFill>
                          <a:latin typeface="Microsoft YaHei"/>
                        </a:rPr>
                        <a:t>axi-cel组55%，liso-cel组12%</a:t>
                      </a:r>
                    </a:p>
                  </a:txBody>
                  <a:tcPr>
                    <a:solidFill>
                      <a:srgbClr val="FFFFFF"/>
                    </a:solidFill>
                  </a:tcPr>
                </a:tc>
              </a:tr>
              <a:tr h="214230">
                <a:tc>
                  <a:txBody>
                    <a:bodyPr wrap="square" lIns="36576" rIns="36576" tIns="18288" bIns="18288"/>
                    <a:lstStyle/>
                    <a:p>
                      <a:r>
                        <a:rPr sz="540" b="1">
                          <a:solidFill>
                            <a:srgbClr val="21242A"/>
                          </a:solidFill>
                          <a:latin typeface="Microsoft YaHei"/>
                        </a:rPr>
                        <a:t>直接出院回家比例</a:t>
                      </a:r>
                    </a:p>
                  </a:txBody>
                  <a:tcPr>
                    <a:solidFill>
                      <a:srgbClr val="F6F8FB"/>
                    </a:solidFill>
                  </a:tcPr>
                </a:tc>
                <a:tc>
                  <a:txBody>
                    <a:bodyPr wrap="square" lIns="36576" rIns="36576" tIns="18288" bIns="18288"/>
                    <a:lstStyle/>
                    <a:p>
                      <a:r>
                        <a:rPr sz="540" b="0">
                          <a:solidFill>
                            <a:srgbClr val="21242A"/>
                          </a:solidFill>
                          <a:latin typeface="Microsoft YaHei"/>
                        </a:rPr>
                        <a:t>axi-cel组72%，liso-cel组81%</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epcoritamab在复发/难治性弥漫性大b细胞淋巴瘤（r/r dlbcl）中的应用：来自现实世界epcortama...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epcoritamab in relapsed/refractory diffuse large b-cell lymphoma (r/r dlbcl):...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N=132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中位随访时间5.8个月。</a:t>
            </a:r>
          </a:p>
          <a:p>
            <a:pPr>
              <a:lnSpc>
                <a:spcPct val="103000"/>
              </a:lnSpc>
              <a:spcAft>
                <a:spcPts val="300"/>
              </a:spcAft>
              <a:defRPr sz="800">
                <a:solidFill>
                  <a:srgbClr val="21242A"/>
                </a:solidFill>
                <a:latin typeface="Microsoft YaHei"/>
              </a:defRPr>
            </a:pPr>
            <a:r>
              <a:t>总缓解率（ORR）：所有患者37.9%（50/132），接受≥2周期患者67.1%（49/73），可评估患者54.3%（50/...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人数：132</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epcoritamab在复发/难治性弥漫性大b细胞淋巴瘤（r/r dlbcl）中的应用：来自现实世界epcortama...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epcoritamab in relapsed/refractory diffuse large b-cell lymphoma (r/r dlbcl):...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 Epcoritamab (Epcor) 是一种皮下注射 CD3×CD20 双特异性抗体，被批准用于治疗 R/R DLBCL 和 R/R FL，在 EPCORE NHL-1 试验中证明了疗效和可控的安全性。</a:t>
            </a:r>
          </a:p>
          <a:p>
            <a:pPr>
              <a:lnSpc>
                <a:spcPct val="103000"/>
              </a:lnSpc>
              <a:spcAft>
                <a:spcPts val="300"/>
              </a:spcAft>
              <a:defRPr sz="550">
                <a:solidFill>
                  <a:srgbClr val="21242A"/>
                </a:solidFill>
                <a:latin typeface="Microsoft YaHei"/>
              </a:defRPr>
            </a:pPr>
            <a:r>
              <a:t>R/R DLBCL 是一种侵袭性疾病，患者之间存在异质性，与其他 DLBCL 患者相比，一部分患者 (pts) 可能出现更快的疾病进展和更差的预后。描述接受 Epcor 的患者的特征，并评估其在现实世界中的有效性，可以深入了解其在不同患者类型中的临床表现，并为其在临床实践中的使用提供信息。目的： 描述现实世界中接受 E</a:t>
            </a:r>
          </a:p>
          <a:p>
            <a:pPr>
              <a:lnSpc>
                <a:spcPct val="103000"/>
              </a:lnSpc>
              <a:spcAft>
                <a:spcPts val="300"/>
              </a:spcAft>
              <a:defRPr sz="550">
                <a:solidFill>
                  <a:srgbClr val="21242A"/>
                </a:solidFill>
                <a:latin typeface="Microsoft YaHei"/>
              </a:defRPr>
            </a:pPr>
            <a:r>
              <a:t>pcor 治疗的 R/R DLBCL 患者的特征，并评估临床相关亚组的临床反应。方法：Real-EPCOR 是一项正在进行的、多中心的美国回顾性图表审查研究，研究 Epcor 在学术和社区肿瘤中心的实际使用情况。符合资格的患者是患有 R/R DLBCL 的成人（≥18 岁），并在 2023 年 5 月 19 日或之后在</a:t>
            </a:r>
          </a:p>
          <a:p>
            <a:pPr>
              <a:lnSpc>
                <a:spcPct val="103000"/>
              </a:lnSpc>
              <a:spcAft>
                <a:spcPts val="300"/>
              </a:spcAft>
              <a:defRPr sz="550">
                <a:solidFill>
                  <a:srgbClr val="21242A"/>
                </a:solidFill>
                <a:latin typeface="Microsoft YaHei"/>
              </a:defRPr>
            </a:pPr>
            <a:r>
              <a:t>三线或更高线 (3L+) 中开始 Epcor。结果包括总体缓解率 (ORR) 和完全缓解率 (CRR)。反应基于图表中记录的治疗医生评估（影像和/或临床评估）。</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现实世界中接受 3L+ Epcor 治疗的 R/R DLBCL 患者的特点是与不良预后相关的疾病特征的患病率很高。分与</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结果：该分析包括来自 7 个中心的 132 名 R/R DLBCL 患者。中位年龄为 68.6 岁。先前治疗线 (LOT) 的中位数为 3（四分位数范围：2-4），65.9% 接受过先前的 CAR T。从最后一次 LOT 结束到 Epcor 开始的中位时间为 39 天。</a:t>
            </a:r>
          </a:p>
          <a:p>
            <a:pPr>
              <a:lnSpc>
                <a:spcPct val="103000"/>
              </a:lnSpc>
              <a:spcAft>
                <a:spcPts val="300"/>
              </a:spcAft>
              <a:defRPr sz="560">
                <a:solidFill>
                  <a:srgbClr val="21242A"/>
                </a:solidFill>
                <a:latin typeface="Microsoft YaHei"/>
              </a:defRPr>
            </a:pPr>
            <a:r>
              <a:t>32.0% 的乳酸脱氢酶 (LDH) ≥2 倍正常上限 (ULN)，22.7% 患有双重/三重打击，57.9% 患有原发性难治性疾病，71.8% 对其最后一次 LOT 耐药。 34.1% 的患者在住院期间接受了第一剂 Epcor 剂量。</a:t>
            </a:r>
          </a:p>
          <a:p>
            <a:pPr>
              <a:lnSpc>
                <a:spcPct val="103000"/>
              </a:lnSpc>
              <a:spcAft>
                <a:spcPts val="300"/>
              </a:spcAft>
              <a:defRPr sz="560">
                <a:solidFill>
                  <a:srgbClr val="21242A"/>
                </a:solidFill>
                <a:latin typeface="Microsoft YaHei"/>
              </a:defRPr>
            </a:pPr>
            <a:r>
              <a:t>\n 接受 &gt; 2 个周期的患者 (N=73)，包括从上次 LOT 到 Epcor 启动的描述性更短时间（中位 25 天与 48 天），以及 ECOG PS ≥2 的比例较高（40.7% 对 16.4%）、原发性难治性疾病（64.2% 对 52.9%）、LDH ≥2x ULN（48.3% 对 18.6%）、以</a:t>
            </a:r>
          </a:p>
          <a:p>
            <a:pPr>
              <a:lnSpc>
                <a:spcPct val="103000"/>
              </a:lnSpc>
              <a:spcAft>
                <a:spcPts val="300"/>
              </a:spcAft>
              <a:defRPr sz="560">
                <a:solidFill>
                  <a:srgbClr val="21242A"/>
                </a:solidFill>
                <a:latin typeface="Microsoft YaHei"/>
              </a:defRPr>
            </a:pPr>
            <a:r>
              <a:t>及连击/三连击（30.5% vs 16.4%）。</a:t>
            </a:r>
          </a:p>
          <a:p>
            <a:pPr>
              <a:lnSpc>
                <a:spcPct val="103000"/>
              </a:lnSpc>
              <a:spcAft>
                <a:spcPts val="300"/>
              </a:spcAft>
              <a:defRPr sz="560">
                <a:solidFill>
                  <a:srgbClr val="21242A"/>
                </a:solidFill>
                <a:latin typeface="Microsoft YaHei"/>
              </a:defRPr>
            </a:pPr>
            <a:r>
              <a:t>\n 所有患者的中位随访时间为 5.8 个月。表 1 列出了每个队列的 ORR 和 CRR。 \n 表 1</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tp53突变对大b细胞淋巴瘤cd19嵌合抗原受体t细胞治疗的影响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tp53 mutation on cd19-chimeric antigen receptor t-cell therapy in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N=139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回顾性临床研究结果：impact of tp53 mutation on cd19-chimeric antigen rece...</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TP53突变发生率：55/139（39.6%），包含48个独特突变位点，错义突变占92.7%。</a:t>
            </a:r>
          </a:p>
          <a:p>
            <a:pPr>
              <a:lnSpc>
                <a:spcPct val="103000"/>
              </a:lnSpc>
              <a:spcAft>
                <a:spcPts val="300"/>
              </a:spcAft>
              <a:defRPr sz="800">
                <a:solidFill>
                  <a:srgbClr val="21242A"/>
                </a:solidFill>
                <a:latin typeface="Microsoft YaHei"/>
              </a:defRPr>
            </a:pPr>
            <a:r>
              <a:t>在4-1BB CAR-T产品中，TP53突变患者vs野生型患者的中位PFS为6.3个月 vs 未达到（p=0.024）。</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人数：139</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研究主题：impact of tp53 mutation on cd19-chimeric antigen receptor t-cell therapy in large b-cell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tp53突变对大b细胞淋巴瘤cd19嵌合抗原受体t细胞治疗的影响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tp53 mutation on cd19-chimeric antigen receptor t-cell therapy in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119/187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背景：TP53 突变是大 B 细胞淋巴瘤 (LBCL) 中公认的不良预后因素。然而，它在预测 CD19 嵌合抗原受体 T 细胞 (CAR-T) 治疗反应中的作用仍然存在争议。虽然一些研究表明 TP53 突变会导致 CAR-T 治疗后的预后较差，但其他研究则报告没有显着关联。人们对潜在的机制和潜在的调节因素（例如 CAR</a:t>
            </a:r>
          </a:p>
          <a:p>
            <a:pPr>
              <a:lnSpc>
                <a:spcPct val="103000"/>
              </a:lnSpc>
              <a:spcAft>
                <a:spcPts val="300"/>
              </a:spcAft>
              <a:defRPr sz="550">
                <a:solidFill>
                  <a:srgbClr val="21242A"/>
                </a:solidFill>
                <a:latin typeface="Microsoft YaHei"/>
              </a:defRPr>
            </a:pPr>
            <a:r>
              <a:t> 共刺激域）知之甚少。目的：本研究旨在：(1) 全面表征接受 CD19-CAR-T 治疗的复发/难治性 LBCL (R/R LBCL) 患者的 TP53 突变谱；(2) 评估 TP53 突变对无进展生存期 (PFS) 的独立预后价值； (3) 使用流式细胞术、CyTOF 和单细胞 RNA 测序研究 TP53 突变对 C</a:t>
            </a:r>
          </a:p>
          <a:p>
            <a:pPr>
              <a:lnSpc>
                <a:spcPct val="103000"/>
              </a:lnSpc>
              <a:spcAft>
                <a:spcPts val="300"/>
              </a:spcAft>
              <a:defRPr sz="550">
                <a:solidFill>
                  <a:srgbClr val="21242A"/>
                </a:solidFill>
                <a:latin typeface="Microsoft YaHei"/>
              </a:defRPr>
            </a:pPr>
            <a:r>
              <a:t>AR-T 细胞扩增、毒性、外周血 T 细胞亚群和肿瘤微环境 T 细胞功能的影响。方法：我们回顾性分析了瑞金医院（2018-2024年）接受CD19-CAR-T治疗的139例R/R LBCL患者。通过下一代测序（152 基因组）从肿瘤组织中鉴定出 TP53 突变。注释了突变类型和基因座。通过流式细胞术评估 CAR-T 细</a:t>
            </a:r>
          </a:p>
          <a:p>
            <a:pPr>
              <a:lnSpc>
                <a:spcPct val="103000"/>
              </a:lnSpc>
              <a:spcAft>
                <a:spcPts val="300"/>
              </a:spcAft>
              <a:defRPr sz="550">
                <a:solidFill>
                  <a:srgbClr val="21242A"/>
                </a:solidFill>
                <a:latin typeface="Microsoft YaHei"/>
              </a:defRPr>
            </a:pPr>
            <a:r>
              <a:t>胞扩增 (Cmax)。在白细胞分离术之前通过 CyTOF 分析外周血 T 细胞亚群。</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我们的数据表明，TP53 突变在 R/R LBCL 中很常见，并且与 CAR-T 扩增减少、外周 T 细胞亚群改变（特别是 γδ T 细胞耗竭）以及肿瘤微环境中 T 细胞功能受损有关。尽管有这些影响，TP53 突变并不能独立预测毒性。重要的是，仅在接受 41BB 共刺激 CAR-T 的患者中观察到 TP53 突变对 P</a:t>
            </a:r>
          </a:p>
          <a:p>
            <a:pPr>
              <a:lnSpc>
                <a:spcPct val="103000"/>
              </a:lnSpc>
              <a:spcAft>
                <a:spcPts val="300"/>
              </a:spcAft>
              <a:defRPr sz="570">
                <a:solidFill>
                  <a:srgbClr val="21242A"/>
                </a:solidFill>
                <a:latin typeface="Microsoft YaHei"/>
              </a:defRPr>
            </a:pPr>
            <a:r>
              <a:t>FS 的负面预后影响，而基于 CD28 的产品似乎克服了这种影响。</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TP53突变发生率</a:t>
                      </a:r>
                    </a:p>
                  </a:txBody>
                  <a:tcPr>
                    <a:solidFill>
                      <a:srgbClr val="F6F8FB"/>
                    </a:solidFill>
                  </a:tcPr>
                </a:tc>
                <a:tc>
                  <a:txBody>
                    <a:bodyPr wrap="square" lIns="36576" rIns="36576" tIns="18288" bIns="18288"/>
                    <a:lstStyle/>
                    <a:p>
                      <a:r>
                        <a:rPr sz="540" b="0">
                          <a:solidFill>
                            <a:srgbClr val="21242A"/>
                          </a:solidFill>
                          <a:latin typeface="Microsoft YaHei"/>
                        </a:rPr>
                        <a:t>55/139（39.6%），包含48个独特突变位点，错义突变占92.7%。</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在4-1BB CAR-T产品中，TP53突变患者vs野生型患者的中位PFS为6.3个月 vs 未达到（p=0.024）。</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在CD28 CAR-T产品中，TP53突变与野生型患者的PFS无显著差异。</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TP53野生型患者的CAR-T细胞最大扩增（Cmax）显著高于突变型患者。</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TP53突变患者的γδT细胞在白细胞分离前显著减少。</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弥漫性大b细胞淋巴瘤的真实总体生存率比较：car t细胞疗法与双特异性抗体</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comparative real‑world overall survival in diffuse large b‑cell lymphoma: car...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N=561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多组/多方案比较：试验组1：双特异性抗体组（epcoritamab，glofitamab）</a:t>
            </a:r>
          </a:p>
          <a:p>
            <a:pPr>
              <a:lnSpc>
                <a:spcPct val="103000"/>
              </a:lnSpc>
              <a:spcAft>
                <a:spcPts val="300"/>
              </a:spcAft>
              <a:defRPr sz="800">
                <a:solidFill>
                  <a:srgbClr val="21242A"/>
                </a:solidFill>
                <a:latin typeface="Microsoft YaHei"/>
              </a:defRPr>
            </a:pPr>
            <a:r>
              <a:t>试验组2：CAR T细胞治疗组（tisacel，axicel，lisocel）</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2年总生存率：双特异性抗体组47.5% vs CAR T细胞治疗组67.3%</a:t>
            </a:r>
          </a:p>
          <a:p>
            <a:pPr>
              <a:lnSpc>
                <a:spcPct val="103000"/>
              </a:lnSpc>
              <a:spcAft>
                <a:spcPts val="300"/>
              </a:spcAft>
              <a:defRPr sz="800">
                <a:solidFill>
                  <a:srgbClr val="21242A"/>
                </a:solidFill>
                <a:latin typeface="Microsoft YaHei"/>
              </a:defRPr>
            </a:pPr>
            <a:r>
              <a:t>死亡风险比（RR）：1.468（95%CI 1.116-1.932）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人数：561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试验药/方案：阿基仑赛、格菲妥单抗、艾可瑞妥单抗</a:t>
            </a:r>
          </a:p>
          <a:p>
            <a:pPr>
              <a:lnSpc>
                <a:spcPct val="103000"/>
              </a:lnSpc>
              <a:spcAft>
                <a:spcPts val="300"/>
              </a:spcAft>
              <a:defRPr sz="810">
                <a:solidFill>
                  <a:srgbClr val="21242A"/>
                </a:solidFill>
                <a:latin typeface="Microsoft YaHei"/>
              </a:defRPr>
            </a:pPr>
            <a:r>
              <a:t>靶点：CD19、CD20、CD3</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弥漫性大b细胞淋巴瘤的真实总体生存率比较：car t细胞疗法与双特异性抗体</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comparative real‑world overall survival in diffuse large b‑cell lymphoma: car...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的治疗选择已经扩大，特别是在复发/难治性 (R/R) 病例中，CAR T 细胞疗法和 CD20×CD3 双特异性抗体 (BsAb) 取得了显着进展。虽然试验表明 CAR T 细胞可能更有效并可提高生存率，但这些发现来自受控人群，可能无法反映临床实践。</a:t>
            </a:r>
          </a:p>
          <a:p>
            <a:pPr>
              <a:lnSpc>
                <a:spcPct val="103000"/>
              </a:lnSpc>
              <a:spcAft>
                <a:spcPts val="300"/>
              </a:spcAft>
              <a:defRPr sz="550">
                <a:solidFill>
                  <a:srgbClr val="21242A"/>
                </a:solidFill>
                <a:latin typeface="Microsoft YaHei"/>
              </a:defRPr>
            </a:pPr>
            <a:r>
              <a:t>目的：本研究旨在使用真实世界数据 (RWD) 评估接受 CAR T 细胞或 BsAb 治疗的 DLBCL 患者的总生存期 (OS)。</a:t>
            </a:r>
          </a:p>
          <a:p>
            <a:pPr>
              <a:lnSpc>
                <a:spcPct val="103000"/>
              </a:lnSpc>
              <a:spcAft>
                <a:spcPts val="300"/>
              </a:spcAft>
              <a:defRPr sz="550">
                <a:solidFill>
                  <a:srgbClr val="21242A"/>
                </a:solidFill>
                <a:latin typeface="Microsoft YaHei"/>
              </a:defRPr>
            </a:pPr>
            <a:r>
              <a:t>方法：使用 TriNetX Dataworks Global 数据库于 2026 年 2 月 21 日对 RWD 进行回顾性分析。分析了两个队列：(1) ≤60 岁的 DLBCL 患者，仅接受 BsAb（epcoritamab/glofitamab）治疗；(2) ≤60 岁的 DLBCL 患者，仅接受 CAR T 疗法</a:t>
            </a:r>
          </a:p>
          <a:p>
            <a:pPr>
              <a:lnSpc>
                <a:spcPct val="103000"/>
              </a:lnSpc>
              <a:spcAft>
                <a:spcPts val="300"/>
              </a:spcAft>
              <a:defRPr sz="550">
                <a:solidFill>
                  <a:srgbClr val="21242A"/>
                </a:solidFill>
                <a:latin typeface="Microsoft YaHei"/>
              </a:defRPr>
            </a:pPr>
            <a:r>
              <a:t>（tisacel/axicel/lisocel）治疗。使用两种治疗方案治疗的患者均被排除在分析之外，以控制队列之间的“交叉”和对 OS 的影响。标准化均值差用于确定基线变量之间的分布平衡。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在这项对 60 岁以下 DLBCL 患者的现实分析中，与 CAR T 细胞疗法相比，双特异性抗体治疗与更差的 OS 和更高的死亡风险相关。这些发现在 PSM 前后保持一致，凸显了结果的稳健性。虽然 CAR T 细胞疗法在两年内表现出更好的生存率，但数据的汇总性质限制了详细的临床解释，包括影响结果的疾病和治疗因素。尽管如</a:t>
            </a:r>
          </a:p>
          <a:p>
            <a:pPr>
              <a:lnSpc>
                <a:spcPct val="103000"/>
              </a:lnSpc>
              <a:spcAft>
                <a:spcPts val="300"/>
              </a:spcAft>
              <a:defRPr sz="570">
                <a:solidFill>
                  <a:srgbClr val="21242A"/>
                </a:solidFill>
                <a:latin typeface="Microsoft YaHei"/>
              </a:defRPr>
            </a:pPr>
            <a:r>
              <a:t>此，结果支持对符合资格的年轻 R/R DLBCL 患者使用 CAR T 细胞疗法而不是 BsAb，并强调需要对患者水平数据进行更多研究，以改进比较评估。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结果：共有 561 名 DLBCL 患者入组，其中 123 名接受 BsAb 治疗，438 名接受 CAR T 细胞疗法治疗。指标事件（群组 1 开始 BsAb；群组 2 开始 CAR T 细胞治疗）时的平均年龄为群组 1 的 47.2±9.2 岁和群组 2 的 44.5±11.3 岁（p=0.015）。男性</a:t>
            </a:r>
          </a:p>
          <a:p>
            <a:pPr>
              <a:lnSpc>
                <a:spcPct val="103000"/>
              </a:lnSpc>
              <a:spcAft>
                <a:spcPts val="300"/>
              </a:spcAft>
              <a:defRPr sz="560">
                <a:solidFill>
                  <a:srgbClr val="21242A"/>
                </a:solidFill>
                <a:latin typeface="Microsoft YaHei"/>
              </a:defRPr>
            </a:pPr>
            <a:r>
              <a:t>患者分别占 63% 和 66% (p=0.664)。在指数事件的 2 年随访期内，与队列 2 相比，队列 1 的死亡风险显着较高（RR 1.468，95% CI 1.116-1.932）。队列 1 的两年 OS 概率显着较短，两年时死亡风险较高（指数事件后 2 年生存概率为 47.5% vs.</a:t>
            </a:r>
          </a:p>
          <a:p>
            <a:pPr>
              <a:lnSpc>
                <a:spcPct val="103000"/>
              </a:lnSpc>
              <a:spcAft>
                <a:spcPts val="300"/>
              </a:spcAft>
              <a:defRPr sz="560">
                <a:solidFill>
                  <a:srgbClr val="21242A"/>
                </a:solidFill>
                <a:latin typeface="Microsoft YaHei"/>
              </a:defRPr>
            </a:pPr>
            <a:r>
              <a:t>67.3%，对数秩检验，χ2=20.034，p</a:t>
            </a:r>
          </a:p>
          <a:p>
            <a:pPr>
              <a:lnSpc>
                <a:spcPct val="103000"/>
              </a:lnSpc>
              <a:spcAft>
                <a:spcPts val="300"/>
              </a:spcAft>
              <a:defRPr sz="560">
                <a:solidFill>
                  <a:srgbClr val="21242A"/>
                </a:solidFill>
                <a:latin typeface="Microsoft YaHei"/>
              </a:defRPr>
            </a:pPr>
            <a:r>
              <a:t>结论：在这项针对 ≤60 岁 DLBCL 患者的真实世界分析中，与 CAR T 细胞疗法相比，BsAb 治疗与更差的 OS 和更高的死亡风险相关。这些发现在 PSM 前后保持一致，凸显了结果的稳健性。虽然 CAR T 细胞疗法在两年内表现出更好的生存率，但数据的汇总性质限制了详细的临床解释，包括影响结果的疾病</a:t>
            </a:r>
          </a:p>
          <a:p>
            <a:pPr>
              <a:lnSpc>
                <a:spcPct val="103000"/>
              </a:lnSpc>
              <a:spcAft>
                <a:spcPts val="300"/>
              </a:spcAft>
              <a:defRPr sz="560">
                <a:solidFill>
                  <a:srgbClr val="21242A"/>
                </a:solidFill>
                <a:latin typeface="Microsoft YaHei"/>
              </a:defRPr>
            </a:pPr>
            <a:r>
              <a:t>和治疗因素。尽管如此，结果支持对符合资格的年轻 R/R DLBCL 患者使用 CAR T 细胞疗法而不是 BsAb，并强调需要对患者水平数据进行更多研究，以改进比较评估。</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波兰淋巴瘤研究组（plrg）的倾向评分匹配分析：复发/难治性dlbcl中polatuzumab br与tafasita...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polatuzumab-br vs tafasitamab-lenalidomide in relapsed/refractory dlbcl: a pr...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N=206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苯达莫司汀</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多组/多方案比较：试验组1：polatuzumab vedotin，bendamustine，rituximab（Pola-B...</a:t>
            </a:r>
          </a:p>
          <a:p>
            <a:pPr>
              <a:lnSpc>
                <a:spcPct val="103000"/>
              </a:lnSpc>
              <a:spcAft>
                <a:spcPts val="300"/>
              </a:spcAft>
              <a:defRPr sz="800">
                <a:solidFill>
                  <a:srgbClr val="21242A"/>
                </a:solidFill>
                <a:latin typeface="Microsoft YaHei"/>
              </a:defRPr>
            </a:pPr>
            <a:r>
              <a:t>试验组2：tafasitamab，lenalidomide（Tafa-Len）</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总缓解率（ORR）：Pola-BR组显著高于Tafa-Len组</a:t>
            </a:r>
          </a:p>
          <a:p>
            <a:pPr>
              <a:lnSpc>
                <a:spcPct val="103000"/>
              </a:lnSpc>
              <a:spcAft>
                <a:spcPts val="300"/>
              </a:spcAft>
              <a:defRPr sz="800">
                <a:solidFill>
                  <a:srgbClr val="21242A"/>
                </a:solidFill>
                <a:latin typeface="Microsoft YaHei"/>
              </a:defRPr>
            </a:pPr>
            <a:r>
              <a:t>完全缓解率（CR）：Pola-BR组更高</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人数：206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试验药/方案：维泊妥珠单抗、苯达莫司汀、利妥昔单抗、来那度胺</a:t>
            </a:r>
          </a:p>
          <a:p>
            <a:pPr>
              <a:lnSpc>
                <a:spcPct val="103000"/>
              </a:lnSpc>
              <a:spcAft>
                <a:spcPts val="300"/>
              </a:spcAft>
              <a:defRPr sz="810">
                <a:solidFill>
                  <a:srgbClr val="21242A"/>
                </a:solidFill>
                <a:latin typeface="Microsoft YaHei"/>
              </a:defRPr>
            </a:pPr>
            <a:r>
              <a:t>靶点：CD79B、DNA、CD20、IKZF3</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波兰淋巴瘤研究组（plrg）的倾向评分匹配分析：复发/难治性dlbcl中polatuzumab br与tafasita...</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polatuzumab-br vs tafasitamab-lenalidomide in relapsed/refractory dlbcl: a pr...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背景：这项由波兰淋巴瘤研究小组 (PLRG) 进行的多中心研究比较了复发/难治性弥漫性大 B 细胞淋巴瘤 (R/R DLBCL) 患者的两种挽救方案的真实世界结果：polatuzumab vedotin 联合苯达莫司汀和利妥昔单抗 (Pola-BR) 以及他法西他单抗加来那度胺 (Tafa-Len)。直接比较数据仍然有</a:t>
            </a:r>
          </a:p>
          <a:p>
            <a:pPr>
              <a:lnSpc>
                <a:spcPct val="103000"/>
              </a:lnSpc>
              <a:spcAft>
                <a:spcPts val="300"/>
              </a:spcAft>
              <a:defRPr sz="550">
                <a:solidFill>
                  <a:srgbClr val="21242A"/>
                </a:solidFill>
                <a:latin typeface="Microsoft YaHei"/>
              </a:defRPr>
            </a:pPr>
            <a:r>
              <a:t>限。</a:t>
            </a:r>
          </a:p>
          <a:p>
            <a:pPr>
              <a:lnSpc>
                <a:spcPct val="103000"/>
              </a:lnSpc>
              <a:spcAft>
                <a:spcPts val="300"/>
              </a:spcAft>
              <a:defRPr sz="550">
                <a:solidFill>
                  <a:srgbClr val="21242A"/>
                </a:solidFill>
                <a:latin typeface="Microsoft YaHei"/>
              </a:defRPr>
            </a:pPr>
            <a:r>
              <a:t>目的：在常规临床环境中验证和比较 Pola-BR 和 Tafa-Len 方案在 R/R DLBCL 患者中的真实结果。</a:t>
            </a:r>
          </a:p>
          <a:p>
            <a:pPr>
              <a:lnSpc>
                <a:spcPct val="103000"/>
              </a:lnSpc>
              <a:spcAft>
                <a:spcPts val="300"/>
              </a:spcAft>
              <a:defRPr sz="550">
                <a:solidFill>
                  <a:srgbClr val="21242A"/>
                </a:solidFill>
                <a:latin typeface="Microsoft YaHei"/>
              </a:defRPr>
            </a:pPr>
            <a:r>
              <a:t>方法：在这项回顾性分析中，确定了 206 名在第二线或后续线中接受 Pola-BR (n=152) 或 Tafa-Len (n=54) 治疗的 R/R DLBCL 患者。倾向评分匹配（PSM）基于14个基线临床和疾病相关变量，包括年龄、性别、ECOG表现状态、DLBCL细胞来源亚型、临床分期、诊断时和挽救时的IPI、一</a:t>
            </a:r>
          </a:p>
          <a:p>
            <a:pPr>
              <a:lnSpc>
                <a:spcPct val="103000"/>
              </a:lnSpc>
              <a:spcAft>
                <a:spcPts val="300"/>
              </a:spcAft>
              <a:defRPr sz="550">
                <a:solidFill>
                  <a:srgbClr val="21242A"/>
                </a:solidFill>
                <a:latin typeface="Microsoft YaHei"/>
              </a:defRPr>
            </a:pPr>
            <a:r>
              <a:t>线失败类型（原发难治性疾病与早期复发与晚期复发）、既往治疗线数、对最后一次治疗的难治性、疾病状态、大块疾病和挽救时的B症状。</a:t>
            </a:r>
          </a:p>
          <a:p>
            <a:pPr>
              <a:lnSpc>
                <a:spcPct val="103000"/>
              </a:lnSpc>
              <a:spcAft>
                <a:spcPts val="300"/>
              </a:spcAft>
              <a:defRPr sz="550">
                <a:solidFill>
                  <a:srgbClr val="21242A"/>
                </a:solidFill>
                <a:latin typeface="Microsoft YaHei"/>
              </a:defRPr>
            </a:pPr>
            <a:r>
              <a:t>PSM后，每组36例匹配的患者纳入比较分析。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在对真实 PLRG 数据的 PSM 分析中，Pola-BR 在高风险 R/R DLBCL 中比 Tafa-Len 实现了更高的缓解率和更长的 PFS，而 OS 相当。</a:t>
            </a:r>
          </a:p>
          <a:p>
            <a:pPr>
              <a:lnSpc>
                <a:spcPct val="103000"/>
              </a:lnSpc>
              <a:spcAft>
                <a:spcPts val="300"/>
              </a:spcAft>
              <a:defRPr sz="570">
                <a:solidFill>
                  <a:srgbClr val="21242A"/>
                </a:solidFill>
                <a:latin typeface="Microsoft YaHei"/>
              </a:defRPr>
            </a:pPr>
            <a:r>
              <a:t>Tafa-Len 是为不适合移植的患者开发的，L-MIND 排除了原发性难治性疾病。然而，我们的队列主要由原发性难治性病例组成，这可能并不代表该方案的最佳设置。当时，二线尚无新型 T 细胞参与 (TCE) 疗法。随着 CAR T 细胞疗法和双特异性抗体的普及，TCE 方法应尽早纳入原发性难治性疾病和早期复发的治疗，这与</a:t>
            </a:r>
          </a:p>
          <a:p>
            <a:pPr>
              <a:lnSpc>
                <a:spcPct val="103000"/>
              </a:lnSpc>
              <a:spcAft>
                <a:spcPts val="300"/>
              </a:spcAft>
              <a:defRPr sz="570">
                <a:solidFill>
                  <a:srgbClr val="21242A"/>
                </a:solidFill>
                <a:latin typeface="Microsoft YaHei"/>
              </a:defRPr>
            </a:pPr>
            <a:r>
              <a:t>二线 CAR-T 试验和 STARGLO 研究中显示的益处一致。鉴于 Pola-BR 和 Tafa-Len 有意义的疗效和可管理的安全性，Pola-BR 和 Tafa-Len 在 R/R DLBCL 中的最佳定位需要进一步明确。</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Pola-BR组显著高于Tafa-Len组</a:t>
                      </a:r>
                    </a:p>
                  </a:txBody>
                  <a:tcPr>
                    <a:solidFill>
                      <a:srgbClr val="F6F8FB"/>
                    </a:solidFill>
                  </a:tcPr>
                </a:tc>
              </a:tr>
              <a:tr h="249936">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Pola-BR组更高</a:t>
                      </a:r>
                    </a:p>
                  </a:txBody>
                  <a:tcPr>
                    <a:solidFill>
                      <a:srgbClr val="FFFFFF"/>
                    </a:solidFill>
                  </a:tcPr>
                </a:tc>
              </a:tr>
              <a:tr h="249936">
                <a:tc>
                  <a:txBody>
                    <a:bodyPr wrap="square" lIns="36576" rIns="36576" tIns="18288" bIns="18288"/>
                    <a:lstStyle/>
                    <a:p>
                      <a:r>
                        <a:rPr sz="540" b="1">
                          <a:solidFill>
                            <a:srgbClr val="21242A"/>
                          </a:solidFill>
                          <a:latin typeface="Microsoft YaHei"/>
                        </a:rPr>
                        <a:t>部分缓解率（PR）</a:t>
                      </a:r>
                    </a:p>
                  </a:txBody>
                  <a:tcPr>
                    <a:solidFill>
                      <a:srgbClr val="F6F8FB"/>
                    </a:solidFill>
                  </a:tcPr>
                </a:tc>
                <a:tc>
                  <a:txBody>
                    <a:bodyPr wrap="square" lIns="36576" rIns="36576" tIns="18288" bIns="18288"/>
                    <a:lstStyle/>
                    <a:p>
                      <a:r>
                        <a:rPr sz="540" b="0">
                          <a:solidFill>
                            <a:srgbClr val="21242A"/>
                          </a:solidFill>
                          <a:latin typeface="Microsoft YaHei"/>
                        </a:rPr>
                        <a:t>Pola-BR组更高</a:t>
                      </a:r>
                    </a:p>
                  </a:txBody>
                  <a:tcPr>
                    <a:solidFill>
                      <a:srgbClr val="F6F8FB"/>
                    </a:solidFill>
                  </a:tcPr>
                </a:tc>
              </a:tr>
              <a:tr h="249936">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Pola-BR组优于Tafa-Len组</a:t>
                      </a:r>
                    </a:p>
                  </a:txBody>
                  <a:tcPr>
                    <a:solidFill>
                      <a:srgbClr val="FFFFFF"/>
                    </a:solidFill>
                  </a:tcPr>
                </a:tc>
              </a:tr>
              <a:tr h="249936">
                <a:tc>
                  <a:txBody>
                    <a:bodyPr wrap="square" lIns="36576" rIns="36576" tIns="18288" bIns="18288"/>
                    <a:lstStyle/>
                    <a:p>
                      <a:r>
                        <a:rPr sz="540" b="1">
                          <a:solidFill>
                            <a:srgbClr val="21242A"/>
                          </a:solidFill>
                          <a:latin typeface="Microsoft YaHei"/>
                        </a:rPr>
                        <a:t>1年总生存率（OS）</a:t>
                      </a:r>
                    </a:p>
                  </a:txBody>
                  <a:tcPr>
                    <a:solidFill>
                      <a:srgbClr val="F6F8FB"/>
                    </a:solidFill>
                  </a:tcPr>
                </a:tc>
                <a:tc>
                  <a:txBody>
                    <a:bodyPr wrap="square" lIns="36576" rIns="36576" tIns="18288" bIns="18288"/>
                    <a:lstStyle/>
                    <a:p>
                      <a:r>
                        <a:rPr sz="540" b="0">
                          <a:solidFill>
                            <a:srgbClr val="21242A"/>
                          </a:solidFill>
                          <a:latin typeface="Microsoft YaHei"/>
                        </a:rPr>
                        <a:t>Pola-BR组50% vs Tafa-Len组44%（p=0.20）</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lisocabtagene maraleucel和双特异性在三系或晚期大b细胞淋巴瘤（lbcl）中的有效性、安全性和医...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comparative study of the effectiveness, safety, and health care 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N=273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试验药/方案：Lisocabtagene maraleucel</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多组/多方案比较：试验组1：lisocabtagene maraleucel</a:t>
            </a:r>
          </a:p>
          <a:p>
            <a:pPr>
              <a:lnSpc>
                <a:spcPct val="103000"/>
              </a:lnSpc>
              <a:spcAft>
                <a:spcPts val="300"/>
              </a:spcAft>
              <a:defRPr sz="800">
                <a:solidFill>
                  <a:srgbClr val="21242A"/>
                </a:solidFill>
                <a:latin typeface="Microsoft YaHei"/>
              </a:defRPr>
            </a:pPr>
            <a:r>
              <a:t>试验组2：双特异性抗体（epcoritamab, glofitamab）</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总生存期（OS）：调整后HR 0.62（P=0.023）</a:t>
            </a:r>
          </a:p>
          <a:p>
            <a:pPr>
              <a:lnSpc>
                <a:spcPct val="103000"/>
              </a:lnSpc>
              <a:spcAft>
                <a:spcPts val="300"/>
              </a:spcAft>
              <a:defRPr sz="800">
                <a:solidFill>
                  <a:srgbClr val="21242A"/>
                </a:solidFill>
                <a:latin typeface="Microsoft YaHei"/>
              </a:defRPr>
            </a:pPr>
            <a:r>
              <a:t>liso-cel组中位OS未达到，BsAb组11个月</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人数：273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治疗线数：三线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试验药/方案：Lisocabtagene maraleucel、格菲妥单抗、艾可瑞妥单抗</a:t>
            </a:r>
          </a:p>
          <a:p>
            <a:pPr>
              <a:lnSpc>
                <a:spcPct val="103000"/>
              </a:lnSpc>
              <a:spcAft>
                <a:spcPts val="300"/>
              </a:spcAft>
              <a:defRPr sz="810">
                <a:solidFill>
                  <a:srgbClr val="21242A"/>
                </a:solidFill>
                <a:latin typeface="Microsoft YaHei"/>
              </a:defRPr>
            </a:pPr>
            <a:r>
              <a:t>靶点：CD19、CD20、CD3</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lisocabtagene maraleucel和双特异性在三系或晚期大b细胞淋巴瘤（lbcl）中的有效性、安全性和医...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comparative study of the effectiveness, safety, and health care 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背景：Lisocabtagene maraleucel (liso-cel) 和 CD3×CD20 T 细胞接合双特异性抗体 (BsAb) 是已批准的 LBCL 疗法；在美国 (US)，二线或更高版本使用 liso-cel，三线 (3L) 或更高版本 (3L+) 使用 BsAb。了解它们在现实世界 (RW) 环境中的相</a:t>
            </a:r>
          </a:p>
          <a:p>
            <a:pPr>
              <a:lnSpc>
                <a:spcPct val="103000"/>
              </a:lnSpc>
              <a:spcAft>
                <a:spcPts val="300"/>
              </a:spcAft>
              <a:defRPr sz="550">
                <a:solidFill>
                  <a:srgbClr val="21242A"/>
                </a:solidFill>
                <a:latin typeface="Microsoft YaHei"/>
              </a:defRPr>
            </a:pPr>
            <a:r>
              <a:t>对有效性、安全性和 HCRU 可以为最佳治疗选择提供信息。</a:t>
            </a:r>
          </a:p>
          <a:p>
            <a:pPr>
              <a:lnSpc>
                <a:spcPct val="103000"/>
              </a:lnSpc>
              <a:spcAft>
                <a:spcPts val="300"/>
              </a:spcAft>
              <a:defRPr sz="550">
                <a:solidFill>
                  <a:srgbClr val="21242A"/>
                </a:solidFill>
                <a:latin typeface="Microsoft YaHei"/>
              </a:defRPr>
            </a:pPr>
            <a:r>
              <a:t>目的：比较在 3L+ 环境中使用 liso-cel 或 BsAb 治疗的 R/R LBCL 患者的 RW 有效性、安全性和 HCRU。</a:t>
            </a:r>
          </a:p>
          <a:p>
            <a:pPr>
              <a:lnSpc>
                <a:spcPct val="103000"/>
              </a:lnSpc>
              <a:spcAft>
                <a:spcPts val="300"/>
              </a:spcAft>
              <a:defRPr sz="550">
                <a:solidFill>
                  <a:srgbClr val="21242A"/>
                </a:solidFill>
                <a:latin typeface="Microsoft YaHei"/>
              </a:defRPr>
            </a:pPr>
            <a:r>
              <a:t>方法：从美国 Flatiron 健康研究数据库中识别出在 3L+ 环境（2022 年 4 月至 2025 年 5 月）中新接受 liso-cel 或 BsAb（epcoritamab、glofitamab）治疗的 LBCL 患者，该数据库从常规临床环境收集纵向电子健康记录。使用治疗权重逆概率 (IPTW) 调整基线差异</a:t>
            </a:r>
          </a:p>
          <a:p>
            <a:pPr>
              <a:lnSpc>
                <a:spcPct val="103000"/>
              </a:lnSpc>
              <a:spcAft>
                <a:spcPts val="300"/>
              </a:spcAft>
              <a:defRPr sz="550">
                <a:solidFill>
                  <a:srgbClr val="21242A"/>
                </a:solidFill>
                <a:latin typeface="Microsoft YaHei"/>
              </a:defRPr>
            </a:pPr>
            <a:r>
              <a:t>以评估疗效、安全性和 HCRU。在仅接受 3L 治疗的患者中进行了敏感性分析。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在本次回顾性 RW 分析中，作为 LBCL 的 3L+ 疗法，与 BsAb 相比，liso-cel 表现出显着更好的疗效以及相似的 HCRU 和安全性；需要进一步的数据来比较早期疗法中的这些治疗方法。表 1.</a:t>
            </a:r>
          </a:p>
          <a:p>
            <a:pPr>
              <a:lnSpc>
                <a:spcPct val="103000"/>
              </a:lnSpc>
              <a:spcAft>
                <a:spcPts val="300"/>
              </a:spcAft>
              <a:defRPr sz="570">
                <a:solidFill>
                  <a:srgbClr val="21242A"/>
                </a:solidFill>
                <a:latin typeface="Microsoft YaHei"/>
              </a:defRPr>
            </a:pPr>
            <a:r>
              <a:t>疗效结果 \n \n \n \n 结果 \n Liso-cel (n=161) \n BsAb (n=112) \n P 值 \n \n \n OS，(95% CI) \n \n \n 未经调整的中位数，mo \n NE (20–NE) \n 11 (8–NE) \n \n \n \n 未经调整的 HR \n 0.50</a:t>
            </a:r>
          </a:p>
          <a:p>
            <a:pPr>
              <a:lnSpc>
                <a:spcPct val="103000"/>
              </a:lnSpc>
              <a:spcAft>
                <a:spcPts val="300"/>
              </a:spcAft>
              <a:defRPr sz="570">
                <a:solidFill>
                  <a:srgbClr val="21242A"/>
                </a:solidFill>
                <a:latin typeface="Microsoft YaHei"/>
              </a:defRPr>
            </a:pPr>
            <a:r>
              <a:t> (0.33–0.75) \n \n \n \n 调整后的 HR a \n n=154 \n n=105 \n 0.023 \n \n \n 0.62 (0.41–0.94) \n \n \n PFS，(95% CI) \n \n \n 未调整中位数，月 \n 12 (10–22) \n 5 (3–7) \n \n \</a:t>
            </a:r>
          </a:p>
          <a:p>
            <a:pPr>
              <a:lnSpc>
                <a:spcPct val="103000"/>
              </a:lnSpc>
              <a:spcAft>
                <a:spcPts val="300"/>
              </a:spcAft>
              <a:defRPr sz="570">
                <a:solidFill>
                  <a:srgbClr val="21242A"/>
                </a:solidFill>
                <a:latin typeface="Microsoft YaHei"/>
              </a:defRPr>
            </a:pPr>
            <a:r>
              <a:t>n \n 未调整 HR \n 0.48 (0.34–0.67) \n \n \n \n 调整 HR a \n（完整内容见HTML/EHA原文）</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结果：总共纳入 273 名患者，其中 161 名接受 liso-cel，112 名接受 BsAb（中位 [IQR] 指数年龄，72 岁 [62–77] vs 75 岁 [65–81]；DLBCL，未另有说明，87% vs 76%；高级别 B 细胞淋巴瘤，2% vs 8%；LDH 升高，28% vs 54%；大</a:t>
            </a:r>
          </a:p>
          <a:p>
            <a:pPr>
              <a:lnSpc>
                <a:spcPct val="103000"/>
              </a:lnSpc>
              <a:spcAft>
                <a:spcPts val="300"/>
              </a:spcAft>
              <a:defRPr sz="560">
                <a:solidFill>
                  <a:srgbClr val="21242A"/>
                </a:solidFill>
                <a:latin typeface="Microsoft YaHei"/>
              </a:defRPr>
            </a:pPr>
            <a:r>
              <a:t>体积疾病，66% vs 66%；3L，70% vs 54%；中位随访时间为 12.4 个月 vs 9.1 个月）。在未经调整和调整的分析中，liso-cel 与 OS（调整后 HR，0.62；P = 0.023）、PFS（调整后 HR，0.53；P P = 0.004）和 CRR（61% vs 28%；P 表</a:t>
            </a:r>
          </a:p>
          <a:p>
            <a:pPr>
              <a:lnSpc>
                <a:spcPct val="103000"/>
              </a:lnSpc>
              <a:spcAft>
                <a:spcPts val="300"/>
              </a:spcAft>
              <a:defRPr sz="560">
                <a:solidFill>
                  <a:srgbClr val="21242A"/>
                </a:solidFill>
                <a:latin typeface="Microsoft YaHei"/>
              </a:defRPr>
            </a:pPr>
            <a:r>
              <a:t> 1）的统计显着改善相关。</a:t>
            </a:r>
          </a:p>
          <a:p>
            <a:pPr>
              <a:lnSpc>
                <a:spcPct val="103000"/>
              </a:lnSpc>
              <a:spcAft>
                <a:spcPts val="300"/>
              </a:spcAft>
              <a:defRPr sz="560">
                <a:solidFill>
                  <a:srgbClr val="21242A"/>
                </a:solidFill>
                <a:latin typeface="Microsoft YaHei"/>
              </a:defRPr>
            </a:pPr>
            <a:r>
              <a:t>\n 在仅使用 3L 的患者（liso-cel，n=113；BsAb，n=60）的敏感性分析中，liso-cel 对 OS 具有统计学显着性益处（HR，0.35；与 BsAb 相比，P P 具有更高的 ORR（83% vs 64%）和 CRR（65% vs 27%）。</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ciloleucel与非ar-t方法在大b细胞淋巴瘤患者二线治疗中的实际结果：一项西班牙多中...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outcomes of axicabtagene ciloleucel versus non-car-t approaches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N=841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对照/比较：试验组：axicabtagene ciloleucel</a:t>
            </a:r>
          </a:p>
          <a:p>
            <a:pPr>
              <a:lnSpc>
                <a:spcPct val="103000"/>
              </a:lnSpc>
              <a:spcAft>
                <a:spcPts val="300"/>
              </a:spcAft>
              <a:defRPr sz="800">
                <a:solidFill>
                  <a:srgbClr val="21242A"/>
                </a:solidFill>
                <a:latin typeface="Microsoft YaHei"/>
              </a:defRPr>
            </a:pPr>
            <a:r>
              <a:t>对照组1：化疗免疫治疗（适合移植）</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12个月OS率：66.3% (95% CI 59.0-74.4) || 中位PFS：12.7个月 (95% CI 10.4-N...</a:t>
            </a:r>
          </a:p>
          <a:p>
            <a:pPr>
              <a:lnSpc>
                <a:spcPct val="103000"/>
              </a:lnSpc>
              <a:spcAft>
                <a:spcPts val="300"/>
              </a:spcAft>
              <a:defRPr sz="800">
                <a:solidFill>
                  <a:srgbClr val="21242A"/>
                </a:solidFill>
                <a:latin typeface="Microsoft YaHei"/>
              </a:defRPr>
            </a:pPr>
            <a:r>
              <a:t>3-4级：4%） || 免疫效应细胞相关神经毒性综合征发生率：47%（2-4级：26%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人数：841</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ciloleucel与非ar-t方法在大b细胞淋巴瘤患者二线治疗中的实际结果：一项西班牙多中...</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outcomes of axicabtagene ciloleucel versus non-car-t approaches in...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背景：临床试验已证明抗 CD19 CAR T 细胞疗法作为难治性或早期复发性大 B 细胞淋巴瘤 (LBCL) 患者的二线 (2L) 治疗优于标准化学免疫疗法 (CIT)。然而，现实世界（RW）的比较数据仍然有限，特别是根据移植资格。</a:t>
            </a:r>
          </a:p>
          <a:p>
            <a:pPr>
              <a:lnSpc>
                <a:spcPct val="103000"/>
              </a:lnSpc>
              <a:spcAft>
                <a:spcPts val="300"/>
              </a:spcAft>
              <a:defRPr sz="550">
                <a:solidFill>
                  <a:srgbClr val="21242A"/>
                </a:solidFill>
                <a:latin typeface="Microsoft YaHei"/>
              </a:defRPr>
            </a:pPr>
            <a:r>
              <a:t>目的：我们旨在描述 axicabtagene ciloleucel (axi-cel) 作为 2L 治疗西班牙 LBCL 的 RW 结果，并比较这些患者与接受 2L CIT 治疗的 RW 队列（非 CAR-T）之间的无进展生存期 (PFS) 和总生存期 (OS)，并按移植资格进行分层。</a:t>
            </a:r>
          </a:p>
          <a:p>
            <a:pPr>
              <a:lnSpc>
                <a:spcPct val="103000"/>
              </a:lnSpc>
              <a:spcAft>
                <a:spcPts val="300"/>
              </a:spcAft>
              <a:defRPr sz="550">
                <a:solidFill>
                  <a:srgbClr val="21242A"/>
                </a:solidFill>
                <a:latin typeface="Microsoft YaHei"/>
              </a:defRPr>
            </a:pPr>
            <a:r>
              <a:t>方法：我们进行了一项回顾性、多中心、RW 研究，研究对象包括在西班牙接受 2L 治疗的 LBCL 患者。</a:t>
            </a:r>
          </a:p>
          <a:p>
            <a:pPr>
              <a:lnSpc>
                <a:spcPct val="103000"/>
              </a:lnSpc>
              <a:spcAft>
                <a:spcPts val="300"/>
              </a:spcAft>
              <a:defRPr sz="550">
                <a:solidFill>
                  <a:srgbClr val="21242A"/>
                </a:solidFill>
                <a:latin typeface="Microsoft YaHei"/>
              </a:defRPr>
            </a:pPr>
            <a:r>
              <a:t>CAR-T队列包括接受axi-cel治疗的患者（03/2024至12/2025），而非CAR-T队列包括来自大型回顾性GELTAMO数据集（01/2013至12/2023）的CIT治疗患者，包括符合移植资格（T-E）和不符合移植资格（T-I）的患者。应用倾向评分匹配来平衡队列之间的基线临床特征（性别、年龄、不应性、组织</a:t>
            </a:r>
          </a:p>
          <a:p>
            <a:pPr>
              <a:lnSpc>
                <a:spcPct val="103000"/>
              </a:lnSpc>
              <a:spcAft>
                <a:spcPts val="300"/>
              </a:spcAft>
              <a:defRPr sz="550">
                <a:solidFill>
                  <a:srgbClr val="21242A"/>
                </a:solidFill>
                <a:latin typeface="Microsoft YaHei"/>
              </a:defRPr>
            </a:pPr>
            <a:r>
              <a:t>学、IPI 和分期）。</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在这个大型 RW 西班牙队列中，axi-cel 2L 显示出高反应率、良好的生存率和可控的安全性。调整后，在 T-E 和 T-I 患者中，axi-cel 比 CIT 提供了具有临床意义的 PFS 优势。</a:t>
            </a:r>
          </a:p>
          <a:p>
            <a:pPr>
              <a:lnSpc>
                <a:spcPct val="103000"/>
              </a:lnSpc>
              <a:spcAft>
                <a:spcPts val="300"/>
              </a:spcAft>
              <a:defRPr sz="570">
                <a:solidFill>
                  <a:srgbClr val="21242A"/>
                </a:solidFill>
                <a:latin typeface="Microsoft YaHei"/>
              </a:defRPr>
            </a:pPr>
            <a:r>
              <a:t>T-I 中观察到 OS 获益，而 T-E 中的 OS 获益可能因随后在 ≥3L 中使用 CAR-T 而减轻。这些发现支持 CAR-T 在常规实践中作为 LBCL 的有效 2L 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374904">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374904">
                <a:tc>
                  <a:txBody>
                    <a:bodyPr wrap="square" lIns="36576" rIns="36576" tIns="18288" bIns="18288"/>
                    <a:lstStyle/>
                    <a:p>
                      <a:r>
                        <a:rPr sz="540" b="1">
                          <a:solidFill>
                            <a:srgbClr val="21242A"/>
                          </a:solidFill>
                          <a:latin typeface="Microsoft YaHei"/>
                        </a:rPr>
                        <a:t>12个月OS率</a:t>
                      </a:r>
                    </a:p>
                  </a:txBody>
                  <a:tcPr>
                    <a:solidFill>
                      <a:srgbClr val="F6F8FB"/>
                    </a:solidFill>
                  </a:tcPr>
                </a:tc>
                <a:tc>
                  <a:txBody>
                    <a:bodyPr wrap="square" lIns="36576" rIns="36576" tIns="18288" bIns="18288"/>
                    <a:lstStyle/>
                    <a:p>
                      <a:r>
                        <a:rPr sz="540" b="0">
                          <a:solidFill>
                            <a:srgbClr val="21242A"/>
                          </a:solidFill>
                          <a:latin typeface="Microsoft YaHei"/>
                        </a:rPr>
                        <a:t>66.3% (95% CI 59.0-74.4) || 中位PFS：12.7个月 (95% CI 10.4-NR) || 12个月PFS率：53.8% (95% CI 47.0-61.7) || 总体缓解率：81.3% || 完全缓解率：...</a:t>
                      </a:r>
                    </a:p>
                  </a:txBody>
                  <a:tcPr>
                    <a:solidFill>
                      <a:srgbClr val="F6F8FB"/>
                    </a:solidFill>
                  </a:tcPr>
                </a:tc>
              </a:tr>
              <a:tr h="374904">
                <a:tc>
                  <a:txBody>
                    <a:bodyPr wrap="square" lIns="36576" rIns="36576" tIns="18288" bIns="18288"/>
                    <a:lstStyle/>
                    <a:p>
                      <a:r>
                        <a:rPr sz="540" b="1">
                          <a:solidFill>
                            <a:srgbClr val="21242A"/>
                          </a:solidFill>
                          <a:latin typeface="Microsoft YaHei"/>
                        </a:rPr>
                        <a:t>3-4级</a:t>
                      </a:r>
                    </a:p>
                  </a:txBody>
                  <a:tcPr>
                    <a:solidFill>
                      <a:srgbClr val="FFFFFF"/>
                    </a:solidFill>
                  </a:tcPr>
                </a:tc>
                <a:tc>
                  <a:txBody>
                    <a:bodyPr wrap="square" lIns="36576" rIns="36576" tIns="18288" bIns="18288"/>
                    <a:lstStyle/>
                    <a:p>
                      <a:r>
                        <a:rPr sz="540" b="0">
                          <a:solidFill>
                            <a:srgbClr val="21242A"/>
                          </a:solidFill>
                          <a:latin typeface="Microsoft YaHei"/>
                        </a:rPr>
                        <a:t>4%） || 免疫效应细胞相关神经毒性综合征发生率：47%（2-4级：26%</a:t>
                      </a:r>
                    </a:p>
                  </a:txBody>
                  <a:tcPr>
                    <a:solidFill>
                      <a:srgbClr val="FFFFFF"/>
                    </a:solidFill>
                  </a:tcPr>
                </a:tc>
              </a:tr>
              <a:tr h="374904">
                <a:tc>
                  <a:txBody>
                    <a:bodyPr wrap="square" lIns="36576" rIns="36576" tIns="18288" bIns="18288"/>
                    <a:lstStyle/>
                    <a:p>
                      <a:r>
                        <a:rPr sz="540" b="1">
                          <a:solidFill>
                            <a:srgbClr val="21242A"/>
                          </a:solidFill>
                          <a:latin typeface="Microsoft YaHei"/>
                        </a:rPr>
                        <a:t>3-4级</a:t>
                      </a:r>
                    </a:p>
                  </a:txBody>
                  <a:tcPr>
                    <a:solidFill>
                      <a:srgbClr val="F6F8FB"/>
                    </a:solidFill>
                  </a:tcPr>
                </a:tc>
                <a:tc>
                  <a:txBody>
                    <a:bodyPr wrap="square" lIns="36576" rIns="36576" tIns="18288" bIns="18288"/>
                    <a:lstStyle/>
                    <a:p>
                      <a:r>
                        <a:rPr sz="540" b="0">
                          <a:solidFill>
                            <a:srgbClr val="21242A"/>
                          </a:solidFill>
                          <a:latin typeface="Microsoft YaHei"/>
                        </a:rPr>
                        <a:t>12.5%） || 移植适合患者中位PFS：axi-cel组未达到 vs CIT组4.60个月 (HR 2.06) || 移植不适合患者中位PFS：axi-cel组未达到 vs CIT组2.50个月 (HR 2.84)</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相同的人工智能，不同的医生：专业知识决定对淋巴瘤治疗建议的反应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same ai, different doctors: expertise determines response to treatment recomm...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PF1431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研究设计描述：same ai, different doctors: expertise determines respons...</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LLM可接受性：83% (95% CI: 74.5-89.1%)</a:t>
            </a:r>
          </a:p>
          <a:p>
            <a:pPr>
              <a:lnSpc>
                <a:spcPct val="103000"/>
              </a:lnSpc>
              <a:spcAft>
                <a:spcPts val="300"/>
              </a:spcAft>
              <a:defRPr sz="800">
                <a:solidFill>
                  <a:srgbClr val="21242A"/>
                </a:solidFill>
                <a:latin typeface="Microsoft YaHei"/>
              </a:defRPr>
            </a:pPr>
            <a:r>
              <a:t>LS拒绝而GH接受的建议：8个（16%），GH拒绝而LS接受的建议：1个（2%）（McNemar p=0.039）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研究类型：研究设计描述</a:t>
            </a:r>
          </a:p>
          <a:p>
            <a:pPr>
              <a:lnSpc>
                <a:spcPct val="103000"/>
              </a:lnSpc>
              <a:spcAft>
                <a:spcPts val="300"/>
              </a:spcAft>
              <a:defRPr sz="810">
                <a:solidFill>
                  <a:srgbClr val="21242A"/>
                </a:solidFill>
                <a:latin typeface="Microsoft YaHei"/>
              </a:defRPr>
            </a:pPr>
            <a:r>
              <a:t>人数：50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研究主题：same ai, different doctors: expertise determines response to treatment recommendations in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相同的人工智能，不同的医生：专业知识决定对淋巴瘤治疗建议的反应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same ai, different doctors: expertise determines response to treatment recomm...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PF1431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背景：复发/难治性 DLBCL 的治疗涉及快速发展的疗法（CAR-T、双特异性抗体、ADC），但通常缺乏比较证据。法学硕士作为决策支持工具被探索，但其临床可接受性和对具有不同专业知识的医生的影响仍然不明确。虽然法学硕士在医学基准上取得了高分，但他们对临床部署的准备情况仍然不确定。</a:t>
            </a:r>
          </a:p>
          <a:p>
            <a:pPr>
              <a:lnSpc>
                <a:spcPct val="103000"/>
              </a:lnSpc>
              <a:spcAft>
                <a:spcPts val="300"/>
              </a:spcAft>
              <a:defRPr sz="550">
                <a:solidFill>
                  <a:srgbClr val="21242A"/>
                </a:solidFill>
                <a:latin typeface="Microsoft YaHei"/>
              </a:defRPr>
            </a:pPr>
            <a:r>
              <a:t>目的：评估法学硕士生成的 R/R DLBCL 治疗建议的临床可接受性，评估其对血液科医生决策的影响，并描述不可接受建议的模式。</a:t>
            </a:r>
          </a:p>
          <a:p>
            <a:pPr>
              <a:lnSpc>
                <a:spcPct val="103000"/>
              </a:lnSpc>
              <a:spcAft>
                <a:spcPts val="300"/>
              </a:spcAft>
              <a:defRPr sz="550">
                <a:solidFill>
                  <a:srgbClr val="21242A"/>
                </a:solidFill>
                <a:latin typeface="Microsoft YaHei"/>
              </a:defRPr>
            </a:pPr>
            <a:r>
              <a:t>方法：我们开发了“Ariadne”，这是一种 RAG 增强的法学硕士，具有精心策划的 R/R DLBCL 治疗数据库和指南。配对的淋巴瘤专科医师 (LS) 和普通血液学家 (GH) 对 50 个经过验证的病例进行了评估（100 项评估）。专家们提供了治疗建议，审查了法学硕士的输出，并评估了可接受性。收集拒绝原因。分析使</a:t>
            </a:r>
          </a:p>
          <a:p>
            <a:pPr>
              <a:lnSpc>
                <a:spcPct val="103000"/>
              </a:lnSpc>
              <a:spcAft>
                <a:spcPts val="300"/>
              </a:spcAft>
              <a:defRPr sz="550">
                <a:solidFill>
                  <a:srgbClr val="21242A"/>
                </a:solidFill>
                <a:latin typeface="Microsoft YaHei"/>
              </a:defRPr>
            </a:pPr>
            <a:r>
              <a:t>用具有集群稳健标准误的 GEE。</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RAG 增强型法学硕士在 R/R DLBCL 建议中达到了 83% 的可接受性，与其在健康基准上的表现相当。然而，重要的限制对临床部署准备提出了挑战。</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结果：法学硕士的可接受度为 83%（95% CI：74.5-89.1%）。一致性分析揭示了不对称性：LS 拒绝了 GH 接受的 8 项建议 (16%)，而 GH 接受了 1 项建议 (2%)（McNemar p=0.039）。行为影响显着不同：GH 修改建议的程度显着高于 LS（32% vs 6%，p=0.0</a:t>
            </a:r>
          </a:p>
          <a:p>
            <a:pPr>
              <a:lnSpc>
                <a:spcPct val="103000"/>
              </a:lnSpc>
              <a:spcAft>
                <a:spcPts val="300"/>
              </a:spcAft>
              <a:defRPr sz="560">
                <a:solidFill>
                  <a:srgbClr val="21242A"/>
                </a:solidFill>
                <a:latin typeface="Microsoft YaHei"/>
              </a:defRPr>
            </a:pPr>
            <a:r>
              <a:t>02），差异为 5 倍。</a:t>
            </a:r>
          </a:p>
          <a:p>
            <a:pPr>
              <a:lnSpc>
                <a:spcPct val="103000"/>
              </a:lnSpc>
              <a:spcAft>
                <a:spcPts val="300"/>
              </a:spcAft>
              <a:defRPr sz="560">
                <a:solidFill>
                  <a:srgbClr val="21242A"/>
                </a:solidFill>
                <a:latin typeface="Microsoft YaHei"/>
              </a:defRPr>
            </a:pPr>
            <a:r>
              <a:t>结论：RAG 增强型法学硕士在 R/R DLBCL 建议中达到了 83% 的可接受性，与其在健康基准上的表现相当。然而，重要的限制对临床部署准备提出了挑战。</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摘要号：PF1431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根据英国社会经济剥夺、距离和种族，大b细胞淋巴瘤患者使用2号线axicabtagene ciloleucel的途径和结果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access and outcomes for 2nd line axicabtagene ciloleucel in patients with lar...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PF1408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N=204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患者分布：低剥夺组58人（28.9%），中剥夺组102人（50.7%），高剥夺组41人（20.4%）。</a:t>
            </a:r>
          </a:p>
          <a:p>
            <a:pPr>
              <a:lnSpc>
                <a:spcPct val="103000"/>
              </a:lnSpc>
              <a:spcAft>
                <a:spcPts val="300"/>
              </a:spcAft>
              <a:defRPr sz="800">
                <a:solidFill>
                  <a:srgbClr val="21242A"/>
                </a:solidFill>
                <a:latin typeface="Microsoft YaHei"/>
              </a:defRPr>
            </a:pPr>
            <a:r>
              <a:t>种族分布：白人166人（89.2%），亚裔15人（8.1%），黑人5人（2.7%），18人未知。</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人数：204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根据英国社会经济剥夺、距离和种族，大b细胞淋巴瘤患者使用2号线axicabtagene ciloleucel的途径和结果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access and outcomes for 2nd line axicabtagene ciloleucel in patients with lar...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PF1408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背景：我们之前发现，2019-2022 年在英国三个国家医疗服务 (NHS) CAR-T 中心接受三线 (3L) CD19 CAR-T 治疗的大 B 细胞淋巴瘤 (LBCL) 患者中，25% 的患者出行距离超过 100 公里；由于输注前退出率和 COVID-19 死亡率较高，最贫困的患者生存率较差（Dragoi 等人，</a:t>
            </a:r>
          </a:p>
          <a:p>
            <a:pPr>
              <a:lnSpc>
                <a:spcPct val="103000"/>
              </a:lnSpc>
              <a:spcAft>
                <a:spcPts val="300"/>
              </a:spcAft>
              <a:defRPr sz="550">
                <a:solidFill>
                  <a:srgbClr val="21242A"/>
                </a:solidFill>
                <a:latin typeface="Microsoft YaHei"/>
              </a:defRPr>
            </a:pPr>
            <a:r>
              <a:t>BJHaem，2025）。</a:t>
            </a:r>
          </a:p>
          <a:p>
            <a:pPr>
              <a:lnSpc>
                <a:spcPct val="103000"/>
              </a:lnSpc>
              <a:spcAft>
                <a:spcPts val="300"/>
              </a:spcAft>
              <a:defRPr sz="550">
                <a:solidFill>
                  <a:srgbClr val="21242A"/>
                </a:solidFill>
                <a:latin typeface="Microsoft YaHei"/>
              </a:defRPr>
            </a:pPr>
            <a:r>
              <a:t>目的：我们旨在评估距 CAR-T 中心的距离、社会经济剥夺和种族对英国 2L CAR-T 后 LBCL 结局的影响。 \n\n</a:t>
            </a:r>
          </a:p>
          <a:p>
            <a:pPr>
              <a:lnSpc>
                <a:spcPct val="103000"/>
              </a:lnSpc>
              <a:spcAft>
                <a:spcPts val="300"/>
              </a:spcAft>
              <a:defRPr sz="550">
                <a:solidFill>
                  <a:srgbClr val="21242A"/>
                </a:solidFill>
                <a:latin typeface="Microsoft YaHei"/>
              </a:defRPr>
            </a:pPr>
            <a:r>
              <a:t>方法：我们在 2023 年 5 月至 2024 年 11 月期间在英国八个 CAR-T 中心批准接受 2L axicabtagene ciloleucel 的 204 名患者中分析了这些因素，中位随访时间为 16.4 个月（IQR 12.0-20.1）。关于剥夺的邮政编码级数据是使用 2019 年英语“多重剥夺指数”(</a:t>
            </a:r>
          </a:p>
          <a:p>
            <a:pPr>
              <a:lnSpc>
                <a:spcPct val="103000"/>
              </a:lnSpc>
              <a:spcAft>
                <a:spcPts val="300"/>
              </a:spcAft>
              <a:defRPr sz="550">
                <a:solidFill>
                  <a:srgbClr val="21242A"/>
                </a:solidFill>
                <a:latin typeface="Microsoft YaHei"/>
              </a:defRPr>
            </a:pPr>
            <a:r>
              <a:t>IMD) 得出的，患者按高剥夺 (IMD 1-3)、中剥夺 (IMD 4-7) 和低剥夺 (IMD 8-10) 进行分组。</a:t>
            </a:r>
          </a:p>
          <a:p>
            <a:pPr>
              <a:lnSpc>
                <a:spcPct val="103000"/>
              </a:lnSpc>
              <a:spcAft>
                <a:spcPts val="300"/>
              </a:spcAft>
              <a:defRPr sz="550">
                <a:solidFill>
                  <a:srgbClr val="21242A"/>
                </a:solidFill>
                <a:latin typeface="Microsoft YaHei"/>
              </a:defRPr>
            </a:pPr>
            <a:r>
              <a:t>\n</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我们的数据表明，在不同的英国队列中，无论社会经济贫困、种族或距中心的距离如何，接受 2L axi-cel 治疗的患者都有相似的结果，与 3L 的结果形成鲜明对比。将 CAR-T 转移到更早的治疗线、更积极主动的桥接策略以及 COVID-19 大流行的下降可能有助于减轻更多贫困患者感受到的竞争风险；尽管剥夺、种族和距离可</a:t>
            </a:r>
          </a:p>
          <a:p>
            <a:pPr>
              <a:lnSpc>
                <a:spcPct val="103000"/>
              </a:lnSpc>
              <a:spcAft>
                <a:spcPts val="300"/>
              </a:spcAft>
              <a:defRPr sz="570">
                <a:solidFill>
                  <a:srgbClr val="21242A"/>
                </a:solidFill>
                <a:latin typeface="Microsoft YaHei"/>
              </a:defRPr>
            </a:pPr>
            <a:r>
              <a:t>能会以此处未涵盖的方式影响患者的体验和结果。此外，这些因素对 CAR-T 转诊率的影响尚未得到检验，需要单独分析。我们看到旅行超过 100 公里的患者减少了——归因于英国 CAR-T 中心数量的增加——但对于那些仍然面临这一障碍的人来说，结果是相同的，这强调他们仍然应该获得 CAR-T 和必要的旅行支持。</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结果：按剥夺程度分布为：58 名低（28.9%）、102 名中（50.7%）和 41 名高（20.4%）。按种族分布为：166 名白人（89.2%）、15 名亚裔（8.1%）、5 名黑人（2.7%）（18 名未知）。来自较贫困地区的少数民族患者比例呈增加趋势（低 7.3%，中 10.6%，高 17.5%，p=</a:t>
            </a:r>
          </a:p>
          <a:p>
            <a:pPr>
              <a:lnSpc>
                <a:spcPct val="103000"/>
              </a:lnSpc>
              <a:spcAft>
                <a:spcPts val="300"/>
              </a:spcAft>
              <a:defRPr sz="560">
                <a:solidFill>
                  <a:srgbClr val="21242A"/>
                </a:solidFill>
                <a:latin typeface="Microsoft YaHei"/>
              </a:defRPr>
            </a:pPr>
            <a:r>
              <a:t>0.14）。来自最贫困地区的患者接受 CAR-T 治疗的次数较少（根据 IMD 计算的中位距离：低 42.6 公里，中 43.1 公里，高 29.6 公里，p=0.026），这可能反映了大多数中心位于市中心。</a:t>
            </a:r>
          </a:p>
          <a:p>
            <a:pPr>
              <a:lnSpc>
                <a:spcPct val="103000"/>
              </a:lnSpc>
              <a:spcAft>
                <a:spcPts val="300"/>
              </a:spcAft>
              <a:defRPr sz="560">
                <a:solidFill>
                  <a:srgbClr val="21242A"/>
                </a:solidFill>
                <a:latin typeface="Microsoft YaHei"/>
              </a:defRPr>
            </a:pPr>
            <a:r>
              <a:t>8% 的患者出行距离超过 100 公里。 \n 根据剥夺情况，基线特征（包括年龄、阶段、LDH、体积、IPI）没有显着差异。 94.7% 的患者接受了桥接治疗，剥夺治疗没有显着差异。重要的是，静脉间时间或因剥夺而导致的退出率没有差异（整个队列的输注率为 92.0%）。</a:t>
            </a:r>
          </a:p>
          <a:p>
            <a:pPr>
              <a:lnSpc>
                <a:spcPct val="103000"/>
              </a:lnSpc>
              <a:spcAft>
                <a:spcPts val="300"/>
              </a:spcAft>
              <a:defRPr sz="560">
                <a:solidFill>
                  <a:srgbClr val="21242A"/>
                </a:solidFill>
                <a:latin typeface="Microsoft YaHei"/>
              </a:defRPr>
            </a:pPr>
            <a:r>
              <a:t>\n 在低剥夺组中，存在对桥接反应优异的趋势（IMD 总体反应率：低 68.0%、中 43.1%、高 44.1%，p=0.099），以及更多 3 级以上 CRS 事件（IMD 百分比：低 9.4%、中 3.2%、高 0%，p=0.024）；但 3 级以上 ICANS、托珠单抗/类固醇使用或 ICU 入住方面没</a:t>
            </a:r>
          </a:p>
          <a:p>
            <a:pPr>
              <a:lnSpc>
                <a:spcPct val="103000"/>
              </a:lnSpc>
              <a:spcAft>
                <a:spcPts val="300"/>
              </a:spcAft>
              <a:defRPr sz="560">
                <a:solidFill>
                  <a:srgbClr val="21242A"/>
                </a:solidFill>
                <a:latin typeface="Microsoft YaHei"/>
              </a:defRPr>
            </a:pPr>
            <a:r>
              <a:t>有显着差异。完全代谢缓解率、PFS/OS 或剥夺导致的非复发死亡率没有显着差异。</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摘要号：PF1408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在r/r lbcl中，通过hbv-dna引导监测乙型肝炎病毒再激活，可以在不进行常规抗病毒预防的情况下进行安全管理</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hbv-dna–guided monitoring for hepatitis b virus reactivation enables safe man...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PF1317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N=25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回顾性临床研究结果：hbv-dna–guided monitoring for hepatitis b virus react...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HBV-DNA再激活发生率：2/25（8%）</a:t>
            </a:r>
          </a:p>
          <a:p>
            <a:pPr>
              <a:lnSpc>
                <a:spcPct val="103000"/>
              </a:lnSpc>
              <a:spcAft>
                <a:spcPts val="300"/>
              </a:spcAft>
              <a:defRPr sz="800">
                <a:solidFill>
                  <a:srgbClr val="21242A"/>
                </a:solidFill>
                <a:latin typeface="Microsoft YaHei"/>
              </a:defRPr>
            </a:pPr>
            <a:r>
              <a:t>2例再激活患者均成功使用核苷类似物治疗，HBV-DNA水平迅速下降</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人数：25</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研究主题：hbv-dna–guided monitoring for hepatitis b virus reactivation enables safe management without routine antiviral prophyla...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在r/r lbcl中，通过hbv-dna引导监测乙型肝炎病毒再激活，可以在不进行常规抗病毒预防的情况下进行安全管理</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hbv-dna–guided monitoring for hepatitis b virus reactivation enables safe man...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PF1317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背景：有关嵌合抗原受体 (CAR) T 细胞治疗后乙型肝炎病毒 (HBV) 再激活的数据有限，监测和预防的最佳策略仍不清楚。在美国和欧洲，建议对乙型肝炎核心抗体 (HBcAb) 呈阳性的 B 细胞淋巴瘤患者进行预防性抗病毒治疗。相比之下，日本指南建议对接受含抗 CD20 抗体化疗的患者进行 HBV-DNA 引导监测；然</a:t>
            </a:r>
          </a:p>
          <a:p>
            <a:pPr>
              <a:lnSpc>
                <a:spcPct val="103000"/>
              </a:lnSpc>
              <a:spcAft>
                <a:spcPts val="300"/>
              </a:spcAft>
              <a:defRPr sz="550">
                <a:solidFill>
                  <a:srgbClr val="21242A"/>
                </a:solidFill>
                <a:latin typeface="Microsoft YaHei"/>
              </a:defRPr>
            </a:pPr>
            <a:r>
              <a:t>而，针对 CAR-T 疗法的具体建议尚未确定。目的：本研究旨在阐明 CAR T 细胞治疗后 HBV 再激活的发生率和临床特征，并评估在不进行常规抗病毒预防的情况下进行 HBV-DNA 引导监测的可行性。方法：我们回顾性分析了 2020 年 12 月至 2026 年 1 月期间在日本东京国立癌症中心医院接受抗 CD19 </a:t>
            </a:r>
          </a:p>
          <a:p>
            <a:pPr>
              <a:lnSpc>
                <a:spcPct val="103000"/>
              </a:lnSpc>
              <a:spcAft>
                <a:spcPts val="300"/>
              </a:spcAft>
              <a:defRPr sz="550">
                <a:solidFill>
                  <a:srgbClr val="21242A"/>
                </a:solidFill>
                <a:latin typeface="Microsoft YaHei"/>
              </a:defRPr>
            </a:pPr>
            <a:r>
              <a:t>CAR T 细胞治疗的大 B 细胞淋巴瘤患者。所有患者在 CAR T 细胞输注前均确认了 HBV 血清学状态。根据日本乙型肝炎治疗指南，对 HBcAb 或乙型肝炎表面抗体 (HBsAb) 呈阳性的患者进行了连续 HBV-DNA 监测，但与先前接种乙肝疫苗相关的孤立 HBsAb 阳性的患者除外。</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尽管 CAR T 细胞治疗后可能会发生 HBV 再激活，但在我们的队列中发生率较低（2/25，8%）。通过 HBV-DNA 引导监测和及时的核苷酸类似物治疗，成功控制了病毒再激活，并且没有出现肝炎病例。在仅通过 HBV-DNA 监测治疗的 HBV 感染得到缓解的患者中，有 23 名患者的 HBV-DNA 水平持续保持阴</a:t>
            </a:r>
          </a:p>
          <a:p>
            <a:pPr>
              <a:lnSpc>
                <a:spcPct val="103000"/>
              </a:lnSpc>
              <a:spcAft>
                <a:spcPts val="300"/>
              </a:spcAft>
              <a:defRPr sz="570">
                <a:solidFill>
                  <a:srgbClr val="21242A"/>
                </a:solidFill>
                <a:latin typeface="Microsoft YaHei"/>
              </a:defRPr>
            </a:pPr>
            <a:r>
              <a:t>性，并且不需要预防性核苷酸类似物。这些发现强调了避免不必要的长期核苷酸类似物暴露的临床益处，并表明无需常规预防的基于 HBV-DNA 的监测策略代表了 CAR T 细胞治疗后的一种可行的管理选择，特别是在易于进行 HBV-DNA 检测的地区。</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HBV-DNA再激活发生率：2/25（8%）；2例再激活患者均成功使用核苷类似物治疗，HBV-DNA水平迅速下降；无乙肝相关性肝炎发生；23例患者随访期间HBV-DNA持续阴性；中位随访时间16.9个月（范围1.3-62.4），其中17例随访超过1年。</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摘要号：PF1317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car-t健康指数（car fit）：整合共病和虚弱评估，指导边缘生理储备患者的风险适应分娩。</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car-t fitness index (car-fit): integrating comorbidity and frailty assessment...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PF1253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N=80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Tisagenlecleucel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中位无进展生存期（PFS）：fit组未达到（60个月，95% CI 33.7-NR），borderline-fit组12.2个...</a:t>
            </a:r>
          </a:p>
          <a:p>
            <a:pPr>
              <a:lnSpc>
                <a:spcPct val="103000"/>
              </a:lnSpc>
              <a:spcAft>
                <a:spcPts val="300"/>
              </a:spcAft>
              <a:defRPr sz="800">
                <a:solidFill>
                  <a:srgbClr val="21242A"/>
                </a:solidFill>
                <a:latin typeface="Microsoft YaHei"/>
              </a:defRPr>
            </a:pPr>
            <a:r>
              <a:t>36个月总生存率：fit组85.2%（95% CI 70.6-100%），borderline-fit组66.7%（95% C...</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人数：80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试验药/方案：阿基仑赛、Tisagenlecleucel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car-t健康指数（car fit）：整合共病和虚弱评估，指导边缘生理储备患者的风险适应分娩。</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car-t fitness index (car-fit): integrating comorbidity and frailty assessment...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PF1253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背景：选择接受嵌合抗原受体 T 细胞 (CAR-T) 治疗的患者对于最大限度地减少可预防的不良后果并支持适当使用医疗资源至关重要，但在当前的临床环境中，这在很大程度上仍然是主观的。现有的评估共病的工具包括累积疾病评级量表（CIRS）、“Severe4”和细胞治疗共病指数（CTCI）。然而，个体评分可能无法反映疾病负担与</a:t>
            </a:r>
          </a:p>
          <a:p>
            <a:pPr>
              <a:lnSpc>
                <a:spcPct val="103000"/>
              </a:lnSpc>
              <a:spcAft>
                <a:spcPts val="300"/>
              </a:spcAft>
              <a:defRPr sz="550">
                <a:solidFill>
                  <a:srgbClr val="21242A"/>
                </a:solidFill>
                <a:latin typeface="Microsoft YaHei"/>
              </a:defRPr>
            </a:pPr>
            <a:r>
              <a:t>动力学、虚弱和预先存在的共病之间复杂的相互作用。我们提出了一个逐步框架，系统地整合虚弱和合并症评估，以便沿着健康连续体对患者进行客观分层。该方法旨在指导优化“临界健康”患者安全地接受 CAR-T 治疗，同时最大限度地降低健康范围远端患者的不当风险。目标：我们的目标是将合并症评估与临床结果联系起来，并开发一个整合合并症和</a:t>
            </a:r>
          </a:p>
          <a:p>
            <a:pPr>
              <a:lnSpc>
                <a:spcPct val="103000"/>
              </a:lnSpc>
              <a:spcAft>
                <a:spcPts val="300"/>
              </a:spcAft>
              <a:defRPr sz="550">
                <a:solidFill>
                  <a:srgbClr val="21242A"/>
                </a:solidFill>
                <a:latin typeface="Microsoft YaHei"/>
              </a:defRPr>
            </a:pPr>
            <a:r>
              <a:t>虚弱评估的框架，以最佳平衡临床实践中 CAR-T 获取的安全性和公平性。方法：回顾性分析新加坡两家治疗机构2020-2025年接受CAR-T治疗的80例复发难治性弥漫大B细胞淋巴瘤患者的数据。</a:t>
            </a:r>
          </a:p>
          <a:p>
            <a:pPr>
              <a:lnSpc>
                <a:spcPct val="103000"/>
              </a:lnSpc>
              <a:spcAft>
                <a:spcPts val="300"/>
              </a:spcAft>
              <a:defRPr sz="550">
                <a:solidFill>
                  <a:srgbClr val="21242A"/>
                </a:solidFill>
                <a:latin typeface="Microsoft YaHei"/>
              </a:defRPr>
            </a:pPr>
            <a:r>
              <a:t>结果包括总生存期 (OS)、无进展生存期 (PFS) 和严重的治疗相关并发症，定义为 ≥3 级细胞因子释放综合征、免疫效应细胞相关神经毒性综合征或免疫效应细胞相关血液毒性。使用 ECOG、Karnofsky、CIRS、Severe4 和 CTCI 评估患者的健康状况和合并症。</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与单独使用任何单独评分相比，结合 CIRS、Severe4 和 CTCI 可改善结果分层。当与虚弱评估相结合时，这种方法可以改进患者选择，以便更安全地接触到潜在的合格候选人。</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结果：中位年龄为 60 岁。大多数患者的 ECOG 为 0-1，卡诺夫斯基评分为 90-100。 （表1）。使用新的预后指数，一部分患者具有更高的合并症负担：30% (n=24) 的 CIRS ≥7，8.8% (n=7) 存在严重 4，5% (n=4) 的 CTCI &gt;3。</a:t>
            </a:r>
          </a:p>
          <a:p>
            <a:pPr>
              <a:lnSpc>
                <a:spcPct val="103000"/>
              </a:lnSpc>
              <a:spcAft>
                <a:spcPts val="300"/>
              </a:spcAft>
              <a:defRPr sz="560">
                <a:solidFill>
                  <a:srgbClr val="21242A"/>
                </a:solidFill>
                <a:latin typeface="Microsoft YaHei"/>
              </a:defRPr>
            </a:pPr>
            <a:r>
              <a:t>\n 我们提出了一种临床算法来指导临床医生在日常实践中使用合并症评估。</a:t>
            </a:r>
          </a:p>
          <a:p>
            <a:pPr>
              <a:lnSpc>
                <a:spcPct val="103000"/>
              </a:lnSpc>
              <a:spcAft>
                <a:spcPts val="300"/>
              </a:spcAft>
              <a:defRPr sz="560">
                <a:solidFill>
                  <a:srgbClr val="21242A"/>
                </a:solidFill>
                <a:latin typeface="Microsoft YaHei"/>
              </a:defRPr>
            </a:pPr>
            <a:r>
              <a:t>（图1）。根据建议的分类框架，51.2% (N=41) 的患者适合，28.8% (N=23) 为边缘适合，20% (N=16) 为不适合。健康组、边缘组和不健康组的中位 PFS 存在显着差异（60 个月时未达到，95% CI 33.7-NR；12.2 个月时，95% CI 6.03-NR；8.7 个月时，95</a:t>
            </a:r>
          </a:p>
          <a:p>
            <a:pPr>
              <a:lnSpc>
                <a:spcPct val="103000"/>
              </a:lnSpc>
              <a:spcAft>
                <a:spcPts val="300"/>
              </a:spcAft>
              <a:defRPr sz="560">
                <a:solidFill>
                  <a:srgbClr val="21242A"/>
                </a:solidFill>
                <a:latin typeface="Microsoft YaHei"/>
              </a:defRPr>
            </a:pPr>
            <a:r>
              <a:t>% CI 6.27-NR），对数秩 p = 0.027。还注意到 36 个月时 OS 的相应差异，适合（85.2%，95% CI 70.6-100%）、边界适合（66.7%，95% CI 47.3-94.1%）和不适合（未达到 36 个月），p \n 表 1.</a:t>
            </a:r>
          </a:p>
          <a:p>
            <a:pPr>
              <a:lnSpc>
                <a:spcPct val="103000"/>
              </a:lnSpc>
              <a:spcAft>
                <a:spcPts val="300"/>
              </a:spcAft>
              <a:defRPr sz="560">
                <a:solidFill>
                  <a:srgbClr val="21242A"/>
                </a:solidFill>
                <a:latin typeface="Microsoft YaHei"/>
              </a:defRPr>
            </a:pPr>
            <a:r>
              <a:t>人口统计、CAR-T 细胞产品、不良事件。</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摘要号：PF1253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治疗前脑磁共振白质变化提示小血管疾病预测嵌合抗原受体t细胞治疗后免疫效应细胞相关神经毒性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pre-treatment white matter changes on brain mri suggesting small vessel disea...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N=93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试验药/方案：CAR-T(达博生物)</a:t>
            </a:r>
          </a:p>
          <a:p>
            <a:pPr>
              <a:lnSpc>
                <a:spcPct val="103000"/>
              </a:lnSpc>
              <a:spcAft>
                <a:spcPts val="300"/>
              </a:spcAft>
              <a:defRPr sz="800">
                <a:solidFill>
                  <a:srgbClr val="21242A"/>
                </a:solidFill>
                <a:latin typeface="Microsoft YaHei"/>
              </a:defRPr>
            </a:pPr>
            <a:r>
              <a:t>类别：CAR-T，经基因修饰</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ICANS累积发生率：低Fazekas组11%，中Fazekas组20%，高Fazekas组44%（p=0.03）||多因素分...</a:t>
            </a:r>
          </a:p>
          <a:p>
            <a:pPr>
              <a:lnSpc>
                <a:spcPct val="103000"/>
              </a:lnSpc>
              <a:spcAft>
                <a:spcPts val="300"/>
              </a:spcAft>
              <a:defRPr sz="800">
                <a:solidFill>
                  <a:srgbClr val="21242A"/>
                </a:solidFill>
                <a:latin typeface="Microsoft YaHei"/>
              </a:defRPr>
            </a:pPr>
            <a:r>
              <a:t>≥2级CRS p=0.87）||无进展生存期和总生存期：各组无差异（p=0.82和p=0.70）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人数：93</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试验药/方案：CAR-T(达博生物)</a:t>
            </a:r>
          </a:p>
          <a:p>
            <a:pPr>
              <a:lnSpc>
                <a:spcPct val="103000"/>
              </a:lnSpc>
              <a:spcAft>
                <a:spcPts val="300"/>
              </a:spcAft>
              <a:defRPr sz="810">
                <a:solidFill>
                  <a:srgbClr val="21242A"/>
                </a:solidFill>
                <a:latin typeface="Microsoft YaHei"/>
              </a:defRPr>
            </a:pPr>
            <a:r>
              <a:t>药物/技术类别：CAR-T、经基因修饰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治疗前脑磁共振白质变化提示小血管疾病预测嵌合抗原受体t细胞治疗后免疫效应细胞相关神经毒性</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pre-treatment white matter changes on brain mri suggesting small vessel disea...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背景：免疫效应细胞相关神经毒性综合征（ICANS）是嵌合抗原受体 T 细胞（CAR-T）治疗后的一个重要不良反应，一些患者会出现长期的神经系统症状。因此，预防和早期风险分层至关重要；然而，ICANS 的治疗前预测因素有限。由于细胞因子或炎症细胞渗入中枢神经系统（CNS）而破坏血脑屏障与 ICANS 发病机制有关，因此我</a:t>
            </a:r>
          </a:p>
          <a:p>
            <a:pPr>
              <a:lnSpc>
                <a:spcPct val="103000"/>
              </a:lnSpc>
              <a:spcAft>
                <a:spcPts val="300"/>
              </a:spcAft>
              <a:defRPr sz="550">
                <a:solidFill>
                  <a:srgbClr val="21242A"/>
                </a:solidFill>
                <a:latin typeface="Microsoft YaHei"/>
              </a:defRPr>
            </a:pPr>
            <a:r>
              <a:t>们重点关注与小血管疾病相关的白质变化，将其作为血管脆性和神经毒性抵抗力降低的标志。目的：我们旨在确定反映大脑白质变化的治疗前 Fazekas 评分（AJR Am J Roentgenol.</a:t>
            </a:r>
          </a:p>
          <a:p>
            <a:pPr>
              <a:lnSpc>
                <a:spcPct val="103000"/>
              </a:lnSpc>
              <a:spcAft>
                <a:spcPts val="300"/>
              </a:spcAft>
              <a:defRPr sz="550">
                <a:solidFill>
                  <a:srgbClr val="21242A"/>
                </a:solidFill>
                <a:latin typeface="Microsoft YaHei"/>
              </a:defRPr>
            </a:pPr>
            <a:r>
              <a:t>1987；149:351）是否与 ICANS 和 CAR-T 治疗后延长的神经系统症状相关。方法：我们利用脑磁共振成像（MRI）回顾性分析了 2019 年 12 月至 2025 年 6 月期间在冈山大学医院接受商业 CAR-T 治疗大 B 细胞淋巴瘤的 93 例患者。</a:t>
            </a:r>
          </a:p>
          <a:p>
            <a:pPr>
              <a:lnSpc>
                <a:spcPct val="103000"/>
              </a:lnSpc>
              <a:spcAft>
                <a:spcPts val="300"/>
              </a:spcAft>
              <a:defRPr sz="550">
                <a:solidFill>
                  <a:srgbClr val="21242A"/>
                </a:solidFill>
                <a:latin typeface="Microsoft YaHei"/>
              </a:defRPr>
            </a:pPr>
            <a:r>
              <a:t>Fazekas 评分（0-6，脑室周围和深部白质评分的总和）在输注前 MRI 上进行评估，排除先前 CNS 事件或淋巴瘤受累的病变，并分为三组：低（0-2）、中（int；3-4）和高（5-6）。 长期神经系统症状定义为持续≥28天。</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我们的数据表明，先前存在的大脑白质变化与 ICANS 的发展和长期神经系统症状的风险有关。在 CAR-T 治疗之前结合脑部 MRI 和 Fazekas 评分可能有助于完善神经毒性风险分层，并且对于 CAR-T 产品选择和识别需要更密切 ICANS 监测的患者可能提供特别丰富的信息。</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ICANS累积发生率：低Fazekas组11%，中Fazekas组20%，高Fazekas组44%（p=0.03）||多因素分析：Fazekas评分与ICANS独立相关（HR 1.51, 95% CI 1.09-2.10）||延长神经症状（≥28天）发生率：低组1.6%（1/64），中组0%（0/20），高组</a:t>
            </a:r>
          </a:p>
          <a:p>
            <a:pPr>
              <a:lnSpc>
                <a:spcPct val="103000"/>
              </a:lnSpc>
              <a:spcAft>
                <a:spcPts val="300"/>
              </a:spcAft>
              <a:defRPr sz="560">
                <a:solidFill>
                  <a:srgbClr val="21242A"/>
                </a:solidFill>
                <a:latin typeface="Microsoft YaHei"/>
              </a:defRPr>
            </a:pPr>
            <a:r>
              <a:t>22%（2/9）（p=0.046）||细胞因子释放综合征（CRS）发生率：各组无差异（p=0.32；≥2级CRS p=0.87）||无进展生存期和总生存期：各组无差异（p=0.82和p=0.70）</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摘要号：PF1249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car-t细胞治疗双表达tp53阳性复发/难治性弥漫性大b细胞淋巴瘤的疗效：一项多中心现实研究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efficacy of car-t cell therapy in double-expressor tp53-positive relapsed/ref...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试验药/方案：CAR-T(达博生物)</a:t>
            </a:r>
          </a:p>
          <a:p>
            <a:pPr>
              <a:lnSpc>
                <a:spcPct val="103000"/>
              </a:lnSpc>
              <a:spcAft>
                <a:spcPts val="300"/>
              </a:spcAft>
              <a:defRPr sz="800">
                <a:solidFill>
                  <a:srgbClr val="21242A"/>
                </a:solidFill>
                <a:latin typeface="Microsoft YaHei"/>
              </a:defRPr>
            </a:pPr>
            <a:r>
              <a:t>类别：CAR-T，经基因修饰</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中位OS：270天（95% CI 108.15-431.85）</a:t>
            </a:r>
          </a:p>
          <a:p>
            <a:pPr>
              <a:lnSpc>
                <a:spcPct val="103000"/>
              </a:lnSpc>
              <a:spcAft>
                <a:spcPts val="300"/>
              </a:spcAft>
              <a:defRPr sz="800">
                <a:solidFill>
                  <a:srgbClr val="21242A"/>
                </a:solidFill>
                <a:latin typeface="Microsoft YaHei"/>
              </a:defRPr>
            </a:pPr>
            <a:r>
              <a:t>中位PFS：108天（95% CI 62.23-146.77）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试验药/方案：CAR-T(达博生物)</a:t>
            </a:r>
          </a:p>
          <a:p>
            <a:pPr>
              <a:lnSpc>
                <a:spcPct val="103000"/>
              </a:lnSpc>
              <a:spcAft>
                <a:spcPts val="300"/>
              </a:spcAft>
              <a:defRPr sz="810">
                <a:solidFill>
                  <a:srgbClr val="21242A"/>
                </a:solidFill>
                <a:latin typeface="Microsoft YaHei"/>
              </a:defRPr>
            </a:pPr>
            <a:r>
              <a:t>药物/技术类别：CAR-T、经基因修饰</a:t>
            </a:r>
          </a:p>
          <a:p>
            <a:pPr>
              <a:lnSpc>
                <a:spcPct val="103000"/>
              </a:lnSpc>
              <a:spcAft>
                <a:spcPts val="300"/>
              </a:spcAft>
              <a:defRPr sz="810">
                <a:solidFill>
                  <a:srgbClr val="21242A"/>
                </a:solidFill>
                <a:latin typeface="Microsoft YaHei"/>
              </a:defRPr>
            </a:pPr>
            <a:r>
              <a:t>分组/治疗流程：单组：CAR-T细胞治疗（包括自体造血干细胞移植联合CD19 CAR-T的2例患者）</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car-t细胞治疗双表达tp53阳性复发/难治性弥漫性大b细胞淋巴瘤的疗效：一项多中心现实研究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efficacy of car-t cell therapy in double-expressor tp53-positive relapsed/ref...</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129/187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背景：双表达 TP53 阳性弥漫性大 B 细胞淋巴瘤 (DLBCL) 是一种与预后不良相关的高度侵袭性亚型。复发/难治性 (r/r) 患者的结果尤其令人沮丧。嵌合抗原受体 T 细胞 (CAR-T) 疗法已成为难治性 DLBCL 的有效治疗选择；然而，其在这一高风险生物亚组中的功效仍不清楚。</a:t>
            </a:r>
          </a:p>
          <a:p>
            <a:pPr>
              <a:lnSpc>
                <a:spcPct val="103000"/>
              </a:lnSpc>
              <a:spcAft>
                <a:spcPts val="300"/>
              </a:spcAft>
              <a:defRPr sz="550">
                <a:solidFill>
                  <a:srgbClr val="21242A"/>
                </a:solidFill>
                <a:latin typeface="Microsoft YaHei"/>
              </a:defRPr>
            </a:pPr>
            <a:r>
              <a:t>目的：评估 CAR-T 治疗双表达 TP53 阳性 r/r DLBCL 患者的临床疗效、总生存期 (OS) 和无进展生存期 (PFS)。</a:t>
            </a:r>
          </a:p>
          <a:p>
            <a:pPr>
              <a:lnSpc>
                <a:spcPct val="103000"/>
              </a:lnSpc>
              <a:spcAft>
                <a:spcPts val="300"/>
              </a:spcAft>
              <a:defRPr sz="550">
                <a:solidFill>
                  <a:srgbClr val="21242A"/>
                </a:solidFill>
                <a:latin typeface="Microsoft YaHei"/>
              </a:defRPr>
            </a:pPr>
            <a:r>
              <a:t>方法：这项多中心回顾性研究纳入了 2017 年 2 月 1 日至 2025 年 12 月 31 日期间在三个三级中心接受 CAR-T 治疗的双表达 TP53 阳性 r/r DLBCL 患者。使用SPSS软件收集和分析临床数据。评估 1 个月和 3 个月的总体缓解率 (ORR)、中位 OS 和中位 PFS。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在双表达 TP53 阳性的 r/r DLBCL 患者中，CAR-T 疗法可诱导初步缓解；然而，持久性仍然有限，在这一高危人群中观察到中位无进展生存期 (PFS) 和总生存期 (OS) 较短。这些发现表明，可能需要额外的治疗策略，包括联合或巩固方法，以改善长期结果。</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中位OS</a:t>
                      </a:r>
                    </a:p>
                  </a:txBody>
                  <a:tcPr>
                    <a:solidFill>
                      <a:srgbClr val="F6F8FB"/>
                    </a:solidFill>
                  </a:tcPr>
                </a:tc>
                <a:tc>
                  <a:txBody>
                    <a:bodyPr wrap="square" lIns="36576" rIns="36576" tIns="18288" bIns="18288"/>
                    <a:lstStyle/>
                    <a:p>
                      <a:r>
                        <a:rPr sz="540" b="0">
                          <a:solidFill>
                            <a:srgbClr val="21242A"/>
                          </a:solidFill>
                          <a:latin typeface="Microsoft YaHei"/>
                        </a:rPr>
                        <a:t>270天（95% CI 108.15-431.85）</a:t>
                      </a:r>
                    </a:p>
                  </a:txBody>
                  <a:tcPr>
                    <a:solidFill>
                      <a:srgbClr val="F6F8FB"/>
                    </a:solidFill>
                  </a:tcPr>
                </a:tc>
              </a:tr>
              <a:tr h="249936">
                <a:tc>
                  <a:txBody>
                    <a:bodyPr wrap="square" lIns="36576" rIns="36576" tIns="18288" bIns="18288"/>
                    <a:lstStyle/>
                    <a:p>
                      <a:r>
                        <a:rPr sz="540" b="1">
                          <a:solidFill>
                            <a:srgbClr val="21242A"/>
                          </a:solidFill>
                          <a:latin typeface="Microsoft YaHei"/>
                        </a:rPr>
                        <a:t>中位PFS</a:t>
                      </a:r>
                    </a:p>
                  </a:txBody>
                  <a:tcPr>
                    <a:solidFill>
                      <a:srgbClr val="FFFFFF"/>
                    </a:solidFill>
                  </a:tcPr>
                </a:tc>
                <a:tc>
                  <a:txBody>
                    <a:bodyPr wrap="square" lIns="36576" rIns="36576" tIns="18288" bIns="18288"/>
                    <a:lstStyle/>
                    <a:p>
                      <a:r>
                        <a:rPr sz="540" b="0">
                          <a:solidFill>
                            <a:srgbClr val="21242A"/>
                          </a:solidFill>
                          <a:latin typeface="Microsoft YaHei"/>
                        </a:rPr>
                        <a:t>108天（95% CI 62.23-146.77）</a:t>
                      </a:r>
                    </a:p>
                  </a:txBody>
                  <a:tcPr>
                    <a:solidFill>
                      <a:srgbClr val="FFFFFF"/>
                    </a:solidFill>
                  </a:tcPr>
                </a:tc>
              </a:tr>
              <a:tr h="249936">
                <a:tc>
                  <a:txBody>
                    <a:bodyPr wrap="square" lIns="36576" rIns="36576" tIns="18288" bIns="18288"/>
                    <a:lstStyle/>
                    <a:p>
                      <a:r>
                        <a:rPr sz="540" b="1">
                          <a:solidFill>
                            <a:srgbClr val="21242A"/>
                          </a:solidFill>
                          <a:latin typeface="Microsoft YaHei"/>
                        </a:rPr>
                        <a:t>1个月ORR</a:t>
                      </a:r>
                    </a:p>
                  </a:txBody>
                  <a:tcPr>
                    <a:solidFill>
                      <a:srgbClr val="F6F8FB"/>
                    </a:solidFill>
                  </a:tcPr>
                </a:tc>
                <a:tc>
                  <a:txBody>
                    <a:bodyPr wrap="square" lIns="36576" rIns="36576" tIns="18288" bIns="18288"/>
                    <a:lstStyle/>
                    <a:p>
                      <a:r>
                        <a:rPr sz="540" b="0">
                          <a:solidFill>
                            <a:srgbClr val="21242A"/>
                          </a:solidFill>
                          <a:latin typeface="Microsoft YaHei"/>
                        </a:rPr>
                        <a:t>70.21%（CR 29.79%，PR 40.42%）</a:t>
                      </a:r>
                    </a:p>
                  </a:txBody>
                  <a:tcPr>
                    <a:solidFill>
                      <a:srgbClr val="F6F8FB"/>
                    </a:solidFill>
                  </a:tcPr>
                </a:tc>
              </a:tr>
              <a:tr h="249936">
                <a:tc>
                  <a:txBody>
                    <a:bodyPr wrap="square" lIns="36576" rIns="36576" tIns="18288" bIns="18288"/>
                    <a:lstStyle/>
                    <a:p>
                      <a:r>
                        <a:rPr sz="540" b="1">
                          <a:solidFill>
                            <a:srgbClr val="21242A"/>
                          </a:solidFill>
                          <a:latin typeface="Microsoft YaHei"/>
                        </a:rPr>
                        <a:t>3个月ORR</a:t>
                      </a:r>
                    </a:p>
                  </a:txBody>
                  <a:tcPr>
                    <a:solidFill>
                      <a:srgbClr val="FFFFFF"/>
                    </a:solidFill>
                  </a:tcPr>
                </a:tc>
                <a:tc>
                  <a:txBody>
                    <a:bodyPr wrap="square" lIns="36576" rIns="36576" tIns="18288" bIns="18288"/>
                    <a:lstStyle/>
                    <a:p>
                      <a:r>
                        <a:rPr sz="540" b="0">
                          <a:solidFill>
                            <a:srgbClr val="21242A"/>
                          </a:solidFill>
                          <a:latin typeface="Microsoft YaHei"/>
                        </a:rPr>
                        <a:t>53.33%（CR 31.11%，PR 22.22%）</a:t>
                      </a:r>
                    </a:p>
                  </a:txBody>
                  <a:tcPr>
                    <a:solidFill>
                      <a:srgbClr val="FFFFFF"/>
                    </a:solidFill>
                  </a:tcPr>
                </a:tc>
              </a:tr>
              <a:tr h="249936">
                <a:tc>
                  <a:txBody>
                    <a:bodyPr wrap="square" lIns="36576" rIns="36576" tIns="18288" bIns="18288"/>
                    <a:lstStyle/>
                    <a:p>
                      <a:r>
                        <a:rPr sz="540" b="1">
                          <a:solidFill>
                            <a:srgbClr val="21242A"/>
                          </a:solidFill>
                          <a:latin typeface="Microsoft YaHei"/>
                        </a:rPr>
                        <a:t>死亡率</a:t>
                      </a:r>
                    </a:p>
                  </a:txBody>
                  <a:tcPr>
                    <a:solidFill>
                      <a:srgbClr val="F6F8FB"/>
                    </a:solidFill>
                  </a:tcPr>
                </a:tc>
                <a:tc>
                  <a:txBody>
                    <a:bodyPr wrap="square" lIns="36576" rIns="36576" tIns="18288" bIns="18288"/>
                    <a:lstStyle/>
                    <a:p>
                      <a:r>
                        <a:rPr sz="540" b="0">
                          <a:solidFill>
                            <a:srgbClr val="21242A"/>
                          </a:solidFill>
                          <a:latin typeface="Microsoft YaHei"/>
                        </a:rPr>
                        <a:t>50.94%</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阿昔布他烯-西洛卢塞一线治疗dlbcl的早期毒性：2l与≥3l治疗的现实比较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toxicity of axicabtagene ciloleucel by line of therapy in dlbcl: a real...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N=413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多组/多方案比较：2L组：axicabtagene ciloleucel</a:t>
            </a:r>
          </a:p>
          <a:p>
            <a:pPr>
              <a:lnSpc>
                <a:spcPct val="103000"/>
              </a:lnSpc>
              <a:spcAft>
                <a:spcPts val="300"/>
              </a:spcAft>
              <a:defRPr sz="800">
                <a:solidFill>
                  <a:srgbClr val="21242A"/>
                </a:solidFill>
                <a:latin typeface="Microsoft YaHei"/>
              </a:defRPr>
            </a:pPr>
            <a:r>
              <a:t>≥3L组：axicabtagene ciloleucel</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CRS任何级别发生率：2L组95%，≥3L组92%</a:t>
            </a:r>
          </a:p>
          <a:p>
            <a:pPr>
              <a:lnSpc>
                <a:spcPct val="103000"/>
              </a:lnSpc>
              <a:spcAft>
                <a:spcPts val="300"/>
              </a:spcAft>
              <a:defRPr sz="800">
                <a:solidFill>
                  <a:srgbClr val="21242A"/>
                </a:solidFill>
                <a:latin typeface="Microsoft YaHei"/>
              </a:defRPr>
            </a:pPr>
            <a:r>
              <a:t>CRS≥3级发生率：2L组4%，≥3L组8%（p=0.002）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人数：413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阿昔布他烯-西洛卢塞一线治疗dlbcl的早期毒性：2l与≥3l治疗的现实比较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toxicity of axicabtagene ciloleucel by line of therapy in dlbcl: a real...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背景：Axicabtagene ciloleucel (axi-cel) 被批准用于治疗复发/难治性大 B 细胞淋巴瘤，其早期毒性由细胞因子释放综合征 (CRS) 和免疫效应细胞相关神经毒性综合征 (ICANS) 驱动。关键研究报告了典型的第一周内发病和相当大的 ≥3 级事件负担，这引起了人们对二线 (2L) 与后续线</a:t>
            </a:r>
          </a:p>
          <a:p>
            <a:pPr>
              <a:lnSpc>
                <a:spcPct val="103000"/>
              </a:lnSpc>
              <a:spcAft>
                <a:spcPts val="300"/>
              </a:spcAft>
              <a:defRPr sz="550">
                <a:solidFill>
                  <a:srgbClr val="21242A"/>
                </a:solidFill>
                <a:latin typeface="Microsoft YaHei"/>
              </a:defRPr>
            </a:pPr>
            <a:r>
              <a:t> (≥3L) 施用 axi-cel 时毒性是否不同的兴趣。目的：比较 axi-cel 在 2L 与 ≥3L 治疗的弥漫性大 B 细胞淋巴瘤 (DLBCL) 中的早期毒性模式（CRS 和 ICANS），包括时机、严重程度、持续时间和毒性导向干预措施。方法：这项代表 GETH-TC（西班牙干细胞移植和细胞治疗组）小组的回顾</a:t>
            </a:r>
          </a:p>
          <a:p>
            <a:pPr>
              <a:lnSpc>
                <a:spcPct val="103000"/>
              </a:lnSpc>
              <a:spcAft>
                <a:spcPts val="300"/>
              </a:spcAft>
              <a:defRPr sz="550">
                <a:solidFill>
                  <a:srgbClr val="21242A"/>
                </a:solidFill>
                <a:latin typeface="Microsoft YaHei"/>
              </a:defRPr>
            </a:pPr>
            <a:r>
              <a:t>性多中心研究，将自 2024 年 4 月起（在西班牙监管机构批准后）连续接受二线 axi-cel 治疗的 DLBCL 患者与我们组之前发表的 2018 年至 2021 年间接受三线或更高线治疗的历史队列进行了比较（Bailén 等人，Transpl Cell Ther 2022）。患者按输注时的治疗线进行分组：2L v</a:t>
            </a:r>
          </a:p>
          <a:p>
            <a:pPr>
              <a:lnSpc>
                <a:spcPct val="103000"/>
              </a:lnSpc>
              <a:spcAft>
                <a:spcPts val="300"/>
              </a:spcAft>
              <a:defRPr sz="550">
                <a:solidFill>
                  <a:srgbClr val="21242A"/>
                </a:solidFill>
                <a:latin typeface="Microsoft YaHei"/>
              </a:defRPr>
            </a:pPr>
            <a:r>
              <a:t>s ≥3L。</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在这个现实世界的 DLBCL axi-cel 队列中，与 ≥3L 相比，二线治疗与 ≥3 级早期毒性（CRS 和 ICANS）的发生率较低相关。尽管高级毒性的发生率降低，但 2L 队列中皮质类固醇用于 CRS 的使用更为频繁，这可能反映出在最近的治疗期间向更早和更主动的毒性管理的时间转变。需要进一步分析以消除疾病特征对</a:t>
            </a:r>
          </a:p>
          <a:p>
            <a:pPr>
              <a:lnSpc>
                <a:spcPct val="103000"/>
              </a:lnSpc>
              <a:spcAft>
                <a:spcPts val="300"/>
              </a:spcAft>
              <a:defRPr sz="570">
                <a:solidFill>
                  <a:srgbClr val="21242A"/>
                </a:solidFill>
                <a:latin typeface="Microsoft YaHei"/>
              </a:defRPr>
            </a:pPr>
            <a:r>
              <a:t>这些发现的影响。</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结果：总共纳入 N=413 例患者（2L n=184，≥3L n=229）。表 1 总结了基线特征。简而言之，2L 队列在输注时表现出更好的 ECOG 表现状态、较低的 R-IPI、较低的既往 ASCT 暴露、较低的大块疾病发生率和升高的 LDH，以及更频繁地使用桥接治疗。各组之间从血浆分离术到输注的中位时间</a:t>
            </a:r>
          </a:p>
          <a:p>
            <a:pPr>
              <a:lnSpc>
                <a:spcPct val="103000"/>
              </a:lnSpc>
              <a:spcAft>
                <a:spcPts val="300"/>
              </a:spcAft>
              <a:defRPr sz="560">
                <a:solidFill>
                  <a:srgbClr val="21242A"/>
                </a:solidFill>
                <a:latin typeface="Microsoft YaHei"/>
              </a:defRPr>
            </a:pPr>
            <a:r>
              <a:t>没有观察到差异。比较 2L 与 ≥3L 的情况，任何级别的 CRS 发生率分别为 95% 和 92%，≥3 级的 CRS 发生率分别为 4% 和 8% (p=0.002)。两组的中位发病时间均为 2 天，中位持续时间分别为 4 天和 5 天 (p=0.02)。</a:t>
            </a:r>
          </a:p>
          <a:p>
            <a:pPr>
              <a:lnSpc>
                <a:spcPct val="103000"/>
              </a:lnSpc>
              <a:spcAft>
                <a:spcPts val="300"/>
              </a:spcAft>
              <a:defRPr sz="560">
                <a:solidFill>
                  <a:srgbClr val="21242A"/>
                </a:solidFill>
                <a:latin typeface="Microsoft YaHei"/>
              </a:defRPr>
            </a:pPr>
            <a:r>
              <a:t>61% vs 62% 的患者接受托珠单抗治疗（中位剂量 1.5 vs 2，p=0.03），皮质类固醇治疗的患者分别为 48% vs 32%（p 因毒性而入住 ICU 的患者分别为 21% vs 24%。在非复发死亡率 (NRM) 方面未观察到差异。</a:t>
            </a:r>
          </a:p>
          <a:p>
            <a:pPr>
              <a:lnSpc>
                <a:spcPct val="103000"/>
              </a:lnSpc>
              <a:spcAft>
                <a:spcPts val="300"/>
              </a:spcAft>
              <a:defRPr sz="560">
                <a:solidFill>
                  <a:srgbClr val="21242A"/>
                </a:solidFill>
                <a:latin typeface="Microsoft YaHei"/>
              </a:defRPr>
            </a:pPr>
            <a:r>
              <a:t>结论：在这个真实的 DLBCL axi-cel 队列中，与 ≥3L 相比，二线治疗与 ≥3 级早期毒性（CRS 和 ICANS）的发生率较低相关。尽管高级毒性的发生率降低，但 2L 队列中皮质类固醇用于 CRS 的使用更为频繁，这可能反映出在最近的治疗期间向更早和更主动的毒性管理的时间转变。需要进一步分析以消</a:t>
            </a:r>
          </a:p>
          <a:p>
            <a:pPr>
              <a:lnSpc>
                <a:spcPct val="103000"/>
              </a:lnSpc>
              <a:spcAft>
                <a:spcPts val="300"/>
              </a:spcAft>
              <a:defRPr sz="560">
                <a:solidFill>
                  <a:srgbClr val="21242A"/>
                </a:solidFill>
                <a:latin typeface="Microsoft YaHei"/>
              </a:defRPr>
            </a:pPr>
            <a:r>
              <a:t>除疾病特征对这些发现的影响。</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关于大b细胞淋巴瘤中真实世界汽车t细胞合格性的国际专家共识：一项e-delphi研究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international expert consensus on real-world car t-cell eligibility in large...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专家共识：international expert consensus on real-world car t-cell 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对一线治疗后2-4周期内进行中期PET评估应答，共识率82.6%</a:t>
            </a:r>
          </a:p>
          <a:p>
            <a:pPr>
              <a:lnSpc>
                <a:spcPct val="103000"/>
              </a:lnSpc>
              <a:spcAft>
                <a:spcPts val="300"/>
              </a:spcAft>
              <a:defRPr sz="800">
                <a:solidFill>
                  <a:srgbClr val="21242A"/>
                </a:solidFill>
                <a:latin typeface="Microsoft YaHei"/>
              </a:defRPr>
            </a:pPr>
            <a:r>
              <a:t>疾病稳定患者应转诊，共识率87.0%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研究类型：专家共识</a:t>
            </a:r>
          </a:p>
          <a:p>
            <a:pPr>
              <a:lnSpc>
                <a:spcPct val="103000"/>
              </a:lnSpc>
              <a:spcAft>
                <a:spcPts val="300"/>
              </a:spcAft>
              <a:defRPr sz="810">
                <a:solidFill>
                  <a:srgbClr val="21242A"/>
                </a:solidFill>
                <a:latin typeface="Microsoft YaHei"/>
              </a:defRPr>
            </a:pPr>
            <a:r>
              <a:t>人数：23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研究主题：international expert consensus on real-world car t-cell eligibility in large b-cell lymphomas: an e-delphi study</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关于大b细胞淋巴瘤中真实世界汽车t细胞合格性的国际专家共识：一项e-delphi研究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international expert consensus on real-world car t-cell eligibility in large...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背景：尽管二线和三线环境中有强有力的临床证据、监管批准和指南建议，但对于将复发或难治性弥漫性大 B 细胞淋巴瘤 (r/r DLBCL) 患者转诊至嵌合抗原受体 T 细胞疗法 (CAR T) 的差异仍然存在。最近的研究估计，只有三分之一符合 CAR T 资格的患者最终得到治疗，部分原因是转诊资格标准的不确定性。需要以共识</a:t>
            </a:r>
          </a:p>
          <a:p>
            <a:pPr>
              <a:lnSpc>
                <a:spcPct val="103000"/>
              </a:lnSpc>
              <a:spcAft>
                <a:spcPts val="300"/>
              </a:spcAft>
              <a:defRPr sz="550">
                <a:solidFill>
                  <a:srgbClr val="21242A"/>
                </a:solidFill>
                <a:latin typeface="Microsoft YaHei"/>
              </a:defRPr>
            </a:pPr>
            <a:r>
              <a:t>为导向的指导来支持公平、及时的转介做法。</a:t>
            </a:r>
          </a:p>
          <a:p>
            <a:pPr>
              <a:lnSpc>
                <a:spcPct val="103000"/>
              </a:lnSpc>
              <a:spcAft>
                <a:spcPts val="300"/>
              </a:spcAft>
              <a:defRPr sz="550">
                <a:solidFill>
                  <a:srgbClr val="21242A"/>
                </a:solidFill>
                <a:latin typeface="Microsoft YaHei"/>
              </a:defRPr>
            </a:pPr>
            <a:r>
              <a:t>目的：确定并表征核心临床资格标准的共识，以指导社区医生将难治性 DLBCL 患者转诊至专门中心进行 CAR T 评估。</a:t>
            </a:r>
          </a:p>
          <a:p>
            <a:pPr>
              <a:lnSpc>
                <a:spcPct val="103000"/>
              </a:lnSpc>
              <a:spcAft>
                <a:spcPts val="300"/>
              </a:spcAft>
              <a:defRPr sz="550">
                <a:solidFill>
                  <a:srgbClr val="21242A"/>
                </a:solidFill>
                <a:latin typeface="Microsoft YaHei"/>
              </a:defRPr>
            </a:pPr>
            <a:r>
              <a:t>方法：根据既定的共识报告标准进行了 e-Delphi 研究。所有研究材料均按照 ACCORD（准确共识报告文件）指南设计，并获得了由临床专家组成的独立指导委员会和独立机构审查委员会的批准。由来自美国、加拿大、英国、法国、德国和意大利的 23 名血液学和/或肿瘤学临床专家组成的小组通过网络调查问卷（≥75% 共识阈值）对</a:t>
            </a:r>
          </a:p>
          <a:p>
            <a:pPr>
              <a:lnSpc>
                <a:spcPct val="103000"/>
              </a:lnSpc>
              <a:spcAft>
                <a:spcPts val="300"/>
              </a:spcAft>
              <a:defRPr sz="550">
                <a:solidFill>
                  <a:srgbClr val="21242A"/>
                </a:solidFill>
                <a:latin typeface="Microsoft YaHei"/>
              </a:defRPr>
            </a:pPr>
            <a:r>
              <a:t>声明进行匿名回复。</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第一轮分析表明，国际专家对于 r/r DLBCL 患者转诊 CAR T 资格达成了强有力的共识。该小组强烈支持独立于 ASCT 资格的广泛转诊资格，并明确了疾病状况、年龄、表现和器官功能作为核心转诊标准。这些共识建议有可能减少转诊实践中不必要的变化，并支持更公平地获得 CAR T。最终建议将在大会上提出。</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对一线治疗后2-4周期内进行中期PET评估应答，共识率82.6%</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疾病稳定患者应转诊，共识率87.0%</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疾病进展患者应转诊，共识率100%</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年龄不能作为绝对禁忌证，共识率100%</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ECOG PS 0-2自动转诊，共识率91.3%</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复发难治性大b细胞淋巴瘤二线car-t细胞治疗后的免疫缺陷和感染风险</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immune deficiency and infection risk following second line car-t cells therap...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N=57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多组/多方案比较：试验组1：axi-cel</a:t>
            </a:r>
          </a:p>
          <a:p>
            <a:pPr>
              <a:lnSpc>
                <a:spcPct val="103000"/>
              </a:lnSpc>
              <a:spcAft>
                <a:spcPts val="300"/>
              </a:spcAft>
              <a:defRPr sz="800">
                <a:solidFill>
                  <a:srgbClr val="21242A"/>
                </a:solidFill>
                <a:latin typeface="Microsoft YaHei"/>
              </a:defRPr>
            </a:pPr>
            <a:r>
              <a:t>试验组2：liso-cel</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第3个月时，低丙种球蛋白血症发生率11%，无严重低丙种球蛋白血症</a:t>
            </a:r>
          </a:p>
          <a:p>
            <a:pPr>
              <a:lnSpc>
                <a:spcPct val="103000"/>
              </a:lnSpc>
              <a:spcAft>
                <a:spcPts val="300"/>
              </a:spcAft>
              <a:defRPr sz="800">
                <a:solidFill>
                  <a:srgbClr val="21242A"/>
                </a:solidFill>
                <a:latin typeface="Microsoft YaHei"/>
              </a:defRPr>
            </a:pPr>
            <a:r>
              <a:t>所有患者均出现B细胞再生障碍</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人数：57</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复发难治性大b细胞淋巴瘤二线car-t细胞治疗后的免疫缺陷和感染风险</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immune deficiency and infection risk following second line car-t cells therap...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背景：抗 CD19 CAR T 细胞被批准用于治疗难治性或早期复发性大 B 细胞淋巴瘤 (R/R LBCL) 患者的二线 (L2)。在 L3+ 中，长期免疫缺陷与感染和非复发死亡率相关。然而，L2 CAR T 细胞治疗后的免疫重建 (IR) 和感染风险仍不充分。</a:t>
            </a:r>
          </a:p>
          <a:p>
            <a:pPr>
              <a:lnSpc>
                <a:spcPct val="103000"/>
              </a:lnSpc>
              <a:spcAft>
                <a:spcPts val="300"/>
              </a:spcAft>
              <a:defRPr sz="550">
                <a:solidFill>
                  <a:srgbClr val="21242A"/>
                </a:solidFill>
                <a:latin typeface="Microsoft YaHei"/>
              </a:defRPr>
            </a:pPr>
            <a:r>
              <a:t>目的：描述 R/R LBCL 中 L2 抗 CD19 CAR T 细胞后的免疫缺陷，包括：(1) 淋巴细胞 B 和 T 亚群恢复和免疫球蛋白水平，(2) 第 3 个月 (M3) 后感染的发生率、时间和类型，以及 (3) 与生存结果的关联。次要目标是探索与免疫缺陷和感染并发症相关的因素，以及补充免疫球蛋白 (Ig) 的影</a:t>
            </a:r>
          </a:p>
          <a:p>
            <a:pPr>
              <a:lnSpc>
                <a:spcPct val="103000"/>
              </a:lnSpc>
              <a:spcAft>
                <a:spcPts val="300"/>
              </a:spcAft>
              <a:defRPr sz="550">
                <a:solidFill>
                  <a:srgbClr val="21242A"/>
                </a:solidFill>
                <a:latin typeface="Microsoft YaHei"/>
              </a:defRPr>
            </a:pPr>
            <a:r>
              <a:t>响。</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在这个使用抗 CD19 CAR T 细胞治疗的真实 L2 R/R LBCL 人群中，免疫缺陷仍然很常见，相当大比例的患者存在持续性低 GG、B 细胞再生障碍和 CD4+ T 细胞恢复延迟。感染性并发症很常见，并且持续到输注后早期。这些发现支持 L2 CAR T 细胞后的系统免疫监测，并可能有助于完善预防和 Ig 替代策</a:t>
            </a:r>
          </a:p>
          <a:p>
            <a:pPr>
              <a:lnSpc>
                <a:spcPct val="103000"/>
              </a:lnSpc>
              <a:spcAft>
                <a:spcPts val="300"/>
              </a:spcAft>
              <a:defRPr sz="570">
                <a:solidFill>
                  <a:srgbClr val="21242A"/>
                </a:solidFill>
                <a:latin typeface="Microsoft YaHei"/>
              </a:defRPr>
            </a:pPr>
            <a:r>
              <a:t>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第3个月时，低丙种球蛋白血症发生率11%，无严重低丙种球蛋白血症；所有患者均出现B细胞再生障碍；51%患者CD4+ T细胞计数&lt;200/mL；16%患者未恢复任何免疫重建标准，45%恢复1项标准，39%恢复2项标准。</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第6个月和第12个月时，分别有9%和26%的患者恢复全部3项标准。</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21%患者接受了免疫球蛋白补充。</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第3个月时，56%患者至少发生过一次感染；25%患者发生过至少一次严重感染（≥3级）。</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第3个月后共发生49次感染，其中53%为细菌、45%为病毒、2%为真菌感染。</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在复发/难治性大b细胞淋巴瘤中，接受滞留治疗与整个car t治疗途径的不良结果有关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receipt of holding therapy is associated with inferior outcomes across the ca...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N=219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回顾性临床研究结果：receipt of holding therapy is associated with inferio...</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意向治疗人群总生存期：HT组中位OS 5.7个月 vs 无HT组26.6个月，调整后HR=2.03（95%CI 1.29-3....</a:t>
            </a:r>
          </a:p>
          <a:p>
            <a:pPr>
              <a:lnSpc>
                <a:spcPct val="103000"/>
              </a:lnSpc>
              <a:spcAft>
                <a:spcPts val="300"/>
              </a:spcAft>
              <a:defRPr sz="800">
                <a:solidFill>
                  <a:srgbClr val="21242A"/>
                </a:solidFill>
                <a:latin typeface="Microsoft YaHei"/>
              </a:defRPr>
            </a:pPr>
            <a:r>
              <a:t>输注后总生存期：HT组中位OS 12.3个月 vs 无HT组未达到，调整后HR=2.12（95%CI 1.11-4.04，p=...</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人数：219</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研究主题：receipt of holding therapy is associated with inferior outcomes across the car t treatment pathway in relapsed/refracto...</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在复发/难治性大b细胞淋巴瘤中，接受滞留治疗与整个car t治疗途径的不良结果有关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receipt of holding therapy is associated with inferior outcomes across the ca...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背景：尽管 CD19 导向的嵌合抗原受体 T 细胞 (CAR T) 疗法改善了复发/难治性大 B 细胞淋巴瘤 (R/R LBCL) 的预后，但多达三分之一的转诊患者未达到输注。虽然已经描述了与桥接治疗 (BT) 相关的结果，但缺乏关于在整个意向治疗 (ITT) 途径中转诊和血浆分离术之间进行的保留治疗 (HT) 之间的</a:t>
            </a:r>
          </a:p>
          <a:p>
            <a:pPr>
              <a:lnSpc>
                <a:spcPct val="103000"/>
              </a:lnSpc>
              <a:spcAft>
                <a:spcPts val="300"/>
              </a:spcAft>
              <a:defRPr sz="550">
                <a:solidFill>
                  <a:srgbClr val="21242A"/>
                </a:solidFill>
                <a:latin typeface="Microsoft YaHei"/>
              </a:defRPr>
            </a:pPr>
            <a:r>
              <a:t>关联的数据报告。</a:t>
            </a:r>
          </a:p>
          <a:p>
            <a:pPr>
              <a:lnSpc>
                <a:spcPct val="103000"/>
              </a:lnSpc>
              <a:spcAft>
                <a:spcPts val="300"/>
              </a:spcAft>
              <a:defRPr sz="550">
                <a:solidFill>
                  <a:srgbClr val="21242A"/>
                </a:solidFill>
                <a:latin typeface="Microsoft YaHei"/>
              </a:defRPr>
            </a:pPr>
            <a:r>
              <a:t>目的：评估从转诊到输注的整个 CAR T 治疗过程中接受 HT 的关联。</a:t>
            </a:r>
          </a:p>
          <a:p>
            <a:pPr>
              <a:lnSpc>
                <a:spcPct val="103000"/>
              </a:lnSpc>
              <a:spcAft>
                <a:spcPts val="300"/>
              </a:spcAft>
              <a:defRPr sz="550">
                <a:solidFill>
                  <a:srgbClr val="21242A"/>
                </a:solidFill>
                <a:latin typeface="Microsoft YaHei"/>
              </a:defRPr>
            </a:pPr>
            <a:r>
              <a:t>方法：我们回顾性分析了 219 名在玛格丽特公主癌症中心转诊接受 axicel 或 tisacel 的 219 名 R/R LBCL 患者 (pts)（2017-2024 年），随访至 2025 年 8 月。在连续治疗阶段评估结果：转诊至单采术 (HT)、单采术至输注 (BT) 和 CAR T 后输注。</a:t>
            </a:r>
          </a:p>
          <a:p>
            <a:pPr>
              <a:lnSpc>
                <a:spcPct val="103000"/>
              </a:lnSpc>
              <a:spcAft>
                <a:spcPts val="300"/>
              </a:spcAft>
              <a:defRPr sz="550">
                <a:solidFill>
                  <a:srgbClr val="21242A"/>
                </a:solidFill>
                <a:latin typeface="Microsoft YaHei"/>
              </a:defRPr>
            </a:pPr>
            <a:r>
              <a:t>HT 和 BT 由治疗医生酌情选择。 Cox 模型评估了 ITT、血浆分离和输注队列的总生存期 (OS)。 Kaplan-Meier 曲线估计 OS，使用多变量 Cox 模型评估 HT 和 BT 与结果的关联。</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在这组接受 CAR T 评估的患者中，接受 HT 而不是 BT 与整个 CAR T 治疗过程中直至输注的较差 OS 独立相关。这种区别在临床上很重要，因为它将单采前间隔确定为关键的预后窗口，这表明在单采之前需要疾病控制的患者代表了高危人群，尽管最终输注了 CAR T，但其较差的结果仍然存在。 \n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374904">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374904">
                <a:tc>
                  <a:txBody>
                    <a:bodyPr wrap="square" lIns="36576" rIns="36576" tIns="18288" bIns="18288"/>
                    <a:lstStyle/>
                    <a:p>
                      <a:r>
                        <a:rPr sz="540" b="1">
                          <a:solidFill>
                            <a:srgbClr val="21242A"/>
                          </a:solidFill>
                          <a:latin typeface="Microsoft YaHei"/>
                        </a:rPr>
                        <a:t>意向治疗人群总生存期</a:t>
                      </a:r>
                    </a:p>
                  </a:txBody>
                  <a:tcPr>
                    <a:solidFill>
                      <a:srgbClr val="F6F8FB"/>
                    </a:solidFill>
                  </a:tcPr>
                </a:tc>
                <a:tc>
                  <a:txBody>
                    <a:bodyPr wrap="square" lIns="36576" rIns="36576" tIns="18288" bIns="18288"/>
                    <a:lstStyle/>
                    <a:p>
                      <a:r>
                        <a:rPr sz="540" b="0">
                          <a:solidFill>
                            <a:srgbClr val="21242A"/>
                          </a:solidFill>
                          <a:latin typeface="Microsoft YaHei"/>
                        </a:rPr>
                        <a:t>HT组中位OS 5.7个月 vs 无HT组26.6个月，调整后HR=2.03（95%CI 1.29-3.17，p=0.002）</a:t>
                      </a:r>
                    </a:p>
                  </a:txBody>
                  <a:tcPr>
                    <a:solidFill>
                      <a:srgbClr val="F6F8FB"/>
                    </a:solidFill>
                  </a:tcPr>
                </a:tc>
              </a:tr>
              <a:tr h="374904">
                <a:tc>
                  <a:txBody>
                    <a:bodyPr wrap="square" lIns="36576" rIns="36576" tIns="18288" bIns="18288"/>
                    <a:lstStyle/>
                    <a:p>
                      <a:r>
                        <a:rPr sz="540" b="1">
                          <a:solidFill>
                            <a:srgbClr val="21242A"/>
                          </a:solidFill>
                          <a:latin typeface="Microsoft YaHei"/>
                        </a:rPr>
                        <a:t>输注后总生存期</a:t>
                      </a:r>
                    </a:p>
                  </a:txBody>
                  <a:tcPr>
                    <a:solidFill>
                      <a:srgbClr val="FFFFFF"/>
                    </a:solidFill>
                  </a:tcPr>
                </a:tc>
                <a:tc>
                  <a:txBody>
                    <a:bodyPr wrap="square" lIns="36576" rIns="36576" tIns="18288" bIns="18288"/>
                    <a:lstStyle/>
                    <a:p>
                      <a:r>
                        <a:rPr sz="540" b="0">
                          <a:solidFill>
                            <a:srgbClr val="21242A"/>
                          </a:solidFill>
                          <a:latin typeface="Microsoft YaHei"/>
                        </a:rPr>
                        <a:t>HT组中位OS 12.3个月 vs 无HT组未达到，调整后HR=2.12（95%CI 1.11-4.04，p=0.023）</a:t>
                      </a:r>
                    </a:p>
                  </a:txBody>
                  <a:tcPr>
                    <a:solidFill>
                      <a:srgbClr val="FFFFFF"/>
                    </a:solidFill>
                  </a:tcPr>
                </a:tc>
              </a:tr>
              <a:tr h="374904">
                <a:tc>
                  <a:txBody>
                    <a:bodyPr wrap="square" lIns="36576" rIns="36576" tIns="18288" bIns="18288"/>
                    <a:lstStyle/>
                    <a:p>
                      <a:r>
                        <a:rPr sz="540" b="1">
                          <a:solidFill>
                            <a:srgbClr val="21242A"/>
                          </a:solidFill>
                          <a:latin typeface="Microsoft YaHei"/>
                        </a:rPr>
                        <a:t>接受BT与未接受BT的输注后OS</a:t>
                      </a:r>
                    </a:p>
                  </a:txBody>
                  <a:tcPr>
                    <a:solidFill>
                      <a:srgbClr val="F6F8FB"/>
                    </a:solidFill>
                  </a:tcPr>
                </a:tc>
                <a:tc>
                  <a:txBody>
                    <a:bodyPr wrap="square" lIns="36576" rIns="36576" tIns="18288" bIns="18288"/>
                    <a:lstStyle/>
                    <a:p>
                      <a:r>
                        <a:rPr sz="540" b="0">
                          <a:solidFill>
                            <a:srgbClr val="21242A"/>
                          </a:solidFill>
                          <a:latin typeface="Microsoft YaHei"/>
                        </a:rPr>
                        <a:t>中位OS 47.9个月 vs 37个月，调整后HR=1.05（95%CI 0.54-2.05，p=0.88）</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新诊断的高危大b细胞淋巴瘤患者的现实世界（rw）治疗模式和生存结果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(rw) treatment patterns and survival outcomes in patients (pts) wi...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N=666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回顾性临床研究结果：real-world (rw) treatment patterns and survival outco...</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总人群（2011-2025年，666例）：</a:t>
            </a:r>
          </a:p>
          <a:p>
            <a:pPr>
              <a:lnSpc>
                <a:spcPct val="103000"/>
              </a:lnSpc>
              <a:spcAft>
                <a:spcPts val="300"/>
              </a:spcAft>
              <a:defRPr sz="800">
                <a:solidFill>
                  <a:srgbClr val="21242A"/>
                </a:solidFill>
                <a:latin typeface="Microsoft YaHei"/>
              </a:defRPr>
            </a:pPr>
            <a:r>
              <a:t>- 中位OS（从一线治疗开始）：35个月（95% CI 29-47）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人数：666</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研究主题：real-world (rw) treatment patterns and survival outcomes in patients (pts) with newly diagnosed high-risk (hr) large b-...</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新诊断的高危大b细胞淋巴瘤患者的现实世界（rw）治疗模式和生存结果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(rw) treatment patterns and survival outcomes in patients (pts) wi...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背景：约 60% 接受一线 (1L) 化学免疫疗法 (CIT) 治疗的患者可治愈 LBCL；然而，HR 疾病患者的预后仍然较差，定义为国际预后指数 (IPI) 4-5。 RW 关于该人群当代结果和后续治疗途径的数据有限。</a:t>
            </a:r>
          </a:p>
          <a:p>
            <a:pPr>
              <a:lnSpc>
                <a:spcPct val="103000"/>
              </a:lnSpc>
              <a:spcAft>
                <a:spcPts val="300"/>
              </a:spcAft>
              <a:defRPr sz="550">
                <a:solidFill>
                  <a:srgbClr val="21242A"/>
                </a:solidFill>
                <a:latin typeface="Microsoft YaHei"/>
              </a:defRPr>
            </a:pPr>
            <a:r>
              <a:t>目的：评估接受 1L CIT 治疗的 HR LBCL 患者的 RW 治疗模式、下次治疗时间 (rwTTNT)、总生存期 (rwOS) 以及二线 (2L) 疗法的使用情况。</a:t>
            </a:r>
          </a:p>
          <a:p>
            <a:pPr>
              <a:lnSpc>
                <a:spcPct val="103000"/>
              </a:lnSpc>
              <a:spcAft>
                <a:spcPts val="300"/>
              </a:spcAft>
              <a:defRPr sz="550">
                <a:solidFill>
                  <a:srgbClr val="21242A"/>
                </a:solidFill>
                <a:latin typeface="Microsoft YaHei"/>
              </a:defRPr>
            </a:pPr>
            <a:r>
              <a:t>方法：这项回顾性研究使用了来自美国 Flatiron Health 数据库的电子健康记录。患者患有HR LBCL，于2011年1月1日至2025年2月28日（所有患者）或2019年1月1日至2025年2月28日（最近队列，所有患者的子集）开始1L治疗，并在2025年8月31日之前有≥6个月的随访机会。结果为rwTTNT</a:t>
            </a:r>
          </a:p>
          <a:p>
            <a:pPr>
              <a:lnSpc>
                <a:spcPct val="103000"/>
              </a:lnSpc>
              <a:spcAft>
                <a:spcPts val="300"/>
              </a:spcAft>
              <a:defRPr sz="550">
                <a:solidFill>
                  <a:srgbClr val="21242A"/>
                </a:solidFill>
                <a:latin typeface="Microsoft YaHei"/>
              </a:defRPr>
            </a:pPr>
            <a:r>
              <a:t>、rwOS、1L治疗利用率和 2L 治疗途径并进行了描述性分析。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尽管采用了较新的 1L CIT 方案，HR LBCL 患者的预后仍然较差。很大一部分患者 (73%) 进展至 2L，甚至在接受 2L 治疗之前就死亡，这凸显了对改进 1L 疗法的迫切需求。所有患者和最近队列之间的 rwOS 差异（但 rwTTNT 没有差异）表明 2L+ 疗法随着时间的推移而演变。研究的局限性包括特定治</a:t>
            </a:r>
          </a:p>
          <a:p>
            <a:pPr>
              <a:lnSpc>
                <a:spcPct val="103000"/>
              </a:lnSpc>
              <a:spcAft>
                <a:spcPts val="300"/>
              </a:spcAft>
              <a:defRPr sz="570">
                <a:solidFill>
                  <a:srgbClr val="21242A"/>
                </a:solidFill>
                <a:latin typeface="Microsoft YaHei"/>
              </a:defRPr>
            </a:pPr>
            <a:r>
              <a:t>疗/药物组合的未知原理和可能的错误分类，以及最近队列和所有患者之间不同的随访和审查持续时间。</a:t>
            </a:r>
          </a:p>
          <a:p>
            <a:pPr>
              <a:lnSpc>
                <a:spcPct val="103000"/>
              </a:lnSpc>
              <a:spcAft>
                <a:spcPts val="300"/>
              </a:spcAft>
              <a:defRPr sz="570">
                <a:solidFill>
                  <a:srgbClr val="21242A"/>
                </a:solidFill>
                <a:latin typeface="Microsoft YaHei"/>
              </a:defRPr>
            </a:pPr>
            <a:r>
              <a:t>\n RR 和 JM 的贡献相等。</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总人群（2011-2025年，666例）</a:t>
                      </a:r>
                    </a:p>
                  </a:txBody>
                  <a:tcPr>
                    <a:solidFill>
                      <a:srgbClr val="F6F8FB"/>
                    </a:solidFill>
                  </a:tcPr>
                </a:tc>
                <a:tc>
                  <a:txBody>
                    <a:bodyPr wrap="square" lIns="36576" rIns="36576" tIns="18288" bIns="18288"/>
                    <a:lstStyle/>
                    <a:p>
                      <a:r>
                        <a:rPr sz="540" b="0">
                          <a:solidFill>
                            <a:srgbClr val="21242A"/>
                          </a:solidFill>
                          <a:latin typeface="Microsoft YaHei"/>
                        </a:rPr>
                        <a:t/>
                      </a:r>
                    </a:p>
                  </a:txBody>
                  <a:tcPr>
                    <a:solidFill>
                      <a:srgbClr val="F6F8FB"/>
                    </a:solidFill>
                  </a:tcPr>
                </a:tc>
              </a:tr>
              <a:tr h="214230">
                <a:tc>
                  <a:txBody>
                    <a:bodyPr wrap="square" lIns="36576" rIns="36576" tIns="18288" bIns="18288"/>
                    <a:lstStyle/>
                    <a:p>
                      <a:r>
                        <a:rPr sz="540" b="1">
                          <a:solidFill>
                            <a:srgbClr val="21242A"/>
                          </a:solidFill>
                          <a:latin typeface="Microsoft YaHei"/>
                        </a:rPr>
                        <a:t>- 中位OS（从一线治疗开始）</a:t>
                      </a:r>
                    </a:p>
                  </a:txBody>
                  <a:tcPr>
                    <a:solidFill>
                      <a:srgbClr val="FFFFFF"/>
                    </a:solidFill>
                  </a:tcPr>
                </a:tc>
                <a:tc>
                  <a:txBody>
                    <a:bodyPr wrap="square" lIns="36576" rIns="36576" tIns="18288" bIns="18288"/>
                    <a:lstStyle/>
                    <a:p>
                      <a:r>
                        <a:rPr sz="540" b="0">
                          <a:solidFill>
                            <a:srgbClr val="21242A"/>
                          </a:solidFill>
                          <a:latin typeface="Microsoft YaHei"/>
                        </a:rPr>
                        <a:t>35个月（95% CI 29-47）</a:t>
                      </a:r>
                    </a:p>
                  </a:txBody>
                  <a:tcPr>
                    <a:solidFill>
                      <a:srgbClr val="FFFFFF"/>
                    </a:solidFill>
                  </a:tcPr>
                </a:tc>
              </a:tr>
              <a:tr h="214230">
                <a:tc>
                  <a:txBody>
                    <a:bodyPr wrap="square" lIns="36576" rIns="36576" tIns="18288" bIns="18288"/>
                    <a:lstStyle/>
                    <a:p>
                      <a:r>
                        <a:rPr sz="540" b="1">
                          <a:solidFill>
                            <a:srgbClr val="21242A"/>
                          </a:solidFill>
                          <a:latin typeface="Microsoft YaHei"/>
                        </a:rPr>
                        <a:t>- 2年OS率</a:t>
                      </a:r>
                    </a:p>
                  </a:txBody>
                  <a:tcPr>
                    <a:solidFill>
                      <a:srgbClr val="F6F8FB"/>
                    </a:solidFill>
                  </a:tcPr>
                </a:tc>
                <a:tc>
                  <a:txBody>
                    <a:bodyPr wrap="square" lIns="36576" rIns="36576" tIns="18288" bIns="18288"/>
                    <a:lstStyle/>
                    <a:p>
                      <a:r>
                        <a:rPr sz="540" b="0">
                          <a:solidFill>
                            <a:srgbClr val="21242A"/>
                          </a:solidFill>
                          <a:latin typeface="Microsoft YaHei"/>
                        </a:rPr>
                        <a:t>57%</a:t>
                      </a:r>
                    </a:p>
                  </a:txBody>
                  <a:tcPr>
                    <a:solidFill>
                      <a:srgbClr val="F6F8FB"/>
                    </a:solidFill>
                  </a:tcPr>
                </a:tc>
              </a:tr>
              <a:tr h="214230">
                <a:tc>
                  <a:txBody>
                    <a:bodyPr wrap="square" lIns="36576" rIns="36576" tIns="18288" bIns="18288"/>
                    <a:lstStyle/>
                    <a:p>
                      <a:r>
                        <a:rPr sz="540" b="1">
                          <a:solidFill>
                            <a:srgbClr val="21242A"/>
                          </a:solidFill>
                          <a:latin typeface="Microsoft YaHei"/>
                        </a:rPr>
                        <a:t>- 中位rwTTNT</a:t>
                      </a:r>
                    </a:p>
                  </a:txBody>
                  <a:tcPr>
                    <a:solidFill>
                      <a:srgbClr val="FFFFFF"/>
                    </a:solidFill>
                  </a:tcPr>
                </a:tc>
                <a:tc>
                  <a:txBody>
                    <a:bodyPr wrap="square" lIns="36576" rIns="36576" tIns="18288" bIns="18288"/>
                    <a:lstStyle/>
                    <a:p>
                      <a:r>
                        <a:rPr sz="540" b="0">
                          <a:solidFill>
                            <a:srgbClr val="21242A"/>
                          </a:solidFill>
                          <a:latin typeface="Microsoft YaHei"/>
                        </a:rPr>
                        <a:t>11个月</a:t>
                      </a:r>
                    </a:p>
                  </a:txBody>
                  <a:tcPr>
                    <a:solidFill>
                      <a:srgbClr val="FFFFFF"/>
                    </a:solidFill>
                  </a:tcPr>
                </a:tc>
              </a:tr>
              <a:tr h="214230">
                <a:tc>
                  <a:txBody>
                    <a:bodyPr wrap="square" lIns="36576" rIns="36576" tIns="18288" bIns="18288"/>
                    <a:lstStyle/>
                    <a:p>
                      <a:r>
                        <a:rPr sz="540" b="1">
                          <a:solidFill>
                            <a:srgbClr val="21242A"/>
                          </a:solidFill>
                          <a:latin typeface="Microsoft YaHei"/>
                        </a:rPr>
                        <a:t>- 接受二线治疗比例</a:t>
                      </a:r>
                    </a:p>
                  </a:txBody>
                  <a:tcPr>
                    <a:solidFill>
                      <a:srgbClr val="F6F8FB"/>
                    </a:solidFill>
                  </a:tcPr>
                </a:tc>
                <a:tc>
                  <a:txBody>
                    <a:bodyPr wrap="square" lIns="36576" rIns="36576" tIns="18288" bIns="18288"/>
                    <a:lstStyle/>
                    <a:p>
                      <a:r>
                        <a:rPr sz="540" b="0">
                          <a:solidFill>
                            <a:srgbClr val="21242A"/>
                          </a:solidFill>
                          <a:latin typeface="Microsoft YaHei"/>
                        </a:rPr>
                        <a:t>38%</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其余8条结果见HTML完整清单及EHA原文。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t细胞亚群的空间分布揭示了与弥漫性大b细胞淋巴瘤生存相关的不同免疫微环境模式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spatial profiling of t cell subsets reveals distinct immune microenvironment...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N=365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回顾性临床研究结果：spatial profiling of t cell subsets reveals distinct...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多重免疫荧光显示T细胞浸润在不同患者间存在巨大变异</a:t>
            </a:r>
          </a:p>
          <a:p>
            <a:pPr>
              <a:lnSpc>
                <a:spcPct val="103000"/>
              </a:lnSpc>
              <a:spcAft>
                <a:spcPts val="300"/>
              </a:spcAft>
              <a:defRPr sz="800">
                <a:solidFill>
                  <a:srgbClr val="21242A"/>
                </a:solidFill>
                <a:latin typeface="Microsoft YaHei"/>
              </a:defRPr>
            </a:pPr>
            <a:r>
              <a:t>无监督聚类识别出六种TIME亚型，各自与不同的总生存期相关</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人数：365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研究主题：spatial profiling of t cell subsets reveals distinct immune microenvironment patterns associated with survival in diffu...</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t细胞亚群的空间分布揭示了与弥漫性大b细胞淋巴瘤生存相关的不同免疫微环境模式</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spatial profiling of t cell subsets reveals distinct immune microenvironment...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是一种异质性疾病，临床结果各异。免疫化疗 (R-CHOP) 标准治疗的成功率仍然有限，5 年总生存率为 75%。目前的临床风险分层主要依赖于基于临床参数的国际预后指数（IPI）。肿瘤免疫微环境（TIME）越来越被认为是肿瘤进展的关键决定因素，但其异质性和空间组织在很大程度</a:t>
            </a:r>
          </a:p>
          <a:p>
            <a:pPr>
              <a:lnSpc>
                <a:spcPct val="103000"/>
              </a:lnSpc>
              <a:spcAft>
                <a:spcPts val="300"/>
              </a:spcAft>
              <a:defRPr sz="550">
                <a:solidFill>
                  <a:srgbClr val="21242A"/>
                </a:solidFill>
                <a:latin typeface="Microsoft YaHei"/>
              </a:defRPr>
            </a:pPr>
            <a:r>
              <a:t>上仍未得到表征。虽然 PD1/PD-L1 轴是免疫调节的核心，但免疫检查点阻断在 DLBCL 中的疗效有限，这强调需要更深入地了解肿瘤-免疫相互作用。将空间免疫指标与遗传信息和临床参数相结合可以完善生物学理解和预后建模。目的：本研究旨在 (i) 深入研究浸润 T 淋巴细胞亚群与临床结果相关的作用，以及 (ii) 通过将</a:t>
            </a:r>
          </a:p>
          <a:p>
            <a:pPr>
              <a:lnSpc>
                <a:spcPct val="103000"/>
              </a:lnSpc>
              <a:spcAft>
                <a:spcPts val="300"/>
              </a:spcAft>
              <a:defRPr sz="550">
                <a:solidFill>
                  <a:srgbClr val="21242A"/>
                </a:solidFill>
                <a:latin typeface="Microsoft YaHei"/>
              </a:defRPr>
            </a:pPr>
            <a:r>
              <a:t> T 细胞浸润和肿瘤免疫微环境的空间组织与遗传因素和结果联系起来，确定新的生物标志物，以更好地对患者进行分层。方法：该研究纳入了 2000 年至 2014 年间瑞典南部 650 名诊断为 DLBCL 的患者。选择 365 名诊断为 DLBCL-NOS 的患者进行分析。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我们在患者中发现了肿瘤免疫微环境的显着异质性，揭示了具有不同临床结果的六种不同的 TIME 亚型。空间、转录和邻域水平分析表明，预后不良的 TIME 的特点是 T 细胞组织功能失调、T 细胞-肿瘤相互作用改变和独特的基因表达模式，强调空间免疫结构作为一种有前途的生物标志物，可以改善现有模型之外的患者分层。 \n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1. 多重免疫荧光显示T细胞浸润在不同患者间存在巨大变异</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2. 无监督聚类识别出六种TIME亚型，各自与不同的总生存期相关</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3. B细胞丰富、免疫贫乏的肿瘤预后较差；B细胞贫乏、CD8+T细胞丰富的肿瘤预后更优</a:t>
                      </a:r>
                    </a:p>
                  </a:txBody>
                  <a:tcPr>
                    <a:solidFill>
                      <a:srgbClr val="F6F8FB"/>
                    </a:solidFill>
                  </a:tcPr>
                </a:tc>
              </a:tr>
              <a:tr h="214230">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4. 差异基因表达分析发现B细胞丰富、免疫贫乏的TIME中BRCA1、NASP、MYBL2、HELLS、BIRC5、HMGA1上调</a:t>
                      </a:r>
                    </a:p>
                  </a:txBody>
                  <a:tcPr>
                    <a:solidFill>
                      <a:srgbClr val="FFFFFF"/>
                    </a:solidFill>
                  </a:tcPr>
                </a:tc>
              </a:tr>
              <a:tr h="214230">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5. 空间分析显示，预后较差的TIME中PD1+T细胞与肿瘤细胞之间的吸引显著更多</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摘要号：PF1066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基于polatuzuma vedotin的弥漫性大b细胞淋巴瘤一线治疗的真实疗效和基因组景观：重点关注tp53突变和治...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and genomic landscape of polatuzuma vedotin-based first-l...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N=236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分组：试验组1：Pola-R-CHP（polatuzuma vedotin，利妥昔单抗，环磷酰胺，多柔比星，泼尼松）</a:t>
            </a:r>
          </a:p>
          <a:p>
            <a:pPr>
              <a:lnSpc>
                <a:spcPct val="103000"/>
              </a:lnSpc>
              <a:spcAft>
                <a:spcPts val="300"/>
              </a:spcAft>
              <a:defRPr sz="800">
                <a:solidFill>
                  <a:srgbClr val="21242A"/>
                </a:solidFill>
                <a:latin typeface="Microsoft YaHei"/>
              </a:defRPr>
            </a:pPr>
            <a:r>
              <a:t>对照组：R-CHOP（利妥昔单抗，环磷酰胺，多柔比星，长春新碱，泼尼松）</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对照/比较：试验组1：Pola-R-CHP（polatuzuma vedotin，利妥昔单抗，环磷酰胺，多柔比星，泼尼松）</a:t>
            </a:r>
          </a:p>
          <a:p>
            <a:pPr>
              <a:lnSpc>
                <a:spcPct val="103000"/>
              </a:lnSpc>
              <a:spcAft>
                <a:spcPts val="300"/>
              </a:spcAft>
              <a:defRPr sz="800">
                <a:solidFill>
                  <a:srgbClr val="21242A"/>
                </a:solidFill>
                <a:latin typeface="Microsoft YaHei"/>
              </a:defRPr>
            </a:pPr>
            <a:r>
              <a:t>对照组：R-CHOP（利妥昔单抗，环磷酰胺，多柔比星，长春新碱，泼尼松）</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完全缓解率：Pola-R-CHP组81.6% vs R-CHOP组66.3%，加权OR=2.26，95%CI 1.16-4.3...</a:t>
            </a:r>
          </a:p>
          <a:p>
            <a:pPr>
              <a:lnSpc>
                <a:spcPct val="103000"/>
              </a:lnSpc>
              <a:spcAft>
                <a:spcPts val="300"/>
              </a:spcAft>
              <a:defRPr sz="800">
                <a:solidFill>
                  <a:srgbClr val="21242A"/>
                </a:solidFill>
                <a:latin typeface="Microsoft YaHei"/>
              </a:defRPr>
            </a:pPr>
            <a:r>
              <a:t>无进展生存期：加权HR=0.41，95%CI 0.21-0.80，P=0.009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人数：236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分组/治疗流程：试验组1：Pola-R-CHP（polatuzuma vedotin、利妥昔单抗、环磷酰胺</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基于polatuzuma vedotin的弥漫性大b细胞淋巴瘤一线治疗的真实疗效和基因组景观：重点关注tp53突变和治...</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efficacy and genomic landscape of polatuzuma vedotin-based first-l...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背景：POLARIX 试验确立了 Pola-R-CHP 方案作为新诊断的弥漫性大 B 细胞淋巴瘤 (DLBCL) 的标准一线治疗方法。然而，其在现实世界人群中的疗效，特别是在 TP53 突变的患者中，仍有待充分阐明。</a:t>
            </a:r>
          </a:p>
          <a:p>
            <a:pPr>
              <a:lnSpc>
                <a:spcPct val="103000"/>
              </a:lnSpc>
              <a:spcAft>
                <a:spcPts val="300"/>
              </a:spcAft>
              <a:defRPr sz="550">
                <a:solidFill>
                  <a:srgbClr val="21242A"/>
                </a:solidFill>
                <a:latin typeface="Microsoft YaHei"/>
              </a:defRPr>
            </a:pPr>
            <a:r>
              <a:t>目的：使用逆概率治疗加权 (IPTW) 比较 Pola-R-CHP 和 R-CHOP 在真实世界队列中新诊断的 DLBCL 患者中的疗效和生存结果。该研究还利用下一代测序 (NGS) 探讨了 TP53 突变的分子特征和预后影响。</a:t>
            </a:r>
          </a:p>
          <a:p>
            <a:pPr>
              <a:lnSpc>
                <a:spcPct val="103000"/>
              </a:lnSpc>
              <a:spcAft>
                <a:spcPts val="300"/>
              </a:spcAft>
              <a:defRPr sz="550">
                <a:solidFill>
                  <a:srgbClr val="21242A"/>
                </a:solidFill>
                <a:latin typeface="Microsoft YaHei"/>
              </a:defRPr>
            </a:pPr>
            <a:r>
              <a:t>方法：我们回顾性纳入2023年2月至2025年6月在仁济医院接受Pola-R-CHP或R-CHOP一线治疗的236例新诊断的DLBCL患者。使用IPTW来平衡基线混杂因素。在第 99 个百分位数处修剪了极端权重，以确保模型稳定性。对可用的组织样本进行 NGS 分析以评估分子特征。</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这项真实世界研究证实，与 R-CHOP 相比，Pola-R-CHP 方案可在新诊断的 DLBCL 患者（尤其是具有 TP53 突变的患者）中诱导更深度的缓解并显着改善 PFS。</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完全缓解率</a:t>
                      </a:r>
                    </a:p>
                  </a:txBody>
                  <a:tcPr>
                    <a:solidFill>
                      <a:srgbClr val="F6F8FB"/>
                    </a:solidFill>
                  </a:tcPr>
                </a:tc>
                <a:tc>
                  <a:txBody>
                    <a:bodyPr wrap="square" lIns="36576" rIns="36576" tIns="18288" bIns="18288"/>
                    <a:lstStyle/>
                    <a:p>
                      <a:r>
                        <a:rPr sz="540" b="0">
                          <a:solidFill>
                            <a:srgbClr val="21242A"/>
                          </a:solidFill>
                          <a:latin typeface="Microsoft YaHei"/>
                        </a:rPr>
                        <a:t>Pola-R-CHP组81.6% vs R-CHOP组66.3%，加权OR=2.26，95%CI 1.16-4.39，P=0.017</a:t>
                      </a:r>
                    </a:p>
                  </a:txBody>
                  <a:tcPr>
                    <a:solidFill>
                      <a:srgbClr val="F6F8FB"/>
                    </a:solidFill>
                  </a:tcPr>
                </a:tc>
              </a:tr>
              <a:tr h="299923">
                <a:tc>
                  <a:txBody>
                    <a:bodyPr wrap="square" lIns="36576" rIns="36576" tIns="18288" bIns="18288"/>
                    <a:lstStyle/>
                    <a:p>
                      <a:r>
                        <a:rPr sz="540" b="1">
                          <a:solidFill>
                            <a:srgbClr val="21242A"/>
                          </a:solidFill>
                          <a:latin typeface="Microsoft YaHei"/>
                        </a:rPr>
                        <a:t>无进展生存期</a:t>
                      </a:r>
                    </a:p>
                  </a:txBody>
                  <a:tcPr>
                    <a:solidFill>
                      <a:srgbClr val="FFFFFF"/>
                    </a:solidFill>
                  </a:tcPr>
                </a:tc>
                <a:tc>
                  <a:txBody>
                    <a:bodyPr wrap="square" lIns="36576" rIns="36576" tIns="18288" bIns="18288"/>
                    <a:lstStyle/>
                    <a:p>
                      <a:r>
                        <a:rPr sz="540" b="0">
                          <a:solidFill>
                            <a:srgbClr val="21242A"/>
                          </a:solidFill>
                          <a:latin typeface="Microsoft YaHei"/>
                        </a:rPr>
                        <a:t>加权HR=0.41，95%CI 0.21-0.80，P=0.009</a:t>
                      </a:r>
                    </a:p>
                  </a:txBody>
                  <a:tcPr>
                    <a:solidFill>
                      <a:srgbClr val="FFFFFF"/>
                    </a:solidFill>
                  </a:tcPr>
                </a:tc>
              </a:tr>
              <a:tr h="299923">
                <a:tc>
                  <a:txBody>
                    <a:bodyPr wrap="square" lIns="36576" rIns="36576" tIns="18288" bIns="18288"/>
                    <a:lstStyle/>
                    <a:p>
                      <a:r>
                        <a:rPr sz="540" b="1">
                          <a:solidFill>
                            <a:srgbClr val="21242A"/>
                          </a:solidFill>
                          <a:latin typeface="Microsoft YaHei"/>
                        </a:rPr>
                        <a:t>估计1年PFS</a:t>
                      </a:r>
                    </a:p>
                  </a:txBody>
                  <a:tcPr>
                    <a:solidFill>
                      <a:srgbClr val="F6F8FB"/>
                    </a:solidFill>
                  </a:tcPr>
                </a:tc>
                <a:tc>
                  <a:txBody>
                    <a:bodyPr wrap="square" lIns="36576" rIns="36576" tIns="18288" bIns="18288"/>
                    <a:lstStyle/>
                    <a:p>
                      <a:r>
                        <a:rPr sz="540" b="0">
                          <a:solidFill>
                            <a:srgbClr val="21242A"/>
                          </a:solidFill>
                          <a:latin typeface="Microsoft YaHei"/>
                        </a:rPr>
                        <a:t>91.4% vs 74.2%</a:t>
                      </a:r>
                    </a:p>
                  </a:txBody>
                  <a:tcPr>
                    <a:solidFill>
                      <a:srgbClr val="F6F8FB"/>
                    </a:solidFill>
                  </a:tcPr>
                </a:tc>
              </a:tr>
              <a:tr h="299924">
                <a:tc>
                  <a:txBody>
                    <a:bodyPr wrap="square" lIns="36576" rIns="36576" tIns="18288" bIns="18288"/>
                    <a:lstStyle/>
                    <a:p>
                      <a:r>
                        <a:rPr sz="540" b="1">
                          <a:solidFill>
                            <a:srgbClr val="21242A"/>
                          </a:solidFill>
                          <a:latin typeface="Microsoft YaHei"/>
                        </a:rPr>
                        <a:t>2年PFS</a:t>
                      </a:r>
                    </a:p>
                  </a:txBody>
                  <a:tcPr>
                    <a:solidFill>
                      <a:srgbClr val="FFFFFF"/>
                    </a:solidFill>
                  </a:tcPr>
                </a:tc>
                <a:tc>
                  <a:txBody>
                    <a:bodyPr wrap="square" lIns="36576" rIns="36576" tIns="18288" bIns="18288"/>
                    <a:lstStyle/>
                    <a:p>
                      <a:r>
                        <a:rPr sz="540" b="0">
                          <a:solidFill>
                            <a:srgbClr val="21242A"/>
                          </a:solidFill>
                          <a:latin typeface="Microsoft YaHei"/>
                        </a:rPr>
                        <a:t>84.6% vs 63.6%</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综合分子和代谢特征分析确定了复发/难治性大b细胞淋巴瘤患者使用龙考昔单抗治疗结果的决定因素</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integrated molecular and metabolic profiling identifies determinants of outco...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PF1096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试验药/方案：泰朗妥昔单抗</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总缓解率(ORR)：53.7%（完全缓解17.1%，部分缓解36.6%）</a:t>
            </a:r>
          </a:p>
          <a:p>
            <a:pPr>
              <a:lnSpc>
                <a:spcPct val="103000"/>
              </a:lnSpc>
              <a:spcAft>
                <a:spcPts val="300"/>
              </a:spcAft>
              <a:defRPr sz="800">
                <a:solidFill>
                  <a:srgbClr val="21242A"/>
                </a:solidFill>
                <a:latin typeface="Microsoft YaHei"/>
              </a:defRPr>
            </a:pPr>
            <a:r>
              <a:t>中位无进展生存期(mPFS)：3.6个月</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治疗线数：三线、末线</a:t>
            </a:r>
          </a:p>
          <a:p>
            <a:pPr>
              <a:lnSpc>
                <a:spcPct val="103000"/>
              </a:lnSpc>
              <a:spcAft>
                <a:spcPts val="300"/>
              </a:spcAft>
              <a:defRPr sz="810">
                <a:solidFill>
                  <a:srgbClr val="21242A"/>
                </a:solidFill>
                <a:latin typeface="Microsoft YaHei"/>
              </a:defRPr>
            </a:pPr>
            <a:r>
              <a:t>登记号：NCT03589469</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试验药/方案：泰朗妥昔单抗</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药物/技术类别：缬氨酸-丙氨酸 VA、PBD二聚体：SG3199、抗体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综合分子和代谢特征分析确定了复发/难治性大b细胞淋巴瘤患者使用龙考昔单抗治疗结果的决定因素</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integrated molecular and metabolic profiling identifies determinants of outco...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PF1096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背景：复发或难治性大 B 细胞淋巴瘤 (LBCL) 仍然与不良预后相关。</a:t>
            </a:r>
          </a:p>
          <a:p>
            <a:pPr>
              <a:lnSpc>
                <a:spcPct val="103000"/>
              </a:lnSpc>
              <a:spcAft>
                <a:spcPts val="300"/>
              </a:spcAft>
              <a:defRPr sz="550">
                <a:solidFill>
                  <a:srgbClr val="21242A"/>
                </a:solidFill>
                <a:latin typeface="Microsoft YaHei"/>
              </a:defRPr>
            </a:pPr>
            <a:r>
              <a:t>Loncastuximab Tesirine 是一种 CD19 定向抗体药物偶联物，在经过大量预处理的疾病中已显示出临床活性。然而，治疗益处是异质的，目前没有经过验证的生物标志物能够实现生物学分层或结果预测，这强调了定义反应决定因素的必要性。目的：评估循环肿瘤 DNA (ctDNA) 和总代谢肿瘤体积 (TMTV) 单</a:t>
            </a:r>
          </a:p>
          <a:p>
            <a:pPr>
              <a:lnSpc>
                <a:spcPct val="103000"/>
              </a:lnSpc>
              <a:spcAft>
                <a:spcPts val="300"/>
              </a:spcAft>
              <a:defRPr sz="550">
                <a:solidFill>
                  <a:srgbClr val="21242A"/>
                </a:solidFill>
                <a:latin typeface="Microsoft YaHei"/>
              </a:defRPr>
            </a:pPr>
            <a:r>
              <a:t>独或联合检测对接受 Loncastuximab Tesirine 治疗的复发或难治性 LBCL 患者的预后和预测作用。方法：这项单中心回顾性分析纳入了 LOTIS 1 和 LOTIS 2 试验中在 Humanitas Research Hospital 接受治疗的 41 名复发或难治性 LBCL 患者。在治疗开始前（基</a:t>
            </a:r>
          </a:p>
          <a:p>
            <a:pPr>
              <a:lnSpc>
                <a:spcPct val="103000"/>
              </a:lnSpc>
              <a:spcAft>
                <a:spcPts val="300"/>
              </a:spcAft>
              <a:defRPr sz="550">
                <a:solidFill>
                  <a:srgbClr val="21242A"/>
                </a:solidFill>
                <a:latin typeface="Microsoft YaHei"/>
              </a:defRPr>
            </a:pPr>
            <a:r>
              <a:t>线，BL）、第 3 周期（C3）和治疗结束时（EoT）对 ctDNA 和 TMTV 进行分析。使用深度测序癌症个性化分析 (CAPP-Seq) 评估 ctDNA，肿瘤负荷表示为每毫升血浆的单倍体基因组当量 (hGE/mL)。使用 CNVkit 对 ctDNA 进行拷贝数变异 (CNV) 分析，以检测局部和广泛的染色体改</a:t>
            </a:r>
          </a:p>
          <a:p>
            <a:pPr>
              <a:lnSpc>
                <a:spcPct val="103000"/>
              </a:lnSpc>
              <a:spcAft>
                <a:spcPts val="300"/>
              </a:spcAft>
              <a:defRPr sz="550">
                <a:solidFill>
                  <a:srgbClr val="21242A"/>
                </a:solidFill>
                <a:latin typeface="Microsoft YaHei"/>
              </a:defRPr>
            </a:pPr>
            <a:r>
              <a:t>变。</a:t>
            </a:r>
          </a:p>
          <a:p>
            <a:pPr>
              <a:lnSpc>
                <a:spcPct val="103000"/>
              </a:lnSpc>
              <a:spcAft>
                <a:spcPts val="300"/>
              </a:spcAft>
              <a:defRPr sz="550">
                <a:solidFill>
                  <a:srgbClr val="21242A"/>
                </a:solidFill>
                <a:latin typeface="Microsoft YaHei"/>
              </a:defRPr>
            </a:pPr>
            <a:r>
              <a:t>3 名 BL ctDNA 检测不到的患者被排除在后续分析之外。</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在接受 Loncastuximab Tesirine 治疗的队列中，ctDNA 和 TMTV 捕获的基线肿瘤负荷似乎是这种多难治性治疗结果的主要决定因素。基线生物标志物不能预测反应深度，但会影响获益的持久性，早期 ctDNA 清除可识别疾病控制得到改善的患者。缺乏 TP53 改变和 CD19 丢失对预后的影响表明存在替</a:t>
            </a:r>
          </a:p>
          <a:p>
            <a:pPr>
              <a:lnSpc>
                <a:spcPct val="103000"/>
              </a:lnSpc>
              <a:spcAft>
                <a:spcPts val="300"/>
              </a:spcAft>
              <a:defRPr sz="570">
                <a:solidFill>
                  <a:srgbClr val="21242A"/>
                </a:solidFill>
                <a:latin typeface="Microsoft YaHei"/>
              </a:defRPr>
            </a:pPr>
            <a:r>
              <a:t>代的耐药机制。综合分子和代谢分析可以对复发或难治性 LBCL 进行有意义的风险分层。</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总缓解率(ORR)</a:t>
                      </a:r>
                    </a:p>
                  </a:txBody>
                  <a:tcPr>
                    <a:solidFill>
                      <a:srgbClr val="F6F8FB"/>
                    </a:solidFill>
                  </a:tcPr>
                </a:tc>
                <a:tc>
                  <a:txBody>
                    <a:bodyPr wrap="square" lIns="36576" rIns="36576" tIns="18288" bIns="18288"/>
                    <a:lstStyle/>
                    <a:p>
                      <a:r>
                        <a:rPr sz="540" b="0">
                          <a:solidFill>
                            <a:srgbClr val="21242A"/>
                          </a:solidFill>
                          <a:latin typeface="Microsoft YaHei"/>
                        </a:rPr>
                        <a:t>53.7%（完全缓解17.1%，部分缓解36.6%）</a:t>
                      </a:r>
                    </a:p>
                  </a:txBody>
                  <a:tcPr>
                    <a:solidFill>
                      <a:srgbClr val="F6F8FB"/>
                    </a:solidFill>
                  </a:tcPr>
                </a:tc>
              </a:tr>
              <a:tr h="249936">
                <a:tc>
                  <a:txBody>
                    <a:bodyPr wrap="square" lIns="36576" rIns="36576" tIns="18288" bIns="18288"/>
                    <a:lstStyle/>
                    <a:p>
                      <a:r>
                        <a:rPr sz="540" b="1">
                          <a:solidFill>
                            <a:srgbClr val="21242A"/>
                          </a:solidFill>
                          <a:latin typeface="Microsoft YaHei"/>
                        </a:rPr>
                        <a:t>中位无进展生存期(mPFS)</a:t>
                      </a:r>
                    </a:p>
                  </a:txBody>
                  <a:tcPr>
                    <a:solidFill>
                      <a:srgbClr val="FFFFFF"/>
                    </a:solidFill>
                  </a:tcPr>
                </a:tc>
                <a:tc>
                  <a:txBody>
                    <a:bodyPr wrap="square" lIns="36576" rIns="36576" tIns="18288" bIns="18288"/>
                    <a:lstStyle/>
                    <a:p>
                      <a:r>
                        <a:rPr sz="540" b="0">
                          <a:solidFill>
                            <a:srgbClr val="21242A"/>
                          </a:solidFill>
                          <a:latin typeface="Microsoft YaHei"/>
                        </a:rPr>
                        <a:t>3.6个月</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基线ctDNA≥245 hGE/mL与较低PFS相关（中位PFS 2.7 vs 7.8个月）</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基线TMTV&gt;135 mL与较短PFS相关（中位PFS 2.6 vs 7.8个月）</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第3周期ctDNA阴性患者PFS更优（8.6 vs 3.7个月）</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摘要号：PF1096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pola-r-chp与r-epoch在dlbcl结外受累一线治疗中的比较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pola-r-chp vs r-epoch for frontline therapy in dlbcl with extranodal involvem...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N=83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多组/多方案比较：组1：Pola-R-CHP</a:t>
            </a:r>
          </a:p>
          <a:p>
            <a:pPr>
              <a:lnSpc>
                <a:spcPct val="103000"/>
              </a:lnSpc>
              <a:spcAft>
                <a:spcPts val="300"/>
              </a:spcAft>
              <a:defRPr sz="800">
                <a:solidFill>
                  <a:srgbClr val="21242A"/>
                </a:solidFill>
                <a:latin typeface="Microsoft YaHei"/>
              </a:defRPr>
            </a:pPr>
            <a:r>
              <a:t>组2：R-EPOCH</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4周期ORR（未匹配）：Pola-R-CHP组95% vs R-EPOCH组69%，P=0.019</a:t>
            </a:r>
          </a:p>
          <a:p>
            <a:pPr>
              <a:lnSpc>
                <a:spcPct val="103000"/>
              </a:lnSpc>
              <a:spcAft>
                <a:spcPts val="300"/>
              </a:spcAft>
              <a:defRPr sz="800">
                <a:solidFill>
                  <a:srgbClr val="21242A"/>
                </a:solidFill>
                <a:latin typeface="Microsoft YaHei"/>
              </a:defRPr>
            </a:pPr>
            <a:r>
              <a:t>4周期ORR（匹配后）：Pola-R-CHP组96% vs R-EPOCH组70%，P=0.006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人数：83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pola-r-chp与r-epoch在dlbcl结外受累一线治疗中的比较</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pola-r-chp vs r-epoch for frontline therapy in dlbcl with extranodal involvem...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背景：新诊断的弥漫性大 B 细胞淋巴瘤 (DLBCL) 患者伴有结外器官受累 (ENI) 的发生率约为 30-40%，在利妥昔单抗时代疗效有限且生存率低。因此，我中心对该类患者普遍采用R-EPOCH方案。</a:t>
            </a:r>
          </a:p>
          <a:p>
            <a:pPr>
              <a:lnSpc>
                <a:spcPct val="103000"/>
              </a:lnSpc>
              <a:spcAft>
                <a:spcPts val="300"/>
              </a:spcAft>
              <a:defRPr sz="550">
                <a:solidFill>
                  <a:srgbClr val="21242A"/>
                </a:solidFill>
                <a:latin typeface="Microsoft YaHei"/>
              </a:defRPr>
            </a:pPr>
            <a:r>
              <a:t>Pola-R-CHP 已被证明可以改善一线治疗中一些患者的无进展生存期 (PFS)。然而，ENI-DLBCL 的可用数据仍然不足。本研究对83例初诊ENI-DLBCL患者的临床资料进行回顾性分析。比较Pola-R-CHP和R-EPOCH方案的疗效和安全性，旨在为此类患者提供合理的治疗。</a:t>
            </a:r>
          </a:p>
          <a:p>
            <a:pPr>
              <a:lnSpc>
                <a:spcPct val="103000"/>
              </a:lnSpc>
              <a:spcAft>
                <a:spcPts val="300"/>
              </a:spcAft>
              <a:defRPr sz="550">
                <a:solidFill>
                  <a:srgbClr val="21242A"/>
                </a:solidFill>
                <a:latin typeface="Microsoft YaHei"/>
              </a:defRPr>
            </a:pPr>
            <a:r>
              <a:t>目的：比较 Pola-R-CHP 和 R-EPOCH 方案对新诊断的 ENI-DLBCL 患者的疗效和安全性。 方法：这是一项真实世界、单中心、回顾性、观察性研究。共有 83 名采用两种方案的患者入组。根据年龄、性别、COO、阶段、IPI和Bulky≥7.5cm进行倾向评分匹配。</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Pola-R-CHP 方案为 ENI-DLBCL 患者（尤其是骨累及）提供了良好的疗效和较低的毒性。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4周期ORR（未匹配）</a:t>
                      </a:r>
                    </a:p>
                  </a:txBody>
                  <a:tcPr>
                    <a:solidFill>
                      <a:srgbClr val="F6F8FB"/>
                    </a:solidFill>
                  </a:tcPr>
                </a:tc>
                <a:tc>
                  <a:txBody>
                    <a:bodyPr wrap="square" lIns="36576" rIns="36576" tIns="18288" bIns="18288"/>
                    <a:lstStyle/>
                    <a:p>
                      <a:r>
                        <a:rPr sz="540" b="0">
                          <a:solidFill>
                            <a:srgbClr val="21242A"/>
                          </a:solidFill>
                          <a:latin typeface="Microsoft YaHei"/>
                        </a:rPr>
                        <a:t>Pola-R-CHP组95% vs R-EPOCH组69%，P=0.019</a:t>
                      </a:r>
                    </a:p>
                  </a:txBody>
                  <a:tcPr>
                    <a:solidFill>
                      <a:srgbClr val="F6F8FB"/>
                    </a:solidFill>
                  </a:tcPr>
                </a:tc>
              </a:tr>
              <a:tr h="214230">
                <a:tc>
                  <a:txBody>
                    <a:bodyPr wrap="square" lIns="36576" rIns="36576" tIns="18288" bIns="18288"/>
                    <a:lstStyle/>
                    <a:p>
                      <a:r>
                        <a:rPr sz="540" b="1">
                          <a:solidFill>
                            <a:srgbClr val="21242A"/>
                          </a:solidFill>
                          <a:latin typeface="Microsoft YaHei"/>
                        </a:rPr>
                        <a:t>4周期ORR（匹配后）</a:t>
                      </a:r>
                    </a:p>
                  </a:txBody>
                  <a:tcPr>
                    <a:solidFill>
                      <a:srgbClr val="FFFFFF"/>
                    </a:solidFill>
                  </a:tcPr>
                </a:tc>
                <a:tc>
                  <a:txBody>
                    <a:bodyPr wrap="square" lIns="36576" rIns="36576" tIns="18288" bIns="18288"/>
                    <a:lstStyle/>
                    <a:p>
                      <a:r>
                        <a:rPr sz="540" b="0">
                          <a:solidFill>
                            <a:srgbClr val="21242A"/>
                          </a:solidFill>
                          <a:latin typeface="Microsoft YaHei"/>
                        </a:rPr>
                        <a:t>Pola-R-CHP组96% vs R-EPOCH组70%，P=0.006</a:t>
                      </a:r>
                    </a:p>
                  </a:txBody>
                  <a:tcPr>
                    <a:solidFill>
                      <a:srgbClr val="FFFFFF"/>
                    </a:solidFill>
                  </a:tcPr>
                </a:tc>
              </a:tr>
              <a:tr h="214230">
                <a:tc>
                  <a:txBody>
                    <a:bodyPr wrap="square" lIns="36576" rIns="36576" tIns="18288" bIns="18288"/>
                    <a:lstStyle/>
                    <a:p>
                      <a:r>
                        <a:rPr sz="540" b="1">
                          <a:solidFill>
                            <a:srgbClr val="21242A"/>
                          </a:solidFill>
                          <a:latin typeface="Microsoft YaHei"/>
                        </a:rPr>
                        <a:t>6周期ORR（未匹配）</a:t>
                      </a:r>
                    </a:p>
                  </a:txBody>
                  <a:tcPr>
                    <a:solidFill>
                      <a:srgbClr val="F6F8FB"/>
                    </a:solidFill>
                  </a:tcPr>
                </a:tc>
                <a:tc>
                  <a:txBody>
                    <a:bodyPr wrap="square" lIns="36576" rIns="36576" tIns="18288" bIns="18288"/>
                    <a:lstStyle/>
                    <a:p>
                      <a:r>
                        <a:rPr sz="540" b="0">
                          <a:solidFill>
                            <a:srgbClr val="21242A"/>
                          </a:solidFill>
                          <a:latin typeface="Microsoft YaHei"/>
                        </a:rPr>
                        <a:t>Pola-R-CHP组90% vs R-EPOCH组63%，P=0.030</a:t>
                      </a:r>
                    </a:p>
                  </a:txBody>
                  <a:tcPr>
                    <a:solidFill>
                      <a:srgbClr val="F6F8FB"/>
                    </a:solidFill>
                  </a:tcPr>
                </a:tc>
              </a:tr>
              <a:tr h="214230">
                <a:tc>
                  <a:txBody>
                    <a:bodyPr wrap="square" lIns="36576" rIns="36576" tIns="18288" bIns="18288"/>
                    <a:lstStyle/>
                    <a:p>
                      <a:r>
                        <a:rPr sz="540" b="1">
                          <a:solidFill>
                            <a:srgbClr val="21242A"/>
                          </a:solidFill>
                          <a:latin typeface="Microsoft YaHei"/>
                        </a:rPr>
                        <a:t>6周期ORR（匹配后）</a:t>
                      </a:r>
                    </a:p>
                  </a:txBody>
                  <a:tcPr>
                    <a:solidFill>
                      <a:srgbClr val="FFFFFF"/>
                    </a:solidFill>
                  </a:tcPr>
                </a:tc>
                <a:tc>
                  <a:txBody>
                    <a:bodyPr wrap="square" lIns="36576" rIns="36576" tIns="18288" bIns="18288"/>
                    <a:lstStyle/>
                    <a:p>
                      <a:r>
                        <a:rPr sz="540" b="0">
                          <a:solidFill>
                            <a:srgbClr val="21242A"/>
                          </a:solidFill>
                          <a:latin typeface="Microsoft YaHei"/>
                        </a:rPr>
                        <a:t>Pola-R-CHP组88% vs R-EPOCH组61%，P=0.014</a:t>
                      </a:r>
                    </a:p>
                  </a:txBody>
                  <a:tcPr>
                    <a:solidFill>
                      <a:srgbClr val="FFFFFF"/>
                    </a:solidFill>
                  </a:tcPr>
                </a:tc>
              </a:tr>
              <a:tr h="214230">
                <a:tc>
                  <a:txBody>
                    <a:bodyPr wrap="square" lIns="36576" rIns="36576" tIns="18288" bIns="18288"/>
                    <a:lstStyle/>
                    <a:p>
                      <a:r>
                        <a:rPr sz="540" b="1">
                          <a:solidFill>
                            <a:srgbClr val="21242A"/>
                          </a:solidFill>
                          <a:latin typeface="Microsoft YaHei"/>
                        </a:rPr>
                        <a:t>4周期CR（未匹配）</a:t>
                      </a:r>
                    </a:p>
                  </a:txBody>
                  <a:tcPr>
                    <a:solidFill>
                      <a:srgbClr val="F6F8FB"/>
                    </a:solidFill>
                  </a:tcPr>
                </a:tc>
                <a:tc>
                  <a:txBody>
                    <a:bodyPr wrap="square" lIns="36576" rIns="36576" tIns="18288" bIns="18288"/>
                    <a:lstStyle/>
                    <a:p>
                      <a:r>
                        <a:rPr sz="540" b="0">
                          <a:solidFill>
                            <a:srgbClr val="21242A"/>
                          </a:solidFill>
                          <a:latin typeface="Microsoft YaHei"/>
                        </a:rPr>
                        <a:t>Pola-R-CHP组50% vs R-EPOCH组47%，P=0.82</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其余8条结果见HTML完整清单及EHA原文。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结外代谢肿瘤体积确定受益于pola-r-chp的大型b细胞淋巴瘤亚群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extranodal metabolic tumor volume identifies large b‑cell lymphoma subgroups...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N=625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对照/比较：试验组：Pola-R-CHP（polatuzumab vedotin，利妥昔单抗，环磷酰胺，多柔比星，泼尼松）</a:t>
            </a:r>
          </a:p>
          <a:p>
            <a:pPr>
              <a:lnSpc>
                <a:spcPct val="103000"/>
              </a:lnSpc>
              <a:spcAft>
                <a:spcPts val="300"/>
              </a:spcAft>
              <a:defRPr sz="800">
                <a:solidFill>
                  <a:srgbClr val="21242A"/>
                </a:solidFill>
                <a:latin typeface="Microsoft YaHei"/>
              </a:defRPr>
            </a:pPr>
            <a:r>
              <a:t>对照组：R-CHOP（利妥昔单抗，环磷酰胺，多柔比星，泼尼松）</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3年无进展生存率（PFS）：两组整体相似，未报告具体数值。</a:t>
            </a:r>
          </a:p>
          <a:p>
            <a:pPr>
              <a:lnSpc>
                <a:spcPct val="103000"/>
              </a:lnSpc>
              <a:spcAft>
                <a:spcPts val="300"/>
              </a:spcAft>
              <a:defRPr sz="800">
                <a:solidFill>
                  <a:srgbClr val="21242A"/>
                </a:solidFill>
                <a:latin typeface="Microsoft YaHei"/>
              </a:defRPr>
            </a:pPr>
            <a:r>
              <a:t>在低TMTV（&lt;350 mL）且高EN/TMTV亚组中，Pola-R-CHP组3年PFS为96.3%，R-CHOP组为74.0...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人数：625</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结外代谢肿瘤体积确定受益于pola-r-chp的大型b细胞淋巴瘤亚群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extranodal metabolic tumor volume identifies large b‑cell lymphoma subgroups...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139/187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背景：二十多年来，R-CHOP 一直是大 B 细胞淋巴瘤 (LBCL) 的标准一线治疗方案，直到 POLARIX 试验证明在 Pola-R-CHP 中使用 polatuzumab vedotin (PV) 可改善无进展生存期 (PFS)。然而，总生存期 (OS) 没有差异，并且仍然没有经过验证的策略来确定从基于 PV </a:t>
            </a:r>
          </a:p>
          <a:p>
            <a:pPr>
              <a:lnSpc>
                <a:spcPct val="103000"/>
              </a:lnSpc>
              <a:spcAft>
                <a:spcPts val="300"/>
              </a:spcAft>
              <a:defRPr sz="550">
                <a:solidFill>
                  <a:srgbClr val="21242A"/>
                </a:solidFill>
                <a:latin typeface="Microsoft YaHei"/>
              </a:defRPr>
            </a:pPr>
            <a:r>
              <a:t>的治疗中获益最多的患者。</a:t>
            </a:r>
          </a:p>
          <a:p>
            <a:pPr>
              <a:lnSpc>
                <a:spcPct val="103000"/>
              </a:lnSpc>
              <a:spcAft>
                <a:spcPts val="300"/>
              </a:spcAft>
              <a:defRPr sz="550">
                <a:solidFill>
                  <a:srgbClr val="21242A"/>
                </a:solidFill>
                <a:latin typeface="Microsoft YaHei"/>
              </a:defRPr>
            </a:pPr>
            <a:r>
              <a:t>目的：\n 确定总代谢肿瘤体积 (TMTV) 的组成，特别是结外负荷，是否可以改善 LBCL 中 Pola-R-CHP 和 R-CHOP 之间的一线治疗分层。</a:t>
            </a:r>
          </a:p>
          <a:p>
            <a:pPr>
              <a:lnSpc>
                <a:spcPct val="103000"/>
              </a:lnSpc>
              <a:spcAft>
                <a:spcPts val="300"/>
              </a:spcAft>
              <a:defRPr sz="550">
                <a:solidFill>
                  <a:srgbClr val="21242A"/>
                </a:solidFill>
                <a:latin typeface="Microsoft YaHei"/>
              </a:defRPr>
            </a:pPr>
            <a:r>
              <a:t>\n 方法：我们回顾性分析了 2007 年至 2025 年接受 R-CHOP 或 Pola-R-CHP 治疗的新诊断 LBCL 患者。使用基线正电子发射断层扫描-计算机断层扫描来量化 TMTV 和结外代谢肿瘤体积。</a:t>
            </a:r>
          </a:p>
          <a:p>
            <a:pPr>
              <a:lnSpc>
                <a:spcPct val="103000"/>
              </a:lnSpc>
              <a:spcAft>
                <a:spcPts val="300"/>
              </a:spcAft>
              <a:defRPr sz="550">
                <a:solidFill>
                  <a:srgbClr val="21242A"/>
                </a:solidFill>
                <a:latin typeface="Microsoft YaHei"/>
              </a:defRPr>
            </a:pPr>
            <a:r>
              <a:t>The proportion of extranodal disease (EN/TMTV) was derived Associations with 3-year PFS and treatment interactions were evaluated using multivariable Cox models</a:t>
            </a:r>
          </a:p>
          <a:p>
            <a:pPr>
              <a:lnSpc>
                <a:spcPct val="103000"/>
              </a:lnSpc>
              <a:spcAft>
                <a:spcPts val="300"/>
              </a:spcAft>
              <a:defRPr sz="550">
                <a:solidFill>
                  <a:srgbClr val="21242A"/>
                </a:solidFill>
                <a:latin typeface="Microsoft YaHei"/>
              </a:defRPr>
            </a:pPr>
            <a:r>
              <a:t> with interaction terms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高 EN/TMTV 确定了一个肿瘤负荷低的亚组，他们似乎从 Pola‑R‑CHP 中获得了特别的益处。成像衍生的结外负担可以提供快速、非侵入性的生物标志物来指导一线治疗方案的选择，并可以补充新兴的分子分类器。整合分子和成像数据的外部验证是有必要的。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1. 3年无进展生存率（PFS）</a:t>
                      </a:r>
                    </a:p>
                  </a:txBody>
                  <a:tcPr>
                    <a:solidFill>
                      <a:srgbClr val="F6F8FB"/>
                    </a:solidFill>
                  </a:tcPr>
                </a:tc>
                <a:tc>
                  <a:txBody>
                    <a:bodyPr wrap="square" lIns="36576" rIns="36576" tIns="18288" bIns="18288"/>
                    <a:lstStyle/>
                    <a:p>
                      <a:r>
                        <a:rPr sz="540" b="0">
                          <a:solidFill>
                            <a:srgbClr val="21242A"/>
                          </a:solidFill>
                          <a:latin typeface="Microsoft YaHei"/>
                        </a:rPr>
                        <a:t>两组整体相似，未报告具体数值。</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2. 在低TMTV（&lt;350 mL）且高EN/TMTV亚组中，Pola-R-CHP组3年PFS为96.3%，R-CHOP组为74.0%。</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3. 在低TMTV且高EN/TMTV亚组中，Pola-R-CHP组3年总生存率（OS）为100%，R-CHOP组为80.2%。</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4. 高TMTV（≥350 mL）与较差生存相关（HR 2.72 [95% CI 2.02–3.67]）。</a:t>
                      </a:r>
                    </a:p>
                  </a:txBody>
                  <a:tcPr>
                    <a:solidFill>
                      <a:srgbClr val="FFFFFF"/>
                    </a:solidFill>
                  </a:tcPr>
                </a:tc>
              </a:tr>
              <a:tr h="249936">
                <a:tc>
                  <a:txBody>
                    <a:bodyPr wrap="square" lIns="36576" rIns="36576" tIns="18288" bIns="18288"/>
                    <a:lstStyle/>
                    <a:p>
                      <a:r>
                        <a:rPr sz="540" b="1">
                          <a:solidFill>
                            <a:srgbClr val="21242A"/>
                          </a:solidFill>
                          <a:latin typeface="Microsoft YaHei"/>
                        </a:rPr>
                        <a:t>5. 治疗交互作用</a:t>
                      </a:r>
                    </a:p>
                  </a:txBody>
                  <a:tcPr>
                    <a:solidFill>
                      <a:srgbClr val="F6F8FB"/>
                    </a:solidFill>
                  </a:tcPr>
                </a:tc>
                <a:tc>
                  <a:txBody>
                    <a:bodyPr wrap="square" lIns="36576" rIns="36576" tIns="18288" bIns="18288"/>
                    <a:lstStyle/>
                    <a:p>
                      <a:r>
                        <a:rPr sz="540" b="0">
                          <a:solidFill>
                            <a:srgbClr val="21242A"/>
                          </a:solidFill>
                          <a:latin typeface="Microsoft YaHei"/>
                        </a:rPr>
                        <a:t>Pola-R-CHP仅在低TMTV且高EN/TMTV亚组中显著改善PFS（HR 0.11 [95% CI 0.02–0.81]）。</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摘要号：PF1012</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噬血细胞淋巴组织细胞增生症作为弥漫性大b细胞淋巴瘤发病的早期死亡和生存率低的危险因素</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risk factors for early death and poor survival in hemophagocytic lymphohistio...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N=130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回顾性临床研究结果：risk factors for early death and poor survival in hem...</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早期死亡（≤30天）率：19.2%</a:t>
            </a:r>
          </a:p>
          <a:p>
            <a:pPr>
              <a:lnSpc>
                <a:spcPct val="103000"/>
              </a:lnSpc>
              <a:spcAft>
                <a:spcPts val="300"/>
              </a:spcAft>
              <a:defRPr sz="800">
                <a:solidFill>
                  <a:srgbClr val="21242A"/>
                </a:solidFill>
                <a:latin typeface="Microsoft YaHei"/>
              </a:defRPr>
            </a:pPr>
            <a:r>
              <a:t>独立早期死亡预测因子：年龄&gt;75岁（OR=25.0，P&lt;0.001）、铁蛋白&gt;5000 μg/L（OR=25.9，P=0.00...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人数：130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研究主题：risk factors for early death and poor survival in hemophagocytic lymphohistiocytosis as an onset of diffuse large b-cel...</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噬血细胞淋巴组织细胞增生症作为弥漫性大b细胞淋巴瘤发病的早期死亡和生存率低的危险因素</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risk factors for early death and poor survival in hemophagocytic lymphohistio...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PF999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背景：以噬血细胞性淋巴组织细胞增多症为首发表现的弥漫性大 B 细胞淋巴瘤（HLH 发病的 DLBCL）是一种高度侵袭性的临床亚型，其特征是“肿瘤-炎症自驱动循环”。该人群表现出独特的临床特征和极差的预后；然而，稳健的风险分层模型和治疗策略的系统评估仍然很少。</a:t>
            </a:r>
          </a:p>
          <a:p>
            <a:pPr>
              <a:lnSpc>
                <a:spcPct val="103000"/>
              </a:lnSpc>
              <a:spcAft>
                <a:spcPts val="300"/>
              </a:spcAft>
              <a:defRPr sz="550">
                <a:solidFill>
                  <a:srgbClr val="21242A"/>
                </a:solidFill>
                <a:latin typeface="Microsoft YaHei"/>
              </a:defRPr>
            </a:pPr>
            <a:r>
              <a:t>目的：本研究旨在：1）确定早期死亡（ED，≤30天）的独立危险因素并开发床边评分模型（ED-SSM）； 2）建立新型长期预后系统（OS-PSS）； 3) 使用治疗加权逆概率（IPTW）评估治疗强度的影响； 4) 使用靶向下一代测序 (NGS) 表征基因组景观。</a:t>
            </a:r>
          </a:p>
          <a:p>
            <a:pPr>
              <a:lnSpc>
                <a:spcPct val="103000"/>
              </a:lnSpc>
              <a:spcAft>
                <a:spcPts val="300"/>
              </a:spcAft>
              <a:defRPr sz="550">
                <a:solidFill>
                  <a:srgbClr val="21242A"/>
                </a:solidFill>
                <a:latin typeface="Microsoft YaHei"/>
              </a:defRPr>
            </a:pPr>
            <a:r>
              <a:t>方法：对2019年1月1日至2025年1月1日期间收治的130例初治的HLH发病DLBCL患者进行回顾性分析。多变量逻辑和 Cox 比例风险模型确定了预后决定因素。</a:t>
            </a:r>
          </a:p>
          <a:p>
            <a:pPr>
              <a:lnSpc>
                <a:spcPct val="103000"/>
              </a:lnSpc>
              <a:spcAft>
                <a:spcPts val="300"/>
              </a:spcAft>
              <a:defRPr sz="550">
                <a:solidFill>
                  <a:srgbClr val="21242A"/>
                </a:solidFill>
                <a:latin typeface="Microsoft YaHei"/>
              </a:defRPr>
            </a:pPr>
            <a:r>
              <a:t>IPTW 的实施是为了平衡六个核心基线参数（年龄、血小板、APTT、LDH、白蛋白和铁蛋白），以最大限度地减少选择偏差。对 38 名患者进行了靶向 NGS（475 基因组），以鉴定突变簇和分子亚型。</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HLH 发病的 DLBCL 的特点是早期死亡率高和独特的分子特征。我们的 ED-SSM 和 OS-PSS 模型可实现精确的床边风险分层。至关重要的是，同步标准强度淋巴瘤定向治疗对于提高生存率至关重要，即使对于脆弱的患者也是如此。 MCD 亚型的丰富表明，整合靶向药物（例如 BTK 抑制剂）值得进一步研究。</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结果：中位年龄为 67 岁； 92.3% 处于 III-IV 期，86.2% 患有骨髓受累。</a:t>
            </a:r>
          </a:p>
          <a:p>
            <a:pPr>
              <a:lnSpc>
                <a:spcPct val="103000"/>
              </a:lnSpc>
              <a:spcAft>
                <a:spcPts val="300"/>
              </a:spcAft>
              <a:defRPr sz="560">
                <a:solidFill>
                  <a:srgbClr val="21242A"/>
                </a:solidFill>
                <a:latin typeface="Microsoft YaHei"/>
              </a:defRPr>
            </a:pPr>
            <a:r>
              <a:t>ED率为19.2%。多变量分析确定年龄 &gt;75 岁（OR=25.0，P 5000 μg/L（OR=25.9，P=0.008）和 PCT &gt;0.5 ng/mL（OR=5.52，P=0.007）作为独立的 ED 预测因素。ED-SSM（0-5 分）的 AUC 为 0.848。传统的 IPI 未能提供有效的风险分层</a:t>
            </a:r>
          </a:p>
          <a:p>
            <a:pPr>
              <a:lnSpc>
                <a:spcPct val="103000"/>
              </a:lnSpc>
              <a:spcAft>
                <a:spcPts val="300"/>
              </a:spcAft>
              <a:defRPr sz="560">
                <a:solidFill>
                  <a:srgbClr val="21242A"/>
                </a:solidFill>
                <a:latin typeface="Microsoft YaHei"/>
              </a:defRPr>
            </a:pPr>
            <a:r>
              <a:t>，因为相比之下，95.4% 的患者集中在高危类别中，OS-PSS（结合年龄、血小板、铁蛋白和 PCT）表现出优越的判别能力（C 指数 0.746），与不治疗相比，标准强度化学免疫治疗显着降低了死亡风险（HR=0.012，95% CI：0.005-0.032）。</a:t>
            </a:r>
          </a:p>
          <a:p>
            <a:pPr>
              <a:lnSpc>
                <a:spcPct val="103000"/>
              </a:lnSpc>
              <a:spcAft>
                <a:spcPts val="300"/>
              </a:spcAft>
              <a:defRPr sz="560">
                <a:solidFill>
                  <a:srgbClr val="21242A"/>
                </a:solidFill>
                <a:latin typeface="Microsoft YaHei"/>
              </a:defRPr>
            </a:pPr>
            <a:r>
              <a:t>P 65 或 ECOG &gt;2），标准强度仍然是生存的关键驱动因素（HR=0.017，P</a:t>
            </a:r>
          </a:p>
          <a:p>
            <a:pPr>
              <a:lnSpc>
                <a:spcPct val="103000"/>
              </a:lnSpc>
              <a:spcAft>
                <a:spcPts val="300"/>
              </a:spcAft>
              <a:defRPr sz="560">
                <a:solidFill>
                  <a:srgbClr val="21242A"/>
                </a:solidFill>
                <a:latin typeface="Microsoft YaHei"/>
              </a:defRPr>
            </a:pPr>
            <a:r>
              <a:t>结论：HLH 发病的 DLBCL 具有早期死亡率高和独特的分子特征的特点。我们的 ED-SSM 和 OS-PSS 模型可实现精确的床边风险分层。至关重要的是，同步标准强度淋巴瘤定向治疗对于提高生存率至关重要，即使对于脆弱的患者也是如此。</a:t>
            </a:r>
          </a:p>
          <a:p>
            <a:pPr>
              <a:lnSpc>
                <a:spcPct val="103000"/>
              </a:lnSpc>
              <a:spcAft>
                <a:spcPts val="300"/>
              </a:spcAft>
              <a:defRPr sz="560">
                <a:solidFill>
                  <a:srgbClr val="21242A"/>
                </a:solidFill>
                <a:latin typeface="Microsoft YaHei"/>
              </a:defRPr>
            </a:pPr>
            <a:r>
              <a:t>MCD 亚型的丰富表明，整合靶向药物（例如 BTK 抑制剂）值得进一步研究。</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摘要号：PF999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空间组织的巨噬细胞表型定义了侵袭性b-nhl的治疗反应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spatially organized macrophage phenotypes define treatment response in aggres...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PS2164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B细胞非霍奇金淋巴瘤，弥漫性大B细胞淋巴瘤</a:t>
            </a:r>
          </a:p>
          <a:p>
            <a:pPr>
              <a:lnSpc>
                <a:spcPct val="103000"/>
              </a:lnSpc>
              <a:spcAft>
                <a:spcPts val="300"/>
              </a:spcAft>
              <a:defRPr sz="800">
                <a:solidFill>
                  <a:srgbClr val="21242A"/>
                </a:solidFill>
                <a:latin typeface="Microsoft YaHei"/>
              </a:defRPr>
            </a:pPr>
            <a:r>
              <a:t>N=156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回顾性临床研究结果：spatially organized macrophage phenotypes define trea...</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细胞毒性T细胞频率较高与更长PFS相关</a:t>
            </a:r>
          </a:p>
          <a:p>
            <a:pPr>
              <a:lnSpc>
                <a:spcPct val="103000"/>
              </a:lnSpc>
              <a:spcAft>
                <a:spcPts val="300"/>
              </a:spcAft>
              <a:defRPr sz="800">
                <a:solidFill>
                  <a:srgbClr val="21242A"/>
                </a:solidFill>
                <a:latin typeface="Microsoft YaHei"/>
              </a:defRPr>
            </a:pPr>
            <a:r>
              <a:t>耗竭细胞毒性T细胞比例增加与更短PFS趋势相关</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人数：156</a:t>
            </a:r>
          </a:p>
          <a:p>
            <a:pPr>
              <a:lnSpc>
                <a:spcPct val="103000"/>
              </a:lnSpc>
              <a:spcAft>
                <a:spcPts val="300"/>
              </a:spcAft>
              <a:defRPr sz="810">
                <a:solidFill>
                  <a:srgbClr val="21242A"/>
                </a:solidFill>
                <a:latin typeface="Microsoft YaHei"/>
              </a:defRPr>
            </a:pPr>
            <a:r>
              <a:t>适应症：B细胞非霍奇金淋巴瘤、弥漫性大B细胞淋巴瘤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研究主题：spatially organized macrophage phenotypes define treatment response in aggressive b-nhl</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空间组织的巨噬细胞表型定义了侵袭性b-nhl的治疗反应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spatially organized macrophage phenotypes define treatment response in aggres...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PS2164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背景：肿瘤微环境（TME）越来越被认为是恶性肿瘤治疗反应的重要贡献者。虽然已对弥漫性大 B 细胞淋巴瘤 (DLBCL) 的细胞组成进行了研究，但肿瘤和免疫细胞的空间组织及其与临床结果的联系仍不充分。 目的：本研究旨在表征 DLBCL 微环境的细胞组成和空间结构，并将这些特征与一线化疗后的临床结果相关联。</a:t>
            </a:r>
          </a:p>
          <a:p>
            <a:pPr>
              <a:lnSpc>
                <a:spcPct val="103000"/>
              </a:lnSpc>
              <a:spcAft>
                <a:spcPts val="300"/>
              </a:spcAft>
              <a:defRPr sz="550">
                <a:solidFill>
                  <a:srgbClr val="21242A"/>
                </a:solidFill>
                <a:latin typeface="Microsoft YaHei"/>
              </a:defRPr>
            </a:pPr>
            <a:r>
              <a:t>方法：我们分析了接受标准化疗或化学免疫疗法治疗的侵袭性 B 细胞非霍奇金淋巴瘤 (B-NHL) 患者的诊断肿瘤样本。基于 indEXing 共检测的多重免疫荧光（CODEX，n=156）和 Xenium 空间转录组学（n=68）分别用于表征空间蛋白质组和转录组。使用基于半径的细胞邻域、成对细胞-细胞邻近度和配体-受体分</a:t>
            </a:r>
          </a:p>
          <a:p>
            <a:pPr>
              <a:lnSpc>
                <a:spcPct val="103000"/>
              </a:lnSpc>
              <a:spcAft>
                <a:spcPts val="300"/>
              </a:spcAft>
              <a:defRPr sz="550">
                <a:solidFill>
                  <a:srgbClr val="21242A"/>
                </a:solidFill>
                <a:latin typeface="Microsoft YaHei"/>
              </a:defRPr>
            </a:pPr>
            <a:r>
              <a:t>析来评估细胞组成和空间关系。</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该研究表明，包括免疫细胞组成和空间组织在内的微环境特征对于侵袭性 B-NHL 具有预后相关性。除了总体细胞频率之外，空间邻近性还提供了额外的结果分层，突出了空间分辨表型对于预测治疗反应和指导生物标志物开发的重要性。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1. 细胞毒性T细胞频率较高与更长PFS相关；2. 耗竭细胞毒性T细胞比例增加与更短PFS趋势相关；3. 巨噬细胞水平升高与更长PFS相关（p=0.009）；4. 巨噬细胞空间邻近性在巨噬细胞高频率组中与更长PFS相关（p=0.04）；5. 耗竭T细胞与增殖B细胞的邻近性与较差预后相关（p=0.00006）</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摘要号：PS2164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长春新碱剂量调整或替代对r-chop治疗dlbcl患者临床结局的影响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vincristine dose modifications or substitution on clinical outcomes...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N=294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试验药/方案：长春新碱</a:t>
            </a:r>
          </a:p>
          <a:p>
            <a:pPr>
              <a:lnSpc>
                <a:spcPct val="103000"/>
              </a:lnSpc>
              <a:spcAft>
                <a:spcPts val="300"/>
              </a:spcAft>
              <a:defRPr sz="800">
                <a:solidFill>
                  <a:srgbClr val="21242A"/>
                </a:solidFill>
                <a:latin typeface="Microsoft YaHei"/>
              </a:defRPr>
            </a:pPr>
            <a:r>
              <a:t>靶点：Tubulin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多组/多方案比较：试验组1：标准R-CHOP组（rituximab, cyclophosphamide, doxorubici...</a:t>
            </a:r>
          </a:p>
          <a:p>
            <a:pPr>
              <a:lnSpc>
                <a:spcPct val="103000"/>
              </a:lnSpc>
              <a:spcAft>
                <a:spcPts val="300"/>
              </a:spcAft>
              <a:defRPr sz="800">
                <a:solidFill>
                  <a:srgbClr val="21242A"/>
                </a:solidFill>
                <a:latin typeface="Microsoft YaHei"/>
              </a:defRPr>
            </a:pPr>
            <a:r>
              <a:t>试验组2：改良治疗组（长春新碱剂量减少或省略或长春碱替代，其他药物保持不变）</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2年OS：标准组80%（75%,86%），改良组83%（76%,92%），p=0.90</a:t>
            </a:r>
          </a:p>
          <a:p>
            <a:pPr>
              <a:lnSpc>
                <a:spcPct val="103000"/>
              </a:lnSpc>
              <a:spcAft>
                <a:spcPts val="300"/>
              </a:spcAft>
              <a:defRPr sz="800">
                <a:solidFill>
                  <a:srgbClr val="21242A"/>
                </a:solidFill>
                <a:latin typeface="Microsoft YaHei"/>
              </a:defRPr>
            </a:pPr>
            <a:r>
              <a:t>2年DFS：标准组77%（72%,83%），改良组78%（69%,88%），p=0.79</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人数：294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试验药/方案：长春新碱</a:t>
            </a:r>
          </a:p>
          <a:p>
            <a:pPr>
              <a:lnSpc>
                <a:spcPct val="103000"/>
              </a:lnSpc>
              <a:spcAft>
                <a:spcPts val="300"/>
              </a:spcAft>
              <a:defRPr sz="810">
                <a:solidFill>
                  <a:srgbClr val="21242A"/>
                </a:solidFill>
                <a:latin typeface="Microsoft YaHei"/>
              </a:defRPr>
            </a:pPr>
            <a:r>
              <a:t>靶点：Tubulin</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长春新碱剂量调整或替代对r-chop治疗dlbcl患者临床结局的影响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vincristine dose modifications or substitution on clinical outcomes...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的标准一线治疗是 R-CHOP 方案（利妥昔单抗、环磷酰胺、阿霉素、长春新碱和泼尼松）。长春新碱适用于许多与治疗限制性神经毒性相关的患者。在临床实践中，管理选择包括减少或省略长春新碱的剂量或用长春花碱替代，以防发生神经毒性。多项登记研究表明，R-CHOP 中省略长春新碱不</a:t>
            </a:r>
          </a:p>
          <a:p>
            <a:pPr>
              <a:lnSpc>
                <a:spcPct val="103000"/>
              </a:lnSpc>
              <a:spcAft>
                <a:spcPts val="300"/>
              </a:spcAft>
              <a:defRPr sz="550">
                <a:solidFill>
                  <a:srgbClr val="21242A"/>
                </a:solidFill>
                <a:latin typeface="Microsoft YaHei"/>
              </a:defRPr>
            </a:pPr>
            <a:r>
              <a:t>会影响生存。目的：本研究比较了接受 R-CHOP 治疗的 DLBCL 患者的临床结果，无论是否调整长春新碱剂量或用长春花碱替代。方法：通过丹麦国家淋巴瘤登记处确定了丹麦北部地区 2006 年 1 月至 2020 年 12 月期间诊断为新发 DLBCL 并接受基于 R-CHOP 的一线治疗的年龄≥18 岁的患者。治疗组根</a:t>
            </a:r>
          </a:p>
          <a:p>
            <a:pPr>
              <a:lnSpc>
                <a:spcPct val="103000"/>
              </a:lnSpc>
              <a:spcAft>
                <a:spcPts val="300"/>
              </a:spcAft>
              <a:defRPr sz="550">
                <a:solidFill>
                  <a:srgbClr val="21242A"/>
                </a:solidFill>
                <a:latin typeface="Microsoft YaHei"/>
              </a:defRPr>
            </a:pPr>
            <a:r>
              <a:t>据标准 R-CHOP 的继续、长春新碱的减少或省略、或用长春花碱替代来定义。</a:t>
            </a:r>
          </a:p>
          <a:p>
            <a:pPr>
              <a:lnSpc>
                <a:spcPct val="103000"/>
              </a:lnSpc>
              <a:spcAft>
                <a:spcPts val="300"/>
              </a:spcAft>
              <a:defRPr sz="550">
                <a:solidFill>
                  <a:srgbClr val="21242A"/>
                </a:solidFill>
                <a:latin typeface="Microsoft YaHei"/>
              </a:defRPr>
            </a:pPr>
            <a:r>
              <a:t>\n 进行了完整病例的里程碑分析，其里程碑设定在诊断后 105 天，对应于观察到长春新碱的所有最终治疗修改完成的时间。</a:t>
            </a:r>
          </a:p>
          <a:p>
            <a:pPr>
              <a:lnSpc>
                <a:spcPct val="103000"/>
              </a:lnSpc>
              <a:spcAft>
                <a:spcPts val="300"/>
              </a:spcAft>
              <a:defRPr sz="550">
                <a:solidFill>
                  <a:srgbClr val="21242A"/>
                </a:solidFill>
                <a:latin typeface="Microsoft YaHei"/>
              </a:defRPr>
            </a:pPr>
            <a:r>
              <a:t>使用 Kaplan-Meier 估计器对继续标准 R-CHOP 的患者与接受长春新碱改良治疗的患者进行总生存期 (OS) 和无病生存期 (DFS) 的评估。粗略的和调整后的（年龄、性别和分期）OS 和 DFS 估计值均通过对数秩检验进行了呈现和比较。</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在这个以人群为基础的新发 DLBCL 患者队列中，在 R-CHOP 治疗期间通过减少剂量、省略或用长春碱替代来调整长春新碱，与整个 R-CHOP 治疗期间持续使用标准全剂量长春新碱相比，总生存期或无病生存期没有显着差异。这些发现表明，可以在不影响长期临床结果的情况下调整长春新碱剂量。</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结果：共纳入294例患者。其中，210 名中位年龄为 68 岁（范围 19-84 岁）的患者（71%）在整个 R-CHOP 治疗期间继续使用全剂量长春新碱，而 84 名中位年龄为 67 岁（范围 19-84 岁）的患者（29%）过渡到改良治疗。各组之间的基线人口统计数据和疾病特征在很大程度上具有可比性。在这两</a:t>
            </a:r>
          </a:p>
          <a:p>
            <a:pPr>
              <a:lnSpc>
                <a:spcPct val="103000"/>
              </a:lnSpc>
              <a:spcAft>
                <a:spcPts val="300"/>
              </a:spcAft>
              <a:defRPr sz="560">
                <a:solidFill>
                  <a:srgbClr val="21242A"/>
                </a:solidFill>
                <a:latin typeface="Microsoft YaHei"/>
              </a:defRPr>
            </a:pPr>
            <a:r>
              <a:t>组中，大多数是男性 (58%)，表现状态为 0-1 (88%)。分别有 60% 和 62% 的病例存在结外疾病，56% 和 54% 的病例存在中低风险疾病 (IPI 0-2)。在修改后的队列中，14 例（17%）接受了长春新碱剂量减少，10 例（12%）省略了长春新碱，38 例（45%）接受了长春碱替代，22</a:t>
            </a:r>
          </a:p>
          <a:p>
            <a:pPr>
              <a:lnSpc>
                <a:spcPct val="103000"/>
              </a:lnSpc>
              <a:spcAft>
                <a:spcPts val="300"/>
              </a:spcAft>
              <a:defRPr sz="560">
                <a:solidFill>
                  <a:srgbClr val="21242A"/>
                </a:solidFill>
                <a:latin typeface="Microsoft YaHei"/>
              </a:defRPr>
            </a:pPr>
            <a:r>
              <a:t> 例（26%）同时经历了减少和替代。</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美国社区肿瘤学环境中新诊断的弥漫性大b细胞淋巴瘤（dlbcl）患者的一线治疗模式和结果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treatment patterns and outcomes of first-line (1l) treatments in 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N=4291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分组：R-CHOP组：R-CHOP</a:t>
            </a:r>
          </a:p>
          <a:p>
            <a:pPr>
              <a:lnSpc>
                <a:spcPct val="103000"/>
              </a:lnSpc>
              <a:spcAft>
                <a:spcPts val="300"/>
              </a:spcAft>
              <a:defRPr sz="800">
                <a:solidFill>
                  <a:srgbClr val="21242A"/>
                </a:solidFill>
                <a:latin typeface="Microsoft YaHei"/>
              </a:defRPr>
            </a:pPr>
            <a:r>
              <a:t>Pola-R-CHP组：Pola-R-CHP</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多组/多方案比较：R-CHOP组：R-CHOP</a:t>
            </a:r>
          </a:p>
          <a:p>
            <a:pPr>
              <a:lnSpc>
                <a:spcPct val="103000"/>
              </a:lnSpc>
              <a:spcAft>
                <a:spcPts val="300"/>
              </a:spcAft>
              <a:defRPr sz="800">
                <a:solidFill>
                  <a:srgbClr val="21242A"/>
                </a:solidFill>
                <a:latin typeface="Microsoft YaHei"/>
              </a:defRPr>
            </a:pPr>
            <a:r>
              <a:t>Pola-R-CHP组：Pola-R-CHP</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中位随访时间：37.6个月（总体），42.0个月（R-CHOP），17.8个月（Pola-R-CHP），36.1个月（Othe...</a:t>
            </a:r>
          </a:p>
          <a:p>
            <a:pPr>
              <a:lnSpc>
                <a:spcPct val="103000"/>
              </a:lnSpc>
              <a:spcAft>
                <a:spcPts val="300"/>
              </a:spcAft>
              <a:defRPr sz="800">
                <a:solidFill>
                  <a:srgbClr val="21242A"/>
                </a:solidFill>
                <a:latin typeface="Microsoft YaHei"/>
              </a:defRPr>
            </a:pPr>
            <a:r>
              <a:t>中位TTNTD：63.5个月（总体，95% CI: 59.4, NR），68.5个月（R-CHOP，95% CI: 63.5,...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人数：4291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分组/治疗流程：R-CHOP组：R-CHOP、Pola-R-CHP组：Pola-R-CHP、Other组：其他方案（包含R-mini-CHOP和其他化疗）</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美国社区肿瘤学环境中新诊断的弥漫性大b细胞淋巴瘤（dlbcl）患者的一线治疗模式和结果</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treatment patterns and outcomes of first-line (1l) treatments in 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背景：大多数美国 DLBCL 患者在社区环境中被诊断并接受癌症护理（Sineshaw 等人，2023），其中患者特征、护理服务和资源可能有所不同；这些因素会影响治疗管理和结果。</a:t>
            </a:r>
          </a:p>
          <a:p>
            <a:pPr>
              <a:lnSpc>
                <a:spcPct val="103000"/>
              </a:lnSpc>
              <a:spcAft>
                <a:spcPts val="300"/>
              </a:spcAft>
              <a:defRPr sz="550">
                <a:solidFill>
                  <a:srgbClr val="21242A"/>
                </a:solidFill>
                <a:latin typeface="Microsoft YaHei"/>
              </a:defRPr>
            </a:pPr>
            <a:r>
              <a:t>R-CHOP 已成为临床指南推荐的首选 1L 疗法。截至 2023 年，Pola-R-CHP 的推出扩大了治疗选择。然而，关于社区肿瘤学环境中 1L 利用率的真实世界数据有限。 目的：本分析的目的是通过 1L 治疗来描述这种情况下的治疗模式和结果。</a:t>
            </a:r>
          </a:p>
          <a:p>
            <a:pPr>
              <a:lnSpc>
                <a:spcPct val="103000"/>
              </a:lnSpc>
              <a:spcAft>
                <a:spcPts val="300"/>
              </a:spcAft>
              <a:defRPr sz="550">
                <a:solidFill>
                  <a:srgbClr val="21242A"/>
                </a:solidFill>
                <a:latin typeface="Microsoft YaHei"/>
              </a:defRPr>
            </a:pPr>
            <a:r>
              <a:t>方法：本研究纳入了 2020 年 1 月 1 日至 2025 年 1 月 31 日在美国肿瘤网络内启动 1L 治疗方案的 DLBCL 患者（未另行指定）。分析结构化电子健康记录数据，直至死亡或 2025 年 9 月最后一次接触。使用 Kaplan-Meier 方法和相应的 95% 置信区间 (CI) 估计下次治疗或死亡</a:t>
            </a:r>
          </a:p>
          <a:p>
            <a:pPr>
              <a:lnSpc>
                <a:spcPct val="103000"/>
              </a:lnSpc>
              <a:spcAft>
                <a:spcPts val="300"/>
              </a:spcAft>
              <a:defRPr sz="550">
                <a:solidFill>
                  <a:srgbClr val="21242A"/>
                </a:solidFill>
                <a:latin typeface="Microsoft YaHei"/>
              </a:defRPr>
            </a:pPr>
            <a:r>
              <a:t>时间 (TTNTD)。难治性疾病定义为二线 (2L) 治疗开始 ≤ 1L 治疗结束后 6 个月。疾病复发定义为 2L 开始 &gt; 1L 结束后 6 个月。治疗线基于治疗方案的开始和停止日期。治疗模式和结果按 1L 方案（R-CHOP、Pola-R-CHP 或其他）进行整体呈现。</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在美国社区环境中，Pola-R-CHP 的利用率随着时间的推移而增加，但 R-CHOP 仍然是最常见的 1L 治疗方法。</a:t>
            </a:r>
          </a:p>
          <a:p>
            <a:pPr>
              <a:lnSpc>
                <a:spcPct val="103000"/>
              </a:lnSpc>
              <a:spcAft>
                <a:spcPts val="300"/>
              </a:spcAft>
              <a:defRPr sz="570">
                <a:solidFill>
                  <a:srgbClr val="21242A"/>
                </a:solidFill>
                <a:latin typeface="Microsoft YaHei"/>
              </a:defRPr>
            </a:pPr>
            <a:r>
              <a:t>R-CHOP 和 Pola-R-CHP 的 2 年 TTTTD 相似，但需要额外的随访来评估 Pola-R-CHP 等新方案的有效性。这些数据凸显了优化一线治疗选择和支持途径以及持续开发新疗法以提高现实世界有效性的未满足需求。</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中位随访时间</a:t>
                      </a:r>
                    </a:p>
                  </a:txBody>
                  <a:tcPr>
                    <a:solidFill>
                      <a:srgbClr val="F6F8FB"/>
                    </a:solidFill>
                  </a:tcPr>
                </a:tc>
                <a:tc>
                  <a:txBody>
                    <a:bodyPr wrap="square" lIns="36576" rIns="36576" tIns="18288" bIns="18288"/>
                    <a:lstStyle/>
                    <a:p>
                      <a:r>
                        <a:rPr sz="540" b="0">
                          <a:solidFill>
                            <a:srgbClr val="21242A"/>
                          </a:solidFill>
                          <a:latin typeface="Microsoft YaHei"/>
                        </a:rPr>
                        <a:t>37.6个月（总体），42.0个月（R-CHOP），17.8个月（Pola-R-CHP），36.1个月（Other）</a:t>
                      </a:r>
                    </a:p>
                  </a:txBody>
                  <a:tcPr>
                    <a:solidFill>
                      <a:srgbClr val="F6F8FB"/>
                    </a:solidFill>
                  </a:tcPr>
                </a:tc>
              </a:tr>
              <a:tr h="214230">
                <a:tc>
                  <a:txBody>
                    <a:bodyPr wrap="square" lIns="36576" rIns="36576" tIns="18288" bIns="18288"/>
                    <a:lstStyle/>
                    <a:p>
                      <a:r>
                        <a:rPr sz="540" b="1">
                          <a:solidFill>
                            <a:srgbClr val="21242A"/>
                          </a:solidFill>
                          <a:latin typeface="Microsoft YaHei"/>
                        </a:rPr>
                        <a:t>中位TTNTD</a:t>
                      </a:r>
                    </a:p>
                  </a:txBody>
                  <a:tcPr>
                    <a:solidFill>
                      <a:srgbClr val="FFFFFF"/>
                    </a:solidFill>
                  </a:tcPr>
                </a:tc>
                <a:tc>
                  <a:txBody>
                    <a:bodyPr wrap="square" lIns="36576" rIns="36576" tIns="18288" bIns="18288"/>
                    <a:lstStyle/>
                    <a:p>
                      <a:r>
                        <a:rPr sz="540" b="0">
                          <a:solidFill>
                            <a:srgbClr val="21242A"/>
                          </a:solidFill>
                          <a:latin typeface="Microsoft YaHei"/>
                        </a:rPr>
                        <a:t>63.5个月（总体，95% CI: 59.4, NR），68.5个月（R-CHOP，95% CI: 63.5, NR），NR（Pola-R-CHP，95% CI: 34.2, NR），17.9个月（Other，95% CI: 13.5,...</a:t>
                      </a:r>
                    </a:p>
                  </a:txBody>
                  <a:tcPr>
                    <a:solidFill>
                      <a:srgbClr val="FFFFFF"/>
                    </a:solidFill>
                  </a:tcPr>
                </a:tc>
              </a:tr>
              <a:tr h="214230">
                <a:tc>
                  <a:txBody>
                    <a:bodyPr wrap="square" lIns="36576" rIns="36576" tIns="18288" bIns="18288"/>
                    <a:lstStyle/>
                    <a:p>
                      <a:r>
                        <a:rPr sz="540" b="1">
                          <a:solidFill>
                            <a:srgbClr val="21242A"/>
                          </a:solidFill>
                          <a:latin typeface="Microsoft YaHei"/>
                        </a:rPr>
                        <a:t>2年TTNTD率</a:t>
                      </a:r>
                    </a:p>
                  </a:txBody>
                  <a:tcPr>
                    <a:solidFill>
                      <a:srgbClr val="F6F8FB"/>
                    </a:solidFill>
                  </a:tcPr>
                </a:tc>
                <a:tc>
                  <a:txBody>
                    <a:bodyPr wrap="square" lIns="36576" rIns="36576" tIns="18288" bIns="18288"/>
                    <a:lstStyle/>
                    <a:p>
                      <a:r>
                        <a:rPr sz="540" b="0">
                          <a:solidFill>
                            <a:srgbClr val="21242A"/>
                          </a:solidFill>
                          <a:latin typeface="Microsoft YaHei"/>
                        </a:rPr>
                        <a:t>66.8%（总体，95% CI: 65.2%, 68.3%），70.6%（R-CHOP，95% CI: 68.8%, 72.3%），73.6%（Pola-R-CHP，95% CI: 68.4%, 78.1%），47.3%（Other，95...</a:t>
                      </a:r>
                    </a:p>
                  </a:txBody>
                  <a:tcPr>
                    <a:solidFill>
                      <a:srgbClr val="F6F8FB"/>
                    </a:solidFill>
                  </a:tcPr>
                </a:tc>
              </a:tr>
              <a:tr h="214230">
                <a:tc>
                  <a:txBody>
                    <a:bodyPr wrap="square" lIns="36576" rIns="36576" tIns="18288" bIns="18288"/>
                    <a:lstStyle/>
                    <a:p>
                      <a:r>
                        <a:rPr sz="540" b="1">
                          <a:solidFill>
                            <a:srgbClr val="21242A"/>
                          </a:solidFill>
                          <a:latin typeface="Microsoft YaHei"/>
                        </a:rPr>
                        <a:t>2L治疗比例</a:t>
                      </a:r>
                    </a:p>
                  </a:txBody>
                  <a:tcPr>
                    <a:solidFill>
                      <a:srgbClr val="FFFFFF"/>
                    </a:solidFill>
                  </a:tcPr>
                </a:tc>
                <a:tc>
                  <a:txBody>
                    <a:bodyPr wrap="square" lIns="36576" rIns="36576" tIns="18288" bIns="18288"/>
                    <a:lstStyle/>
                    <a:p>
                      <a:r>
                        <a:rPr sz="540" b="0">
                          <a:solidFill>
                            <a:srgbClr val="21242A"/>
                          </a:solidFill>
                          <a:latin typeface="Microsoft YaHei"/>
                        </a:rPr>
                        <a:t>13.1%（总体），12.8%（R-CHOP），9.5%（Pola-R-CHP），16.2%（Other）</a:t>
                      </a:r>
                    </a:p>
                  </a:txBody>
                  <a:tcPr>
                    <a:solidFill>
                      <a:srgbClr val="FFFFFF"/>
                    </a:solidFill>
                  </a:tcPr>
                </a:tc>
              </a:tr>
              <a:tr h="214230">
                <a:tc>
                  <a:txBody>
                    <a:bodyPr wrap="square" lIns="36576" rIns="36576" tIns="18288" bIns="18288"/>
                    <a:lstStyle/>
                    <a:p>
                      <a:r>
                        <a:rPr sz="540" b="1">
                          <a:solidFill>
                            <a:srgbClr val="21242A"/>
                          </a:solidFill>
                          <a:latin typeface="Microsoft YaHei"/>
                        </a:rPr>
                        <a:t>2L患者中复发/难治比例</a:t>
                      </a:r>
                    </a:p>
                  </a:txBody>
                  <a:tcPr>
                    <a:solidFill>
                      <a:srgbClr val="F6F8FB"/>
                    </a:solidFill>
                  </a:tcPr>
                </a:tc>
                <a:tc>
                  <a:txBody>
                    <a:bodyPr wrap="square" lIns="36576" rIns="36576" tIns="18288" bIns="18288"/>
                    <a:lstStyle/>
                    <a:p>
                      <a:r>
                        <a:rPr sz="540" b="0">
                          <a:solidFill>
                            <a:srgbClr val="21242A"/>
                          </a:solidFill>
                          <a:latin typeface="Microsoft YaHei"/>
                        </a:rPr>
                        <a:t>复发28.9%、难治71.1%（总体）</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zfp36l1的低表达预示着不良预后，并与dlbcl中的线粒体翻译程序有关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low expression of zfp36l1 predicts poor outcomes and associates with mitochon...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N=600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回顾性临床研究结果：low expression of zfp36l1 predicts poor outcomes and...</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ZFP36L1低表达组与高表达组相比，总生存期（OS）和无进展生存期（PFS）更差（均p&lt;0.05）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人数：600</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研究主题：low expression of zfp36l1 predicts poor outcomes and associates with mitochondrial translation programs in dlbcl</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zfp36l1的低表达预示着不良预后，并与dlbcl中的线粒体翻译程序有关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low expression of zfp36l1 predicts poor outcomes and associates with mitochon...</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背景：ZFP36L1 是 TTP 家族中富含 AU 元件 (ARE) 的 RNA 结合蛋白，可促进 ARE 依赖性 mRNA 衰减和转录后基因调控。尽管 ZFP36L1 与多种恶性肿瘤有关，但其与弥漫性大 B 细胞淋巴瘤 (DLBCL) 进展的临床和生物学相关性仍有待充分阐明。</a:t>
            </a:r>
          </a:p>
          <a:p>
            <a:pPr>
              <a:lnSpc>
                <a:spcPct val="103000"/>
              </a:lnSpc>
              <a:spcAft>
                <a:spcPts val="300"/>
              </a:spcAft>
              <a:defRPr sz="550">
                <a:solidFill>
                  <a:srgbClr val="21242A"/>
                </a:solidFill>
                <a:latin typeface="Microsoft YaHei"/>
              </a:defRPr>
            </a:pPr>
            <a:r>
              <a:t>目的：确定 ZFP36L1 在 DLBCL 中的预后意义，并通过功能验证来表征相关的转录程序、免疫背景和线粒体翻译相关特征。</a:t>
            </a:r>
          </a:p>
          <a:p>
            <a:pPr>
              <a:lnSpc>
                <a:spcPct val="103000"/>
              </a:lnSpc>
              <a:spcAft>
                <a:spcPts val="300"/>
              </a:spcAft>
              <a:defRPr sz="550">
                <a:solidFill>
                  <a:srgbClr val="21242A"/>
                </a:solidFill>
                <a:latin typeface="Microsoft YaHei"/>
              </a:defRPr>
            </a:pPr>
            <a:r>
              <a:t>方法：分析了 600 名接受 R-CHOP 治疗的新发 DLBCL 患者的 RNA-seq 和临床数据。使用时间依赖性 ROC 分析确定 ZFP36L1 表达的最佳截止值，该分析将患者分为 ZFP36L1 高 (n = 280) 组和 ZFP36L1 低 (n = 320) 组。比较各组之间的总生存期（OS）、无进展生</a:t>
            </a:r>
          </a:p>
          <a:p>
            <a:pPr>
              <a:lnSpc>
                <a:spcPct val="103000"/>
              </a:lnSpc>
              <a:spcAft>
                <a:spcPts val="300"/>
              </a:spcAft>
              <a:defRPr sz="550">
                <a:solidFill>
                  <a:srgbClr val="21242A"/>
                </a:solidFill>
                <a:latin typeface="Microsoft YaHei"/>
              </a:defRPr>
            </a:pPr>
            <a:r>
              <a:t>存期（PFS）和基线临床病理变量。使用RNA-seq数据进行差异表达和通路富集分析。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ZFP36L1 下调可识别高风险 DLBCL 亚群，并与增强的线粒体翻译程序和免疫抑制微环境有关。 ZFP36L1 可作为预后生物标志物并告知风险分层，为 DLBCL 患者的治疗靶向提供依据。</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结果：ZFP36L1 低表达与较差的 OS 和 PFS 相关（均 p 结论：ZFP36L1 下调可识别高风险 DLBCL 亚型，并与增强的线粒体翻译程序和免疫抑制微环境有关。 ZFP36L1 可作为预后生物标志物并告知风险分层，为 DLBCL 患者的治疗靶向提供依据。</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基于治疗组学数据预测弥漫性大b细胞淋巴瘤患者的早期预后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outcome prediction of diffuse large b-cell lymphoma patients using on-t...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N=115</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回顾性临床研究结果：early outcome prediction of diffuse large b-cell lymp...</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The combination of ctDNA copy numbers and EV-derived mRNA expre...</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人数：115</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研究主题：early outcome prediction of diffuse large b-cell lymphoma patients using on-treatment omics data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基于治疗组学数据预测弥漫性大b细胞淋巴瘤患者的早期预后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early outcome prediction of diffuse large b-cell lymphoma patients using on-t...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PF1063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背景：目前，弥漫性大 B 细胞淋巴瘤 (DLBCL) 患者的标准护理治疗包括 6 个周期的 R-CHOP，面临两个重大问题：\n \n 治疗无效：30-40% 的患者要么复发，要么没有反应。及早转向替代治疗可以改善这些患者的预后。</a:t>
            </a:r>
          </a:p>
          <a:p>
            <a:pPr>
              <a:lnSpc>
                <a:spcPct val="103000"/>
              </a:lnSpc>
              <a:spcAft>
                <a:spcPts val="300"/>
              </a:spcAft>
              <a:defRPr sz="550">
                <a:solidFill>
                  <a:srgbClr val="21242A"/>
                </a:solidFill>
                <a:latin typeface="Microsoft YaHei"/>
              </a:defRPr>
            </a:pPr>
            <a:r>
              <a:t>\n 过度治疗：对于某些患有低风险疾病的患者来说，较少的治疗周期可能就足够了，可以将治疗周期降级至 4 个周期，从而减少不必要的毒性。</a:t>
            </a:r>
          </a:p>
          <a:p>
            <a:pPr>
              <a:lnSpc>
                <a:spcPct val="103000"/>
              </a:lnSpc>
              <a:spcAft>
                <a:spcPts val="300"/>
              </a:spcAft>
              <a:defRPr sz="550">
                <a:solidFill>
                  <a:srgbClr val="21242A"/>
                </a:solidFill>
                <a:latin typeface="Microsoft YaHei"/>
              </a:defRPr>
            </a:pPr>
            <a:r>
              <a:t>\n \n早期结果预测可以解决这两个问题。目前可用的工具（国际预后指数（IPI）、中期 PET 扫描和其他生物标志物）具有预后意义，但其预测能力较低，尚无法在临床实践中使用。目的：我们的目标是将治疗前数据与治疗中液体活检衍生数据相结合，以预测患者结果。具体来说，我们使用了循环肿瘤 DNA (ctDNA) 和细胞外囊泡 </a:t>
            </a:r>
          </a:p>
          <a:p>
            <a:pPr>
              <a:lnSpc>
                <a:spcPct val="103000"/>
              </a:lnSpc>
              <a:spcAft>
                <a:spcPts val="300"/>
              </a:spcAft>
              <a:defRPr sz="550">
                <a:solidFill>
                  <a:srgbClr val="21242A"/>
                </a:solidFill>
                <a:latin typeface="Microsoft YaHei"/>
              </a:defRPr>
            </a:pPr>
            <a:r>
              <a:t>(EV) 衍生的组学。</a:t>
            </a:r>
          </a:p>
          <a:p>
            <a:pPr>
              <a:lnSpc>
                <a:spcPct val="103000"/>
              </a:lnSpc>
              <a:spcAft>
                <a:spcPts val="300"/>
              </a:spcAft>
              <a:defRPr sz="550">
                <a:solidFill>
                  <a:srgbClr val="21242A"/>
                </a:solidFill>
                <a:latin typeface="Microsoft YaHei"/>
              </a:defRPr>
            </a:pPr>
            <a:r>
              <a:t>EV 是由健康细胞和肿瘤细胞分泌的小型脂质纳米颗粒。因此，来自 EV 的数据可以提供有关肿瘤细胞、微环境和免疫反应的信息。我们假设通过结合所有上述数据可以更早地做出更好的预测。</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1 个治疗周期后，结合 ctDNA 拷贝数和 EV 衍生的 mRNA 表达能够识别高危患者，预测价值为 100%。死亡细胞和活细胞的综合信息可能反映肿瘤和免疫对治疗的反应，并且独立于患者和肿瘤的基线特征，为未来的临床实施带来了希望。为了进一步验证，我们将扩大我们的数据集数据，纳入 95 名以上的患者。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The combination of ctDNA copy numbers and EV-derived mRNA expression after 1 cycle of therapy was able to identify high-risk patients with a predictive val</a:t>
            </a:r>
          </a:p>
          <a:p>
            <a:pPr>
              <a:lnSpc>
                <a:spcPct val="103000"/>
              </a:lnSpc>
              <a:spcAft>
                <a:spcPts val="300"/>
              </a:spcAft>
              <a:defRPr sz="560">
                <a:solidFill>
                  <a:srgbClr val="21242A"/>
                </a:solidFill>
                <a:latin typeface="Microsoft YaHei"/>
              </a:defRPr>
            </a:pPr>
            <a:r>
              <a:t>ue of 100%.</a:t>
            </a:r>
          </a:p>
          <a:p>
            <a:pPr>
              <a:lnSpc>
                <a:spcPct val="103000"/>
              </a:lnSpc>
              <a:spcAft>
                <a:spcPts val="300"/>
              </a:spcAft>
              <a:defRPr sz="560">
                <a:solidFill>
                  <a:srgbClr val="21242A"/>
                </a:solidFill>
                <a:latin typeface="Microsoft YaHei"/>
              </a:defRPr>
            </a:pPr>
            <a:r>
              <a:t>Combined information on both dying and living cells might reflect tumor and immune response on treatment and is independent of baseline patient and tumor c</a:t>
            </a:r>
          </a:p>
          <a:p>
            <a:pPr>
              <a:lnSpc>
                <a:spcPct val="103000"/>
              </a:lnSpc>
              <a:spcAft>
                <a:spcPts val="300"/>
              </a:spcAft>
              <a:defRPr sz="560">
                <a:solidFill>
                  <a:srgbClr val="21242A"/>
                </a:solidFill>
                <a:latin typeface="Microsoft YaHei"/>
              </a:defRPr>
            </a:pPr>
            <a:r>
              <a:t>haracteristics, holding promise for clinical implementation in the future.</a:t>
            </a:r>
          </a:p>
          <a:p>
            <a:pPr>
              <a:lnSpc>
                <a:spcPct val="103000"/>
              </a:lnSpc>
              <a:spcAft>
                <a:spcPts val="300"/>
              </a:spcAft>
              <a:defRPr sz="560">
                <a:solidFill>
                  <a:srgbClr val="21242A"/>
                </a:solidFill>
                <a:latin typeface="Microsoft YaHei"/>
              </a:defRPr>
            </a:pPr>
            <a:r>
              <a:t>For further validation…</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摘要号：PF1063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巩固性放疗与有限期胃弥漫性大b细胞淋巴瘤完全缓解的生存率：一项来自中国的多中心研究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outcomes of consolidative radiotherapy and survival in limited-stage primary...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N=202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分组：试验组1：化疗（R-CHOP样方案）后巩固性放疗</a:t>
            </a:r>
          </a:p>
          <a:p>
            <a:pPr>
              <a:lnSpc>
                <a:spcPct val="103000"/>
              </a:lnSpc>
              <a:spcAft>
                <a:spcPts val="300"/>
              </a:spcAft>
              <a:defRPr sz="800">
                <a:solidFill>
                  <a:srgbClr val="21242A"/>
                </a:solidFill>
                <a:latin typeface="Microsoft YaHei"/>
              </a:defRPr>
            </a:pPr>
            <a:r>
              <a:t>试验组2：仅化疗（R-CHOP样方案）</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多组/多方案比较：试验组1：化疗（R-CHOP样方案）后巩固性放疗</a:t>
            </a:r>
          </a:p>
          <a:p>
            <a:pPr>
              <a:lnSpc>
                <a:spcPct val="103000"/>
              </a:lnSpc>
              <a:spcAft>
                <a:spcPts val="300"/>
              </a:spcAft>
              <a:defRPr sz="800">
                <a:solidFill>
                  <a:srgbClr val="21242A"/>
                </a:solidFill>
                <a:latin typeface="Microsoft YaHei"/>
              </a:defRPr>
            </a:pPr>
            <a:r>
              <a:t>试验组2：仅化疗（R-CHOP样方案）</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5年总生存率（OS）：CT+RT组98.5%，CT-alone组86.4%（P=0.06）</a:t>
            </a:r>
          </a:p>
          <a:p>
            <a:pPr>
              <a:lnSpc>
                <a:spcPct val="103000"/>
              </a:lnSpc>
              <a:spcAft>
                <a:spcPts val="300"/>
              </a:spcAft>
              <a:defRPr sz="800">
                <a:solidFill>
                  <a:srgbClr val="21242A"/>
                </a:solidFill>
                <a:latin typeface="Microsoft YaHei"/>
              </a:defRPr>
            </a:pPr>
            <a:r>
              <a:t>5年无进展生存率（PFS）：CT+RT组92.2%，CT-alone组83.5%（P=0.04）</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人数：202</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分组/治疗流程：试验组1：化疗（R-CHOP样方案）后巩固性放疗、试验组2：仅化疗（R-CHOP样方案）</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巩固性放疗与有限期胃弥漫性大b细胞淋巴瘤完全缓解的生存率：一项来自中国的多中心研究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outcomes of consolidative radiotherapy and survival in limited-stage primary...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胃弥漫性大B细胞淋巴瘤（PG-DLBCL）约占所有胃淋巴瘤的30%。虽然R-CHOP二十多年来一直是标准的一线治疗，使大多数PG-DLBCL患者实现了长期疾病控制，但在利妥昔单抗时代，对于达到完全缓解（CR）的患者是否需要进行巩固性放疗（RT）仍然存在争议。</a:t>
            </a:r>
          </a:p>
          <a:p>
            <a:pPr>
              <a:lnSpc>
                <a:spcPct val="103000"/>
              </a:lnSpc>
              <a:spcAft>
                <a:spcPts val="300"/>
              </a:spcAft>
              <a:defRPr sz="550">
                <a:solidFill>
                  <a:srgbClr val="21242A"/>
                </a:solidFill>
                <a:latin typeface="Microsoft YaHei"/>
              </a:defRPr>
            </a:pPr>
            <a:r>
              <a:t>目的：本研究旨在评估一线化疗（CT）后达到 CR 的局限期 PG-DLBCL 患者中巩固放疗的作用和生存结果。</a:t>
            </a:r>
          </a:p>
          <a:p>
            <a:pPr>
              <a:lnSpc>
                <a:spcPct val="103000"/>
              </a:lnSpc>
              <a:spcAft>
                <a:spcPts val="300"/>
              </a:spcAft>
              <a:defRPr sz="550">
                <a:solidFill>
                  <a:srgbClr val="21242A"/>
                </a:solidFill>
                <a:latin typeface="Microsoft YaHei"/>
              </a:defRPr>
            </a:pPr>
            <a:r>
              <a:t>方法：对中国两家机构 2008 年 5 月至 2024 年 9 月期间一线化疗后达到 CR 的成年局限性 PG-DLBCL 患者进行回顾性分析。使用 Kaplan-Meier 方法估计生存结果并与对数秩检验进行比较。通过将年龄和性别匹配的中国普通人群中观察到的死亡人数与预期死亡人数进行比较，计算标准化死亡率（SMR），</a:t>
            </a:r>
          </a:p>
          <a:p>
            <a:pPr>
              <a:lnSpc>
                <a:spcPct val="103000"/>
              </a:lnSpc>
              <a:spcAft>
                <a:spcPts val="300"/>
              </a:spcAft>
              <a:defRPr sz="550">
                <a:solidFill>
                  <a:srgbClr val="21242A"/>
                </a:solidFill>
                <a:latin typeface="Microsoft YaHei"/>
              </a:defRPr>
            </a:pPr>
            <a:r>
              <a:t>以评估治愈率（联合国2024年世界人口展望）。竞争性风险框架将淋巴瘤特异性死亡率 (LSM) 与非淋巴瘤死亡率 (NLM) 区分开来，并使用格雷检验与累积发病率函数 (CIF) 进行比较。</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对于一线化疗后达到 CR 的局限期 PG-DLBCL，由于出色的局部控制和生存正常化，巩固放疗提供的生存获益有限。竞争性风险分析将 NLM 确定为主要的晚期死亡驱动因素。虽然放疗可能并非对所有人都是强制性的，但它可以作为化疗降级的战略推动因素。下一步是进一步研究放疗是否可以作为化疗降级的关键推动者。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结果：共纳入202名患者，中位年龄55岁（范围18至81岁）。 96 例（47.5%）患者在化疗后接受了巩固放疗，而 106 例（52.5%）患者仅接受了 CT 治疗。</a:t>
            </a:r>
          </a:p>
          <a:p>
            <a:pPr>
              <a:lnSpc>
                <a:spcPct val="103000"/>
              </a:lnSpc>
              <a:spcAft>
                <a:spcPts val="300"/>
              </a:spcAft>
              <a:defRPr sz="560">
                <a:solidFill>
                  <a:srgbClr val="21242A"/>
                </a:solidFill>
                <a:latin typeface="Microsoft YaHei"/>
              </a:defRPr>
            </a:pPr>
            <a:r>
              <a:t>83.2% 的病例使用了类似 R-CHOP 的方案，分别有 48% 和 48% 的病例完成了基线和治疗后 PET/CT 评估。中位随访时间为 80.8 个月，CT+RT 组的 5 年 OS、PFS 和 LRC 率分别为 98.5%、92.2% 和 97.6%，而单独 CT 组分别为 86.4%（P=0.06）</a:t>
            </a:r>
          </a:p>
          <a:p>
            <a:pPr>
              <a:lnSpc>
                <a:spcPct val="103000"/>
              </a:lnSpc>
              <a:spcAft>
                <a:spcPts val="300"/>
              </a:spcAft>
              <a:defRPr sz="560">
                <a:solidFill>
                  <a:srgbClr val="21242A"/>
                </a:solidFill>
                <a:latin typeface="Microsoft YaHei"/>
              </a:defRPr>
            </a:pPr>
            <a:r>
              <a:t>、83.5（P=0.04）和 95.8%（P=0.5）。尽管观察到 PFS 存在统计学差异，但巩固 RT 并未显着改善 OS 或 LRC，这与整个队列中极低的局部复发率（仅 6 例）一致。随访期间共有 14 人死亡。值得注意的是，只有 3 名患者（21.4%）死于淋巴瘤特异性原因，11 名患者（78.6%）死</a:t>
            </a:r>
          </a:p>
          <a:p>
            <a:pPr>
              <a:lnSpc>
                <a:spcPct val="103000"/>
              </a:lnSpc>
              <a:spcAft>
                <a:spcPts val="300"/>
              </a:spcAft>
              <a:defRPr sz="560">
                <a:solidFill>
                  <a:srgbClr val="21242A"/>
                </a:solidFill>
                <a:latin typeface="Microsoft YaHei"/>
              </a:defRPr>
            </a:pPr>
            <a:r>
              <a:t>于非淋巴瘤相关原因，包括第二原发恶性肿瘤（n=3）、肝脏疾病（n=1）和其他未知原因（n=7）。两组的生存结果均良好，与年龄和性别匹配的一般人群相当，CT+RT 组的 SMR 为 0.64（95% CI：0.17–1.64；P = 0.54），单纯 CT 组的 SMR 为 1.41（95% CI：0.68–2</a:t>
            </a:r>
          </a:p>
          <a:p>
            <a:pPr>
              <a:lnSpc>
                <a:spcPct val="103000"/>
              </a:lnSpc>
              <a:spcAft>
                <a:spcPts val="300"/>
              </a:spcAft>
              <a:defRPr sz="560">
                <a:solidFill>
                  <a:srgbClr val="21242A"/>
                </a:solidFill>
                <a:latin typeface="Microsoft YaHei"/>
              </a:defRPr>
            </a:pPr>
            <a:r>
              <a:t>.60；P = 0.25），表明患者的预期寿命与一般人群相当。</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在弥漫性大b细胞淋巴瘤患者的标准一线免疫化疗中添加大剂量甲氨蝶呤与急性但非慢性肾脏疾病有关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addition of high-dose methotrexate to standard first-line immunochemotherapy...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N=1537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分组：试验组1：HD-MTX组：大剂量甲氨蝶呤，R-CHOP（免疫化疗）</a:t>
            </a:r>
          </a:p>
          <a:p>
            <a:pPr>
              <a:lnSpc>
                <a:spcPct val="103000"/>
              </a:lnSpc>
              <a:spcAft>
                <a:spcPts val="300"/>
              </a:spcAft>
              <a:defRPr sz="800">
                <a:solidFill>
                  <a:srgbClr val="21242A"/>
                </a:solidFill>
                <a:latin typeface="Microsoft YaHei"/>
              </a:defRPr>
            </a:pPr>
            <a:r>
              <a:t>试验组2：无HD-MTX组：R-CHOP（免疫化疗）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多组/多方案比较：试验组1：HD-MTX组：大剂量甲氨蝶呤，R-CHOP（免疫化疗）</a:t>
            </a:r>
          </a:p>
          <a:p>
            <a:pPr>
              <a:lnSpc>
                <a:spcPct val="103000"/>
              </a:lnSpc>
              <a:spcAft>
                <a:spcPts val="300"/>
              </a:spcAft>
              <a:defRPr sz="800">
                <a:solidFill>
                  <a:srgbClr val="21242A"/>
                </a:solidFill>
                <a:latin typeface="Microsoft YaHei"/>
              </a:defRPr>
            </a:pPr>
            <a:r>
              <a:t>试验组2：无HD-MTX组：R-CHOP（免疫化疗）</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IPTW调整后5年CKD（stage≥G3a）累积发病率：HD-MTX组5.3%（95%CI:3.2-7.5） vs 无HD-...</a:t>
            </a:r>
          </a:p>
          <a:p>
            <a:pPr>
              <a:lnSpc>
                <a:spcPct val="103000"/>
              </a:lnSpc>
              <a:spcAft>
                <a:spcPts val="300"/>
              </a:spcAft>
              <a:defRPr sz="800">
                <a:solidFill>
                  <a:srgbClr val="21242A"/>
                </a:solidFill>
                <a:latin typeface="Microsoft YaHei"/>
              </a:defRPr>
            </a:pPr>
            <a:r>
              <a:t>5年CKD stage G5累积发病率无显著差异</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人数：1537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分组/治疗流程：试验组1：HD-MTX组：大剂量甲氨蝶呤、R-CHOP（免疫化疗）、试验组2：无HD-MTX组：R-CHOP（免疫化疗）</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在弥漫性大b细胞淋巴瘤患者的标准一线免疫化疗中添加大剂量甲氨蝶呤与急性但非慢性肾脏疾病有关</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addition of high-dose methotrexate to standard first-line immunochemotherapy...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背景：尽管缺乏验证性随机临床试验，大剂量甲氨蝶呤 (HD-MTX) 仍然广泛用于弥漫性大 B 细胞淋巴瘤 (DLBCL) 的中枢神经系统预防。肾毒性是一种重要的 HD-MTX 相关不良事件，可以延迟治疗性免疫化疗的实施，但在此情况下其发生尚未得到广泛研究。目的：探讨HD-MTX一线治疗DLBCL与肾毒性的关系。方法：从</a:t>
            </a:r>
          </a:p>
          <a:p>
            <a:pPr>
              <a:lnSpc>
                <a:spcPct val="103000"/>
              </a:lnSpc>
              <a:spcAft>
                <a:spcPts val="300"/>
              </a:spcAft>
              <a:defRPr sz="550">
                <a:solidFill>
                  <a:srgbClr val="21242A"/>
                </a:solidFill>
                <a:latin typeface="Microsoft YaHei"/>
              </a:defRPr>
            </a:pPr>
            <a:r>
              <a:t>丹麦淋巴瘤登记处筛选出在 2015 年 7 月 1 日至 2023 年 12 月 31 日期间首次诊断为 DLBCL 的 18-79 岁成年人。根据国家实验室登记处和/或诊断登记处的数据，没有中枢神经系统受累且既往没有肾脏疾病史的患者如果接受 R-CHOP（类似）免疫化疗治疗，则被纳入研究范围。</a:t>
            </a:r>
          </a:p>
          <a:p>
            <a:pPr>
              <a:lnSpc>
                <a:spcPct val="103000"/>
              </a:lnSpc>
              <a:spcAft>
                <a:spcPts val="300"/>
              </a:spcAft>
              <a:defRPr sz="550">
                <a:solidFill>
                  <a:srgbClr val="21242A"/>
                </a:solidFill>
                <a:latin typeface="Microsoft YaHei"/>
              </a:defRPr>
            </a:pPr>
            <a:r>
              <a:t>\n 符合条件的患者根据一线使用 HD-MTX 进行分组（HD-MTX 组与无 HD-MTX 组）。主要终点是 ≥G3a 期慢性肾脏病 (CKD) 的 5 年累积发病率。次要终点是 G5 期 CKD 的 5 年累积发生率以及任何阶段急性肾损伤 (AKI) 和≥2 期 AKI 的 1 年累积发生率。</a:t>
            </a:r>
          </a:p>
          <a:p>
            <a:pPr>
              <a:lnSpc>
                <a:spcPct val="103000"/>
              </a:lnSpc>
              <a:spcAft>
                <a:spcPts val="300"/>
              </a:spcAft>
              <a:defRPr sz="550">
                <a:solidFill>
                  <a:srgbClr val="21242A"/>
                </a:solidFill>
                <a:latin typeface="Microsoft YaHei"/>
              </a:defRPr>
            </a:pPr>
            <a:r>
              <a:t>CKD（≥G3a 期）被定义为肾脏替代疗法或两次 eGFR 测量\n 死亡和再治疗/复发被视为竞争风险。</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使用 HD-MTX 作为 CNS 预防与 DLBCL 患者的 CKD 无关。然而，HD-MTX 确实导致 AKI 累积发生率显着升高，这可能导致免疫化疗或剂量减少的意外延迟。由于没有明确记录早期嵌入 HD-MTX 的疗效，其使用应推迟到标准免疫化疗完成后。</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IPTW调整后5年CKD（stage≥G3a）累积发病率</a:t>
                      </a:r>
                    </a:p>
                  </a:txBody>
                  <a:tcPr>
                    <a:solidFill>
                      <a:srgbClr val="F6F8FB"/>
                    </a:solidFill>
                  </a:tcPr>
                </a:tc>
                <a:tc>
                  <a:txBody>
                    <a:bodyPr wrap="square" lIns="36576" rIns="36576" tIns="18288" bIns="18288"/>
                    <a:lstStyle/>
                    <a:p>
                      <a:r>
                        <a:rPr sz="540" b="0">
                          <a:solidFill>
                            <a:srgbClr val="21242A"/>
                          </a:solidFill>
                          <a:latin typeface="Microsoft YaHei"/>
                        </a:rPr>
                        <a:t>HD-MTX组5.3%（95%CI:3.2-7.5） vs 无HD-MTX组6.5%（95%CI:5.0-8.2），RR=0.81（95%CI:0.5-1.3）</a:t>
                      </a:r>
                    </a:p>
                  </a:txBody>
                  <a:tcPr>
                    <a:solidFill>
                      <a:srgbClr val="F6F8FB"/>
                    </a:solidFill>
                  </a:tcPr>
                </a:tc>
              </a:tr>
              <a:tr h="299923">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5年CKD stage G5累积发病率无显著差异</a:t>
                      </a:r>
                    </a:p>
                  </a:txBody>
                  <a:tcPr>
                    <a:solidFill>
                      <a:srgbClr val="FFFFFF"/>
                    </a:solidFill>
                  </a:tcPr>
                </a:tc>
              </a:tr>
              <a:tr h="299923">
                <a:tc>
                  <a:txBody>
                    <a:bodyPr wrap="square" lIns="36576" rIns="36576" tIns="18288" bIns="18288"/>
                    <a:lstStyle/>
                    <a:p>
                      <a:r>
                        <a:rPr sz="540" b="1">
                          <a:solidFill>
                            <a:srgbClr val="21242A"/>
                          </a:solidFill>
                          <a:latin typeface="Microsoft YaHei"/>
                        </a:rPr>
                        <a:t>1年任何阶段AKI累积发病率</a:t>
                      </a:r>
                    </a:p>
                  </a:txBody>
                  <a:tcPr>
                    <a:solidFill>
                      <a:srgbClr val="F6F8FB"/>
                    </a:solidFill>
                  </a:tcPr>
                </a:tc>
                <a:tc>
                  <a:txBody>
                    <a:bodyPr wrap="square" lIns="36576" rIns="36576" tIns="18288" bIns="18288"/>
                    <a:lstStyle/>
                    <a:p>
                      <a:r>
                        <a:rPr sz="540" b="0">
                          <a:solidFill>
                            <a:srgbClr val="21242A"/>
                          </a:solidFill>
                          <a:latin typeface="Microsoft YaHei"/>
                        </a:rPr>
                        <a:t>HD-MTX组显著高于无HD-MTX组（具体数值未完全给出）</a:t>
                      </a:r>
                    </a:p>
                  </a:txBody>
                  <a:tcPr>
                    <a:solidFill>
                      <a:srgbClr val="F6F8FB"/>
                    </a:solidFill>
                  </a:tcPr>
                </a:tc>
              </a:tr>
              <a:tr h="299924">
                <a:tc>
                  <a:txBody>
                    <a:bodyPr wrap="square" lIns="36576" rIns="36576" tIns="18288" bIns="18288"/>
                    <a:lstStyle/>
                    <a:p>
                      <a:r>
                        <a:rPr sz="540" b="1">
                          <a:solidFill>
                            <a:srgbClr val="21242A"/>
                          </a:solidFill>
                          <a:latin typeface="Microsoft YaHei"/>
                        </a:rPr>
                        <a:t>5年OS</a:t>
                      </a:r>
                    </a:p>
                  </a:txBody>
                  <a:tcPr>
                    <a:solidFill>
                      <a:srgbClr val="FFFFFF"/>
                    </a:solidFill>
                  </a:tcPr>
                </a:tc>
                <a:tc>
                  <a:txBody>
                    <a:bodyPr wrap="square" lIns="36576" rIns="36576" tIns="18288" bIns="18288"/>
                    <a:lstStyle/>
                    <a:p>
                      <a:r>
                        <a:rPr sz="540" b="0">
                          <a:solidFill>
                            <a:srgbClr val="21242A"/>
                          </a:solidFill>
                          <a:latin typeface="Microsoft YaHei"/>
                        </a:rPr>
                        <a:t>HD-MTX组91%（95%CI:88-94） vs 无HD-MTX组93%（95%CI:91-94）</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治疗机会消除了种族差异，但无法克服结构性贫困：可治愈淋巴瘤生存公平性的全国分析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treatment access eliminates racial disparities but cannot overcome structural...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N=91246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分组：试验组1：R-CHOP（利妥昔单抗，环磷酰胺，多柔比星，长春新碱，泼尼松）</a:t>
            </a:r>
          </a:p>
          <a:p>
            <a:pPr>
              <a:lnSpc>
                <a:spcPct val="103000"/>
              </a:lnSpc>
              <a:spcAft>
                <a:spcPts val="300"/>
              </a:spcAft>
              <a:defRPr sz="800">
                <a:solidFill>
                  <a:srgbClr val="21242A"/>
                </a:solidFill>
                <a:latin typeface="Microsoft YaHei"/>
              </a:defRPr>
            </a:pPr>
            <a:r>
              <a:t>对照组：未接受R-CHOP（其他治疗）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对照/比较：试验组1：R-CHOP（利妥昔单抗，环磷酰胺，多柔比星，长春新碱，泼尼松）||对照组：未接受R-CHOP（其他治疗）</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接受R-CHOP的患者与未接受者相比，生存期减少4.5个月，每1000人生命年损失373年</a:t>
            </a:r>
          </a:p>
          <a:p>
            <a:pPr>
              <a:lnSpc>
                <a:spcPct val="103000"/>
              </a:lnSpc>
              <a:spcAft>
                <a:spcPts val="300"/>
              </a:spcAft>
              <a:defRPr sz="800">
                <a:solidFill>
                  <a:srgbClr val="21242A"/>
                </a:solidFill>
                <a:latin typeface="Microsoft YaHei"/>
              </a:defRPr>
            </a:pPr>
            <a:r>
              <a:t>未保险患者比私人保险患者损失3.6个月（303 LYL/1000），Medicaid患者损失3.7个月（307 LYL/100...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人数：91246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分组/治疗流程：试验组1：R-CHOP（利妥昔单抗、环磷酰胺、多柔比星</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治疗机会消除了种族差异，但无法克服结构性贫困：可治愈淋巴瘤生存公平性的全国分析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treatment access eliminates racial disparities but cannot overcome structural...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细胞淋巴瘤是我们可以治愈的少数侵袭性癌症之一，但谁能获得这种机会在很大程度上取决于邮政编码、保险状况以及患者寻求治疗的地点。众所周知，指南不一致和社会经济劣势会导致 DLBCL 的生存恶化，但之前的研究依赖于相对风险估计，并且没有将治疗归因与对生存不平等的结构性贡献分开。目标：我们的目标是量化保险、</a:t>
            </a:r>
          </a:p>
          <a:p>
            <a:pPr>
              <a:lnSpc>
                <a:spcPct val="103000"/>
              </a:lnSpc>
              <a:spcAft>
                <a:spcPts val="300"/>
              </a:spcAft>
              <a:defRPr sz="550">
                <a:solidFill>
                  <a:srgbClr val="21242A"/>
                </a:solidFill>
                <a:latin typeface="Microsoft YaHei"/>
              </a:defRPr>
            </a:pPr>
            <a:r>
              <a:t>剥夺、地理位置、种族和设施类型方面的绝对生存惩罚，并利用全国 91,246 名患者的队列将每种惩罚分解为可预防的和结构性的组成部分。方法：利用国家癌症数据库，我们确定了 2014 年至 2020 年间诊断的 DLBCL 患者。指南一致治疗被定义为多药化疗加利妥昔单抗。治疗加权的逆概率在分析前平衡了所有 40 个协变量。</a:t>
            </a:r>
          </a:p>
          <a:p>
            <a:pPr>
              <a:lnSpc>
                <a:spcPct val="103000"/>
              </a:lnSpc>
              <a:spcAft>
                <a:spcPts val="300"/>
              </a:spcAft>
              <a:defRPr sz="550">
                <a:solidFill>
                  <a:srgbClr val="21242A"/>
                </a:solidFill>
                <a:latin typeface="Microsoft YaHei"/>
              </a:defRPr>
            </a:pPr>
            <a:r>
              <a:t>生存惩罚被量化为 36 个月的有限平均生存时间差异，表示为每 1,000 名患者损失的生命年。社会经济剥夺是使用从 NCDB 提供的五个变量得出的综合得分来量化的：邮政编码水平收入四分位数、教育程度四分位数、保险状况、城乡分类和距治疗机构的距离。</a:t>
            </a:r>
          </a:p>
          <a:p>
            <a:pPr>
              <a:lnSpc>
                <a:spcPct val="103000"/>
              </a:lnSpc>
              <a:spcAft>
                <a:spcPts val="300"/>
              </a:spcAft>
              <a:defRPr sz="550">
                <a:solidFill>
                  <a:srgbClr val="21242A"/>
                </a:solidFill>
                <a:latin typeface="Microsoft YaHei"/>
              </a:defRPr>
            </a:pPr>
            <a:r>
              <a:t>每个变量都被二分并求和以生成 0 到 5 的分数，然后分类为无 (0)、低 (1)、中等 (2)、高 (3-5)。在 55,618 名 R-CHOP 接受者中重复进行了分析，以区分可预防的处罚和结构性处罚。</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通过公平的 R-CHOP 治疗，DLBCL 中的种族生存差异是完全可以预防的。社会经济处罚更难结束。贫困伴随着患者走进诊所，无论接受何种治疗，由于保险不足和匮乏造成的大部分生存差距仍然存在。消除可治愈淋巴瘤的生存不平等既需要提供公平的护理，也需要远远超出此范围的结构性干预措施。</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接受R-CHOP的患者与未接受者相比，生存期减少4.5个月，每1000人生命年损失373年；未保险患者比私人保险患者损失3.6个月（303 LYL/1000），Medicaid患者损失3.7个月（307 LYL/1000）；高剥夺患者比无剥夺患者损失7.2个月（532 LYL/1000）；种族生存差异可通过平</a:t>
            </a:r>
          </a:p>
          <a:p>
            <a:pPr>
              <a:lnSpc>
                <a:spcPct val="103000"/>
              </a:lnSpc>
              <a:spcAft>
                <a:spcPts val="300"/>
              </a:spcAft>
              <a:defRPr sz="560">
                <a:solidFill>
                  <a:srgbClr val="21242A"/>
                </a:solidFill>
                <a:latin typeface="Microsoft YaHei"/>
              </a:defRPr>
            </a:pPr>
            <a:r>
              <a:t>等R-CHOP交付完全消除。</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dlbcl一线治疗后pet-ct评估deauville 5分量表的预后价值：一项回顾性研究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prognostic value of deauville 5-point scale assessed on pet-ct following firs...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N=504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回顾性临床研究结果：prognostic value of deauville 5-point scale assessed...</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2年总生存率：DS1-3组为91.1%</a:t>
            </a:r>
          </a:p>
          <a:p>
            <a:pPr>
              <a:lnSpc>
                <a:spcPct val="103000"/>
              </a:lnSpc>
              <a:spcAft>
                <a:spcPts val="300"/>
              </a:spcAft>
              <a:defRPr sz="800">
                <a:solidFill>
                  <a:srgbClr val="21242A"/>
                </a:solidFill>
                <a:latin typeface="Microsoft YaHei"/>
              </a:defRPr>
            </a:pPr>
            <a:r>
              <a:t>DS4组为83.7%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人数：504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研究主题：prognostic value of deauville 5-point scale assessed on pet-ct following first-line treatment in dlbcl: a retrospective...</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dlbcl一线治疗后pet-ct评估deauville 5分量表的预后价值：一项回顾性研究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prognostic value of deauville 5-point scale assessed on pet-ct following firs...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PS2116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04588"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149/187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采用免疫化疗进行治疗，以达到治愈目的。氟脱氧葡萄糖正电子发射断层扫描联合计算机断层扫描 (FDG-PET-CT) 是使用多维尔五点量表 (DS) 评估治疗反应的首选方式。一线治疗后具有较高的阴性预测值。</a:t>
            </a:r>
          </a:p>
          <a:p>
            <a:pPr>
              <a:lnSpc>
                <a:spcPct val="103000"/>
              </a:lnSpc>
              <a:spcAft>
                <a:spcPts val="300"/>
              </a:spcAft>
              <a:defRPr sz="550">
                <a:solidFill>
                  <a:srgbClr val="21242A"/>
                </a:solidFill>
                <a:latin typeface="Microsoft YaHei"/>
              </a:defRPr>
            </a:pPr>
            <a:r>
              <a:t>DS 评分从 1 到 3 分被广泛认为是 PET 阴性，4 分和 5 分被认为是 PET 阳性，表明有残留病灶，但假阳性结果相对常见。目的：评估真实 DLBCL 患者一线治疗后 DS 的预后价值。方法：这项回顾性登记研究纳入了 DLBCL 患者，数据收集自芬兰三所大学医院的医疗记录。该研究纳入了 2000 年至 202</a:t>
            </a:r>
          </a:p>
          <a:p>
            <a:pPr>
              <a:lnSpc>
                <a:spcPct val="103000"/>
              </a:lnSpc>
              <a:spcAft>
                <a:spcPts val="300"/>
              </a:spcAft>
              <a:defRPr sz="550">
                <a:solidFill>
                  <a:srgbClr val="21242A"/>
                </a:solidFill>
                <a:latin typeface="Microsoft YaHei"/>
              </a:defRPr>
            </a:pPr>
            <a:r>
              <a:t>0 年间被诊断为 DLBCL 并在一线治疗结束时获得 PET-CT 结果的成年患者。如果患者患有中枢神经系统原发性DLBCL、接受过脑部放疗或存在免疫抑制状况，或者PET-CT呈阳性，但无法获得DS，则被排除。生存终点为总生存期（OS）、疾病特异性生存期（DSS）和无进展生存期（PFS），使用Kaplan-Meier法</a:t>
            </a:r>
          </a:p>
          <a:p>
            <a:pPr>
              <a:lnSpc>
                <a:spcPct val="103000"/>
              </a:lnSpc>
              <a:spcAft>
                <a:spcPts val="300"/>
              </a:spcAft>
              <a:defRPr sz="550">
                <a:solidFill>
                  <a:srgbClr val="21242A"/>
                </a:solidFill>
                <a:latin typeface="Microsoft YaHei"/>
              </a:defRPr>
            </a:pPr>
            <a:r>
              <a:t>计算，并使用时序检验进行比较。</a:t>
            </a:r>
          </a:p>
          <a:p>
            <a:pPr>
              <a:lnSpc>
                <a:spcPct val="103000"/>
              </a:lnSpc>
              <a:spcAft>
                <a:spcPts val="300"/>
              </a:spcAft>
              <a:defRPr sz="550">
                <a:solidFill>
                  <a:srgbClr val="21242A"/>
                </a:solidFill>
                <a:latin typeface="Microsoft YaHei"/>
              </a:defRPr>
            </a:pPr>
            <a:r>
              <a:t>Cox回归模型用于多变量分析。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合并 DS 的 DLBCL 患者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结果：纳入 504 名患者。诊断时的中位年龄为 64 岁（范围 19 – 91 岁），男性稍多（53.4%）。大多数患者的疾病分期为 III 或 IV (74.1%)，IPI 评分为 3 至 5 (59.4%)，LDH 水平升高 (72.8%)，WHO 体能状态评分为 0 或 1 (69.3%)。超过四分之一</a:t>
            </a:r>
          </a:p>
          <a:p>
            <a:pPr>
              <a:lnSpc>
                <a:spcPct val="103000"/>
              </a:lnSpc>
              <a:spcAft>
                <a:spcPts val="300"/>
              </a:spcAft>
              <a:defRPr sz="560">
                <a:solidFill>
                  <a:srgbClr val="21242A"/>
                </a:solidFill>
                <a:latin typeface="Microsoft YaHei"/>
              </a:defRPr>
            </a:pPr>
            <a:r>
              <a:t>的患者（28.4%）有两个或更多结外受累部位。一线治疗后，415 名 (82.3%) 患者出现 DS 评分\n 总体而言，114 名 (22.6%) 患者至少出现一次复发，其中 82 名 (16.3%) 患者死于 DLBCL。中位随访 71 个月后，DS 的 2 年 OS 率为 91.1% \n 多变量分析显</a:t>
            </a:r>
          </a:p>
          <a:p>
            <a:pPr>
              <a:lnSpc>
                <a:spcPct val="103000"/>
              </a:lnSpc>
              <a:spcAft>
                <a:spcPts val="300"/>
              </a:spcAft>
              <a:defRPr sz="560">
                <a:solidFill>
                  <a:srgbClr val="21242A"/>
                </a:solidFill>
                <a:latin typeface="Microsoft YaHei"/>
              </a:defRPr>
            </a:pPr>
            <a:r>
              <a:t>示，与 DS 相比，DS4 和 DS5 是显着的危险因素\n</a:t>
            </a:r>
          </a:p>
          <a:p>
            <a:pPr>
              <a:lnSpc>
                <a:spcPct val="103000"/>
              </a:lnSpc>
              <a:spcAft>
                <a:spcPts val="300"/>
              </a:spcAft>
              <a:defRPr sz="560">
                <a:solidFill>
                  <a:srgbClr val="21242A"/>
                </a:solidFill>
                <a:latin typeface="Microsoft YaHei"/>
              </a:defRPr>
            </a:pPr>
            <a:r>
              <a:t>结论：DLBCL 患者合并 DS</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摘要号：PS2116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药物/技术：CNS穿透/放疗/MTX策略</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综合临床和遗传评分可改善暗区特征阳性（dzsigpos）弥漫性大b细胞淋巴瘤的预后：暗区预后指数（dzpi）</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integrated clinical and genetic scoring refines prognosis in dark zone signat...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N=259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回顾性临床研究结果：integrated clinical and genetic scoring refines progn...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DZPI风险类别（低风险：评分0-1</a:t>
            </a:r>
          </a:p>
          <a:p>
            <a:pPr>
              <a:lnSpc>
                <a:spcPct val="103000"/>
              </a:lnSpc>
              <a:spcAft>
                <a:spcPts val="300"/>
              </a:spcAft>
              <a:defRPr sz="800">
                <a:solidFill>
                  <a:srgbClr val="21242A"/>
                </a:solidFill>
                <a:latin typeface="Microsoft YaHei"/>
              </a:defRPr>
            </a:pPr>
            <a:r>
              <a:t>高风险：评分2-4）的总体生存期（OS）存在显著差异（Fig.1K），并在BCC队列和本中心队列中得到验证（Fig.1L）。</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人数：259</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研究主题：integrated clinical and genetic scoring refines prognosis in dark zone signature-positive (dzsigpos) diffuse large b-ce...</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综合临床和遗传评分可改善暗区特征阳性（dzsigpos）弥漫性大b细胞淋巴瘤的预后：暗区预后指数（dzpi）</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integrated clinical and genetic scoring refines prognosis in dark zone signat...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背景：暗区特征 (DZsig) 源于具有 MYC 和 BCL2 重排的高级别 B 细胞淋巴瘤与其他生发中心 B 细胞样 (GCB) 弥漫性大 B 细胞淋巴瘤 (DLBCL) 之间的转录差异。约 20% 的 GCB-DLBCL 为 DZsig pos（Ennishi 等人，J Clin Oncol，2019；Alduai</a:t>
            </a:r>
          </a:p>
          <a:p>
            <a:pPr>
              <a:lnSpc>
                <a:spcPct val="103000"/>
              </a:lnSpc>
              <a:spcAft>
                <a:spcPts val="300"/>
              </a:spcAft>
              <a:defRPr sz="550">
                <a:solidFill>
                  <a:srgbClr val="21242A"/>
                </a:solidFill>
                <a:latin typeface="Microsoft YaHei"/>
              </a:defRPr>
            </a:pPr>
            <a:r>
              <a:t>j 等人，Blood，2023）。</a:t>
            </a:r>
          </a:p>
          <a:p>
            <a:pPr>
              <a:lnSpc>
                <a:spcPct val="103000"/>
              </a:lnSpc>
              <a:spcAft>
                <a:spcPts val="300"/>
              </a:spcAft>
              <a:defRPr sz="550">
                <a:solidFill>
                  <a:srgbClr val="21242A"/>
                </a:solidFill>
                <a:latin typeface="Microsoft YaHei"/>
              </a:defRPr>
            </a:pPr>
            <a:r>
              <a:t>TP53 异常的 DZsig pos 病例显示出较差的生存率，而那些没有异常的病例则表现出良好的结果，反映了预后异质性。 DZsig 被认为是细胞起源 (COO) 分类的改进；然而，其异质性预后的驱动因素仍不清楚。 目的：开发并验证 DZsig pos -DLBCL 风险分层的预后评分系统。</a:t>
            </a:r>
          </a:p>
          <a:p>
            <a:pPr>
              <a:lnSpc>
                <a:spcPct val="103000"/>
              </a:lnSpc>
              <a:spcAft>
                <a:spcPts val="300"/>
              </a:spcAft>
              <a:defRPr sz="550">
                <a:solidFill>
                  <a:srgbClr val="21242A"/>
                </a:solidFill>
                <a:latin typeface="Microsoft YaHei"/>
              </a:defRPr>
            </a:pPr>
            <a:r>
              <a:t>方法：通过计算 RNAseq 数据的 104 个基因 DZsig 评分，从综合公共队列 (n=238)（Chapuy B 等人、REMoDL-B、Lacy S 等人、NCI、BCC 队列）和我们中心的队列 (n=21) 中识别出 DZsig 病例。除 BCC 外，其余公共队列作为训练集（n=114）。免疫浸润基因集源自</a:t>
            </a:r>
          </a:p>
          <a:p>
            <a:pPr>
              <a:lnSpc>
                <a:spcPct val="103000"/>
              </a:lnSpc>
              <a:spcAft>
                <a:spcPts val="300"/>
              </a:spcAft>
              <a:defRPr sz="550">
                <a:solidFill>
                  <a:srgbClr val="21242A"/>
                </a:solidFill>
                <a:latin typeface="Microsoft YaHei"/>
              </a:defRPr>
            </a:pPr>
            <a:r>
              <a:t> Tumuluru 等人，Blood，2025。</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通过整合临床和遗传因素，DZPI 将 DZsig pos -DLBCL 分为在公共队列和我们中心验证的预后类别，其中高风险类别与冷免疫簇和较差的生存率相关，为个性化治疗提供信息。</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DZPI风险类别（低风险：评分0-1；高风险：评分2-4）的总体生存期（OS）存在显著差异（Fig.1K），并在BCC队列和本中心队列中得到验证（Fig.1L）。高风险类别中BCL2和IL4R突变频率显著更高（Fig.1M）。转录组分析显示高风险类别中肿瘤和代谢通路上调，免疫相关通路下调（Fig.1N）。免疫</a:t>
            </a:r>
          </a:p>
          <a:p>
            <a:pPr>
              <a:lnSpc>
                <a:spcPct val="103000"/>
              </a:lnSpc>
              <a:spcAft>
                <a:spcPts val="300"/>
              </a:spcAft>
              <a:defRPr sz="560">
                <a:solidFill>
                  <a:srgbClr val="21242A"/>
                </a:solidFill>
                <a:latin typeface="Microsoft YaHei"/>
              </a:defRPr>
            </a:pPr>
            <a:r>
              <a:t>细胞浸润分析显示高风险类别中多种免疫细胞亚群富集评分降低（Fig.1O）。高风险类别与冷免疫簇相关（Fig.1Q），且DZPI高风险且冷免疫簇的患者预后最差（Fig.1R–S）。</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摘要号：S258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循环肿瘤dna在临床诊断之前很久就揭示了淋巴瘤相关突变</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circulating tumor dna reveals lymphoma-associated mutations long before clini...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弥漫性大B细胞淋巴瘤，经典型霍奇金淋巴瘤</a:t>
            </a:r>
          </a:p>
          <a:p>
            <a:pPr>
              <a:lnSpc>
                <a:spcPct val="103000"/>
              </a:lnSpc>
              <a:spcAft>
                <a:spcPts val="300"/>
              </a:spcAft>
              <a:defRPr sz="800">
                <a:solidFill>
                  <a:srgbClr val="21242A"/>
                </a:solidFill>
                <a:latin typeface="Microsoft YaHei"/>
              </a:defRPr>
            </a:pPr>
            <a:r>
              <a:t>N=46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回顾性临床研究结果：circulating tumor dna reveals lymphoma-associated mut...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ctDNA检出率：31/46 (67%) 的病例在诊断前血浆中检出ctDNA</a:t>
            </a:r>
          </a:p>
          <a:p>
            <a:pPr>
              <a:lnSpc>
                <a:spcPct val="103000"/>
              </a:lnSpc>
              <a:spcAft>
                <a:spcPts val="300"/>
              </a:spcAft>
              <a:defRPr sz="800">
                <a:solidFill>
                  <a:srgbClr val="21242A"/>
                </a:solidFill>
                <a:latin typeface="Microsoft YaHei"/>
              </a:defRPr>
            </a:pPr>
            <a:r>
              <a:t>DLBCL: 13/33 (39%) 通过肿瘤信息指导的SNV检出ctDNA</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人数：46</a:t>
            </a:r>
          </a:p>
          <a:p>
            <a:pPr>
              <a:lnSpc>
                <a:spcPct val="103000"/>
              </a:lnSpc>
              <a:spcAft>
                <a:spcPts val="300"/>
              </a:spcAft>
              <a:defRPr sz="810">
                <a:solidFill>
                  <a:srgbClr val="21242A"/>
                </a:solidFill>
                <a:latin typeface="Microsoft YaHei"/>
              </a:defRPr>
            </a:pPr>
            <a:r>
              <a:t>适应症：弥漫性大B细胞淋巴瘤、经典型霍奇金淋巴瘤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研究主题：circulating tumor dna reveals lymphoma-associated mutations long before clinical diagnosis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循环肿瘤dna在临床诊断之前很久就揭示了淋巴瘤相关突变</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circulating tumor dna reveals lymphoma-associated mutations long before clini...</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背景：早期淋巴瘤驱动事件与临床表现之间的间隔尚不清楚。弥漫性大 B 细胞淋巴瘤 (DLBCL) 和经典霍奇金淋巴瘤 (cHL) 源自生发中心 (GC) B 细胞，并携带复发性遗传改变。无创产前检测和群体生物库的偶然发现已在 cHL 诊断之前在血浆中识别出肿瘤特异性体细胞变异。在 cHL 中，血清胸腺和激活调节趋化因子 </a:t>
            </a:r>
          </a:p>
          <a:p>
            <a:pPr>
              <a:lnSpc>
                <a:spcPct val="103000"/>
              </a:lnSpc>
              <a:spcAft>
                <a:spcPts val="300"/>
              </a:spcAft>
              <a:defRPr sz="550">
                <a:solidFill>
                  <a:srgbClr val="21242A"/>
                </a:solidFill>
                <a:latin typeface="Microsoft YaHei"/>
              </a:defRPr>
            </a:pPr>
            <a:r>
              <a:t>(sTARC)（一种经过验证的生物标志物）在症状出现之前很久就升高。异常体细胞超突变会产生簇状顺式取代，称为多核苷酸变异 (MNV)，它经常影响淋巴瘤发生早期的超级增强子 (SE) 和其他关键 B 细胞调节位点。</a:t>
            </a:r>
          </a:p>
          <a:p>
            <a:pPr>
              <a:lnSpc>
                <a:spcPct val="103000"/>
              </a:lnSpc>
              <a:spcAft>
                <a:spcPts val="300"/>
              </a:spcAft>
              <a:defRPr sz="550">
                <a:solidFill>
                  <a:srgbClr val="21242A"/>
                </a:solidFill>
                <a:latin typeface="Microsoft YaHei"/>
              </a:defRPr>
            </a:pPr>
            <a:r>
              <a:t>MNV 提供了独特的突变足迹，可以在诊断前血浆中的 cfDNA 中进行高度灵敏的肿瘤检测。我们假设 cfDNA 分析可以捕获这些致癌事件并绘制淋巴瘤发生的时间轨迹。目的：通过整合单核苷酸变异 (SNV) 和 MNV 识别，我们的目标是在 DLBCL 和 cHL 临床诊断之前识别早期分子畸变。方法：我们分析了荷兰生命线生</a:t>
            </a:r>
          </a:p>
          <a:p>
            <a:pPr>
              <a:lnSpc>
                <a:spcPct val="103000"/>
              </a:lnSpc>
              <a:spcAft>
                <a:spcPts val="300"/>
              </a:spcAft>
              <a:defRPr sz="550">
                <a:solidFill>
                  <a:srgbClr val="21242A"/>
                </a:solidFill>
                <a:latin typeface="Microsoft YaHei"/>
              </a:defRPr>
            </a:pPr>
            <a:r>
              <a:t>物库中 33 名 DLBCL 和 13 名 cHL 患者的回顾性病例队列的诊断前血浆，其中包括 41 例匹配的诊断肿瘤组织样本和白细胞。</a:t>
            </a:r>
          </a:p>
          <a:p>
            <a:pPr>
              <a:lnSpc>
                <a:spcPct val="103000"/>
              </a:lnSpc>
              <a:spcAft>
                <a:spcPts val="300"/>
              </a:spcAft>
              <a:defRPr sz="550">
                <a:solidFill>
                  <a:srgbClr val="21242A"/>
                </a:solidFill>
                <a:latin typeface="Microsoft YaHei"/>
              </a:defRPr>
            </a:pPr>
            <a:r>
              <a:t>对 115 个基因（约 391 kbp）进行了靶向测序，其中包括 14 个基因的 SE。</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摘要/结论：ctDNA 可以在 B 细胞淋巴瘤诊断前数年检测到。总共有 31/46 例病例在诊断前血浆样本中可检测到 ctDNA。我们的数据表明，MNV 方法非常灵敏，可用于肿瘤知情环境中的诊断前 ctDNA 检测。他们对 DLBCL 和 cHL 早期分子畸变的增加提供了新的见解，并支持使用 ctDNA 作为液体活检来</a:t>
            </a:r>
          </a:p>
          <a:p>
            <a:pPr>
              <a:lnSpc>
                <a:spcPct val="103000"/>
              </a:lnSpc>
              <a:spcAft>
                <a:spcPts val="300"/>
              </a:spcAft>
              <a:defRPr sz="570">
                <a:solidFill>
                  <a:srgbClr val="21242A"/>
                </a:solidFill>
                <a:latin typeface="Microsoft YaHei"/>
              </a:defRPr>
            </a:pPr>
            <a:r>
              <a:t>帮助早期诊断疑似淋巴瘤的患者。</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ctDNA检出率</a:t>
                      </a:r>
                    </a:p>
                  </a:txBody>
                  <a:tcPr>
                    <a:solidFill>
                      <a:srgbClr val="F6F8FB"/>
                    </a:solidFill>
                  </a:tcPr>
                </a:tc>
                <a:tc>
                  <a:txBody>
                    <a:bodyPr wrap="square" lIns="36576" rIns="36576" tIns="18288" bIns="18288"/>
                    <a:lstStyle/>
                    <a:p>
                      <a:r>
                        <a:rPr sz="540" b="0">
                          <a:solidFill>
                            <a:srgbClr val="21242A"/>
                          </a:solidFill>
                          <a:latin typeface="Microsoft YaHei"/>
                        </a:rPr>
                        <a:t>31/46 (67%) 的病例在诊断前血浆中检出ctDNA</a:t>
                      </a:r>
                    </a:p>
                  </a:txBody>
                  <a:tcPr>
                    <a:solidFill>
                      <a:srgbClr val="F6F8FB"/>
                    </a:solidFill>
                  </a:tcPr>
                </a:tc>
              </a:tr>
              <a:tr h="249936">
                <a:tc>
                  <a:txBody>
                    <a:bodyPr wrap="square" lIns="36576" rIns="36576" tIns="18288" bIns="18288"/>
                    <a:lstStyle/>
                    <a:p>
                      <a:r>
                        <a:rPr sz="540" b="1">
                          <a:solidFill>
                            <a:srgbClr val="21242A"/>
                          </a:solidFill>
                          <a:latin typeface="Microsoft YaHei"/>
                        </a:rPr>
                        <a:t>DLBCL</a:t>
                      </a:r>
                    </a:p>
                  </a:txBody>
                  <a:tcPr>
                    <a:solidFill>
                      <a:srgbClr val="FFFFFF"/>
                    </a:solidFill>
                  </a:tcPr>
                </a:tc>
                <a:tc>
                  <a:txBody>
                    <a:bodyPr wrap="square" lIns="36576" rIns="36576" tIns="18288" bIns="18288"/>
                    <a:lstStyle/>
                    <a:p>
                      <a:r>
                        <a:rPr sz="540" b="0">
                          <a:solidFill>
                            <a:srgbClr val="21242A"/>
                          </a:solidFill>
                          <a:latin typeface="Microsoft YaHei"/>
                        </a:rPr>
                        <a:t>13/33 (39%) 通过肿瘤信息指导的SNV检出ctDNA；20/33 (61%) 通过MNV检出ctDNA</a:t>
                      </a:r>
                    </a:p>
                  </a:txBody>
                  <a:tcPr>
                    <a:solidFill>
                      <a:srgbClr val="FFFFFF"/>
                    </a:solidFill>
                  </a:tcPr>
                </a:tc>
              </a:tr>
              <a:tr h="249936">
                <a:tc>
                  <a:txBody>
                    <a:bodyPr wrap="square" lIns="36576" rIns="36576" tIns="18288" bIns="18288"/>
                    <a:lstStyle/>
                    <a:p>
                      <a:r>
                        <a:rPr sz="540" b="1">
                          <a:solidFill>
                            <a:srgbClr val="21242A"/>
                          </a:solidFill>
                          <a:latin typeface="Microsoft YaHei"/>
                        </a:rPr>
                        <a:t>cHL</a:t>
                      </a:r>
                    </a:p>
                  </a:txBody>
                  <a:tcPr>
                    <a:solidFill>
                      <a:srgbClr val="F6F8FB"/>
                    </a:solidFill>
                  </a:tcPr>
                </a:tc>
                <a:tc>
                  <a:txBody>
                    <a:bodyPr wrap="square" lIns="36576" rIns="36576" tIns="18288" bIns="18288"/>
                    <a:lstStyle/>
                    <a:p>
                      <a:r>
                        <a:rPr sz="540" b="0">
                          <a:solidFill>
                            <a:srgbClr val="21242A"/>
                          </a:solidFill>
                          <a:latin typeface="Microsoft YaHei"/>
                        </a:rPr>
                        <a:t>9/13 (69%) 通过MNV检出ctDNA</a:t>
                      </a:r>
                    </a:p>
                  </a:txBody>
                  <a:tcPr>
                    <a:solidFill>
                      <a:srgbClr val="F6F8FB"/>
                    </a:solidFill>
                  </a:tcPr>
                </a:tc>
              </a:tr>
              <a:tr h="249936">
                <a:tc>
                  <a:txBody>
                    <a:bodyPr wrap="square" lIns="36576" rIns="36576" tIns="18288" bIns="18288"/>
                    <a:lstStyle/>
                    <a:p>
                      <a:r>
                        <a:rPr sz="540" b="1">
                          <a:solidFill>
                            <a:srgbClr val="21242A"/>
                          </a:solidFill>
                          <a:latin typeface="Microsoft YaHei"/>
                        </a:rPr>
                        <a:t>最早检出时间</a:t>
                      </a:r>
                    </a:p>
                  </a:txBody>
                  <a:tcPr>
                    <a:solidFill>
                      <a:srgbClr val="FFFFFF"/>
                    </a:solidFill>
                  </a:tcPr>
                </a:tc>
                <a:tc>
                  <a:txBody>
                    <a:bodyPr wrap="square" lIns="36576" rIns="36576" tIns="18288" bIns="18288"/>
                    <a:lstStyle/>
                    <a:p>
                      <a:r>
                        <a:rPr sz="540" b="0">
                          <a:solidFill>
                            <a:srgbClr val="21242A"/>
                          </a:solidFill>
                          <a:latin typeface="Microsoft YaHei"/>
                        </a:rPr>
                        <a:t>DLBCL诊断前106个月，cHL诊断前55个月；</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cHL中ctDNA水平与sTARC强相关（r=0.86）</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摘要号：S256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预测全身弥漫性大b细胞淋巴瘤和原发性中枢神经系统淋巴瘤自体造血细胞移植后复发的因素：一项芬兰多中心研究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factors predicting relapse after autologous hematopoietic cell transplantatio...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PS2247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23500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602736"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77740"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中枢神经系统淋巴瘤，弥漫性大B细胞淋巴瘤</a:t>
            </a:r>
          </a:p>
          <a:p>
            <a:pPr>
              <a:lnSpc>
                <a:spcPct val="103000"/>
              </a:lnSpc>
              <a:spcAft>
                <a:spcPts val="300"/>
              </a:spcAft>
              <a:defRPr sz="800">
                <a:solidFill>
                  <a:srgbClr val="21242A"/>
                </a:solidFill>
                <a:latin typeface="Microsoft YaHei"/>
              </a:defRPr>
            </a:pPr>
            <a:r>
              <a:t>N=159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回顾性临床研究结果：factors predicting relapse after autologous hematopoi...</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DLBCL患者：LDH升高与复发风险HR=3.75 (95% CI 1.46-9.59, p=0.006)</a:t>
            </a:r>
          </a:p>
          <a:p>
            <a:pPr>
              <a:lnSpc>
                <a:spcPct val="103000"/>
              </a:lnSpc>
              <a:spcAft>
                <a:spcPts val="300"/>
              </a:spcAft>
              <a:defRPr sz="800">
                <a:solidFill>
                  <a:srgbClr val="21242A"/>
                </a:solidFill>
                <a:latin typeface="Microsoft YaHei"/>
              </a:defRPr>
            </a:pPr>
            <a:r>
              <a:t>DLBCL患者：≥2个结外病灶与复发风险HR=2.89 (95% CI 1.21-6.91, p=0.017)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人数：159</a:t>
            </a:r>
          </a:p>
          <a:p>
            <a:pPr>
              <a:lnSpc>
                <a:spcPct val="103000"/>
              </a:lnSpc>
              <a:spcAft>
                <a:spcPts val="300"/>
              </a:spcAft>
              <a:defRPr sz="810">
                <a:solidFill>
                  <a:srgbClr val="21242A"/>
                </a:solidFill>
                <a:latin typeface="Microsoft YaHei"/>
              </a:defRPr>
            </a:pPr>
            <a:r>
              <a:t>适应症：中枢神经系统淋巴瘤、弥漫性大B细胞淋巴瘤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研究主题：factors predicting relapse after autologous hematopoietic cell transplantation in systemic diffuse large b-cell lymphom...</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预测全身弥漫性大b细胞淋巴瘤和原发性中枢神经系统淋巴瘤自体造血细胞移植后复发的因素：一项芬兰多中心研究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factors predicting relapse after autologous hematopoietic cell transplantatio...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PS2247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23500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602736"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777740"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和原发性中枢神经系统淋巴瘤 (PCNSL) 患者在自体造血细胞移植 (AHCT) 后出现复发，预后较差。预测移植后复发风险的因素尚不清楚。 目的：这项多中心现实世界研究的目的是确定影响系统性 DLBCL 或 PCNSL 移植后结果的因素。</a:t>
            </a:r>
          </a:p>
          <a:p>
            <a:pPr>
              <a:lnSpc>
                <a:spcPct val="103000"/>
              </a:lnSpc>
              <a:spcAft>
                <a:spcPts val="300"/>
              </a:spcAft>
              <a:defRPr sz="550">
                <a:solidFill>
                  <a:srgbClr val="21242A"/>
                </a:solidFill>
                <a:latin typeface="Microsoft YaHei"/>
              </a:defRPr>
            </a:pPr>
            <a:r>
              <a:t>方法：研究人群包括 2000 年至 2019 年间在芬兰三所大学医院（库奥皮奥、坦佩雷、奥卢）接受 AHCT 的 119 名系统性 DLBCL 患者和 40 名 PCNSL 患者。数据是从患者的医疗记录中回顾性收集的，包括患者和疾病的特征和结果。早期复发被定义为发生</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如果 PCNSL 患者的活动前反应比 CR 差，则在首次复发后接受 AHCT 的 PCNSL 患者更有可能出现移植后复发。我们针对移植后复发的新风险分类将系统性 DLBCL 患者分为三组，RFS 率显着不同。需要更大规模的研究来验证这种分类。</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DLBCL患者</a:t>
                      </a:r>
                    </a:p>
                  </a:txBody>
                  <a:tcPr>
                    <a:solidFill>
                      <a:srgbClr val="F6F8FB"/>
                    </a:solidFill>
                  </a:tcPr>
                </a:tc>
                <a:tc>
                  <a:txBody>
                    <a:bodyPr wrap="square" lIns="36576" rIns="36576" tIns="18288" bIns="18288"/>
                    <a:lstStyle/>
                    <a:p>
                      <a:r>
                        <a:rPr sz="540" b="0">
                          <a:solidFill>
                            <a:srgbClr val="21242A"/>
                          </a:solidFill>
                          <a:latin typeface="Microsoft YaHei"/>
                        </a:rPr>
                        <a:t>LDH升高与复发风险HR=3.75 (95% CI 1.46-9.59, p=0.006)</a:t>
                      </a:r>
                    </a:p>
                  </a:txBody>
                  <a:tcPr>
                    <a:solidFill>
                      <a:srgbClr val="F6F8FB"/>
                    </a:solidFill>
                  </a:tcPr>
                </a:tc>
              </a:tr>
              <a:tr h="214230">
                <a:tc>
                  <a:txBody>
                    <a:bodyPr wrap="square" lIns="36576" rIns="36576" tIns="18288" bIns="18288"/>
                    <a:lstStyle/>
                    <a:p>
                      <a:r>
                        <a:rPr sz="540" b="1">
                          <a:solidFill>
                            <a:srgbClr val="21242A"/>
                          </a:solidFill>
                          <a:latin typeface="Microsoft YaHei"/>
                        </a:rPr>
                        <a:t>DLBCL患者</a:t>
                      </a:r>
                    </a:p>
                  </a:txBody>
                  <a:tcPr>
                    <a:solidFill>
                      <a:srgbClr val="FFFFFF"/>
                    </a:solidFill>
                  </a:tcPr>
                </a:tc>
                <a:tc>
                  <a:txBody>
                    <a:bodyPr wrap="square" lIns="36576" rIns="36576" tIns="18288" bIns="18288"/>
                    <a:lstStyle/>
                    <a:p>
                      <a:r>
                        <a:rPr sz="540" b="0">
                          <a:solidFill>
                            <a:srgbClr val="21242A"/>
                          </a:solidFill>
                          <a:latin typeface="Microsoft YaHei"/>
                        </a:rPr>
                        <a:t>≥2个结外病灶与复发风险HR=2.89 (95% CI 1.21-6.91, p=0.017)</a:t>
                      </a:r>
                    </a:p>
                  </a:txBody>
                  <a:tcPr>
                    <a:solidFill>
                      <a:srgbClr val="FFFFFF"/>
                    </a:solidFill>
                  </a:tcPr>
                </a:tc>
              </a:tr>
              <a:tr h="214230">
                <a:tc>
                  <a:txBody>
                    <a:bodyPr wrap="square" lIns="36576" rIns="36576" tIns="18288" bIns="18288"/>
                    <a:lstStyle/>
                    <a:p>
                      <a:r>
                        <a:rPr sz="540" b="1">
                          <a:solidFill>
                            <a:srgbClr val="21242A"/>
                          </a:solidFill>
                          <a:latin typeface="Microsoft YaHei"/>
                        </a:rPr>
                        <a:t>DLBCL患者</a:t>
                      </a:r>
                    </a:p>
                  </a:txBody>
                  <a:tcPr>
                    <a:solidFill>
                      <a:srgbClr val="F6F8FB"/>
                    </a:solidFill>
                  </a:tcPr>
                </a:tc>
                <a:tc>
                  <a:txBody>
                    <a:bodyPr wrap="square" lIns="36576" rIns="36576" tIns="18288" bIns="18288"/>
                    <a:lstStyle/>
                    <a:p>
                      <a:r>
                        <a:rPr sz="540" b="0">
                          <a:solidFill>
                            <a:srgbClr val="21242A"/>
                          </a:solidFill>
                          <a:latin typeface="Microsoft YaHei"/>
                        </a:rPr>
                        <a:t>AHCT前PR与复发风险HR=1.97 (95% CI 1.02-3.80, p=0.042)</a:t>
                      </a:r>
                    </a:p>
                  </a:txBody>
                  <a:tcPr>
                    <a:solidFill>
                      <a:srgbClr val="F6F8FB"/>
                    </a:solidFill>
                  </a:tcPr>
                </a:tc>
              </a:tr>
              <a:tr h="214230">
                <a:tc>
                  <a:txBody>
                    <a:bodyPr wrap="square" lIns="36576" rIns="36576" tIns="18288" bIns="18288"/>
                    <a:lstStyle/>
                    <a:p>
                      <a:r>
                        <a:rPr sz="540" b="1">
                          <a:solidFill>
                            <a:srgbClr val="21242A"/>
                          </a:solidFill>
                          <a:latin typeface="Microsoft YaHei"/>
                        </a:rPr>
                        <a:t>PCNSL患者</a:t>
                      </a:r>
                    </a:p>
                  </a:txBody>
                  <a:tcPr>
                    <a:solidFill>
                      <a:srgbClr val="FFFFFF"/>
                    </a:solidFill>
                  </a:tcPr>
                </a:tc>
                <a:tc>
                  <a:txBody>
                    <a:bodyPr wrap="square" lIns="36576" rIns="36576" tIns="18288" bIns="18288"/>
                    <a:lstStyle/>
                    <a:p>
                      <a:r>
                        <a:rPr sz="540" b="0">
                          <a:solidFill>
                            <a:srgbClr val="21242A"/>
                          </a:solidFill>
                          <a:latin typeface="Microsoft YaHei"/>
                        </a:rPr>
                        <a:t>动员前PR vs CR的复发风险HR=15.06 (95% CI 1.08-210.62, p=0.044)</a:t>
                      </a:r>
                    </a:p>
                  </a:txBody>
                  <a:tcPr>
                    <a:solidFill>
                      <a:srgbClr val="FFFFFF"/>
                    </a:solidFill>
                  </a:tcPr>
                </a:tc>
              </a:tr>
              <a:tr h="214230">
                <a:tc>
                  <a:txBody>
                    <a:bodyPr wrap="square" lIns="36576" rIns="36576" tIns="18288" bIns="18288"/>
                    <a:lstStyle/>
                    <a:p>
                      <a:r>
                        <a:rPr sz="540" b="1">
                          <a:solidFill>
                            <a:srgbClr val="21242A"/>
                          </a:solidFill>
                          <a:latin typeface="Microsoft YaHei"/>
                        </a:rPr>
                        <a:t>基于以上三个因素的风险评分</a:t>
                      </a:r>
                    </a:p>
                  </a:txBody>
                  <a:tcPr>
                    <a:solidFill>
                      <a:srgbClr val="F6F8FB"/>
                    </a:solidFill>
                  </a:tcPr>
                </a:tc>
                <a:tc>
                  <a:txBody>
                    <a:bodyPr wrap="square" lIns="36576" rIns="36576" tIns="18288" bIns="18288"/>
                    <a:lstStyle/>
                    <a:p>
                      <a:r>
                        <a:rPr sz="540" b="0">
                          <a:solidFill>
                            <a:srgbClr val="21242A"/>
                          </a:solidFill>
                          <a:latin typeface="Microsoft YaHei"/>
                        </a:rPr>
                        <a:t>低危组5年RFS 84.9%，中危组64.4%，高危组47.5% (p=0.006)</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摘要号：PS2247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弥漫性大b细胞淋巴瘤肠道生态失调模式的系统评价和荟萃分析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microbiome-lymphoma axis: a systematic review and meta-analysis of gut dy...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N=4087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回顾性临床研究结果：the microbiome-lymphoma axis: a systematic review and...</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This first comprehensive synthesis identifies a reproducible sp...</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人数：4087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研究主题：the microbiome-lymphoma axis: a systematic review and meta-analysis of gut dysbiosis pattern in diffuse large b-cell ly...</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弥漫性大b细胞淋巴瘤肠道生态失调模式的系统评价和荟萃分析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microbiome-lymphoma axis: a systematic review and meta-analysis of gut dy...</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PS2206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背景：肠道微生物群在免疫调节和癌症生物学中发挥着关键作用。新的证据表明，肠道菌群失调可能导致弥漫性大 B 细胞淋巴瘤 (DLBCL) 的发展，DLBCL 是非霍奇金淋巴瘤最常见和最具侵袭性的亚型。然而，与 DLBCL 相关的特定微生物改变尚未得到全面综合。</a:t>
            </a:r>
          </a:p>
          <a:p>
            <a:pPr>
              <a:lnSpc>
                <a:spcPct val="103000"/>
              </a:lnSpc>
              <a:spcAft>
                <a:spcPts val="300"/>
              </a:spcAft>
              <a:defRPr sz="550">
                <a:solidFill>
                  <a:srgbClr val="21242A"/>
                </a:solidFill>
                <a:latin typeface="Microsoft YaHei"/>
              </a:defRPr>
            </a:pPr>
            <a:r>
              <a:t>目的：系统评估和综合与 DLBCL 相关的肠道微生物群 (GMB) 改变的证据，重点关注物种水平的微生物特征。</a:t>
            </a:r>
          </a:p>
          <a:p>
            <a:pPr>
              <a:lnSpc>
                <a:spcPct val="103000"/>
              </a:lnSpc>
              <a:spcAft>
                <a:spcPts val="300"/>
              </a:spcAft>
              <a:defRPr sz="550">
                <a:solidFill>
                  <a:srgbClr val="21242A"/>
                </a:solidFill>
                <a:latin typeface="Microsoft YaHei"/>
              </a:defRPr>
            </a:pPr>
            <a:r>
              <a:t>方法：对涉及 4,087 例病例的 13 项研究进行系统回顾和荟萃分析。观察性研究和孟德尔随机化 (MR) 研究均包括在内。随机效应模型用于计算 MR 研究的汇总比值比 (OR)，而观察性研究则有助于定性评估。在物种水平上分析微生物变化以增强生物学解释。</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这一首次综合合成鉴定了 DLBCL 中可重复的物种水平微生物特征，其特征是有益类群的丧失和促肿瘤微生物的富集。这些改变可能通过炎症、代谢和免疫调节机制促进淋巴瘤的发生。我们的研究结果强调肠道微生物群作为潜在的生物标志物来源和治疗靶点，支持精准淋巴瘤护理中的微生物群调节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This first comprehensive synthesis identifies a reproducible species-level microbial signature in DLBCL characterized by loss of beneficial taxa and enrich</a:t>
            </a:r>
          </a:p>
          <a:p>
            <a:pPr>
              <a:lnSpc>
                <a:spcPct val="103000"/>
              </a:lnSpc>
              <a:spcAft>
                <a:spcPts val="300"/>
              </a:spcAft>
              <a:defRPr sz="560">
                <a:solidFill>
                  <a:srgbClr val="21242A"/>
                </a:solidFill>
                <a:latin typeface="Microsoft YaHei"/>
              </a:defRPr>
            </a:pPr>
            <a:r>
              <a:t>ment of pro-tumorigenic microbes.</a:t>
            </a:r>
          </a:p>
          <a:p>
            <a:pPr>
              <a:lnSpc>
                <a:spcPct val="103000"/>
              </a:lnSpc>
              <a:spcAft>
                <a:spcPts val="300"/>
              </a:spcAft>
              <a:defRPr sz="560">
                <a:solidFill>
                  <a:srgbClr val="21242A"/>
                </a:solidFill>
                <a:latin typeface="Microsoft YaHei"/>
              </a:defRPr>
            </a:pPr>
            <a:r>
              <a:t>These alterations may promote lymphomagenesis through inflammatory, metabolic, and immune-modulatory mechanisms.</a:t>
            </a:r>
          </a:p>
          <a:p>
            <a:pPr>
              <a:lnSpc>
                <a:spcPct val="103000"/>
              </a:lnSpc>
              <a:spcAft>
                <a:spcPts val="300"/>
              </a:spcAft>
              <a:defRPr sz="560">
                <a:solidFill>
                  <a:srgbClr val="21242A"/>
                </a:solidFill>
                <a:latin typeface="Microsoft YaHei"/>
              </a:defRPr>
            </a:pPr>
            <a:r>
              <a:t>Our findings highlight the gut microbiota as a latent biomarker source and therapeutic target, supporting microbiota-…</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摘要号：PS2206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将tp53缺失和非整倍性与不同的弥漫性大b细胞淋巴瘤亚型叠加，可以细化肿瘤分类并增强风险分层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overlaying tp53 loss and aneuploidy with distinct diffuse large b-cell lympho...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PS2188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N=1123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回顾性临床研究结果：overlaying tp53 loss and aneuploidy with distinct dif...</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TP53+肿瘤的非整倍体评分显著高于TP53-肿瘤（p&lt;0.001）</a:t>
            </a:r>
          </a:p>
          <a:p>
            <a:pPr>
              <a:lnSpc>
                <a:spcPct val="103000"/>
              </a:lnSpc>
              <a:spcAft>
                <a:spcPts val="300"/>
              </a:spcAft>
              <a:defRPr sz="800">
                <a:solidFill>
                  <a:srgbClr val="21242A"/>
                </a:solidFill>
                <a:latin typeface="Microsoft YaHei"/>
              </a:defRPr>
            </a:pPr>
            <a:r>
              <a:t>TP53+/A+状态覆盖了大多数A53/C2亚型病例</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人数：1123</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研究主题：overlaying tp53 loss and aneuploidy with distinct diffuse large b-cell lymphoma subtypes refines tumor classification 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将tp53缺失和非整倍性与不同的弥漫性大b细胞淋巴瘤亚型叠加，可以细化肿瘤分类并增强风险分层</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overlaying tp53 loss and aneuploidy with distinct diffuse large b-cell lympho...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PS2188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背景：遗传亚型广泛用于对弥漫性大 B 细胞淋巴瘤 (DLBCL) 进行分层。然而，同一亚型的患者往往表现出不同的结果。虽然染色体数目改变 (CNA) 驱动的亚型（例如 A53 和 C2）捕获了基因组不稳定性，但它们涵盖了具有不同程度的非整倍性的肿瘤。功能丧失 (LOF) TP53 改变和非整倍性均与不良预后相关，但它们</a:t>
            </a:r>
          </a:p>
          <a:p>
            <a:pPr>
              <a:lnSpc>
                <a:spcPct val="103000"/>
              </a:lnSpc>
              <a:spcAft>
                <a:spcPts val="300"/>
              </a:spcAft>
              <a:defRPr sz="550">
                <a:solidFill>
                  <a:srgbClr val="21242A"/>
                </a:solidFill>
                <a:latin typeface="Microsoft YaHei"/>
              </a:defRPr>
            </a:pPr>
            <a:r>
              <a:t>对 DLBCL 的独立和综合影响仍不明确。目的：为了通过解开 TP53 丢失和定量非整倍性的影响来完善 DLBCL 的基因组分层，我们将两种新的基因组不稳定状态引入到 Lymphly（我们之前开发的 DLBCL 遗传亚型分类框架）中。这些状态是 TP53+/-（表示 TP53 LOF 改变）和 A+/-（基于非整倍性的</a:t>
            </a:r>
          </a:p>
          <a:p>
            <a:pPr>
              <a:lnSpc>
                <a:spcPct val="103000"/>
              </a:lnSpc>
              <a:spcAft>
                <a:spcPts val="300"/>
              </a:spcAft>
              <a:defRPr sz="550">
                <a:solidFill>
                  <a:srgbClr val="21242A"/>
                </a:solidFill>
                <a:latin typeface="Microsoft YaHei"/>
              </a:defRPr>
            </a:pPr>
            <a:r>
              <a:t>状态）。这种方法明确区分了淋巴亚型中的 TP53 丢失和非整倍性。方法：我们通过全基因组 CNA 分析分析了 1,123 个 DLBCL 样本。</a:t>
            </a:r>
          </a:p>
          <a:p>
            <a:pPr>
              <a:lnSpc>
                <a:spcPct val="103000"/>
              </a:lnSpc>
              <a:spcAft>
                <a:spcPts val="300"/>
              </a:spcAft>
              <a:defRPr sz="550">
                <a:solidFill>
                  <a:srgbClr val="21242A"/>
                </a:solidFill>
                <a:latin typeface="Microsoft YaHei"/>
              </a:defRPr>
            </a:pPr>
            <a:r>
              <a:t>579 个样本的生存数据可用。非整倍性评分定义为偏离平均倍性的染色体臂数（不包括无着丝粒臂）。分布呈双峰（范围 0-39），最低点约为 15。 K 均值聚类将 A+ 肿瘤定义为具有 &gt;14 个臂级 CNA 的肿瘤。 TP53+状态被定义为TP53 LOF突变或缺失。</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除淋巴亚型外，TP53 缺失和高非整倍性代表了 DLBCL 中独立且具有临床意义的基因组维度。它们与 Lymphly 的集成完善了现有的 A53/C2 分类，并基于生物学基础、可操作的见解改进了风险分层。我们的研究结果为基于基因组特征的患者分层提供了一个强大的框架，为试验设计、患者选择和治疗决策提供了潜在的好处。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结果：TP53+ 肿瘤的非整倍性评分显着高于 TP53− 肿瘤（p /− 和 A+/- 状态捕获了所分析的大多数 A53/C2 病例，证明这两种淋巴状态能够描述 A53 和 C2 亚型的样本组成和基础生物学。\n 从生物学角度来看，A+ 肿瘤富含生发中心 B 细胞样起源细胞 (GCB COO)，表现出减少 B</a:t>
            </a:r>
          </a:p>
          <a:p>
            <a:pPr>
              <a:lnSpc>
                <a:spcPct val="103000"/>
              </a:lnSpc>
              <a:spcAft>
                <a:spcPts val="300"/>
              </a:spcAft>
              <a:defRPr sz="560">
                <a:solidFill>
                  <a:srgbClr val="21242A"/>
                </a:solidFill>
                <a:latin typeface="Microsoft YaHei"/>
              </a:defRPr>
            </a:pPr>
            <a:r>
              <a:t> 细胞含量，并显示 DNA 复制和修复程序改变。临床上，TP53+ 与原发性难治性和较差的生存率相关，而 A+ 与预后改善相关，特别是在 TP53+ 肿瘤中。</a:t>
            </a:r>
          </a:p>
          <a:p>
            <a:pPr>
              <a:lnSpc>
                <a:spcPct val="103000"/>
              </a:lnSpc>
              <a:spcAft>
                <a:spcPts val="300"/>
              </a:spcAft>
              <a:defRPr sz="560">
                <a:solidFill>
                  <a:srgbClr val="21242A"/>
                </a:solidFill>
                <a:latin typeface="Microsoft YaHei"/>
              </a:defRPr>
            </a:pPr>
            <a:r>
              <a:t>结论：除了淋巴亚型之外，TP53 缺失和高非整倍性代表了 DLBCL 中独立且具有临床意义的基因组维度。它们与 Lymphly 的集成完善了现有的 A53/C2 分类，并基于生物学基础、可操作的见解改进了风险分层。我们的研究结果为基于基因组特征的患者分层提供了一个强大的框架，为试验设计、患者选择和治疗决策提供</a:t>
            </a:r>
          </a:p>
          <a:p>
            <a:pPr>
              <a:lnSpc>
                <a:spcPct val="103000"/>
              </a:lnSpc>
              <a:spcAft>
                <a:spcPts val="300"/>
              </a:spcAft>
              <a:defRPr sz="560">
                <a:solidFill>
                  <a:srgbClr val="21242A"/>
                </a:solidFill>
                <a:latin typeface="Microsoft YaHei"/>
              </a:defRPr>
            </a:pPr>
            <a:r>
              <a:t>了潜在的好处。</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摘要号：PS2188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美国学术项目与社区项目治疗的老年dlbcl患者的10年生存率差异分析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differences in outcomes for elderly patients with dlbcl treated at american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PS2142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N=103671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分组：学术癌症项目组（ACP）</a:t>
            </a:r>
          </a:p>
          <a:p>
            <a:pPr>
              <a:lnSpc>
                <a:spcPct val="103000"/>
              </a:lnSpc>
              <a:spcAft>
                <a:spcPts val="300"/>
              </a:spcAft>
              <a:defRPr sz="800">
                <a:solidFill>
                  <a:srgbClr val="21242A"/>
                </a:solidFill>
                <a:latin typeface="Microsoft YaHei"/>
              </a:defRPr>
            </a:pPr>
            <a:r>
              <a:t>社区癌症项目组（CCP）</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多组/多方案比较：学术癌症项目组（ACP）</a:t>
            </a:r>
          </a:p>
          <a:p>
            <a:pPr>
              <a:lnSpc>
                <a:spcPct val="103000"/>
              </a:lnSpc>
              <a:spcAft>
                <a:spcPts val="300"/>
              </a:spcAft>
              <a:defRPr sz="800">
                <a:solidFill>
                  <a:srgbClr val="21242A"/>
                </a:solidFill>
                <a:latin typeface="Microsoft YaHei"/>
              </a:defRPr>
            </a:pPr>
            <a:r>
              <a:t>社区癌症项目组（CCP）</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中位总生存期（OS）：ACP组1.79年 vs CCP组1.50年</a:t>
            </a:r>
          </a:p>
          <a:p>
            <a:pPr>
              <a:lnSpc>
                <a:spcPct val="103000"/>
              </a:lnSpc>
              <a:spcAft>
                <a:spcPts val="300"/>
              </a:spcAft>
              <a:defRPr sz="800">
                <a:solidFill>
                  <a:srgbClr val="21242A"/>
                </a:solidFill>
                <a:latin typeface="Microsoft YaHei"/>
              </a:defRPr>
            </a:pPr>
            <a:r>
              <a:t>2年OS率：ACP组49% [CI: 0.48,0.49] vs CCP组46% [CI: 0.459,0.468]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人数：103671</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分组/治疗流程：学术癌症项目组（ACP）、社区癌症项目组（CCP）</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美国学术项目与社区项目治疗的老年dlbcl患者的10年生存率差异分析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differences in outcomes for elderly patients with dlbcl treated at american 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PS2142</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是一种侵袭性 B 细胞恶性肿瘤，主要影响老年人。由于高风险疾病生物学及其特定年龄的脆弱性，老年人群的最佳治疗管理具有挑战性。联合化疗是有效的，但由于身体虚弱，通常会采用减少剂量的方案。这项大规模的现实世界研究比较了 75 岁以上患者的人口统计、临床和生存特征，并比较了学术</a:t>
            </a:r>
          </a:p>
          <a:p>
            <a:pPr>
              <a:lnSpc>
                <a:spcPct val="103000"/>
              </a:lnSpc>
              <a:spcAft>
                <a:spcPts val="300"/>
              </a:spcAft>
              <a:defRPr sz="550">
                <a:solidFill>
                  <a:srgbClr val="21242A"/>
                </a:solidFill>
                <a:latin typeface="Microsoft YaHei"/>
              </a:defRPr>
            </a:pPr>
            <a:r>
              <a:t>癌症计划 (ACP) 与社区癌症计划 (CCP)。目的：确定学术医院与社区医院的 DLBCL 老年患者（等于或超过 75 岁）的治疗方法（根据年龄、种族/族裔、保险状况、Charlson-Deyo 合并症评分和距治疗机构的距离进行调整）是否会影响该淋巴瘤人群的总生存期。方法：利用国家癌症数据库对 2004 年至 202</a:t>
            </a:r>
          </a:p>
          <a:p>
            <a:pPr>
              <a:lnSpc>
                <a:spcPct val="103000"/>
              </a:lnSpc>
              <a:spcAft>
                <a:spcPts val="300"/>
              </a:spcAft>
              <a:defRPr sz="550">
                <a:solidFill>
                  <a:srgbClr val="21242A"/>
                </a:solidFill>
                <a:latin typeface="Microsoft YaHei"/>
              </a:defRPr>
            </a:pPr>
            <a:r>
              <a:t>2 年间诊断为 DLBCL 的 103,671 例患者（ACP：51,848；CCP：51,823）进行回顾性分析。</a:t>
            </a:r>
          </a:p>
          <a:p>
            <a:pPr>
              <a:lnSpc>
                <a:spcPct val="103000"/>
              </a:lnSpc>
              <a:spcAft>
                <a:spcPts val="300"/>
              </a:spcAft>
              <a:defRPr sz="550">
                <a:solidFill>
                  <a:srgbClr val="21242A"/>
                </a:solidFill>
                <a:latin typeface="Microsoft YaHei"/>
              </a:defRPr>
            </a:pPr>
            <a:r>
              <a:t>ACP 包括学术中心和国家癌症研究所指定的研究中心； CCP 包括社区、综合社区和综合网络癌症计划。 Kaplan-Meier 和 Cox 回归模型用于比较总生存期 (OS)，并调整以下因素：年龄、种族/族裔、保险状况、Charlson-Deyo 合并症评分以及距治疗机构的距离。</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在年龄≥75岁的DLBCL患者中，OS因治疗机构类型而异，与CCP治疗的患者相比，ACP治疗的患者具有统计学显着但适度的生存优势（对数秩p</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结果：ACP 和 CCP 患者以女性为主，中位年龄为 81 岁。对于这两个群体来说，大多数都是非西班牙裔和白人；然而，与 CCP 相比，ACP 中西班牙裔（6% 比 5%）和黑人（5% 比 3%）的比例更高。两组中的大多数患者都来自大都市地区，但 ACP 的中位距离（以英里为单位）为 9.0 英里，而 CCP</a:t>
            </a:r>
          </a:p>
          <a:p>
            <a:pPr>
              <a:lnSpc>
                <a:spcPct val="103000"/>
              </a:lnSpc>
              <a:spcAft>
                <a:spcPts val="300"/>
              </a:spcAft>
              <a:defRPr sz="560">
                <a:solidFill>
                  <a:srgbClr val="21242A"/>
                </a:solidFill>
                <a:latin typeface="Microsoft YaHei"/>
              </a:defRPr>
            </a:pPr>
            <a:r>
              <a:t> 为 7.4。</a:t>
            </a:r>
          </a:p>
          <a:p>
            <a:pPr>
              <a:lnSpc>
                <a:spcPct val="103000"/>
              </a:lnSpc>
              <a:spcAft>
                <a:spcPts val="300"/>
              </a:spcAft>
              <a:defRPr sz="560">
                <a:solidFill>
                  <a:srgbClr val="21242A"/>
                </a:solidFill>
                <a:latin typeface="Microsoft YaHei"/>
              </a:defRPr>
            </a:pPr>
            <a:r>
              <a:t>ACP 的治疗率高于社区环境（63% 比 59%，p 在 ACP 治疗的老年患者中 OS 更好，p ACP 的中位 OS 为 1.79 年，而 CCP 为 1.50 年，这与较长的中位随访时间（17.7 个月）相一致。</a:t>
            </a:r>
          </a:p>
          <a:p>
            <a:pPr>
              <a:lnSpc>
                <a:spcPct val="103000"/>
              </a:lnSpc>
              <a:spcAft>
                <a:spcPts val="300"/>
              </a:spcAft>
              <a:defRPr sz="560">
                <a:solidFill>
                  <a:srgbClr val="21242A"/>
                </a:solidFill>
                <a:latin typeface="Microsoft YaHei"/>
              </a:defRPr>
            </a:pPr>
            <a:r>
              <a:t>14.1，ACP 的 2 年 OS 率为 49% [CI: 0.48,0.49] vs CCP 的 46% [CI: 0.459,0.468]，5 年 OS 为 34% [CI: 0.336,0.346] vs 32% [CI: 0.317,0.327]，10 年 OS 为分别为 16% [CI: 0.154</a:t>
            </a:r>
          </a:p>
          <a:p>
            <a:pPr>
              <a:lnSpc>
                <a:spcPct val="103000"/>
              </a:lnSpc>
              <a:spcAft>
                <a:spcPts val="300"/>
              </a:spcAft>
              <a:defRPr sz="560">
                <a:solidFill>
                  <a:srgbClr val="21242A"/>
                </a:solidFill>
                <a:latin typeface="Microsoft YaHei"/>
              </a:defRPr>
            </a:pPr>
            <a:r>
              <a:t>,0.164] 与 15% [CI: 0.142,0.151]。</a:t>
            </a:r>
          </a:p>
          <a:p>
            <a:pPr>
              <a:lnSpc>
                <a:spcPct val="103000"/>
              </a:lnSpc>
              <a:spcAft>
                <a:spcPts val="300"/>
              </a:spcAft>
              <a:defRPr sz="560">
                <a:solidFill>
                  <a:srgbClr val="21242A"/>
                </a:solidFill>
                <a:latin typeface="Microsoft YaHei"/>
              </a:defRPr>
            </a:pPr>
            <a:r>
              <a:t>结论：在年龄≥75 岁的 DLBCL 患者中，OS 因治疗机构类型而异，与 CCP 治疗的患者相比，ACP 治疗的患者具有统计学显着但适度的生存优势（对数秩 p</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摘要号：PS2142</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早期弥漫性大b细胞淋巴瘤的结外浸润和位点特异性生存：一项基于人群的研究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extranodal involvement and site-specific survival in early-stage diffuse larg...</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N=3804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回顾性临床研究结果：extranodal involvement and site-specific survival in...</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总生存期（OS）：结外疾病组5年OS为69%，结内疾病组为71%，p=0.072，无显著差异</a:t>
            </a:r>
          </a:p>
          <a:p>
            <a:pPr>
              <a:lnSpc>
                <a:spcPct val="103000"/>
              </a:lnSpc>
              <a:spcAft>
                <a:spcPts val="300"/>
              </a:spcAft>
              <a:defRPr sz="800">
                <a:solidFill>
                  <a:srgbClr val="21242A"/>
                </a:solidFill>
                <a:latin typeface="Microsoft YaHei"/>
              </a:defRPr>
            </a:pPr>
            <a:r>
              <a:t>调整后风险比（HR）=1.08，95%CI 0.96-1.2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人数：3804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研究主题：extranodal involvement and site-specific survival in early-stage diffuse large b-cell lymphoma: a population-based study</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早期弥漫性大b细胞淋巴瘤的结外浸润和位点特异性生存：一项基于人群的研究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extranodal involvement and site-specific survival in early-stage diffuse larg...</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背景：了解异质疾病的预后差异可能会改变我们治疗个体患者的方式。在早期弥漫性大 B 细胞淋巴瘤 (DLBCL) 中，睾丸、肾脏和肺等结外部位与较差的生存率有关，但支持这种关联的证据仍不清楚。 目的：本研究旨在比较原发性结外疾病和仅结节疾病之间的生存率，并根据结外部位评估早期（安娜堡 I-II 期）DLBCL 的生存率。</a:t>
            </a:r>
          </a:p>
          <a:p>
            <a:pPr>
              <a:lnSpc>
                <a:spcPct val="103000"/>
              </a:lnSpc>
              <a:spcAft>
                <a:spcPts val="300"/>
              </a:spcAft>
              <a:defRPr sz="550">
                <a:solidFill>
                  <a:srgbClr val="21242A"/>
                </a:solidFill>
                <a:latin typeface="Microsoft YaHei"/>
              </a:defRPr>
            </a:pPr>
            <a:r>
              <a:t>方法：我们利用瑞典淋巴瘤登记处的数据进行了一项基于人群的队列研究。该队列由2007年至2023年间在瑞典诊断为I期和II期DLBCL的成年患者组成，随访至2024年5月16日。累及骨髓、肝脏、胸膜、眼或中枢神经系统（CNS）的患者以及具有多个结外部位的患者被排除在外，因为这些特征与IV期DLBCL一致。使用 Kapla</a:t>
            </a:r>
          </a:p>
          <a:p>
            <a:pPr>
              <a:lnSpc>
                <a:spcPct val="103000"/>
              </a:lnSpc>
              <a:spcAft>
                <a:spcPts val="300"/>
              </a:spcAft>
              <a:defRPr sz="550">
                <a:solidFill>
                  <a:srgbClr val="21242A"/>
                </a:solidFill>
                <a:latin typeface="Microsoft YaHei"/>
              </a:defRPr>
            </a:pPr>
            <a:r>
              <a:t>n-Meier 方法估计总生存期 (OS)，并使用对数秩检验进行比较。使用 Cox 比例风险模型估计具有 95% 置信区间的风险比 (HR)，并根据潜在的混杂因素进行调整。</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在这个全国范围的早期 DLBCL 患者队列中，结果表明，与仅限于淋巴结的疾病相比，结外受累与较差的生存率无关。然而，存在显着的位点特异性异质性，表明早期 DLBCL 是一个临床多样化的群体，而不是一个统一的实体。了解特定部位的生存率有助于提高预后准确性和指导管理策略。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374904">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374904">
                <a:tc>
                  <a:txBody>
                    <a:bodyPr wrap="square" lIns="36576" rIns="36576" tIns="18288" bIns="18288"/>
                    <a:lstStyle/>
                    <a:p>
                      <a:r>
                        <a:rPr sz="540" b="1">
                          <a:solidFill>
                            <a:srgbClr val="21242A"/>
                          </a:solidFill>
                          <a:latin typeface="Microsoft YaHei"/>
                        </a:rPr>
                        <a:t>总生存期（OS）</a:t>
                      </a:r>
                    </a:p>
                  </a:txBody>
                  <a:tcPr>
                    <a:solidFill>
                      <a:srgbClr val="F6F8FB"/>
                    </a:solidFill>
                  </a:tcPr>
                </a:tc>
                <a:tc>
                  <a:txBody>
                    <a:bodyPr wrap="square" lIns="36576" rIns="36576" tIns="18288" bIns="18288"/>
                    <a:lstStyle/>
                    <a:p>
                      <a:r>
                        <a:rPr sz="540" b="0">
                          <a:solidFill>
                            <a:srgbClr val="21242A"/>
                          </a:solidFill>
                          <a:latin typeface="Microsoft YaHei"/>
                        </a:rPr>
                        <a:t>结外疾病组5年OS为69%，结内疾病组为71%，p=0.072，无显著差异</a:t>
                      </a:r>
                    </a:p>
                  </a:txBody>
                  <a:tcPr>
                    <a:solidFill>
                      <a:srgbClr val="F6F8FB"/>
                    </a:solidFill>
                  </a:tcPr>
                </a:tc>
              </a:tr>
              <a:tr h="374904">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调整后风险比（HR）=1.08，95%CI 0.96-1.2</a:t>
                      </a:r>
                    </a:p>
                  </a:txBody>
                  <a:tcPr>
                    <a:solidFill>
                      <a:srgbClr val="FFFFFF"/>
                    </a:solidFill>
                  </a:tcPr>
                </a:tc>
              </a:tr>
              <a:tr h="374904">
                <a:tc>
                  <a:txBody>
                    <a:bodyPr wrap="square" lIns="36576" rIns="36576" tIns="18288" bIns="18288"/>
                    <a:lstStyle/>
                    <a:p>
                      <a:r>
                        <a:rPr sz="540" b="1">
                          <a:solidFill>
                            <a:srgbClr val="21242A"/>
                          </a:solidFill>
                          <a:latin typeface="Microsoft YaHei"/>
                        </a:rPr>
                        <a:t>不同结外部位OS差异</a:t>
                      </a:r>
                    </a:p>
                  </a:txBody>
                  <a:tcPr>
                    <a:solidFill>
                      <a:srgbClr val="F6F8FB"/>
                    </a:solidFill>
                  </a:tcPr>
                </a:tc>
                <a:tc>
                  <a:txBody>
                    <a:bodyPr wrap="square" lIns="36576" rIns="36576" tIns="18288" bIns="18288"/>
                    <a:lstStyle/>
                    <a:p>
                      <a:r>
                        <a:rPr sz="540" b="0">
                          <a:solidFill>
                            <a:srgbClr val="21242A"/>
                          </a:solidFill>
                          <a:latin typeface="Microsoft YaHei"/>
                        </a:rPr>
                        <a:t>皮肤5年OS最差（55%），骨5年OS最好（77%）</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弥漫性大b细胞淋巴瘤的完全客观3变量预后评分：两个独立队列共776名患者的开发和外部验证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fully objective 3‑variable prognostic score for diffuse large b‑cell lympho...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N=776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回顾性临床研究结果：a fully objective 3‑variable prognostic score for dif...</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开发并外部验证了一个基于年龄&gt;75岁、白蛋白&lt;3.5g/dL和LDH&gt;正常上限的三变量预后评分。</a:t>
            </a:r>
          </a:p>
          <a:p>
            <a:pPr>
              <a:lnSpc>
                <a:spcPct val="103000"/>
              </a:lnSpc>
              <a:spcAft>
                <a:spcPts val="300"/>
              </a:spcAft>
              <a:defRPr sz="800">
                <a:solidFill>
                  <a:srgbClr val="21242A"/>
                </a:solidFill>
                <a:latin typeface="Microsoft YaHei"/>
              </a:defRPr>
            </a:pPr>
            <a:r>
              <a:t>该评分将患者分为低危、中危、高危组，在两个独立队列（训练集402例，验证集374例）中均展现出稳健的风险分层能力。</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人数：776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研究主题：a fully objective 3‑variable prognostic score for diffuse large b‑cell lymphoma: development and external validation in...</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弥漫性大b细胞淋巴瘤的完全客观3变量预后评分：两个独立队列共776名患者的开发和外部验证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fully objective 3‑variable prognostic score for diffuse large b‑cell lympho...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PF989</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背景：国际预后指数（IPI）和 NCCN-IPI 仍然广泛用于弥漫性大 B 细胞淋巴瘤（DLBCL），但它们包括评估者依赖的变量，例如体力状态、结外受累和安娜堡分期，所有这些都受到观察者间变异的影响。血清白蛋白已多次被报道为强有力的预后因素，但并未纳入现有指数。仅基于常规实验室和人口统计学变量的简化且完全客观的预后评分</a:t>
            </a:r>
          </a:p>
          <a:p>
            <a:pPr>
              <a:lnSpc>
                <a:spcPct val="103000"/>
              </a:lnSpc>
              <a:spcAft>
                <a:spcPts val="300"/>
              </a:spcAft>
              <a:defRPr sz="550">
                <a:solidFill>
                  <a:srgbClr val="21242A"/>
                </a:solidFill>
                <a:latin typeface="Microsoft YaHei"/>
              </a:defRPr>
            </a:pPr>
            <a:r>
              <a:t>可以提高可重复性和临床适用性。目的：使用数据驱动的方法确定稳健的预后因素，并构建客观的预后评分，在保留歧视的同时最大限度地减少主观性。</a:t>
            </a:r>
          </a:p>
          <a:p>
            <a:pPr>
              <a:lnSpc>
                <a:spcPct val="103000"/>
              </a:lnSpc>
              <a:spcAft>
                <a:spcPts val="300"/>
              </a:spcAft>
              <a:defRPr sz="550">
                <a:solidFill>
                  <a:srgbClr val="21242A"/>
                </a:solidFill>
                <a:latin typeface="Microsoft YaHei"/>
              </a:defRPr>
            </a:pPr>
            <a:r>
              <a:t>\n 方法：患者来自两个独立的日本机构：402 名患者构成衍生队列，374 名患者构成外部验证队列。候选预测因素包括年龄、白蛋白、LDH、体能状态、结外受累和安娜堡分期。根据广泛接受的临床阈值，白蛋白分为 3.5 g/dL，LDH 为正常上限，确保与常规实践的一致性。</a:t>
            </a:r>
          </a:p>
          <a:p>
            <a:pPr>
              <a:lnSpc>
                <a:spcPct val="103000"/>
              </a:lnSpc>
              <a:spcAft>
                <a:spcPts val="300"/>
              </a:spcAft>
              <a:defRPr sz="550">
                <a:solidFill>
                  <a:srgbClr val="21242A"/>
                </a:solidFill>
                <a:latin typeface="Microsoft YaHei"/>
              </a:defRPr>
            </a:pPr>
            <a:r>
              <a:t>对于年龄，使用 LASSO Cox 回归和 1,000 个引导重采样来评估多重二分法（55-85 岁），并使用限制三次样条模型来评估年龄的连续影响并识别风险的结构变化。使用 C 指数和可解释性对包含不同预测变量组合的模型进行比较，最终模型经过外部验证。</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我们根据年龄、白蛋白和 LDH 开发了一个简化且完全客观的 DLBCL 3 变量预后评分，并进行了外部验证。该评分显示了两个独立队列（总计 776 名患者）的稳健风险分层，并为现有预后指数提供了可重复且临床实用的替代方案。因为它仅依赖于普遍可用的变量，所以该评分可以很容易地在常规临床实践中实施。</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开发并外部验证了一个基于年龄&gt;75岁、白蛋白&lt;3.5g/dL和LDH&gt;正常上限的三变量预后评分。该评分将患者分为低危、中危、高危组，在两个独立队列（训练集402例，验证集374例）中均展现出稳健的风险分层能力。</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摘要号：PF989</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原发性乳腺弥漫性大b细胞淋巴瘤的临床、遗传和免疫微环境特征：与淋巴结和免疫特权位点dlbcl的比较研究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clinical, genetic, and immune microenvironmental landscapes of primary breast...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N=703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回顾性临床研究结果：clinical, genetic, and immune microenvironmental land...</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中位年龄57岁</a:t>
            </a:r>
          </a:p>
          <a:p>
            <a:pPr>
              <a:lnSpc>
                <a:spcPct val="103000"/>
              </a:lnSpc>
              <a:spcAft>
                <a:spcPts val="300"/>
              </a:spcAft>
              <a:defRPr sz="800">
                <a:solidFill>
                  <a:srgbClr val="21242A"/>
                </a:solidFill>
                <a:latin typeface="Microsoft YaHei"/>
              </a:defRPr>
            </a:pPr>
            <a:r>
              <a:t>非GCB表型53.0%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人数：703</a:t>
            </a:r>
          </a:p>
          <a:p>
            <a:pPr>
              <a:lnSpc>
                <a:spcPct val="103000"/>
              </a:lnSpc>
              <a:spcAft>
                <a:spcPts val="300"/>
              </a:spcAft>
              <a:defRPr sz="810">
                <a:solidFill>
                  <a:srgbClr val="21242A"/>
                </a:solidFill>
                <a:latin typeface="Microsoft YaHei"/>
              </a:defRPr>
            </a:pPr>
            <a:r>
              <a:t>适应症：未提取</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研究主题：clinical, genetic, and immune microenvironmental landscapes of primary breast diffuse large b-cell lymphoma: a comparat...</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原发性乳腺弥漫性大b细胞淋巴瘤的临床、遗传和免疫微环境特征：与淋巴结和免疫特权位点dlbcl的比较研究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clinical, genetic, and immune microenvironmental landscapes of primary breast...</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S247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是一种发生于结节或结外部位的侵袭性、异质性恶性肿瘤。其中，原发性乳腺 DLBCL (PB-DLBCL) 代表了一种独特的实体，其特征是独特的临床病理学特征和中枢神经系统复发风险增加。但由于其数量稀少，目前缺乏系统的研究。</a:t>
            </a:r>
          </a:p>
          <a:p>
            <a:pPr>
              <a:lnSpc>
                <a:spcPct val="103000"/>
              </a:lnSpc>
              <a:spcAft>
                <a:spcPts val="300"/>
              </a:spcAft>
              <a:defRPr sz="550">
                <a:solidFill>
                  <a:srgbClr val="21242A"/>
                </a:solidFill>
                <a:latin typeface="Microsoft YaHei"/>
              </a:defRPr>
            </a:pPr>
            <a:r>
              <a:t>目的：本研究进行了综合分析，以阐明 PB-DLBCL 的独特生物学特征，并描绘其与淋巴结和 IP-DLBCL 相比的异同。</a:t>
            </a:r>
          </a:p>
          <a:p>
            <a:pPr>
              <a:lnSpc>
                <a:spcPct val="103000"/>
              </a:lnSpc>
              <a:spcAft>
                <a:spcPts val="300"/>
              </a:spcAft>
              <a:defRPr sz="550">
                <a:solidFill>
                  <a:srgbClr val="21242A"/>
                </a:solidFill>
                <a:latin typeface="Microsoft YaHei"/>
              </a:defRPr>
            </a:pPr>
            <a:r>
              <a:t>方法：这项单中心研究纳入了 703 名 DLBCL 患者（134 名 PB、363 名淋巴结和 206 名 IP），不包括继发结外受累的患者。回顾性收集基线临床特征和生存数据。应用治疗加权逆概率（IPTW）来减轻潜在的混杂因素。我们对 DLBCL 队列进行了 DNA（n=223；63 PB、127 淋巴结、33 IP）</a:t>
            </a:r>
          </a:p>
          <a:p>
            <a:pPr>
              <a:lnSpc>
                <a:spcPct val="103000"/>
              </a:lnSpc>
              <a:spcAft>
                <a:spcPts val="300"/>
              </a:spcAft>
              <a:defRPr sz="550">
                <a:solidFill>
                  <a:srgbClr val="21242A"/>
                </a:solidFill>
                <a:latin typeface="Microsoft YaHei"/>
              </a:defRPr>
            </a:pPr>
            <a:r>
              <a:t>和 RNA 测序（n=121；58 PB、48 淋巴结、15 IP）。</a:t>
            </a:r>
          </a:p>
          <a:p>
            <a:pPr>
              <a:lnSpc>
                <a:spcPct val="103000"/>
              </a:lnSpc>
              <a:spcAft>
                <a:spcPts val="300"/>
              </a:spcAft>
              <a:defRPr sz="550">
                <a:solidFill>
                  <a:srgbClr val="21242A"/>
                </a:solidFill>
                <a:latin typeface="Microsoft YaHei"/>
              </a:defRPr>
            </a:pPr>
            <a:r>
              <a:t>LymphGen 算法用于根据患者的基因改变谱对患者进行细分。使用淋巴瘤微环境（LME）分类来识别微环境特征。建立了一种新型永生化 PB-DLBCL 细胞系，旨在用于后续机制研究和治疗策略评估。</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总体而言，我们的综合分析将 PB-DLBCL 定义为一种独特的生物实体，与结节性和 IP-DLBCL 区分开来。特定分子亚型的流行和反复出现的表观遗传失调凸显了新型精准治疗策略的潜力。</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中位年龄57岁；非GCB表型53.0%；GCB表型26.1%；双侧乳腺受累4.4%；Ki-67&gt;80% 63.4%；PB-DLBCL中PIM1突变63%、SPEN突变46%、NOTCH2突变35%、CD79B突变33%、CREBBP突变33%、DNMT3A突变27%、MYD88突变24%</a:t>
                      </a:r>
                    </a:p>
                  </a:txBody>
                  <a:tcPr>
                    <a:solidFill>
                      <a:srgbClr val="F6F8FB"/>
                    </a:solidFill>
                  </a:tcPr>
                </a:tc>
              </a:tr>
              <a:tr h="249936">
                <a:tc>
                  <a:txBody>
                    <a:bodyPr wrap="square" lIns="36576" rIns="36576" tIns="18288" bIns="18288"/>
                    <a:lstStyle/>
                    <a:p>
                      <a:r>
                        <a:rPr sz="540" b="1">
                          <a:solidFill>
                            <a:srgbClr val="21242A"/>
                          </a:solidFill>
                          <a:latin typeface="Microsoft YaHei"/>
                        </a:rPr>
                        <a:t>TP53突变率</a:t>
                      </a:r>
                    </a:p>
                  </a:txBody>
                  <a:tcPr>
                    <a:solidFill>
                      <a:srgbClr val="FFFFFF"/>
                    </a:solidFill>
                  </a:tcPr>
                </a:tc>
                <a:tc>
                  <a:txBody>
                    <a:bodyPr wrap="square" lIns="36576" rIns="36576" tIns="18288" bIns="18288"/>
                    <a:lstStyle/>
                    <a:p>
                      <a:r>
                        <a:rPr sz="540" b="0">
                          <a:solidFill>
                            <a:srgbClr val="21242A"/>
                          </a:solidFill>
                          <a:latin typeface="Microsoft YaHei"/>
                        </a:rPr>
                        <a:t>nodal 29%、PB 14%、IP 9%</a:t>
                      </a:r>
                    </a:p>
                  </a:txBody>
                  <a:tcPr>
                    <a:solidFill>
                      <a:srgbClr val="FFFFFF"/>
                    </a:solidFill>
                  </a:tcPr>
                </a:tc>
              </a:tr>
              <a:tr h="249936">
                <a:tc>
                  <a:txBody>
                    <a:bodyPr wrap="square" lIns="36576" rIns="36576" tIns="18288" bIns="18288"/>
                    <a:lstStyle/>
                    <a:p>
                      <a:r>
                        <a:rPr sz="540" b="1">
                          <a:solidFill>
                            <a:srgbClr val="21242A"/>
                          </a:solidFill>
                          <a:latin typeface="Microsoft YaHei"/>
                        </a:rPr>
                        <a:t>PIM1突变率</a:t>
                      </a:r>
                    </a:p>
                  </a:txBody>
                  <a:tcPr>
                    <a:solidFill>
                      <a:srgbClr val="F6F8FB"/>
                    </a:solidFill>
                  </a:tcPr>
                </a:tc>
                <a:tc>
                  <a:txBody>
                    <a:bodyPr wrap="square" lIns="36576" rIns="36576" tIns="18288" bIns="18288"/>
                    <a:lstStyle/>
                    <a:p>
                      <a:r>
                        <a:rPr sz="540" b="0">
                          <a:solidFill>
                            <a:srgbClr val="21242A"/>
                          </a:solidFill>
                          <a:latin typeface="Microsoft YaHei"/>
                        </a:rPr>
                        <a:t>nodal 34%、PB 59%、IP 73%</a:t>
                      </a:r>
                    </a:p>
                  </a:txBody>
                  <a:tcPr>
                    <a:solidFill>
                      <a:srgbClr val="F6F8FB"/>
                    </a:solidFill>
                  </a:tcPr>
                </a:tc>
              </a:tr>
              <a:tr h="249936">
                <a:tc>
                  <a:txBody>
                    <a:bodyPr wrap="square" lIns="36576" rIns="36576" tIns="18288" bIns="18288"/>
                    <a:lstStyle/>
                    <a:p>
                      <a:r>
                        <a:rPr sz="540" b="1">
                          <a:solidFill>
                            <a:srgbClr val="21242A"/>
                          </a:solidFill>
                          <a:latin typeface="Microsoft YaHei"/>
                        </a:rPr>
                        <a:t>LymphGen亚型</a:t>
                      </a:r>
                    </a:p>
                  </a:txBody>
                  <a:tcPr>
                    <a:solidFill>
                      <a:srgbClr val="FFFFFF"/>
                    </a:solidFill>
                  </a:tcPr>
                </a:tc>
                <a:tc>
                  <a:txBody>
                    <a:bodyPr wrap="square" lIns="36576" rIns="36576" tIns="18288" bIns="18288"/>
                    <a:lstStyle/>
                    <a:p>
                      <a:r>
                        <a:rPr sz="540" b="0">
                          <a:solidFill>
                            <a:srgbClr val="21242A"/>
                          </a:solidFill>
                          <a:latin typeface="Microsoft YaHei"/>
                        </a:rPr>
                        <a:t>PB-DLBCL中MCD 48.6%、EZB 34.3%；IP-DLBCL中MCD 79.2%；nodal DLBCL中BN2、EZB、MCD、ST2分布均衡；PTPRK、MAP2K1、DNMT3A突变与PB-DLBCL较短PFS相关</a:t>
                      </a:r>
                    </a:p>
                  </a:txBody>
                  <a:tcPr>
                    <a:solidFill>
                      <a:srgbClr val="FFFFFF"/>
                    </a:solidFill>
                  </a:tcPr>
                </a:tc>
              </a:tr>
              <a:tr h="249936">
                <a:tc>
                  <a:txBody>
                    <a:bodyPr wrap="square" lIns="36576" rIns="36576" tIns="18288" bIns="18288"/>
                    <a:lstStyle/>
                    <a:p>
                      <a:r>
                        <a:rPr sz="540" b="1">
                          <a:solidFill>
                            <a:srgbClr val="21242A"/>
                          </a:solidFill>
                          <a:latin typeface="Microsoft YaHei"/>
                        </a:rPr>
                        <a:t>LME分类</a:t>
                      </a:r>
                    </a:p>
                  </a:txBody>
                  <a:tcPr>
                    <a:solidFill>
                      <a:srgbClr val="F6F8FB"/>
                    </a:solidFill>
                  </a:tcPr>
                </a:tc>
                <a:tc>
                  <a:txBody>
                    <a:bodyPr wrap="square" lIns="36576" rIns="36576" tIns="18288" bIns="18288"/>
                    <a:lstStyle/>
                    <a:p>
                      <a:r>
                        <a:rPr sz="540" b="0">
                          <a:solidFill>
                            <a:srgbClr val="21242A"/>
                          </a:solidFill>
                          <a:latin typeface="Microsoft YaHei"/>
                        </a:rPr>
                        <a:t>PB-DLBCL中depleted亚型更常见（34.5% vs 29.2%），germinal center-like亚型较少（5.2% vs 12.5%）</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摘要号：S247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克隆复杂性定义了弥漫性大b细胞淋巴瘤的独特肿瘤内在生物学和预后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clonal complexity defines distinct tumor-intrinsic biology and prognosis in 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PF1104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N=74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回顾性临床研究结果：clonal complexity defines distinct tumor-intrinsic bi...</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5年无事件生存率：Poly-CC肿瘤患者41.5%，Mono-CC肿瘤患者71.1%（Log-rank p=0.079）</a:t>
            </a:r>
          </a:p>
          <a:p>
            <a:pPr>
              <a:lnSpc>
                <a:spcPct val="103000"/>
              </a:lnSpc>
              <a:spcAft>
                <a:spcPts val="300"/>
              </a:spcAft>
              <a:defRPr sz="800">
                <a:solidFill>
                  <a:srgbClr val="21242A"/>
                </a:solidFill>
                <a:latin typeface="Microsoft YaHei"/>
              </a:defRPr>
            </a:pPr>
            <a:r>
              <a:t>ABC亚型中5年无事件生存率：Poly-CC肿瘤31.5%，Mono-CC肿瘤83.3%（p=0.0450）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人数：74</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研究主题：clonal complexity defines distinct tumor-intrinsic biology and prognosis in diffuse large b-cell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克隆复杂性定义了弥漫性大b细胞淋巴瘤的独特肿瘤内在生物学和预后</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clonal complexity defines distinct tumor-intrinsic biology and prognosis in 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PF1104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159/187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背景：肿瘤内异质性（ITH）越来越被认为是癌症临床结果的决定因素，但其实际评估仍然具有挑战性，特别是在常规活检标本中。我们开发了一种简单的方法，根据来自福尔马林固定石蜡包埋 (FFPE) 样本的拷贝数变异 (CNV) 数据来量化 ITH，生成克隆组成 (CC) 数，用于估计共存亚克隆的数量。这种方法之前已在卵巢癌和肝细</a:t>
            </a:r>
          </a:p>
          <a:p>
            <a:pPr>
              <a:lnSpc>
                <a:spcPct val="103000"/>
              </a:lnSpc>
              <a:spcAft>
                <a:spcPts val="300"/>
              </a:spcAft>
              <a:defRPr sz="550">
                <a:solidFill>
                  <a:srgbClr val="21242A"/>
                </a:solidFill>
                <a:latin typeface="Microsoft YaHei"/>
              </a:defRPr>
            </a:pPr>
            <a:r>
              <a:t>胞癌中得到验证，其中较高的 CC 数量与较差的结果相关。在这里，我们将该框架应用于弥漫性大 B 细胞淋巴瘤 (DLBCL)，这是一种具有已确定的患者间遗传异质性但尚未解决的肿瘤内进化复杂性的疾病。目的：我们的目的是确定是否可以在 DLBCL 中定量评估 ITH，评估其与基因表达谱、突变景观、肿瘤微环境和临床结果的关联，</a:t>
            </a:r>
          </a:p>
          <a:p>
            <a:pPr>
              <a:lnSpc>
                <a:spcPct val="103000"/>
              </a:lnSpc>
              <a:spcAft>
                <a:spcPts val="300"/>
              </a:spcAft>
              <a:defRPr sz="550">
                <a:solidFill>
                  <a:srgbClr val="21242A"/>
                </a:solidFill>
                <a:latin typeface="Microsoft YaHei"/>
              </a:defRPr>
            </a:pPr>
            <a:r>
              <a:t>并阐明其对疾病生物学的影响。方法：使用 FFPE 肿瘤标本对新诊断的晚期 DLBCL 患者进行基因表达、拷贝数分析和基因突变分析。</a:t>
            </a:r>
          </a:p>
          <a:p>
            <a:pPr>
              <a:lnSpc>
                <a:spcPct val="103000"/>
              </a:lnSpc>
              <a:spcAft>
                <a:spcPts val="300"/>
              </a:spcAft>
              <a:defRPr sz="550">
                <a:solidFill>
                  <a:srgbClr val="21242A"/>
                </a:solidFill>
                <a:latin typeface="Microsoft YaHei"/>
              </a:defRPr>
            </a:pPr>
            <a:r>
              <a:t>使用聚类方法计算 CC 数，该方法将具有从全基因组拷贝数测定获得的相同 B 等位基因频率 (BAF) 和 log2 比率 (log2R) 值的所有片段聚类，然后组合对应于相同异常细胞百分比 (%AC) 的聚类。分析CC数与生物学、临床特征和预后之间的相关性（近代大学医学部伦理委员会：批准号R03-283）。</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这些结果表明，克隆复杂性捕获了 DLBCL（尤其是 ABC 亚型）的肿瘤内在特征和生物多样性，为疾病发病机制提供了新的见解。</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5年无事件生存率</a:t>
                      </a:r>
                    </a:p>
                  </a:txBody>
                  <a:tcPr>
                    <a:solidFill>
                      <a:srgbClr val="F6F8FB"/>
                    </a:solidFill>
                  </a:tcPr>
                </a:tc>
                <a:tc>
                  <a:txBody>
                    <a:bodyPr wrap="square" lIns="36576" rIns="36576" tIns="18288" bIns="18288"/>
                    <a:lstStyle/>
                    <a:p>
                      <a:r>
                        <a:rPr sz="540" b="0">
                          <a:solidFill>
                            <a:srgbClr val="21242A"/>
                          </a:solidFill>
                          <a:latin typeface="Microsoft YaHei"/>
                        </a:rPr>
                        <a:t>Poly-CC肿瘤患者41.5%，Mono-CC肿瘤患者71.1%（Log-rank p=0.079）</a:t>
                      </a:r>
                    </a:p>
                  </a:txBody>
                  <a:tcPr>
                    <a:solidFill>
                      <a:srgbClr val="F6F8FB"/>
                    </a:solidFill>
                  </a:tcPr>
                </a:tc>
              </a:tr>
              <a:tr h="249936">
                <a:tc>
                  <a:txBody>
                    <a:bodyPr wrap="square" lIns="36576" rIns="36576" tIns="18288" bIns="18288"/>
                    <a:lstStyle/>
                    <a:p>
                      <a:r>
                        <a:rPr sz="540" b="1">
                          <a:solidFill>
                            <a:srgbClr val="21242A"/>
                          </a:solidFill>
                          <a:latin typeface="Microsoft YaHei"/>
                        </a:rPr>
                        <a:t>ABC亚型中5年无事件生存率</a:t>
                      </a:r>
                    </a:p>
                  </a:txBody>
                  <a:tcPr>
                    <a:solidFill>
                      <a:srgbClr val="FFFFFF"/>
                    </a:solidFill>
                  </a:tcPr>
                </a:tc>
                <a:tc>
                  <a:txBody>
                    <a:bodyPr wrap="square" lIns="36576" rIns="36576" tIns="18288" bIns="18288"/>
                    <a:lstStyle/>
                    <a:p>
                      <a:r>
                        <a:rPr sz="540" b="0">
                          <a:solidFill>
                            <a:srgbClr val="21242A"/>
                          </a:solidFill>
                          <a:latin typeface="Microsoft YaHei"/>
                        </a:rPr>
                        <a:t>Poly-CC肿瘤31.5%，Mono-CC肿瘤83.3%（p=0.0450）</a:t>
                      </a:r>
                    </a:p>
                  </a:txBody>
                  <a:tcPr>
                    <a:solidFill>
                      <a:srgbClr val="FFFFFF"/>
                    </a:solidFill>
                  </a:tcPr>
                </a:tc>
              </a:tr>
              <a:tr h="249936">
                <a:tc>
                  <a:txBody>
                    <a:bodyPr wrap="square" lIns="36576" rIns="36576" tIns="18288" bIns="18288"/>
                    <a:lstStyle/>
                    <a:p>
                      <a:r>
                        <a:rPr sz="540" b="1">
                          <a:solidFill>
                            <a:srgbClr val="21242A"/>
                          </a:solidFill>
                          <a:latin typeface="Microsoft YaHei"/>
                        </a:rPr>
                        <a:t>GCB亚型中5年无事件生存率</a:t>
                      </a:r>
                    </a:p>
                  </a:txBody>
                  <a:tcPr>
                    <a:solidFill>
                      <a:srgbClr val="F6F8FB"/>
                    </a:solidFill>
                  </a:tcPr>
                </a:tc>
                <a:tc>
                  <a:txBody>
                    <a:bodyPr wrap="square" lIns="36576" rIns="36576" tIns="18288" bIns="18288"/>
                    <a:lstStyle/>
                    <a:p>
                      <a:r>
                        <a:rPr sz="540" b="0">
                          <a:solidFill>
                            <a:srgbClr val="21242A"/>
                          </a:solidFill>
                          <a:latin typeface="Microsoft YaHei"/>
                        </a:rPr>
                        <a:t>Poly-CC肿瘤50.0%，Mono-CC肿瘤55.5%（p=0.66）</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Poly-CC肿瘤Ki-67阳性率显著高于Mono-CC肿瘤（p=0.00227）</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Poly-ABC肿瘤中致病性突变数量显著高于Mono-ABC肿瘤（p=0.0147）</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摘要号：PF1104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儿童和成人大b细胞淋巴瘤irf4重排的基因组结构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genomic architecture of irf4 rearrangements in children and adult large b-cel...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PF1074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大B细胞淋巴瘤，弥漫性大B细胞淋巴瘤</a:t>
            </a:r>
          </a:p>
          <a:p>
            <a:pPr>
              <a:lnSpc>
                <a:spcPct val="103000"/>
              </a:lnSpc>
              <a:spcAft>
                <a:spcPts val="300"/>
              </a:spcAft>
              <a:defRPr sz="800">
                <a:solidFill>
                  <a:srgbClr val="21242A"/>
                </a:solidFill>
                <a:latin typeface="Microsoft YaHei"/>
              </a:defRPr>
            </a:pPr>
            <a:r>
              <a:t>N=42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回顾性临床研究结果：genomic architecture of irf4 rearrangements in childr...</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IRF4重排检测率：FISH检出38/42例</a:t>
            </a:r>
          </a:p>
          <a:p>
            <a:pPr>
              <a:lnSpc>
                <a:spcPct val="103000"/>
              </a:lnSpc>
              <a:spcAft>
                <a:spcPts val="300"/>
              </a:spcAft>
              <a:defRPr sz="800">
                <a:solidFill>
                  <a:srgbClr val="21242A"/>
                </a:solidFill>
                <a:latin typeface="Microsoft YaHei"/>
              </a:defRPr>
            </a:pPr>
            <a:r>
              <a:t>SV-NGS检出85%的病例</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人数：42</a:t>
            </a:r>
          </a:p>
          <a:p>
            <a:pPr>
              <a:lnSpc>
                <a:spcPct val="103000"/>
              </a:lnSpc>
              <a:spcAft>
                <a:spcPts val="300"/>
              </a:spcAft>
              <a:defRPr sz="810">
                <a:solidFill>
                  <a:srgbClr val="21242A"/>
                </a:solidFill>
                <a:latin typeface="Microsoft YaHei"/>
              </a:defRPr>
            </a:pPr>
            <a:r>
              <a:t>适应症：大B细胞淋巴瘤、弥漫性大B细胞淋巴瘤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研究主题：genomic architecture of irf4 rearrangements in children and adult large b-cell lymphomas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儿童和成人大b细胞淋巴瘤irf4重排的基因组结构</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genomic architecture of irf4 rearrangements in children and adult large b-cel...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PF1074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背景：伴有 IRF4 重排的大 B 细胞淋巴瘤 (LBCL-IRF4) 主要影响儿童和年轻人 (CAYA)，通常表现为局部疾病，预后良好。尽管在大多数情况下都能检测到 IRF4::IGH 易位，但已经提出了神秘的重排，并且目前尚不清楚是否所有 IRF4 重排 (IRF4 -R) 共享共同的基因组结构、涉及非 IG 伙伴</a:t>
            </a:r>
          </a:p>
          <a:p>
            <a:pPr>
              <a:lnSpc>
                <a:spcPct val="103000"/>
              </a:lnSpc>
              <a:spcAft>
                <a:spcPts val="300"/>
              </a:spcAft>
              <a:defRPr sz="550">
                <a:solidFill>
                  <a:srgbClr val="21242A"/>
                </a:solidFill>
                <a:latin typeface="Microsoft YaHei"/>
              </a:defRPr>
            </a:pPr>
            <a:r>
              <a:t>或逃避 FISH 检测。</a:t>
            </a:r>
          </a:p>
          <a:p>
            <a:pPr>
              <a:lnSpc>
                <a:spcPct val="103000"/>
              </a:lnSpc>
              <a:spcAft>
                <a:spcPts val="300"/>
              </a:spcAft>
              <a:defRPr sz="550">
                <a:solidFill>
                  <a:srgbClr val="21242A"/>
                </a:solidFill>
                <a:latin typeface="Microsoft YaHei"/>
              </a:defRPr>
            </a:pPr>
            <a:r>
              <a:t>NGS 揭示了独特的突变谱，包括 IRF4 和 NF-κB 通路突变。成人弥漫性大 B 细胞淋巴瘤 (DLBCL) 与 IRF4 -R 是否代表相同的生物实体尚不确定。目的：定义 IRF4 -R 结构，表征突变谱，并确定 CAYA 和成人 IRF4 -R 肿瘤是否具有相似的基因组特征，支持更精确的诊断。方法：我们收集了</a:t>
            </a:r>
          </a:p>
          <a:p>
            <a:pPr>
              <a:lnSpc>
                <a:spcPct val="103000"/>
              </a:lnSpc>
              <a:spcAft>
                <a:spcPts val="300"/>
              </a:spcAft>
              <a:defRPr sz="550">
                <a:solidFill>
                  <a:srgbClr val="21242A"/>
                </a:solidFill>
                <a:latin typeface="Microsoft YaHei"/>
              </a:defRPr>
            </a:pPr>
            <a:r>
              <a:t> 42 名患者的回顾性队列，其中包括 28 名儿童（中位年龄：11 岁）和 7 名年轻成人（中位年龄：29.5 岁）LBCL-IRF4 以及 7 名成人 DLBCL 伴 IRF4-R（中位年龄：67.5 岁）。所有病例均根据现行淋巴肿瘤分类进行分类。使用商业和定制的分离探针对 BCL2、BCL6、MYC、IGH 和 I</a:t>
            </a:r>
          </a:p>
          <a:p>
            <a:pPr>
              <a:lnSpc>
                <a:spcPct val="103000"/>
              </a:lnSpc>
              <a:spcAft>
                <a:spcPts val="300"/>
              </a:spcAft>
              <a:defRPr sz="550">
                <a:solidFill>
                  <a:srgbClr val="21242A"/>
                </a:solidFill>
                <a:latin typeface="Microsoft YaHei"/>
              </a:defRPr>
            </a:pPr>
            <a:r>
              <a:t>RF4 进行 FISH 分析，并使用其他定制探针来验证新的 IRF4 伙伴。</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总之，IRF4-R 结构和突变谱根据年龄而有所不同，这支持并非所有成人病例都应归类为 LBCL-IRF4。</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IRF4重排检测率</a:t>
                      </a:r>
                    </a:p>
                  </a:txBody>
                  <a:tcPr>
                    <a:solidFill>
                      <a:srgbClr val="F6F8FB"/>
                    </a:solidFill>
                  </a:tcPr>
                </a:tc>
                <a:tc>
                  <a:txBody>
                    <a:bodyPr wrap="square" lIns="36576" rIns="36576" tIns="18288" bIns="18288"/>
                    <a:lstStyle/>
                    <a:p>
                      <a:r>
                        <a:rPr sz="540" b="0">
                          <a:solidFill>
                            <a:srgbClr val="21242A"/>
                          </a:solidFill>
                          <a:latin typeface="Microsoft YaHei"/>
                        </a:rPr>
                        <a:t>FISH检出38/42例；SV-NGS检出85%的病例</a:t>
                      </a:r>
                    </a:p>
                  </a:txBody>
                  <a:tcPr>
                    <a:solidFill>
                      <a:srgbClr val="F6F8FB"/>
                    </a:solidFill>
                  </a:tcPr>
                </a:tc>
              </a:tr>
              <a:tr h="249936">
                <a:tc>
                  <a:txBody>
                    <a:bodyPr wrap="square" lIns="36576" rIns="36576" tIns="18288" bIns="18288"/>
                    <a:lstStyle/>
                    <a:p>
                      <a:r>
                        <a:rPr sz="540" b="1">
                          <a:solidFill>
                            <a:srgbClr val="21242A"/>
                          </a:solidFill>
                          <a:latin typeface="Microsoft YaHei"/>
                        </a:rPr>
                        <a:t>IRF4</a:t>
                      </a:r>
                    </a:p>
                  </a:txBody>
                  <a:tcPr>
                    <a:solidFill>
                      <a:srgbClr val="FFFFFF"/>
                    </a:solidFill>
                  </a:tcPr>
                </a:tc>
                <a:tc>
                  <a:txBody>
                    <a:bodyPr wrap="square" lIns="36576" rIns="36576" tIns="18288" bIns="18288"/>
                    <a:lstStyle/>
                    <a:p>
                      <a:r>
                        <a:rPr sz="540" b="0">
                          <a:solidFill>
                            <a:srgbClr val="21242A"/>
                          </a:solidFill>
                          <a:latin typeface="Microsoft YaHei"/>
                        </a:rPr>
                        <a:t>:IGH易位在CAYA LBCL-IRF4中占81%；成人DLBCL中IRF4断裂点位置不同</a:t>
                      </a:r>
                    </a:p>
                  </a:txBody>
                  <a:tcPr>
                    <a:solidFill>
                      <a:srgbClr val="FFFFFF"/>
                    </a:solidFill>
                  </a:tcPr>
                </a:tc>
              </a:tr>
              <a:tr h="249936">
                <a:tc>
                  <a:txBody>
                    <a:bodyPr wrap="square" lIns="36576" rIns="36576" tIns="18288" bIns="18288"/>
                    <a:lstStyle/>
                    <a:p>
                      <a:r>
                        <a:rPr sz="540" b="1">
                          <a:solidFill>
                            <a:srgbClr val="21242A"/>
                          </a:solidFill>
                          <a:latin typeface="Microsoft YaHei"/>
                        </a:rPr>
                        <a:t>新发现IRF4</a:t>
                      </a:r>
                    </a:p>
                  </a:txBody>
                  <a:tcPr>
                    <a:solidFill>
                      <a:srgbClr val="F6F8FB"/>
                    </a:solidFill>
                  </a:tcPr>
                </a:tc>
                <a:tc>
                  <a:txBody>
                    <a:bodyPr wrap="square" lIns="36576" rIns="36576" tIns="18288" bIns="18288"/>
                    <a:lstStyle/>
                    <a:p>
                      <a:r>
                        <a:rPr sz="540" b="0">
                          <a:solidFill>
                            <a:srgbClr val="21242A"/>
                          </a:solidFill>
                          <a:latin typeface="Microsoft YaHei"/>
                        </a:rPr>
                        <a:t>:MIR142和IRF4::BATF易位</a:t>
                      </a:r>
                    </a:p>
                  </a:txBody>
                  <a:tcPr>
                    <a:solidFill>
                      <a:srgbClr val="F6F8FB"/>
                    </a:solidFill>
                  </a:tcPr>
                </a:tc>
              </a:tr>
              <a:tr h="249936">
                <a:tc>
                  <a:txBody>
                    <a:bodyPr wrap="square" lIns="36576" rIns="36576" tIns="18288" bIns="18288"/>
                    <a:lstStyle/>
                    <a:p>
                      <a:r>
                        <a:rPr sz="540" b="1">
                          <a:solidFill>
                            <a:srgbClr val="21242A"/>
                          </a:solidFill>
                          <a:latin typeface="Microsoft YaHei"/>
                        </a:rPr>
                        <a:t>突变谱</a:t>
                      </a:r>
                    </a:p>
                  </a:txBody>
                  <a:tcPr>
                    <a:solidFill>
                      <a:srgbClr val="FFFFFF"/>
                    </a:solidFill>
                  </a:tcPr>
                </a:tc>
                <a:tc>
                  <a:txBody>
                    <a:bodyPr wrap="square" lIns="36576" rIns="36576" tIns="18288" bIns="18288"/>
                    <a:lstStyle/>
                    <a:p>
                      <a:r>
                        <a:rPr sz="540" b="0">
                          <a:solidFill>
                            <a:srgbClr val="21242A"/>
                          </a:solidFill>
                          <a:latin typeface="Microsoft YaHei"/>
                        </a:rPr>
                        <a:t>BCR/NF-κB通路基因突变频繁，成人组有KMT2D、DTX1、MYD88-L265P突变；儿童组无LymphGen分类，成人组有EZB或MCD亚型</a:t>
                      </a:r>
                    </a:p>
                  </a:txBody>
                  <a:tcPr>
                    <a:solidFill>
                      <a:srgbClr val="FFFFFF"/>
                    </a:solidFill>
                  </a:tcPr>
                </a:tc>
              </a:tr>
              <a:tr h="249936">
                <a:tc>
                  <a:txBody>
                    <a:bodyPr wrap="square" lIns="36576" rIns="36576" tIns="18288" bIns="18288"/>
                    <a:lstStyle/>
                    <a:p>
                      <a:r>
                        <a:rPr sz="540" b="1">
                          <a:solidFill>
                            <a:srgbClr val="21242A"/>
                          </a:solidFill>
                          <a:latin typeface="Microsoft YaHei"/>
                        </a:rPr>
                        <a:t>预后</a:t>
                      </a:r>
                    </a:p>
                  </a:txBody>
                  <a:tcPr>
                    <a:solidFill>
                      <a:srgbClr val="F6F8FB"/>
                    </a:solidFill>
                  </a:tcPr>
                </a:tc>
                <a:tc>
                  <a:txBody>
                    <a:bodyPr wrap="square" lIns="36576" rIns="36576" tIns="18288" bIns="18288"/>
                    <a:lstStyle/>
                    <a:p>
                      <a:r>
                        <a:rPr sz="540" b="0">
                          <a:solidFill>
                            <a:srgbClr val="21242A"/>
                          </a:solidFill>
                          <a:latin typeface="Microsoft YaHei"/>
                        </a:rPr>
                        <a:t>年龄&gt;40岁患者EFS显著较差。</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摘要号：PF1074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染色体8q拷贝数增加预测伴有myc和bcl2重排的高级别弥漫性大b细胞淋巴瘤的早期复发</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chromosome 8q copy number gain predicts early relapse in high-grade diffuse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PF1071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N=736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回顾性临床研究结果：chromosome 8q copy number gain predicts early relapse...</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HGBL-DH中染色体8q增益频率47%（38/76），DLBCL-NOS中23%（125/546）</a:t>
            </a:r>
          </a:p>
          <a:p>
            <a:pPr>
              <a:lnSpc>
                <a:spcPct val="103000"/>
              </a:lnSpc>
              <a:spcAft>
                <a:spcPts val="300"/>
              </a:spcAft>
              <a:defRPr sz="800">
                <a:solidFill>
                  <a:srgbClr val="21242A"/>
                </a:solidFill>
                <a:latin typeface="Microsoft YaHei"/>
              </a:defRPr>
            </a:pPr>
            <a:r>
              <a:t>HGBL-DH中染色体8q增益与MYC::non-IGH重排相关</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人数：736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研究主题：chromosome 8q copy number gain predicts early relapse in high-grade diffuse large b-cell lymphoma with myc and bcl2 rea...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染色体8q拷贝数增加预测伴有myc和bcl2重排的高级别弥漫性大b细胞淋巴瘤的早期复发</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chromosome 8q copy number gain predicts early relapse in high-grade diffuse 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PF1071</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背景：大 B 细胞淋巴瘤 (LBCL) 包含具有不同临床结果的生物异质实体。伴有 MYC 和 BCL2 重排的弥漫性大 B 细胞淋巴瘤/高级别 B 细胞淋巴瘤（DLBCL/HGBL-MYC/BCL2，以下简称 HGBL-DH（双重打击））代表了一种以频繁的早期难治性或复发性疾病为特征的独特实体。这些患者接受比没有 MY</a:t>
            </a:r>
          </a:p>
          <a:p>
            <a:pPr>
              <a:lnSpc>
                <a:spcPct val="103000"/>
              </a:lnSpc>
              <a:spcAft>
                <a:spcPts val="300"/>
              </a:spcAft>
              <a:defRPr sz="550">
                <a:solidFill>
                  <a:srgbClr val="21242A"/>
                </a:solidFill>
                <a:latin typeface="Microsoft YaHei"/>
              </a:defRPr>
            </a:pPr>
            <a:r>
              <a:t>C 和 BCL2 重排的 DLBLC 患者（DLBCL-NOS（未另行指定））更强化的治疗方案，但 HGBL-DH 患者的预后仍然明显低于 DLBCL-NOS 患者。缺乏其他生物标志物来识别 HGBL-DH 亚组内的高危患者。虽然 MYC 重排 (MYC -R) 与其伴侣基因（Ig 或非 Ig）和 MYC 染色体 8q</a:t>
            </a:r>
          </a:p>
          <a:p>
            <a:pPr>
              <a:lnSpc>
                <a:spcPct val="103000"/>
              </a:lnSpc>
              <a:spcAft>
                <a:spcPts val="300"/>
              </a:spcAft>
              <a:defRPr sz="550">
                <a:solidFill>
                  <a:srgbClr val="21242A"/>
                </a:solidFill>
                <a:latin typeface="Microsoft YaHei"/>
              </a:defRPr>
            </a:pPr>
            <a:r>
              <a:t> 位点拷贝数相关的研究已得到详细研究，但各种结构与结果的关系仍未得到充分研究。目的：我们旨在根据完整的基因组结构对 HGBL-DH 患者进行分层，并研究大量富含 MYC 易位的 LBCL 患者与患者结果的关联。方法：我们对来自四项临床试验和一个多中心队列的 76 个 HGBL-DH 和 660 个 DLBCL-NOS </a:t>
            </a:r>
          </a:p>
          <a:p>
            <a:pPr>
              <a:lnSpc>
                <a:spcPct val="103000"/>
              </a:lnSpc>
              <a:spcAft>
                <a:spcPts val="300"/>
              </a:spcAft>
              <a:defRPr sz="550">
                <a:solidFill>
                  <a:srgbClr val="21242A"/>
                </a:solidFill>
                <a:latin typeface="Microsoft YaHei"/>
              </a:defRPr>
            </a:pPr>
            <a:r>
              <a:t>样本进行了全面的下一代测序。</a:t>
            </a:r>
          </a:p>
          <a:p>
            <a:pPr>
              <a:lnSpc>
                <a:spcPct val="103000"/>
              </a:lnSpc>
              <a:spcAft>
                <a:spcPts val="300"/>
              </a:spcAft>
              <a:defRPr sz="550">
                <a:solidFill>
                  <a:srgbClr val="21242A"/>
                </a:solidFill>
                <a:latin typeface="Microsoft YaHei"/>
              </a:defRPr>
            </a:pPr>
            <a:r>
              <a:t>从该测序中，我们得出了基因组突变、易位和全基因组拷贝数改变。</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总之，具有 8q 染色体拷贝数增加的 HGBL-DH 患者定义了难治性/复发性疾病高风险的 HGBL-DH 患者亚组，而没有 8q 染色体拷贝数增加的 HGBL-DH 患者与 DLBCL-NOS 患者具有相似的结果。这使得可以根据 8q 染色体状态进行预先风险分层并指导定制治疗策略。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HGBL-DH中染色体8q增益频率47%（38/76），DLBCL-NOS中23%（125/546）</a:t>
                      </a:r>
                    </a:p>
                  </a:txBody>
                  <a:tcPr>
                    <a:solidFill>
                      <a:srgbClr val="F6F8FB"/>
                    </a:solidFill>
                  </a:tcPr>
                </a:tc>
              </a:tr>
              <a:tr h="299923">
                <a:tc>
                  <a:txBody>
                    <a:bodyPr wrap="square" lIns="36576" rIns="36576" tIns="18288" bIns="18288"/>
                    <a:lstStyle/>
                    <a:p>
                      <a:r>
                        <a:rPr sz="540" b="1">
                          <a:solidFill>
                            <a:srgbClr val="21242A"/>
                          </a:solidFill>
                          <a:latin typeface="Microsoft YaHei"/>
                        </a:rPr>
                        <a:t>HGBL-DH中染色体8q增益与MYC</a:t>
                      </a:r>
                    </a:p>
                  </a:txBody>
                  <a:tcPr>
                    <a:solidFill>
                      <a:srgbClr val="FFFFFF"/>
                    </a:solidFill>
                  </a:tcPr>
                </a:tc>
                <a:tc>
                  <a:txBody>
                    <a:bodyPr wrap="square" lIns="36576" rIns="36576" tIns="18288" bIns="18288"/>
                    <a:lstStyle/>
                    <a:p>
                      <a:r>
                        <a:rPr sz="540" b="0">
                          <a:solidFill>
                            <a:srgbClr val="21242A"/>
                          </a:solidFill>
                          <a:latin typeface="Microsoft YaHei"/>
                        </a:rPr>
                        <a:t>:non-IGH重排相关</a:t>
                      </a:r>
                    </a:p>
                  </a:txBody>
                  <a:tcPr>
                    <a:solidFill>
                      <a:srgbClr val="FFFFFF"/>
                    </a:solidFill>
                  </a:tcPr>
                </a:tc>
              </a:tr>
              <a:tr h="299923">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8q增益且断裂点在MYC外的患者（构型III）与较差的1年PFS相关</a:t>
                      </a:r>
                    </a:p>
                  </a:txBody>
                  <a:tcPr>
                    <a:solidFill>
                      <a:srgbClr val="F6F8FB"/>
                    </a:solidFill>
                  </a:tcPr>
                </a:tc>
              </a:tr>
              <a:tr h="299924">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无8q增益的HGBL-DH患者预后与DLBCL-NOS患者相当</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摘要号：PF1071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myc：bcl6融合在myc/bcl6双重打击淋巴瘤患者中的临床意义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clinical significance of myc::bcl6 fusion in myc/bcl6 double hit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N=36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回顾性临床研究结果：the clinical significance of myc::bcl6 fusion in myc/...</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总生存期（OS）：有MYC::BCL6融合组与无融合组无显著差异（所有患者p=0.35，仅初发患者p=0.57）</a:t>
            </a:r>
          </a:p>
          <a:p>
            <a:pPr>
              <a:lnSpc>
                <a:spcPct val="103000"/>
              </a:lnSpc>
              <a:spcAft>
                <a:spcPts val="300"/>
              </a:spcAft>
              <a:defRPr sz="800">
                <a:solidFill>
                  <a:srgbClr val="21242A"/>
                </a:solidFill>
                <a:latin typeface="Microsoft YaHei"/>
              </a:defRPr>
            </a:pPr>
            <a:r>
              <a:t>完全缓解率（CR）：有融合组40% vs 无融合组35%，p=1.0，无显著差异</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人数：36</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研究主题：the clinical significance of myc::bcl6 fusion in myc/bcl6 double hit lymphoma patients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myc：bcl6融合在myc/bcl6双重打击淋巴瘤患者中的临床意义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clinical significance of myc::bcl6 fusion in myc/bcl6 double hit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背景：一小部分大B细胞淋巴瘤携带MYC和BCL6重排，即所谓的MYC/BCL6双重打击淋巴瘤（DHL），其预后存在相互矛盾的报道。偶尔的研究表明，这可能是由于假 MYC/BCL6 DHL 的存在，即携带单个 t(3;8) 或 MYC::BCL6 融合的人，这可能有更好的预后。然而，此类研究的数量有限，还需要更多的研究来</a:t>
            </a:r>
          </a:p>
          <a:p>
            <a:pPr>
              <a:lnSpc>
                <a:spcPct val="103000"/>
              </a:lnSpc>
              <a:spcAft>
                <a:spcPts val="300"/>
              </a:spcAft>
              <a:defRPr sz="550">
                <a:solidFill>
                  <a:srgbClr val="21242A"/>
                </a:solidFill>
                <a:latin typeface="Microsoft YaHei"/>
              </a:defRPr>
            </a:pPr>
            <a:r>
              <a:t>证实。</a:t>
            </a:r>
          </a:p>
          <a:p>
            <a:pPr>
              <a:lnSpc>
                <a:spcPct val="103000"/>
              </a:lnSpc>
              <a:spcAft>
                <a:spcPts val="300"/>
              </a:spcAft>
              <a:defRPr sz="550">
                <a:solidFill>
                  <a:srgbClr val="21242A"/>
                </a:solidFill>
                <a:latin typeface="Microsoft YaHei"/>
              </a:defRPr>
            </a:pPr>
            <a:r>
              <a:t>目的：探讨 MYC::BCL6 融合对 MYC/BCL6 DHL 患者的预后意义。</a:t>
            </a:r>
          </a:p>
          <a:p>
            <a:pPr>
              <a:lnSpc>
                <a:spcPct val="103000"/>
              </a:lnSpc>
              <a:spcAft>
                <a:spcPts val="300"/>
              </a:spcAft>
              <a:defRPr sz="550">
                <a:solidFill>
                  <a:srgbClr val="21242A"/>
                </a:solidFill>
                <a:latin typeface="Microsoft YaHei"/>
              </a:defRPr>
            </a:pPr>
            <a:r>
              <a:t>方法：使用IGH::BCL2双色双融合探针对未染色的福尔马林固定、石蜡包埋的4μm组织切片或骨髓抽吸涂片进行FISH分析； MYC 双色分离探针、BCL6 双色分离探针和 MYC::BCL6 双色双融合探针。使用 Kaplan-Meier 方法分析患者 OS，并使用对数秩检验 (GraphPad Prism) 进行比较</a:t>
            </a:r>
          </a:p>
          <a:p>
            <a:pPr>
              <a:lnSpc>
                <a:spcPct val="103000"/>
              </a:lnSpc>
              <a:spcAft>
                <a:spcPts val="300"/>
              </a:spcAft>
              <a:defRPr sz="550">
                <a:solidFill>
                  <a:srgbClr val="21242A"/>
                </a:solidFill>
                <a:latin typeface="Microsoft YaHei"/>
              </a:defRPr>
            </a:pPr>
            <a:r>
              <a:t>。</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伴或不伴 MYC::BCL6 融合的 MYC/BCL6 DHL 患者的临床病理特征在很大程度上相似。 MYC::BCL6 融合不是 MYC/BCL6 DHL 患者的预后因素。</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总生存期（OS）：有MYC::BCL6融合组与无融合组无显著差异（所有患者p=0.35，仅初发患者p=0.57）|||完全缓解率（CR）：有融合组40% vs 无融合组35%，p=1.0，无显著差异</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丹麦人群淋巴瘤感染相关死亡率的时间趋势研究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temporal trends in infection-related proportional mortality in lymphoma: a da...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S310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外周T细胞淋巴瘤，弥漫性大B细胞淋巴瘤，淋巴瘤，滤泡性淋巴瘤，霍奇金淋巴瘤</a:t>
            </a:r>
          </a:p>
          <a:p>
            <a:pPr>
              <a:lnSpc>
                <a:spcPct val="103000"/>
              </a:lnSpc>
              <a:spcAft>
                <a:spcPts val="300"/>
              </a:spcAft>
              <a:defRPr sz="800">
                <a:solidFill>
                  <a:srgbClr val="21242A"/>
                </a:solidFill>
                <a:latin typeface="Microsoft YaHei"/>
              </a:defRPr>
            </a:pPr>
            <a:r>
              <a:t>N=15849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回顾性临床研究结果：temporal trends in infection-related proportional mor...</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总体感染相关比例死亡率（2001-2005）：25.6% (95% CI: 22.9-28.6)</a:t>
            </a:r>
          </a:p>
          <a:p>
            <a:pPr>
              <a:lnSpc>
                <a:spcPct val="103000"/>
              </a:lnSpc>
              <a:spcAft>
                <a:spcPts val="300"/>
              </a:spcAft>
              <a:defRPr sz="800">
                <a:solidFill>
                  <a:srgbClr val="21242A"/>
                </a:solidFill>
                <a:latin typeface="Microsoft YaHei"/>
              </a:defRPr>
            </a:pPr>
            <a:r>
              <a:t>总体感染相关比例死亡率（2006-2010）：33.8% (95% CI: 30.8-37)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人数：15849</a:t>
            </a:r>
          </a:p>
          <a:p>
            <a:pPr>
              <a:lnSpc>
                <a:spcPct val="103000"/>
              </a:lnSpc>
              <a:spcAft>
                <a:spcPts val="300"/>
              </a:spcAft>
              <a:defRPr sz="810">
                <a:solidFill>
                  <a:srgbClr val="21242A"/>
                </a:solidFill>
                <a:latin typeface="Microsoft YaHei"/>
              </a:defRPr>
            </a:pPr>
            <a:r>
              <a:t>适应症：外周T细胞淋巴瘤、弥漫性大B细胞淋巴瘤、淋巴瘤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研究主题：temporal trends in infection-related proportional mortality in lymphoma: a danish population-based study</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丹麦人群淋巴瘤感染相关死亡率的时间趋势研究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temporal trends in infection-related proportional mortality in lymphoma: a da...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S310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5244084"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背景：淋巴瘤是一种异质性癌症，其特征是不同组织学亚型的结果存在显着差异。在过去的二十年中，治疗策略和支持性护理都发生了显着变化，这可能会影响随着时间的推移感染导致淋巴瘤死亡的程度。 目的：研究淋巴瘤患者感染死亡率比例的时间趋势，包括总体死亡率和按组织学亚型和治疗分层的死亡率。</a:t>
            </a:r>
          </a:p>
          <a:p>
            <a:pPr>
              <a:lnSpc>
                <a:spcPct val="103000"/>
              </a:lnSpc>
              <a:spcAft>
                <a:spcPts val="300"/>
              </a:spcAft>
              <a:defRPr sz="550">
                <a:solidFill>
                  <a:srgbClr val="21242A"/>
                </a:solidFill>
                <a:latin typeface="Microsoft YaHei"/>
              </a:defRPr>
            </a:pPr>
            <a:r>
              <a:t>方法：这项比例死亡率研究包括 2001 年至 2020 年期间诊断并在丹麦国家淋巴瘤登记处 (LYFO) 注册的患有弥漫性大 B 细胞淋巴瘤 (DLBCL)、滤泡性淋巴瘤 (FL)、外周 T 细胞淋巴瘤 (PTCL) 和霍奇金淋巴瘤 (HL) 的成年丹麦患者（≥ 18 岁）。主要终点是在有限的 5 年间隔内评估的感染死</a:t>
            </a:r>
          </a:p>
          <a:p>
            <a:pPr>
              <a:lnSpc>
                <a:spcPct val="103000"/>
              </a:lnSpc>
              <a:spcAft>
                <a:spcPts val="300"/>
              </a:spcAft>
              <a:defRPr sz="550">
                <a:solidFill>
                  <a:srgbClr val="21242A"/>
                </a:solidFill>
                <a:latin typeface="Microsoft YaHei"/>
              </a:defRPr>
            </a:pPr>
            <a:r>
              <a:t>亡率比例。完全或部分归因于感染的死亡是根据死亡证明上列出的感染的存在来确定的。二次分析包括按年龄、一线治疗、体能状态和淋巴瘤亚型划分的随时间变化的趋势。</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从2001-2005年到2006-2010年，DLBCL、HL、PTCL和FL患者中与感染相关的死亡呈上升趋势。在接受 DLBCL、HL 和 FL 标准一线治疗的患者中也观察到了这种模式。在最近的日历期间（2016-2020），与感染相关的死亡率下降，这可能反映了支持性护理措施的改进，例如更广泛地使用粒细胞集落刺激因子</a:t>
            </a:r>
          </a:p>
          <a:p>
            <a:pPr>
              <a:lnSpc>
                <a:spcPct val="103000"/>
              </a:lnSpc>
              <a:spcAft>
                <a:spcPts val="300"/>
              </a:spcAft>
              <a:defRPr sz="570">
                <a:solidFill>
                  <a:srgbClr val="21242A"/>
                </a:solidFill>
                <a:latin typeface="Microsoft YaHei"/>
              </a:defRPr>
            </a:pPr>
            <a:r>
              <a:t>和抗菌预防。尽管患者中位年龄大幅增加且老年患者组更频繁地使用治疗性化疗，但随着时间的推移，观察到的与感染相关的死亡率比例的稳定性与支持治疗的改善是一致的。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总体感染相关比例死亡率（2001-2005）</a:t>
                      </a:r>
                    </a:p>
                  </a:txBody>
                  <a:tcPr>
                    <a:solidFill>
                      <a:srgbClr val="F6F8FB"/>
                    </a:solidFill>
                  </a:tcPr>
                </a:tc>
                <a:tc>
                  <a:txBody>
                    <a:bodyPr wrap="square" lIns="36576" rIns="36576" tIns="18288" bIns="18288"/>
                    <a:lstStyle/>
                    <a:p>
                      <a:r>
                        <a:rPr sz="540" b="0">
                          <a:solidFill>
                            <a:srgbClr val="21242A"/>
                          </a:solidFill>
                          <a:latin typeface="Microsoft YaHei"/>
                        </a:rPr>
                        <a:t>25.6% (95% CI: 22.9-28.6)</a:t>
                      </a:r>
                    </a:p>
                  </a:txBody>
                  <a:tcPr>
                    <a:solidFill>
                      <a:srgbClr val="F6F8FB"/>
                    </a:solidFill>
                  </a:tcPr>
                </a:tc>
              </a:tr>
              <a:tr h="214230">
                <a:tc>
                  <a:txBody>
                    <a:bodyPr wrap="square" lIns="36576" rIns="36576" tIns="18288" bIns="18288"/>
                    <a:lstStyle/>
                    <a:p>
                      <a:r>
                        <a:rPr sz="540" b="1">
                          <a:solidFill>
                            <a:srgbClr val="21242A"/>
                          </a:solidFill>
                          <a:latin typeface="Microsoft YaHei"/>
                        </a:rPr>
                        <a:t>总体感染相关比例死亡率（2006-2010）</a:t>
                      </a:r>
                    </a:p>
                  </a:txBody>
                  <a:tcPr>
                    <a:solidFill>
                      <a:srgbClr val="FFFFFF"/>
                    </a:solidFill>
                  </a:tcPr>
                </a:tc>
                <a:tc>
                  <a:txBody>
                    <a:bodyPr wrap="square" lIns="36576" rIns="36576" tIns="18288" bIns="18288"/>
                    <a:lstStyle/>
                    <a:p>
                      <a:r>
                        <a:rPr sz="540" b="0">
                          <a:solidFill>
                            <a:srgbClr val="21242A"/>
                          </a:solidFill>
                          <a:latin typeface="Microsoft YaHei"/>
                        </a:rPr>
                        <a:t>33.8% (95% CI: 30.8-37)</a:t>
                      </a:r>
                    </a:p>
                  </a:txBody>
                  <a:tcPr>
                    <a:solidFill>
                      <a:srgbClr val="FFFFFF"/>
                    </a:solidFill>
                  </a:tcPr>
                </a:tc>
              </a:tr>
              <a:tr h="214230">
                <a:tc>
                  <a:txBody>
                    <a:bodyPr wrap="square" lIns="36576" rIns="36576" tIns="18288" bIns="18288"/>
                    <a:lstStyle/>
                    <a:p>
                      <a:r>
                        <a:rPr sz="540" b="1">
                          <a:solidFill>
                            <a:srgbClr val="21242A"/>
                          </a:solidFill>
                          <a:latin typeface="Microsoft YaHei"/>
                        </a:rPr>
                        <a:t>总体感染相关比例死亡率（2011-2015）</a:t>
                      </a:r>
                    </a:p>
                  </a:txBody>
                  <a:tcPr>
                    <a:solidFill>
                      <a:srgbClr val="F6F8FB"/>
                    </a:solidFill>
                  </a:tcPr>
                </a:tc>
                <a:tc>
                  <a:txBody>
                    <a:bodyPr wrap="square" lIns="36576" rIns="36576" tIns="18288" bIns="18288"/>
                    <a:lstStyle/>
                    <a:p>
                      <a:r>
                        <a:rPr sz="540" b="0">
                          <a:solidFill>
                            <a:srgbClr val="21242A"/>
                          </a:solidFill>
                          <a:latin typeface="Microsoft YaHei"/>
                        </a:rPr>
                        <a:t>33.6% (95% CI: 30.8-36.6)</a:t>
                      </a:r>
                    </a:p>
                  </a:txBody>
                  <a:tcPr>
                    <a:solidFill>
                      <a:srgbClr val="F6F8FB"/>
                    </a:solidFill>
                  </a:tcPr>
                </a:tc>
              </a:tr>
              <a:tr h="214230">
                <a:tc>
                  <a:txBody>
                    <a:bodyPr wrap="square" lIns="36576" rIns="36576" tIns="18288" bIns="18288"/>
                    <a:lstStyle/>
                    <a:p>
                      <a:r>
                        <a:rPr sz="540" b="1">
                          <a:solidFill>
                            <a:srgbClr val="21242A"/>
                          </a:solidFill>
                          <a:latin typeface="Microsoft YaHei"/>
                        </a:rPr>
                        <a:t>总体感染相关比例死亡率（2016-2020）</a:t>
                      </a:r>
                    </a:p>
                  </a:txBody>
                  <a:tcPr>
                    <a:solidFill>
                      <a:srgbClr val="FFFFFF"/>
                    </a:solidFill>
                  </a:tcPr>
                </a:tc>
                <a:tc>
                  <a:txBody>
                    <a:bodyPr wrap="square" lIns="36576" rIns="36576" tIns="18288" bIns="18288"/>
                    <a:lstStyle/>
                    <a:p>
                      <a:r>
                        <a:rPr sz="540" b="0">
                          <a:solidFill>
                            <a:srgbClr val="21242A"/>
                          </a:solidFill>
                          <a:latin typeface="Microsoft YaHei"/>
                        </a:rPr>
                        <a:t>26.7% (95% CI: 24-29.6)</a:t>
                      </a:r>
                    </a:p>
                  </a:txBody>
                  <a:tcPr>
                    <a:solidFill>
                      <a:srgbClr val="FFFFFF"/>
                    </a:solidFill>
                  </a:tcPr>
                </a:tc>
              </a:tr>
              <a:tr h="214230">
                <a:tc>
                  <a:txBody>
                    <a:bodyPr wrap="square" lIns="36576" rIns="36576" tIns="18288" bIns="18288"/>
                    <a:lstStyle/>
                    <a:p>
                      <a:r>
                        <a:rPr sz="540" b="1">
                          <a:solidFill>
                            <a:srgbClr val="21242A"/>
                          </a:solidFill>
                          <a:latin typeface="Microsoft YaHei"/>
                        </a:rPr>
                        <a:t>PTCL患者感染相关比例死亡率</a:t>
                      </a:r>
                    </a:p>
                  </a:txBody>
                  <a:tcPr>
                    <a:solidFill>
                      <a:srgbClr val="F6F8FB"/>
                    </a:solidFill>
                  </a:tcPr>
                </a:tc>
                <a:tc>
                  <a:txBody>
                    <a:bodyPr wrap="square" lIns="36576" rIns="36576" tIns="18288" bIns="18288"/>
                    <a:lstStyle/>
                    <a:p>
                      <a:r>
                        <a:rPr sz="540" b="0">
                          <a:solidFill>
                            <a:srgbClr val="21242A"/>
                          </a:solidFill>
                          <a:latin typeface="Microsoft YaHei"/>
                        </a:rPr>
                        <a:t>36.9% (95% CI: 32.5-41.4)</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其余3条结果见HTML完整清单及EHA原文。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摘要号：S310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cd3xcd20双特异性抗体治疗复发/难治性大b细胞淋巴瘤后，异基因造血干细胞移植作为巩固：52例ebmt登记病例的l...</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allogeneic hematopoietic stem cell transplant as consolidation after cd3xcd20...</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N=52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分组：试验分组1：完全缓解（CR）组：异基因造血干细胞移植</a:t>
            </a:r>
          </a:p>
          <a:p>
            <a:pPr>
              <a:lnSpc>
                <a:spcPct val="103000"/>
              </a:lnSpc>
              <a:spcAft>
                <a:spcPts val="300"/>
              </a:spcAft>
              <a:defRPr sz="800">
                <a:solidFill>
                  <a:srgbClr val="21242A"/>
                </a:solidFill>
                <a:latin typeface="Microsoft YaHei"/>
              </a:defRPr>
            </a:pPr>
            <a:r>
              <a:t>试验分组2：部分缓解（PR）组：异基因造血干细胞移植</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多组/多方案比较：试验分组1：完全缓解（CR）组：异基因造血干细胞移植</a:t>
            </a:r>
          </a:p>
          <a:p>
            <a:pPr>
              <a:lnSpc>
                <a:spcPct val="103000"/>
              </a:lnSpc>
              <a:spcAft>
                <a:spcPts val="300"/>
              </a:spcAft>
              <a:defRPr sz="800">
                <a:solidFill>
                  <a:srgbClr val="21242A"/>
                </a:solidFill>
                <a:latin typeface="Microsoft YaHei"/>
              </a:defRPr>
            </a:pPr>
            <a:r>
              <a:t>试验分组2：部分缓解（PR）组：异基因造血干细胞移植</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1年无进展生存率（1y-PFS）：总体57%（95%CI: 43-72%）</a:t>
            </a:r>
          </a:p>
          <a:p>
            <a:pPr>
              <a:lnSpc>
                <a:spcPct val="103000"/>
              </a:lnSpc>
              <a:spcAft>
                <a:spcPts val="300"/>
              </a:spcAft>
              <a:defRPr sz="800">
                <a:solidFill>
                  <a:srgbClr val="21242A"/>
                </a:solidFill>
                <a:latin typeface="Microsoft YaHei"/>
              </a:defRPr>
            </a:pPr>
            <a:r>
              <a:t>1年总生存率（1y-OS）：总体62%（95%CI: 48-76%）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人数：52</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治疗线数：维持</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分组/治疗流程：试验分组1：完全缓解（CR）组：异基因造血干细胞移植、试验分组2：部分缓解（PR）组：异基因造血干细胞移植</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cd3xcd20双特异性抗体治疗复发/难治性大b细胞淋巴瘤后，异基因造血干细胞移植作为巩固：52例ebmt登记病例的l...</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allogeneic hematopoietic stem cell transplant as consolidation after cd3xcd20...</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PF986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背景：复发或难治性大 B 细胞淋巴瘤 (rrLBCL) 与不良预后相关。嵌合抗原受体 T 细胞 (CAR-T) 疗法可治愈 30-50% 的 rrLBCL，但许多仍会复发或进展。</a:t>
            </a:r>
          </a:p>
          <a:p>
            <a:pPr>
              <a:lnSpc>
                <a:spcPct val="103000"/>
              </a:lnSpc>
              <a:spcAft>
                <a:spcPts val="300"/>
              </a:spcAft>
              <a:defRPr sz="550">
                <a:solidFill>
                  <a:srgbClr val="21242A"/>
                </a:solidFill>
                <a:latin typeface="Microsoft YaHei"/>
              </a:defRPr>
            </a:pPr>
            <a:r>
              <a:t>CD3xCD20 双特异性抗体 (BsAb) 在 CAR-T 初治和暴露患者中显示出 50-60% 的总体缓解率，其中完全缓解 (CR) 为 23-40%。然而，超过一半的缓解者在 CR 或部分缓解 (PR) 后复发，1 年无进展生存期 (1y-PFS) 分别约为 80% 和约 30%。同种异体造血干细胞移植 (HSC</a:t>
            </a:r>
          </a:p>
          <a:p>
            <a:pPr>
              <a:lnSpc>
                <a:spcPct val="103000"/>
              </a:lnSpc>
              <a:spcAft>
                <a:spcPts val="300"/>
              </a:spcAft>
              <a:defRPr sz="550">
                <a:solidFill>
                  <a:srgbClr val="21242A"/>
                </a:solidFill>
                <a:latin typeface="Microsoft YaHei"/>
              </a:defRPr>
            </a:pPr>
            <a:r>
              <a:t>T) 在某些病例中可能具有治愈性，并且可能通过 BsAb 敏感患者的移植物抗淋巴瘤效应而得到增强。</a:t>
            </a:r>
          </a:p>
          <a:p>
            <a:pPr>
              <a:lnSpc>
                <a:spcPct val="103000"/>
              </a:lnSpc>
              <a:spcAft>
                <a:spcPts val="300"/>
              </a:spcAft>
              <a:defRPr sz="550">
                <a:solidFill>
                  <a:srgbClr val="21242A"/>
                </a:solidFill>
                <a:latin typeface="Microsoft YaHei"/>
              </a:defRPr>
            </a:pPr>
            <a:r>
              <a:t>BsAb 应答者中的 HSCT 巩固是一项重要的研究内容，但非复发死亡率 (NRM) 和不确定的生存获益仍然是主要问题。 目的：这是一项回顾性 EBMT 研究，旨在探讨巩固 HSCT 在对 BsAb 有反应的 rrLBCL 患者中的疗效和毒性。</a:t>
            </a:r>
          </a:p>
          <a:p>
            <a:pPr>
              <a:lnSpc>
                <a:spcPct val="103000"/>
              </a:lnSpc>
              <a:spcAft>
                <a:spcPts val="300"/>
              </a:spcAft>
              <a:defRPr sz="550">
                <a:solidFill>
                  <a:srgbClr val="21242A"/>
                </a:solidFill>
                <a:latin typeface="Microsoft YaHei"/>
              </a:defRPr>
            </a:pPr>
            <a:r>
              <a:t>方法：纳入 2018 年 1 月至 2025 年 2 月期间 BsAb 治疗后达到 CR 或 PR 并接受巩固 HSCT 的 rrLBCL 成人患者。主要终点是 PFS 和 NRM。</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由于缺乏合适的比较器及其回顾性所固有的局限性，本研究表明，BsAb 后巩固 HSCT 的 NRM 并不高于 rrLBCL 患者采用相同方法报道的 NRM。在 CR 和 PR 队列中观察到的 1y-PFS 与单独使用 BsAb 所报告的相似。对更大群体进行更长时间的随访和进一步研究可能会阐明该策略的潜在好处。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1年无进展生存率（1y-PFS）</a:t>
                      </a:r>
                    </a:p>
                  </a:txBody>
                  <a:tcPr>
                    <a:solidFill>
                      <a:srgbClr val="F6F8FB"/>
                    </a:solidFill>
                  </a:tcPr>
                </a:tc>
                <a:tc>
                  <a:txBody>
                    <a:bodyPr wrap="square" lIns="36576" rIns="36576" tIns="18288" bIns="18288"/>
                    <a:lstStyle/>
                    <a:p>
                      <a:r>
                        <a:rPr sz="540" b="0">
                          <a:solidFill>
                            <a:srgbClr val="21242A"/>
                          </a:solidFill>
                          <a:latin typeface="Microsoft YaHei"/>
                        </a:rPr>
                        <a:t>总体57%（95%CI: 43-72%）</a:t>
                      </a:r>
                    </a:p>
                  </a:txBody>
                  <a:tcPr>
                    <a:solidFill>
                      <a:srgbClr val="F6F8FB"/>
                    </a:solidFill>
                  </a:tcPr>
                </a:tc>
              </a:tr>
              <a:tr h="214230">
                <a:tc>
                  <a:txBody>
                    <a:bodyPr wrap="square" lIns="36576" rIns="36576" tIns="18288" bIns="18288"/>
                    <a:lstStyle/>
                    <a:p>
                      <a:r>
                        <a:rPr sz="540" b="1">
                          <a:solidFill>
                            <a:srgbClr val="21242A"/>
                          </a:solidFill>
                          <a:latin typeface="Microsoft YaHei"/>
                        </a:rPr>
                        <a:t>1年总生存率（1y-OS）</a:t>
                      </a:r>
                    </a:p>
                  </a:txBody>
                  <a:tcPr>
                    <a:solidFill>
                      <a:srgbClr val="FFFFFF"/>
                    </a:solidFill>
                  </a:tcPr>
                </a:tc>
                <a:tc>
                  <a:txBody>
                    <a:bodyPr wrap="square" lIns="36576" rIns="36576" tIns="18288" bIns="18288"/>
                    <a:lstStyle/>
                    <a:p>
                      <a:r>
                        <a:rPr sz="540" b="0">
                          <a:solidFill>
                            <a:srgbClr val="21242A"/>
                          </a:solidFill>
                          <a:latin typeface="Microsoft YaHei"/>
                        </a:rPr>
                        <a:t>总体62%（95%CI: 48-76%）</a:t>
                      </a:r>
                    </a:p>
                  </a:txBody>
                  <a:tcPr>
                    <a:solidFill>
                      <a:srgbClr val="FFFFFF"/>
                    </a:solidFill>
                  </a:tcPr>
                </a:tc>
              </a:tr>
              <a:tr h="214230">
                <a:tc>
                  <a:txBody>
                    <a:bodyPr wrap="square" lIns="36576" rIns="36576" tIns="18288" bIns="18288"/>
                    <a:lstStyle/>
                    <a:p>
                      <a:r>
                        <a:rPr sz="540" b="1">
                          <a:solidFill>
                            <a:srgbClr val="21242A"/>
                          </a:solidFill>
                          <a:latin typeface="Microsoft YaHei"/>
                        </a:rPr>
                        <a:t>1年非复发死亡率（1y-NRM）</a:t>
                      </a:r>
                    </a:p>
                  </a:txBody>
                  <a:tcPr>
                    <a:solidFill>
                      <a:srgbClr val="F6F8FB"/>
                    </a:solidFill>
                  </a:tcPr>
                </a:tc>
                <a:tc>
                  <a:txBody>
                    <a:bodyPr wrap="square" lIns="36576" rIns="36576" tIns="18288" bIns="18288"/>
                    <a:lstStyle/>
                    <a:p>
                      <a:r>
                        <a:rPr sz="540" b="0">
                          <a:solidFill>
                            <a:srgbClr val="21242A"/>
                          </a:solidFill>
                          <a:latin typeface="Microsoft YaHei"/>
                        </a:rPr>
                        <a:t>17%（95%CI: 6-27%）</a:t>
                      </a:r>
                    </a:p>
                  </a:txBody>
                  <a:tcPr>
                    <a:solidFill>
                      <a:srgbClr val="F6F8FB"/>
                    </a:solidFill>
                  </a:tcPr>
                </a:tc>
              </a:tr>
              <a:tr h="214230">
                <a:tc>
                  <a:txBody>
                    <a:bodyPr wrap="square" lIns="36576" rIns="36576" tIns="18288" bIns="18288"/>
                    <a:lstStyle/>
                    <a:p>
                      <a:r>
                        <a:rPr sz="540" b="1">
                          <a:solidFill>
                            <a:srgbClr val="21242A"/>
                          </a:solidFill>
                          <a:latin typeface="Microsoft YaHei"/>
                        </a:rPr>
                        <a:t>1年累积复发率</a:t>
                      </a:r>
                    </a:p>
                  </a:txBody>
                  <a:tcPr>
                    <a:solidFill>
                      <a:srgbClr val="FFFFFF"/>
                    </a:solidFill>
                  </a:tcPr>
                </a:tc>
                <a:tc>
                  <a:txBody>
                    <a:bodyPr wrap="square" lIns="36576" rIns="36576" tIns="18288" bIns="18288"/>
                    <a:lstStyle/>
                    <a:p>
                      <a:r>
                        <a:rPr sz="540" b="0">
                          <a:solidFill>
                            <a:srgbClr val="21242A"/>
                          </a:solidFill>
                          <a:latin typeface="Microsoft YaHei"/>
                        </a:rPr>
                        <a:t>26%（95%CI: 13-39%）</a:t>
                      </a:r>
                    </a:p>
                  </a:txBody>
                  <a:tcPr>
                    <a:solidFill>
                      <a:srgbClr val="FFFFFF"/>
                    </a:solidFill>
                  </a:tcPr>
                </a:tc>
              </a:tr>
              <a:tr h="214230">
                <a:tc>
                  <a:txBody>
                    <a:bodyPr wrap="square" lIns="36576" rIns="36576" tIns="18288" bIns="18288"/>
                    <a:lstStyle/>
                    <a:p>
                      <a:r>
                        <a:rPr sz="540" b="1">
                          <a:solidFill>
                            <a:srgbClr val="21242A"/>
                          </a:solidFill>
                          <a:latin typeface="Microsoft YaHei"/>
                        </a:rPr>
                        <a:t>按HSCT时缓解状态分层</a:t>
                      </a:r>
                    </a:p>
                  </a:txBody>
                  <a:tcPr>
                    <a:solidFill>
                      <a:srgbClr val="F6F8FB"/>
                    </a:solidFill>
                  </a:tcPr>
                </a:tc>
                <a:tc>
                  <a:txBody>
                    <a:bodyPr wrap="square" lIns="36576" rIns="36576" tIns="18288" bIns="18288"/>
                    <a:lstStyle/>
                    <a:p>
                      <a:r>
                        <a:rPr sz="540" b="0">
                          <a:solidFill>
                            <a:srgbClr val="21242A"/>
                          </a:solidFill>
                          <a:latin typeface="Microsoft YaHei"/>
                        </a:rPr>
                        <a:t>CR组1y-PFS 78%（95%CI: 62-95），1y-OS 78%（95%CI: 61-95）</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摘要号：PF986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ciloleucel在台湾复发/难治性弥漫性大b细胞淋巴瘤和原发性纵隔b细胞淋巴瘤患者接受两...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cost-effectiveness of axicabtagene ciloleucel in taiwanese patients with rela...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原发纵隔大B细胞淋巴瘤，弥漫性大B细胞淋巴瘤</a:t>
            </a:r>
          </a:p>
          <a:p>
            <a:pPr>
              <a:lnSpc>
                <a:spcPct val="103000"/>
              </a:lnSpc>
              <a:spcAft>
                <a:spcPts val="300"/>
              </a:spcAft>
              <a:defRPr sz="800">
                <a:solidFill>
                  <a:srgbClr val="21242A"/>
                </a:solidFill>
                <a:latin typeface="Microsoft YaHei"/>
              </a:defRPr>
            </a:pPr>
            <a:r>
              <a:t>疾病阶段：复发/难治，原发性</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Tisagenlecleucel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对照/比较：试验组1：axicabtagene ciloleucel</a:t>
            </a:r>
          </a:p>
          <a:p>
            <a:pPr>
              <a:lnSpc>
                <a:spcPct val="103000"/>
              </a:lnSpc>
              <a:spcAft>
                <a:spcPts val="300"/>
              </a:spcAft>
              <a:defRPr sz="800">
                <a:solidFill>
                  <a:srgbClr val="21242A"/>
                </a:solidFill>
                <a:latin typeface="Microsoft YaHei"/>
              </a:defRPr>
            </a:pPr>
            <a:r>
              <a:t>对照组1：tisagenlecleucel</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无折扣生存年：axi-cel 11.63年 vs tisa-cel 7.86年，增量3.77年</a:t>
            </a:r>
          </a:p>
          <a:p>
            <a:pPr>
              <a:lnSpc>
                <a:spcPct val="103000"/>
              </a:lnSpc>
              <a:spcAft>
                <a:spcPts val="300"/>
              </a:spcAft>
              <a:defRPr sz="800">
                <a:solidFill>
                  <a:srgbClr val="21242A"/>
                </a:solidFill>
                <a:latin typeface="Microsoft YaHei"/>
              </a:defRPr>
            </a:pPr>
            <a:r>
              <a:t>质量调整生存年(QALY)：axi-cel 6.84 QALYs vs tisa-cel 4.33 QALYs，增量2.51...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研究类型：卫生经济学研究</a:t>
            </a:r>
          </a:p>
          <a:p>
            <a:pPr>
              <a:lnSpc>
                <a:spcPct val="103000"/>
              </a:lnSpc>
              <a:spcAft>
                <a:spcPts val="300"/>
              </a:spcAft>
              <a:defRPr sz="810">
                <a:solidFill>
                  <a:srgbClr val="21242A"/>
                </a:solidFill>
                <a:latin typeface="Microsoft YaHei"/>
              </a:defRPr>
            </a:pPr>
            <a:r>
              <a:t>人数：未提取</a:t>
            </a:r>
          </a:p>
          <a:p>
            <a:pPr>
              <a:lnSpc>
                <a:spcPct val="103000"/>
              </a:lnSpc>
              <a:spcAft>
                <a:spcPts val="300"/>
              </a:spcAft>
              <a:defRPr sz="810">
                <a:solidFill>
                  <a:srgbClr val="21242A"/>
                </a:solidFill>
                <a:latin typeface="Microsoft YaHei"/>
              </a:defRPr>
            </a:pPr>
            <a:r>
              <a:t>适应症：原发纵隔大B细胞淋巴瘤、弥漫性大B细胞淋巴瘤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试验药/方案：阿基仑赛、Tisagenlecleucel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ciloleucel在台湾复发/难治性弥漫性大b细胞淋巴瘤和原发性纵隔b细胞淋巴瘤患者接受两...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cost-effectiveness of axicabtagene ciloleucel in taiwanese patients with rela...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PF1414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是台湾最常见的侵袭性 B 细胞淋巴瘤，并且继续对全国淋巴瘤疾病负担造成重大影响。尽管一部分患者可以通过一线治疗实现长期缓解，但临床上重要的亚组通过多线治疗取得进展。在三线及以上 (3L+) 环境中，有效的治疗选择仍然有限，导致长期生存率较差。因此，3L+ DLBCL 的管</a:t>
            </a:r>
          </a:p>
          <a:p>
            <a:pPr>
              <a:lnSpc>
                <a:spcPct val="103000"/>
              </a:lnSpc>
              <a:spcAft>
                <a:spcPts val="300"/>
              </a:spcAft>
              <a:defRPr sz="550">
                <a:solidFill>
                  <a:srgbClr val="21242A"/>
                </a:solidFill>
                <a:latin typeface="Microsoft YaHei"/>
              </a:defRPr>
            </a:pPr>
            <a:r>
              <a:t>理是一项重大的临床和政策挑战，特别是在新兴的一次性细胞疗法和需要优先考虑医疗资源的背景下。</a:t>
            </a:r>
          </a:p>
          <a:p>
            <a:pPr>
              <a:lnSpc>
                <a:spcPct val="103000"/>
              </a:lnSpc>
              <a:spcAft>
                <a:spcPts val="300"/>
              </a:spcAft>
              <a:defRPr sz="550">
                <a:solidFill>
                  <a:srgbClr val="21242A"/>
                </a:solidFill>
                <a:latin typeface="Microsoft YaHei"/>
              </a:defRPr>
            </a:pPr>
            <a:r>
              <a:t>\n 在台湾，嵌合抗原受体 T 细胞（CAR T 细胞）疗法已引入临床实践，但不同产品的使用情况有所不同。目前，国民健康保险 (NHI) 报销 tisagenlecleucel (tisa-cel) 的 3L+ 治疗费用，而 axicabtagene ciloleucel (axi-cel) 仍未得到报销，这强调需要强</a:t>
            </a:r>
          </a:p>
          <a:p>
            <a:pPr>
              <a:lnSpc>
                <a:spcPct val="103000"/>
              </a:lnSpc>
              <a:spcAft>
                <a:spcPts val="300"/>
              </a:spcAft>
              <a:defRPr sz="550">
                <a:solidFill>
                  <a:srgbClr val="21242A"/>
                </a:solidFill>
                <a:latin typeface="Microsoft YaHei"/>
              </a:defRPr>
            </a:pPr>
            <a:r>
              <a:t>有力的当地经济证据来为报销决策提供信息。目的：本研究旨在从国民健康保险的角度评估 axi-cel 与 tisa-cel 作为台湾 DLBCL 和原发性纵隔 B 细胞淋巴瘤 (PMBCL) 3L+ 治疗的成本效益。</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该分析表明，对于 3L+ R/R DLBCL 和 PMBCL 患者来说，axi-cel 比 tisa-cel 能以更低的总体成本提供更大的健康益处，成为一种主要的治疗选择。这些发现进一步支持了 axi-cel 在台湾报销考虑的价值。</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无折扣生存年</a:t>
                      </a:r>
                    </a:p>
                  </a:txBody>
                  <a:tcPr>
                    <a:solidFill>
                      <a:srgbClr val="F6F8FB"/>
                    </a:solidFill>
                  </a:tcPr>
                </a:tc>
                <a:tc>
                  <a:txBody>
                    <a:bodyPr wrap="square" lIns="36576" rIns="36576" tIns="18288" bIns="18288"/>
                    <a:lstStyle/>
                    <a:p>
                      <a:r>
                        <a:rPr sz="540" b="0">
                          <a:solidFill>
                            <a:srgbClr val="21242A"/>
                          </a:solidFill>
                          <a:latin typeface="Microsoft YaHei"/>
                        </a:rPr>
                        <a:t>axi-cel 11.63年 vs tisa-cel 7.86年，增量3.77年</a:t>
                      </a:r>
                    </a:p>
                  </a:txBody>
                  <a:tcPr>
                    <a:solidFill>
                      <a:srgbClr val="F6F8FB"/>
                    </a:solidFill>
                  </a:tcPr>
                </a:tc>
              </a:tr>
              <a:tr h="299923">
                <a:tc>
                  <a:txBody>
                    <a:bodyPr wrap="square" lIns="36576" rIns="36576" tIns="18288" bIns="18288"/>
                    <a:lstStyle/>
                    <a:p>
                      <a:r>
                        <a:rPr sz="540" b="1">
                          <a:solidFill>
                            <a:srgbClr val="21242A"/>
                          </a:solidFill>
                          <a:latin typeface="Microsoft YaHei"/>
                        </a:rPr>
                        <a:t>质量调整生存年(QALY)</a:t>
                      </a:r>
                    </a:p>
                  </a:txBody>
                  <a:tcPr>
                    <a:solidFill>
                      <a:srgbClr val="FFFFFF"/>
                    </a:solidFill>
                  </a:tcPr>
                </a:tc>
                <a:tc>
                  <a:txBody>
                    <a:bodyPr wrap="square" lIns="36576" rIns="36576" tIns="18288" bIns="18288"/>
                    <a:lstStyle/>
                    <a:p>
                      <a:r>
                        <a:rPr sz="540" b="0">
                          <a:solidFill>
                            <a:srgbClr val="21242A"/>
                          </a:solidFill>
                          <a:latin typeface="Microsoft YaHei"/>
                        </a:rPr>
                        <a:t>axi-cel 6.84 QALYs vs tisa-cel 4.33 QALYs，增量2.51 QALYs</a:t>
                      </a:r>
                    </a:p>
                  </a:txBody>
                  <a:tcPr>
                    <a:solidFill>
                      <a:srgbClr val="FFFFFF"/>
                    </a:solidFill>
                  </a:tcPr>
                </a:tc>
              </a:tr>
              <a:tr h="299923">
                <a:tc>
                  <a:txBody>
                    <a:bodyPr wrap="square" lIns="36576" rIns="36576" tIns="18288" bIns="18288"/>
                    <a:lstStyle/>
                    <a:p>
                      <a:r>
                        <a:rPr sz="540" b="1">
                          <a:solidFill>
                            <a:srgbClr val="21242A"/>
                          </a:solidFill>
                          <a:latin typeface="Microsoft YaHei"/>
                        </a:rPr>
                        <a:t>总折扣成本</a:t>
                      </a:r>
                    </a:p>
                  </a:txBody>
                  <a:tcPr>
                    <a:solidFill>
                      <a:srgbClr val="F6F8FB"/>
                    </a:solidFill>
                  </a:tcPr>
                </a:tc>
                <a:tc>
                  <a:txBody>
                    <a:bodyPr wrap="square" lIns="36576" rIns="36576" tIns="18288" bIns="18288"/>
                    <a:lstStyle/>
                    <a:p>
                      <a:r>
                        <a:rPr sz="540" b="0">
                          <a:solidFill>
                            <a:srgbClr val="21242A"/>
                          </a:solidFill>
                          <a:latin typeface="Microsoft YaHei"/>
                        </a:rPr>
                        <a:t>axi-cel NTD 9.24M (USD 307,991) vs tisa-cel NTD 9.26M (USD 308,557)</a:t>
                      </a:r>
                    </a:p>
                  </a:txBody>
                  <a:tcPr>
                    <a:solidFill>
                      <a:srgbClr val="F6F8FB"/>
                    </a:solidFill>
                  </a:tcPr>
                </a:tc>
              </a:tr>
              <a:tr h="299924">
                <a:tc>
                  <a:txBody>
                    <a:bodyPr wrap="square" lIns="36576" rIns="36576" tIns="18288" bIns="18288"/>
                    <a:lstStyle/>
                    <a:p>
                      <a:r>
                        <a:rPr sz="540" b="1">
                          <a:solidFill>
                            <a:srgbClr val="21242A"/>
                          </a:solidFill>
                          <a:latin typeface="Microsoft YaHei"/>
                        </a:rPr>
                        <a:t>增量成本效果比(ICER)</a:t>
                      </a:r>
                    </a:p>
                  </a:txBody>
                  <a:tcPr>
                    <a:solidFill>
                      <a:srgbClr val="FFFFFF"/>
                    </a:solidFill>
                  </a:tcPr>
                </a:tc>
                <a:tc>
                  <a:txBody>
                    <a:bodyPr wrap="square" lIns="36576" rIns="36576" tIns="18288" bIns="18288"/>
                    <a:lstStyle/>
                    <a:p>
                      <a:r>
                        <a:rPr sz="540" b="0">
                          <a:solidFill>
                            <a:srgbClr val="21242A"/>
                          </a:solidFill>
                          <a:latin typeface="Microsoft YaHei"/>
                        </a:rPr>
                        <a:t>axi-cel占优（成本更低，效果更好）</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摘要号：PF1414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cd3xcd20双特异性抗体治疗大b细胞淋巴瘤患者细胞因子释放综合征的风险：一项国际多中心回顾性研究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risk for cytokine release syndrome in patients with large b-cell lymphoma tre...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321808"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原发纵隔大B细胞淋巴瘤，大B细胞淋巴瘤，弥漫性大B细胞淋巴瘤</a:t>
            </a:r>
          </a:p>
          <a:p>
            <a:pPr>
              <a:lnSpc>
                <a:spcPct val="103000"/>
              </a:lnSpc>
              <a:spcAft>
                <a:spcPts val="300"/>
              </a:spcAft>
              <a:defRPr sz="800">
                <a:solidFill>
                  <a:srgbClr val="21242A"/>
                </a:solidFill>
                <a:latin typeface="Microsoft YaHei"/>
              </a:defRPr>
            </a:pPr>
            <a:r>
              <a:t>N=440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任何级别CRS发生率（首次/首次全剂量后）：43%（185/435）</a:t>
            </a:r>
          </a:p>
          <a:p>
            <a:pPr>
              <a:lnSpc>
                <a:spcPct val="103000"/>
              </a:lnSpc>
              <a:spcAft>
                <a:spcPts val="300"/>
              </a:spcAft>
              <a:defRPr sz="800">
                <a:solidFill>
                  <a:srgbClr val="21242A"/>
                </a:solidFill>
                <a:latin typeface="Microsoft YaHei"/>
              </a:defRPr>
            </a:pPr>
            <a:r>
              <a:t>≥2级CRS发生率（首次/首次全剂量后）：16%（71/435）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人数：440</a:t>
            </a:r>
          </a:p>
          <a:p>
            <a:pPr>
              <a:lnSpc>
                <a:spcPct val="103000"/>
              </a:lnSpc>
              <a:spcAft>
                <a:spcPts val="300"/>
              </a:spcAft>
              <a:defRPr sz="810">
                <a:solidFill>
                  <a:srgbClr val="21242A"/>
                </a:solidFill>
                <a:latin typeface="Microsoft YaHei"/>
              </a:defRPr>
            </a:pPr>
            <a:r>
              <a:t>适应症：原发纵隔大B细胞淋巴瘤、大B细胞淋巴瘤、弥漫性大B细胞淋巴瘤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cd3xcd20双特异性抗体治疗大b细胞淋巴瘤患者细胞因子释放综合征的风险：一项国际多中心回顾性研究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risk for cytokine release syndrome in patients with large b-cell lymphoma tre...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321808"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双抗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背景：CD3xCD20 双特异性抗体 (BsAb) 已成为治疗复发/难治性 (R/R) 大 B 细胞淋巴瘤 (LBCL) 的高效“现成”免疫疗法。然而，细胞因子释放综合征（CRS）仍然是限制其临床使用的主要毒性。虽然最近开发了 glofitamab 的 CRS 风险预测模型（Gritti 等人，Blood Adv.</a:t>
            </a:r>
          </a:p>
          <a:p>
            <a:pPr>
              <a:lnSpc>
                <a:spcPct val="103000"/>
              </a:lnSpc>
              <a:spcAft>
                <a:spcPts val="300"/>
              </a:spcAft>
              <a:defRPr sz="550">
                <a:solidFill>
                  <a:srgbClr val="21242A"/>
                </a:solidFill>
                <a:latin typeface="Microsoft YaHei"/>
              </a:defRPr>
            </a:pPr>
            <a:r>
              <a:t>2024），但其实用性因需要特定参数以及缺乏对更广泛的 CD3xCD20 BsAb 类别的验证而受到限制。迫切需要一种易于应用的通用临床工具来识别具有临床意义（2+级）CRS 的低风险患者，以优化管理策略并有可能促进门诊治疗。目的：这项多中心回顾性研究的主要目的是开发和验证临床评分，以确定在首次或全部治疗剂量的 CD3</a:t>
            </a:r>
          </a:p>
          <a:p>
            <a:pPr>
              <a:lnSpc>
                <a:spcPct val="103000"/>
              </a:lnSpc>
              <a:spcAft>
                <a:spcPts val="300"/>
              </a:spcAft>
              <a:defRPr sz="550">
                <a:solidFill>
                  <a:srgbClr val="21242A"/>
                </a:solidFill>
                <a:latin typeface="Microsoft YaHei"/>
              </a:defRPr>
            </a:pPr>
            <a:r>
              <a:t>xCD20 BsAb 后发生 2+ 级 CRS 风险较低的 R/R LBCL 患者。在这篇摘要中，将介绍 CRS 发病率的初步分析和特征。方法：这是一项回顾性、国际性、多中心研究。</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 LBCL 中，CRS 危险因素主要集中在疾病负担和动力学上。对这个跨国大型患者队列的分析正在进行中，完整的结果和预测评分将在会议上公布。</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374904">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374904">
                <a:tc>
                  <a:txBody>
                    <a:bodyPr wrap="square" lIns="36576" rIns="36576" tIns="18288" bIns="18288"/>
                    <a:lstStyle/>
                    <a:p>
                      <a:r>
                        <a:rPr sz="540" b="1">
                          <a:solidFill>
                            <a:srgbClr val="21242A"/>
                          </a:solidFill>
                          <a:latin typeface="Microsoft YaHei"/>
                        </a:rPr>
                        <a:t>任何级别CRS发生率（首次/首次全剂量后）</a:t>
                      </a:r>
                    </a:p>
                  </a:txBody>
                  <a:tcPr>
                    <a:solidFill>
                      <a:srgbClr val="F6F8FB"/>
                    </a:solidFill>
                  </a:tcPr>
                </a:tc>
                <a:tc>
                  <a:txBody>
                    <a:bodyPr wrap="square" lIns="36576" rIns="36576" tIns="18288" bIns="18288"/>
                    <a:lstStyle/>
                    <a:p>
                      <a:r>
                        <a:rPr sz="540" b="0">
                          <a:solidFill>
                            <a:srgbClr val="21242A"/>
                          </a:solidFill>
                          <a:latin typeface="Microsoft YaHei"/>
                        </a:rPr>
                        <a:t>43%（185/435）</a:t>
                      </a:r>
                    </a:p>
                  </a:txBody>
                  <a:tcPr>
                    <a:solidFill>
                      <a:srgbClr val="F6F8FB"/>
                    </a:solidFill>
                  </a:tcPr>
                </a:tc>
              </a:tr>
              <a:tr h="374904">
                <a:tc>
                  <a:txBody>
                    <a:bodyPr wrap="square" lIns="36576" rIns="36576" tIns="18288" bIns="18288"/>
                    <a:lstStyle/>
                    <a:p>
                      <a:r>
                        <a:rPr sz="540" b="1">
                          <a:solidFill>
                            <a:srgbClr val="21242A"/>
                          </a:solidFill>
                          <a:latin typeface="Microsoft YaHei"/>
                        </a:rPr>
                        <a:t>≥2级CRS发生率（首次/首次全剂量后）</a:t>
                      </a:r>
                    </a:p>
                  </a:txBody>
                  <a:tcPr>
                    <a:solidFill>
                      <a:srgbClr val="FFFFFF"/>
                    </a:solidFill>
                  </a:tcPr>
                </a:tc>
                <a:tc>
                  <a:txBody>
                    <a:bodyPr wrap="square" lIns="36576" rIns="36576" tIns="18288" bIns="18288"/>
                    <a:lstStyle/>
                    <a:p>
                      <a:r>
                        <a:rPr sz="540" b="0">
                          <a:solidFill>
                            <a:srgbClr val="21242A"/>
                          </a:solidFill>
                          <a:latin typeface="Microsoft YaHei"/>
                        </a:rPr>
                        <a:t>16%（71/435）</a:t>
                      </a:r>
                    </a:p>
                  </a:txBody>
                  <a:tcPr>
                    <a:solidFill>
                      <a:srgbClr val="FFFFFF"/>
                    </a:solidFill>
                  </a:tcPr>
                </a:tc>
              </a:tr>
              <a:tr h="374904">
                <a:tc>
                  <a:txBody>
                    <a:bodyPr wrap="square" lIns="36576" rIns="36576" tIns="18288" bIns="18288"/>
                    <a:lstStyle/>
                    <a:p>
                      <a:r>
                        <a:rPr sz="540" b="1">
                          <a:solidFill>
                            <a:srgbClr val="21242A"/>
                          </a:solidFill>
                          <a:latin typeface="Microsoft YaHei"/>
                        </a:rPr>
                        <a:t>多变量分析中与≥2级CRS独立相关的因素</a:t>
                      </a:r>
                    </a:p>
                  </a:txBody>
                  <a:tcPr>
                    <a:solidFill>
                      <a:srgbClr val="F6F8FB"/>
                    </a:solidFill>
                  </a:tcPr>
                </a:tc>
                <a:tc>
                  <a:txBody>
                    <a:bodyPr wrap="square" lIns="36576" rIns="36576" tIns="18288" bIns="18288"/>
                    <a:lstStyle/>
                    <a:p>
                      <a:r>
                        <a:rPr sz="540" b="0">
                          <a:solidFill>
                            <a:srgbClr val="21242A"/>
                          </a:solidFill>
                          <a:latin typeface="Microsoft YaHei"/>
                        </a:rPr>
                        <a:t>bulky disease (OR 2.45, 95% CI 1.33–4.52; P=0.004), Ki67≥80% (OR 0.52, 95% CI 0.29–0.95; P=0.033), WBC≥5×10^9/L (OR 2.2...</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药物/技术：双抗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高比例的肿瘤内tcf1+t细胞预测复发/难治性原发性纵隔大b细胞淋巴瘤的良好免疫治疗反应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high proportion of intratumoral tcf1+ t-cells predicts favorable immunotherap...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7823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原发纵隔大B细胞淋巴瘤</a:t>
            </a:r>
          </a:p>
          <a:p>
            <a:pPr>
              <a:lnSpc>
                <a:spcPct val="103000"/>
              </a:lnSpc>
              <a:spcAft>
                <a:spcPts val="300"/>
              </a:spcAft>
              <a:defRPr sz="800">
                <a:solidFill>
                  <a:srgbClr val="21242A"/>
                </a:solidFill>
                <a:latin typeface="Microsoft YaHei"/>
              </a:defRPr>
            </a:pPr>
            <a:r>
              <a:t>N=27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回顾性临床研究结果：high proportion of intratumoral tcf1+ t-cells predict...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客观缓解率（ORR）：高TCF1+组91.7%，低TCF1+组26.7%</a:t>
            </a:r>
          </a:p>
          <a:p>
            <a:pPr>
              <a:lnSpc>
                <a:spcPct val="103000"/>
              </a:lnSpc>
              <a:spcAft>
                <a:spcPts val="300"/>
              </a:spcAft>
              <a:defRPr sz="800">
                <a:solidFill>
                  <a:srgbClr val="21242A"/>
                </a:solidFill>
                <a:latin typeface="Microsoft YaHei"/>
              </a:defRPr>
            </a:pPr>
            <a:r>
              <a:t>完全缓解率（CR）：高TCF1+组58.3%，低TCF1+组6.7%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人数：27</a:t>
            </a:r>
          </a:p>
          <a:p>
            <a:pPr>
              <a:lnSpc>
                <a:spcPct val="103000"/>
              </a:lnSpc>
              <a:spcAft>
                <a:spcPts val="300"/>
              </a:spcAft>
              <a:defRPr sz="810">
                <a:solidFill>
                  <a:srgbClr val="21242A"/>
                </a:solidFill>
                <a:latin typeface="Microsoft YaHei"/>
              </a:defRPr>
            </a:pPr>
            <a:r>
              <a:t>适应症：原发纵隔大B细胞淋巴瘤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研究主题：high proportion of intratumoral tcf1+ t-cells predicts favorable immunotherapy response in relapsed/refractory primary...</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高比例的肿瘤内tcf1+t细胞预测复发/难治性原发性纵隔大b细胞淋巴瘤的良好免疫治疗反应</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high proportion of intratumoral tcf1+ t-cells predicts favorable immunotherap...</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PS2123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478231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背景：原发性纵隔大 B 细胞淋巴瘤 (PMBCL) 是一种侵袭性 B 细胞淋巴瘤，主要影响年轻人。虽然一线化学免疫治疗取得了良好的效果，但复发/难治性 (R/R) 疾病患者面临着不良预后。</a:t>
            </a:r>
          </a:p>
          <a:p>
            <a:pPr>
              <a:lnSpc>
                <a:spcPct val="103000"/>
              </a:lnSpc>
              <a:spcAft>
                <a:spcPts val="300"/>
              </a:spcAft>
              <a:defRPr sz="550">
                <a:solidFill>
                  <a:srgbClr val="21242A"/>
                </a:solidFill>
                <a:latin typeface="Microsoft YaHei"/>
              </a:defRPr>
            </a:pPr>
            <a:r>
              <a:t>PD-1 抑制剂等免疫疗法已显示出临床活性，但缓解率仍然存在差异。最近的研究发现，肿瘤微环境 (TME) 内 TCF1+ 祖细胞耗尽的 T 细胞是各种恶性肿瘤免疫治疗效果的关键决定因素。这些 TCF1+ T 细胞具有干细胞样特性和自我更新能力，能够在免疫检查点阻断时产生持续的抗肿瘤反应。然而，它们在 R/R PMBCL</a:t>
            </a:r>
          </a:p>
          <a:p>
            <a:pPr>
              <a:lnSpc>
                <a:spcPct val="103000"/>
              </a:lnSpc>
              <a:spcAft>
                <a:spcPts val="300"/>
              </a:spcAft>
              <a:defRPr sz="550">
                <a:solidFill>
                  <a:srgbClr val="21242A"/>
                </a:solidFill>
                <a:latin typeface="Microsoft YaHei"/>
              </a:defRPr>
            </a:pPr>
            <a:r>
              <a:t> 中的预测价值仍然不明确。</a:t>
            </a:r>
          </a:p>
          <a:p>
            <a:pPr>
              <a:lnSpc>
                <a:spcPct val="103000"/>
              </a:lnSpc>
              <a:spcAft>
                <a:spcPts val="300"/>
              </a:spcAft>
              <a:defRPr sz="550">
                <a:solidFill>
                  <a:srgbClr val="21242A"/>
                </a:solidFill>
                <a:latin typeface="Microsoft YaHei"/>
              </a:defRPr>
            </a:pPr>
            <a:r>
              <a:t>目的：本研究旨在探讨接受免疫治疗的 R/R PMBCL 患者瘤内 TCF1+ T 淋巴细胞的比例与临床结果之间的关联。</a:t>
            </a:r>
          </a:p>
          <a:p>
            <a:pPr>
              <a:lnSpc>
                <a:spcPct val="103000"/>
              </a:lnSpc>
              <a:spcAft>
                <a:spcPts val="300"/>
              </a:spcAft>
              <a:defRPr sz="550">
                <a:solidFill>
                  <a:srgbClr val="21242A"/>
                </a:solidFill>
                <a:latin typeface="Microsoft YaHei"/>
              </a:defRPr>
            </a:pPr>
            <a:r>
              <a:t>方法：我们分析了 27 例接受免疫治疗作为二线治疗（抗 PD-1 单药治疗或 PD1 加化疗）的 R/R PMBCL 患者。根据免疫组织化学评估的 CD8+ 肿瘤浸润淋巴细胞 (TIL) 中 TCF1+ 细胞的比例对患者进行分层：高 TCF1+ 组（n=12，TCF1+ ≥25%）和正常/低 TCF1+ 组（n=15，</a:t>
            </a:r>
          </a:p>
          <a:p>
            <a:pPr>
              <a:lnSpc>
                <a:spcPct val="103000"/>
              </a:lnSpc>
              <a:spcAft>
                <a:spcPts val="300"/>
              </a:spcAft>
              <a:defRPr sz="550">
                <a:solidFill>
                  <a:srgbClr val="21242A"/>
                </a:solidFill>
                <a:latin typeface="Microsoft YaHei"/>
              </a:defRPr>
            </a:pPr>
            <a:r>
              <a:t>TCF1+）</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高比例的瘤内 TCF1+ T 淋巴细胞与接受免疫疗法治疗的 R/R PMBCL 患者的优异缓解率和显着延长的生存期密切相关。这些发现支持将 TCF1+ T 细胞评估纳入临床决策，并可能促进 R/R PMBCL 个性化治疗策略的制定。</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结果：各组之间的基线特征是平衡的，包括中位年龄（30 岁与 31 岁）和性别分布（50% 与 47% 女性）。高组中 TCF1+ T 细胞的平均比例为 39.4% ± 5.9%，而正常/低组中为 11.0% ± 4.6%。高 TCF1+ 组的 CD8+ TIL 密度显着更高（1177 ± 262 vs 704</a:t>
            </a:r>
          </a:p>
          <a:p>
            <a:pPr>
              <a:lnSpc>
                <a:spcPct val="103000"/>
              </a:lnSpc>
              <a:spcAft>
                <a:spcPts val="300"/>
              </a:spcAft>
              <a:defRPr sz="560">
                <a:solidFill>
                  <a:srgbClr val="21242A"/>
                </a:solidFill>
                <a:latin typeface="Microsoft YaHei"/>
              </a:defRPr>
            </a:pPr>
            <a:r>
              <a:t> ± 193 个细胞/mm2，p</a:t>
            </a:r>
          </a:p>
          <a:p>
            <a:pPr>
              <a:lnSpc>
                <a:spcPct val="103000"/>
              </a:lnSpc>
              <a:spcAft>
                <a:spcPts val="300"/>
              </a:spcAft>
              <a:defRPr sz="560">
                <a:solidFill>
                  <a:srgbClr val="21242A"/>
                </a:solidFill>
                <a:latin typeface="Microsoft YaHei"/>
              </a:defRPr>
            </a:pPr>
            <a:r>
              <a:t>结论：肿瘤内 TCF1+ T 淋巴细胞比例高与接受免疫疗法治疗的 R/R PMBCL 患者的优异缓解率和显着延长生存期密切相关。这些发现支持将 TCF1+ T 细胞评估纳入临床决策，并可能促进 R/R PMBCL 个性化治疗策略的制定。</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摘要号：PS2123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利用日本多中心注册数据研究青少年和年轻人成熟侵袭性b细胞淋巴瘤的临床和生物学特征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clinical and biological characteristics of mature aggressive b-cell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PS2200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321808"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伯基特淋巴瘤，原发纵隔大B细胞淋巴瘤，大B细胞淋巴瘤，弥漫性大B细胞淋巴瘤</a:t>
            </a:r>
          </a:p>
          <a:p>
            <a:pPr>
              <a:lnSpc>
                <a:spcPct val="103000"/>
              </a:lnSpc>
              <a:spcAft>
                <a:spcPts val="300"/>
              </a:spcAft>
              <a:defRPr sz="800">
                <a:solidFill>
                  <a:srgbClr val="21242A"/>
                </a:solidFill>
                <a:latin typeface="Microsoft YaHei"/>
              </a:defRPr>
            </a:pPr>
            <a:r>
              <a:t>N=114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回顾性临床研究结果：clinical and biological characteristics of mature agg...</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5年总生存率（OS）: DLBCL 87%</a:t>
            </a:r>
          </a:p>
          <a:p>
            <a:pPr>
              <a:lnSpc>
                <a:spcPct val="103000"/>
              </a:lnSpc>
              <a:spcAft>
                <a:spcPts val="300"/>
              </a:spcAft>
              <a:defRPr sz="800">
                <a:solidFill>
                  <a:srgbClr val="21242A"/>
                </a:solidFill>
                <a:latin typeface="Microsoft YaHei"/>
              </a:defRPr>
            </a:pPr>
            <a:r>
              <a:t>5年OS: PMBCL 90%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人数：114</a:t>
            </a:r>
          </a:p>
          <a:p>
            <a:pPr>
              <a:lnSpc>
                <a:spcPct val="103000"/>
              </a:lnSpc>
              <a:spcAft>
                <a:spcPts val="300"/>
              </a:spcAft>
              <a:defRPr sz="810">
                <a:solidFill>
                  <a:srgbClr val="21242A"/>
                </a:solidFill>
                <a:latin typeface="Microsoft YaHei"/>
              </a:defRPr>
            </a:pPr>
            <a:r>
              <a:t>适应症：伯基特淋巴瘤、原发纵隔大B细胞淋巴瘤、大B细胞淋巴瘤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登记号：UMIN000046477</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研究主题：clinical and biological characteristics of mature aggressive b-cell lymphoma in adolescents and young adults using mult...</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利用日本多中心注册数据研究青少年和年轻人成熟侵袭性b细胞淋巴瘤的临床和生物学特征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clinical and biological characteristics of mature aggressive b-cell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PS2200</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PMBCL/特殊亚型</a:t>
            </a:r>
          </a:p>
        </p:txBody>
      </p:sp>
      <p:sp>
        <p:nvSpPr>
          <p:cNvPr id="10" name="TextBox 9"/>
          <p:cNvSpPr txBox="1"/>
          <p:nvPr/>
        </p:nvSpPr>
        <p:spPr>
          <a:xfrm>
            <a:off x="5321808"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背景：患有淋巴瘤的青少年和年轻人 (AYA)（16-39 岁）需要量身定制的治疗策略，以解决独特的分子病理、长期并发症和心理社会因素。然而，由于该年龄组的发病率较低，有关 AYA 侵袭性 B 细胞淋巴瘤 (BCL) 临床和生物学特征的综合数据仍然有限。</a:t>
            </a:r>
          </a:p>
          <a:p>
            <a:pPr>
              <a:lnSpc>
                <a:spcPct val="103000"/>
              </a:lnSpc>
              <a:spcAft>
                <a:spcPts val="300"/>
              </a:spcAft>
              <a:defRPr sz="550">
                <a:solidFill>
                  <a:srgbClr val="21242A"/>
                </a:solidFill>
                <a:latin typeface="Microsoft YaHei"/>
              </a:defRPr>
            </a:pPr>
            <a:r>
              <a:t>目的：阐明 AYA 人群中成熟侵袭性 BCL 的临床、病理和分子状况。</a:t>
            </a:r>
          </a:p>
          <a:p>
            <a:pPr>
              <a:lnSpc>
                <a:spcPct val="103000"/>
              </a:lnSpc>
              <a:spcAft>
                <a:spcPts val="300"/>
              </a:spcAft>
              <a:defRPr sz="550">
                <a:solidFill>
                  <a:srgbClr val="21242A"/>
                </a:solidFill>
                <a:latin typeface="Microsoft YaHei"/>
              </a:defRPr>
            </a:pPr>
            <a:r>
              <a:t>方法：我们研究了 2012 年至 2020 年间诊断为成熟侵袭性 BCL 的 119 例患者。临床和病理数据收集自日本国立医院组织 (NHO) 登记处的 AYA 患者。进行集中病理学检查。使用免疫组织化学 (IHC)、FISH、靶向测序 (TS) 和 RNA 测序 (RNA-seq) 对福尔马林固定石蜡包埋 (FFPE</a:t>
            </a:r>
          </a:p>
          <a:p>
            <a:pPr>
              <a:lnSpc>
                <a:spcPct val="103000"/>
              </a:lnSpc>
              <a:spcAft>
                <a:spcPts val="300"/>
              </a:spcAft>
              <a:defRPr sz="550">
                <a:solidFill>
                  <a:srgbClr val="21242A"/>
                </a:solidFill>
                <a:latin typeface="Microsoft YaHei"/>
              </a:defRPr>
            </a:pPr>
            <a:r>
              <a:t>) 标本进行分析。本研究得到了 NHO 中央研究伦理委员会的批准，并按照日本生命科学和医学研究伦理指南 (UMIN000046477) 进行。</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AYA 成熟的侵袭性 BCL 表现出显着的分子和组织学异质性，这可能是该年龄组所独有的。尽管 AYA 人群中侵袭性 BCL 的总体预后相对较好，但通过综合 TS、RNA-seq 和组织学分析识别高风险或生物学上不同的亚群，强调了在该人群中进行更精确治疗分层的潜力。</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5年总生存率（OS）</a:t>
                      </a:r>
                    </a:p>
                  </a:txBody>
                  <a:tcPr>
                    <a:solidFill>
                      <a:srgbClr val="F6F8FB"/>
                    </a:solidFill>
                  </a:tcPr>
                </a:tc>
                <a:tc>
                  <a:txBody>
                    <a:bodyPr wrap="square" lIns="36576" rIns="36576" tIns="18288" bIns="18288"/>
                    <a:lstStyle/>
                    <a:p>
                      <a:r>
                        <a:rPr sz="540" b="0">
                          <a:solidFill>
                            <a:srgbClr val="21242A"/>
                          </a:solidFill>
                          <a:latin typeface="Microsoft YaHei"/>
                        </a:rPr>
                        <a:t>DLBCL 87%</a:t>
                      </a:r>
                    </a:p>
                  </a:txBody>
                  <a:tcPr>
                    <a:solidFill>
                      <a:srgbClr val="F6F8FB"/>
                    </a:solidFill>
                  </a:tcPr>
                </a:tc>
              </a:tr>
              <a:tr h="249936">
                <a:tc>
                  <a:txBody>
                    <a:bodyPr wrap="square" lIns="36576" rIns="36576" tIns="18288" bIns="18288"/>
                    <a:lstStyle/>
                    <a:p>
                      <a:r>
                        <a:rPr sz="540" b="1">
                          <a:solidFill>
                            <a:srgbClr val="21242A"/>
                          </a:solidFill>
                          <a:latin typeface="Microsoft YaHei"/>
                        </a:rPr>
                        <a:t>5年OS</a:t>
                      </a:r>
                    </a:p>
                  </a:txBody>
                  <a:tcPr>
                    <a:solidFill>
                      <a:srgbClr val="FFFFFF"/>
                    </a:solidFill>
                  </a:tcPr>
                </a:tc>
                <a:tc>
                  <a:txBody>
                    <a:bodyPr wrap="square" lIns="36576" rIns="36576" tIns="18288" bIns="18288"/>
                    <a:lstStyle/>
                    <a:p>
                      <a:r>
                        <a:rPr sz="540" b="0">
                          <a:solidFill>
                            <a:srgbClr val="21242A"/>
                          </a:solidFill>
                          <a:latin typeface="Microsoft YaHei"/>
                        </a:rPr>
                        <a:t>PMBCL 90%</a:t>
                      </a:r>
                    </a:p>
                  </a:txBody>
                  <a:tcPr>
                    <a:solidFill>
                      <a:srgbClr val="FFFFFF"/>
                    </a:solidFill>
                  </a:tcPr>
                </a:tc>
              </a:tr>
              <a:tr h="249936">
                <a:tc>
                  <a:txBody>
                    <a:bodyPr wrap="square" lIns="36576" rIns="36576" tIns="18288" bIns="18288"/>
                    <a:lstStyle/>
                    <a:p>
                      <a:r>
                        <a:rPr sz="540" b="1">
                          <a:solidFill>
                            <a:srgbClr val="21242A"/>
                          </a:solidFill>
                          <a:latin typeface="Microsoft YaHei"/>
                        </a:rPr>
                        <a:t>5年OS</a:t>
                      </a:r>
                    </a:p>
                  </a:txBody>
                  <a:tcPr>
                    <a:solidFill>
                      <a:srgbClr val="F6F8FB"/>
                    </a:solidFill>
                  </a:tcPr>
                </a:tc>
                <a:tc>
                  <a:txBody>
                    <a:bodyPr wrap="square" lIns="36576" rIns="36576" tIns="18288" bIns="18288"/>
                    <a:lstStyle/>
                    <a:p>
                      <a:r>
                        <a:rPr sz="540" b="0">
                          <a:solidFill>
                            <a:srgbClr val="21242A"/>
                          </a:solidFill>
                          <a:latin typeface="Microsoft YaHei"/>
                        </a:rPr>
                        <a:t>BL 55%</a:t>
                      </a:r>
                    </a:p>
                  </a:txBody>
                  <a:tcPr>
                    <a:solidFill>
                      <a:srgbClr val="F6F8FB"/>
                    </a:solidFill>
                  </a:tcPr>
                </a:tc>
              </a:tr>
              <a:tr h="249936">
                <a:tc>
                  <a:txBody>
                    <a:bodyPr wrap="square" lIns="36576" rIns="36576" tIns="18288" bIns="18288"/>
                    <a:lstStyle/>
                    <a:p>
                      <a:r>
                        <a:rPr sz="540" b="1">
                          <a:solidFill>
                            <a:srgbClr val="21242A"/>
                          </a:solidFill>
                          <a:latin typeface="Microsoft YaHei"/>
                        </a:rPr>
                        <a:t>5年OS</a:t>
                      </a:r>
                    </a:p>
                  </a:txBody>
                  <a:tcPr>
                    <a:solidFill>
                      <a:srgbClr val="FFFFFF"/>
                    </a:solidFill>
                  </a:tcPr>
                </a:tc>
                <a:tc>
                  <a:txBody>
                    <a:bodyPr wrap="square" lIns="36576" rIns="36576" tIns="18288" bIns="18288"/>
                    <a:lstStyle/>
                    <a:p>
                      <a:r>
                        <a:rPr sz="540" b="0">
                          <a:solidFill>
                            <a:srgbClr val="21242A"/>
                          </a:solidFill>
                          <a:latin typeface="Microsoft YaHei"/>
                        </a:rPr>
                        <a:t>HGBL 100%</a:t>
                      </a:r>
                    </a:p>
                  </a:txBody>
                  <a:tcPr>
                    <a:solidFill>
                      <a:srgbClr val="FFFFFF"/>
                    </a:solidFill>
                  </a:tcPr>
                </a:tc>
              </a:tr>
              <a:tr h="249936">
                <a:tc>
                  <a:txBody>
                    <a:bodyPr wrap="square" lIns="36576" rIns="36576" tIns="18288" bIns="18288"/>
                    <a:lstStyle/>
                    <a:p>
                      <a:r>
                        <a:rPr sz="540" b="1">
                          <a:solidFill>
                            <a:srgbClr val="21242A"/>
                          </a:solidFill>
                          <a:latin typeface="Microsoft YaHei"/>
                        </a:rPr>
                        <a:t>RNA-seq分组5年OS</a:t>
                      </a:r>
                    </a:p>
                  </a:txBody>
                  <a:tcPr>
                    <a:solidFill>
                      <a:srgbClr val="F6F8FB"/>
                    </a:solidFill>
                  </a:tcPr>
                </a:tc>
                <a:tc>
                  <a:txBody>
                    <a:bodyPr wrap="square" lIns="36576" rIns="36576" tIns="18288" bIns="18288"/>
                    <a:lstStyle/>
                    <a:p>
                      <a:r>
                        <a:rPr sz="540" b="0">
                          <a:solidFill>
                            <a:srgbClr val="21242A"/>
                          </a:solidFill>
                          <a:latin typeface="Microsoft YaHei"/>
                        </a:rPr>
                        <a:t>Group 1 100%, Group 2 100%, Group 3 50%, Group 4 100%</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摘要号：PS2200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疾病场景：PMBCL/特殊亚型</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持续几秒钟：第二次cd19 car t细胞输注后的临床结果和反应预测因素</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going for seconds: clinical outcomes and response predictors following second...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PF1257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B细胞急性淋巴细胞白血病，弥漫性大B细胞淋巴瘤，滤泡性淋巴瘤</a:t>
            </a:r>
          </a:p>
          <a:p>
            <a:pPr>
              <a:lnSpc>
                <a:spcPct val="103000"/>
              </a:lnSpc>
              <a:spcAft>
                <a:spcPts val="300"/>
              </a:spcAft>
              <a:defRPr sz="800">
                <a:solidFill>
                  <a:srgbClr val="21242A"/>
                </a:solidFill>
                <a:latin typeface="Microsoft YaHei"/>
              </a:defRPr>
            </a:pPr>
            <a:r>
              <a:t>N=12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Lisocabtagene maraleucel</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最佳总体缓解率（ORR）：91%（完全缓解58%，部分缓解33%）</a:t>
            </a:r>
          </a:p>
          <a:p>
            <a:pPr>
              <a:lnSpc>
                <a:spcPct val="103000"/>
              </a:lnSpc>
              <a:spcAft>
                <a:spcPts val="300"/>
              </a:spcAft>
              <a:defRPr sz="800">
                <a:solidFill>
                  <a:srgbClr val="21242A"/>
                </a:solidFill>
                <a:latin typeface="Microsoft YaHei"/>
              </a:defRPr>
            </a:pPr>
            <a:r>
              <a:t>中位无进展生存期（PFS）：9.2个月（范围0.9–58.7）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人数：12</a:t>
            </a:r>
          </a:p>
          <a:p>
            <a:pPr>
              <a:lnSpc>
                <a:spcPct val="103000"/>
              </a:lnSpc>
              <a:spcAft>
                <a:spcPts val="300"/>
              </a:spcAft>
              <a:defRPr sz="810">
                <a:solidFill>
                  <a:srgbClr val="21242A"/>
                </a:solidFill>
                <a:latin typeface="Microsoft YaHei"/>
              </a:defRPr>
            </a:pPr>
            <a:r>
              <a:t>适应症：B细胞急性淋巴细胞白血病、弥漫性大B细胞淋巴瘤、滤泡性淋巴瘤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试验药/方案：阿基仑赛、Lisocabtagene maraleucel、Tisagenlecleucel、zorpocabtagene autoleucel</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持续几秒钟：第二次cd19 car t细胞输注后的临床结果和反应预测因素</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going for seconds: clinical outcomes and response predictors following second...</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PF1257</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169/187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背景：CD19 定向 CAR T 细胞疗法已经改变了复发或难治性 B 细胞恶性肿瘤的治疗结果。然而，相当一部分患者在对 CAR T 细胞疗法 (CAR1) 产生初步反应后复发，并且进展后的预后仍然很差。在选定的晚期复发患者中，回输第二袋冷冻保存的相同 CAR-T 产品 (CAR2) 已被用作挽救策略。这种方法可以询问疾</a:t>
            </a:r>
          </a:p>
          <a:p>
            <a:pPr>
              <a:lnSpc>
                <a:spcPct val="103000"/>
              </a:lnSpc>
              <a:spcAft>
                <a:spcPts val="300"/>
              </a:spcAft>
              <a:defRPr sz="550">
                <a:solidFill>
                  <a:srgbClr val="21242A"/>
                </a:solidFill>
                <a:latin typeface="Microsoft YaHei"/>
              </a:defRPr>
            </a:pPr>
            <a:r>
              <a:t>病和宿主对同一 CART 产品恢复敏感性的内在决定因素。然而，临床经验仍然有限，并且对 CAR2 后差异结果背后的生物学因素知之甚少。目的：我们试图通过对比持久缓解者与经历反复复发的患者来确定恢复对 CAR2 治疗敏感性的决定因素。方法：我们对接受 CAR2 输注的 CAR1 后复发的 B 细胞恶性肿瘤成人进行了一项多</a:t>
            </a:r>
          </a:p>
          <a:p>
            <a:pPr>
              <a:lnSpc>
                <a:spcPct val="103000"/>
              </a:lnSpc>
              <a:spcAft>
                <a:spcPts val="300"/>
              </a:spcAft>
              <a:defRPr sz="550">
                <a:solidFill>
                  <a:srgbClr val="21242A"/>
                </a:solidFill>
                <a:latin typeface="Microsoft YaHei"/>
              </a:defRPr>
            </a:pPr>
            <a:r>
              <a:t>中心回顾性观察队列研究。纳入了 12 名患者（DLBCL n=7、FL n=1、B-ALL n=4），接受 axi-cel (n=6)、tisa-cel (n=2)、liso-cel (n=1) 或 MB-CART19.1 (n=3) 治疗。</a:t>
            </a:r>
          </a:p>
          <a:p>
            <a:pPr>
              <a:lnSpc>
                <a:spcPct val="103000"/>
              </a:lnSpc>
              <a:spcAft>
                <a:spcPts val="300"/>
              </a:spcAft>
              <a:defRPr sz="550">
                <a:solidFill>
                  <a:srgbClr val="21242A"/>
                </a:solidFill>
                <a:latin typeface="Microsoft YaHei"/>
              </a:defRPr>
            </a:pPr>
            <a:r>
              <a:t>12 名患者中的 10 名收到了 CAR1 之前收集的白细胞分离术产品的备用袋（第二袋）。其余两名患者在 CAR1 后接受了另一轮白细胞分离术。 两次输注捕获的变量包括毒性特征、根据卢加诺标准的最佳反应以及 PFS 和 OS。</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在这个现实世界的队列中，CAR2 似乎是选定患者的可行挽救策略。晚期 CAR1 复发和对 CAR1 更好的反应成为对 CAR2 反应的预测因素。此外，在 CAR2 回输时观察到应答者与无应答者之间的 LDH 水平存在差异，而同一患者体内 CAR1 和 CAR2 之间的毒性严重程度降低。对这些关联背后的生物学机制的进一步</a:t>
            </a:r>
          </a:p>
          <a:p>
            <a:pPr>
              <a:lnSpc>
                <a:spcPct val="103000"/>
              </a:lnSpc>
              <a:spcAft>
                <a:spcPts val="300"/>
              </a:spcAft>
              <a:defRPr sz="570">
                <a:solidFill>
                  <a:srgbClr val="21242A"/>
                </a:solidFill>
                <a:latin typeface="Microsoft YaHei"/>
              </a:defRPr>
            </a:pPr>
            <a:r>
              <a:t>分析正在进行中，并将予以公布。</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最佳总体缓解率（ORR）</a:t>
                      </a:r>
                    </a:p>
                  </a:txBody>
                  <a:tcPr>
                    <a:solidFill>
                      <a:srgbClr val="F6F8FB"/>
                    </a:solidFill>
                  </a:tcPr>
                </a:tc>
                <a:tc>
                  <a:txBody>
                    <a:bodyPr wrap="square" lIns="36576" rIns="36576" tIns="18288" bIns="18288"/>
                    <a:lstStyle/>
                    <a:p>
                      <a:r>
                        <a:rPr sz="540" b="0">
                          <a:solidFill>
                            <a:srgbClr val="21242A"/>
                          </a:solidFill>
                          <a:latin typeface="Microsoft YaHei"/>
                        </a:rPr>
                        <a:t>91%（完全缓解58%，部分缓解33%）</a:t>
                      </a:r>
                    </a:p>
                  </a:txBody>
                  <a:tcPr>
                    <a:solidFill>
                      <a:srgbClr val="F6F8FB"/>
                    </a:solidFill>
                  </a:tcPr>
                </a:tc>
              </a:tr>
              <a:tr h="299923">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9.2个月（范围0.9–58.7）</a:t>
                      </a:r>
                    </a:p>
                  </a:txBody>
                  <a:tcPr>
                    <a:solidFill>
                      <a:srgbClr val="FFFFFF"/>
                    </a:solidFill>
                  </a:tcPr>
                </a:tc>
              </a:tr>
              <a:tr h="299923">
                <a:tc>
                  <a:txBody>
                    <a:bodyPr wrap="square" lIns="36576" rIns="36576" tIns="18288" bIns="18288"/>
                    <a:lstStyle/>
                    <a:p>
                      <a:r>
                        <a:rPr sz="540" b="1">
                          <a:solidFill>
                            <a:srgbClr val="21242A"/>
                          </a:solidFill>
                          <a:latin typeface="Microsoft YaHei"/>
                        </a:rPr>
                        <a:t>中位随访时间</a:t>
                      </a:r>
                    </a:p>
                  </a:txBody>
                  <a:tcPr>
                    <a:solidFill>
                      <a:srgbClr val="F6F8FB"/>
                    </a:solidFill>
                  </a:tcPr>
                </a:tc>
                <a:tc>
                  <a:txBody>
                    <a:bodyPr wrap="square" lIns="36576" rIns="36576" tIns="18288" bIns="18288"/>
                    <a:lstStyle/>
                    <a:p>
                      <a:r>
                        <a:rPr sz="540" b="0">
                          <a:solidFill>
                            <a:srgbClr val="21242A"/>
                          </a:solidFill>
                          <a:latin typeface="Microsoft YaHei"/>
                        </a:rPr>
                        <a:t>11.9个月（范围0.9–58.7）</a:t>
                      </a:r>
                    </a:p>
                  </a:txBody>
                  <a:tcPr>
                    <a:solidFill>
                      <a:srgbClr val="F6F8FB"/>
                    </a:solidFill>
                  </a:tcPr>
                </a:tc>
              </a:tr>
              <a:tr h="299924">
                <a:tc>
                  <a:txBody>
                    <a:bodyPr wrap="square" lIns="36576" rIns="36576" tIns="18288" bIns="18288"/>
                    <a:lstStyle/>
                    <a:p>
                      <a:r>
                        <a:rPr sz="540" b="1">
                          <a:solidFill>
                            <a:srgbClr val="21242A"/>
                          </a:solidFill>
                          <a:latin typeface="Microsoft YaHei"/>
                        </a:rPr>
                        <a:t>死亡人数</a:t>
                      </a:r>
                    </a:p>
                  </a:txBody>
                  <a:tcPr>
                    <a:solidFill>
                      <a:srgbClr val="FFFFFF"/>
                    </a:solidFill>
                  </a:tcPr>
                </a:tc>
                <a:tc>
                  <a:txBody>
                    <a:bodyPr wrap="square" lIns="36576" rIns="36576" tIns="18288" bIns="18288"/>
                    <a:lstStyle/>
                    <a:p>
                      <a:r>
                        <a:rPr sz="540" b="0">
                          <a:solidFill>
                            <a:srgbClr val="21242A"/>
                          </a:solidFill>
                          <a:latin typeface="Microsoft YaHei"/>
                        </a:rPr>
                        <a:t>7例，其中5例因复发/进展</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摘要号：PF1257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基线中性粒细胞与淋巴细胞比值（nlr）对双特异性抗体治疗后淋巴瘤患者生存结果的影响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baseline neutrophil-to-lymphocyte ratio (nlr) on survival outcomes...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弥漫性大B细胞淋巴瘤，滤泡性淋巴瘤</a:t>
            </a:r>
          </a:p>
          <a:p>
            <a:pPr>
              <a:lnSpc>
                <a:spcPct val="103000"/>
              </a:lnSpc>
              <a:spcAft>
                <a:spcPts val="300"/>
              </a:spcAft>
              <a:defRPr sz="800">
                <a:solidFill>
                  <a:srgbClr val="21242A"/>
                </a:solidFill>
                <a:latin typeface="Microsoft YaHei"/>
              </a:defRPr>
            </a:pPr>
            <a:r>
              <a:t>N=494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试验药/方案：艾可瑞妥单抗</a:t>
            </a:r>
          </a:p>
          <a:p>
            <a:pPr>
              <a:lnSpc>
                <a:spcPct val="103000"/>
              </a:lnSpc>
              <a:spcAft>
                <a:spcPts val="300"/>
              </a:spcAft>
              <a:defRPr sz="800">
                <a:solidFill>
                  <a:srgbClr val="21242A"/>
                </a:solidFill>
                <a:latin typeface="Microsoft YaHei"/>
              </a:defRPr>
            </a:pPr>
            <a:r>
              <a:t>格菲妥单抗</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中位无进展生存期（PFS）：总体6.2个月</a:t>
            </a:r>
          </a:p>
          <a:p>
            <a:pPr>
              <a:lnSpc>
                <a:spcPct val="103000"/>
              </a:lnSpc>
              <a:spcAft>
                <a:spcPts val="300"/>
              </a:spcAft>
              <a:defRPr sz="800">
                <a:solidFill>
                  <a:srgbClr val="21242A"/>
                </a:solidFill>
                <a:latin typeface="Microsoft YaHei"/>
              </a:defRPr>
            </a:pPr>
            <a:r>
              <a:t>高NLR组（&gt;5.0）3.8个月 vs 低NLR组12.1个月，HR=1.45（95%CI 1.1-1.8，p&lt;0.01）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人数：494</a:t>
            </a:r>
          </a:p>
          <a:p>
            <a:pPr>
              <a:lnSpc>
                <a:spcPct val="103000"/>
              </a:lnSpc>
              <a:spcAft>
                <a:spcPts val="300"/>
              </a:spcAft>
              <a:defRPr sz="810">
                <a:solidFill>
                  <a:srgbClr val="21242A"/>
                </a:solidFill>
                <a:latin typeface="Microsoft YaHei"/>
              </a:defRPr>
            </a:pPr>
            <a:r>
              <a:t>适应症：弥漫性大B细胞淋巴瘤、滤泡性淋巴瘤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试验药/方案：艾可瑞妥单抗、格菲妥单抗、莫妥珠单抗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基线中性粒细胞与淋巴细胞比值（nlr）对双特异性抗体治疗后淋巴瘤患者生存结果的影响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impact of baseline neutrophil-to-lymphocyte ratio (nlr) on survival outcomes...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背景：双特异性抗体 (BsAb) 被批准用于治疗复发/难治性 (R/R) 滤泡性淋巴瘤 (FL) 和弥漫性大 B 细胞淋巴瘤 (DLBCL)，利用 T 细胞介导抗肿瘤活性。 T 细胞适应性和免疫抑制肿瘤微环境可能会影响治疗反应和结果。</a:t>
            </a:r>
          </a:p>
          <a:p>
            <a:pPr>
              <a:lnSpc>
                <a:spcPct val="103000"/>
              </a:lnSpc>
              <a:spcAft>
                <a:spcPts val="300"/>
              </a:spcAft>
              <a:defRPr sz="550">
                <a:solidFill>
                  <a:srgbClr val="21242A"/>
                </a:solidFill>
                <a:latin typeface="Microsoft YaHei"/>
              </a:defRPr>
            </a:pPr>
            <a:r>
              <a:t>NLR 是一种现成的生物标志物，与骨髓细胞的炎症和免疫抑制相关。虽然诊断时 NLR 升高与 DLBCL 的不良预后相关，但其与接受 BsAb 治疗的患者 (pt) 的预后相关性仍不清楚。目的：我们试图评估基线 NLR 是否可以预测 BsAb 疗效，并旨在确定与反应和生存结果相关的 NLR 阈值。方法：我们对 2023 </a:t>
            </a:r>
          </a:p>
          <a:p>
            <a:pPr>
              <a:lnSpc>
                <a:spcPct val="103000"/>
              </a:lnSpc>
              <a:spcAft>
                <a:spcPts val="300"/>
              </a:spcAft>
              <a:defRPr sz="550">
                <a:solidFill>
                  <a:srgbClr val="21242A"/>
                </a:solidFill>
                <a:latin typeface="Microsoft YaHei"/>
              </a:defRPr>
            </a:pPr>
            <a:r>
              <a:t>年至 2026 年间在美国双特异性抗体协作联盟 (CUBIC) 的 10 个中心进行的临床试验之外接受 BsAb（glofitamab (glofit)、epcoritamab (epco) 或 mosunetuzumab (mosu)）的成人 R/R LBCL 患者进行了多中心回顾性研究。疗效结果包括总缓解率（ORR</a:t>
            </a:r>
          </a:p>
          <a:p>
            <a:pPr>
              <a:lnSpc>
                <a:spcPct val="103000"/>
              </a:lnSpc>
              <a:spcAft>
                <a:spcPts val="300"/>
              </a:spcAft>
              <a:defRPr sz="550">
                <a:solidFill>
                  <a:srgbClr val="21242A"/>
                </a:solidFill>
                <a:latin typeface="Microsoft YaHei"/>
              </a:defRPr>
            </a:pPr>
            <a:r>
              <a:t>）、完全缓解率（CRR）、无进展生存期（PFS）和总生存期（OS）。使用 ORR/CRR 的受试者工作特征 (ROC) 曲线分析以及 PFS/OS 的最大选择排名统计来确定最佳 NLR 截止值，并通过 5 倍交叉验证评估性能。</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较高的治疗前 NLR (&gt;5.0) 与接受 BsAb 治疗的患者较差的 PFS 和 OS 相关，与疾病亚型或特定药物无关。与更复杂的 T 细胞表型和功能测定不同，NLR 是一种现成的反应和生存预后标志物。有必要进一步研究驱动无反应者 BsAb 耐药的免疫生物学机制。</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结果：纳入 494 名患者； 68% (n=338) 患有 LBCL/HGBCL（25% 转化），19% FL (n=94)，13% 患有其他组织学 (n=62)。患者接受了 glofit (41%)、epco (35%) 或 mosu (24%)。在 BsAb 出现之前，中位年龄为 69 岁（范围 22-9</a:t>
            </a:r>
          </a:p>
          <a:p>
            <a:pPr>
              <a:lnSpc>
                <a:spcPct val="103000"/>
              </a:lnSpc>
              <a:spcAft>
                <a:spcPts val="300"/>
              </a:spcAft>
              <a:defRPr sz="560">
                <a:solidFill>
                  <a:srgbClr val="21242A"/>
                </a:solidFill>
                <a:latin typeface="Microsoft YaHei"/>
              </a:defRPr>
            </a:pPr>
            <a:r>
              <a:t>3 岁），64% 患有 4 期疾病。治疗前 (tx) 中位 WBC 为 5.4（范围 0.1-205），ANC 为 3.5（范围 0-82），ALC 为 0.70（范围 0-197），NLR 为 10（范围 0-274）。治疗前高 NLR 与低 NLR 的患者之间，年龄、性别、分期、LDH 升高或既往治疗（C</a:t>
            </a:r>
          </a:p>
          <a:p>
            <a:pPr>
              <a:lnSpc>
                <a:spcPct val="103000"/>
              </a:lnSpc>
              <a:spcAft>
                <a:spcPts val="300"/>
              </a:spcAft>
              <a:defRPr sz="560">
                <a:solidFill>
                  <a:srgbClr val="21242A"/>
                </a:solidFill>
                <a:latin typeface="Microsoft YaHei"/>
              </a:defRPr>
            </a:pPr>
            <a:r>
              <a:t>AR-T、自动 SCT、既往治疗线数）之间没有差异。除了高 NLR 患者与低 NLR 患者中 mosu 的使用率较低（13% vs 31%）之外，BsAb 的使用情况相似。在中位随访 13 个月时，所有患者的中位 PFS 和 OS 分别为 6.2 个月和 21.5 个月。高 NLR 的最佳截止值确定为 PFS</a:t>
            </a:r>
          </a:p>
          <a:p>
            <a:pPr>
              <a:lnSpc>
                <a:spcPct val="103000"/>
              </a:lnSpc>
              <a:spcAft>
                <a:spcPts val="300"/>
              </a:spcAft>
              <a:defRPr sz="560">
                <a:solidFill>
                  <a:srgbClr val="21242A"/>
                </a:solidFill>
                <a:latin typeface="Microsoft YaHei"/>
              </a:defRPr>
            </a:pPr>
            <a:r>
              <a:t> 为 5.0，OS 为 5.3。对于高 NLR 和低 NLR 的患者，中位 PFS 和 OS 分别为 3.8 个月和 12.1 个月和 8.8 个月和 21.5 个月。调整基线临床病理变量后，与低 NLR 相比，高 NLR 与较差的 PFS 独立相关（NLR&gt;5.0，HR（完整内容见HTML/EHA原文）</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瑞典一项基于人群的研究：复发/难治性大b细胞淋巴瘤患者接受car-t治疗与自体干细胞移植的感染率以及普通人群的感染率</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infection rates in patients treated with car-t versus autologous stem cell tr...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N=3264</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分组：试验组1：CAR-T治疗</a:t>
            </a:r>
          </a:p>
          <a:p>
            <a:pPr>
              <a:lnSpc>
                <a:spcPct val="103000"/>
              </a:lnSpc>
              <a:spcAft>
                <a:spcPts val="300"/>
              </a:spcAft>
              <a:defRPr sz="800">
                <a:solidFill>
                  <a:srgbClr val="21242A"/>
                </a:solidFill>
                <a:latin typeface="Microsoft YaHei"/>
              </a:defRPr>
            </a:pPr>
            <a:r>
              <a:t>对照组1：自体干细胞移植（ASCT）</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对照/比较：试验组1：CAR-T治疗</a:t>
            </a:r>
          </a:p>
          <a:p>
            <a:pPr>
              <a:lnSpc>
                <a:spcPct val="103000"/>
              </a:lnSpc>
              <a:spcAft>
                <a:spcPts val="300"/>
              </a:spcAft>
              <a:defRPr sz="800">
                <a:solidFill>
                  <a:srgbClr val="21242A"/>
                </a:solidFill>
                <a:latin typeface="Microsoft YaHei"/>
              </a:defRPr>
            </a:pPr>
            <a:r>
              <a:t>对照组1：自体干细胞移植（ASCT）</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总体感染发生率（每人年）：CAR-T组2.96 (2.63-3.32)，ASCT组1.05 (0.96-1.15)，一般人群0...</a:t>
            </a:r>
          </a:p>
          <a:p>
            <a:pPr>
              <a:lnSpc>
                <a:spcPct val="103000"/>
              </a:lnSpc>
              <a:spcAft>
                <a:spcPts val="300"/>
              </a:spcAft>
              <a:defRPr sz="800">
                <a:solidFill>
                  <a:srgbClr val="21242A"/>
                </a:solidFill>
                <a:latin typeface="Microsoft YaHei"/>
              </a:defRPr>
            </a:pPr>
            <a:r>
              <a:t>CAR-T与ASCT的感染发生率比（IRR）：2.52 (95% CI 2.15-2.96)</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人数：3264</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分组/治疗流程：试验组1：CAR-T治疗、对照组1：自体干细胞移植（ASCT）</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瑞典一项基于人群的研究：复发/难治性大b细胞淋巴瘤患者接受car-t治疗与自体干细胞移植的感染率以及普通人群的感染率</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infection rates in patients treated with car-t versus autologous stem cell tr...</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PS2085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背景：对于接受嵌合抗原受体 T 细胞 (CAR-T) 疗法或自体干细胞移植 (ASCT) 治疗的复发/难治性大 B 细胞淋巴瘤 (R/R LBCL) 患者，感染性疾病是导致非复发死亡 (NRM) 的主要原因。对临床常规治疗的患者和一般人群的感染率进行基于人群的直接比较是有限的。目的：比较接受 CAR-T 治疗的 R/R</a:t>
            </a:r>
          </a:p>
          <a:p>
            <a:pPr>
              <a:lnSpc>
                <a:spcPct val="103000"/>
              </a:lnSpc>
              <a:spcAft>
                <a:spcPts val="300"/>
              </a:spcAft>
              <a:defRPr sz="550">
                <a:solidFill>
                  <a:srgbClr val="21242A"/>
                </a:solidFill>
                <a:latin typeface="Microsoft YaHei"/>
              </a:defRPr>
            </a:pPr>
            <a:r>
              <a:t> LBCL 患者与 ASCT 治疗以及与普通人群的匹配对照患者的感染发生率。方法：通过瑞典淋巴瘤登记处和国家患者登记处 (NPR) 确定 2019 年 9 月至 2024 年 2 月期间接受 CAR-T 或 ASCT 治疗的 LBCL 患者。根据出生年份、性别和 CAR-T/ASCT 年份将患者与普通人群中的对照组进行</a:t>
            </a:r>
          </a:p>
          <a:p>
            <a:pPr>
              <a:lnSpc>
                <a:spcPct val="103000"/>
              </a:lnSpc>
              <a:spcAft>
                <a:spcPts val="300"/>
              </a:spcAft>
              <a:defRPr sz="550">
                <a:solidFill>
                  <a:srgbClr val="21242A"/>
                </a:solidFill>
                <a:latin typeface="Microsoft YaHei"/>
              </a:defRPr>
            </a:pPr>
            <a:r>
              <a:t> 1:10 匹配。根据 NPR 中医院住院和门诊就诊的 ICD-10 代码或国家处方药物登记中抗感染药物（不包括标准预防药物）配发的传染病被计为感染事件。随访从 CAR-T/ASCT（或匹配索引日期）开始，到死亡、同种异体移植、CAR-T/ASCT 之间的治疗转换或行政审查（2024 年 3 月 1 日）结束。</a:t>
            </a:r>
          </a:p>
          <a:p>
            <a:pPr>
              <a:lnSpc>
                <a:spcPct val="103000"/>
              </a:lnSpc>
              <a:spcAft>
                <a:spcPts val="300"/>
              </a:spcAft>
              <a:defRPr sz="550">
                <a:solidFill>
                  <a:srgbClr val="21242A"/>
                </a:solidFill>
                <a:latin typeface="Microsoft YaHei"/>
              </a:defRPr>
            </a:pPr>
            <a:r>
              <a:t>使用具有对数人时偏移和稳健标准误的泊松回归来估计感染发生率（IR）和发生率比率（IRR）。使用限制三次样条对自治疗以来的时间进行建模。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与 ASCT 和一般人群相比，接受 CAR-T 治疗的 R/R LBCL 患者的感染率高出数倍。 CAR-T 治疗后，较高的感染发生率似乎持续了至少四年。</a:t>
            </a:r>
          </a:p>
          <a:p>
            <a:pPr>
              <a:lnSpc>
                <a:spcPct val="103000"/>
              </a:lnSpc>
              <a:spcAft>
                <a:spcPts val="300"/>
              </a:spcAft>
              <a:defRPr sz="570">
                <a:solidFill>
                  <a:srgbClr val="21242A"/>
                </a:solidFill>
                <a:latin typeface="Microsoft YaHei"/>
              </a:defRPr>
            </a:pPr>
            <a:r>
              <a:t>CAR-T 患者感染风险延长的一个假设机制可能是功能性 CAR-T 细胞的持续存在和无复发患者的脱靶 B 细胞再生障碍。正如预期的那样，ASCT 患者 NRM 的主要原因是感染。与之前的研究相反，CAR-T 治疗后没有出现因感染而死亡的情况。这可能是由于免疫球蛋白治疗的使用增加或感染并发症的管理得到改善。</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总体感染发生率（每人年）</a:t>
                      </a:r>
                    </a:p>
                  </a:txBody>
                  <a:tcPr>
                    <a:solidFill>
                      <a:srgbClr val="F6F8FB"/>
                    </a:solidFill>
                  </a:tcPr>
                </a:tc>
                <a:tc>
                  <a:txBody>
                    <a:bodyPr wrap="square" lIns="36576" rIns="36576" tIns="18288" bIns="18288"/>
                    <a:lstStyle/>
                    <a:p>
                      <a:r>
                        <a:rPr sz="540" b="0">
                          <a:solidFill>
                            <a:srgbClr val="21242A"/>
                          </a:solidFill>
                          <a:latin typeface="Microsoft YaHei"/>
                        </a:rPr>
                        <a:t>CAR-T组2.96 (2.63-3.32)，ASCT组1.05 (0.96-1.15)，一般人群0.28 (0.26-0.29)</a:t>
                      </a:r>
                    </a:p>
                  </a:txBody>
                  <a:tcPr>
                    <a:solidFill>
                      <a:srgbClr val="F6F8FB"/>
                    </a:solidFill>
                  </a:tcPr>
                </a:tc>
              </a:tr>
              <a:tr h="249936">
                <a:tc>
                  <a:txBody>
                    <a:bodyPr wrap="square" lIns="36576" rIns="36576" tIns="18288" bIns="18288"/>
                    <a:lstStyle/>
                    <a:p>
                      <a:r>
                        <a:rPr sz="540" b="1">
                          <a:solidFill>
                            <a:srgbClr val="21242A"/>
                          </a:solidFill>
                          <a:latin typeface="Microsoft YaHei"/>
                        </a:rPr>
                        <a:t>CAR-T与ASCT的感染发生率比（IRR）</a:t>
                      </a:r>
                    </a:p>
                  </a:txBody>
                  <a:tcPr>
                    <a:solidFill>
                      <a:srgbClr val="FFFFFF"/>
                    </a:solidFill>
                  </a:tcPr>
                </a:tc>
                <a:tc>
                  <a:txBody>
                    <a:bodyPr wrap="square" lIns="36576" rIns="36576" tIns="18288" bIns="18288"/>
                    <a:lstStyle/>
                    <a:p>
                      <a:r>
                        <a:rPr sz="540" b="0">
                          <a:solidFill>
                            <a:srgbClr val="21242A"/>
                          </a:solidFill>
                          <a:latin typeface="Microsoft YaHei"/>
                        </a:rPr>
                        <a:t>2.52 (95% CI 2.15-2.96)</a:t>
                      </a:r>
                    </a:p>
                  </a:txBody>
                  <a:tcPr>
                    <a:solidFill>
                      <a:srgbClr val="FFFFFF"/>
                    </a:solidFill>
                  </a:tcPr>
                </a:tc>
              </a:tr>
              <a:tr h="249936">
                <a:tc>
                  <a:txBody>
                    <a:bodyPr wrap="square" lIns="36576" rIns="36576" tIns="18288" bIns="18288"/>
                    <a:lstStyle/>
                    <a:p>
                      <a:r>
                        <a:rPr sz="540" b="1">
                          <a:solidFill>
                            <a:srgbClr val="21242A"/>
                          </a:solidFill>
                          <a:latin typeface="Microsoft YaHei"/>
                        </a:rPr>
                        <a:t>CAR-T与一般人群的IRR</a:t>
                      </a:r>
                    </a:p>
                  </a:txBody>
                  <a:tcPr>
                    <a:solidFill>
                      <a:srgbClr val="F6F8FB"/>
                    </a:solidFill>
                  </a:tcPr>
                </a:tc>
                <a:tc>
                  <a:txBody>
                    <a:bodyPr wrap="square" lIns="36576" rIns="36576" tIns="18288" bIns="18288"/>
                    <a:lstStyle/>
                    <a:p>
                      <a:r>
                        <a:rPr sz="540" b="0">
                          <a:solidFill>
                            <a:srgbClr val="21242A"/>
                          </a:solidFill>
                          <a:latin typeface="Microsoft YaHei"/>
                        </a:rPr>
                        <a:t>9.26 (95% CI 7.96-10.76)</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最常见感染类型均为细菌感染，病毒和真菌感染在CAR-T和ASCT组更常见</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淋巴瘤复发是CAR-T（96%）和ASCT（76%）患者的主要死因；感染是ASCT患者非复发死亡的主要原因（14%），CAR-T患者无感染相关死亡</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摘要号：PS2085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glofitamab联合吉西他滨和奥沙利铂治疗复发/难治性大b细胞淋巴瘤的实际结果：一项欧洲多中心队列研究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outcomes of glofitamab plus gemcitabine and oxaliplatin in relapse...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N=149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吉西他滨</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总缓解率（BOR）61.1%（CR 28.9%，PR 32.2%）</a:t>
            </a:r>
          </a:p>
          <a:p>
            <a:pPr>
              <a:lnSpc>
                <a:spcPct val="103000"/>
              </a:lnSpc>
              <a:spcAft>
                <a:spcPts val="300"/>
              </a:spcAft>
              <a:defRPr sz="800">
                <a:solidFill>
                  <a:srgbClr val="21242A"/>
                </a:solidFill>
                <a:latin typeface="Microsoft YaHei"/>
              </a:defRPr>
            </a:pPr>
            <a:r>
              <a:t>中位无进展生存期（PFS）13.2个月</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人数：149</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试验药/方案：格菲妥单抗、吉西他滨、奥沙利铂</a:t>
            </a:r>
          </a:p>
          <a:p>
            <a:pPr>
              <a:lnSpc>
                <a:spcPct val="103000"/>
              </a:lnSpc>
              <a:spcAft>
                <a:spcPts val="300"/>
              </a:spcAft>
              <a:defRPr sz="810">
                <a:solidFill>
                  <a:srgbClr val="21242A"/>
                </a:solidFill>
                <a:latin typeface="Microsoft YaHei"/>
              </a:defRPr>
            </a:pPr>
            <a:r>
              <a:t>靶点：CD20、CD3、RNR、DNA</a:t>
            </a:r>
          </a:p>
          <a:p>
            <a:pPr>
              <a:lnSpc>
                <a:spcPct val="103000"/>
              </a:lnSpc>
              <a:spcAft>
                <a:spcPts val="300"/>
              </a:spcAft>
              <a:defRPr sz="810">
                <a:solidFill>
                  <a:srgbClr val="21242A"/>
                </a:solidFill>
                <a:latin typeface="Microsoft YaHei"/>
              </a:defRPr>
            </a:pPr>
            <a:r>
              <a:t>药物/技术类别：双特异性抗体、化药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glofitamab联合吉西他滨和奥沙利铂治疗复发/难治性大b细胞淋巴瘤的实际结果：一项欧洲多中心队列研究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outcomes of glofitamab plus gemcitabine and oxaliplatin in relapse...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PS2074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背景：*吉西他滨和奥沙利铂联合格洛菲他滨（Glo-Gem-Ox，STARGLO 方案）现已在欧洲获批用于治疗复发/难治性 (r/r) 弥漫性大 B 细胞淋巴瘤 (DLBCL)。然而，关于该方案的现实世界证据很少，并且重要的亚组，例如转化惰性淋巴瘤或双重打击（DH）淋巴瘤未包括在私人试验中。</a:t>
            </a:r>
          </a:p>
          <a:p>
            <a:pPr>
              <a:lnSpc>
                <a:spcPct val="103000"/>
              </a:lnSpc>
              <a:spcAft>
                <a:spcPts val="300"/>
              </a:spcAft>
              <a:defRPr sz="550">
                <a:solidFill>
                  <a:srgbClr val="21242A"/>
                </a:solidFill>
                <a:latin typeface="Microsoft YaHei"/>
              </a:defRPr>
            </a:pPr>
            <a:r>
              <a:t>目的：评估接受 Glo-Gem-Ox 治疗的多中心现实世界队列的反应、无进展生存期 (PFS)、总生存期 (OS)、安全性/毒性和桥接意图，包括转化的低度淋巴瘤和 DH 淋巴瘤。</a:t>
            </a:r>
          </a:p>
          <a:p>
            <a:pPr>
              <a:lnSpc>
                <a:spcPct val="103000"/>
              </a:lnSpc>
              <a:spcAft>
                <a:spcPts val="300"/>
              </a:spcAft>
              <a:defRPr sz="550">
                <a:solidFill>
                  <a:srgbClr val="21242A"/>
                </a:solidFill>
                <a:latin typeface="Microsoft YaHei"/>
              </a:defRPr>
            </a:pPr>
            <a:r>
              <a:t>方法：我们回顾性分析了多个欧洲中心接受 Glo-Gem-Ox 治疗的连续 149 名 r/r LBCL 患者。根据记录的组织病理学诊断，纳入转化的低级别病例和 DH 病例。基线特征包括年龄、安娜堡分期、LDH、IPI、既往治疗线数量和既往 CAR-T 治疗。最佳总体缓解（BOR）分为CR（包括代谢CR）和PR。</a:t>
            </a:r>
          </a:p>
          <a:p>
            <a:pPr>
              <a:lnSpc>
                <a:spcPct val="103000"/>
              </a:lnSpc>
              <a:spcAft>
                <a:spcPts val="300"/>
              </a:spcAft>
              <a:defRPr sz="550">
                <a:solidFill>
                  <a:srgbClr val="21242A"/>
                </a:solidFill>
                <a:latin typeface="Microsoft YaHei"/>
              </a:defRPr>
            </a:pPr>
            <a:r>
              <a:t>PFS 的计算是从治疗开始到记录的 PD 或任何原因的死亡。总生存期 (OS) 定义为从治疗开始到因任何原因死亡的时间，并使用 Kaplan-Meier 方法进行估计。使用反向 Kaplan-Meier 方法估计中位随访时间。</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尽管在这个高风险的现实世界 r/r LBCL 队列（包括被排除在关键试验之外的转化病例和 DH 病例）中进行了短暂的随访，但 Glo-Gem-Ox 表现出高反应率和有希望的结果。该治疗经常用作 CART-T 或 alloPBSCT 的桥接疗法。这些发现支持其在日常实践中的相关性并值得进一步评估。</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总缓解率（BOR）61.1%（CR 28.9%，PR 32.2%）</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中位无进展生存期（PFS）13.2个月</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任何级别细胞因子释放综合征（CRS）发生率51%（≥3级5%）</a:t>
                      </a:r>
                    </a:p>
                  </a:txBody>
                  <a:tcPr>
                    <a:solidFill>
                      <a:srgbClr val="F6F8FB"/>
                    </a:solidFill>
                  </a:tcPr>
                </a:tc>
              </a:tr>
              <a:tr h="2499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免疫效应细胞相关神经毒性综合征（ICANS）发生率11.1%（≥3级2.8%）</a:t>
                      </a:r>
                    </a:p>
                  </a:txBody>
                  <a:tcPr>
                    <a:solidFill>
                      <a:srgbClr val="FFFFFF"/>
                    </a:solidFill>
                  </a:tcPr>
                </a:tc>
              </a:tr>
              <a:tr h="249936">
                <a:tc>
                  <a:txBody>
                    <a:bodyPr wrap="square" lIns="36576" rIns="36576" tIns="18288" bIns="18288"/>
                    <a:lstStyle/>
                    <a:p>
                      <a:r>
                        <a:rPr sz="540" b="1">
                          <a:solidFill>
                            <a:srgbClr val="21242A"/>
                          </a:solidFill>
                          <a:latin typeface="Microsoft YaHei"/>
                        </a:rPr>
                        <a:t>结果</a:t>
                      </a:r>
                    </a:p>
                  </a:txBody>
                  <a:tcPr>
                    <a:solidFill>
                      <a:srgbClr val="F6F8FB"/>
                    </a:solidFill>
                  </a:tcPr>
                </a:tc>
                <a:tc>
                  <a:txBody>
                    <a:bodyPr wrap="square" lIns="36576" rIns="36576" tIns="18288" bIns="18288"/>
                    <a:lstStyle/>
                    <a:p>
                      <a:r>
                        <a:rPr sz="540" b="0">
                          <a:solidFill>
                            <a:srgbClr val="21242A"/>
                          </a:solidFill>
                          <a:latin typeface="Microsoft YaHei"/>
                        </a:rPr>
                        <a:t>感染发生率43.7%</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摘要号：PS2074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car-ipi的开发和验证，这是一种基于机器学习的复发/难治性大b细胞淋巴瘤预后评分，用抗cd19-cart细胞治疗</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and validation of car-ipi, a machine learning–derived prognostic...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N=2259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试验药/方案：CD19靶向CAR-T(爱康得生物)</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CAR-IPI模型在测试集的表现：</a:t>
            </a:r>
          </a:p>
          <a:p>
            <a:pPr>
              <a:lnSpc>
                <a:spcPct val="103000"/>
              </a:lnSpc>
              <a:spcAft>
                <a:spcPts val="300"/>
              </a:spcAft>
              <a:defRPr sz="800">
                <a:solidFill>
                  <a:srgbClr val="21242A"/>
                </a:solidFill>
                <a:latin typeface="Microsoft YaHei"/>
              </a:defRPr>
            </a:pPr>
            <a:r>
              <a:t>C-index中位数：67.9%（范围67.1-68.2）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人数：2259</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试验药/方案：CD19靶向CAR-T(爱康得生物)</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car-ipi的开发和验证，这是一种基于机器学习的复发/难治性大b细胞淋巴瘤预后评分，用抗cd19-cart细胞治疗</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and validation of car-ipi, a machine learning–derived prognostic...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PF978</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R/R</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背景：抗 CD19 嵌合抗原受体 (19CAR) T 细胞疗法改变了大 B 细胞淋巴瘤 (LBCL) 的预后，但近一半的治疗患者复发。</a:t>
            </a:r>
          </a:p>
          <a:p>
            <a:pPr>
              <a:lnSpc>
                <a:spcPct val="103000"/>
              </a:lnSpc>
              <a:spcAft>
                <a:spcPts val="300"/>
              </a:spcAft>
              <a:defRPr sz="550">
                <a:solidFill>
                  <a:srgbClr val="21242A"/>
                </a:solidFill>
                <a:latin typeface="Microsoft YaHei"/>
              </a:defRPr>
            </a:pPr>
            <a:r>
              <a:t>19CAR T 细胞的反应和存活率受到患者、肿瘤和治疗相关因素的影响。然而，目前还没有经过验证的预后评分可以识别处于进展或复发高风险的患者。目标：开发一个名为 CAR-IPI 的稳健的国际预后评分，使用机器学习 (ML) 方法和常规可用的临床和生物学变量，预测 19CAR T 细胞治疗 LBCL 后的无进展生存期 (P</a:t>
            </a:r>
          </a:p>
          <a:p>
            <a:pPr>
              <a:lnSpc>
                <a:spcPct val="103000"/>
              </a:lnSpc>
              <a:spcAft>
                <a:spcPts val="300"/>
              </a:spcAft>
              <a:defRPr sz="550">
                <a:solidFill>
                  <a:srgbClr val="21242A"/>
                </a:solidFill>
                <a:latin typeface="Microsoft YaHei"/>
              </a:defRPr>
            </a:pPr>
            <a:r>
              <a:t>FS)，与 CAR 产品或治疗系列无关。方法：选择来自法国 DESCAR-T 登记处接受 19CAR T 细胞治疗二线或以上 LBCL 的患者 (n=2259)。该队列被随机分为训练组（80%，n=1807）和测试组（20%，n=452）。筛选了十八个临床相关变量。治疗线（第 2 条与第 3 条或更多）和 CAR 产品</a:t>
            </a:r>
          </a:p>
          <a:p>
            <a:pPr>
              <a:lnSpc>
                <a:spcPct val="103000"/>
              </a:lnSpc>
              <a:spcAft>
                <a:spcPts val="300"/>
              </a:spcAft>
              <a:defRPr sz="550">
                <a:solidFill>
                  <a:srgbClr val="21242A"/>
                </a:solidFill>
                <a:latin typeface="Microsoft YaHei"/>
              </a:defRPr>
            </a:pPr>
            <a:r>
              <a:t>组合成单个变量，并作为附加变量或分层添加到模型中。缺失数据在训练和测试集中独立估算 10 次。应用了三种机器学习方法：弹性网 (EN) 惩罚 Cox 模型、随机生存森林 (RSF) 和支持向量机 (SVM)。</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使用机器学习方法，我们开发了 CAR-IPI，这是一种基于淋巴细胞清除时常规可用参数的强大的 10 变量预后评分。</a:t>
            </a:r>
          </a:p>
          <a:p>
            <a:pPr>
              <a:lnSpc>
                <a:spcPct val="103000"/>
              </a:lnSpc>
              <a:spcAft>
                <a:spcPts val="300"/>
              </a:spcAft>
              <a:defRPr sz="570">
                <a:solidFill>
                  <a:srgbClr val="21242A"/>
                </a:solidFill>
                <a:latin typeface="Microsoft YaHei"/>
              </a:defRPr>
            </a:pPr>
            <a:r>
              <a:t>CAR-IPI 及其简化的 4 变量版本均可准确预测 LBCL 19CAR T 细胞治疗后的 PFS，与 CAR 产品和治疗系列无关。该模型优于现有评分（IPI、CAR-HEMATOTOX），并且可以改善风险分层、患者选择和个体化治疗策略。</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结果：EN 模型在内部验证集中表现出最佳区分能力，并保留了 10 个变量：性别、组织学（从头开始与转化）、安娜堡分期、桥接和桥接反应、上次治疗到输注的时间、LDH 比率、铁蛋白、CRP、血红蛋白和中性粒细胞计数（图）。</a:t>
            </a:r>
          </a:p>
          <a:p>
            <a:pPr>
              <a:lnSpc>
                <a:spcPct val="103000"/>
              </a:lnSpc>
              <a:spcAft>
                <a:spcPts val="300"/>
              </a:spcAft>
              <a:defRPr sz="560">
                <a:solidFill>
                  <a:srgbClr val="21242A"/>
                </a:solidFill>
                <a:latin typeface="Microsoft YaHei"/>
              </a:defRPr>
            </a:pPr>
            <a:r>
              <a:t>\n EN 的 C 指数中位数（范围）为 67.9% (67.1–68.2)，RSF 为 67.3% (65.5–68.3)，SVM 为 61.4% (52.4–65.6)（表）。</a:t>
            </a:r>
          </a:p>
          <a:p>
            <a:pPr>
              <a:lnSpc>
                <a:spcPct val="103000"/>
              </a:lnSpc>
              <a:spcAft>
                <a:spcPts val="300"/>
              </a:spcAft>
              <a:defRPr sz="560">
                <a:solidFill>
                  <a:srgbClr val="21242A"/>
                </a:solidFill>
                <a:latin typeface="Microsoft YaHei"/>
              </a:defRPr>
            </a:pPr>
            <a:r>
              <a:t>6 个月时的中位 AUC（范围）分别为 74.3%（73.4-75.4）、72.7%（70.2-74.9）和 65.7%（54.0-70.8）（表）。与 EN 模型相比，IPI 和 CAR-HEMATOTOX 在 6 个月和 12 个月时的 C 指数和 AUC 始终较低（表）。</a:t>
            </a:r>
          </a:p>
          <a:p>
            <a:pPr>
              <a:lnSpc>
                <a:spcPct val="103000"/>
              </a:lnSpc>
              <a:spcAft>
                <a:spcPts val="300"/>
              </a:spcAft>
              <a:defRPr sz="560">
                <a:solidFill>
                  <a:srgbClr val="21242A"/>
                </a:solidFill>
                <a:latin typeface="Microsoft YaHei"/>
              </a:defRPr>
            </a:pPr>
            <a:r>
              <a:t>\n 包括 LDH 比率、CRP、铁蛋白和血红蛋白在内的简化 sCAR-IPI 保持了令人满意的预测性能（表）。 \n 国际队列的外部验证正在进行中，并将在会议上提交。 \n 表。不同预后评分的比较表现。</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摘要号：PF978</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cd19/cd12双特异性car-t细胞治疗后携带癌症易感性基因突变的dlbcl患者继发性外周t细胞淋巴瘤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secondary peripheral t-cell lymphoma in a patient of dlbcl harboring cancer 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大B细胞淋巴瘤</a:t>
            </a:r>
          </a:p>
          <a:p>
            <a:pPr>
              <a:lnSpc>
                <a:spcPct val="103000"/>
              </a:lnSpc>
              <a:spcAft>
                <a:spcPts val="300"/>
              </a:spcAft>
              <a:defRPr sz="800">
                <a:solidFill>
                  <a:srgbClr val="21242A"/>
                </a:solidFill>
                <a:latin typeface="Microsoft YaHei"/>
              </a:defRPr>
            </a:pPr>
            <a:r>
              <a:t>N=1</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试验药/方案：CD19/CD22靶向CAR-T(同仁医院)</a:t>
            </a:r>
          </a:p>
          <a:p>
            <a:pPr>
              <a:lnSpc>
                <a:spcPct val="103000"/>
              </a:lnSpc>
              <a:spcAft>
                <a:spcPts val="300"/>
              </a:spcAft>
              <a:defRPr sz="800">
                <a:solidFill>
                  <a:srgbClr val="21242A"/>
                </a:solidFill>
                <a:latin typeface="Microsoft YaHei"/>
              </a:defRPr>
            </a:pPr>
            <a:r>
              <a:t>靶点：CD19，CD22</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确认克隆起源：T细胞受体（TCR）测序显示CAR-T产物和PTCL组织具有相同的克隆重排（TRBD101/TRBJ2701和T...</a:t>
            </a:r>
          </a:p>
          <a:p>
            <a:pPr>
              <a:lnSpc>
                <a:spcPct val="103000"/>
              </a:lnSpc>
              <a:spcAft>
                <a:spcPts val="300"/>
              </a:spcAft>
              <a:defRPr sz="800">
                <a:solidFill>
                  <a:srgbClr val="21242A"/>
                </a:solidFill>
                <a:latin typeface="Microsoft YaHei"/>
              </a:defRPr>
            </a:pPr>
            <a:r>
              <a:t>基因组分析：全基因组测序发现TET2致病性体细胞突变（p.R1261H, p.E1755），在PTCL中变异等位基因频率更高</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a:t>
            </a:r>
          </a:p>
          <a:p>
            <a:pPr>
              <a:lnSpc>
                <a:spcPct val="103000"/>
              </a:lnSpc>
              <a:spcAft>
                <a:spcPts val="300"/>
              </a:spcAft>
              <a:defRPr sz="810">
                <a:solidFill>
                  <a:srgbClr val="21242A"/>
                </a:solidFill>
                <a:latin typeface="Microsoft YaHei"/>
              </a:defRPr>
            </a:pPr>
            <a:r>
              <a:t>适应症：大B细胞淋巴瘤</a:t>
            </a:r>
          </a:p>
          <a:p>
            <a:pPr>
              <a:lnSpc>
                <a:spcPct val="103000"/>
              </a:lnSpc>
              <a:spcAft>
                <a:spcPts val="300"/>
              </a:spcAft>
              <a:defRPr sz="810">
                <a:solidFill>
                  <a:srgbClr val="21242A"/>
                </a:solidFill>
                <a:latin typeface="Microsoft YaHei"/>
              </a:defRPr>
            </a:pPr>
            <a:r>
              <a:t>治疗线数：二线、三线、末线</a:t>
            </a:r>
          </a:p>
          <a:p>
            <a:pPr>
              <a:lnSpc>
                <a:spcPct val="103000"/>
              </a:lnSpc>
              <a:spcAft>
                <a:spcPts val="300"/>
              </a:spcAft>
              <a:defRPr sz="810">
                <a:solidFill>
                  <a:srgbClr val="21242A"/>
                </a:solidFill>
                <a:latin typeface="Microsoft YaHei"/>
              </a:defRPr>
            </a:pPr>
            <a:r>
              <a:t>登记号：NCT07461831</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试验药/方案：CD19/CD22靶向CAR-T(同仁医院)</a:t>
            </a:r>
          </a:p>
          <a:p>
            <a:pPr>
              <a:lnSpc>
                <a:spcPct val="103000"/>
              </a:lnSpc>
              <a:spcAft>
                <a:spcPts val="300"/>
              </a:spcAft>
              <a:defRPr sz="810">
                <a:solidFill>
                  <a:srgbClr val="21242A"/>
                </a:solidFill>
                <a:latin typeface="Microsoft YaHei"/>
              </a:defRPr>
            </a:pPr>
            <a:r>
              <a:t>靶点：CD19、CD22</a:t>
            </a:r>
          </a:p>
          <a:p>
            <a:pPr>
              <a:lnSpc>
                <a:spcPct val="103000"/>
              </a:lnSpc>
              <a:spcAft>
                <a:spcPts val="300"/>
              </a:spcAft>
              <a:defRPr sz="810">
                <a:solidFill>
                  <a:srgbClr val="21242A"/>
                </a:solidFill>
                <a:latin typeface="Microsoft YaHei"/>
              </a:defRPr>
            </a:pPr>
            <a:r>
              <a:t>药物/技术类别：CAR-T、自体细胞、经基因修饰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cd19/cd12双特异性car-t细胞治疗后携带癌症易感性基因突变的dlbcl患者继发性外周t细胞淋巴瘤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secondary peripheral t-cell lymphoma in a patient of dlbcl harboring cancer 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PF1246</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背景：嵌合抗原受体 (CAR)-T 细胞疗法彻底改变了复发/难治性 B 细胞恶性肿瘤的治疗方法，但罕见的继发性 T 细胞恶性肿瘤已成为严重的安全问题。 目的：我们报告了一例继发性外周 T 细胞淋巴瘤 (PTCL)，明确证明源自输注的 CD19/CD22 双特异性 CAR-T 细胞，并具有致癌机制的全面分子特征。</a:t>
            </a:r>
          </a:p>
          <a:p>
            <a:pPr>
              <a:lnSpc>
                <a:spcPct val="103000"/>
              </a:lnSpc>
              <a:spcAft>
                <a:spcPts val="300"/>
              </a:spcAft>
              <a:defRPr sz="550">
                <a:solidFill>
                  <a:srgbClr val="21242A"/>
                </a:solidFill>
                <a:latin typeface="Microsoft YaHei"/>
              </a:defRPr>
            </a:pPr>
            <a:r>
              <a:t>方法：一名患有弥漫性大 B 细胞淋巴瘤 (DLBCL) 且有乳腺癌和宫颈癌病史的 66 岁女性，在 CNS 复发后于 2024 年 11 月接受了自体 CD19/CD22 CAR-T 细胞治疗。输注九个月后，她出现下唇肿块，诊断为 PTCL，未另有说明 (PTCL-NOS)。对CAR-T产品和PTCL组织进行比较基因组</a:t>
            </a:r>
          </a:p>
          <a:p>
            <a:pPr>
              <a:lnSpc>
                <a:spcPct val="103000"/>
              </a:lnSpc>
              <a:spcAft>
                <a:spcPts val="300"/>
              </a:spcAft>
              <a:defRPr sz="550">
                <a:solidFill>
                  <a:srgbClr val="21242A"/>
                </a:solidFill>
                <a:latin typeface="Microsoft YaHei"/>
              </a:defRPr>
            </a:pPr>
            <a:r>
              <a:t>分析。对输注前的 CAR-T 产品、外周血单核细胞 (PBMC) 和 PTCL 组织进行全基因组测序 (WGS)、T 细胞受体 (TCR) 克隆性评估、单细胞 RNA 测序 (scRNA-seq) 和靶向突变分析。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该病例提供了由三个汇聚因素驱动的 CAR-T 细胞恶性转化的明确分子证据：(1) 代表克隆造血作用的预先存在的 TET2 驱动突变，(2) 种系 BLM 缺陷加剧了基因组不稳定性，以及 (3) CAR 载体整合引起的插入突变。这些发现强调了对 CAR-T 产品进行输注前基因组筛查以检测 CHIP 相关突变、对既往患有恶</a:t>
            </a:r>
          </a:p>
          <a:p>
            <a:pPr>
              <a:lnSpc>
                <a:spcPct val="103000"/>
              </a:lnSpc>
              <a:spcAft>
                <a:spcPts val="300"/>
              </a:spcAft>
              <a:defRPr sz="570">
                <a:solidFill>
                  <a:srgbClr val="21242A"/>
                </a:solidFill>
                <a:latin typeface="Microsoft YaHei"/>
              </a:defRPr>
            </a:pPr>
            <a:r>
              <a:t>性肿瘤的患者进行癌症易感性基因检测以及对 CAR-T 接受者继发性恶性肿瘤进行终身监测的至关重要性。</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99923">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99923">
                <a:tc>
                  <a:txBody>
                    <a:bodyPr wrap="square" lIns="36576" rIns="36576" tIns="18288" bIns="18288"/>
                    <a:lstStyle/>
                    <a:p>
                      <a:r>
                        <a:rPr sz="540" b="1">
                          <a:solidFill>
                            <a:srgbClr val="21242A"/>
                          </a:solidFill>
                          <a:latin typeface="Microsoft YaHei"/>
                        </a:rPr>
                        <a:t>确认克隆起源</a:t>
                      </a:r>
                    </a:p>
                  </a:txBody>
                  <a:tcPr>
                    <a:solidFill>
                      <a:srgbClr val="F6F8FB"/>
                    </a:solidFill>
                  </a:tcPr>
                </a:tc>
                <a:tc>
                  <a:txBody>
                    <a:bodyPr wrap="square" lIns="36576" rIns="36576" tIns="18288" bIns="18288"/>
                    <a:lstStyle/>
                    <a:p>
                      <a:r>
                        <a:rPr sz="540" b="0">
                          <a:solidFill>
                            <a:srgbClr val="21242A"/>
                          </a:solidFill>
                          <a:latin typeface="Microsoft YaHei"/>
                        </a:rPr>
                        <a:t>T细胞受体（TCR）测序显示CAR-T产物和PTCL组织具有相同的克隆重排（TRBD101/TRBJ2701和TRGV801/TRGJ101）</a:t>
                      </a:r>
                    </a:p>
                  </a:txBody>
                  <a:tcPr>
                    <a:solidFill>
                      <a:srgbClr val="F6F8FB"/>
                    </a:solidFill>
                  </a:tcPr>
                </a:tc>
              </a:tr>
              <a:tr h="299923">
                <a:tc>
                  <a:txBody>
                    <a:bodyPr wrap="square" lIns="36576" rIns="36576" tIns="18288" bIns="18288"/>
                    <a:lstStyle/>
                    <a:p>
                      <a:r>
                        <a:rPr sz="540" b="1">
                          <a:solidFill>
                            <a:srgbClr val="21242A"/>
                          </a:solidFill>
                          <a:latin typeface="Microsoft YaHei"/>
                        </a:rPr>
                        <a:t>基因组分析</a:t>
                      </a:r>
                    </a:p>
                  </a:txBody>
                  <a:tcPr>
                    <a:solidFill>
                      <a:srgbClr val="FFFFFF"/>
                    </a:solidFill>
                  </a:tcPr>
                </a:tc>
                <a:tc>
                  <a:txBody>
                    <a:bodyPr wrap="square" lIns="36576" rIns="36576" tIns="18288" bIns="18288"/>
                    <a:lstStyle/>
                    <a:p>
                      <a:r>
                        <a:rPr sz="540" b="0">
                          <a:solidFill>
                            <a:srgbClr val="21242A"/>
                          </a:solidFill>
                          <a:latin typeface="Microsoft YaHei"/>
                        </a:rPr>
                        <a:t>全基因组测序发现TET2致病性体细胞突变（p.R1261H, p.E1755），在PTCL中变异等位基因频率更高</a:t>
                      </a:r>
                    </a:p>
                  </a:txBody>
                  <a:tcPr>
                    <a:solidFill>
                      <a:srgbClr val="FFFFFF"/>
                    </a:solidFill>
                  </a:tcPr>
                </a:tc>
              </a:tr>
              <a:tr h="299923">
                <a:tc>
                  <a:txBody>
                    <a:bodyPr wrap="square" lIns="36576" rIns="36576" tIns="18288" bIns="18288"/>
                    <a:lstStyle/>
                    <a:p>
                      <a:r>
                        <a:rPr sz="540" b="1">
                          <a:solidFill>
                            <a:srgbClr val="21242A"/>
                          </a:solidFill>
                          <a:latin typeface="Microsoft YaHei"/>
                        </a:rPr>
                        <a:t>胚系突变</a:t>
                      </a:r>
                    </a:p>
                  </a:txBody>
                  <a:tcPr>
                    <a:solidFill>
                      <a:srgbClr val="F6F8FB"/>
                    </a:solidFill>
                  </a:tcPr>
                </a:tc>
                <a:tc>
                  <a:txBody>
                    <a:bodyPr wrap="square" lIns="36576" rIns="36576" tIns="18288" bIns="18288"/>
                    <a:lstStyle/>
                    <a:p>
                      <a:r>
                        <a:rPr sz="540" b="0">
                          <a:solidFill>
                            <a:srgbClr val="21242A"/>
                          </a:solidFill>
                          <a:latin typeface="Microsoft YaHei"/>
                        </a:rPr>
                        <a:t>患者携带BLM p.L107Ffs*36突变，导致基因组不稳定性</a:t>
                      </a:r>
                    </a:p>
                  </a:txBody>
                  <a:tcPr>
                    <a:solidFill>
                      <a:srgbClr val="F6F8FB"/>
                    </a:solidFill>
                  </a:tcPr>
                </a:tc>
              </a:tr>
              <a:tr h="299924">
                <a:tc>
                  <a:txBody>
                    <a:bodyPr wrap="square" lIns="36576" rIns="36576" tIns="18288" bIns="18288"/>
                    <a:lstStyle/>
                    <a:p>
                      <a:r>
                        <a:rPr sz="540" b="1">
                          <a:solidFill>
                            <a:srgbClr val="21242A"/>
                          </a:solidFill>
                          <a:latin typeface="Microsoft YaHei"/>
                        </a:rPr>
                        <a:t>其他致癌事件</a:t>
                      </a:r>
                    </a:p>
                  </a:txBody>
                  <a:tcPr>
                    <a:solidFill>
                      <a:srgbClr val="FFFFFF"/>
                    </a:solidFill>
                  </a:tcPr>
                </a:tc>
                <a:tc>
                  <a:txBody>
                    <a:bodyPr wrap="square" lIns="36576" rIns="36576" tIns="18288" bIns="18288"/>
                    <a:lstStyle/>
                    <a:p>
                      <a:r>
                        <a:rPr sz="540" b="0">
                          <a:solidFill>
                            <a:srgbClr val="21242A"/>
                          </a:solidFill>
                          <a:latin typeface="Microsoft YaHei"/>
                        </a:rPr>
                        <a:t>包括KMT2A和ATM的11q23.2q25缺失、X染色体丢失、CAR载体整合至抑癌基因（NF1, CBX5, RNF213）</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摘要号：PF1246</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pola-r-chp治疗未经治疗的弥漫性大b细胞淋巴瘤的真实亚洲多中心队列研究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asian multi-centre cohort study on outcomes of pola-r-chp in untre...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N=737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试验药/方案：维泊妥珠单抗</a:t>
            </a:r>
          </a:p>
          <a:p>
            <a:pPr>
              <a:lnSpc>
                <a:spcPct val="103000"/>
              </a:lnSpc>
              <a:spcAft>
                <a:spcPts val="300"/>
              </a:spcAft>
              <a:defRPr sz="800">
                <a:solidFill>
                  <a:srgbClr val="21242A"/>
                </a:solidFill>
                <a:latin typeface="Microsoft YaHei"/>
              </a:defRPr>
            </a:pPr>
            <a:r>
              <a:t>靶点：CD79B</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对照/比较：试验组1：Pola-R-CHP（polatuzumab vedotin, rituximab, cyclophos...</a:t>
            </a:r>
          </a:p>
          <a:p>
            <a:pPr>
              <a:lnSpc>
                <a:spcPct val="103000"/>
              </a:lnSpc>
              <a:spcAft>
                <a:spcPts val="300"/>
              </a:spcAft>
              <a:defRPr sz="800">
                <a:solidFill>
                  <a:srgbClr val="21242A"/>
                </a:solidFill>
                <a:latin typeface="Microsoft YaHei"/>
              </a:defRPr>
            </a:pPr>
            <a:r>
              <a:t>对照组1：R-CHOP（rituximab, cyclophosphamide, doxorubicin, prednison...</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完全缓解率（CR）：Pola-R-CHP组92.0%，R-CHOP组84.3%</a:t>
            </a:r>
          </a:p>
          <a:p>
            <a:pPr>
              <a:lnSpc>
                <a:spcPct val="103000"/>
              </a:lnSpc>
              <a:spcAft>
                <a:spcPts val="300"/>
              </a:spcAft>
              <a:defRPr sz="800">
                <a:solidFill>
                  <a:srgbClr val="21242A"/>
                </a:solidFill>
                <a:latin typeface="Microsoft YaHei"/>
              </a:defRPr>
            </a:pPr>
            <a:r>
              <a:t>2年总生存率（OS）：Pola-R-CHP组92.5%，R-CHOP组77.2%（HR 0.30, 95% CI 0.13-0...</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人数：737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试验药/方案：维泊妥珠单抗</a:t>
            </a:r>
          </a:p>
          <a:p>
            <a:pPr>
              <a:lnSpc>
                <a:spcPct val="103000"/>
              </a:lnSpc>
              <a:spcAft>
                <a:spcPts val="300"/>
              </a:spcAft>
              <a:defRPr sz="810">
                <a:solidFill>
                  <a:srgbClr val="21242A"/>
                </a:solidFill>
                <a:latin typeface="Microsoft YaHei"/>
              </a:defRPr>
            </a:pPr>
            <a:r>
              <a:t>靶点：CD79B</a:t>
            </a:r>
          </a:p>
          <a:p>
            <a:pPr>
              <a:lnSpc>
                <a:spcPct val="103000"/>
              </a:lnSpc>
              <a:spcAft>
                <a:spcPts val="300"/>
              </a:spcAft>
              <a:defRPr sz="810">
                <a:solidFill>
                  <a:srgbClr val="21242A"/>
                </a:solidFill>
                <a:latin typeface="Microsoft YaHei"/>
              </a:defRPr>
            </a:pPr>
            <a:r>
              <a:t>药物/技术类别：缬氨酸-瓜氨酸 VC、MMAE、抗体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pola-r-chp治疗未经治疗的弥漫性大b细胞淋巴瘤的真实亚洲多中心队列研究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real-world asian multi-centre cohort study on outcomes of pola-r-chp in untre...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PF1004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52958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4782312"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ADC</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背景：Pola-R-CHP（polatuzumab vedotin 联合利妥昔单抗、环磷酰胺、阿霉素和泼尼松）已被批准用于弥漫性大 B 细胞淋巴瘤 (DLBCL) 的一线治疗。然而，与 R-CHOP（利妥昔单抗、环磷酰胺、阿霉素和泼尼松）相比的现实世界结果数据仍然有限，特别是在亚洲队列中，POLARIX 子集分析表明总</a:t>
            </a:r>
          </a:p>
          <a:p>
            <a:pPr>
              <a:lnSpc>
                <a:spcPct val="103000"/>
              </a:lnSpc>
              <a:spcAft>
                <a:spcPts val="300"/>
              </a:spcAft>
              <a:defRPr sz="550">
                <a:solidFill>
                  <a:srgbClr val="21242A"/>
                </a:solidFill>
                <a:latin typeface="Microsoft YaHei"/>
              </a:defRPr>
            </a:pPr>
            <a:r>
              <a:t>体生存 (OS) 获益。</a:t>
            </a:r>
          </a:p>
          <a:p>
            <a:pPr>
              <a:lnSpc>
                <a:spcPct val="103000"/>
              </a:lnSpc>
              <a:spcAft>
                <a:spcPts val="300"/>
              </a:spcAft>
              <a:defRPr sz="550">
                <a:solidFill>
                  <a:srgbClr val="21242A"/>
                </a:solidFill>
                <a:latin typeface="Microsoft YaHei"/>
              </a:defRPr>
            </a:pPr>
            <a:r>
              <a:t>目的：我们的目的是评估 Pola-R-CHP 在亚洲真实环境中一线治疗 DLBCL 的疗效。</a:t>
            </a:r>
          </a:p>
          <a:p>
            <a:pPr>
              <a:lnSpc>
                <a:spcPct val="103000"/>
              </a:lnSpc>
              <a:spcAft>
                <a:spcPts val="300"/>
              </a:spcAft>
              <a:defRPr sz="550">
                <a:solidFill>
                  <a:srgbClr val="21242A"/>
                </a:solidFill>
                <a:latin typeface="Microsoft YaHei"/>
              </a:defRPr>
            </a:pPr>
            <a:r>
              <a:t>方法：我们对来自新加坡和香港的国际多中心队列进行了一项回顾性观察研究（APOLLO：亚洲 POLA-R-CHP 真实世界结果），涉及 2015 年 1 月至 2026 年期间新诊断的 DLBCL 患者。记录了医生评估的治疗完成后的最佳缓解率。使用 Kaplan-Meier 模型和 Cox 比例风险分析进行分析。鉴于队列</a:t>
            </a:r>
          </a:p>
          <a:p>
            <a:pPr>
              <a:lnSpc>
                <a:spcPct val="103000"/>
              </a:lnSpc>
              <a:spcAft>
                <a:spcPts val="300"/>
              </a:spcAft>
              <a:defRPr sz="550">
                <a:solidFill>
                  <a:srgbClr val="21242A"/>
                </a:solidFill>
                <a:latin typeface="Microsoft YaHei"/>
              </a:defRPr>
            </a:pPr>
            <a:r>
              <a:t>间随访时间存在差异，分析仅限于前 24 个月，在此期间两组均观察到充分的随访。还计算了 24 个月时的限制平均生存时间 (RMST)，以比较固定时间范围内的生存情况。</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我们的早期真实世界数据表明，Pola-R-CHP 可能比 R-CHOP 提供显着的 OS 和 PFS 益处，包括 IPI 评分 3-5 分的患者和非 GCB DLBCL 患者，突显了其在高风险疾病中的潜在作用。</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完全缓解率（CR）</a:t>
                      </a:r>
                    </a:p>
                  </a:txBody>
                  <a:tcPr>
                    <a:solidFill>
                      <a:srgbClr val="F6F8FB"/>
                    </a:solidFill>
                  </a:tcPr>
                </a:tc>
                <a:tc>
                  <a:txBody>
                    <a:bodyPr wrap="square" lIns="36576" rIns="36576" tIns="18288" bIns="18288"/>
                    <a:lstStyle/>
                    <a:p>
                      <a:r>
                        <a:rPr sz="540" b="0">
                          <a:solidFill>
                            <a:srgbClr val="21242A"/>
                          </a:solidFill>
                          <a:latin typeface="Microsoft YaHei"/>
                        </a:rPr>
                        <a:t>Pola-R-CHP组92.0%，R-CHOP组84.3%</a:t>
                      </a:r>
                    </a:p>
                  </a:txBody>
                  <a:tcPr>
                    <a:solidFill>
                      <a:srgbClr val="F6F8FB"/>
                    </a:solidFill>
                  </a:tcPr>
                </a:tc>
              </a:tr>
              <a:tr h="249936">
                <a:tc>
                  <a:txBody>
                    <a:bodyPr wrap="square" lIns="36576" rIns="36576" tIns="18288" bIns="18288"/>
                    <a:lstStyle/>
                    <a:p>
                      <a:r>
                        <a:rPr sz="540" b="1">
                          <a:solidFill>
                            <a:srgbClr val="21242A"/>
                          </a:solidFill>
                          <a:latin typeface="Microsoft YaHei"/>
                        </a:rPr>
                        <a:t>2年总生存率（OS）</a:t>
                      </a:r>
                    </a:p>
                  </a:txBody>
                  <a:tcPr>
                    <a:solidFill>
                      <a:srgbClr val="FFFFFF"/>
                    </a:solidFill>
                  </a:tcPr>
                </a:tc>
                <a:tc>
                  <a:txBody>
                    <a:bodyPr wrap="square" lIns="36576" rIns="36576" tIns="18288" bIns="18288"/>
                    <a:lstStyle/>
                    <a:p>
                      <a:r>
                        <a:rPr sz="540" b="0">
                          <a:solidFill>
                            <a:srgbClr val="21242A"/>
                          </a:solidFill>
                          <a:latin typeface="Microsoft YaHei"/>
                        </a:rPr>
                        <a:t>Pola-R-CHP组92.5%，R-CHOP组77.2%（HR 0.30, 95% CI 0.13-0.70, p=0.003）</a:t>
                      </a:r>
                    </a:p>
                  </a:txBody>
                  <a:tcPr>
                    <a:solidFill>
                      <a:srgbClr val="FFFFFF"/>
                    </a:solidFill>
                  </a:tcPr>
                </a:tc>
              </a:tr>
              <a:tr h="249936">
                <a:tc>
                  <a:txBody>
                    <a:bodyPr wrap="square" lIns="36576" rIns="36576" tIns="18288" bIns="18288"/>
                    <a:lstStyle/>
                    <a:p>
                      <a:r>
                        <a:rPr sz="540" b="1">
                          <a:solidFill>
                            <a:srgbClr val="21242A"/>
                          </a:solidFill>
                          <a:latin typeface="Microsoft YaHei"/>
                        </a:rPr>
                        <a:t>2年无进展生存率（PFS）</a:t>
                      </a:r>
                    </a:p>
                  </a:txBody>
                  <a:tcPr>
                    <a:solidFill>
                      <a:srgbClr val="F6F8FB"/>
                    </a:solidFill>
                  </a:tcPr>
                </a:tc>
                <a:tc>
                  <a:txBody>
                    <a:bodyPr wrap="square" lIns="36576" rIns="36576" tIns="18288" bIns="18288"/>
                    <a:lstStyle/>
                    <a:p>
                      <a:r>
                        <a:rPr sz="540" b="0">
                          <a:solidFill>
                            <a:srgbClr val="21242A"/>
                          </a:solidFill>
                          <a:latin typeface="Microsoft YaHei"/>
                        </a:rPr>
                        <a:t>Pola-R-CHP组79%，R-CHOP组66.2%（HR 0.57, 95% CI 0.34-0.98, p=0.038）</a:t>
                      </a:r>
                    </a:p>
                  </a:txBody>
                  <a:tcPr>
                    <a:solidFill>
                      <a:srgbClr val="F6F8FB"/>
                    </a:solidFill>
                  </a:tcPr>
                </a:tc>
              </a:tr>
              <a:tr h="249936">
                <a:tc>
                  <a:txBody>
                    <a:bodyPr wrap="square" lIns="36576" rIns="36576" tIns="18288" bIns="18288"/>
                    <a:lstStyle/>
                    <a:p>
                      <a:r>
                        <a:rPr sz="540" b="1">
                          <a:solidFill>
                            <a:srgbClr val="21242A"/>
                          </a:solidFill>
                          <a:latin typeface="Microsoft YaHei"/>
                        </a:rPr>
                        <a:t>PFS的24个月限制平均生存时间（RMST）</a:t>
                      </a:r>
                    </a:p>
                  </a:txBody>
                  <a:tcPr>
                    <a:solidFill>
                      <a:srgbClr val="FFFFFF"/>
                    </a:solidFill>
                  </a:tcPr>
                </a:tc>
                <a:tc>
                  <a:txBody>
                    <a:bodyPr wrap="square" lIns="36576" rIns="36576" tIns="18288" bIns="18288"/>
                    <a:lstStyle/>
                    <a:p>
                      <a:r>
                        <a:rPr sz="540" b="0">
                          <a:solidFill>
                            <a:srgbClr val="21242A"/>
                          </a:solidFill>
                          <a:latin typeface="Microsoft YaHei"/>
                        </a:rPr>
                        <a:t>Pola-R-CHP 21.0个月，R-CHOP 19.0个月（差异1.99个月，p=0.027）</a:t>
                      </a:r>
                    </a:p>
                  </a:txBody>
                  <a:tcPr>
                    <a:solidFill>
                      <a:srgbClr val="FFFFFF"/>
                    </a:solidFill>
                  </a:tcPr>
                </a:tc>
              </a:tr>
              <a:tr h="249936">
                <a:tc>
                  <a:txBody>
                    <a:bodyPr wrap="square" lIns="36576" rIns="36576" tIns="18288" bIns="18288"/>
                    <a:lstStyle/>
                    <a:p>
                      <a:r>
                        <a:rPr sz="540" b="1">
                          <a:solidFill>
                            <a:srgbClr val="21242A"/>
                          </a:solidFill>
                          <a:latin typeface="Microsoft YaHei"/>
                        </a:rPr>
                        <a:t>OS的24个月RMST</a:t>
                      </a:r>
                    </a:p>
                  </a:txBody>
                  <a:tcPr>
                    <a:solidFill>
                      <a:srgbClr val="F6F8FB"/>
                    </a:solidFill>
                  </a:tcPr>
                </a:tc>
                <a:tc>
                  <a:txBody>
                    <a:bodyPr wrap="square" lIns="36576" rIns="36576" tIns="18288" bIns="18288"/>
                    <a:lstStyle/>
                    <a:p>
                      <a:r>
                        <a:rPr sz="540" b="0">
                          <a:solidFill>
                            <a:srgbClr val="21242A"/>
                          </a:solidFill>
                          <a:latin typeface="Microsoft YaHei"/>
                        </a:rPr>
                        <a:t>Pola-R-CHP 23.0个月，R-CHOP 20.7个月（差异2.29个月，p=0.001）</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摘要号：PF1004</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药物/技术：ADC</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通过多室基因组分析弥漫性大b细胞淋巴瘤克隆造血的动力学和临床影响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dynamics and clinical impact of clonal hematopoiesis in diffuse large b-cell...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N=157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回顾性临床研究结果：dynamics and clinical impact of clonal hematopoiesis...</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粒细胞中CH检出率：37.7%</a:t>
            </a:r>
          </a:p>
          <a:p>
            <a:pPr>
              <a:lnSpc>
                <a:spcPct val="103000"/>
              </a:lnSpc>
              <a:spcAft>
                <a:spcPts val="300"/>
              </a:spcAft>
              <a:defRPr sz="800">
                <a:solidFill>
                  <a:srgbClr val="21242A"/>
                </a:solidFill>
                <a:latin typeface="Microsoft YaHei"/>
              </a:defRPr>
            </a:pPr>
            <a:r>
              <a:t>CH+ vs CH-患者PFS：55.8% vs 64.1%（p=0.547，无统计学意义）</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人数：157</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研究主题：dynamics and clinical impact of clonal hematopoiesis in diffuse large b-cell lymphoma through multi-compartment genomic...</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通过多室基因组分析弥漫性大b细胞淋巴瘤克隆造血的动力学和临床影响</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dynamics and clinical impact of clonal hematopoiesis in diffuse large b-cell...</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S255</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背景：\n 弥漫性大 B 细胞淋巴瘤 (DLBCL) 中的克隆造血 (CH) 跨区室和时间的特征尚未充分表征，限制了对其生物学和临床相关性的了解。</a:t>
            </a:r>
          </a:p>
          <a:p>
            <a:pPr>
              <a:lnSpc>
                <a:spcPct val="103000"/>
              </a:lnSpc>
              <a:spcAft>
                <a:spcPts val="300"/>
              </a:spcAft>
              <a:defRPr sz="550">
                <a:solidFill>
                  <a:srgbClr val="21242A"/>
                </a:solidFill>
                <a:latin typeface="Microsoft YaHei"/>
              </a:defRPr>
            </a:pPr>
            <a:r>
              <a:t>目标： i ) 表征骨髓室和血浆 cfDNA 的 CH； ii) 评估 CH 对新诊断的 DLBCL 的临床影响及其与疾病分子亚型的关联； iii) 评估基线和治疗结束时 (EOT) 的 CH 克隆动态； iv) 确定 DLBCL 中肿瘤浸润 (TI)-CH 的患病率和临床意义。</a:t>
            </a:r>
          </a:p>
          <a:p>
            <a:pPr>
              <a:lnSpc>
                <a:spcPct val="103000"/>
              </a:lnSpc>
              <a:spcAft>
                <a:spcPts val="300"/>
              </a:spcAft>
              <a:defRPr sz="550">
                <a:solidFill>
                  <a:srgbClr val="21242A"/>
                </a:solidFill>
                <a:latin typeface="Microsoft YaHei"/>
              </a:defRPr>
            </a:pPr>
            <a:r>
              <a:t>方法：\n \n 我们使用基于 CAPP-Seq 的针对 28 个 CH 相关基因的 NGS 分析了 157 名新诊断的 DLBCL 患者的 453 个样本，这些患者接受了 R-CHOP 类方案治疗。样本包括外周血 (PB) Ficoll 分离粒细胞 (n=151)、系列血浆 cfDNA [n=107 基线、n=47 </a:t>
            </a:r>
          </a:p>
          <a:p>
            <a:pPr>
              <a:lnSpc>
                <a:spcPct val="103000"/>
              </a:lnSpc>
              <a:spcAft>
                <a:spcPts val="300"/>
              </a:spcAft>
              <a:defRPr sz="550">
                <a:solidFill>
                  <a:srgbClr val="21242A"/>
                </a:solidFill>
                <a:latin typeface="Microsoft YaHei"/>
              </a:defRPr>
            </a:pPr>
            <a:r>
              <a:t>在周期 (C) 3、n=92 在 EOT] 和淋巴结活检 (n=56)。克隆适合度是通过 Logit 转换的 VAF 的加权回归来估计的（图 1E）。</a:t>
            </a:r>
          </a:p>
          <a:p>
            <a:pPr>
              <a:lnSpc>
                <a:spcPct val="103000"/>
              </a:lnSpc>
              <a:spcAft>
                <a:spcPts val="300"/>
              </a:spcAft>
              <a:defRPr sz="550">
                <a:solidFill>
                  <a:srgbClr val="21242A"/>
                </a:solidFill>
                <a:latin typeface="Microsoft YaHei"/>
              </a:defRPr>
            </a:pPr>
            <a:r>
              <a:t>DLBclass 聚类适用于 102 名患者。 \n</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多区室分析显示，DLBCL 中的 CH 很常见，并且在多个区室中均可检测到，富含特定分子亚型，并且与第二原发恶性肿瘤的风险增加相关。基于 R-CHOP 的治疗促进 CH 克隆的扩增，包括 PPM1D 突变的早期出现。虽然 PB 中的 CH 并未显着影响生存，但 TI-CH DNMT3A 突变成为 CIT 治疗的 DLB</a:t>
            </a:r>
          </a:p>
          <a:p>
            <a:pPr>
              <a:lnSpc>
                <a:spcPct val="103000"/>
              </a:lnSpc>
              <a:spcAft>
                <a:spcPts val="300"/>
              </a:spcAft>
              <a:defRPr sz="570">
                <a:solidFill>
                  <a:srgbClr val="21242A"/>
                </a:solidFill>
                <a:latin typeface="Microsoft YaHei"/>
              </a:defRPr>
            </a:pPr>
            <a:r>
              <a:t>CL 中 PFS 和 OS 较差的独立预测因子。</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结果：\n 该队列的中位年龄为 67 岁。 37.7% 的患者在粒细胞区室中检测到 CH，其中 DNMT3A (20.5%) 和 TET2 (14.6%) 是最常见的突变基因（图 1A）。在 CH + 患者中，DNMT3A 突变在 DLBCL 的 C3 分子亚型中显着富集（p = 0.005）（图 1B）。</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摘要号：S255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ebv阳性弥漫性大b细胞淋巴瘤血浆ebv-dna水平预后模型的建立：一项回顾性单中心研究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of a prognostic model incorporating plasma ebv-dna level for ebv-...</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N=58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回顾性临床研究结果：development of a prognostic model incorporating plasm...</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1年总生存率62.1%，3年总生存率48.3%，5年总生存率36.2%</a:t>
            </a:r>
          </a:p>
          <a:p>
            <a:pPr>
              <a:lnSpc>
                <a:spcPct val="103000"/>
              </a:lnSpc>
              <a:spcAft>
                <a:spcPts val="300"/>
              </a:spcAft>
              <a:defRPr sz="800">
                <a:solidFill>
                  <a:srgbClr val="21242A"/>
                </a:solidFill>
                <a:latin typeface="Microsoft YaHei"/>
              </a:defRPr>
            </a:pPr>
            <a:r>
              <a:t>1年无进展生存率60.3%，3年无进展生存率44.8%，5年无进展生存率34.5%</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人数：58</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研究主题：development of a prognostic model incorporating plasma ebv-dna level for ebv-positive diffuse large b-cell lymphoma: 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ebv阳性弥漫性大b细胞淋巴瘤血浆ebv-dna水平预后模型的建立：一项回顾性单中心研究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of a prognostic model incorporating plasma ebv-dna level for ebv-...</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PF1013</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8" name="TextBox 7"/>
          <p:cNvSpPr txBox="1"/>
          <p:nvPr/>
        </p:nvSpPr>
        <p:spPr>
          <a:xfrm>
            <a:off x="281635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4069080"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转化/Richter</a:t>
            </a:r>
          </a:p>
        </p:txBody>
      </p:sp>
      <p:sp>
        <p:nvSpPr>
          <p:cNvPr id="10" name="TextBox 9"/>
          <p:cNvSpPr txBox="1"/>
          <p:nvPr/>
        </p:nvSpPr>
        <p:spPr>
          <a:xfrm>
            <a:off x="5321808"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177/187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背景：EB 病毒阳性弥漫性大 B 细胞淋巴瘤 (EBV+ DLBCL) 是一种侵袭性亚型，占全球 DLBCL 病例的 10%–15%。尽管化学免疫疗法取得了进展，但与 EBV 阴性患者相比，EBV+ DLBCL 患者的预后仍然较差。国际预后指数 (IPI) 广泛用于 DLBCL 风险分层，但没有针对 EBV+ DLBC</a:t>
            </a:r>
          </a:p>
          <a:p>
            <a:pPr>
              <a:lnSpc>
                <a:spcPct val="103000"/>
              </a:lnSpc>
              <a:spcAft>
                <a:spcPts val="300"/>
              </a:spcAft>
              <a:defRPr sz="550">
                <a:solidFill>
                  <a:srgbClr val="21242A"/>
                </a:solidFill>
                <a:latin typeface="Microsoft YaHei"/>
              </a:defRPr>
            </a:pPr>
            <a:r>
              <a:t>L 的专用预后模型。新出现的证据表明，治疗前血浆 EBV-DNA 水平可作为预后生物标志物。然而，缺乏包含此参数的模型。因此，我们进行了一项回顾性研究，以开发整合血浆 EBV-DNA 水平的 EBV+ DLBCL 预后模型。目的：评估血浆 EBV-DNA 水平对总生存期 (OS) 和无进展生存期 (PFS) 的预后影响</a:t>
            </a:r>
          </a:p>
          <a:p>
            <a:pPr>
              <a:lnSpc>
                <a:spcPct val="103000"/>
              </a:lnSpc>
              <a:spcAft>
                <a:spcPts val="300"/>
              </a:spcAft>
              <a:defRPr sz="550">
                <a:solidFill>
                  <a:srgbClr val="21242A"/>
                </a:solidFill>
                <a:latin typeface="Microsoft YaHei"/>
              </a:defRPr>
            </a:pPr>
            <a:r>
              <a:t>，并开发 EBV+ DLBCL 患者 OS 的预测模型。方法：这项单中心回顾性研究纳入了2010年1月至2025年1月在四川大学华西医院诊断为EBV+ DLBCL的58例患者。采用Kaplan-Meier法和多变量Cox比例风险回归分析OS和PFS，并将血浆EBV-DNA水平进行log10转换为回归模型。基于 Cox </a:t>
            </a:r>
          </a:p>
          <a:p>
            <a:pPr>
              <a:lnSpc>
                <a:spcPct val="103000"/>
              </a:lnSpc>
              <a:spcAft>
                <a:spcPts val="300"/>
              </a:spcAft>
              <a:defRPr sz="550">
                <a:solidFill>
                  <a:srgbClr val="21242A"/>
                </a:solidFill>
                <a:latin typeface="Microsoft YaHei"/>
              </a:defRPr>
            </a:pPr>
            <a:r>
              <a:t>模型构建列线图，以可视化 OS 的概率估计。</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结合血浆 EBV-DNA 水平、HLH 存在和 ECOG-PS ≥2 的预后模型证明了对 EBV+ DLBCL 患者结局的稳健预测性能，并且可能有助于风险分层和个体化治疗决策。</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结果：中位年龄为 57.7 岁（范围 15.0–83.0）。</a:t>
            </a:r>
          </a:p>
          <a:p>
            <a:pPr>
              <a:lnSpc>
                <a:spcPct val="103000"/>
              </a:lnSpc>
              <a:spcAft>
                <a:spcPts val="300"/>
              </a:spcAft>
              <a:defRPr sz="560">
                <a:solidFill>
                  <a:srgbClr val="21242A"/>
                </a:solidFill>
                <a:latin typeface="Microsoft YaHei"/>
              </a:defRPr>
            </a:pPr>
            <a:r>
              <a:t>75.8% 的患者出现晚期 (III/IV) 期，79.3% 的患者出现结外受累，46.6% 的患者出现 B 症状，8% 的患者出现噬血细胞性淋巴组织细胞增多症 (HLH)。所有53名患者的Ki67指数均≥20%，CD30阳性率为76.6%（36/47）。中位随访39个月（范围0.7-137.4）后，1年、3</a:t>
            </a:r>
          </a:p>
          <a:p>
            <a:pPr>
              <a:lnSpc>
                <a:spcPct val="103000"/>
              </a:lnSpc>
              <a:spcAft>
                <a:spcPts val="300"/>
              </a:spcAft>
              <a:defRPr sz="560">
                <a:solidFill>
                  <a:srgbClr val="21242A"/>
                </a:solidFill>
                <a:latin typeface="Microsoft YaHei"/>
              </a:defRPr>
            </a:pPr>
            <a:r>
              <a:t>年和5年OS率分别为62.1%、48.3%和36.2%，相应的PFS率为60.3%、44.8%和34.5%。</a:t>
            </a:r>
          </a:p>
          <a:p>
            <a:pPr>
              <a:lnSpc>
                <a:spcPct val="103000"/>
              </a:lnSpc>
              <a:spcAft>
                <a:spcPts val="300"/>
              </a:spcAft>
              <a:defRPr sz="560">
                <a:solidFill>
                  <a:srgbClr val="21242A"/>
                </a:solidFill>
                <a:latin typeface="Microsoft YaHei"/>
              </a:defRPr>
            </a:pPr>
            <a:r>
              <a:t>\n 单变量分析显示，血浆 EBV-DNA 水平、HLH 的存在、ECOG-PS ≥2 和年龄 ≥60 岁是 OS 和 PFS 的独立预后因素。多变量 Cox 比例风险模型确定血浆 EBV-DNA 水平（log10 转换）（HR 1.75；95% CI，1.28-2.38；P</a:t>
            </a:r>
          </a:p>
          <a:p>
            <a:pPr>
              <a:lnSpc>
                <a:spcPct val="103000"/>
              </a:lnSpc>
              <a:spcAft>
                <a:spcPts val="300"/>
              </a:spcAft>
              <a:defRPr sz="560">
                <a:solidFill>
                  <a:srgbClr val="21242A"/>
                </a:solidFill>
                <a:latin typeface="Microsoft YaHei"/>
              </a:defRPr>
            </a:pPr>
            <a:r>
              <a:t>结论：结合血浆 EBV-DNA 水平、HLH 存在和 ECOG-PS ≥2 的预后模型对 EBV+ DLBCL 患者的结局表现出强大的预测性能，并且可能有助于风险分层和个体化治疗决策。</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摘要号：PF1013</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疾病场景：转化/Richter</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布鲁顿酪氨酸激酶抑制剂联合大剂量甲氨蝶呤诱导治疗未经治疗的原发性中枢神经系统淋巴瘤的实际疗效：单中心回顾性分析。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real-world efficacy of bruton’s tyrosine kinase inhibitors plus high-dose...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PF1035</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40005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178/187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N=132</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试验药/方案：奥布替尼</a:t>
            </a:r>
          </a:p>
          <a:p>
            <a:pPr>
              <a:lnSpc>
                <a:spcPct val="103000"/>
              </a:lnSpc>
              <a:spcAft>
                <a:spcPts val="300"/>
              </a:spcAft>
              <a:defRPr sz="800">
                <a:solidFill>
                  <a:srgbClr val="21242A"/>
                </a:solidFill>
                <a:latin typeface="Microsoft YaHei"/>
              </a:defRPr>
            </a:pPr>
            <a:r>
              <a:t>伊布替尼</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多组/多方案比较：试验组1：伊布替尼，高剂量甲氨蝶呤</a:t>
            </a:r>
          </a:p>
          <a:p>
            <a:pPr>
              <a:lnSpc>
                <a:spcPct val="103000"/>
              </a:lnSpc>
              <a:spcAft>
                <a:spcPts val="300"/>
              </a:spcAft>
              <a:defRPr sz="800">
                <a:solidFill>
                  <a:srgbClr val="21242A"/>
                </a:solidFill>
                <a:latin typeface="Microsoft YaHei"/>
              </a:defRPr>
            </a:pPr>
            <a:r>
              <a:t>试验组2：奥布替尼，高剂量甲氨蝶呤</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 88.6%</a:t>
            </a:r>
          </a:p>
          <a:p>
            <a:pPr>
              <a:lnSpc>
                <a:spcPct val="103000"/>
              </a:lnSpc>
              <a:spcAft>
                <a:spcPts val="300"/>
              </a:spcAft>
              <a:defRPr sz="800">
                <a:solidFill>
                  <a:srgbClr val="21242A"/>
                </a:solidFill>
                <a:latin typeface="Microsoft YaHei"/>
              </a:defRPr>
            </a:pPr>
            <a:r>
              <a:t>完全缓解率(CR): 81.1%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人数：132</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治疗线数：一线</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试验药/方案：奥布替尼、伊布替尼、泽布替尼</a:t>
            </a:r>
          </a:p>
          <a:p>
            <a:pPr>
              <a:lnSpc>
                <a:spcPct val="103000"/>
              </a:lnSpc>
              <a:spcAft>
                <a:spcPts val="300"/>
              </a:spcAft>
              <a:defRPr sz="810">
                <a:solidFill>
                  <a:srgbClr val="21242A"/>
                </a:solidFill>
                <a:latin typeface="Microsoft YaHei"/>
              </a:defRPr>
            </a:pPr>
            <a:r>
              <a:t>靶点：BTK</a:t>
            </a:r>
          </a:p>
          <a:p>
            <a:pPr>
              <a:lnSpc>
                <a:spcPct val="103000"/>
              </a:lnSpc>
              <a:spcAft>
                <a:spcPts val="300"/>
              </a:spcAft>
              <a:defRPr sz="810">
                <a:solidFill>
                  <a:srgbClr val="21242A"/>
                </a:solidFill>
                <a:latin typeface="Microsoft YaHei"/>
              </a:defRPr>
            </a:pPr>
            <a:r>
              <a:t>药物/技术类别：化药</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布鲁顿酪氨酸激酶抑制剂联合大剂量甲氨蝶呤诱导治疗未经治疗的原发性中枢神经系统淋巴瘤的实际疗效：单中心回顾性分析。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the real-world efficacy of bruton’s tyrosine kinase inhibitors plus high-dose...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PF1035</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400050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BTKi</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178/187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背景：原发性中枢神经系统淋巴瘤（PCNSL）是一种罕见的侵袭性恶性肿瘤，预后较差，最佳标准治疗尚不明确。基于大剂量甲氨蝶呤 (HD-MTX) 的治疗方案仍然是新诊断 PCNSL 的一线治疗方法。在 PCNSL 中，B 细胞受体 (BCR) 信号通路相关基因（例如 MYD88 和 CD79B）的改变已被证明可以介导对布鲁</a:t>
            </a:r>
          </a:p>
          <a:p>
            <a:pPr>
              <a:lnSpc>
                <a:spcPct val="103000"/>
              </a:lnSpc>
              <a:spcAft>
                <a:spcPts val="300"/>
              </a:spcAft>
              <a:defRPr sz="550">
                <a:solidFill>
                  <a:srgbClr val="21242A"/>
                </a:solidFill>
                <a:latin typeface="Microsoft YaHei"/>
              </a:defRPr>
            </a:pPr>
            <a:r>
              <a:t>顿酪氨酸激酶抑制剂 (BTKi) 的反应。目的：这项单中心回顾性分析旨在评估基于 BTKi 联合 HD-MTX 的化疗方案作为真实世界队列中新诊断 PCNSL 患者初始治疗的疗效。方法：我们入组了2020年1月至2025年6月期间接受过基于HD-MTX的化疗方案诱导治疗并联合BTKi（包括依鲁替尼、扎鲁替尼和奥布替尼）</a:t>
            </a:r>
          </a:p>
          <a:p>
            <a:pPr>
              <a:lnSpc>
                <a:spcPct val="103000"/>
              </a:lnSpc>
              <a:spcAft>
                <a:spcPts val="300"/>
              </a:spcAft>
              <a:defRPr sz="550">
                <a:solidFill>
                  <a:srgbClr val="21242A"/>
                </a:solidFill>
                <a:latin typeface="Microsoft YaHei"/>
              </a:defRPr>
            </a:pPr>
            <a:r>
              <a:t>的经组织学证实的原发性中枢神经系统大B细胞淋巴瘤的成年患者。HD-MTX定义为≥3.0 g/m2。当患者达到完全缓解（CR）或部分缓解（PR）时，推荐自体干细胞移植（ASCT）或全脑放射治疗（WBRT）作为巩固治疗。通过 MRI/PET 评估治疗反应。使用卡方或费舍尔精确检验分析分类变量。使用 Kaplan-Meier</a:t>
            </a:r>
          </a:p>
          <a:p>
            <a:pPr>
              <a:lnSpc>
                <a:spcPct val="103000"/>
              </a:lnSpc>
              <a:spcAft>
                <a:spcPts val="300"/>
              </a:spcAft>
              <a:defRPr sz="550">
                <a:solidFill>
                  <a:srgbClr val="21242A"/>
                </a:solidFill>
                <a:latin typeface="Microsoft YaHei"/>
              </a:defRPr>
            </a:pPr>
            <a:r>
              <a:t> 方法估计生存率。使用R软件4.3.2版进行数据分析。</a:t>
            </a:r>
          </a:p>
          <a:p>
            <a:pPr>
              <a:lnSpc>
                <a:spcPct val="103000"/>
              </a:lnSpc>
              <a:spcAft>
                <a:spcPts val="300"/>
              </a:spcAft>
              <a:defRPr sz="550">
                <a:solidFill>
                  <a:srgbClr val="21242A"/>
                </a:solidFill>
                <a:latin typeface="Microsoft YaHei"/>
              </a:defRPr>
            </a:pPr>
            <a:r>
              <a:t>双面P</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这项单中心回顾性分析证实了在真实的中国患者群体中添加 BTKi（尤其是奥布替尼）作为初始治疗的疗效。这些结果支持在临床实践中使用含 BTKi 的治疗方案作为 PCNSL 的一线治疗。</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88.6%</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a:t>
                      </a:r>
                    </a:p>
                  </a:txBody>
                  <a:tcPr>
                    <a:solidFill>
                      <a:srgbClr val="FFFFFF"/>
                    </a:solidFill>
                  </a:tcPr>
                </a:tc>
                <a:tc>
                  <a:txBody>
                    <a:bodyPr wrap="square" lIns="36576" rIns="36576" tIns="18288" bIns="18288"/>
                    <a:lstStyle/>
                    <a:p>
                      <a:r>
                        <a:rPr sz="540" b="0">
                          <a:solidFill>
                            <a:srgbClr val="21242A"/>
                          </a:solidFill>
                          <a:latin typeface="Microsoft YaHei"/>
                        </a:rPr>
                        <a:t>81.1%</a:t>
                      </a:r>
                    </a:p>
                  </a:txBody>
                  <a:tcPr>
                    <a:solidFill>
                      <a:srgbClr val="FFFFFF"/>
                    </a:solidFill>
                  </a:tcPr>
                </a:tc>
              </a:tr>
              <a:tr h="214230">
                <a:tc>
                  <a:txBody>
                    <a:bodyPr wrap="square" lIns="36576" rIns="36576" tIns="18288" bIns="18288"/>
                    <a:lstStyle/>
                    <a:p>
                      <a:r>
                        <a:rPr sz="540" b="1">
                          <a:solidFill>
                            <a:srgbClr val="21242A"/>
                          </a:solidFill>
                          <a:latin typeface="Microsoft YaHei"/>
                        </a:rPr>
                        <a:t>部分缓解率(PR)</a:t>
                      </a:r>
                    </a:p>
                  </a:txBody>
                  <a:tcPr>
                    <a:solidFill>
                      <a:srgbClr val="F6F8FB"/>
                    </a:solidFill>
                  </a:tcPr>
                </a:tc>
                <a:tc>
                  <a:txBody>
                    <a:bodyPr wrap="square" lIns="36576" rIns="36576" tIns="18288" bIns="18288"/>
                    <a:lstStyle/>
                    <a:p>
                      <a:r>
                        <a:rPr sz="540" b="0">
                          <a:solidFill>
                            <a:srgbClr val="21242A"/>
                          </a:solidFill>
                          <a:latin typeface="Microsoft YaHei"/>
                        </a:rPr>
                        <a:t>7.5%</a:t>
                      </a:r>
                    </a:p>
                  </a:txBody>
                  <a:tcPr>
                    <a:solidFill>
                      <a:srgbClr val="F6F8FB"/>
                    </a:solidFill>
                  </a:tcPr>
                </a:tc>
              </a:tr>
              <a:tr h="214230">
                <a:tc>
                  <a:txBody>
                    <a:bodyPr wrap="square" lIns="36576" rIns="36576" tIns="18288" bIns="18288"/>
                    <a:lstStyle/>
                    <a:p>
                      <a:r>
                        <a:rPr sz="540" b="1">
                          <a:solidFill>
                            <a:srgbClr val="21242A"/>
                          </a:solidFill>
                          <a:latin typeface="Microsoft YaHei"/>
                        </a:rPr>
                        <a:t>中位无进展生存期(PFS)</a:t>
                      </a:r>
                    </a:p>
                  </a:txBody>
                  <a:tcPr>
                    <a:solidFill>
                      <a:srgbClr val="FFFFFF"/>
                    </a:solidFill>
                  </a:tcPr>
                </a:tc>
                <a:tc>
                  <a:txBody>
                    <a:bodyPr wrap="square" lIns="36576" rIns="36576" tIns="18288" bIns="18288"/>
                    <a:lstStyle/>
                    <a:p>
                      <a:r>
                        <a:rPr sz="540" b="0">
                          <a:solidFill>
                            <a:srgbClr val="21242A"/>
                          </a:solidFill>
                          <a:latin typeface="Microsoft YaHei"/>
                        </a:rPr>
                        <a:t>未达到(95%CI NR-NR)</a:t>
                      </a:r>
                    </a:p>
                  </a:txBody>
                  <a:tcPr>
                    <a:solidFill>
                      <a:srgbClr val="FFFFFF"/>
                    </a:solidFill>
                  </a:tcPr>
                </a:tc>
              </a:tr>
              <a:tr h="214230">
                <a:tc>
                  <a:txBody>
                    <a:bodyPr wrap="square" lIns="36576" rIns="36576" tIns="18288" bIns="18288"/>
                    <a:lstStyle/>
                    <a:p>
                      <a:r>
                        <a:rPr sz="540" b="1">
                          <a:solidFill>
                            <a:srgbClr val="21242A"/>
                          </a:solidFill>
                          <a:latin typeface="Microsoft YaHei"/>
                        </a:rPr>
                        <a:t>中位总生存期(OS)</a:t>
                      </a:r>
                    </a:p>
                  </a:txBody>
                  <a:tcPr>
                    <a:solidFill>
                      <a:srgbClr val="F6F8FB"/>
                    </a:solidFill>
                  </a:tcPr>
                </a:tc>
                <a:tc>
                  <a:txBody>
                    <a:bodyPr wrap="square" lIns="36576" rIns="36576" tIns="18288" bIns="18288"/>
                    <a:lstStyle/>
                    <a:p>
                      <a:r>
                        <a:rPr sz="540" b="0">
                          <a:solidFill>
                            <a:srgbClr val="21242A"/>
                          </a:solidFill>
                          <a:latin typeface="Microsoft YaHei"/>
                        </a:rPr>
                        <a:t>未达到(95%CI NR-NR)</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其余6条结果见HTML完整清单及EHA原文。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摘要号：PF1035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疾病场景：PCNSL</a:t>
            </a:r>
          </a:p>
          <a:p>
            <a:pPr>
              <a:lnSpc>
                <a:spcPct val="103000"/>
              </a:lnSpc>
              <a:spcAft>
                <a:spcPts val="300"/>
              </a:spcAft>
              <a:defRPr sz="680">
                <a:solidFill>
                  <a:srgbClr val="21242A"/>
                </a:solidFill>
                <a:latin typeface="Microsoft YaHei"/>
              </a:defRPr>
            </a:pPr>
            <a:r>
              <a:t>药物/技术：BTKi</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免疫缺陷相关原发性中枢神经系统淋巴瘤的疾病特异性预后评分：一项国际原发性cns淋巴瘤协作组（ipcg）研究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disease specific prognostic score for immunodeficiency-associated primary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40005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179/187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N=308</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回顾性临床研究结果：a disease specific prognostic score for immunodeficie...</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最佳总体缓解率（ORR）为77%（完全缓解50%</a:t>
            </a:r>
          </a:p>
          <a:p>
            <a:pPr>
              <a:lnSpc>
                <a:spcPct val="103000"/>
              </a:lnSpc>
              <a:spcAft>
                <a:spcPts val="300"/>
              </a:spcAft>
              <a:defRPr sz="800">
                <a:solidFill>
                  <a:srgbClr val="21242A"/>
                </a:solidFill>
                <a:latin typeface="Microsoft YaHei"/>
              </a:defRPr>
            </a:pPr>
            <a:r>
              <a:t>部分缓解27%）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人数：308</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研究主题：a disease specific prognostic score for immunodeficiency-associated primary cns lymphoma: an international primary cns...</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免疫缺陷相关原发性中枢神经系统淋巴瘤的疾病特异性预后评分：一项国际原发性cns淋巴瘤协作组（ipcg）研究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 disease specific prognostic score for immunodeficiency-associated primary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PF967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4000500" y="6327648"/>
            <a:ext cx="928116"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化疗/免疫化疗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179/187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背景：免疫缺陷相关的原发性中枢神经系统淋巴瘤（ID-PCNSL）是一种临床病理学上独特的 PCNSL 变异体。缺乏大型临床研究，使用免疫功能健全的队列开发的现有预后模型可能不适用于该患者群体。 目的：描述 ID-PCNSL 的临床和放射学特征、治疗结果和预后因素，并制定疾病特异性预后评分。</a:t>
            </a:r>
          </a:p>
          <a:p>
            <a:pPr>
              <a:lnSpc>
                <a:spcPct val="103000"/>
              </a:lnSpc>
              <a:spcAft>
                <a:spcPts val="300"/>
              </a:spcAft>
              <a:defRPr sz="550">
                <a:solidFill>
                  <a:srgbClr val="21242A"/>
                </a:solidFill>
                <a:latin typeface="Microsoft YaHei"/>
              </a:defRPr>
            </a:pPr>
            <a:r>
              <a:t>方法：国际原发性中枢神经系统淋巴瘤协作组 (IPCG) 在 7 个国家的 23 个中心对 2003 年至 2024 年诊断的 ID-PCNSL 进行了回顾性多中心研究。收集临床、放射学和病理学数据。使用 Kaplan-Meier 估计和多变量 Cox 回归评估生存结果。将独立的生存预测因素组合起来得出预后评分，并与已建</a:t>
            </a:r>
          </a:p>
          <a:p>
            <a:pPr>
              <a:lnSpc>
                <a:spcPct val="103000"/>
              </a:lnSpc>
              <a:spcAft>
                <a:spcPts val="300"/>
              </a:spcAft>
              <a:defRPr sz="550">
                <a:solidFill>
                  <a:srgbClr val="21242A"/>
                </a:solidFill>
                <a:latin typeface="Microsoft YaHei"/>
              </a:defRPr>
            </a:pPr>
            <a:r>
              <a:t>立的 MSKCC 和 IELSG 模型进行比较。</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这个大型国际队列定义了 ID-PCNSL 的临床谱，并显示出结果的显着异质性。免疫重建与基于 RM 的治疗相结合与免疫缺陷亚型的高缓解率相关。基于年龄、体能状态和 EBV 状态的简单预后评分提供了稳健的风险分层，在 RM 治疗的患者中仍然提供信息，并且优于为免疫功能正常的 PCNSL 开发的已建立模型。</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结果：总共鉴定出 308 名 ID-PCNSL 患者。潜在的免疫缺陷是由器官移植的免疫抑制治疗（41.2%）或自身免疫性疾病（36.7%）以及艾滋病毒感染（21.7%）引起的。所有肿瘤均被归类为弥漫性大 B 细胞淋巴瘤，其中 79.2% 检测到 Epstein-Barr 病毒 (EBV)。大多数患者（91.4</a:t>
            </a:r>
          </a:p>
          <a:p>
            <a:pPr>
              <a:lnSpc>
                <a:spcPct val="103000"/>
              </a:lnSpc>
              <a:spcAft>
                <a:spcPts val="300"/>
              </a:spcAft>
              <a:defRPr sz="560">
                <a:solidFill>
                  <a:srgbClr val="21242A"/>
                </a:solidFill>
                <a:latin typeface="Microsoft YaHei"/>
              </a:defRPr>
            </a:pPr>
            <a:r>
              <a:t>%）接受了治疗性诱导治疗，主要是全身化疗（97.5%），而单独放疗并不常见（2.1%）。最常使用基于利妥昔单抗-甲氨蝶呤 (RM) 的治疗方案 (69.8%)，其次是基于利妥昔单抗 (15.6%) 和单独基于甲氨蝶呤的治疗 (12.7%)。一线治疗的最佳总体缓解率 (ORR) 为 77%（完全缓解 50%；部</a:t>
            </a:r>
          </a:p>
          <a:p>
            <a:pPr>
              <a:lnSpc>
                <a:spcPct val="103000"/>
              </a:lnSpc>
              <a:spcAft>
                <a:spcPts val="300"/>
              </a:spcAft>
              <a:defRPr sz="560">
                <a:solidFill>
                  <a:srgbClr val="21242A"/>
                </a:solidFill>
                <a:latin typeface="Microsoft YaHei"/>
              </a:defRPr>
            </a:pPr>
            <a:r>
              <a:t>分缓解 27%）。与仅基于利妥昔单抗（68%，p=0.01）或基于甲氨蝶呤的方案（52%，p\n）相比，基于 RM 的化疗获得了更高的 ORR（85%）。结果是异质的，中位总生存期（OS）为 54 个月（图 1A）。多变量分析发现年龄增加（每年 HR 1.05，95% CI 1.02-1.07；p 图 1）。</a:t>
            </a:r>
          </a:p>
          <a:p>
            <a:pPr>
              <a:lnSpc>
                <a:spcPct val="103000"/>
              </a:lnSpc>
              <a:spcAft>
                <a:spcPts val="300"/>
              </a:spcAft>
              <a:defRPr sz="560">
                <a:solidFill>
                  <a:srgbClr val="21242A"/>
                </a:solidFill>
                <a:latin typeface="Microsoft YaHei"/>
              </a:defRPr>
            </a:pPr>
            <a:r>
              <a:t>图 1B）、卡诺夫斯基表现状态 (KPS) 图 1C) 和 EBV 阳性（HR 3.26，95% CI 1.47–7.33；p=0.004；图 1D）作为较差 OS 的独立预测因子。结合这些因素的预后评分（年龄 &gt;60 岁，KPS 图 1）</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摘要号：PF967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疾病场景：PCNSL</a:t>
            </a:r>
          </a:p>
          <a:p>
            <a:pPr>
              <a:lnSpc>
                <a:spcPct val="103000"/>
              </a:lnSpc>
              <a:spcAft>
                <a:spcPts val="300"/>
              </a:spcAft>
              <a:defRPr sz="680">
                <a:solidFill>
                  <a:srgbClr val="21242A"/>
                </a:solidFill>
                <a:latin typeface="Microsoft YaHei"/>
              </a:defRPr>
            </a:pPr>
            <a:r>
              <a:t>药物/技术：化疗/免疫化疗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设施水平差异转化为生命损失：国家癌症数据库中的老年原发性中枢神经系统淋巴瘤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facility-level differences translate into lives lost: elderly primary cns lym...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PF1047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4000500"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N=5013</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分组：学术癌症项目组（ACP）：学术/研究项目（包括NCI指定中心）</a:t>
            </a:r>
          </a:p>
          <a:p>
            <a:pPr>
              <a:lnSpc>
                <a:spcPct val="103000"/>
              </a:lnSpc>
              <a:spcAft>
                <a:spcPts val="300"/>
              </a:spcAft>
              <a:defRPr sz="800">
                <a:solidFill>
                  <a:srgbClr val="21242A"/>
                </a:solidFill>
                <a:latin typeface="Microsoft YaHei"/>
              </a:defRPr>
            </a:pPr>
            <a:r>
              <a:t>社区癌症项目组（CCP）：社区、综合社区和综合网络癌症项目</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多组/多方案比较：学术癌症项目组（ACP）：学术/研究项目（包括NCI指定中心）</a:t>
            </a:r>
          </a:p>
          <a:p>
            <a:pPr>
              <a:lnSpc>
                <a:spcPct val="103000"/>
              </a:lnSpc>
              <a:spcAft>
                <a:spcPts val="300"/>
              </a:spcAft>
              <a:defRPr sz="800">
                <a:solidFill>
                  <a:srgbClr val="21242A"/>
                </a:solidFill>
                <a:latin typeface="Microsoft YaHei"/>
              </a:defRPr>
            </a:pPr>
            <a:r>
              <a:t>社区癌症项目组（CCP）：社区、综合社区和综合网络癌症项目</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总生存期（OS）：ACP组中位生存期0.48年，CCP组0.32年</a:t>
            </a:r>
          </a:p>
          <a:p>
            <a:pPr>
              <a:lnSpc>
                <a:spcPct val="103000"/>
              </a:lnSpc>
              <a:spcAft>
                <a:spcPts val="300"/>
              </a:spcAft>
              <a:defRPr sz="800">
                <a:solidFill>
                  <a:srgbClr val="21242A"/>
                </a:solidFill>
                <a:latin typeface="Microsoft YaHei"/>
              </a:defRPr>
            </a:pPr>
            <a:r>
              <a:t>2年生存率：ACP 30.8% vs CCP 23.2%</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人数：5013</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分组/治疗流程：学术癌症项目组（ACP）：学术/研究项目（包括NCI指定中心）、社区癌症项目组（CCP）：社区、综合社区和综合网络癌症项目</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设施水平差异转化为生命损失：国家癌症数据库中的老年原发性中枢神经系统淋巴瘤</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facility-level differences translate into lives lost: elderly primary cns lym...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PF1047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77266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PCNSL</a:t>
            </a:r>
          </a:p>
        </p:txBody>
      </p:sp>
      <p:sp>
        <p:nvSpPr>
          <p:cNvPr id="10" name="TextBox 9"/>
          <p:cNvSpPr txBox="1"/>
          <p:nvPr/>
        </p:nvSpPr>
        <p:spPr>
          <a:xfrm>
            <a:off x="4000500"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180/187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 (PCNSL) 是一种罕见的侵袭性非霍奇金淋巴瘤亚型，在美国发病率不断增加 (ACSPMID:19273630)。老年人的治疗结果仍然很差；先前的年龄 &gt; 70 岁患者队列报告的 2 年总生存率为 50% (NCBIPMID:32241841)。据报道，护理方面的设施水平存在差异，但其对</a:t>
            </a:r>
          </a:p>
          <a:p>
            <a:pPr>
              <a:lnSpc>
                <a:spcPct val="103000"/>
              </a:lnSpc>
              <a:spcAft>
                <a:spcPts val="300"/>
              </a:spcAft>
              <a:defRPr sz="550">
                <a:solidFill>
                  <a:srgbClr val="21242A"/>
                </a:solidFill>
                <a:latin typeface="Microsoft YaHei"/>
              </a:defRPr>
            </a:pPr>
            <a:r>
              <a:t>老年人的影响尚不清楚。我们比较了老年 PCNSL 中的学术癌症项目与社区癌症项目，以评估人口、社会经济和生存差异。目的： 主要目的：使用国家数据库评估治疗设施类型（学术癌症计划与社区癌症计划）是否与年龄≥75岁的原发性中枢神经系统淋巴瘤（PCNSL）患者的总生存期（OS）差异相关。方法：使用国家癌症数据库 (NCDB)</a:t>
            </a:r>
          </a:p>
          <a:p>
            <a:pPr>
              <a:lnSpc>
                <a:spcPct val="103000"/>
              </a:lnSpc>
              <a:spcAft>
                <a:spcPts val="300"/>
              </a:spcAft>
              <a:defRPr sz="550">
                <a:solidFill>
                  <a:srgbClr val="21242A"/>
                </a:solidFill>
                <a:latin typeface="Microsoft YaHei"/>
              </a:defRPr>
            </a:pPr>
            <a:r>
              <a:t> 对 2004 年至 2022 年间诊断为 PCNSL 的 75 岁以上患者进行回顾性队列研究。按治疗机构对患者进行分类：ACP（学术/研究项目，包括 NCI 指定中心）与 CCP（社区、综合社区和综合网络癌症项目）。使用卡方检验和 Wilcoxon 检验比较人口统计学、临床和治疗特征。</a:t>
            </a:r>
          </a:p>
          <a:p>
            <a:pPr>
              <a:lnSpc>
                <a:spcPct val="103000"/>
              </a:lnSpc>
              <a:spcAft>
                <a:spcPts val="300"/>
              </a:spcAft>
              <a:defRPr sz="550">
                <a:solidFill>
                  <a:srgbClr val="21242A"/>
                </a:solidFill>
                <a:latin typeface="Microsoft YaHei"/>
              </a:defRPr>
            </a:pPr>
            <a:r>
              <a:t>Kaplan-Meier 和 Cox 比例风险模型用于比较总生存期 (OS)，并调整年龄、种族/民族、保险状况、Charlson-Deyo 合并症指数和就医距离。</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在年龄≥75 岁的 PCNS 患者中，OS 因治疗机构类型的不同而存在显着差异，与 CCP 治疗的患者相比，在 ACP 治疗的患者中观察到具有统计学和临床​​意义的生存优势。在短期和长期随访中，OS 差异是一致的，早期死亡率较低，治疗实施率较高，ACP 开始治疗的时间较短。这些结果表明，在照顾患有 PCNSL 的老年人</a:t>
            </a:r>
          </a:p>
          <a:p>
            <a:pPr>
              <a:lnSpc>
                <a:spcPct val="103000"/>
              </a:lnSpc>
              <a:spcAft>
                <a:spcPts val="300"/>
              </a:spcAft>
              <a:defRPr sz="570">
                <a:solidFill>
                  <a:srgbClr val="21242A"/>
                </a:solidFill>
                <a:latin typeface="Microsoft YaHei"/>
              </a:defRPr>
            </a:pPr>
            <a:r>
              <a:t>方面存在系统层面的差距，并强调需要加强 ACP 的转诊途径并建立结构化的学术社区伙伴关系。这样做可以为经常在资源匮乏环境中接受治疗的弱势患者提供及时的专业多学科护理和临床试验。</a:t>
            </a:r>
          </a:p>
          <a:p>
            <a:pPr>
              <a:lnSpc>
                <a:spcPct val="103000"/>
              </a:lnSpc>
              <a:spcAft>
                <a:spcPts val="300"/>
              </a:spcAft>
              <a:defRPr sz="570">
                <a:solidFill>
                  <a:srgbClr val="21242A"/>
                </a:solidFill>
                <a:latin typeface="Microsoft YaHei"/>
              </a:defRPr>
            </a:pPr>
            <a:r>
              <a:t>\n</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总生存期（OS）</a:t>
                      </a:r>
                    </a:p>
                  </a:txBody>
                  <a:tcPr>
                    <a:solidFill>
                      <a:srgbClr val="F6F8FB"/>
                    </a:solidFill>
                  </a:tcPr>
                </a:tc>
                <a:tc>
                  <a:txBody>
                    <a:bodyPr wrap="square" lIns="36576" rIns="36576" tIns="18288" bIns="18288"/>
                    <a:lstStyle/>
                    <a:p>
                      <a:r>
                        <a:rPr sz="540" b="0">
                          <a:solidFill>
                            <a:srgbClr val="21242A"/>
                          </a:solidFill>
                          <a:latin typeface="Microsoft YaHei"/>
                        </a:rPr>
                        <a:t>ACP组中位生存期0.48年，CCP组0.32年</a:t>
                      </a:r>
                    </a:p>
                  </a:txBody>
                  <a:tcPr>
                    <a:solidFill>
                      <a:srgbClr val="F6F8FB"/>
                    </a:solidFill>
                  </a:tcPr>
                </a:tc>
              </a:tr>
              <a:tr h="214230">
                <a:tc>
                  <a:txBody>
                    <a:bodyPr wrap="square" lIns="36576" rIns="36576" tIns="18288" bIns="18288"/>
                    <a:lstStyle/>
                    <a:p>
                      <a:r>
                        <a:rPr sz="540" b="1">
                          <a:solidFill>
                            <a:srgbClr val="21242A"/>
                          </a:solidFill>
                          <a:latin typeface="Microsoft YaHei"/>
                        </a:rPr>
                        <a:t>2年生存率</a:t>
                      </a:r>
                    </a:p>
                  </a:txBody>
                  <a:tcPr>
                    <a:solidFill>
                      <a:srgbClr val="FFFFFF"/>
                    </a:solidFill>
                  </a:tcPr>
                </a:tc>
                <a:tc>
                  <a:txBody>
                    <a:bodyPr wrap="square" lIns="36576" rIns="36576" tIns="18288" bIns="18288"/>
                    <a:lstStyle/>
                    <a:p>
                      <a:r>
                        <a:rPr sz="540" b="0">
                          <a:solidFill>
                            <a:srgbClr val="21242A"/>
                          </a:solidFill>
                          <a:latin typeface="Microsoft YaHei"/>
                        </a:rPr>
                        <a:t>ACP 30.8% vs CCP 23.2%</a:t>
                      </a:r>
                    </a:p>
                  </a:txBody>
                  <a:tcPr>
                    <a:solidFill>
                      <a:srgbClr val="FFFFFF"/>
                    </a:solidFill>
                  </a:tcPr>
                </a:tc>
              </a:tr>
              <a:tr h="214230">
                <a:tc>
                  <a:txBody>
                    <a:bodyPr wrap="square" lIns="36576" rIns="36576" tIns="18288" bIns="18288"/>
                    <a:lstStyle/>
                    <a:p>
                      <a:r>
                        <a:rPr sz="540" b="1">
                          <a:solidFill>
                            <a:srgbClr val="21242A"/>
                          </a:solidFill>
                          <a:latin typeface="Microsoft YaHei"/>
                        </a:rPr>
                        <a:t>5年生存率</a:t>
                      </a:r>
                    </a:p>
                  </a:txBody>
                  <a:tcPr>
                    <a:solidFill>
                      <a:srgbClr val="F6F8FB"/>
                    </a:solidFill>
                  </a:tcPr>
                </a:tc>
                <a:tc>
                  <a:txBody>
                    <a:bodyPr wrap="square" lIns="36576" rIns="36576" tIns="18288" bIns="18288"/>
                    <a:lstStyle/>
                    <a:p>
                      <a:r>
                        <a:rPr sz="540" b="0">
                          <a:solidFill>
                            <a:srgbClr val="21242A"/>
                          </a:solidFill>
                          <a:latin typeface="Microsoft YaHei"/>
                        </a:rPr>
                        <a:t>ACP 18.9% vs CCP 12.8%</a:t>
                      </a:r>
                    </a:p>
                  </a:txBody>
                  <a:tcPr>
                    <a:solidFill>
                      <a:srgbClr val="F6F8FB"/>
                    </a:solidFill>
                  </a:tcPr>
                </a:tc>
              </a:tr>
              <a:tr h="214230">
                <a:tc>
                  <a:txBody>
                    <a:bodyPr wrap="square" lIns="36576" rIns="36576" tIns="18288" bIns="18288"/>
                    <a:lstStyle/>
                    <a:p>
                      <a:r>
                        <a:rPr sz="540" b="1">
                          <a:solidFill>
                            <a:srgbClr val="21242A"/>
                          </a:solidFill>
                          <a:latin typeface="Microsoft YaHei"/>
                        </a:rPr>
                        <a:t>10年生存率</a:t>
                      </a:r>
                    </a:p>
                  </a:txBody>
                  <a:tcPr>
                    <a:solidFill>
                      <a:srgbClr val="FFFFFF"/>
                    </a:solidFill>
                  </a:tcPr>
                </a:tc>
                <a:tc>
                  <a:txBody>
                    <a:bodyPr wrap="square" lIns="36576" rIns="36576" tIns="18288" bIns="18288"/>
                    <a:lstStyle/>
                    <a:p>
                      <a:r>
                        <a:rPr sz="540" b="0">
                          <a:solidFill>
                            <a:srgbClr val="21242A"/>
                          </a:solidFill>
                          <a:latin typeface="Microsoft YaHei"/>
                        </a:rPr>
                        <a:t>ACP 8.8% vs CCP 5.2%</a:t>
                      </a:r>
                    </a:p>
                  </a:txBody>
                  <a:tcPr>
                    <a:solidFill>
                      <a:srgbClr val="FFFFFF"/>
                    </a:solidFill>
                  </a:tcPr>
                </a:tc>
              </a:tr>
              <a:tr h="214230">
                <a:tc>
                  <a:txBody>
                    <a:bodyPr wrap="square" lIns="36576" rIns="36576" tIns="18288" bIns="18288"/>
                    <a:lstStyle/>
                    <a:p>
                      <a:r>
                        <a:rPr sz="540" b="1">
                          <a:solidFill>
                            <a:srgbClr val="21242A"/>
                          </a:solidFill>
                          <a:latin typeface="Microsoft YaHei"/>
                        </a:rPr>
                        <a:t>早期死亡率</a:t>
                      </a:r>
                    </a:p>
                  </a:txBody>
                  <a:tcPr>
                    <a:solidFill>
                      <a:srgbClr val="F6F8FB"/>
                    </a:solidFill>
                  </a:tcPr>
                </a:tc>
                <a:tc>
                  <a:txBody>
                    <a:bodyPr wrap="square" lIns="36576" rIns="36576" tIns="18288" bIns="18288"/>
                    <a:lstStyle/>
                    <a:p>
                      <a:r>
                        <a:rPr sz="540" b="0">
                          <a:solidFill>
                            <a:srgbClr val="21242A"/>
                          </a:solidFill>
                          <a:latin typeface="Microsoft YaHei"/>
                        </a:rPr>
                        <a:t>30天死亡率ACP 3.1% vs CCP 3.9%；90天死亡率ACP 10.3% vs CCP 13.0%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摘要号：PF1047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疾病场景：PCNSL</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脑淋巴结：原发性中枢神经系统淋巴瘤免疫分子表型的定义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brain-lym: defining immune-molecular phenotypes in primary cns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N=259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回顾性临床研究结果：brain-lym: defining immune-molecular phenotypes in pr...</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To our knowledge, this is one of the largest nationwide integra...</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人数：259</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研究主题：brain-lym: defining immune-molecular phenotypes in primary cns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脑淋巴结：原发性中枢神经系统淋巴瘤免疫分子表型的定义</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brain-lym: defining immune-molecular phenotypes in primary cns lymphoma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S250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181/187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背景：原发性中枢神经系统淋巴瘤 (PCNSL) 是一种独特的免疫豁免弥漫性大 B 细胞淋巴瘤，尽管采用大剂量甲氨蝶呤 (HD-MTX) 联合化疗，但复发率仍很高。尽管人们越来越多地探索 CAR T 细胞和双特异性抗体等免疫导向治疗，但 PCNSL 的免疫分子结构及其与治疗反应的关系仍然不明确 (PMID: 336648</a:t>
            </a:r>
          </a:p>
          <a:p>
            <a:pPr>
              <a:lnSpc>
                <a:spcPct val="103000"/>
              </a:lnSpc>
              <a:spcAft>
                <a:spcPts val="300"/>
              </a:spcAft>
              <a:defRPr sz="550">
                <a:solidFill>
                  <a:srgbClr val="21242A"/>
                </a:solidFill>
                <a:latin typeface="Microsoft YaHei"/>
              </a:defRPr>
            </a:pPr>
            <a:r>
              <a:t>48, 36402300)。定义临床相关的免疫分子亚组对于合理实施免疫治疗至关重要。</a:t>
            </a:r>
          </a:p>
          <a:p>
            <a:pPr>
              <a:lnSpc>
                <a:spcPct val="103000"/>
              </a:lnSpc>
              <a:spcAft>
                <a:spcPts val="300"/>
              </a:spcAft>
              <a:defRPr sz="550">
                <a:solidFill>
                  <a:srgbClr val="21242A"/>
                </a:solidFill>
                <a:latin typeface="Microsoft YaHei"/>
              </a:defRPr>
            </a:pPr>
            <a:r>
              <a:t>目标：对 PCNSL 肿瘤进行全国范围内的综合深度 DNA 和 RNA 分析，将免疫分子谱与治疗反应联系起来，以确定具有潜在治疗意义的亚组。</a:t>
            </a:r>
          </a:p>
          <a:p>
            <a:pPr>
              <a:lnSpc>
                <a:spcPct val="103000"/>
              </a:lnSpc>
              <a:spcAft>
                <a:spcPts val="300"/>
              </a:spcAft>
              <a:defRPr sz="550">
                <a:solidFill>
                  <a:srgbClr val="21242A"/>
                </a:solidFill>
                <a:latin typeface="Microsoft YaHei"/>
              </a:defRPr>
            </a:pPr>
            <a:r>
              <a:t>方法：纳入经组织学证实的 PCNSL 患者（2000-2022 年），接受≥1 个周期的基于 HD-MTX 的化疗。从 FFPE 中提取 DNA 和 RNA。使用 BLYM-777 panel（生物学驱动的 777 基因淋巴瘤 panel，PMID：35454765）进行基因表达谱分析，评估肿瘤内在特征和微环境特征。进</a:t>
            </a:r>
          </a:p>
          <a:p>
            <a:pPr>
              <a:lnSpc>
                <a:spcPct val="103000"/>
              </a:lnSpc>
              <a:spcAft>
                <a:spcPts val="300"/>
              </a:spcAft>
              <a:defRPr sz="550">
                <a:solidFill>
                  <a:srgbClr val="21242A"/>
                </a:solidFill>
                <a:latin typeface="Microsoft YaHei"/>
              </a:defRPr>
            </a:pPr>
            <a:r>
              <a:t>行靶向下一代测序以进行突变分析。</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据我们所知，这是全国范围内最大的 HD-MTX 治疗 PCNSL 综合 DNA/RNA 分析之一，将免疫分子谱与标准化临床反应类别联系起来。根据 Kotlov 等人的说法，GEP 数据确定了三个具有不同免疫特征的亚组：免疫低、免疫逃避和免疫丰富。这些发现为未来 PCNSL 试验中基于免疫的患者分层提供了生物学框架。</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To our knowledge, this is one of the largest nationwide integrated DNA/RNA analyses of HD-MTX treated PCNSL linking immune-molecular profiles to standardiz</a:t>
            </a:r>
          </a:p>
          <a:p>
            <a:pPr>
              <a:lnSpc>
                <a:spcPct val="103000"/>
              </a:lnSpc>
              <a:spcAft>
                <a:spcPts val="300"/>
              </a:spcAft>
              <a:defRPr sz="560">
                <a:solidFill>
                  <a:srgbClr val="21242A"/>
                </a:solidFill>
                <a:latin typeface="Microsoft YaHei"/>
              </a:defRPr>
            </a:pPr>
            <a:r>
              <a:t>ed clinical response categories.</a:t>
            </a:r>
          </a:p>
          <a:p>
            <a:pPr>
              <a:lnSpc>
                <a:spcPct val="103000"/>
              </a:lnSpc>
              <a:spcAft>
                <a:spcPts val="300"/>
              </a:spcAft>
              <a:defRPr sz="560">
                <a:solidFill>
                  <a:srgbClr val="21242A"/>
                </a:solidFill>
                <a:latin typeface="Microsoft YaHei"/>
              </a:defRPr>
            </a:pPr>
            <a:r>
              <a:t>According to Kotlov et al., GEP data identified three subgroups with distinct immune characteristics: immune-low, immune-evasive and immune-rich.</a:t>
            </a:r>
          </a:p>
          <a:p>
            <a:pPr>
              <a:lnSpc>
                <a:spcPct val="103000"/>
              </a:lnSpc>
              <a:spcAft>
                <a:spcPts val="300"/>
              </a:spcAft>
              <a:defRPr sz="560">
                <a:solidFill>
                  <a:srgbClr val="21242A"/>
                </a:solidFill>
                <a:latin typeface="Microsoft YaHei"/>
              </a:defRPr>
            </a:pPr>
            <a:r>
              <a:t>These findings provide a biological framework for immune-based patient stratification…</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摘要号：S250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自体造血干细胞移植联合cd19car-t细胞治疗中枢神经系统淋巴瘤的临床疗效和安全性分析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autologous hematopoietic stem cell transplantation combined with cd19 car-t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PS2235</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N=7</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试验药/方案：CD19靶向CAR-T(北京大学人民医院)</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客观缓解率（ORR）：100%（7/7）||完全缓解率（CRR）：100%（7/7）||中位总生存期（OS）：未达到||中位无...</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人数：7</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试验药/方案：CD19靶向CAR-T(北京大学人民医院)</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药物/技术类别：CAR-T、经基因修饰</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自体造血干细胞移植联合cd19car-t细胞治疗中枢神经系统淋巴瘤的临床疗效和安全性分析</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autologous hematopoietic stem cell transplantation combined with cd19 car-t c...</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PS2235</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182/187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背景：中枢神经系统淋巴瘤（CNSL）的预后极差，传统疗法的疗效有限。尽管CD19靶向嵌合抗原受体T细胞（CD19 CAR-T）疗法在系统性B细胞淋巴瘤方面取得了突破性进展，但其在CNSL中的应用面临着血脑屏障、独特的CNS免疫微环境和潜在的神经毒性等挑战。自体造血干细胞移植（ASCT）可以通过清髓性调节减轻肿瘤负荷，并</a:t>
            </a:r>
          </a:p>
          <a:p>
            <a:pPr>
              <a:lnSpc>
                <a:spcPct val="103000"/>
              </a:lnSpc>
              <a:spcAft>
                <a:spcPts val="300"/>
              </a:spcAft>
              <a:defRPr sz="550">
                <a:solidFill>
                  <a:srgbClr val="21242A"/>
                </a:solidFill>
                <a:latin typeface="Microsoft YaHei"/>
              </a:defRPr>
            </a:pPr>
            <a:r>
              <a:t>为 CAR-T 细胞扩增创造有利的环境，这表明序贯组合具有协同潜力。目前，ASCT联合CD19 CAR-T治疗CNSL的临床证据仍然极其有限。目的：评价ASCT联合CD19 CAR-T细胞治疗CNSL患者的临床疗效和安全性。方法：回顾性收集2023年7月至2025年8月在郑州大学第一附属医院接受ASCT联合CAR-T治</a:t>
            </a:r>
          </a:p>
          <a:p>
            <a:pPr>
              <a:lnSpc>
                <a:spcPct val="103000"/>
              </a:lnSpc>
              <a:spcAft>
                <a:spcPts val="300"/>
              </a:spcAft>
              <a:defRPr sz="550">
                <a:solidFill>
                  <a:srgbClr val="21242A"/>
                </a:solidFill>
                <a:latin typeface="Microsoft YaHei"/>
              </a:defRPr>
            </a:pPr>
            <a:r>
              <a:t>疗的CNSL患者的临床资料。所有患者均接受清髓性预处理化疗，随后自体干细胞输注，随后序贯输注CD19 CAR-T细胞。主要终点是客观缓解率（ORR）和完全缓解率（CRR）。</a:t>
            </a:r>
          </a:p>
          <a:p>
            <a:pPr>
              <a:lnSpc>
                <a:spcPct val="103000"/>
              </a:lnSpc>
              <a:spcAft>
                <a:spcPts val="300"/>
              </a:spcAft>
              <a:defRPr sz="550">
                <a:solidFill>
                  <a:srgbClr val="21242A"/>
                </a:solidFill>
                <a:latin typeface="Microsoft YaHei"/>
              </a:defRPr>
            </a:pPr>
            <a:r>
              <a:t>次要终点包括总生存期（OS）、无进展生存期（PFS）、CAR-T细胞峰值扩增、造血重建时间和治疗相关不良事件。</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ASCT 联合 CD19 CAR-T 疗法对新诊断和复发/难治性 CNSL 表现出优异的疗效和良好的安全性，值得在更大的队列中进行进一步验证和延长随访。</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客观缓解率（ORR）：100%（7/7）||完全缓解率（CRR）：100%（7/7）||中位总生存期（OS）：未达到||中位无进展生存期（PFS）：未达到||OS率：100%||PFS率：100%||中性粒细胞植入中位时间：15天（范围12-23）||血小板植入中位时间：22天（范围16-29）||CAR-T</a:t>
            </a:r>
          </a:p>
          <a:p>
            <a:pPr>
              <a:lnSpc>
                <a:spcPct val="103000"/>
              </a:lnSpc>
              <a:spcAft>
                <a:spcPts val="300"/>
              </a:spcAft>
              <a:defRPr sz="560">
                <a:solidFill>
                  <a:srgbClr val="21242A"/>
                </a:solidFill>
                <a:latin typeface="Microsoft YaHei"/>
              </a:defRPr>
            </a:pPr>
            <a:r>
              <a:t>细胞峰值中位数：74.3/μL（范围25.31-137.66）||达峰值中位时间：8天（范围8-12）||细胞因子释放综合征（CRS）发生率：71.4%（5/7），无≥3级||免疫效应细胞相关神经毒性综合征（ICANS）：1例1级，无≥2级||感染：2例，可控</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摘要号：PS2235</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glofitamab单药或联合治疗复发/难治性原发性或继发性中枢神经系统淋巴瘤：一项多中心回顾性研究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glofitamab monotherapy or combination therapy in patients with relapsed/refra...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PS2092</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N=96</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试验药/方案：格菲妥单抗</a:t>
            </a:r>
          </a:p>
          <a:p>
            <a:pPr>
              <a:lnSpc>
                <a:spcPct val="103000"/>
              </a:lnSpc>
              <a:spcAft>
                <a:spcPts val="300"/>
              </a:spcAft>
              <a:defRPr sz="800">
                <a:solidFill>
                  <a:srgbClr val="21242A"/>
                </a:solidFill>
                <a:latin typeface="Microsoft YaHei"/>
              </a:defRPr>
            </a:pPr>
            <a:r>
              <a:t>靶点：CD20，CD3</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多组/多方案比较：试验组1：glofitamab单药治疗</a:t>
            </a:r>
          </a:p>
          <a:p>
            <a:pPr>
              <a:lnSpc>
                <a:spcPct val="103000"/>
              </a:lnSpc>
              <a:spcAft>
                <a:spcPts val="300"/>
              </a:spcAft>
              <a:defRPr sz="800">
                <a:solidFill>
                  <a:srgbClr val="21242A"/>
                </a:solidFill>
                <a:latin typeface="Microsoft YaHei"/>
              </a:defRPr>
            </a:pPr>
            <a:r>
              <a:t>试验组2：glofitamab联合其他治疗（联合药物由医生决定）</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客观缓解率（ORR）：91.8%（95% CI 84.0%-96.8%）</a:t>
            </a:r>
          </a:p>
          <a:p>
            <a:pPr>
              <a:lnSpc>
                <a:spcPct val="103000"/>
              </a:lnSpc>
              <a:spcAft>
                <a:spcPts val="300"/>
              </a:spcAft>
              <a:defRPr sz="800">
                <a:solidFill>
                  <a:srgbClr val="21242A"/>
                </a:solidFill>
                <a:latin typeface="Microsoft YaHei"/>
              </a:defRPr>
            </a:pPr>
            <a:r>
              <a:t>完全缓解率（CRR）：66.6%（95% CI 55.8%-75.8%）</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人数：96</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试验药/方案：格菲妥单抗</a:t>
            </a:r>
          </a:p>
          <a:p>
            <a:pPr>
              <a:lnSpc>
                <a:spcPct val="103000"/>
              </a:lnSpc>
              <a:spcAft>
                <a:spcPts val="300"/>
              </a:spcAft>
              <a:defRPr sz="810">
                <a:solidFill>
                  <a:srgbClr val="21242A"/>
                </a:solidFill>
                <a:latin typeface="Microsoft YaHei"/>
              </a:defRPr>
            </a:pPr>
            <a:r>
              <a:t>靶点：CD20、CD3</a:t>
            </a:r>
          </a:p>
          <a:p>
            <a:pPr>
              <a:lnSpc>
                <a:spcPct val="103000"/>
              </a:lnSpc>
              <a:spcAft>
                <a:spcPts val="300"/>
              </a:spcAft>
              <a:defRPr sz="810">
                <a:solidFill>
                  <a:srgbClr val="21242A"/>
                </a:solidFill>
                <a:latin typeface="Microsoft YaHei"/>
              </a:defRPr>
            </a:pPr>
            <a:r>
              <a:t>药物/技术类别：双特异性抗体</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glofitamab单药或联合治疗复发/难治性原发性或继发性中枢神经系统淋巴瘤：一项多中心回顾性研究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glofitamab monotherapy or combination therapy in patients with relapsed/refra...</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PS2092</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183/187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背景：复发或难治性原发性或继发性中枢神经系统淋巴瘤（R/R PCNSL/SCNSL）患者预后不佳，后续治疗选择有限。双特异性抗体疗法在该人群中的疗效和安全性仍然不明确。目的：评估基于格洛菲他单抗的治疗对复发/难治性中枢神经系统淋巴瘤（R/R CNSL）患者的疗效和安全性。方法：对 24 家中国医疗机构接受至少一剂格洛菲</a:t>
            </a:r>
          </a:p>
          <a:p>
            <a:pPr>
              <a:lnSpc>
                <a:spcPct val="103000"/>
              </a:lnSpc>
              <a:spcAft>
                <a:spcPts val="300"/>
              </a:spcAft>
              <a:defRPr sz="550">
                <a:solidFill>
                  <a:srgbClr val="21242A"/>
                </a:solidFill>
                <a:latin typeface="Microsoft YaHei"/>
              </a:defRPr>
            </a:pPr>
            <a:r>
              <a:t>他单抗的 R/R CNSL 患者进行调查。所有患者均患有经组织学证实的弥漫性大 B 细胞淋巴瘤，并有中枢神经系统受累记录，并接受了化疗、全脑放疗或 CAR-T 疗法的大量预处理。在提供知情同意书后，患者接受 obinutuzumab（第 1 个周期第 1 天 1000 mg）作为术前用药，然后接受 glofitamab</a:t>
            </a:r>
          </a:p>
          <a:p>
            <a:pPr>
              <a:lnSpc>
                <a:spcPct val="103000"/>
              </a:lnSpc>
              <a:spcAft>
                <a:spcPts val="300"/>
              </a:spcAft>
              <a:defRPr sz="550">
                <a:solidFill>
                  <a:srgbClr val="21242A"/>
                </a:solidFill>
                <a:latin typeface="Microsoft YaHei"/>
              </a:defRPr>
            </a:pPr>
            <a:r>
              <a:t> 逐步给药：第 1 个周期第 8 天 2.5 mg，第 1 个周期第 15 天 10 mg，第 2 个周期第 1 天 30 mg，然后每 3 周 30 mg，最多 12 个周期，由医生酌情使用或不使用联合药物。</a:t>
            </a:r>
          </a:p>
          <a:p>
            <a:pPr>
              <a:lnSpc>
                <a:spcPct val="103000"/>
              </a:lnSpc>
              <a:spcAft>
                <a:spcPts val="300"/>
              </a:spcAft>
              <a:defRPr sz="550">
                <a:solidFill>
                  <a:srgbClr val="21242A"/>
                </a:solidFill>
                <a:latin typeface="Microsoft YaHei"/>
              </a:defRPr>
            </a:pPr>
            <a:r>
              <a:t>CNS 反应根据 IPCG 标准使用对比增强脑/脊柱 MRI 和 CSF 分析进行评估。对于 SCNSL，根据 Lugano 2014 通过全身 PET-CT 扫描评估全身疾病。</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这些研究结果表明，基于格洛菲他单抗的疗法在经过大量治疗的 R/R CNSL 患者中产生了显着的抗肿瘤活性，且安全性可控，表明了一种潜在有前途的治疗范例。</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客观缓解率（ORR）</a:t>
                      </a:r>
                    </a:p>
                  </a:txBody>
                  <a:tcPr>
                    <a:solidFill>
                      <a:srgbClr val="F6F8FB"/>
                    </a:solidFill>
                  </a:tcPr>
                </a:tc>
                <a:tc>
                  <a:txBody>
                    <a:bodyPr wrap="square" lIns="36576" rIns="36576" tIns="18288" bIns="18288"/>
                    <a:lstStyle/>
                    <a:p>
                      <a:r>
                        <a:rPr sz="540" b="0">
                          <a:solidFill>
                            <a:srgbClr val="21242A"/>
                          </a:solidFill>
                          <a:latin typeface="Microsoft YaHei"/>
                        </a:rPr>
                        <a:t>91.8%（95% CI 84.0%-96.8%）</a:t>
                      </a:r>
                    </a:p>
                  </a:txBody>
                  <a:tcPr>
                    <a:solidFill>
                      <a:srgbClr val="F6F8FB"/>
                    </a:solidFill>
                  </a:tcPr>
                </a:tc>
              </a:tr>
              <a:tr h="214230">
                <a:tc>
                  <a:txBody>
                    <a:bodyPr wrap="square" lIns="36576" rIns="36576" tIns="18288" bIns="18288"/>
                    <a:lstStyle/>
                    <a:p>
                      <a:r>
                        <a:rPr sz="540" b="1">
                          <a:solidFill>
                            <a:srgbClr val="21242A"/>
                          </a:solidFill>
                          <a:latin typeface="Microsoft YaHei"/>
                        </a:rPr>
                        <a:t>完全缓解率（CRR）</a:t>
                      </a:r>
                    </a:p>
                  </a:txBody>
                  <a:tcPr>
                    <a:solidFill>
                      <a:srgbClr val="FFFFFF"/>
                    </a:solidFill>
                  </a:tcPr>
                </a:tc>
                <a:tc>
                  <a:txBody>
                    <a:bodyPr wrap="square" lIns="36576" rIns="36576" tIns="18288" bIns="18288"/>
                    <a:lstStyle/>
                    <a:p>
                      <a:r>
                        <a:rPr sz="540" b="0">
                          <a:solidFill>
                            <a:srgbClr val="21242A"/>
                          </a:solidFill>
                          <a:latin typeface="Microsoft YaHei"/>
                        </a:rPr>
                        <a:t>66.6%（95% CI 55.8%-75.8%）</a:t>
                      </a:r>
                    </a:p>
                  </a:txBody>
                  <a:tcPr>
                    <a:solidFill>
                      <a:srgbClr val="FFFFFF"/>
                    </a:solidFill>
                  </a:tcPr>
                </a:tc>
              </a:tr>
              <a:tr h="214230">
                <a:tc>
                  <a:txBody>
                    <a:bodyPr wrap="square" lIns="36576" rIns="36576" tIns="18288" bIns="18288"/>
                    <a:lstStyle/>
                    <a:p>
                      <a:r>
                        <a:rPr sz="540" b="1">
                          <a:solidFill>
                            <a:srgbClr val="21242A"/>
                          </a:solidFill>
                          <a:latin typeface="Microsoft YaHei"/>
                        </a:rPr>
                        <a:t>中位无进展生存期（PFS）</a:t>
                      </a:r>
                    </a:p>
                  </a:txBody>
                  <a:tcPr>
                    <a:solidFill>
                      <a:srgbClr val="F6F8FB"/>
                    </a:solidFill>
                  </a:tcPr>
                </a:tc>
                <a:tc>
                  <a:txBody>
                    <a:bodyPr wrap="square" lIns="36576" rIns="36576" tIns="18288" bIns="18288"/>
                    <a:lstStyle/>
                    <a:p>
                      <a:r>
                        <a:rPr sz="540" b="0">
                          <a:solidFill>
                            <a:srgbClr val="21242A"/>
                          </a:solidFill>
                          <a:latin typeface="Microsoft YaHei"/>
                        </a:rPr>
                        <a:t>15.8个月（95% CI 12.8-未达到）</a:t>
                      </a:r>
                    </a:p>
                  </a:txBody>
                  <a:tcPr>
                    <a:solidFill>
                      <a:srgbClr val="F6F8FB"/>
                    </a:solidFill>
                  </a:tcPr>
                </a:tc>
              </a:tr>
              <a:tr h="214230">
                <a:tc>
                  <a:txBody>
                    <a:bodyPr wrap="square" lIns="36576" rIns="36576" tIns="18288" bIns="18288"/>
                    <a:lstStyle/>
                    <a:p>
                      <a:r>
                        <a:rPr sz="540" b="1">
                          <a:solidFill>
                            <a:srgbClr val="21242A"/>
                          </a:solidFill>
                          <a:latin typeface="Microsoft YaHei"/>
                        </a:rPr>
                        <a:t>6个月PFS率</a:t>
                      </a:r>
                    </a:p>
                  </a:txBody>
                  <a:tcPr>
                    <a:solidFill>
                      <a:srgbClr val="FFFFFF"/>
                    </a:solidFill>
                  </a:tcPr>
                </a:tc>
                <a:tc>
                  <a:txBody>
                    <a:bodyPr wrap="square" lIns="36576" rIns="36576" tIns="18288" bIns="18288"/>
                    <a:lstStyle/>
                    <a:p>
                      <a:r>
                        <a:rPr sz="540" b="0">
                          <a:solidFill>
                            <a:srgbClr val="21242A"/>
                          </a:solidFill>
                          <a:latin typeface="Microsoft YaHei"/>
                        </a:rPr>
                        <a:t>78.8%（95% CI 71.0%-88.7%）</a:t>
                      </a:r>
                    </a:p>
                  </a:txBody>
                  <a:tcPr>
                    <a:solidFill>
                      <a:srgbClr val="FFFFFF"/>
                    </a:solidFill>
                  </a:tcPr>
                </a:tc>
              </a:tr>
              <a:tr h="214230">
                <a:tc>
                  <a:txBody>
                    <a:bodyPr wrap="square" lIns="36576" rIns="36576" tIns="18288" bIns="18288"/>
                    <a:lstStyle/>
                    <a:p>
                      <a:r>
                        <a:rPr sz="540" b="1">
                          <a:solidFill>
                            <a:srgbClr val="21242A"/>
                          </a:solidFill>
                          <a:latin typeface="Microsoft YaHei"/>
                        </a:rPr>
                        <a:t>12个月PFS率</a:t>
                      </a:r>
                    </a:p>
                  </a:txBody>
                  <a:tcPr>
                    <a:solidFill>
                      <a:srgbClr val="F6F8FB"/>
                    </a:solidFill>
                  </a:tcPr>
                </a:tc>
                <a:tc>
                  <a:txBody>
                    <a:bodyPr wrap="square" lIns="36576" rIns="36576" tIns="18288" bIns="18288"/>
                    <a:lstStyle/>
                    <a:p>
                      <a:r>
                        <a:rPr sz="540" b="0">
                          <a:solidFill>
                            <a:srgbClr val="21242A"/>
                          </a:solidFill>
                          <a:latin typeface="Microsoft YaHei"/>
                        </a:rPr>
                        <a:t>62.0%（95% CI 50.2%-77.0%）</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其余2条结果见HTML完整清单及EHA原文。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摘要号：PS2092</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原发性中枢神经系统淋巴瘤临床病理预后模型的建立与验证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and validation of a clinicopathological prognostic model for prim...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PF1011</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a:t>
            </a:r>
          </a:p>
          <a:p>
            <a:pPr>
              <a:lnSpc>
                <a:spcPct val="103000"/>
              </a:lnSpc>
              <a:spcAft>
                <a:spcPts val="300"/>
              </a:spcAft>
              <a:defRPr sz="800">
                <a:solidFill>
                  <a:srgbClr val="21242A"/>
                </a:solidFill>
                <a:latin typeface="Microsoft YaHei"/>
              </a:defRPr>
            </a:pPr>
            <a:r>
              <a:t>N=180</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回顾性临床研究结果：development and validation of a clinicopathological p...</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中位年龄60岁（18-82岁）</a:t>
            </a:r>
          </a:p>
          <a:p>
            <a:pPr>
              <a:lnSpc>
                <a:spcPct val="103000"/>
              </a:lnSpc>
              <a:spcAft>
                <a:spcPts val="300"/>
              </a:spcAft>
              <a:defRPr sz="800">
                <a:solidFill>
                  <a:srgbClr val="21242A"/>
                </a:solidFill>
                <a:latin typeface="Microsoft YaHei"/>
              </a:defRPr>
            </a:pPr>
            <a:r>
              <a:t>男性占56.67%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人数：180</a:t>
            </a:r>
          </a:p>
          <a:p>
            <a:pPr>
              <a:lnSpc>
                <a:spcPct val="103000"/>
              </a:lnSpc>
              <a:spcAft>
                <a:spcPts val="300"/>
              </a:spcAft>
              <a:defRPr sz="810">
                <a:solidFill>
                  <a:srgbClr val="21242A"/>
                </a:solidFill>
                <a:latin typeface="Microsoft YaHei"/>
              </a:defRPr>
            </a:pPr>
            <a:r>
              <a:t>适应症：中枢神经系统淋巴瘤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研究主题：development and validation of a clinicopathological prognostic model for primary central nervous system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原发性中枢神经系统淋巴瘤临床病理预后模型的建立与验证</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development and validation of a clinicopathological prognostic model for prim...</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PF1011</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CNS穿透/放疗/MTX策略</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184/187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背景：IELSG 和 MSKCC 预后评分系统虽然常用于原发性中枢神经系统淋巴瘤 (PCNSL)，但在临床实践中存在一定的局限性。 IELSG 模型受到 LDH 和 CSF 蛋白测量不一致的限制，而 MSKCC 系统仅依赖于年龄和卡诺夫斯基体能状态，可能限制其预后范围。</a:t>
            </a:r>
          </a:p>
          <a:p>
            <a:pPr>
              <a:lnSpc>
                <a:spcPct val="103000"/>
              </a:lnSpc>
              <a:spcAft>
                <a:spcPts val="300"/>
              </a:spcAft>
              <a:defRPr sz="550">
                <a:solidFill>
                  <a:srgbClr val="21242A"/>
                </a:solidFill>
                <a:latin typeface="Microsoft YaHei"/>
              </a:defRPr>
            </a:pPr>
            <a:r>
              <a:t>目的：本研究旨在利用真实临床数据建立并验证一种新颖的预后模型，以提高预测准确性和实际适用性。</a:t>
            </a:r>
          </a:p>
          <a:p>
            <a:pPr>
              <a:lnSpc>
                <a:spcPct val="103000"/>
              </a:lnSpc>
              <a:spcAft>
                <a:spcPts val="300"/>
              </a:spcAft>
              <a:defRPr sz="550">
                <a:solidFill>
                  <a:srgbClr val="21242A"/>
                </a:solidFill>
                <a:latin typeface="Microsoft YaHei"/>
              </a:defRPr>
            </a:pPr>
            <a:r>
              <a:t>方法：对2012年1月至2025年1月期间在我中心治疗的180例初诊PCNSL患者（≥18岁）进行回顾性分析。以总生存期（OS）为主要终点，无进展生存期（PFS）为次要终点。患者被随机分为训练组 (70%) 和验证组 (30%)。进行单变量和多变量 Cox 回归分析以确定与 OS 相关的因素。基于多变量研究结果构建了一</a:t>
            </a:r>
          </a:p>
          <a:p>
            <a:pPr>
              <a:lnSpc>
                <a:spcPct val="103000"/>
              </a:lnSpc>
              <a:spcAft>
                <a:spcPts val="300"/>
              </a:spcAft>
              <a:defRPr sz="550">
                <a:solidFill>
                  <a:srgbClr val="21242A"/>
                </a:solidFill>
                <a:latin typeface="Microsoft YaHei"/>
              </a:defRPr>
            </a:pPr>
            <a:r>
              <a:t>种新的预后模型，随后评估了两个队列的校准、辨别能力和临床实用性。</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本研究提出了一种整合年龄、ECOG-PS 和 MYC 表达的新型预后模型，用于预测新诊断 PCNSL 患者的 OS。通过纳入与肿瘤侵袭性相关的高风险临床病理特征，该模型可以促进更个性化的治疗计划。</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结果（EHA原文中文翻译）</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结果：入组的180名患者的诊断中位年龄为60岁（范围：18-82岁），其中56.67%（102/180）为男性。弥漫性大 B 细胞淋巴瘤 (DLBCL) 构成主要病理亚型 (95%, 171/180)。治疗方式包括肿瘤次全/全切除135例（75%），单纯活检45例（25%），大剂量甲氨蝶呤（HD-MTX）化疗</a:t>
            </a:r>
          </a:p>
          <a:p>
            <a:pPr>
              <a:lnSpc>
                <a:spcPct val="103000"/>
              </a:lnSpc>
              <a:spcAft>
                <a:spcPts val="300"/>
              </a:spcAft>
              <a:defRPr sz="560">
                <a:solidFill>
                  <a:srgbClr val="21242A"/>
                </a:solidFill>
                <a:latin typeface="Microsoft YaHei"/>
              </a:defRPr>
            </a:pPr>
            <a:r>
              <a:t>67例（37.22%），联合治疗（包括放疗或造血细胞移植）30例（16.7%）。多变量 Cox 回归确定年龄 ≥ 60 岁（HR：2.58，p 2（HR：4.28，p p（图 1A））。该模型表现出良好的辨别力，训练和验证队列中的曲线下面积值分别为 0.74 和 0.89（图 1B-C）。校准曲线表明预测概率</a:t>
            </a:r>
          </a:p>
          <a:p>
            <a:pPr>
              <a:lnSpc>
                <a:spcPct val="103000"/>
              </a:lnSpc>
              <a:spcAft>
                <a:spcPts val="300"/>
              </a:spcAft>
              <a:defRPr sz="560">
                <a:solidFill>
                  <a:srgbClr val="21242A"/>
                </a:solidFill>
                <a:latin typeface="Microsoft YaHei"/>
              </a:defRPr>
            </a:pPr>
            <a:r>
              <a:t>与实际观察结果之间具有高度一致性。此外，基于该模型的风险分层显示出显着的风险分层不同风险组患者生存状态的差异，表明这种风险分层策略可以有效区分患者预后（图1D-E）结论：本研究提出了一种整合年龄、ECOG-PS和MYC表达的新预后模型来预测新诊断PCNSL患者的OS。</a:t>
            </a:r>
          </a:p>
          <a:p>
            <a:pPr>
              <a:lnSpc>
                <a:spcPct val="103000"/>
              </a:lnSpc>
              <a:spcAft>
                <a:spcPts val="300"/>
              </a:spcAft>
              <a:defRPr sz="560">
                <a:solidFill>
                  <a:srgbClr val="21242A"/>
                </a:solidFill>
                <a:latin typeface="Microsoft YaHei"/>
              </a:defRPr>
            </a:pPr>
            <a:r>
              <a:t>通过纳入与肿瘤侵袭性相关的高风险临床病理特征，该模型可以促进更个性化的治疗计划。</a:t>
            </a:r>
          </a:p>
        </p:txBody>
      </p:sp>
      <p:sp>
        <p:nvSpPr>
          <p:cNvPr id="27" name="TextBox 26"/>
          <p:cNvSpPr txBox="1"/>
          <p:nvPr/>
        </p:nvSpPr>
        <p:spPr>
          <a:xfrm>
            <a:off x="521208" y="5394959"/>
            <a:ext cx="6409944" cy="118872"/>
          </a:xfrm>
          <a:prstGeom prst="rect">
            <a:avLst/>
          </a:prstGeom>
          <a:noFill/>
        </p:spPr>
        <p:txBody>
          <a:bodyPr wrap="square" lIns="73152" rIns="73152" tIns="36576" bIns="36576" anchor="t">
            <a:normAutofit/>
          </a:bodyPr>
          <a:lstStyle/>
          <a:p>
            <a:pPr algn="l"/>
            <a:r>
              <a:rPr sz="530" b="0">
                <a:solidFill>
                  <a:srgbClr val="5E6570"/>
                </a:solidFill>
                <a:latin typeface="Microsoft YaHei"/>
              </a:rPr>
              <a:t>数字核对未通过时按EHA原文翻译展示。</a:t>
            </a:r>
          </a:p>
        </p:txBody>
      </p:sp>
      <p:sp>
        <p:nvSpPr>
          <p:cNvPr id="28" name="TextBox 27"/>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9" name="Rectangle 28"/>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摘要号：PF1011</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药物/技术：CNS穿透/放疗/MTX策略</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1" name="Rounded Rectangle 30">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预测全身弥漫性大b细胞淋巴瘤和原发性中枢神经系统淋巴瘤自体造血细胞移植后复发的因素：一项芬兰多中心研究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factors predicting relapse after autologous hematopoietic cell transplantatio...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PS2247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中枢神经系统淋巴瘤，弥漫性大B细胞淋巴瘤</a:t>
            </a:r>
          </a:p>
          <a:p>
            <a:pPr>
              <a:lnSpc>
                <a:spcPct val="103000"/>
              </a:lnSpc>
              <a:spcAft>
                <a:spcPts val="300"/>
              </a:spcAft>
              <a:defRPr sz="800">
                <a:solidFill>
                  <a:srgbClr val="21242A"/>
                </a:solidFill>
                <a:latin typeface="Microsoft YaHei"/>
              </a:defRPr>
            </a:pPr>
            <a:r>
              <a:t>N=159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回顾性临床研究结果：factors predicting relapse after autologous hematopoi...</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DLBCL患者：LDH升高与复发风险HR=3.75 (95% CI 1.46-9.59, p=0.006)</a:t>
            </a:r>
          </a:p>
          <a:p>
            <a:pPr>
              <a:lnSpc>
                <a:spcPct val="103000"/>
              </a:lnSpc>
              <a:spcAft>
                <a:spcPts val="300"/>
              </a:spcAft>
              <a:defRPr sz="800">
                <a:solidFill>
                  <a:srgbClr val="21242A"/>
                </a:solidFill>
                <a:latin typeface="Microsoft YaHei"/>
              </a:defRPr>
            </a:pPr>
            <a:r>
              <a:t>DLBCL患者：≥2个结外病灶与复发风险HR=2.89 (95% CI 1.21-6.91, p=0.017)</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人数：159</a:t>
            </a:r>
          </a:p>
          <a:p>
            <a:pPr>
              <a:lnSpc>
                <a:spcPct val="103000"/>
              </a:lnSpc>
              <a:spcAft>
                <a:spcPts val="300"/>
              </a:spcAft>
              <a:defRPr sz="810">
                <a:solidFill>
                  <a:srgbClr val="21242A"/>
                </a:solidFill>
                <a:latin typeface="Microsoft YaHei"/>
              </a:defRPr>
            </a:pPr>
            <a:r>
              <a:t>适应症：中枢神经系统淋巴瘤、弥漫性大B细胞淋巴瘤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研究主题：factors predicting relapse after autologous hematopoietic cell transplantation in systemic diffuse large b-cell lymphom...</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预测全身弥漫性大b细胞淋巴瘤和原发性中枢神经系统淋巴瘤自体造血细胞移植后复发的因素：一项芬兰多中心研究</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factors predicting relapse after autologous hematopoietic cell transplantatio...</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PS2247</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SCNSL/CNS复发或预防</a:t>
            </a:r>
          </a:p>
        </p:txBody>
      </p:sp>
      <p:sp>
        <p:nvSpPr>
          <p:cNvPr id="10" name="TextBox 9"/>
          <p:cNvSpPr txBox="1"/>
          <p:nvPr/>
        </p:nvSpPr>
        <p:spPr>
          <a:xfrm>
            <a:off x="446227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185/187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和原发性中枢神经系统淋巴瘤 (PCNSL) 患者在自体造血细胞移植 (AHCT) 后出现复发，预后较差。预测移植后复发风险的因素尚不清楚。 目的：这项多中心现实世界研究的目的是确定影响系统性 DLBCL 或 PCNSL 移植后结果的因素。</a:t>
            </a:r>
          </a:p>
          <a:p>
            <a:pPr>
              <a:lnSpc>
                <a:spcPct val="103000"/>
              </a:lnSpc>
              <a:spcAft>
                <a:spcPts val="300"/>
              </a:spcAft>
              <a:defRPr sz="550">
                <a:solidFill>
                  <a:srgbClr val="21242A"/>
                </a:solidFill>
                <a:latin typeface="Microsoft YaHei"/>
              </a:defRPr>
            </a:pPr>
            <a:r>
              <a:t>方法：研究人群包括 2000 年至 2019 年间在芬兰三所大学医院（库奥皮奥、坦佩雷、奥卢）接受 AHCT 的 119 名系统性 DLBCL 患者和 40 名 PCNSL 患者。数据是从患者的医疗记录中回顾性收集的，包括患者和疾病的特征和结果。早期复发被定义为发生</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如果 PCNSL 患者的活动前反应比 CR 差，则在首次复发后接受 AHCT 的 PCNSL 患者更有可能出现移植后复发。我们针对移植后复发的新风险分类将系统性 DLBCL 患者分为三组，RFS 率显着不同。需要更大规模的研究来验证这种分类。</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14230">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14230">
                <a:tc>
                  <a:txBody>
                    <a:bodyPr wrap="square" lIns="36576" rIns="36576" tIns="18288" bIns="18288"/>
                    <a:lstStyle/>
                    <a:p>
                      <a:r>
                        <a:rPr sz="540" b="1">
                          <a:solidFill>
                            <a:srgbClr val="21242A"/>
                          </a:solidFill>
                          <a:latin typeface="Microsoft YaHei"/>
                        </a:rPr>
                        <a:t>DLBCL患者</a:t>
                      </a:r>
                    </a:p>
                  </a:txBody>
                  <a:tcPr>
                    <a:solidFill>
                      <a:srgbClr val="F6F8FB"/>
                    </a:solidFill>
                  </a:tcPr>
                </a:tc>
                <a:tc>
                  <a:txBody>
                    <a:bodyPr wrap="square" lIns="36576" rIns="36576" tIns="18288" bIns="18288"/>
                    <a:lstStyle/>
                    <a:p>
                      <a:r>
                        <a:rPr sz="540" b="0">
                          <a:solidFill>
                            <a:srgbClr val="21242A"/>
                          </a:solidFill>
                          <a:latin typeface="Microsoft YaHei"/>
                        </a:rPr>
                        <a:t>LDH升高与复发风险HR=3.75 (95% CI 1.46-9.59, p=0.006)</a:t>
                      </a:r>
                    </a:p>
                  </a:txBody>
                  <a:tcPr>
                    <a:solidFill>
                      <a:srgbClr val="F6F8FB"/>
                    </a:solidFill>
                  </a:tcPr>
                </a:tc>
              </a:tr>
              <a:tr h="214230">
                <a:tc>
                  <a:txBody>
                    <a:bodyPr wrap="square" lIns="36576" rIns="36576" tIns="18288" bIns="18288"/>
                    <a:lstStyle/>
                    <a:p>
                      <a:r>
                        <a:rPr sz="540" b="1">
                          <a:solidFill>
                            <a:srgbClr val="21242A"/>
                          </a:solidFill>
                          <a:latin typeface="Microsoft YaHei"/>
                        </a:rPr>
                        <a:t>DLBCL患者</a:t>
                      </a:r>
                    </a:p>
                  </a:txBody>
                  <a:tcPr>
                    <a:solidFill>
                      <a:srgbClr val="FFFFFF"/>
                    </a:solidFill>
                  </a:tcPr>
                </a:tc>
                <a:tc>
                  <a:txBody>
                    <a:bodyPr wrap="square" lIns="36576" rIns="36576" tIns="18288" bIns="18288"/>
                    <a:lstStyle/>
                    <a:p>
                      <a:r>
                        <a:rPr sz="540" b="0">
                          <a:solidFill>
                            <a:srgbClr val="21242A"/>
                          </a:solidFill>
                          <a:latin typeface="Microsoft YaHei"/>
                        </a:rPr>
                        <a:t>≥2个结外病灶与复发风险HR=2.89 (95% CI 1.21-6.91, p=0.017)</a:t>
                      </a:r>
                    </a:p>
                  </a:txBody>
                  <a:tcPr>
                    <a:solidFill>
                      <a:srgbClr val="FFFFFF"/>
                    </a:solidFill>
                  </a:tcPr>
                </a:tc>
              </a:tr>
              <a:tr h="214230">
                <a:tc>
                  <a:txBody>
                    <a:bodyPr wrap="square" lIns="36576" rIns="36576" tIns="18288" bIns="18288"/>
                    <a:lstStyle/>
                    <a:p>
                      <a:r>
                        <a:rPr sz="540" b="1">
                          <a:solidFill>
                            <a:srgbClr val="21242A"/>
                          </a:solidFill>
                          <a:latin typeface="Microsoft YaHei"/>
                        </a:rPr>
                        <a:t>DLBCL患者</a:t>
                      </a:r>
                    </a:p>
                  </a:txBody>
                  <a:tcPr>
                    <a:solidFill>
                      <a:srgbClr val="F6F8FB"/>
                    </a:solidFill>
                  </a:tcPr>
                </a:tc>
                <a:tc>
                  <a:txBody>
                    <a:bodyPr wrap="square" lIns="36576" rIns="36576" tIns="18288" bIns="18288"/>
                    <a:lstStyle/>
                    <a:p>
                      <a:r>
                        <a:rPr sz="540" b="0">
                          <a:solidFill>
                            <a:srgbClr val="21242A"/>
                          </a:solidFill>
                          <a:latin typeface="Microsoft YaHei"/>
                        </a:rPr>
                        <a:t>AHCT前PR与复发风险HR=1.97 (95% CI 1.02-3.80, p=0.042)</a:t>
                      </a:r>
                    </a:p>
                  </a:txBody>
                  <a:tcPr>
                    <a:solidFill>
                      <a:srgbClr val="F6F8FB"/>
                    </a:solidFill>
                  </a:tcPr>
                </a:tc>
              </a:tr>
              <a:tr h="214230">
                <a:tc>
                  <a:txBody>
                    <a:bodyPr wrap="square" lIns="36576" rIns="36576" tIns="18288" bIns="18288"/>
                    <a:lstStyle/>
                    <a:p>
                      <a:r>
                        <a:rPr sz="540" b="1">
                          <a:solidFill>
                            <a:srgbClr val="21242A"/>
                          </a:solidFill>
                          <a:latin typeface="Microsoft YaHei"/>
                        </a:rPr>
                        <a:t>PCNSL患者</a:t>
                      </a:r>
                    </a:p>
                  </a:txBody>
                  <a:tcPr>
                    <a:solidFill>
                      <a:srgbClr val="FFFFFF"/>
                    </a:solidFill>
                  </a:tcPr>
                </a:tc>
                <a:tc>
                  <a:txBody>
                    <a:bodyPr wrap="square" lIns="36576" rIns="36576" tIns="18288" bIns="18288"/>
                    <a:lstStyle/>
                    <a:p>
                      <a:r>
                        <a:rPr sz="540" b="0">
                          <a:solidFill>
                            <a:srgbClr val="21242A"/>
                          </a:solidFill>
                          <a:latin typeface="Microsoft YaHei"/>
                        </a:rPr>
                        <a:t>动员前PR vs CR的复发风险HR=15.06 (95% CI 1.08-210.62, p=0.044)</a:t>
                      </a:r>
                    </a:p>
                  </a:txBody>
                  <a:tcPr>
                    <a:solidFill>
                      <a:srgbClr val="FFFFFF"/>
                    </a:solidFill>
                  </a:tcPr>
                </a:tc>
              </a:tr>
              <a:tr h="214230">
                <a:tc>
                  <a:txBody>
                    <a:bodyPr wrap="square" lIns="36576" rIns="36576" tIns="18288" bIns="18288"/>
                    <a:lstStyle/>
                    <a:p>
                      <a:r>
                        <a:rPr sz="540" b="1">
                          <a:solidFill>
                            <a:srgbClr val="21242A"/>
                          </a:solidFill>
                          <a:latin typeface="Microsoft YaHei"/>
                        </a:rPr>
                        <a:t>基于以上三个因素的风险评分</a:t>
                      </a:r>
                    </a:p>
                  </a:txBody>
                  <a:tcPr>
                    <a:solidFill>
                      <a:srgbClr val="F6F8FB"/>
                    </a:solidFill>
                  </a:tcPr>
                </a:tc>
                <a:tc>
                  <a:txBody>
                    <a:bodyPr wrap="square" lIns="36576" rIns="36576" tIns="18288" bIns="18288"/>
                    <a:lstStyle/>
                    <a:p>
                      <a:r>
                        <a:rPr sz="540" b="0">
                          <a:solidFill>
                            <a:srgbClr val="21242A"/>
                          </a:solidFill>
                          <a:latin typeface="Microsoft YaHei"/>
                        </a:rPr>
                        <a:t>低危组5年RFS 84.9%，中危组64.4%，高危组47.5% (p=0.006)</a:t>
                      </a:r>
                    </a:p>
                  </a:txBody>
                  <a:tcPr>
                    <a:solidFill>
                      <a:srgbClr val="F6F8FB"/>
                    </a:solidFill>
                  </a:tcPr>
                </a:tc>
              </a:tr>
              <a:tr h="214236">
                <a:tc>
                  <a:txBody>
                    <a:bodyPr wrap="square" lIns="36576" rIns="36576" tIns="18288" bIns="18288"/>
                    <a:lstStyle/>
                    <a:p>
                      <a:r>
                        <a:rPr sz="540" b="1">
                          <a:solidFill>
                            <a:srgbClr val="21242A"/>
                          </a:solidFill>
                          <a:latin typeface="Microsoft YaHei"/>
                        </a:rPr>
                        <a:t>结果</a:t>
                      </a:r>
                    </a:p>
                  </a:txBody>
                  <a:tcPr>
                    <a:solidFill>
                      <a:srgbClr val="FFFFFF"/>
                    </a:solidFill>
                  </a:tcPr>
                </a:tc>
                <a:tc>
                  <a:txBody>
                    <a:bodyPr wrap="square" lIns="36576" rIns="36576" tIns="18288" bIns="18288"/>
                    <a:lstStyle/>
                    <a:p>
                      <a:r>
                        <a:rPr sz="540" b="0">
                          <a:solidFill>
                            <a:srgbClr val="21242A"/>
                          </a:solidFill>
                          <a:latin typeface="Microsoft YaHei"/>
                        </a:rPr>
                        <a:t>其余1条结果见HTML完整清单及EHA原文。</a:t>
                      </a:r>
                    </a:p>
                  </a:txBody>
                  <a:tcPr>
                    <a:solidFill>
                      <a:srgbClr val="FFFFFF"/>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摘要号：PS2247</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疾病场景：SCNSL/CNS复发或预防</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玻璃体切除标本流式细胞术作为原发性玻璃体视网膜淋巴瘤的诊断工具</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flow cytometry of vitrectomy samples as a diagnostic tool in primary vitreore...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眼内/玻璃体视网膜淋巴瘤</a:t>
            </a:r>
          </a:p>
        </p:txBody>
      </p:sp>
      <p:sp>
        <p:nvSpPr>
          <p:cNvPr id="10" name="TextBox 9"/>
          <p:cNvSpPr txBox="1"/>
          <p:nvPr/>
        </p:nvSpPr>
        <p:spPr>
          <a:xfrm>
            <a:off x="446227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原发性玻璃体视网膜淋巴瘤</a:t>
            </a:r>
          </a:p>
          <a:p>
            <a:pPr>
              <a:lnSpc>
                <a:spcPct val="103000"/>
              </a:lnSpc>
              <a:spcAft>
                <a:spcPts val="300"/>
              </a:spcAft>
              <a:defRPr sz="800">
                <a:solidFill>
                  <a:srgbClr val="21242A"/>
                </a:solidFill>
                <a:latin typeface="Microsoft YaHei"/>
              </a:defRPr>
            </a:pPr>
            <a:r>
              <a:t>N=49</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回顾性临床研究结果：flow cytometry of vitrectomy samples as a diagnostic...</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未明确对照</a:t>
            </a:r>
          </a:p>
          <a:p>
            <a:pPr>
              <a:lnSpc>
                <a:spcPct val="103000"/>
              </a:lnSpc>
              <a:spcAft>
                <a:spcPts val="300"/>
              </a:spcAft>
              <a:defRPr sz="800">
                <a:solidFill>
                  <a:srgbClr val="21242A"/>
                </a:solidFill>
                <a:latin typeface="Microsoft YaHei"/>
              </a:defRPr>
            </a:pPr>
            <a:r>
              <a:t>按单臂、观察性、真实世界、基础研究或原表未提取处理</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对于预测CNS淋巴瘤：敏感性100%（95%CI: 77.1-100%），特异性94.4%（95%CI: 77.3-99.1%...</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研究类型：回顾性临床研究结果</a:t>
            </a:r>
          </a:p>
          <a:p>
            <a:pPr>
              <a:lnSpc>
                <a:spcPct val="103000"/>
              </a:lnSpc>
              <a:spcAft>
                <a:spcPts val="300"/>
              </a:spcAft>
              <a:defRPr sz="810">
                <a:solidFill>
                  <a:srgbClr val="21242A"/>
                </a:solidFill>
                <a:latin typeface="Microsoft YaHei"/>
              </a:defRPr>
            </a:pPr>
            <a:r>
              <a:t>人数：49</a:t>
            </a:r>
          </a:p>
          <a:p>
            <a:pPr>
              <a:lnSpc>
                <a:spcPct val="103000"/>
              </a:lnSpc>
              <a:spcAft>
                <a:spcPts val="300"/>
              </a:spcAft>
              <a:defRPr sz="810">
                <a:solidFill>
                  <a:srgbClr val="21242A"/>
                </a:solidFill>
                <a:latin typeface="Microsoft YaHei"/>
              </a:defRPr>
            </a:pPr>
            <a:r>
              <a:t>适应症：原发性玻璃体视网膜淋巴瘤</a:t>
            </a:r>
          </a:p>
          <a:p>
            <a:pPr>
              <a:lnSpc>
                <a:spcPct val="103000"/>
              </a:lnSpc>
              <a:spcAft>
                <a:spcPts val="300"/>
              </a:spcAft>
              <a:defRPr sz="810">
                <a:solidFill>
                  <a:srgbClr val="21242A"/>
                </a:solidFill>
                <a:latin typeface="Microsoft YaHei"/>
              </a:defRPr>
            </a:pPr>
            <a:r>
              <a:t>治疗线数：未提取</a:t>
            </a:r>
          </a:p>
          <a:p>
            <a:pPr>
              <a:lnSpc>
                <a:spcPct val="103000"/>
              </a:lnSpc>
              <a:spcAft>
                <a:spcPts val="300"/>
              </a:spcAft>
              <a:defRPr sz="810">
                <a:solidFill>
                  <a:srgbClr val="21242A"/>
                </a:solidFill>
                <a:latin typeface="Microsoft YaHei"/>
              </a:defRPr>
            </a:pPr>
            <a:r>
              <a:t>登记号：未提取</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研究主题：flow cytometry of vitrectomy samples as a diagnostic tool in primary vitreoretinal lymphoma</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玻璃体切除标本流式细胞术作为原发性玻璃体视网膜淋巴瘤的诊断工具</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flow cytometry of vitrectomy samples as a diagnostic tool in primary vitreore...</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PF1020</a:t>
            </a:r>
          </a:p>
        </p:txBody>
      </p:sp>
      <p:sp>
        <p:nvSpPr>
          <p:cNvPr id="6" name="TextBox 5"/>
          <p:cNvSpPr txBox="1"/>
          <p:nvPr/>
        </p:nvSpPr>
        <p:spPr>
          <a:xfrm>
            <a:off x="310896"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7" name="TextBox 6"/>
          <p:cNvSpPr txBox="1"/>
          <p:nvPr/>
        </p:nvSpPr>
        <p:spPr>
          <a:xfrm>
            <a:off x="1097280" y="6327648"/>
            <a:ext cx="69494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CNSL</a:t>
            </a:r>
          </a:p>
        </p:txBody>
      </p:sp>
      <p:sp>
        <p:nvSpPr>
          <p:cNvPr id="8" name="TextBox 7"/>
          <p:cNvSpPr txBox="1"/>
          <p:nvPr/>
        </p:nvSpPr>
        <p:spPr>
          <a:xfrm>
            <a:off x="18836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回顾性/真实世界研究</a:t>
            </a:r>
          </a:p>
        </p:txBody>
      </p:sp>
      <p:sp>
        <p:nvSpPr>
          <p:cNvPr id="9" name="TextBox 8"/>
          <p:cNvSpPr txBox="1"/>
          <p:nvPr/>
        </p:nvSpPr>
        <p:spPr>
          <a:xfrm>
            <a:off x="3136392" y="6327648"/>
            <a:ext cx="12344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眼内/玻璃体视网膜淋巴瘤</a:t>
            </a:r>
          </a:p>
        </p:txBody>
      </p:sp>
      <p:sp>
        <p:nvSpPr>
          <p:cNvPr id="10" name="TextBox 9"/>
          <p:cNvSpPr txBox="1"/>
          <p:nvPr/>
        </p:nvSpPr>
        <p:spPr>
          <a:xfrm>
            <a:off x="4462272" y="6327648"/>
            <a:ext cx="1005840"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其他/未明确药物</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CNSL | 186/187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背景：原发性玻璃体视网膜淋巴瘤 (PVRL) 是一种以侵袭性为主的 B 细胞淋巴瘤的罕见亚型，出现在玻璃体和/或视网膜中，并且与不良临床结果相关，主要是由于中枢神经系统 (CNS) 频繁受累。由于缺乏标准化的诊断指南，PVRL 仍然是眼科医生、病理学家和血液学家的诊断挑战。目的：在这项回顾性单中心分析中，我们旨在评估多</a:t>
            </a:r>
          </a:p>
          <a:p>
            <a:pPr>
              <a:lnSpc>
                <a:spcPct val="103000"/>
              </a:lnSpc>
              <a:spcAft>
                <a:spcPts val="300"/>
              </a:spcAft>
              <a:defRPr sz="550">
                <a:solidFill>
                  <a:srgbClr val="21242A"/>
                </a:solidFill>
                <a:latin typeface="Microsoft YaHei"/>
              </a:defRPr>
            </a:pPr>
            <a:r>
              <a:t>参数流式细胞术分析 (MPFC) 在玻璃体切除术样本中诊断 PVRL 的效用。此外，我们希望评估 MPFC 在鉴定玻璃体中的单克隆 B 细胞后识别有 CNS 病变风险的患者的敏感性、特异性和预测价值。方法：使用 MPFC 对总共 49 个平坦部玻璃体切除术 (PPV) 样本进行单克隆 B 细胞（CD45、CD19、CD</a:t>
            </a:r>
          </a:p>
          <a:p>
            <a:pPr>
              <a:lnSpc>
                <a:spcPct val="103000"/>
              </a:lnSpc>
              <a:spcAft>
                <a:spcPts val="300"/>
              </a:spcAft>
              <a:defRPr sz="550">
                <a:solidFill>
                  <a:srgbClr val="21242A"/>
                </a:solidFill>
                <a:latin typeface="Microsoft YaHei"/>
              </a:defRPr>
            </a:pPr>
            <a:r>
              <a:t>5、CD10 和免疫球蛋白轻链 κ/λ）分析。使用曼-惠特尼 U 检验对阳性样本和阴性样本进行统计比较。</a:t>
            </a:r>
          </a:p>
          <a:p>
            <a:pPr>
              <a:lnSpc>
                <a:spcPct val="103000"/>
              </a:lnSpc>
              <a:spcAft>
                <a:spcPts val="300"/>
              </a:spcAft>
              <a:defRPr sz="550">
                <a:solidFill>
                  <a:srgbClr val="21242A"/>
                </a:solidFill>
                <a:latin typeface="Microsoft YaHei"/>
              </a:defRPr>
            </a:pPr>
            <a:r>
              <a:t>\n为了确定玻璃体切除样本中鉴定出单克隆 B 细胞群后 MPFC 预测中枢神经系统受累的诊断准确性，对 34 名患者进行了平均 31 个月的随访，并根据随后的淋巴瘤明确证据（包括脑脊液分析、MRI 或 CT 成像以及临床进展）对 MPFC 的结果进行了验证。</a:t>
            </a:r>
          </a:p>
          <a:p>
            <a:pPr>
              <a:lnSpc>
                <a:spcPct val="103000"/>
              </a:lnSpc>
              <a:spcAft>
                <a:spcPts val="300"/>
              </a:spcAft>
              <a:defRPr sz="550">
                <a:solidFill>
                  <a:srgbClr val="21242A"/>
                </a:solidFill>
                <a:latin typeface="Microsoft YaHei"/>
              </a:defRPr>
            </a:pPr>
            <a:r>
              <a:t>计算MPFC的敏感性、特异性、阳性预测值(PPV)和阴性预测值(NPV)。</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玻璃体切除术样本的 MPFC 分析是疑似 PVRL 的宝贵诊断工具。玻璃体内单克隆 B 细胞的检测与伴随或随后 CNS 受累的风险增加相关，这支持了在初步诊断时进行系统 CNS 分期以及诊断后第一年密切监测的需要。</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结果摘录（中文原表）</a:t>
            </a:r>
          </a:p>
        </p:txBody>
      </p:sp>
      <p:sp>
        <p:nvSpPr>
          <p:cNvPr id="26" name="TextBox 25"/>
          <p:cNvSpPr txBox="1"/>
          <p:nvPr/>
        </p:nvSpPr>
        <p:spPr>
          <a:xfrm>
            <a:off x="502920" y="3858768"/>
            <a:ext cx="6446520" cy="1527048"/>
          </a:xfrm>
          <a:prstGeom prst="rect">
            <a:avLst/>
          </a:prstGeom>
          <a:noFill/>
        </p:spPr>
        <p:txBody>
          <a:bodyPr wrap="square" rIns="73152" bIns="36576">
            <a:normAutofit/>
          </a:bodyPr>
          <a:lstStyle/>
          <a:p>
            <a:pPr>
              <a:lnSpc>
                <a:spcPct val="103000"/>
              </a:lnSpc>
              <a:spcAft>
                <a:spcPts val="300"/>
              </a:spcAft>
              <a:defRPr sz="560">
                <a:solidFill>
                  <a:srgbClr val="21242A"/>
                </a:solidFill>
                <a:latin typeface="Microsoft YaHei"/>
              </a:defRPr>
            </a:pPr>
            <a:r>
              <a:t>对于预测CNS淋巴瘤：敏感性100%（95%CI: 77.1-100%），特异性94.4%（95%CI: 77.3-99.1%），阳性预测值（PPV）未提供，阴性预测值100%（95%CI: 83.9-100%）</a:t>
            </a:r>
          </a:p>
        </p:txBody>
      </p:sp>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摘要号：PF1020</a:t>
            </a:r>
          </a:p>
          <a:p>
            <a:pPr>
              <a:lnSpc>
                <a:spcPct val="103000"/>
              </a:lnSpc>
              <a:spcAft>
                <a:spcPts val="300"/>
              </a:spcAft>
              <a:defRPr sz="680">
                <a:solidFill>
                  <a:srgbClr val="21242A"/>
                </a:solidFill>
                <a:latin typeface="Microsoft YaHei"/>
              </a:defRPr>
            </a:pPr>
            <a:r>
              <a:t>研究类型：回顾性/真实世界研究</a:t>
            </a:r>
          </a:p>
          <a:p>
            <a:pPr>
              <a:lnSpc>
                <a:spcPct val="103000"/>
              </a:lnSpc>
              <a:spcAft>
                <a:spcPts val="300"/>
              </a:spcAft>
              <a:defRPr sz="680">
                <a:solidFill>
                  <a:srgbClr val="21242A"/>
                </a:solidFill>
                <a:latin typeface="Microsoft YaHei"/>
              </a:defRPr>
            </a:pPr>
            <a:r>
              <a:t>疾病场景：眼内/玻璃体视网膜淋巴瘤</a:t>
            </a:r>
          </a:p>
          <a:p>
            <a:pPr>
              <a:lnSpc>
                <a:spcPct val="103000"/>
              </a:lnSpc>
              <a:spcAft>
                <a:spcPts val="300"/>
              </a:spcAft>
              <a:defRPr sz="680">
                <a:solidFill>
                  <a:srgbClr val="21242A"/>
                </a:solidFill>
                <a:latin typeface="Microsoft YaHei"/>
              </a:defRPr>
            </a:pPr>
            <a:r>
              <a:t>药物/技术：其他/未明确药物</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30352" y="384048"/>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章节</a:t>
            </a:r>
          </a:p>
        </p:txBody>
      </p:sp>
      <p:sp>
        <p:nvSpPr>
          <p:cNvPr id="3" name="TextBox 2"/>
          <p:cNvSpPr txBox="1"/>
          <p:nvPr/>
        </p:nvSpPr>
        <p:spPr>
          <a:xfrm>
            <a:off x="1600200" y="274320"/>
            <a:ext cx="9326880" cy="502920"/>
          </a:xfrm>
          <a:prstGeom prst="rect">
            <a:avLst/>
          </a:prstGeom>
          <a:noFill/>
        </p:spPr>
        <p:txBody>
          <a:bodyPr wrap="square" lIns="73152" rIns="73152" tIns="36576" bIns="36576" anchor="t">
            <a:normAutofit/>
          </a:bodyPr>
          <a:lstStyle/>
          <a:p>
            <a:pPr algn="l"/>
            <a:r>
              <a:rPr sz="2200" b="1">
                <a:solidFill>
                  <a:srgbClr val="21242A"/>
                </a:solidFill>
                <a:latin typeface="Microsoft YaHei"/>
              </a:rPr>
              <a:t>卫生经济/模型研究</a:t>
            </a:r>
          </a:p>
        </p:txBody>
      </p:sp>
      <p:sp>
        <p:nvSpPr>
          <p:cNvPr id="4" name="TextBox 3"/>
          <p:cNvSpPr txBox="1"/>
          <p:nvPr/>
        </p:nvSpPr>
        <p:spPr>
          <a:xfrm>
            <a:off x="1627632" y="859536"/>
            <a:ext cx="9144000" cy="228600"/>
          </a:xfrm>
          <a:prstGeom prst="rect">
            <a:avLst/>
          </a:prstGeom>
          <a:noFill/>
        </p:spPr>
        <p:txBody>
          <a:bodyPr wrap="square" lIns="73152" rIns="73152" tIns="36576" bIns="36576" anchor="t">
            <a:normAutofit/>
          </a:bodyPr>
          <a:lstStyle/>
          <a:p>
            <a:pPr algn="l"/>
            <a:r>
              <a:rPr sz="919" b="0">
                <a:solidFill>
                  <a:srgbClr val="5E6570"/>
                </a:solidFill>
                <a:latin typeface="Microsoft YaHei"/>
              </a:rPr>
              <a:t>1项研究；以下按疾病场景和药物/技术继续细分。</a:t>
            </a:r>
          </a:p>
        </p:txBody>
      </p:sp>
      <p:sp>
        <p:nvSpPr>
          <p:cNvPr id="5" name="TextBox 4"/>
          <p:cNvSpPr txBox="1"/>
          <p:nvPr/>
        </p:nvSpPr>
        <p:spPr>
          <a:xfrm>
            <a:off x="640080" y="148132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疾病场景</a:t>
            </a:r>
          </a:p>
        </p:txBody>
      </p:sp>
      <p:sp>
        <p:nvSpPr>
          <p:cNvPr id="6" name="TextBox 5"/>
          <p:cNvSpPr txBox="1"/>
          <p:nvPr/>
        </p:nvSpPr>
        <p:spPr>
          <a:xfrm>
            <a:off x="768096" y="1828800"/>
            <a:ext cx="338328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LBCL/HGBL：1项</a:t>
            </a:r>
          </a:p>
        </p:txBody>
      </p:sp>
      <p:sp>
        <p:nvSpPr>
          <p:cNvPr id="7" name="Rectangle 6"/>
          <p:cNvSpPr/>
          <p:nvPr/>
        </p:nvSpPr>
        <p:spPr>
          <a:xfrm>
            <a:off x="4297680" y="1874519"/>
            <a:ext cx="201168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297680" y="1874519"/>
            <a:ext cx="2011680" cy="91440"/>
          </a:xfrm>
          <a:prstGeom prst="rect">
            <a:avLst/>
          </a:prstGeom>
          <a:solidFill>
            <a:srgbClr val="265E8F"/>
          </a:solidFill>
          <a:ln w="8890">
            <a:solidFill>
              <a:srgbClr val="265E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0" y="1481328"/>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药物/技术</a:t>
            </a:r>
          </a:p>
        </p:txBody>
      </p:sp>
      <p:sp>
        <p:nvSpPr>
          <p:cNvPr id="10" name="TextBox 9"/>
          <p:cNvSpPr txBox="1"/>
          <p:nvPr/>
        </p:nvSpPr>
        <p:spPr>
          <a:xfrm>
            <a:off x="6720840" y="1828800"/>
            <a:ext cx="3108960" cy="201168"/>
          </a:xfrm>
          <a:prstGeom prst="rect">
            <a:avLst/>
          </a:prstGeom>
          <a:noFill/>
        </p:spPr>
        <p:txBody>
          <a:bodyPr wrap="square" lIns="73152" rIns="73152" tIns="36576" bIns="36576" anchor="t">
            <a:normAutofit/>
          </a:bodyPr>
          <a:lstStyle/>
          <a:p>
            <a:pPr algn="l"/>
            <a:r>
              <a:rPr sz="880" b="1">
                <a:solidFill>
                  <a:srgbClr val="21242A"/>
                </a:solidFill>
                <a:latin typeface="Microsoft YaHei"/>
              </a:rPr>
              <a:t>CAR-T/细胞治疗：1项</a:t>
            </a:r>
          </a:p>
        </p:txBody>
      </p:sp>
      <p:sp>
        <p:nvSpPr>
          <p:cNvPr id="11" name="Rectangle 10"/>
          <p:cNvSpPr/>
          <p:nvPr/>
        </p:nvSpPr>
        <p:spPr>
          <a:xfrm>
            <a:off x="9893808" y="1874519"/>
            <a:ext cx="1508760" cy="91440"/>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893808" y="1874519"/>
            <a:ext cx="1508760" cy="91440"/>
          </a:xfrm>
          <a:prstGeom prst="rect">
            <a:avLst/>
          </a:prstGeom>
          <a:solidFill>
            <a:srgbClr val="2A795B"/>
          </a:solidFill>
          <a:ln w="8890">
            <a:solidFill>
              <a:srgbClr val="2A795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40080" y="4919472"/>
            <a:ext cx="10744200" cy="74980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5065776"/>
            <a:ext cx="10332720" cy="384048"/>
          </a:xfrm>
          <a:prstGeom prst="rect">
            <a:avLst/>
          </a:prstGeom>
          <a:noFill/>
        </p:spPr>
        <p:txBody>
          <a:bodyPr wrap="square" rIns="73152" bIns="36576">
            <a:normAutofit/>
          </a:bodyPr>
          <a:lstStyle/>
          <a:p>
            <a:pPr>
              <a:lnSpc>
                <a:spcPct val="103000"/>
              </a:lnSpc>
              <a:spcAft>
                <a:spcPts val="300"/>
              </a:spcAft>
              <a:defRPr sz="800">
                <a:solidFill>
                  <a:srgbClr val="5E6570"/>
                </a:solidFill>
                <a:latin typeface="Microsoft YaHei"/>
              </a:defRPr>
            </a:pPr>
            <a:r>
              <a:t>章节内每项研究固定两页：研究设计/PICO、证据摘要（摘要/结论/结果/来源）。</a:t>
            </a:r>
          </a:p>
          <a:p>
            <a:pPr>
              <a:lnSpc>
                <a:spcPct val="103000"/>
              </a:lnSpc>
              <a:spcAft>
                <a:spcPts val="300"/>
              </a:spcAft>
              <a:defRPr sz="800">
                <a:solidFill>
                  <a:srgbClr val="5E6570"/>
                </a:solidFill>
                <a:latin typeface="Microsoft YaHei"/>
              </a:defRPr>
            </a:pPr>
            <a:r>
              <a:t>所有证据字段来自EHA页面或已核对原表字段；右下角可跳转EHA原文。</a:t>
            </a:r>
          </a:p>
        </p:txBody>
      </p:sp>
      <p:sp>
        <p:nvSpPr>
          <p:cNvPr id="15" name="Rounded Rectangle 14">
            <a:hlinkClick action="ppaction://hlinksldjump" r:id="rId2"/>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研究设计</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ciloleucel治疗台湾复发/难治性弥漫性大b细胞淋巴瘤和一线治疗后高度b细胞淋巴瘤患者...</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cost-effectiveness of axicabtagene ciloleucel for treating taiwanese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PS2514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卫生经济/模型研究</a:t>
            </a:r>
          </a:p>
        </p:txBody>
      </p:sp>
      <p:sp>
        <p:nvSpPr>
          <p:cNvPr id="9" name="TextBox 8"/>
          <p:cNvSpPr txBox="1"/>
          <p:nvPr/>
        </p:nvSpPr>
        <p:spPr>
          <a:xfrm>
            <a:off x="345186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6268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187/187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PICO框架</a:t>
            </a:r>
          </a:p>
        </p:txBody>
      </p:sp>
      <p:sp>
        <p:nvSpPr>
          <p:cNvPr id="14" name="Rectangle 13"/>
          <p:cNvSpPr/>
          <p:nvPr/>
        </p:nvSpPr>
        <p:spPr>
          <a:xfrm>
            <a:off x="411480"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143000"/>
            <a:ext cx="1078992" cy="201168"/>
          </a:xfrm>
          <a:prstGeom prst="rect">
            <a:avLst/>
          </a:prstGeom>
          <a:solidFill>
            <a:srgbClr val="C5362D"/>
          </a:solidFill>
          <a:ln>
            <a:solidFill>
              <a:srgbClr val="C5362D"/>
            </a:solidFill>
          </a:ln>
        </p:spPr>
        <p:txBody>
          <a:bodyPr wrap="square" lIns="73152" rIns="73152" tIns="36576" bIns="36576" anchor="ctr">
            <a:normAutofit/>
          </a:bodyPr>
          <a:lstStyle/>
          <a:p>
            <a:pPr algn="ctr"/>
            <a:r>
              <a:rPr sz="800" b="1">
                <a:solidFill>
                  <a:srgbClr val="FFFFFF"/>
                </a:solidFill>
                <a:latin typeface="Microsoft YaHei"/>
              </a:rPr>
              <a:t>P 人群</a:t>
            </a:r>
          </a:p>
        </p:txBody>
      </p:sp>
      <p:sp>
        <p:nvSpPr>
          <p:cNvPr id="16" name="TextBox 15"/>
          <p:cNvSpPr txBox="1"/>
          <p:nvPr/>
        </p:nvSpPr>
        <p:spPr>
          <a:xfrm>
            <a:off x="484632"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弥漫性大B细胞淋巴瘤</a:t>
            </a:r>
          </a:p>
          <a:p>
            <a:pPr>
              <a:lnSpc>
                <a:spcPct val="103000"/>
              </a:lnSpc>
              <a:spcAft>
                <a:spcPts val="300"/>
              </a:spcAft>
              <a:defRPr sz="800">
                <a:solidFill>
                  <a:srgbClr val="21242A"/>
                </a:solidFill>
                <a:latin typeface="Microsoft YaHei"/>
              </a:defRPr>
            </a:pPr>
            <a:r>
              <a:t>治疗线数/场景：二线</a:t>
            </a:r>
          </a:p>
        </p:txBody>
      </p:sp>
      <p:sp>
        <p:nvSpPr>
          <p:cNvPr id="17" name="Rectangle 16"/>
          <p:cNvSpPr/>
          <p:nvPr/>
        </p:nvSpPr>
        <p:spPr>
          <a:xfrm>
            <a:off x="6108192" y="109728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153912" y="1143000"/>
            <a:ext cx="1078992" cy="201168"/>
          </a:xfrm>
          <a:prstGeom prst="rect">
            <a:avLst/>
          </a:prstGeom>
          <a:solidFill>
            <a:srgbClr val="265E8F"/>
          </a:solidFill>
          <a:ln>
            <a:solidFill>
              <a:srgbClr val="265E8F"/>
            </a:solidFill>
          </a:ln>
        </p:spPr>
        <p:txBody>
          <a:bodyPr wrap="square" lIns="73152" rIns="73152" tIns="36576" bIns="36576" anchor="ctr">
            <a:normAutofit/>
          </a:bodyPr>
          <a:lstStyle/>
          <a:p>
            <a:pPr algn="ctr"/>
            <a:r>
              <a:rPr sz="800" b="1">
                <a:solidFill>
                  <a:srgbClr val="FFFFFF"/>
                </a:solidFill>
                <a:latin typeface="Microsoft YaHei"/>
              </a:rPr>
              <a:t>I 干预</a:t>
            </a:r>
          </a:p>
        </p:txBody>
      </p:sp>
      <p:sp>
        <p:nvSpPr>
          <p:cNvPr id="19" name="TextBox 18"/>
          <p:cNvSpPr txBox="1"/>
          <p:nvPr/>
        </p:nvSpPr>
        <p:spPr>
          <a:xfrm>
            <a:off x="6181344" y="1408176"/>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试验药/方案：阿基仑赛</a:t>
            </a:r>
          </a:p>
          <a:p>
            <a:pPr>
              <a:lnSpc>
                <a:spcPct val="103000"/>
              </a:lnSpc>
              <a:spcAft>
                <a:spcPts val="300"/>
              </a:spcAft>
              <a:defRPr sz="800">
                <a:solidFill>
                  <a:srgbClr val="21242A"/>
                </a:solidFill>
                <a:latin typeface="Microsoft YaHei"/>
              </a:defRPr>
            </a:pPr>
            <a:r>
              <a:t>靶点：CD19</a:t>
            </a:r>
          </a:p>
        </p:txBody>
      </p:sp>
      <p:sp>
        <p:nvSpPr>
          <p:cNvPr id="20" name="Rectangle 19"/>
          <p:cNvSpPr/>
          <p:nvPr/>
        </p:nvSpPr>
        <p:spPr>
          <a:xfrm>
            <a:off x="411480"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2377439"/>
            <a:ext cx="1078992" cy="201168"/>
          </a:xfrm>
          <a:prstGeom prst="rect">
            <a:avLst/>
          </a:prstGeom>
          <a:solidFill>
            <a:srgbClr val="EC8832"/>
          </a:solidFill>
          <a:ln>
            <a:solidFill>
              <a:srgbClr val="EC8832"/>
            </a:solidFill>
          </a:ln>
        </p:spPr>
        <p:txBody>
          <a:bodyPr wrap="square" lIns="73152" rIns="73152" tIns="36576" bIns="36576" anchor="ctr">
            <a:normAutofit/>
          </a:bodyPr>
          <a:lstStyle/>
          <a:p>
            <a:pPr algn="ctr"/>
            <a:r>
              <a:rPr sz="800" b="1">
                <a:solidFill>
                  <a:srgbClr val="FFFFFF"/>
                </a:solidFill>
                <a:latin typeface="Microsoft YaHei"/>
              </a:rPr>
              <a:t>C 对照</a:t>
            </a:r>
          </a:p>
        </p:txBody>
      </p:sp>
      <p:sp>
        <p:nvSpPr>
          <p:cNvPr id="22" name="TextBox 21"/>
          <p:cNvSpPr txBox="1"/>
          <p:nvPr/>
        </p:nvSpPr>
        <p:spPr>
          <a:xfrm>
            <a:off x="484632"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对照/比较：试验组1：axicabtagene ciloleucel</a:t>
            </a:r>
          </a:p>
          <a:p>
            <a:pPr>
              <a:lnSpc>
                <a:spcPct val="103000"/>
              </a:lnSpc>
              <a:spcAft>
                <a:spcPts val="300"/>
              </a:spcAft>
              <a:defRPr sz="800">
                <a:solidFill>
                  <a:srgbClr val="21242A"/>
                </a:solidFill>
                <a:latin typeface="Microsoft YaHei"/>
              </a:defRPr>
            </a:pPr>
            <a:r>
              <a:t>对照组：标准治疗（化疗免疫治疗±高剂量治疗和自体干细胞移植）</a:t>
            </a:r>
          </a:p>
        </p:txBody>
      </p:sp>
      <p:sp>
        <p:nvSpPr>
          <p:cNvPr id="23" name="Rectangle 22"/>
          <p:cNvSpPr/>
          <p:nvPr/>
        </p:nvSpPr>
        <p:spPr>
          <a:xfrm>
            <a:off x="6108192" y="2331720"/>
            <a:ext cx="5440680" cy="10789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53912" y="2377439"/>
            <a:ext cx="1078992" cy="201168"/>
          </a:xfrm>
          <a:prstGeom prst="rect">
            <a:avLst/>
          </a:prstGeom>
          <a:solidFill>
            <a:srgbClr val="2A795B"/>
          </a:solidFill>
          <a:ln>
            <a:solidFill>
              <a:srgbClr val="2A795B"/>
            </a:solidFill>
          </a:ln>
        </p:spPr>
        <p:txBody>
          <a:bodyPr wrap="square" lIns="73152" rIns="73152" tIns="36576" bIns="36576" anchor="ctr">
            <a:normAutofit/>
          </a:bodyPr>
          <a:lstStyle/>
          <a:p>
            <a:pPr algn="ctr"/>
            <a:r>
              <a:rPr sz="800" b="1">
                <a:solidFill>
                  <a:srgbClr val="FFFFFF"/>
                </a:solidFill>
                <a:latin typeface="Microsoft YaHei"/>
              </a:rPr>
              <a:t>O 结局</a:t>
            </a:r>
          </a:p>
        </p:txBody>
      </p:sp>
      <p:sp>
        <p:nvSpPr>
          <p:cNvPr id="25" name="TextBox 24"/>
          <p:cNvSpPr txBox="1"/>
          <p:nvPr/>
        </p:nvSpPr>
        <p:spPr>
          <a:xfrm>
            <a:off x="6181344" y="2642615"/>
            <a:ext cx="5294376" cy="694944"/>
          </a:xfrm>
          <a:prstGeom prst="rect">
            <a:avLst/>
          </a:prstGeom>
          <a:noFill/>
        </p:spPr>
        <p:txBody>
          <a:bodyPr wrap="square" rIns="73152" bIns="36576">
            <a:normAutofit/>
          </a:bodyPr>
          <a:lstStyle/>
          <a:p>
            <a:pPr>
              <a:lnSpc>
                <a:spcPct val="103000"/>
              </a:lnSpc>
              <a:spcAft>
                <a:spcPts val="300"/>
              </a:spcAft>
              <a:defRPr sz="800">
                <a:solidFill>
                  <a:srgbClr val="21242A"/>
                </a:solidFill>
                <a:latin typeface="Microsoft YaHei"/>
              </a:defRPr>
            </a:pPr>
            <a:r>
              <a:t>中位无事件生存期：axi-cel组10个月 vs SoC组3个月</a:t>
            </a:r>
          </a:p>
          <a:p>
            <a:pPr>
              <a:lnSpc>
                <a:spcPct val="103000"/>
              </a:lnSpc>
              <a:spcAft>
                <a:spcPts val="300"/>
              </a:spcAft>
              <a:defRPr sz="800">
                <a:solidFill>
                  <a:srgbClr val="21242A"/>
                </a:solidFill>
                <a:latin typeface="Microsoft YaHei"/>
              </a:defRPr>
            </a:pPr>
            <a:r>
              <a:t>中位总生存期：axi-cel组77个月 vs SoC组15个月</a:t>
            </a:r>
          </a:p>
        </p:txBody>
      </p:sp>
      <p:sp>
        <p:nvSpPr>
          <p:cNvPr id="26" name="TextBox 25"/>
          <p:cNvSpPr txBox="1"/>
          <p:nvPr/>
        </p:nvSpPr>
        <p:spPr>
          <a:xfrm>
            <a:off x="411480" y="3685032"/>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研究信息</a:t>
            </a:r>
          </a:p>
        </p:txBody>
      </p:sp>
      <p:sp>
        <p:nvSpPr>
          <p:cNvPr id="27" name="Rectangle 26"/>
          <p:cNvSpPr/>
          <p:nvPr/>
        </p:nvSpPr>
        <p:spPr>
          <a:xfrm>
            <a:off x="411480" y="3886200"/>
            <a:ext cx="3703320" cy="184708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8" y="4041648"/>
            <a:ext cx="3401568"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研究类型：卫生经济学研究</a:t>
            </a:r>
          </a:p>
          <a:p>
            <a:pPr>
              <a:lnSpc>
                <a:spcPct val="103000"/>
              </a:lnSpc>
              <a:spcAft>
                <a:spcPts val="300"/>
              </a:spcAft>
              <a:defRPr sz="810">
                <a:solidFill>
                  <a:srgbClr val="21242A"/>
                </a:solidFill>
                <a:latin typeface="Microsoft YaHei"/>
              </a:defRPr>
            </a:pPr>
            <a:r>
              <a:t>人数：未提取</a:t>
            </a:r>
          </a:p>
          <a:p>
            <a:pPr>
              <a:lnSpc>
                <a:spcPct val="103000"/>
              </a:lnSpc>
              <a:spcAft>
                <a:spcPts val="300"/>
              </a:spcAft>
              <a:defRPr sz="810">
                <a:solidFill>
                  <a:srgbClr val="21242A"/>
                </a:solidFill>
                <a:latin typeface="Microsoft YaHei"/>
              </a:defRPr>
            </a:pPr>
            <a:r>
              <a:t>适应症：弥漫性大B细胞淋巴瘤</a:t>
            </a:r>
          </a:p>
          <a:p>
            <a:pPr>
              <a:lnSpc>
                <a:spcPct val="103000"/>
              </a:lnSpc>
              <a:spcAft>
                <a:spcPts val="300"/>
              </a:spcAft>
              <a:defRPr sz="810">
                <a:solidFill>
                  <a:srgbClr val="21242A"/>
                </a:solidFill>
                <a:latin typeface="Microsoft YaHei"/>
              </a:defRPr>
            </a:pPr>
            <a:r>
              <a:t>治疗线数：二线</a:t>
            </a:r>
          </a:p>
          <a:p>
            <a:pPr>
              <a:lnSpc>
                <a:spcPct val="103000"/>
              </a:lnSpc>
              <a:spcAft>
                <a:spcPts val="300"/>
              </a:spcAft>
              <a:defRPr sz="810">
                <a:solidFill>
                  <a:srgbClr val="21242A"/>
                </a:solidFill>
                <a:latin typeface="Microsoft YaHei"/>
              </a:defRPr>
            </a:pPr>
            <a:r>
              <a:t>登记号：NCT03391466</a:t>
            </a:r>
          </a:p>
        </p:txBody>
      </p:sp>
      <p:sp>
        <p:nvSpPr>
          <p:cNvPr id="29" name="TextBox 28"/>
          <p:cNvSpPr txBox="1"/>
          <p:nvPr/>
        </p:nvSpPr>
        <p:spPr>
          <a:xfrm>
            <a:off x="4434840" y="3685032"/>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方案/流程</a:t>
            </a:r>
          </a:p>
        </p:txBody>
      </p:sp>
      <p:sp>
        <p:nvSpPr>
          <p:cNvPr id="30" name="Rectangle 29"/>
          <p:cNvSpPr/>
          <p:nvPr/>
        </p:nvSpPr>
        <p:spPr>
          <a:xfrm>
            <a:off x="4434840" y="3886200"/>
            <a:ext cx="7114032" cy="184708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17720" y="4041648"/>
            <a:ext cx="6656832" cy="1426464"/>
          </a:xfrm>
          <a:prstGeom prst="rect">
            <a:avLst/>
          </a:prstGeom>
          <a:noFill/>
        </p:spPr>
        <p:txBody>
          <a:bodyPr wrap="square" rIns="73152" bIns="36576">
            <a:normAutofit/>
          </a:bodyPr>
          <a:lstStyle/>
          <a:p>
            <a:pPr>
              <a:lnSpc>
                <a:spcPct val="103000"/>
              </a:lnSpc>
              <a:spcAft>
                <a:spcPts val="300"/>
              </a:spcAft>
              <a:defRPr sz="810">
                <a:solidFill>
                  <a:srgbClr val="21242A"/>
                </a:solidFill>
                <a:latin typeface="Microsoft YaHei"/>
              </a:defRPr>
            </a:pPr>
            <a:r>
              <a:t>试验药/方案：阿基仑赛</a:t>
            </a:r>
          </a:p>
          <a:p>
            <a:pPr>
              <a:lnSpc>
                <a:spcPct val="103000"/>
              </a:lnSpc>
              <a:spcAft>
                <a:spcPts val="300"/>
              </a:spcAft>
              <a:defRPr sz="810">
                <a:solidFill>
                  <a:srgbClr val="21242A"/>
                </a:solidFill>
                <a:latin typeface="Microsoft YaHei"/>
              </a:defRPr>
            </a:pPr>
            <a:r>
              <a:t>靶点：CD19</a:t>
            </a:r>
          </a:p>
          <a:p>
            <a:pPr>
              <a:lnSpc>
                <a:spcPct val="103000"/>
              </a:lnSpc>
              <a:spcAft>
                <a:spcPts val="300"/>
              </a:spcAft>
              <a:defRPr sz="810">
                <a:solidFill>
                  <a:srgbClr val="21242A"/>
                </a:solidFill>
                <a:latin typeface="Microsoft YaHei"/>
              </a:defRPr>
            </a:pPr>
            <a:r>
              <a:t>药物/技术类别：CAR-T、外周血、自体细胞</a:t>
            </a:r>
          </a:p>
        </p:txBody>
      </p:sp>
      <p:sp>
        <p:nvSpPr>
          <p:cNvPr id="32" name="Rounded Rectangle 31">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slides/slide3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64592"/>
            <a:ext cx="914400" cy="256032"/>
          </a:xfrm>
          <a:prstGeom prst="rect">
            <a:avLst/>
          </a:prstGeom>
          <a:solidFill>
            <a:srgbClr val="C5362D"/>
          </a:solidFill>
          <a:ln>
            <a:solidFill>
              <a:srgbClr val="C5362D"/>
            </a:solidFill>
          </a:ln>
        </p:spPr>
        <p:txBody>
          <a:bodyPr wrap="square" lIns="73152" rIns="73152" tIns="36576" bIns="36576" anchor="ctr">
            <a:normAutofit/>
          </a:bodyPr>
          <a:lstStyle/>
          <a:p>
            <a:pPr algn="ctr"/>
            <a:r>
              <a:rPr sz="900" b="1">
                <a:solidFill>
                  <a:srgbClr val="FFFFFF"/>
                </a:solidFill>
                <a:latin typeface="Microsoft YaHei"/>
              </a:rPr>
              <a:t>证据摘要</a:t>
            </a:r>
          </a:p>
        </p:txBody>
      </p:sp>
      <p:sp>
        <p:nvSpPr>
          <p:cNvPr id="3" name="TextBox 2"/>
          <p:cNvSpPr txBox="1"/>
          <p:nvPr/>
        </p:nvSpPr>
        <p:spPr>
          <a:xfrm>
            <a:off x="1078992" y="73152"/>
            <a:ext cx="9235440" cy="475488"/>
          </a:xfrm>
          <a:prstGeom prst="rect">
            <a:avLst/>
          </a:prstGeom>
          <a:noFill/>
        </p:spPr>
        <p:txBody>
          <a:bodyPr wrap="square" lIns="73152" rIns="73152" tIns="36576" bIns="36576" anchor="t">
            <a:normAutofit/>
          </a:bodyPr>
          <a:lstStyle/>
          <a:p>
            <a:pPr algn="l"/>
            <a:r>
              <a:rPr sz="1260" b="1">
                <a:solidFill>
                  <a:srgbClr val="21242A"/>
                </a:solidFill>
                <a:latin typeface="Microsoft YaHei"/>
              </a:rPr>
              <a:t>axicabtagene ciloleucel治疗台湾复发/难治性弥漫性大b细胞淋巴瘤和一线治疗后高度b细胞淋巴瘤患者...</a:t>
            </a:r>
          </a:p>
        </p:txBody>
      </p:sp>
      <p:sp>
        <p:nvSpPr>
          <p:cNvPr id="4" name="TextBox 3"/>
          <p:cNvSpPr txBox="1"/>
          <p:nvPr/>
        </p:nvSpPr>
        <p:spPr>
          <a:xfrm>
            <a:off x="1078992" y="530352"/>
            <a:ext cx="9235440" cy="164592"/>
          </a:xfrm>
          <a:prstGeom prst="rect">
            <a:avLst/>
          </a:prstGeom>
          <a:noFill/>
        </p:spPr>
        <p:txBody>
          <a:bodyPr wrap="square" lIns="73152" rIns="73152" tIns="36576" bIns="36576" anchor="t">
            <a:normAutofit/>
          </a:bodyPr>
          <a:lstStyle/>
          <a:p>
            <a:pPr algn="l"/>
            <a:r>
              <a:rPr sz="660" b="0">
                <a:solidFill>
                  <a:srgbClr val="5E6570"/>
                </a:solidFill>
                <a:latin typeface="Microsoft YaHei"/>
              </a:rPr>
              <a:t>cost-effectiveness of axicabtagene ciloleucel for treating taiwanese patients...</a:t>
            </a:r>
          </a:p>
        </p:txBody>
      </p:sp>
      <p:sp>
        <p:nvSpPr>
          <p:cNvPr id="5" name="TextBox 4"/>
          <p:cNvSpPr txBox="1"/>
          <p:nvPr/>
        </p:nvSpPr>
        <p:spPr>
          <a:xfrm>
            <a:off x="10469880" y="118872"/>
            <a:ext cx="1261872" cy="228600"/>
          </a:xfrm>
          <a:prstGeom prst="rect">
            <a:avLst/>
          </a:prstGeom>
          <a:noFill/>
        </p:spPr>
        <p:txBody>
          <a:bodyPr wrap="square" lIns="73152" rIns="73152" tIns="36576" bIns="36576" anchor="t">
            <a:normAutofit/>
          </a:bodyPr>
          <a:lstStyle/>
          <a:p>
            <a:pPr algn="r"/>
            <a:r>
              <a:rPr sz="1000" b="1">
                <a:solidFill>
                  <a:srgbClr val="8B1F1F"/>
                </a:solidFill>
                <a:latin typeface="Microsoft YaHei"/>
              </a:rPr>
              <a:t>PS2514</a:t>
            </a:r>
          </a:p>
        </p:txBody>
      </p:sp>
      <p:sp>
        <p:nvSpPr>
          <p:cNvPr id="6" name="TextBox 5"/>
          <p:cNvSpPr txBox="1"/>
          <p:nvPr/>
        </p:nvSpPr>
        <p:spPr>
          <a:xfrm>
            <a:off x="310896"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DLBCL/LBCL</a:t>
            </a:r>
          </a:p>
        </p:txBody>
      </p:sp>
      <p:sp>
        <p:nvSpPr>
          <p:cNvPr id="7" name="TextBox 6"/>
          <p:cNvSpPr txBox="1"/>
          <p:nvPr/>
        </p:nvSpPr>
        <p:spPr>
          <a:xfrm>
            <a:off x="1563624" y="6327648"/>
            <a:ext cx="621792"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一线</a:t>
            </a:r>
          </a:p>
        </p:txBody>
      </p:sp>
      <p:sp>
        <p:nvSpPr>
          <p:cNvPr id="8" name="TextBox 7"/>
          <p:cNvSpPr txBox="1"/>
          <p:nvPr/>
        </p:nvSpPr>
        <p:spPr>
          <a:xfrm>
            <a:off x="2276856"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卫生经济/模型研究</a:t>
            </a:r>
          </a:p>
        </p:txBody>
      </p:sp>
      <p:sp>
        <p:nvSpPr>
          <p:cNvPr id="9" name="TextBox 8"/>
          <p:cNvSpPr txBox="1"/>
          <p:nvPr/>
        </p:nvSpPr>
        <p:spPr>
          <a:xfrm>
            <a:off x="3451860" y="6327648"/>
            <a:ext cx="1083564"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LBCL/HGBL</a:t>
            </a:r>
          </a:p>
        </p:txBody>
      </p:sp>
      <p:sp>
        <p:nvSpPr>
          <p:cNvPr id="10" name="TextBox 9"/>
          <p:cNvSpPr txBox="1"/>
          <p:nvPr/>
        </p:nvSpPr>
        <p:spPr>
          <a:xfrm>
            <a:off x="4626864" y="6327648"/>
            <a:ext cx="1161288" cy="201168"/>
          </a:xfrm>
          <a:prstGeom prst="rect">
            <a:avLst/>
          </a:prstGeom>
          <a:solidFill>
            <a:srgbClr val="F6F8FB"/>
          </a:solidFill>
          <a:ln>
            <a:solidFill>
              <a:srgbClr val="DADFE7"/>
            </a:solidFill>
          </a:ln>
        </p:spPr>
        <p:txBody>
          <a:bodyPr wrap="square" lIns="73152" rIns="73152" tIns="36576" bIns="36576" anchor="ctr">
            <a:normAutofit/>
          </a:bodyPr>
          <a:lstStyle/>
          <a:p>
            <a:pPr algn="ctr"/>
            <a:r>
              <a:rPr sz="750" b="1">
                <a:solidFill>
                  <a:srgbClr val="5E6570"/>
                </a:solidFill>
                <a:latin typeface="Microsoft YaHei"/>
              </a:rPr>
              <a:t>CAR-T/细胞治疗</a:t>
            </a:r>
          </a:p>
        </p:txBody>
      </p:sp>
      <p:sp>
        <p:nvSpPr>
          <p:cNvPr id="11" name="TextBox 10"/>
          <p:cNvSpPr txBox="1"/>
          <p:nvPr/>
        </p:nvSpPr>
        <p:spPr>
          <a:xfrm>
            <a:off x="7178040" y="6336792"/>
            <a:ext cx="4251960" cy="201168"/>
          </a:xfrm>
          <a:prstGeom prst="rect">
            <a:avLst/>
          </a:prstGeom>
          <a:noFill/>
        </p:spPr>
        <p:txBody>
          <a:bodyPr wrap="square" lIns="73152" rIns="73152" tIns="36576" bIns="36576" anchor="t">
            <a:normAutofit/>
          </a:bodyPr>
          <a:lstStyle/>
          <a:p>
            <a:pPr algn="r"/>
            <a:r>
              <a:rPr sz="700" b="0">
                <a:solidFill>
                  <a:srgbClr val="5E6570"/>
                </a:solidFill>
                <a:latin typeface="Microsoft YaHei"/>
              </a:rPr>
              <a:t>EHA 2026 摘要数据 | DLBCL/LBCL | 187/187</a:t>
            </a:r>
          </a:p>
        </p:txBody>
      </p:sp>
      <p:sp>
        <p:nvSpPr>
          <p:cNvPr id="12" name="Rounded Rectangle 11">
            <a:hlinkClick r:id="rId2"/>
          </p:cNvPr>
          <p:cNvSpPr/>
          <p:nvPr/>
        </p:nvSpPr>
        <p:spPr>
          <a:xfrm>
            <a:off x="9985248" y="6053328"/>
            <a:ext cx="1444752" cy="274320"/>
          </a:xfrm>
          <a:prstGeom prst="roundRect">
            <a:avLst/>
          </a:prstGeom>
          <a:solidFill>
            <a:srgbClr val="C5362D"/>
          </a:solidFill>
          <a:ln>
            <a:solidFill>
              <a:srgbClr val="C5362D"/>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760" b="1">
                <a:solidFill>
                  <a:srgbClr val="FFFFFF"/>
                </a:solidFill>
                <a:latin typeface="Microsoft YaHei"/>
                <a:hlinkClick r:id="rId2"/>
              </a:rPr>
              <a:t>查看EHA原文</a:t>
            </a:r>
          </a:p>
        </p:txBody>
      </p:sp>
      <p:sp>
        <p:nvSpPr>
          <p:cNvPr id="13" name="TextBox 12"/>
          <p:cNvSpPr txBox="1"/>
          <p:nvPr/>
        </p:nvSpPr>
        <p:spPr>
          <a:xfrm>
            <a:off x="411480" y="841248"/>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摘要</a:t>
            </a:r>
          </a:p>
        </p:txBody>
      </p:sp>
      <p:sp>
        <p:nvSpPr>
          <p:cNvPr id="14" name="Rectangle 13"/>
          <p:cNvSpPr/>
          <p:nvPr/>
        </p:nvSpPr>
        <p:spPr>
          <a:xfrm>
            <a:off x="411480"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188720"/>
            <a:ext cx="522122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中文摘要摘录</a:t>
            </a:r>
          </a:p>
        </p:txBody>
      </p:sp>
      <p:sp>
        <p:nvSpPr>
          <p:cNvPr id="16" name="TextBox 15"/>
          <p:cNvSpPr txBox="1"/>
          <p:nvPr/>
        </p:nvSpPr>
        <p:spPr>
          <a:xfrm>
            <a:off x="502920" y="1389888"/>
            <a:ext cx="5257800" cy="1554480"/>
          </a:xfrm>
          <a:prstGeom prst="rect">
            <a:avLst/>
          </a:prstGeom>
          <a:noFill/>
        </p:spPr>
        <p:txBody>
          <a:bodyPr wrap="square" rIns="73152" bIns="36576">
            <a:normAutofit/>
          </a:bodyPr>
          <a:lstStyle/>
          <a:p>
            <a:pPr>
              <a:lnSpc>
                <a:spcPct val="103000"/>
              </a:lnSpc>
              <a:spcAft>
                <a:spcPts val="300"/>
              </a:spcAft>
              <a:defRPr sz="550">
                <a:solidFill>
                  <a:srgbClr val="21242A"/>
                </a:solidFill>
                <a:latin typeface="Microsoft YaHei"/>
              </a:defRPr>
            </a:pPr>
            <a:r>
              <a:t>背景：弥漫性大 B 细胞淋巴瘤 (DLBCL) 是台湾主要的侵袭性非霍奇金淋巴瘤亚型，到 2023 年将占 B 细胞淋巴瘤的 60%，占所有癌症病例的 2.19%。尽管 R-CHOP 等化学免疫疗法是标准的一线 (1L) 治疗，但对于复发或难治性 (R/R) DLBCL 和高级别 B 细胞淋巴瘤 (HGBL)，特别是那</a:t>
            </a:r>
          </a:p>
          <a:p>
            <a:pPr>
              <a:lnSpc>
                <a:spcPct val="103000"/>
              </a:lnSpc>
              <a:spcAft>
                <a:spcPts val="300"/>
              </a:spcAft>
              <a:defRPr sz="550">
                <a:solidFill>
                  <a:srgbClr val="21242A"/>
                </a:solidFill>
                <a:latin typeface="Microsoft YaHei"/>
              </a:defRPr>
            </a:pPr>
            <a:r>
              <a:t>些对 1L 治疗难治或在 12 个月内复发的患者，凸显了二线 (2L) 治疗的未满足需求。最近，嵌合抗原受体 T 细胞 (CAR T 细胞) 疗法，包括 axicabtagene ciloleucel (axi-cel)，已显示出良好的临床效益，并已在美国、欧洲和台湾被批准为 2L 选项。目的：本研究旨在评估 axi-</a:t>
            </a:r>
          </a:p>
          <a:p>
            <a:pPr>
              <a:lnSpc>
                <a:spcPct val="103000"/>
              </a:lnSpc>
              <a:spcAft>
                <a:spcPts val="300"/>
              </a:spcAft>
              <a:defRPr sz="550">
                <a:solidFill>
                  <a:srgbClr val="21242A"/>
                </a:solidFill>
                <a:latin typeface="Microsoft YaHei"/>
              </a:defRPr>
            </a:pPr>
            <a:r>
              <a:t>cel 与标准护理 (SoC) 作为 2L 治疗台湾 DLBCL 和 HGBL 患者的成本效益。方法：使用三状态划分生存模型（无事件、事件后和死亡）从台湾国民健康保险（NHI）的角度评估 axi-cel 与 SoC（即化学免疫疗法±高剂量疗法和自体干细胞移植）作为 2L 治疗的成本效益。</a:t>
            </a:r>
          </a:p>
          <a:p>
            <a:pPr>
              <a:lnSpc>
                <a:spcPct val="103000"/>
              </a:lnSpc>
              <a:spcAft>
                <a:spcPts val="300"/>
              </a:spcAft>
              <a:defRPr sz="550">
                <a:solidFill>
                  <a:srgbClr val="21242A"/>
                </a:solidFill>
                <a:latin typeface="Microsoft YaHei"/>
              </a:defRPr>
            </a:pPr>
            <a:r>
              <a:t>ZUMA-7 随机对照试验通报了临床结果，该试验招募了 1L 治疗后 12 个月内患有 R/R DLBCL 和 HGBL 的患者。</a:t>
            </a:r>
          </a:p>
        </p:txBody>
      </p:sp>
      <p:sp>
        <p:nvSpPr>
          <p:cNvPr id="17" name="TextBox 16"/>
          <p:cNvSpPr txBox="1"/>
          <p:nvPr/>
        </p:nvSpPr>
        <p:spPr>
          <a:xfrm>
            <a:off x="521208"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完整中文摘要见HTML，原文见EHA链接</a:t>
            </a:r>
          </a:p>
        </p:txBody>
      </p:sp>
      <p:sp>
        <p:nvSpPr>
          <p:cNvPr id="18" name="TextBox 17"/>
          <p:cNvSpPr txBox="1"/>
          <p:nvPr/>
        </p:nvSpPr>
        <p:spPr>
          <a:xfrm>
            <a:off x="6108192" y="841248"/>
            <a:ext cx="1417320" cy="219456"/>
          </a:xfrm>
          <a:prstGeom prst="rect">
            <a:avLst/>
          </a:prstGeom>
          <a:solidFill>
            <a:srgbClr val="265E8F"/>
          </a:solidFill>
          <a:ln>
            <a:solidFill>
              <a:srgbClr val="265E8F"/>
            </a:solidFill>
          </a:ln>
        </p:spPr>
        <p:txBody>
          <a:bodyPr wrap="square" lIns="73152" rIns="73152" tIns="36576" bIns="36576" anchor="ctr">
            <a:normAutofit/>
          </a:bodyPr>
          <a:lstStyle/>
          <a:p>
            <a:pPr algn="ctr"/>
            <a:r>
              <a:rPr sz="819" b="1">
                <a:solidFill>
                  <a:srgbClr val="FFFFFF"/>
                </a:solidFill>
                <a:latin typeface="Microsoft YaHei"/>
              </a:rPr>
              <a:t>结论</a:t>
            </a:r>
          </a:p>
        </p:txBody>
      </p:sp>
      <p:sp>
        <p:nvSpPr>
          <p:cNvPr id="19" name="Rectangle 18"/>
          <p:cNvSpPr/>
          <p:nvPr/>
        </p:nvSpPr>
        <p:spPr>
          <a:xfrm>
            <a:off x="6108192" y="1097280"/>
            <a:ext cx="5440680" cy="1993392"/>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1188720"/>
            <a:ext cx="5221224" cy="164592"/>
          </a:xfrm>
          <a:prstGeom prst="rect">
            <a:avLst/>
          </a:prstGeom>
          <a:noFill/>
        </p:spPr>
        <p:txBody>
          <a:bodyPr wrap="square" lIns="73152" rIns="73152" tIns="36576" bIns="36576" anchor="t">
            <a:normAutofit/>
          </a:bodyPr>
          <a:lstStyle/>
          <a:p>
            <a:pPr algn="l"/>
            <a:r>
              <a:rPr sz="740" b="1">
                <a:solidFill>
                  <a:srgbClr val="265E8F"/>
                </a:solidFill>
                <a:latin typeface="Microsoft YaHei"/>
              </a:rPr>
              <a:t>中文结论摘录</a:t>
            </a:r>
          </a:p>
        </p:txBody>
      </p:sp>
      <p:sp>
        <p:nvSpPr>
          <p:cNvPr id="21" name="TextBox 20"/>
          <p:cNvSpPr txBox="1"/>
          <p:nvPr/>
        </p:nvSpPr>
        <p:spPr>
          <a:xfrm>
            <a:off x="6199631" y="1389888"/>
            <a:ext cx="5257800" cy="1554480"/>
          </a:xfrm>
          <a:prstGeom prst="rect">
            <a:avLst/>
          </a:prstGeom>
          <a:noFill/>
        </p:spPr>
        <p:txBody>
          <a:bodyPr wrap="square" rIns="73152" bIns="36576">
            <a:normAutofit/>
          </a:bodyPr>
          <a:lstStyle/>
          <a:p>
            <a:pPr>
              <a:lnSpc>
                <a:spcPct val="103000"/>
              </a:lnSpc>
              <a:spcAft>
                <a:spcPts val="300"/>
              </a:spcAft>
              <a:defRPr sz="570">
                <a:solidFill>
                  <a:srgbClr val="21242A"/>
                </a:solidFill>
                <a:latin typeface="Microsoft YaHei"/>
              </a:defRPr>
            </a:pPr>
            <a:r>
              <a:t>Axi-cel 产生了巨大的临床效益，代表着在台湾对 NHI 资源进行 DLBCL 和 HGBL 2L 治疗的经济有效的利用。这些发现支持了早期 CAR T 细胞对符合条件的患者采用的临床和经济价值。</a:t>
            </a:r>
          </a:p>
        </p:txBody>
      </p:sp>
      <p:sp>
        <p:nvSpPr>
          <p:cNvPr id="22" name="TextBox 21"/>
          <p:cNvSpPr txBox="1"/>
          <p:nvPr/>
        </p:nvSpPr>
        <p:spPr>
          <a:xfrm>
            <a:off x="6217920" y="2907791"/>
            <a:ext cx="5221224" cy="118872"/>
          </a:xfrm>
          <a:prstGeom prst="rect">
            <a:avLst/>
          </a:prstGeom>
          <a:noFill/>
        </p:spPr>
        <p:txBody>
          <a:bodyPr wrap="square" lIns="73152" rIns="73152" tIns="36576" bIns="36576" anchor="t">
            <a:normAutofit/>
          </a:bodyPr>
          <a:lstStyle/>
          <a:p>
            <a:pPr algn="l"/>
            <a:r>
              <a:rPr sz="560" b="0">
                <a:solidFill>
                  <a:srgbClr val="5E6570"/>
                </a:solidFill>
                <a:latin typeface="Microsoft YaHei"/>
              </a:rPr>
              <a:t>完整中文结论见HTML，原文见EHA链接</a:t>
            </a:r>
          </a:p>
        </p:txBody>
      </p:sp>
      <p:sp>
        <p:nvSpPr>
          <p:cNvPr id="23" name="TextBox 22"/>
          <p:cNvSpPr txBox="1"/>
          <p:nvPr/>
        </p:nvSpPr>
        <p:spPr>
          <a:xfrm>
            <a:off x="411480" y="3291840"/>
            <a:ext cx="1417320" cy="219456"/>
          </a:xfrm>
          <a:prstGeom prst="rect">
            <a:avLst/>
          </a:prstGeom>
          <a:solidFill>
            <a:srgbClr val="C5362D"/>
          </a:solidFill>
          <a:ln>
            <a:solidFill>
              <a:srgbClr val="C5362D"/>
            </a:solidFill>
          </a:ln>
        </p:spPr>
        <p:txBody>
          <a:bodyPr wrap="square" lIns="73152" rIns="73152" tIns="36576" bIns="36576" anchor="ctr">
            <a:normAutofit/>
          </a:bodyPr>
          <a:lstStyle/>
          <a:p>
            <a:pPr algn="ctr"/>
            <a:r>
              <a:rPr sz="819" b="1">
                <a:solidFill>
                  <a:srgbClr val="FFFFFF"/>
                </a:solidFill>
                <a:latin typeface="Microsoft YaHei"/>
              </a:rPr>
              <a:t>结果</a:t>
            </a:r>
          </a:p>
        </p:txBody>
      </p:sp>
      <p:sp>
        <p:nvSpPr>
          <p:cNvPr id="24" name="Rectangle 23"/>
          <p:cNvSpPr/>
          <p:nvPr/>
        </p:nvSpPr>
        <p:spPr>
          <a:xfrm>
            <a:off x="411480" y="3547872"/>
            <a:ext cx="6629400" cy="2029968"/>
          </a:xfrm>
          <a:prstGeom prst="rect">
            <a:avLst/>
          </a:prstGeom>
          <a:solidFill>
            <a:srgbClr val="FFFFFF"/>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1208" y="3639312"/>
            <a:ext cx="6409944" cy="164592"/>
          </a:xfrm>
          <a:prstGeom prst="rect">
            <a:avLst/>
          </a:prstGeom>
          <a:noFill/>
        </p:spPr>
        <p:txBody>
          <a:bodyPr wrap="square" lIns="73152" rIns="73152" tIns="36576" bIns="36576" anchor="t">
            <a:normAutofit/>
          </a:bodyPr>
          <a:lstStyle/>
          <a:p>
            <a:pPr algn="l"/>
            <a:r>
              <a:rPr sz="740" b="1">
                <a:solidFill>
                  <a:srgbClr val="8B1F1F"/>
                </a:solidFill>
                <a:latin typeface="Microsoft YaHei"/>
              </a:rPr>
              <a:t>结果数据表（中文原表）</a:t>
            </a:r>
          </a:p>
        </p:txBody>
      </p:sp>
      <p:graphicFrame>
        <p:nvGraphicFramePr>
          <p:cNvPr id="26" name="Table 25"/>
          <p:cNvGraphicFramePr>
            <a:graphicFrameLocks noGrp="1"/>
          </p:cNvGraphicFramePr>
          <p:nvPr/>
        </p:nvGraphicFramePr>
        <p:xfrm>
          <a:off x="521208" y="3858768"/>
          <a:ext cx="6409943" cy="1499616"/>
        </p:xfrm>
        <a:graphic>
          <a:graphicData uri="http://schemas.openxmlformats.org/drawingml/2006/table">
            <a:tbl>
              <a:tblPr firstRow="1" bandRow="1">
                <a:tableStyleId>{5C22544A-7EE6-4342-B048-85BDC9FD1C3A}</a:tableStyleId>
              </a:tblPr>
              <a:tblGrid>
                <a:gridCol w="1922983"/>
                <a:gridCol w="4486960"/>
              </a:tblGrid>
              <a:tr h="249936">
                <a:tc>
                  <a:txBody>
                    <a:bodyPr wrap="square" lIns="36576" rIns="36576" tIns="18288" bIns="18288"/>
                    <a:lstStyle/>
                    <a:p>
                      <a:r>
                        <a:rPr sz="580" b="1">
                          <a:solidFill>
                            <a:srgbClr val="FFFFFF"/>
                          </a:solidFill>
                          <a:latin typeface="Microsoft YaHei"/>
                        </a:rPr>
                        <a:t>指标/条目</a:t>
                      </a:r>
                    </a:p>
                  </a:txBody>
                  <a:tcPr>
                    <a:solidFill>
                      <a:srgbClr val="C5362D"/>
                    </a:solidFill>
                  </a:tcPr>
                </a:tc>
                <a:tc>
                  <a:txBody>
                    <a:bodyPr wrap="square" lIns="36576" rIns="36576" tIns="18288" bIns="18288"/>
                    <a:lstStyle/>
                    <a:p>
                      <a:r>
                        <a:rPr sz="580" b="1">
                          <a:solidFill>
                            <a:srgbClr val="FFFFFF"/>
                          </a:solidFill>
                          <a:latin typeface="Microsoft YaHei"/>
                        </a:rPr>
                        <a:t>结果</a:t>
                      </a:r>
                    </a:p>
                  </a:txBody>
                  <a:tcPr>
                    <a:solidFill>
                      <a:srgbClr val="C5362D"/>
                    </a:solidFill>
                  </a:tcPr>
                </a:tc>
              </a:tr>
              <a:tr h="249936">
                <a:tc>
                  <a:txBody>
                    <a:bodyPr wrap="square" lIns="36576" rIns="36576" tIns="18288" bIns="18288"/>
                    <a:lstStyle/>
                    <a:p>
                      <a:r>
                        <a:rPr sz="540" b="1">
                          <a:solidFill>
                            <a:srgbClr val="21242A"/>
                          </a:solidFill>
                          <a:latin typeface="Microsoft YaHei"/>
                        </a:rPr>
                        <a:t>中位无事件生存期</a:t>
                      </a:r>
                    </a:p>
                  </a:txBody>
                  <a:tcPr>
                    <a:solidFill>
                      <a:srgbClr val="F6F8FB"/>
                    </a:solidFill>
                  </a:tcPr>
                </a:tc>
                <a:tc>
                  <a:txBody>
                    <a:bodyPr wrap="square" lIns="36576" rIns="36576" tIns="18288" bIns="18288"/>
                    <a:lstStyle/>
                    <a:p>
                      <a:r>
                        <a:rPr sz="540" b="0">
                          <a:solidFill>
                            <a:srgbClr val="21242A"/>
                          </a:solidFill>
                          <a:latin typeface="Microsoft YaHei"/>
                        </a:rPr>
                        <a:t>axi-cel组10个月 vs SoC组3个月</a:t>
                      </a:r>
                    </a:p>
                  </a:txBody>
                  <a:tcPr>
                    <a:solidFill>
                      <a:srgbClr val="F6F8FB"/>
                    </a:solidFill>
                  </a:tcPr>
                </a:tc>
              </a:tr>
              <a:tr h="249936">
                <a:tc>
                  <a:txBody>
                    <a:bodyPr wrap="square" lIns="36576" rIns="36576" tIns="18288" bIns="18288"/>
                    <a:lstStyle/>
                    <a:p>
                      <a:r>
                        <a:rPr sz="540" b="1">
                          <a:solidFill>
                            <a:srgbClr val="21242A"/>
                          </a:solidFill>
                          <a:latin typeface="Microsoft YaHei"/>
                        </a:rPr>
                        <a:t>中位总生存期</a:t>
                      </a:r>
                    </a:p>
                  </a:txBody>
                  <a:tcPr>
                    <a:solidFill>
                      <a:srgbClr val="FFFFFF"/>
                    </a:solidFill>
                  </a:tcPr>
                </a:tc>
                <a:tc>
                  <a:txBody>
                    <a:bodyPr wrap="square" lIns="36576" rIns="36576" tIns="18288" bIns="18288"/>
                    <a:lstStyle/>
                    <a:p>
                      <a:r>
                        <a:rPr sz="540" b="0">
                          <a:solidFill>
                            <a:srgbClr val="21242A"/>
                          </a:solidFill>
                          <a:latin typeface="Microsoft YaHei"/>
                        </a:rPr>
                        <a:t>axi-cel组77个月 vs SoC组15个月</a:t>
                      </a:r>
                    </a:p>
                  </a:txBody>
                  <a:tcPr>
                    <a:solidFill>
                      <a:srgbClr val="FFFFFF"/>
                    </a:solidFill>
                  </a:tcPr>
                </a:tc>
              </a:tr>
              <a:tr h="249936">
                <a:tc>
                  <a:txBody>
                    <a:bodyPr wrap="square" lIns="36576" rIns="36576" tIns="18288" bIns="18288"/>
                    <a:lstStyle/>
                    <a:p>
                      <a:r>
                        <a:rPr sz="540" b="1">
                          <a:solidFill>
                            <a:srgbClr val="21242A"/>
                          </a:solidFill>
                          <a:latin typeface="Microsoft YaHei"/>
                        </a:rPr>
                        <a:t>平均生命年增量</a:t>
                      </a:r>
                    </a:p>
                  </a:txBody>
                  <a:tcPr>
                    <a:solidFill>
                      <a:srgbClr val="F6F8FB"/>
                    </a:solidFill>
                  </a:tcPr>
                </a:tc>
                <a:tc>
                  <a:txBody>
                    <a:bodyPr wrap="square" lIns="36576" rIns="36576" tIns="18288" bIns="18288"/>
                    <a:lstStyle/>
                    <a:p>
                      <a:r>
                        <a:rPr sz="540" b="0">
                          <a:solidFill>
                            <a:srgbClr val="21242A"/>
                          </a:solidFill>
                          <a:latin typeface="Microsoft YaHei"/>
                        </a:rPr>
                        <a:t>7.30年（13.37 vs 6.07）</a:t>
                      </a:r>
                    </a:p>
                  </a:txBody>
                  <a:tcPr>
                    <a:solidFill>
                      <a:srgbClr val="F6F8FB"/>
                    </a:solidFill>
                  </a:tcPr>
                </a:tc>
              </a:tr>
              <a:tr h="249936">
                <a:tc>
                  <a:txBody>
                    <a:bodyPr wrap="square" lIns="36576" rIns="36576" tIns="18288" bIns="18288"/>
                    <a:lstStyle/>
                    <a:p>
                      <a:r>
                        <a:rPr sz="540" b="1">
                          <a:solidFill>
                            <a:srgbClr val="21242A"/>
                          </a:solidFill>
                          <a:latin typeface="Microsoft YaHei"/>
                        </a:rPr>
                        <a:t>平均质量调整生命年增量</a:t>
                      </a:r>
                    </a:p>
                  </a:txBody>
                  <a:tcPr>
                    <a:solidFill>
                      <a:srgbClr val="FFFFFF"/>
                    </a:solidFill>
                  </a:tcPr>
                </a:tc>
                <a:tc>
                  <a:txBody>
                    <a:bodyPr wrap="square" lIns="36576" rIns="36576" tIns="18288" bIns="18288"/>
                    <a:lstStyle/>
                    <a:p>
                      <a:r>
                        <a:rPr sz="540" b="0">
                          <a:solidFill>
                            <a:srgbClr val="21242A"/>
                          </a:solidFill>
                          <a:latin typeface="Microsoft YaHei"/>
                        </a:rPr>
                        <a:t>5.32 QALYs（9.83 vs 4.51）</a:t>
                      </a:r>
                    </a:p>
                  </a:txBody>
                  <a:tcPr>
                    <a:solidFill>
                      <a:srgbClr val="FFFFFF"/>
                    </a:solidFill>
                  </a:tcPr>
                </a:tc>
              </a:tr>
              <a:tr h="249936">
                <a:tc>
                  <a:txBody>
                    <a:bodyPr wrap="square" lIns="36576" rIns="36576" tIns="18288" bIns="18288"/>
                    <a:lstStyle/>
                    <a:p>
                      <a:r>
                        <a:rPr sz="540" b="1">
                          <a:solidFill>
                            <a:srgbClr val="21242A"/>
                          </a:solidFill>
                          <a:latin typeface="Microsoft YaHei"/>
                        </a:rPr>
                        <a:t>增量成本效果比</a:t>
                      </a:r>
                    </a:p>
                  </a:txBody>
                  <a:tcPr>
                    <a:solidFill>
                      <a:srgbClr val="F6F8FB"/>
                    </a:solidFill>
                  </a:tcPr>
                </a:tc>
                <a:tc>
                  <a:txBody>
                    <a:bodyPr wrap="square" lIns="36576" rIns="36576" tIns="18288" bIns="18288"/>
                    <a:lstStyle/>
                    <a:p>
                      <a:r>
                        <a:rPr sz="540" b="0">
                          <a:solidFill>
                            <a:srgbClr val="21242A"/>
                          </a:solidFill>
                          <a:latin typeface="Microsoft YaHei"/>
                        </a:rPr>
                        <a:t>NTD 1.56M（USD 52,125）每QALY</a:t>
                      </a:r>
                    </a:p>
                  </a:txBody>
                  <a:tcPr>
                    <a:solidFill>
                      <a:srgbClr val="F6F8FB"/>
                    </a:solidFill>
                  </a:tcPr>
                </a:tc>
              </a:tr>
            </a:tbl>
          </a:graphicData>
        </a:graphic>
      </p:graphicFrame>
      <p:sp>
        <p:nvSpPr>
          <p:cNvPr id="27" name="TextBox 26"/>
          <p:cNvSpPr txBox="1"/>
          <p:nvPr/>
        </p:nvSpPr>
        <p:spPr>
          <a:xfrm>
            <a:off x="7360920" y="3291840"/>
            <a:ext cx="1417320" cy="219456"/>
          </a:xfrm>
          <a:prstGeom prst="rect">
            <a:avLst/>
          </a:prstGeom>
          <a:solidFill>
            <a:srgbClr val="2A795B"/>
          </a:solidFill>
          <a:ln>
            <a:solidFill>
              <a:srgbClr val="2A795B"/>
            </a:solidFill>
          </a:ln>
        </p:spPr>
        <p:txBody>
          <a:bodyPr wrap="square" lIns="73152" rIns="73152" tIns="36576" bIns="36576" anchor="ctr">
            <a:normAutofit/>
          </a:bodyPr>
          <a:lstStyle/>
          <a:p>
            <a:pPr algn="ctr"/>
            <a:r>
              <a:rPr sz="819" b="1">
                <a:solidFill>
                  <a:srgbClr val="FFFFFF"/>
                </a:solidFill>
                <a:latin typeface="Microsoft YaHei"/>
              </a:rPr>
              <a:t>来源/核对</a:t>
            </a:r>
          </a:p>
        </p:txBody>
      </p:sp>
      <p:sp>
        <p:nvSpPr>
          <p:cNvPr id="28" name="Rectangle 27"/>
          <p:cNvSpPr/>
          <p:nvPr/>
        </p:nvSpPr>
        <p:spPr>
          <a:xfrm>
            <a:off x="7360920" y="3547872"/>
            <a:ext cx="4187952" cy="2029968"/>
          </a:xfrm>
          <a:prstGeom prst="rect">
            <a:avLst/>
          </a:prstGeom>
          <a:solidFill>
            <a:srgbClr val="F6F8FB"/>
          </a:solidFill>
          <a:ln w="8890">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79792" y="3703320"/>
            <a:ext cx="3886200" cy="1572768"/>
          </a:xfrm>
          <a:prstGeom prst="rect">
            <a:avLst/>
          </a:prstGeom>
          <a:noFill/>
        </p:spPr>
        <p:txBody>
          <a:bodyPr wrap="square" rIns="73152" bIns="36576">
            <a:normAutofit/>
          </a:bodyPr>
          <a:lstStyle/>
          <a:p>
            <a:pPr>
              <a:lnSpc>
                <a:spcPct val="103000"/>
              </a:lnSpc>
              <a:spcAft>
                <a:spcPts val="300"/>
              </a:spcAft>
              <a:defRPr sz="680">
                <a:solidFill>
                  <a:srgbClr val="21242A"/>
                </a:solidFill>
                <a:latin typeface="Microsoft YaHei"/>
              </a:defRPr>
            </a:pPr>
            <a:r>
              <a:t>摘要号：PS2514</a:t>
            </a:r>
          </a:p>
          <a:p>
            <a:pPr>
              <a:lnSpc>
                <a:spcPct val="103000"/>
              </a:lnSpc>
              <a:spcAft>
                <a:spcPts val="300"/>
              </a:spcAft>
              <a:defRPr sz="680">
                <a:solidFill>
                  <a:srgbClr val="21242A"/>
                </a:solidFill>
                <a:latin typeface="Microsoft YaHei"/>
              </a:defRPr>
            </a:pPr>
            <a:r>
              <a:t>研究类型：卫生经济/模型研究</a:t>
            </a:r>
          </a:p>
          <a:p>
            <a:pPr>
              <a:lnSpc>
                <a:spcPct val="103000"/>
              </a:lnSpc>
              <a:spcAft>
                <a:spcPts val="300"/>
              </a:spcAft>
              <a:defRPr sz="680">
                <a:solidFill>
                  <a:srgbClr val="21242A"/>
                </a:solidFill>
                <a:latin typeface="Microsoft YaHei"/>
              </a:defRPr>
            </a:pPr>
            <a:r>
              <a:t>疾病场景：LBCL/HGBL</a:t>
            </a:r>
          </a:p>
          <a:p>
            <a:pPr>
              <a:lnSpc>
                <a:spcPct val="103000"/>
              </a:lnSpc>
              <a:spcAft>
                <a:spcPts val="300"/>
              </a:spcAft>
              <a:defRPr sz="680">
                <a:solidFill>
                  <a:srgbClr val="21242A"/>
                </a:solidFill>
                <a:latin typeface="Microsoft YaHei"/>
              </a:defRPr>
            </a:pPr>
            <a:r>
              <a:t>药物/技术：CAR-T/细胞治疗</a:t>
            </a:r>
          </a:p>
          <a:p>
            <a:pPr>
              <a:lnSpc>
                <a:spcPct val="103000"/>
              </a:lnSpc>
              <a:spcAft>
                <a:spcPts val="300"/>
              </a:spcAft>
              <a:defRPr sz="680">
                <a:solidFill>
                  <a:srgbClr val="21242A"/>
                </a:solidFill>
                <a:latin typeface="Microsoft YaHei"/>
              </a:defRPr>
            </a:pPr>
            <a:r>
              <a:t>EHA链接：已打开EHA页面核对；标题可匹配</a:t>
            </a:r>
          </a:p>
          <a:p>
            <a:pPr>
              <a:lnSpc>
                <a:spcPct val="103000"/>
              </a:lnSpc>
              <a:spcAft>
                <a:spcPts val="300"/>
              </a:spcAft>
              <a:defRPr sz="680">
                <a:solidFill>
                  <a:srgbClr val="21242A"/>
                </a:solidFill>
                <a:latin typeface="Microsoft YaHei"/>
              </a:defRPr>
            </a:pPr>
            <a:r>
              <a:t>右下角按钮可跳转EHA原文。</a:t>
            </a:r>
          </a:p>
        </p:txBody>
      </p:sp>
      <p:sp>
        <p:nvSpPr>
          <p:cNvPr id="30" name="Rounded Rectangle 29">
            <a:hlinkClick action="ppaction://hlinksldjump" r:id="rId3"/>
          </p:cNvPr>
          <p:cNvSpPr/>
          <p:nvPr/>
        </p:nvSpPr>
        <p:spPr>
          <a:xfrm>
            <a:off x="11000232" y="146304"/>
            <a:ext cx="566928" cy="219456"/>
          </a:xfrm>
          <a:prstGeom prst="roundRect">
            <a:avLst/>
          </a:prstGeom>
          <a:solidFill>
            <a:srgbClr val="F6F8FB"/>
          </a:solidFill>
          <a:ln>
            <a:solidFill>
              <a:srgbClr val="DADFE7"/>
            </a:solidFill>
          </a:ln>
        </p:spPr>
        <p:style>
          <a:lnRef idx="1">
            <a:schemeClr val="accent1"/>
          </a:lnRef>
          <a:fillRef idx="3">
            <a:schemeClr val="accent1"/>
          </a:fillRef>
          <a:effectRef idx="2">
            <a:schemeClr val="accent1"/>
          </a:effectRef>
          <a:fontRef idx="minor">
            <a:schemeClr val="lt1"/>
          </a:fontRef>
        </p:style>
        <p:txBody>
          <a:bodyPr rtlCol="0" anchor="ctr" lIns="18288" rIns="18288" tIns="9144" bIns="9144"/>
          <a:lstStyle/>
          <a:p>
            <a:pPr algn="ctr"/>
            <a:r>
              <a:rPr sz="720" b="1">
                <a:solidFill>
                  <a:srgbClr val="8B1F1F"/>
                </a:solidFill>
                <a:latin typeface="Microsoft YaHei"/>
              </a:rPr>
              <a:t>目录</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